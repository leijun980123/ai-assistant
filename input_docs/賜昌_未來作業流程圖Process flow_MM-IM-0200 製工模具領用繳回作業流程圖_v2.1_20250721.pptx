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3"/>
  </p:notesMasterIdLst>
  <p:sldIdLst>
    <p:sldId id="256" r:id="rId6"/>
    <p:sldId id="257" r:id="rId7"/>
    <p:sldId id="258" r:id="rId8"/>
    <p:sldId id="274" r:id="rId9"/>
    <p:sldId id="275" r:id="rId10"/>
    <p:sldId id="263" r:id="rId11"/>
    <p:sldId id="264" r:id="rId12"/>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3" autoAdjust="0"/>
    <p:restoredTop sz="94688" autoAdjust="0"/>
  </p:normalViewPr>
  <p:slideViewPr>
    <p:cSldViewPr>
      <p:cViewPr>
        <p:scale>
          <a:sx n="50" d="100"/>
          <a:sy n="50" d="100"/>
        </p:scale>
        <p:origin x="-228" y="26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409970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0"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MM-IM-0200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製工模具領用繳回作業流程圖</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dirty="0" smtClean="0">
                          <a:solidFill>
                            <a:srgbClr val="000000"/>
                          </a:solidFill>
                          <a:latin typeface="Calibri"/>
                        </a:rPr>
                        <a:t>因為各品牌工廠對製工具</a:t>
                      </a:r>
                      <a:r>
                        <a:rPr lang="en-US" altLang="zh-TW" sz="1800" b="0" strike="noStrike" spc="-1" dirty="0" smtClean="0">
                          <a:solidFill>
                            <a:srgbClr val="000000"/>
                          </a:solidFill>
                          <a:latin typeface="Calibri"/>
                        </a:rPr>
                        <a:t>/</a:t>
                      </a:r>
                      <a:r>
                        <a:rPr lang="zh-TW" altLang="en-US" sz="1800" b="0" strike="noStrike" spc="-1" dirty="0" smtClean="0">
                          <a:solidFill>
                            <a:srgbClr val="000000"/>
                          </a:solidFill>
                          <a:latin typeface="Calibri"/>
                        </a:rPr>
                        <a:t>模具保管單位不同，故移除</a:t>
                      </a:r>
                      <a:r>
                        <a:rPr lang="zh-TW" altLang="en-US" sz="1800" b="0" strike="noStrike" spc="-1" smtClean="0">
                          <a:solidFill>
                            <a:srgbClr val="000000"/>
                          </a:solidFill>
                          <a:latin typeface="Calibri"/>
                        </a:rPr>
                        <a:t>流程圖中保管</a:t>
                      </a:r>
                      <a:r>
                        <a:rPr lang="zh-TW" altLang="en-US" sz="1800" b="0" strike="noStrike" spc="-1" dirty="0" smtClean="0">
                          <a:solidFill>
                            <a:srgbClr val="000000"/>
                          </a:solidFill>
                          <a:latin typeface="Calibri"/>
                        </a:rPr>
                        <a:t>單位的說明。</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a:t>
                      </a:r>
                      <a:r>
                        <a:rPr lang="en-US" sz="1800" b="0" strike="noStrike" spc="-1" baseline="0" dirty="0" smtClean="0">
                          <a:solidFill>
                            <a:srgbClr val="000000"/>
                          </a:solidFill>
                          <a:latin typeface="Calibri"/>
                        </a:rPr>
                        <a: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2025/07/21</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dirty="0">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spc="-1" dirty="0" smtClean="0">
                <a:solidFill>
                  <a:schemeClr val="dk1"/>
                </a:solidFill>
                <a:latin typeface="Microsoft JhengHei"/>
                <a:ea typeface="Microsoft JhengHei"/>
              </a:rPr>
              <a:t>MM-IM-0200 </a:t>
            </a:r>
            <a:r>
              <a:rPr lang="zh-TW" altLang="en-US" sz="2400" spc="-1" dirty="0" smtClean="0">
                <a:solidFill>
                  <a:schemeClr val="dk1"/>
                </a:solidFill>
                <a:latin typeface="Microsoft JhengHei"/>
                <a:ea typeface="Microsoft JhengHei"/>
              </a:rPr>
              <a:t>製工模具領用繳回作業流程圖</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13248" y="2366061"/>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2631490"/>
          </a:xfrm>
          <a:prstGeom prst="rect">
            <a:avLst/>
          </a:prstGeom>
          <a:noFill/>
          <a:ln>
            <a:solidFill>
              <a:schemeClr val="bg1"/>
            </a:solidFill>
          </a:ln>
        </p:spPr>
        <p:txBody>
          <a:bodyPr wrap="square" lIns="137160" tIns="68580" rIns="137160" bIns="68580" rtlCol="0">
            <a:spAutoFit/>
          </a:bodyPr>
          <a:lstStyle/>
          <a:p>
            <a:pPr marL="342900" indent="-342900">
              <a:buFont typeface="+mj-lt"/>
              <a:buAutoNum type="arabicPeriod"/>
            </a:pPr>
            <a:r>
              <a:rPr lang="zh-TW" altLang="en-US" dirty="0"/>
              <a:t>依據各品牌決定</a:t>
            </a:r>
            <a:r>
              <a:rPr lang="zh-TW" altLang="en-US" dirty="0" smtClean="0"/>
              <a:t>是否有</a:t>
            </a:r>
            <a:r>
              <a:rPr lang="zh-TW" altLang="en-US" dirty="0"/>
              <a:t>領用製工模具的需求，或是現場自行管理。</a:t>
            </a:r>
            <a:endParaRPr lang="en-US" altLang="zh-TW" dirty="0"/>
          </a:p>
          <a:p>
            <a:pPr marL="342900" indent="-342900">
              <a:buFont typeface="+mj-lt"/>
              <a:buAutoNum type="arabicPeriod"/>
            </a:pPr>
            <a:r>
              <a:rPr lang="zh-TW" altLang="en-US" dirty="0" smtClean="0"/>
              <a:t>線外</a:t>
            </a:r>
            <a:r>
              <a:rPr lang="zh-TW" altLang="en-US" dirty="0"/>
              <a:t>紙本手工記帳。</a:t>
            </a:r>
            <a:endParaRPr lang="en-US" altLang="zh-TW" dirty="0"/>
          </a:p>
          <a:p>
            <a:pPr marL="342900" indent="-342900">
              <a:buFont typeface="+mj-lt"/>
              <a:buAutoNum type="arabicPeriod"/>
            </a:pPr>
            <a:r>
              <a:rPr lang="zh-TW" altLang="en-US" dirty="0"/>
              <a:t>依據工單的需求，計算需要的製工模具與數量。</a:t>
            </a:r>
            <a:endParaRPr lang="en-US" altLang="zh-TW" dirty="0"/>
          </a:p>
          <a:p>
            <a:pPr marL="342900" indent="-342900">
              <a:buFont typeface="+mj-lt"/>
              <a:buAutoNum type="arabicPeriod"/>
            </a:pPr>
            <a:r>
              <a:rPr lang="zh-TW" altLang="en-US" dirty="0"/>
              <a:t>依據領料單執行帳務的處理。</a:t>
            </a:r>
            <a:endParaRPr lang="en-US" altLang="zh-TW" dirty="0"/>
          </a:p>
          <a:p>
            <a:pPr marL="342900" indent="-342900">
              <a:buFont typeface="+mj-lt"/>
              <a:buAutoNum type="arabicPeriod"/>
            </a:pPr>
            <a:endParaRPr lang="en-US" altLang="zh-TW" dirty="0"/>
          </a:p>
          <a:p>
            <a:endParaRPr lang="en-US" altLang="zh-TW"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8599610" y="1379664"/>
            <a:ext cx="2571342" cy="400110"/>
          </a:xfrm>
          <a:prstGeom prst="rect">
            <a:avLst/>
          </a:prstGeom>
          <a:noFill/>
        </p:spPr>
        <p:txBody>
          <a:bodyPr wrap="square" lIns="137160" tIns="68580" rIns="137160" bIns="68580" rtlCol="0">
            <a:spAutoFit/>
          </a:bodyPr>
          <a:lstStyle/>
          <a:p>
            <a:pPr algn="ctr"/>
            <a:r>
              <a:rPr lang="zh-TW" altLang="en-US" sz="1700" dirty="0"/>
              <a:t>生管單位</a:t>
            </a:r>
            <a:r>
              <a:rPr lang="en-US" altLang="zh-TW" sz="1700" dirty="0"/>
              <a:t>/</a:t>
            </a:r>
            <a:r>
              <a:rPr lang="zh-TW" altLang="en-US" sz="1700" dirty="0"/>
              <a:t>模具課</a:t>
            </a:r>
          </a:p>
        </p:txBody>
      </p:sp>
      <p:cxnSp>
        <p:nvCxnSpPr>
          <p:cNvPr id="11" name="肘形接點 68">
            <a:extLst>
              <a:ext uri="{FF2B5EF4-FFF2-40B4-BE49-F238E27FC236}">
                <a16:creationId xmlns="" xmlns:a16="http://schemas.microsoft.com/office/drawing/2014/main" id="{24024915-9D25-B9A4-2836-72F0277283A4}"/>
              </a:ext>
            </a:extLst>
          </p:cNvPr>
          <p:cNvCxnSpPr>
            <a:cxnSpLocks/>
            <a:stCxn id="2" idx="3"/>
            <a:endCxn id="412" idx="1"/>
          </p:cNvCxnSpPr>
          <p:nvPr/>
        </p:nvCxnSpPr>
        <p:spPr>
          <a:xfrm>
            <a:off x="2211079" y="2757343"/>
            <a:ext cx="1617998" cy="164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a:t>
            </a:r>
            <a:r>
              <a:rPr lang="en-US" altLang="zh-TW" b="1" dirty="0">
                <a:latin typeface="微軟正黑體" panose="020B0604030504040204" pitchFamily="34" charset="-120"/>
                <a:ea typeface="微軟正黑體" panose="020B0604030504040204" pitchFamily="34" charset="-120"/>
              </a:rPr>
              <a:t>20</a:t>
            </a:r>
            <a:r>
              <a:rPr kumimoji="0" lang="en-US" altLang="zh-TW" b="1" dirty="0">
                <a:latin typeface="微軟正黑體" panose="020B0604030504040204" pitchFamily="34" charset="-120"/>
                <a:ea typeface="微軟正黑體" panose="020B0604030504040204" pitchFamily="34" charset="-120"/>
              </a:rPr>
              <a:t>0</a:t>
            </a:r>
            <a:r>
              <a:rPr lang="zh-TW" altLang="en-US" b="1" dirty="0">
                <a:latin typeface="微軟正黑體" panose="020B0604030504040204" pitchFamily="34" charset="-120"/>
                <a:ea typeface="微軟正黑體" panose="020B0604030504040204" pitchFamily="34" charset="-120"/>
              </a:rPr>
              <a:t>製工模具領用繳回作業流程</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領用</a:t>
            </a:r>
            <a:r>
              <a:rPr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cxnSp>
        <p:nvCxnSpPr>
          <p:cNvPr id="334" name="Straight Connector 284">
            <a:extLst>
              <a:ext uri="{FF2B5EF4-FFF2-40B4-BE49-F238E27FC236}">
                <a16:creationId xmlns="" xmlns:a16="http://schemas.microsoft.com/office/drawing/2014/main" id="{66EEDD7F-2E52-CD98-24FC-881810678C1A}"/>
              </a:ext>
            </a:extLst>
          </p:cNvPr>
          <p:cNvCxnSpPr>
            <a:cxnSpLocks/>
          </p:cNvCxnSpPr>
          <p:nvPr/>
        </p:nvCxnSpPr>
        <p:spPr>
          <a:xfrm>
            <a:off x="7365459" y="1385115"/>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文字方塊 17">
            <a:extLst>
              <a:ext uri="{FF2B5EF4-FFF2-40B4-BE49-F238E27FC236}">
                <a16:creationId xmlns="" xmlns:a16="http://schemas.microsoft.com/office/drawing/2014/main" id="{DBA98B6C-6F2F-6D2E-EEB6-BCF7085C5BCA}"/>
              </a:ext>
            </a:extLst>
          </p:cNvPr>
          <p:cNvSpPr txBox="1"/>
          <p:nvPr/>
        </p:nvSpPr>
        <p:spPr>
          <a:xfrm>
            <a:off x="4045519" y="1386697"/>
            <a:ext cx="1853246" cy="400110"/>
          </a:xfrm>
          <a:prstGeom prst="rect">
            <a:avLst/>
          </a:prstGeom>
          <a:noFill/>
        </p:spPr>
        <p:txBody>
          <a:bodyPr wrap="square" lIns="137160" tIns="68580" rIns="137160" bIns="68580" rtlCol="0">
            <a:spAutoFit/>
          </a:bodyPr>
          <a:lstStyle/>
          <a:p>
            <a:pPr algn="ctr"/>
            <a:r>
              <a:rPr lang="zh-TW" altLang="en-US" sz="1700" dirty="0"/>
              <a:t>現場單位</a:t>
            </a:r>
          </a:p>
        </p:txBody>
      </p:sp>
      <p:sp>
        <p:nvSpPr>
          <p:cNvPr id="412" name="流程圖: 決策 50">
            <a:extLst>
              <a:ext uri="{FF2B5EF4-FFF2-40B4-BE49-F238E27FC236}">
                <a16:creationId xmlns="" xmlns:a16="http://schemas.microsoft.com/office/drawing/2014/main" id="{0A0CC354-0B3B-E828-57EC-0EDEC1ACDF2F}"/>
              </a:ext>
            </a:extLst>
          </p:cNvPr>
          <p:cNvSpPr/>
          <p:nvPr/>
        </p:nvSpPr>
        <p:spPr bwMode="auto">
          <a:xfrm>
            <a:off x="3829077" y="2327953"/>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製工模具領用</a:t>
            </a:r>
            <a:endParaRPr lang="en-US" altLang="zh-TW" sz="1500" dirty="0">
              <a:latin typeface="微軟正黑體" panose="020B0604030504040204" pitchFamily="34" charset="-120"/>
              <a:ea typeface="微軟正黑體" panose="020B0604030504040204" pitchFamily="34" charset="-120"/>
            </a:endParaRPr>
          </a:p>
        </p:txBody>
      </p:sp>
      <p:sp>
        <p:nvSpPr>
          <p:cNvPr id="415" name="流程圖: 結束點 414">
            <a:extLst>
              <a:ext uri="{FF2B5EF4-FFF2-40B4-BE49-F238E27FC236}">
                <a16:creationId xmlns="" xmlns:a16="http://schemas.microsoft.com/office/drawing/2014/main" id="{6DBFADDD-02ED-2959-F880-E6A099D3C842}"/>
              </a:ext>
            </a:extLst>
          </p:cNvPr>
          <p:cNvSpPr/>
          <p:nvPr/>
        </p:nvSpPr>
        <p:spPr bwMode="auto">
          <a:xfrm>
            <a:off x="12170244" y="2356653"/>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416" name="肘形接點 68">
            <a:extLst>
              <a:ext uri="{FF2B5EF4-FFF2-40B4-BE49-F238E27FC236}">
                <a16:creationId xmlns="" xmlns:a16="http://schemas.microsoft.com/office/drawing/2014/main" id="{9CF66289-A212-4105-7D04-84E25FA3ECA6}"/>
              </a:ext>
            </a:extLst>
          </p:cNvPr>
          <p:cNvCxnSpPr>
            <a:cxnSpLocks/>
            <a:stCxn id="412" idx="3"/>
          </p:cNvCxnSpPr>
          <p:nvPr/>
        </p:nvCxnSpPr>
        <p:spPr>
          <a:xfrm>
            <a:off x="5400408" y="2758990"/>
            <a:ext cx="3314964" cy="2785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0" name="肘形接點 68">
            <a:extLst>
              <a:ext uri="{FF2B5EF4-FFF2-40B4-BE49-F238E27FC236}">
                <a16:creationId xmlns="" xmlns:a16="http://schemas.microsoft.com/office/drawing/2014/main" id="{1753F705-F7D0-B5EF-63F3-8ECA496B0B43}"/>
              </a:ext>
            </a:extLst>
          </p:cNvPr>
          <p:cNvCxnSpPr>
            <a:cxnSpLocks/>
            <a:stCxn id="412" idx="2"/>
            <a:endCxn id="42" idx="0"/>
          </p:cNvCxnSpPr>
          <p:nvPr/>
        </p:nvCxnSpPr>
        <p:spPr>
          <a:xfrm rot="16200000" flipH="1">
            <a:off x="4033203" y="3771566"/>
            <a:ext cx="1168449" cy="536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25" name="流程圖: 文件 42">
            <a:extLst>
              <a:ext uri="{FF2B5EF4-FFF2-40B4-BE49-F238E27FC236}">
                <a16:creationId xmlns="" xmlns:a16="http://schemas.microsoft.com/office/drawing/2014/main" id="{DA8B2D95-46ED-DEF3-AF0E-53C7992DCE14}"/>
              </a:ext>
            </a:extLst>
          </p:cNvPr>
          <p:cNvSpPr/>
          <p:nvPr/>
        </p:nvSpPr>
        <p:spPr bwMode="auto">
          <a:xfrm>
            <a:off x="5111031" y="5575674"/>
            <a:ext cx="1841949" cy="97679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製工模具領料單</a:t>
            </a:r>
          </a:p>
        </p:txBody>
      </p:sp>
      <p:sp>
        <p:nvSpPr>
          <p:cNvPr id="427" name="Oval 221">
            <a:extLst>
              <a:ext uri="{FF2B5EF4-FFF2-40B4-BE49-F238E27FC236}">
                <a16:creationId xmlns="" xmlns:a16="http://schemas.microsoft.com/office/drawing/2014/main" id="{DB26B384-389B-9BB6-14A3-5F5006627D5B}"/>
              </a:ext>
            </a:extLst>
          </p:cNvPr>
          <p:cNvSpPr/>
          <p:nvPr/>
        </p:nvSpPr>
        <p:spPr>
          <a:xfrm>
            <a:off x="4789578" y="2113972"/>
            <a:ext cx="411480" cy="40860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8" name="TextBox 222">
            <a:extLst>
              <a:ext uri="{FF2B5EF4-FFF2-40B4-BE49-F238E27FC236}">
                <a16:creationId xmlns="" xmlns:a16="http://schemas.microsoft.com/office/drawing/2014/main" id="{EE73695E-98CB-F9F0-7B31-AA26BF88E5CD}"/>
              </a:ext>
            </a:extLst>
          </p:cNvPr>
          <p:cNvSpPr txBox="1"/>
          <p:nvPr/>
        </p:nvSpPr>
        <p:spPr>
          <a:xfrm>
            <a:off x="4789146" y="2144310"/>
            <a:ext cx="533400" cy="323165"/>
          </a:xfrm>
          <a:prstGeom prst="rect">
            <a:avLst/>
          </a:prstGeom>
          <a:noFill/>
          <a:ln>
            <a:solidFill>
              <a:schemeClr val="bg1"/>
            </a:solidFill>
          </a:ln>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sp>
        <p:nvSpPr>
          <p:cNvPr id="429" name="TextBox 46">
            <a:extLst>
              <a:ext uri="{FF2B5EF4-FFF2-40B4-BE49-F238E27FC236}">
                <a16:creationId xmlns="" xmlns:a16="http://schemas.microsoft.com/office/drawing/2014/main" id="{7EEB129C-CA4A-3F4C-C8C1-E1D57AFED937}"/>
              </a:ext>
            </a:extLst>
          </p:cNvPr>
          <p:cNvSpPr txBox="1"/>
          <p:nvPr/>
        </p:nvSpPr>
        <p:spPr>
          <a:xfrm>
            <a:off x="4607102" y="3507375"/>
            <a:ext cx="1949445" cy="369389"/>
          </a:xfrm>
          <a:prstGeom prst="rect">
            <a:avLst/>
          </a:prstGeom>
          <a:noFill/>
          <a:ln>
            <a:solidFill>
              <a:schemeClr val="bg1"/>
            </a:solidFill>
          </a:ln>
        </p:spPr>
        <p:txBody>
          <a:bodyPr wrap="square" lIns="137160" tIns="68580" rIns="137160" bIns="68580" rtlCol="0">
            <a:spAutoFit/>
          </a:bodyPr>
          <a:lstStyle/>
          <a:p>
            <a:r>
              <a:rPr lang="zh-TW" altLang="en-US" sz="1500" dirty="0"/>
              <a:t>帳上領退料</a:t>
            </a:r>
          </a:p>
        </p:txBody>
      </p:sp>
      <p:sp>
        <p:nvSpPr>
          <p:cNvPr id="430" name="TextBox 46">
            <a:extLst>
              <a:ext uri="{FF2B5EF4-FFF2-40B4-BE49-F238E27FC236}">
                <a16:creationId xmlns="" xmlns:a16="http://schemas.microsoft.com/office/drawing/2014/main" id="{BE5BDA49-8F08-4487-5698-8DD8F0CB03C9}"/>
              </a:ext>
            </a:extLst>
          </p:cNvPr>
          <p:cNvSpPr txBox="1"/>
          <p:nvPr/>
        </p:nvSpPr>
        <p:spPr>
          <a:xfrm>
            <a:off x="5546681" y="2363378"/>
            <a:ext cx="1529471" cy="369389"/>
          </a:xfrm>
          <a:prstGeom prst="rect">
            <a:avLst/>
          </a:prstGeom>
          <a:noFill/>
          <a:ln>
            <a:solidFill>
              <a:schemeClr val="bg1"/>
            </a:solidFill>
          </a:ln>
        </p:spPr>
        <p:txBody>
          <a:bodyPr wrap="square" lIns="137160" tIns="68580" rIns="137160" bIns="68580" rtlCol="0">
            <a:spAutoFit/>
          </a:bodyPr>
          <a:lstStyle/>
          <a:p>
            <a:r>
              <a:rPr lang="zh-TW" altLang="en-US" sz="1500" dirty="0"/>
              <a:t>現場自行管理</a:t>
            </a:r>
          </a:p>
        </p:txBody>
      </p:sp>
      <p:cxnSp>
        <p:nvCxnSpPr>
          <p:cNvPr id="432" name="肘形接點 68">
            <a:extLst>
              <a:ext uri="{FF2B5EF4-FFF2-40B4-BE49-F238E27FC236}">
                <a16:creationId xmlns="" xmlns:a16="http://schemas.microsoft.com/office/drawing/2014/main" id="{17EA3B7C-7147-F1B1-2118-07967BDC4865}"/>
              </a:ext>
            </a:extLst>
          </p:cNvPr>
          <p:cNvCxnSpPr>
            <a:cxnSpLocks/>
            <a:stCxn id="43" idx="3"/>
            <a:endCxn id="33" idx="1"/>
          </p:cNvCxnSpPr>
          <p:nvPr/>
        </p:nvCxnSpPr>
        <p:spPr>
          <a:xfrm flipV="1">
            <a:off x="5525512" y="4958638"/>
            <a:ext cx="3189860" cy="706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 name="Google Shape;38;p9">
            <a:extLst>
              <a:ext uri="{FF2B5EF4-FFF2-40B4-BE49-F238E27FC236}">
                <a16:creationId xmlns="" xmlns:a16="http://schemas.microsoft.com/office/drawing/2014/main" id="{424A9B21-226E-4E89-EEBE-161D8D8BED1D}"/>
              </a:ext>
            </a:extLst>
          </p:cNvPr>
          <p:cNvSpPr txBox="1"/>
          <p:nvPr/>
        </p:nvSpPr>
        <p:spPr>
          <a:xfrm>
            <a:off x="15501982" y="310242"/>
            <a:ext cx="648072" cy="547772"/>
          </a:xfrm>
          <a:prstGeom prst="rect">
            <a:avLst/>
          </a:prstGeom>
          <a:noFill/>
          <a:ln>
            <a:noFill/>
          </a:ln>
        </p:spPr>
        <p:txBody>
          <a:bodyPr spcFirstLastPara="1" wrap="square" lIns="137138" tIns="68550" rIns="137138" bIns="68550" anchor="ctr" anchorCtr="0">
            <a:noAutofit/>
          </a:bodyPr>
          <a:lstStyle/>
          <a:p>
            <a:pPr algn="r"/>
            <a:r>
              <a:rPr lang="en-US" sz="1500" dirty="0">
                <a:solidFill>
                  <a:srgbClr val="888888"/>
                </a:solidFill>
                <a:latin typeface="Arial"/>
                <a:ea typeface="Arial"/>
                <a:cs typeface="Arial"/>
                <a:sym typeface="Arial"/>
              </a:rPr>
              <a:t>1</a:t>
            </a:r>
            <a:endParaRPr sz="1500" dirty="0">
              <a:solidFill>
                <a:srgbClr val="888888"/>
              </a:solidFill>
              <a:latin typeface="Arial"/>
              <a:ea typeface="Arial"/>
              <a:cs typeface="Arial"/>
              <a:sym typeface="Arial"/>
            </a:endParaRPr>
          </a:p>
        </p:txBody>
      </p:sp>
      <p:cxnSp>
        <p:nvCxnSpPr>
          <p:cNvPr id="10" name="肘形接點 68">
            <a:extLst>
              <a:ext uri="{FF2B5EF4-FFF2-40B4-BE49-F238E27FC236}">
                <a16:creationId xmlns="" xmlns:a16="http://schemas.microsoft.com/office/drawing/2014/main" id="{BD15BB11-142E-A8BD-23CC-616523752022}"/>
              </a:ext>
            </a:extLst>
          </p:cNvPr>
          <p:cNvCxnSpPr>
            <a:cxnSpLocks/>
            <a:stCxn id="33" idx="3"/>
            <a:endCxn id="415" idx="2"/>
          </p:cNvCxnSpPr>
          <p:nvPr/>
        </p:nvCxnSpPr>
        <p:spPr>
          <a:xfrm flipV="1">
            <a:off x="10526172" y="3139217"/>
            <a:ext cx="2542988" cy="181942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14" name="表格 30">
            <a:extLst>
              <a:ext uri="{FF2B5EF4-FFF2-40B4-BE49-F238E27FC236}">
                <a16:creationId xmlns="" xmlns:a16="http://schemas.microsoft.com/office/drawing/2014/main" id="{70956205-0B63-593B-7AE9-FE38E3568BB7}"/>
              </a:ext>
            </a:extLst>
          </p:cNvPr>
          <p:cNvGraphicFramePr>
            <a:graphicFrameLocks noGrp="1"/>
          </p:cNvGraphicFramePr>
          <p:nvPr>
            <p:extLst>
              <p:ext uri="{D42A27DB-BD31-4B8C-83A1-F6EECF244321}">
                <p14:modId xmlns="" xmlns:p14="http://schemas.microsoft.com/office/powerpoint/2010/main" val="145749260"/>
              </p:ext>
            </p:extLst>
          </p:nvPr>
        </p:nvGraphicFramePr>
        <p:xfrm>
          <a:off x="8736187" y="2250089"/>
          <a:ext cx="170598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07066">
                  <a:extLst>
                    <a:ext uri="{9D8B030D-6E8A-4147-A177-3AD203B41FA5}">
                      <a16:colId xmlns="" xmlns:a16="http://schemas.microsoft.com/office/drawing/2014/main"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紙本記帳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0" name="肘形接點 68">
            <a:extLst>
              <a:ext uri="{FF2B5EF4-FFF2-40B4-BE49-F238E27FC236}">
                <a16:creationId xmlns="" xmlns:a16="http://schemas.microsoft.com/office/drawing/2014/main" id="{261D4006-F3EF-31A9-06D1-CE55352F8385}"/>
              </a:ext>
            </a:extLst>
          </p:cNvPr>
          <p:cNvCxnSpPr>
            <a:cxnSpLocks/>
            <a:stCxn id="14" idx="3"/>
            <a:endCxn id="415" idx="1"/>
          </p:cNvCxnSpPr>
          <p:nvPr/>
        </p:nvCxnSpPr>
        <p:spPr>
          <a:xfrm flipV="1">
            <a:off x="10442168" y="2747935"/>
            <a:ext cx="1728077" cy="713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85" name="Oval 221">
            <a:extLst>
              <a:ext uri="{FF2B5EF4-FFF2-40B4-BE49-F238E27FC236}">
                <a16:creationId xmlns="" xmlns:a16="http://schemas.microsoft.com/office/drawing/2014/main" id="{A53A0A04-7184-FAD3-22E9-7850A00F5005}"/>
              </a:ext>
            </a:extLst>
          </p:cNvPr>
          <p:cNvSpPr/>
          <p:nvPr/>
        </p:nvSpPr>
        <p:spPr>
          <a:xfrm>
            <a:off x="10211783" y="2021252"/>
            <a:ext cx="411480" cy="40860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86" name="TextBox 222">
            <a:extLst>
              <a:ext uri="{FF2B5EF4-FFF2-40B4-BE49-F238E27FC236}">
                <a16:creationId xmlns="" xmlns:a16="http://schemas.microsoft.com/office/drawing/2014/main" id="{A49DE89C-97E1-0B8B-DE97-AF030E4BC96F}"/>
              </a:ext>
            </a:extLst>
          </p:cNvPr>
          <p:cNvSpPr txBox="1"/>
          <p:nvPr/>
        </p:nvSpPr>
        <p:spPr>
          <a:xfrm>
            <a:off x="10211351" y="2051590"/>
            <a:ext cx="533400" cy="323165"/>
          </a:xfrm>
          <a:prstGeom prst="rect">
            <a:avLst/>
          </a:prstGeom>
          <a:noFill/>
          <a:ln>
            <a:solidFill>
              <a:schemeClr val="bg1"/>
            </a:solidFill>
          </a:ln>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nvGrpSpPr>
          <p:cNvPr id="53" name="群組 52"/>
          <p:cNvGrpSpPr/>
          <p:nvPr/>
        </p:nvGrpSpPr>
        <p:grpSpPr>
          <a:xfrm>
            <a:off x="8715372" y="4144631"/>
            <a:ext cx="2162966" cy="1424040"/>
            <a:chOff x="8715372" y="4366006"/>
            <a:chExt cx="2162966" cy="1424040"/>
          </a:xfrm>
        </p:grpSpPr>
        <p:grpSp>
          <p:nvGrpSpPr>
            <p:cNvPr id="31" name="群組 30"/>
            <p:cNvGrpSpPr/>
            <p:nvPr/>
          </p:nvGrpSpPr>
          <p:grpSpPr>
            <a:xfrm>
              <a:off x="8715372" y="4572790"/>
              <a:ext cx="1818280" cy="1217256"/>
              <a:chOff x="15073354" y="8308668"/>
              <a:chExt cx="1818280" cy="1217256"/>
            </a:xfrm>
          </p:grpSpPr>
          <p:sp>
            <p:nvSpPr>
              <p:cNvPr id="32" name="流程圖: 程序 3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33" name="流程圖: 程序 3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製工模具領用</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rPr>
                  <a:t>(Mvt.311)</a:t>
                </a:r>
                <a:endParaRPr lang="zh-TW" altLang="en-US" sz="1500" dirty="0">
                  <a:latin typeface="微軟正黑體" panose="020B0604030504040204" pitchFamily="34" charset="-120"/>
                  <a:ea typeface="微軟正黑體" panose="020B0604030504040204" pitchFamily="34" charset="-120"/>
                </a:endParaRPr>
              </a:p>
            </p:txBody>
          </p:sp>
          <p:sp>
            <p:nvSpPr>
              <p:cNvPr id="34" name="流程圖: 程序 3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35" name="流程圖: 程序 34"/>
              <p:cNvSpPr/>
              <p:nvPr/>
            </p:nvSpPr>
            <p:spPr>
              <a:xfrm>
                <a:off x="16009634"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36"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37"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8"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smtClean="0">
                    <a:latin typeface="微軟正黑體" panose="020B0604030504040204" pitchFamily="34" charset="-120"/>
                    <a:ea typeface="微軟正黑體" panose="020B0604030504040204" pitchFamily="34" charset="-120"/>
                  </a:rPr>
                  <a:t>４</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54" name="群組 53"/>
          <p:cNvGrpSpPr/>
          <p:nvPr/>
        </p:nvGrpSpPr>
        <p:grpSpPr>
          <a:xfrm>
            <a:off x="3714712" y="4151692"/>
            <a:ext cx="2162966" cy="1424040"/>
            <a:chOff x="3714712" y="4151692"/>
            <a:chExt cx="2162966" cy="1424040"/>
          </a:xfrm>
        </p:grpSpPr>
        <p:grpSp>
          <p:nvGrpSpPr>
            <p:cNvPr id="41" name="群組 40"/>
            <p:cNvGrpSpPr/>
            <p:nvPr/>
          </p:nvGrpSpPr>
          <p:grpSpPr>
            <a:xfrm>
              <a:off x="3714712" y="4358476"/>
              <a:ext cx="1810800" cy="1217256"/>
              <a:chOff x="15073354" y="8308668"/>
              <a:chExt cx="1810800" cy="1217256"/>
            </a:xfrm>
          </p:grpSpPr>
          <p:sp>
            <p:nvSpPr>
              <p:cNvPr id="42" name="流程圖: 程序 4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MD04</a:t>
                </a:r>
                <a:endParaRPr lang="en-GB" sz="1500" b="1" dirty="0">
                  <a:latin typeface="微軟正黑體" panose="020B0604030504040204" pitchFamily="34" charset="-120"/>
                  <a:ea typeface="微軟正黑體" panose="020B0604030504040204" pitchFamily="34" charset="-120"/>
                </a:endParaRPr>
              </a:p>
            </p:txBody>
          </p:sp>
          <p:sp>
            <p:nvSpPr>
              <p:cNvPr id="43" name="流程圖: 程序 4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計算領用需求量</a:t>
                </a:r>
                <a:endParaRPr lang="zh-TW" altLang="en-US" sz="1500" dirty="0">
                  <a:latin typeface="微軟正黑體" panose="020B0604030504040204" pitchFamily="34" charset="-120"/>
                  <a:ea typeface="微軟正黑體" panose="020B0604030504040204" pitchFamily="34" charset="-120"/>
                </a:endParaRPr>
              </a:p>
            </p:txBody>
          </p:sp>
          <p:sp>
            <p:nvSpPr>
              <p:cNvPr id="44" name="流程圖: 程序 4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45" name="流程圖: 程序 44"/>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46" name="Group 220">
              <a:extLst>
                <a:ext uri="{FF2B5EF4-FFF2-40B4-BE49-F238E27FC236}">
                  <a16:creationId xmlns:a16="http://schemas.microsoft.com/office/drawing/2014/main" xmlns="" id="{0C75984D-876F-5104-7AA0-5996E344A44D}"/>
                </a:ext>
              </a:extLst>
            </p:cNvPr>
            <p:cNvGrpSpPr/>
            <p:nvPr/>
          </p:nvGrpSpPr>
          <p:grpSpPr>
            <a:xfrm>
              <a:off x="5344278" y="4151692"/>
              <a:ext cx="533400" cy="408605"/>
              <a:chOff x="5906184" y="1486857"/>
              <a:chExt cx="355600" cy="272361"/>
            </a:xfrm>
          </p:grpSpPr>
          <p:sp>
            <p:nvSpPr>
              <p:cNvPr id="47"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8"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smtClean="0">
                    <a:latin typeface="微軟正黑體" panose="020B0604030504040204" pitchFamily="34" charset="-120"/>
                    <a:ea typeface="微軟正黑體" panose="020B0604030504040204" pitchFamily="34" charset="-120"/>
                  </a:rPr>
                  <a:t>３</a:t>
                </a:r>
                <a:endParaRPr lang="zh-TW" altLang="en-US" sz="1500" dirty="0">
                  <a:latin typeface="微軟正黑體" panose="020B0604030504040204" pitchFamily="34" charset="-120"/>
                  <a:ea typeface="微軟正黑體" panose="020B0604030504040204" pitchFamily="34" charset="-120"/>
                </a:endParaRPr>
              </a:p>
            </p:txBody>
          </p:sp>
        </p:gr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13248" y="2366061"/>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4016484"/>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依據各品牌決定</a:t>
            </a:r>
            <a:r>
              <a:rPr lang="zh-TW" altLang="en-US" dirty="0" smtClean="0"/>
              <a:t>是否有</a:t>
            </a:r>
            <a:r>
              <a:rPr lang="zh-TW" altLang="en-US" dirty="0"/>
              <a:t>領用製工模具的需求，或是現場自行管理。</a:t>
            </a:r>
            <a:endParaRPr lang="en-US" altLang="zh-TW" dirty="0"/>
          </a:p>
          <a:p>
            <a:pPr marL="342900" indent="-342900">
              <a:buFont typeface="+mj-lt"/>
              <a:buAutoNum type="arabicPeriod"/>
            </a:pPr>
            <a:r>
              <a:rPr lang="zh-TW" altLang="en-US" dirty="0" smtClean="0"/>
              <a:t>採用紙本記帳收取現場</a:t>
            </a:r>
            <a:r>
              <a:rPr lang="zh-TW" altLang="en-US" dirty="0"/>
              <a:t>單位清點製工模具的</a:t>
            </a:r>
            <a:r>
              <a:rPr lang="zh-TW" altLang="en-US" dirty="0" smtClean="0"/>
              <a:t>數量 ，完成紙本登記。</a:t>
            </a:r>
            <a:endParaRPr lang="en-US" altLang="zh-TW" dirty="0"/>
          </a:p>
          <a:p>
            <a:pPr marL="342900" indent="-342900">
              <a:buFont typeface="+mj-lt"/>
              <a:buAutoNum type="arabicPeriod"/>
            </a:pPr>
            <a:r>
              <a:rPr lang="zh-TW" altLang="en-US" dirty="0"/>
              <a:t>當現場單位有實際的領用</a:t>
            </a:r>
            <a:r>
              <a:rPr lang="en-US" altLang="zh-TW" dirty="0"/>
              <a:t>(</a:t>
            </a:r>
            <a:r>
              <a:rPr lang="zh-TW" altLang="en-US" dirty="0"/>
              <a:t>例如</a:t>
            </a:r>
            <a:r>
              <a:rPr lang="en-US" altLang="zh-TW" dirty="0"/>
              <a:t>:</a:t>
            </a:r>
            <a:r>
              <a:rPr lang="zh-TW" altLang="en-US" dirty="0"/>
              <a:t>楦頭</a:t>
            </a:r>
            <a:r>
              <a:rPr lang="en-US" altLang="zh-TW" dirty="0"/>
              <a:t>)</a:t>
            </a:r>
            <a:r>
              <a:rPr lang="zh-TW" altLang="en-US" dirty="0"/>
              <a:t>則現場須清單繳回退庫</a:t>
            </a:r>
            <a:r>
              <a:rPr lang="zh-TW" altLang="en-US" dirty="0" smtClean="0"/>
              <a:t>清單</a:t>
            </a:r>
            <a:endParaRPr lang="en-US" altLang="zh-TW" dirty="0"/>
          </a:p>
          <a:p>
            <a:pPr marL="342900" indent="-342900">
              <a:buFont typeface="+mj-lt"/>
              <a:buAutoNum type="arabicPeriod"/>
            </a:pPr>
            <a:r>
              <a:rPr lang="zh-TW" altLang="en-US" dirty="0" smtClean="0"/>
              <a:t>保管單位執行</a:t>
            </a:r>
            <a:r>
              <a:rPr lang="zh-TW" altLang="en-US" dirty="0"/>
              <a:t>工單退庫過帳繳回。</a:t>
            </a: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cxnSp>
        <p:nvCxnSpPr>
          <p:cNvPr id="11" name="肘形接點 68">
            <a:extLst>
              <a:ext uri="{FF2B5EF4-FFF2-40B4-BE49-F238E27FC236}">
                <a16:creationId xmlns="" xmlns:a16="http://schemas.microsoft.com/office/drawing/2014/main" id="{24024915-9D25-B9A4-2836-72F0277283A4}"/>
              </a:ext>
            </a:extLst>
          </p:cNvPr>
          <p:cNvCxnSpPr>
            <a:cxnSpLocks/>
            <a:stCxn id="2" idx="3"/>
            <a:endCxn id="412" idx="1"/>
          </p:cNvCxnSpPr>
          <p:nvPr/>
        </p:nvCxnSpPr>
        <p:spPr>
          <a:xfrm>
            <a:off x="2211080" y="2757343"/>
            <a:ext cx="1646873" cy="164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a:t>
            </a:r>
            <a:r>
              <a:rPr lang="en-US" altLang="zh-TW" b="1" dirty="0">
                <a:latin typeface="微軟正黑體" panose="020B0604030504040204" pitchFamily="34" charset="-120"/>
                <a:ea typeface="微軟正黑體" panose="020B0604030504040204" pitchFamily="34" charset="-120"/>
              </a:rPr>
              <a:t>20</a:t>
            </a:r>
            <a:r>
              <a:rPr kumimoji="0" lang="en-US" altLang="zh-TW" b="1" dirty="0">
                <a:latin typeface="微軟正黑體" panose="020B0604030504040204" pitchFamily="34" charset="-120"/>
                <a:ea typeface="微軟正黑體" panose="020B0604030504040204" pitchFamily="34" charset="-120"/>
              </a:rPr>
              <a:t>0</a:t>
            </a:r>
            <a:r>
              <a:rPr lang="zh-TW" altLang="en-US" b="1" dirty="0">
                <a:latin typeface="微軟正黑體" panose="020B0604030504040204" pitchFamily="34" charset="-120"/>
                <a:ea typeface="微軟正黑體" panose="020B0604030504040204" pitchFamily="34" charset="-120"/>
              </a:rPr>
              <a:t>製工模具領用繳回作業流程</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繳回</a:t>
            </a:r>
            <a:r>
              <a:rPr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cxnSp>
        <p:nvCxnSpPr>
          <p:cNvPr id="334" name="Straight Connector 284">
            <a:extLst>
              <a:ext uri="{FF2B5EF4-FFF2-40B4-BE49-F238E27FC236}">
                <a16:creationId xmlns="" xmlns:a16="http://schemas.microsoft.com/office/drawing/2014/main" id="{66EEDD7F-2E52-CD98-24FC-881810678C1A}"/>
              </a:ext>
            </a:extLst>
          </p:cNvPr>
          <p:cNvCxnSpPr>
            <a:cxnSpLocks/>
          </p:cNvCxnSpPr>
          <p:nvPr/>
        </p:nvCxnSpPr>
        <p:spPr>
          <a:xfrm>
            <a:off x="7365459" y="1385115"/>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文字方塊 17">
            <a:extLst>
              <a:ext uri="{FF2B5EF4-FFF2-40B4-BE49-F238E27FC236}">
                <a16:creationId xmlns="" xmlns:a16="http://schemas.microsoft.com/office/drawing/2014/main" id="{DBA98B6C-6F2F-6D2E-EEB6-BCF7085C5BCA}"/>
              </a:ext>
            </a:extLst>
          </p:cNvPr>
          <p:cNvSpPr txBox="1"/>
          <p:nvPr/>
        </p:nvSpPr>
        <p:spPr>
          <a:xfrm>
            <a:off x="4045519" y="1386697"/>
            <a:ext cx="1853246" cy="400110"/>
          </a:xfrm>
          <a:prstGeom prst="rect">
            <a:avLst/>
          </a:prstGeom>
          <a:noFill/>
        </p:spPr>
        <p:txBody>
          <a:bodyPr wrap="square" lIns="137160" tIns="68580" rIns="137160" bIns="68580" rtlCol="0">
            <a:spAutoFit/>
          </a:bodyPr>
          <a:lstStyle/>
          <a:p>
            <a:pPr algn="ctr"/>
            <a:r>
              <a:rPr lang="zh-TW" altLang="en-US" sz="1700" dirty="0"/>
              <a:t>現場單位</a:t>
            </a:r>
          </a:p>
        </p:txBody>
      </p:sp>
      <p:sp>
        <p:nvSpPr>
          <p:cNvPr id="412" name="流程圖: 決策 50">
            <a:extLst>
              <a:ext uri="{FF2B5EF4-FFF2-40B4-BE49-F238E27FC236}">
                <a16:creationId xmlns="" xmlns:a16="http://schemas.microsoft.com/office/drawing/2014/main" id="{0A0CC354-0B3B-E828-57EC-0EDEC1ACDF2F}"/>
              </a:ext>
            </a:extLst>
          </p:cNvPr>
          <p:cNvSpPr/>
          <p:nvPr/>
        </p:nvSpPr>
        <p:spPr bwMode="auto">
          <a:xfrm>
            <a:off x="3857952" y="2327953"/>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製工模具繳回</a:t>
            </a:r>
            <a:endParaRPr lang="en-US" altLang="zh-TW" sz="1500" dirty="0">
              <a:latin typeface="微軟正黑體" panose="020B0604030504040204" pitchFamily="34" charset="-120"/>
              <a:ea typeface="微軟正黑體" panose="020B0604030504040204" pitchFamily="34" charset="-120"/>
            </a:endParaRPr>
          </a:p>
        </p:txBody>
      </p:sp>
      <p:sp>
        <p:nvSpPr>
          <p:cNvPr id="415" name="流程圖: 結束點 414">
            <a:extLst>
              <a:ext uri="{FF2B5EF4-FFF2-40B4-BE49-F238E27FC236}">
                <a16:creationId xmlns="" xmlns:a16="http://schemas.microsoft.com/office/drawing/2014/main" id="{6DBFADDD-02ED-2959-F880-E6A099D3C842}"/>
              </a:ext>
            </a:extLst>
          </p:cNvPr>
          <p:cNvSpPr/>
          <p:nvPr/>
        </p:nvSpPr>
        <p:spPr bwMode="auto">
          <a:xfrm>
            <a:off x="12170244" y="2356653"/>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416" name="肘形接點 68">
            <a:extLst>
              <a:ext uri="{FF2B5EF4-FFF2-40B4-BE49-F238E27FC236}">
                <a16:creationId xmlns="" xmlns:a16="http://schemas.microsoft.com/office/drawing/2014/main" id="{9CF66289-A212-4105-7D04-84E25FA3ECA6}"/>
              </a:ext>
            </a:extLst>
          </p:cNvPr>
          <p:cNvCxnSpPr>
            <a:cxnSpLocks/>
            <a:stCxn id="412" idx="3"/>
            <a:endCxn id="10" idx="1"/>
          </p:cNvCxnSpPr>
          <p:nvPr/>
        </p:nvCxnSpPr>
        <p:spPr>
          <a:xfrm flipV="1">
            <a:off x="5429283" y="2755068"/>
            <a:ext cx="3306903" cy="392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0" name="肘形接點 68">
            <a:extLst>
              <a:ext uri="{FF2B5EF4-FFF2-40B4-BE49-F238E27FC236}">
                <a16:creationId xmlns="" xmlns:a16="http://schemas.microsoft.com/office/drawing/2014/main" id="{1753F705-F7D0-B5EF-63F3-8ECA496B0B43}"/>
              </a:ext>
            </a:extLst>
          </p:cNvPr>
          <p:cNvCxnSpPr>
            <a:cxnSpLocks/>
            <a:stCxn id="412" idx="2"/>
            <a:endCxn id="51" idx="0"/>
          </p:cNvCxnSpPr>
          <p:nvPr/>
        </p:nvCxnSpPr>
        <p:spPr>
          <a:xfrm rot="5400000">
            <a:off x="3888168" y="3897121"/>
            <a:ext cx="1462544" cy="4835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25" name="流程圖: 文件 42">
            <a:extLst>
              <a:ext uri="{FF2B5EF4-FFF2-40B4-BE49-F238E27FC236}">
                <a16:creationId xmlns="" xmlns:a16="http://schemas.microsoft.com/office/drawing/2014/main" id="{DA8B2D95-46ED-DEF3-AF0E-53C7992DCE14}"/>
              </a:ext>
            </a:extLst>
          </p:cNvPr>
          <p:cNvSpPr/>
          <p:nvPr/>
        </p:nvSpPr>
        <p:spPr bwMode="auto">
          <a:xfrm>
            <a:off x="5201058" y="5801443"/>
            <a:ext cx="1841949" cy="97679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製工模具領</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退</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料單</a:t>
            </a:r>
          </a:p>
        </p:txBody>
      </p:sp>
      <p:grpSp>
        <p:nvGrpSpPr>
          <p:cNvPr id="8" name="Group 220">
            <a:extLst>
              <a:ext uri="{FF2B5EF4-FFF2-40B4-BE49-F238E27FC236}">
                <a16:creationId xmlns="" xmlns:a16="http://schemas.microsoft.com/office/drawing/2014/main" id="{2478BA30-9B8C-1637-9491-6F3F629DBF6E}"/>
              </a:ext>
            </a:extLst>
          </p:cNvPr>
          <p:cNvGrpSpPr/>
          <p:nvPr/>
        </p:nvGrpSpPr>
        <p:grpSpPr>
          <a:xfrm>
            <a:off x="4789146" y="2113972"/>
            <a:ext cx="533400" cy="408605"/>
            <a:chOff x="5906184" y="1486857"/>
            <a:chExt cx="355600" cy="272361"/>
          </a:xfrm>
        </p:grpSpPr>
        <p:sp>
          <p:nvSpPr>
            <p:cNvPr id="427" name="Oval 221">
              <a:extLst>
                <a:ext uri="{FF2B5EF4-FFF2-40B4-BE49-F238E27FC236}">
                  <a16:creationId xmlns="" xmlns:a16="http://schemas.microsoft.com/office/drawing/2014/main" id="{DB26B384-389B-9BB6-14A3-5F5006627D5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8" name="TextBox 222">
              <a:extLst>
                <a:ext uri="{FF2B5EF4-FFF2-40B4-BE49-F238E27FC236}">
                  <a16:creationId xmlns="" xmlns:a16="http://schemas.microsoft.com/office/drawing/2014/main" id="{EE73695E-98CB-F9F0-7B31-AA26BF88E5CD}"/>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429" name="TextBox 46">
            <a:extLst>
              <a:ext uri="{FF2B5EF4-FFF2-40B4-BE49-F238E27FC236}">
                <a16:creationId xmlns="" xmlns:a16="http://schemas.microsoft.com/office/drawing/2014/main" id="{7EEB129C-CA4A-3F4C-C8C1-E1D57AFED937}"/>
              </a:ext>
            </a:extLst>
          </p:cNvPr>
          <p:cNvSpPr txBox="1"/>
          <p:nvPr/>
        </p:nvSpPr>
        <p:spPr>
          <a:xfrm>
            <a:off x="4607102" y="3507375"/>
            <a:ext cx="1949445" cy="369389"/>
          </a:xfrm>
          <a:prstGeom prst="rect">
            <a:avLst/>
          </a:prstGeom>
          <a:noFill/>
        </p:spPr>
        <p:txBody>
          <a:bodyPr wrap="square" lIns="137160" tIns="68580" rIns="137160" bIns="68580" rtlCol="0">
            <a:spAutoFit/>
          </a:bodyPr>
          <a:lstStyle/>
          <a:p>
            <a:r>
              <a:rPr lang="zh-TW" altLang="en-US" sz="1500" dirty="0"/>
              <a:t>帳上領退料</a:t>
            </a:r>
          </a:p>
        </p:txBody>
      </p:sp>
      <p:sp>
        <p:nvSpPr>
          <p:cNvPr id="430" name="TextBox 46">
            <a:extLst>
              <a:ext uri="{FF2B5EF4-FFF2-40B4-BE49-F238E27FC236}">
                <a16:creationId xmlns="" xmlns:a16="http://schemas.microsoft.com/office/drawing/2014/main" id="{BE5BDA49-8F08-4487-5698-8DD8F0CB03C9}"/>
              </a:ext>
            </a:extLst>
          </p:cNvPr>
          <p:cNvSpPr txBox="1"/>
          <p:nvPr/>
        </p:nvSpPr>
        <p:spPr>
          <a:xfrm>
            <a:off x="5546681" y="2363378"/>
            <a:ext cx="1529471" cy="369389"/>
          </a:xfrm>
          <a:prstGeom prst="rect">
            <a:avLst/>
          </a:prstGeom>
          <a:noFill/>
        </p:spPr>
        <p:txBody>
          <a:bodyPr wrap="square" lIns="137160" tIns="68580" rIns="137160" bIns="68580" rtlCol="0">
            <a:spAutoFit/>
          </a:bodyPr>
          <a:lstStyle/>
          <a:p>
            <a:r>
              <a:rPr lang="zh-TW" altLang="en-US" sz="1500" dirty="0"/>
              <a:t>現場自行管理</a:t>
            </a:r>
          </a:p>
        </p:txBody>
      </p:sp>
      <p:graphicFrame>
        <p:nvGraphicFramePr>
          <p:cNvPr id="10" name="表格 30">
            <a:extLst>
              <a:ext uri="{FF2B5EF4-FFF2-40B4-BE49-F238E27FC236}">
                <a16:creationId xmlns="" xmlns:a16="http://schemas.microsoft.com/office/drawing/2014/main" id="{DD608B36-E911-5514-8D6A-53ED20E11FE7}"/>
              </a:ext>
            </a:extLst>
          </p:cNvPr>
          <p:cNvGraphicFramePr>
            <a:graphicFrameLocks noGrp="1"/>
          </p:cNvGraphicFramePr>
          <p:nvPr>
            <p:extLst>
              <p:ext uri="{D42A27DB-BD31-4B8C-83A1-F6EECF244321}">
                <p14:modId xmlns="" xmlns:p14="http://schemas.microsoft.com/office/powerpoint/2010/main" val="916266439"/>
              </p:ext>
            </p:extLst>
          </p:nvPr>
        </p:nvGraphicFramePr>
        <p:xfrm>
          <a:off x="8736187" y="2250089"/>
          <a:ext cx="170598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07066">
                  <a:extLst>
                    <a:ext uri="{9D8B030D-6E8A-4147-A177-3AD203B41FA5}">
                      <a16:colId xmlns="" xmlns:a16="http://schemas.microsoft.com/office/drawing/2014/main"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紙本記帳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5" name="Group 220">
            <a:extLst>
              <a:ext uri="{FF2B5EF4-FFF2-40B4-BE49-F238E27FC236}">
                <a16:creationId xmlns="" xmlns:a16="http://schemas.microsoft.com/office/drawing/2014/main" id="{F49D438D-6E86-1F65-DDA4-15C7B87C16EE}"/>
              </a:ext>
            </a:extLst>
          </p:cNvPr>
          <p:cNvGrpSpPr/>
          <p:nvPr/>
        </p:nvGrpSpPr>
        <p:grpSpPr>
          <a:xfrm>
            <a:off x="10211351" y="2021252"/>
            <a:ext cx="533400" cy="408605"/>
            <a:chOff x="5906184" y="1486857"/>
            <a:chExt cx="355600" cy="272361"/>
          </a:xfrm>
        </p:grpSpPr>
        <p:sp>
          <p:nvSpPr>
            <p:cNvPr id="13" name="Oval 221">
              <a:extLst>
                <a:ext uri="{FF2B5EF4-FFF2-40B4-BE49-F238E27FC236}">
                  <a16:creationId xmlns="" xmlns:a16="http://schemas.microsoft.com/office/drawing/2014/main" id="{15F04264-6504-B2BD-DF78-4B5BBDDE29AC}"/>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TextBox 222">
              <a:extLst>
                <a:ext uri="{FF2B5EF4-FFF2-40B4-BE49-F238E27FC236}">
                  <a16:creationId xmlns="" xmlns:a16="http://schemas.microsoft.com/office/drawing/2014/main" id="{3FC844B8-37CD-0EA8-4BBF-C60080C32F02}"/>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17" name="肘形接點 68">
            <a:extLst>
              <a:ext uri="{FF2B5EF4-FFF2-40B4-BE49-F238E27FC236}">
                <a16:creationId xmlns="" xmlns:a16="http://schemas.microsoft.com/office/drawing/2014/main" id="{5046D320-3969-F968-2034-771621DA3B62}"/>
              </a:ext>
            </a:extLst>
          </p:cNvPr>
          <p:cNvCxnSpPr>
            <a:cxnSpLocks/>
            <a:stCxn id="43" idx="3"/>
            <a:endCxn id="415" idx="2"/>
          </p:cNvCxnSpPr>
          <p:nvPr/>
        </p:nvCxnSpPr>
        <p:spPr>
          <a:xfrm flipV="1">
            <a:off x="10501322" y="3139217"/>
            <a:ext cx="2567838" cy="214239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 name="肘形接點 68">
            <a:extLst>
              <a:ext uri="{FF2B5EF4-FFF2-40B4-BE49-F238E27FC236}">
                <a16:creationId xmlns="" xmlns:a16="http://schemas.microsoft.com/office/drawing/2014/main" id="{6FB5EC20-8462-D9F9-ADC5-19DCAA832ECD}"/>
              </a:ext>
            </a:extLst>
          </p:cNvPr>
          <p:cNvCxnSpPr>
            <a:cxnSpLocks/>
            <a:stCxn id="10" idx="3"/>
            <a:endCxn id="415" idx="1"/>
          </p:cNvCxnSpPr>
          <p:nvPr/>
        </p:nvCxnSpPr>
        <p:spPr>
          <a:xfrm flipV="1">
            <a:off x="10442168" y="2747935"/>
            <a:ext cx="1728077" cy="713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 name="文字方塊 17">
            <a:extLst>
              <a:ext uri="{FF2B5EF4-FFF2-40B4-BE49-F238E27FC236}">
                <a16:creationId xmlns="" xmlns:a16="http://schemas.microsoft.com/office/drawing/2014/main" id="{B6F56064-5507-4609-F6B3-78E0931BAA16}"/>
              </a:ext>
            </a:extLst>
          </p:cNvPr>
          <p:cNvSpPr txBox="1"/>
          <p:nvPr/>
        </p:nvSpPr>
        <p:spPr>
          <a:xfrm>
            <a:off x="8599610" y="1379664"/>
            <a:ext cx="2571342" cy="400110"/>
          </a:xfrm>
          <a:prstGeom prst="rect">
            <a:avLst/>
          </a:prstGeom>
          <a:noFill/>
        </p:spPr>
        <p:txBody>
          <a:bodyPr wrap="square" lIns="137160" tIns="68580" rIns="137160" bIns="68580" rtlCol="0">
            <a:spAutoFit/>
          </a:bodyPr>
          <a:lstStyle/>
          <a:p>
            <a:pPr algn="ctr"/>
            <a:r>
              <a:rPr lang="zh-TW" altLang="en-US" sz="1700" dirty="0"/>
              <a:t>生管單位</a:t>
            </a:r>
            <a:r>
              <a:rPr lang="en-US" altLang="zh-TW" sz="1700" dirty="0"/>
              <a:t>/</a:t>
            </a:r>
            <a:r>
              <a:rPr lang="zh-TW" altLang="en-US" sz="1700" dirty="0"/>
              <a:t>模具課</a:t>
            </a:r>
          </a:p>
        </p:txBody>
      </p:sp>
      <p:sp>
        <p:nvSpPr>
          <p:cNvPr id="41" name="Google Shape;38;p9">
            <a:extLst>
              <a:ext uri="{FF2B5EF4-FFF2-40B4-BE49-F238E27FC236}">
                <a16:creationId xmlns="" xmlns:a16="http://schemas.microsoft.com/office/drawing/2014/main" id="{424A9B21-226E-4E89-EEBE-161D8D8BED1D}"/>
              </a:ext>
            </a:extLst>
          </p:cNvPr>
          <p:cNvSpPr txBox="1"/>
          <p:nvPr/>
        </p:nvSpPr>
        <p:spPr>
          <a:xfrm>
            <a:off x="15496852" y="310242"/>
            <a:ext cx="648072" cy="547772"/>
          </a:xfrm>
          <a:prstGeom prst="rect">
            <a:avLst/>
          </a:prstGeom>
          <a:noFill/>
          <a:ln>
            <a:noFill/>
          </a:ln>
        </p:spPr>
        <p:txBody>
          <a:bodyPr spcFirstLastPara="1" wrap="square" lIns="137138" tIns="68550" rIns="137138" bIns="68550" anchor="ctr" anchorCtr="0">
            <a:noAutofit/>
          </a:bodyPr>
          <a:lstStyle/>
          <a:p>
            <a:pPr algn="r"/>
            <a:r>
              <a:rPr lang="en-US" sz="1500" dirty="0" smtClean="0">
                <a:solidFill>
                  <a:srgbClr val="888888"/>
                </a:solidFill>
                <a:latin typeface="Arial"/>
                <a:ea typeface="Arial"/>
                <a:cs typeface="Arial"/>
                <a:sym typeface="Arial"/>
              </a:rPr>
              <a:t>2</a:t>
            </a:r>
            <a:endParaRPr sz="1500" dirty="0">
              <a:solidFill>
                <a:srgbClr val="888888"/>
              </a:solidFill>
              <a:latin typeface="Arial"/>
              <a:ea typeface="Arial"/>
              <a:cs typeface="Arial"/>
              <a:sym typeface="Arial"/>
            </a:endParaRPr>
          </a:p>
        </p:txBody>
      </p:sp>
      <p:cxnSp>
        <p:nvCxnSpPr>
          <p:cNvPr id="35" name="肘形接點 68">
            <a:extLst>
              <a:ext uri="{FF2B5EF4-FFF2-40B4-BE49-F238E27FC236}">
                <a16:creationId xmlns="" xmlns:a16="http://schemas.microsoft.com/office/drawing/2014/main" id="{17EA3B7C-7147-F1B1-2118-07967BDC4865}"/>
              </a:ext>
            </a:extLst>
          </p:cNvPr>
          <p:cNvCxnSpPr>
            <a:cxnSpLocks/>
            <a:stCxn id="52" idx="3"/>
            <a:endCxn id="43" idx="1"/>
          </p:cNvCxnSpPr>
          <p:nvPr/>
        </p:nvCxnSpPr>
        <p:spPr>
          <a:xfrm>
            <a:off x="5500662" y="5259794"/>
            <a:ext cx="3189860" cy="2181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6" name="群組 35"/>
          <p:cNvGrpSpPr/>
          <p:nvPr/>
        </p:nvGrpSpPr>
        <p:grpSpPr>
          <a:xfrm>
            <a:off x="8690522" y="4467601"/>
            <a:ext cx="2162966" cy="1424040"/>
            <a:chOff x="8715372" y="4366006"/>
            <a:chExt cx="2162966" cy="1424040"/>
          </a:xfrm>
        </p:grpSpPr>
        <p:grpSp>
          <p:nvGrpSpPr>
            <p:cNvPr id="37" name="群組 30"/>
            <p:cNvGrpSpPr/>
            <p:nvPr/>
          </p:nvGrpSpPr>
          <p:grpSpPr>
            <a:xfrm>
              <a:off x="8715372" y="4572790"/>
              <a:ext cx="1818280" cy="1217256"/>
              <a:chOff x="15073354" y="8308668"/>
              <a:chExt cx="1818280" cy="1217256"/>
            </a:xfrm>
          </p:grpSpPr>
          <p:sp>
            <p:nvSpPr>
              <p:cNvPr id="42" name="流程圖: 程序 4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43" name="流程圖: 程序 4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製工模具繳回</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rPr>
                  <a:t>(Mvt.311)</a:t>
                </a:r>
                <a:endParaRPr lang="zh-TW" altLang="en-US" sz="1500" dirty="0">
                  <a:latin typeface="微軟正黑體" panose="020B0604030504040204" pitchFamily="34" charset="-120"/>
                  <a:ea typeface="微軟正黑體" panose="020B0604030504040204" pitchFamily="34" charset="-120"/>
                </a:endParaRPr>
              </a:p>
            </p:txBody>
          </p:sp>
          <p:sp>
            <p:nvSpPr>
              <p:cNvPr id="44" name="流程圖: 程序 4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45" name="流程圖: 程序 44"/>
              <p:cNvSpPr/>
              <p:nvPr/>
            </p:nvSpPr>
            <p:spPr>
              <a:xfrm>
                <a:off x="16009634"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38"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39"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smtClean="0">
                    <a:latin typeface="微軟正黑體" panose="020B0604030504040204" pitchFamily="34" charset="-120"/>
                    <a:ea typeface="微軟正黑體" panose="020B0604030504040204" pitchFamily="34" charset="-120"/>
                  </a:rPr>
                  <a:t>４</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46" name="群組 45"/>
          <p:cNvGrpSpPr/>
          <p:nvPr/>
        </p:nvGrpSpPr>
        <p:grpSpPr>
          <a:xfrm>
            <a:off x="3689862" y="4445787"/>
            <a:ext cx="2162966" cy="1424040"/>
            <a:chOff x="3714712" y="4151692"/>
            <a:chExt cx="2162966" cy="1424040"/>
          </a:xfrm>
        </p:grpSpPr>
        <p:grpSp>
          <p:nvGrpSpPr>
            <p:cNvPr id="47" name="群組 40"/>
            <p:cNvGrpSpPr/>
            <p:nvPr/>
          </p:nvGrpSpPr>
          <p:grpSpPr>
            <a:xfrm>
              <a:off x="3714712" y="4358476"/>
              <a:ext cx="1810800" cy="1217256"/>
              <a:chOff x="15073354" y="8308668"/>
              <a:chExt cx="1810800" cy="1217256"/>
            </a:xfrm>
          </p:grpSpPr>
          <p:sp>
            <p:nvSpPr>
              <p:cNvPr id="51" name="流程圖: 程序 5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52" name="流程圖: 程序 5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清點製工模具數量</a:t>
                </a:r>
                <a:endParaRPr lang="zh-TW" altLang="en-US" sz="1500" dirty="0">
                  <a:latin typeface="微軟正黑體" panose="020B0604030504040204" pitchFamily="34" charset="-120"/>
                  <a:ea typeface="微軟正黑體" panose="020B0604030504040204" pitchFamily="34" charset="-120"/>
                </a:endParaRPr>
              </a:p>
            </p:txBody>
          </p:sp>
          <p:sp>
            <p:nvSpPr>
              <p:cNvPr id="53" name="流程圖: 程序 5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54" name="流程圖: 程序 53"/>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48" name="Group 220">
              <a:extLst>
                <a:ext uri="{FF2B5EF4-FFF2-40B4-BE49-F238E27FC236}">
                  <a16:creationId xmlns:a16="http://schemas.microsoft.com/office/drawing/2014/main" xmlns="" id="{0C75984D-876F-5104-7AA0-5996E344A44D}"/>
                </a:ext>
              </a:extLst>
            </p:cNvPr>
            <p:cNvGrpSpPr/>
            <p:nvPr/>
          </p:nvGrpSpPr>
          <p:grpSpPr>
            <a:xfrm>
              <a:off x="5344278" y="4151692"/>
              <a:ext cx="533400" cy="408605"/>
              <a:chOff x="5906184" y="1486857"/>
              <a:chExt cx="355600" cy="272361"/>
            </a:xfrm>
          </p:grpSpPr>
          <p:sp>
            <p:nvSpPr>
              <p:cNvPr id="49"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0"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smtClean="0">
                    <a:latin typeface="微軟正黑體" panose="020B0604030504040204" pitchFamily="34" charset="-120"/>
                    <a:ea typeface="微軟正黑體" panose="020B0604030504040204" pitchFamily="34" charset="-120"/>
                  </a:rPr>
                  <a:t>３</a:t>
                </a:r>
                <a:endParaRPr lang="zh-TW" altLang="en-US" sz="1500" dirty="0">
                  <a:latin typeface="微軟正黑體" panose="020B0604030504040204" pitchFamily="34" charset="-120"/>
                  <a:ea typeface="微軟正黑體" panose="020B0604030504040204" pitchFamily="34" charset="-120"/>
                </a:endParaRPr>
              </a:p>
            </p:txBody>
          </p:sp>
        </p:grpSp>
      </p:grpSp>
    </p:spTree>
    <p:extLst>
      <p:ext uri="{BB962C8B-B14F-4D97-AF65-F5344CB8AC3E}">
        <p14:creationId xmlns="" xmlns:p14="http://schemas.microsoft.com/office/powerpoint/2010/main" val="40300649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15967</TotalTime>
  <Words>642</Words>
  <Application>Collabora_Office/23.05.5.4$Linux_X86_64 LibreOffice_project/1681200a96e5ffa1bee996c23ec760042f91abfa</Application>
  <PresentationFormat>自訂</PresentationFormat>
  <Paragraphs>152</Paragraphs>
  <Slides>7</Slides>
  <Notes>3</Notes>
  <HiddenSlides>0</HiddenSlides>
  <MMClips>0</MMClips>
  <ScaleCrop>false</ScaleCrop>
  <HeadingPairs>
    <vt:vector size="4" baseType="variant">
      <vt:variant>
        <vt:lpstr>佈景主題</vt:lpstr>
      </vt:variant>
      <vt:variant>
        <vt:i4>5</vt:i4>
      </vt:variant>
      <vt:variant>
        <vt:lpstr>投影片標題</vt:lpstr>
      </vt:variant>
      <vt:variant>
        <vt:i4>7</vt:i4>
      </vt:variant>
    </vt:vector>
  </HeadingPairs>
  <TitlesOfParts>
    <vt:vector size="12"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132</cp:revision>
  <dcterms:created xsi:type="dcterms:W3CDTF">2023-05-31T01:27:04Z</dcterms:created>
  <dcterms:modified xsi:type="dcterms:W3CDTF">2025-07-21T01:03:05Z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