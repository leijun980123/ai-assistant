
<file path=[Content_Types].xml><?xml version="1.0" encoding="utf-8"?>
<Types xmlns="http://schemas.openxmlformats.org/package/2006/content-types">
  <Override PartName="/ppt/slideMasters/slideMaster3.xml" ContentType="application/vnd.openxmlformats-officedocument.presentationml.slideMaster+xml"/>
  <Override PartName="/ppt/slideLayouts/slideLayout39.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46.xml" ContentType="application/vnd.openxmlformats-officedocument.presentationml.slideLayout+xml"/>
  <Override PartName="/ppt/slideLayouts/slideLayout55.xml" ContentType="application/vnd.openxmlformats-officedocument.presentationml.slideLayout+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Override PartName="/ppt/slideLayouts/slideLayout44.xml" ContentType="application/vnd.openxmlformats-officedocument.presentationml.slideLayout+xml"/>
  <Override PartName="/ppt/slideLayouts/slideLayout53.xml" ContentType="application/vnd.openxmlformats-officedocument.presentationml.slideLayout+xml"/>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Layouts/slideLayout42.xml" ContentType="application/vnd.openxmlformats-officedocument.presentationml.slideLayout+xml"/>
  <Override PartName="/ppt/slideLayouts/slideLayout51.xml" ContentType="application/vnd.openxmlformats-officedocument.presentationml.slideLayout+xml"/>
  <Override PartName="/ppt/slideLayouts/slideLayout60.xml" ContentType="application/vnd.openxmlformats-officedocument.presentationml.slideLayout+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docProps/custom.xml" ContentType="application/vnd.openxmlformats-officedocument.custom-properties+xml"/>
  <Override PartName="/ppt/slideMasters/slideMaster4.xml" ContentType="application/vnd.openxmlformats-officedocument.presentationml.slideMaster+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8.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s/slide1.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docProps/app.xml" ContentType="application/vnd.openxmlformats-officedocument.extended-properties+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slideMasters/slideMaster5.xml" ContentType="application/vnd.openxmlformats-officedocument.presentationml.slideMaster+xml"/>
  <Override PartName="/ppt/slides/slide8.xml" ContentType="application/vnd.openxmlformats-officedocument.presentationml.slide+xml"/>
  <Override PartName="/ppt/slideLayouts/slideLayout5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9" r:id="rId1"/>
    <p:sldMasterId id="2147483921" r:id="rId2"/>
    <p:sldMasterId id="2147484103" r:id="rId3"/>
    <p:sldMasterId id="2147484285" r:id="rId4"/>
    <p:sldMasterId id="2147484467" r:id="rId5"/>
  </p:sldMasterIdLst>
  <p:notesMasterIdLst>
    <p:notesMasterId r:id="rId15"/>
  </p:notesMasterIdLst>
  <p:sldIdLst>
    <p:sldId id="256" r:id="rId6"/>
    <p:sldId id="257" r:id="rId7"/>
    <p:sldId id="258" r:id="rId8"/>
    <p:sldId id="287" r:id="rId9"/>
    <p:sldId id="288" r:id="rId10"/>
    <p:sldId id="289" r:id="rId11"/>
    <p:sldId id="290" r:id="rId12"/>
    <p:sldId id="263" r:id="rId13"/>
    <p:sldId id="264" r:id="rId14"/>
  </p:sldIdLst>
  <p:sldSz cx="18288000" cy="10288588"/>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7162" autoAdjust="0"/>
    <p:restoredTop sz="94688" autoAdjust="0"/>
  </p:normalViewPr>
  <p:slideViewPr>
    <p:cSldViewPr>
      <p:cViewPr>
        <p:scale>
          <a:sx n="50" d="100"/>
          <a:sy n="50" d="100"/>
        </p:scale>
        <p:origin x="-552" y="0"/>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5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zh-TW" sz="4400" b="0" strike="noStrike" spc="-1">
                <a:solidFill>
                  <a:srgbClr val="000000"/>
                </a:solidFill>
                <a:latin typeface="Calibri"/>
              </a:rPr>
              <a:t>請按這裡移動投影片</a:t>
            </a:r>
            <a:endParaRPr lang="en-US" sz="4400" b="0" strike="noStrike" spc="-1">
              <a:solidFill>
                <a:srgbClr val="000000"/>
              </a:solidFill>
              <a:latin typeface="Calibri"/>
            </a:endParaRPr>
          </a:p>
        </p:txBody>
      </p:sp>
      <p:sp>
        <p:nvSpPr>
          <p:cNvPr id="285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zh-TW" sz="2000" b="0" strike="noStrike" spc="-1">
                <a:solidFill>
                  <a:srgbClr val="000000"/>
                </a:solidFill>
                <a:latin typeface="Calibri"/>
              </a:rPr>
              <a:t>請按這裡編輯備註格式</a:t>
            </a:r>
            <a:endParaRPr lang="en-US" sz="2000" b="0" strike="noStrike" spc="-1">
              <a:solidFill>
                <a:srgbClr val="000000"/>
              </a:solidFill>
              <a:latin typeface="Calibri"/>
            </a:endParaRPr>
          </a:p>
        </p:txBody>
      </p:sp>
      <p:sp>
        <p:nvSpPr>
          <p:cNvPr id="285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Calibri"/>
              </a:rPr>
              <a:t>&lt;頁首&gt;</a:t>
            </a:r>
          </a:p>
        </p:txBody>
      </p:sp>
      <p:sp>
        <p:nvSpPr>
          <p:cNvPr id="2853" name="PlaceHolder 4"/>
          <p:cNvSpPr>
            <a:spLocks noGrp="1"/>
          </p:cNvSpPr>
          <p:nvPr>
            <p:ph type="dt" idx="25"/>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Calibri"/>
              </a:defRPr>
            </a:lvl1pPr>
          </a:lstStyle>
          <a:p>
            <a:pPr indent="0" algn="r">
              <a:buNone/>
            </a:pPr>
            <a:r>
              <a:rPr lang="en-US" sz="1400" b="0" strike="noStrike" spc="-1">
                <a:solidFill>
                  <a:srgbClr val="000000"/>
                </a:solidFill>
                <a:latin typeface="Calibri"/>
              </a:rPr>
              <a:t>&lt;日期/時間&gt;</a:t>
            </a:r>
          </a:p>
        </p:txBody>
      </p:sp>
      <p:sp>
        <p:nvSpPr>
          <p:cNvPr id="2854" name="PlaceHolder 5"/>
          <p:cNvSpPr>
            <a:spLocks noGrp="1"/>
          </p:cNvSpPr>
          <p:nvPr>
            <p:ph type="ftr" idx="26"/>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&lt;頁尾&gt;</a:t>
            </a:r>
          </a:p>
        </p:txBody>
      </p:sp>
      <p:sp>
        <p:nvSpPr>
          <p:cNvPr id="2855" name="PlaceHolder 6"/>
          <p:cNvSpPr>
            <a:spLocks noGrp="1"/>
          </p:cNvSpPr>
          <p:nvPr>
            <p:ph type="sldNum" idx="27"/>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Calibri"/>
              </a:defRPr>
            </a:lvl1pPr>
          </a:lstStyle>
          <a:p>
            <a:pPr indent="0" algn="r">
              <a:buNone/>
            </a:pPr>
            <a:fld id="{FB232C99-2376-461D-B3FA-3C25B4154633}" type="slidenum">
              <a:rPr lang="en-US" sz="1400" b="0" strike="noStrike" spc="-1">
                <a:solidFill>
                  <a:srgbClr val="000000"/>
                </a:solidFill>
                <a:latin typeface="Calibri"/>
              </a:rPr>
              <a:pPr indent="0" algn="r">
                <a:buNone/>
              </a:pPr>
              <a:t>‹#›</a:t>
            </a:fld>
            <a:endParaRPr lang="en-US" sz="14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6" name="PlaceHolder 1"/>
          <p:cNvSpPr>
            <a:spLocks noGrp="1" noRot="1" noChangeAspect="1"/>
          </p:cNvSpPr>
          <p:nvPr>
            <p:ph type="sldImg"/>
          </p:nvPr>
        </p:nvSpPr>
        <p:spPr>
          <a:xfrm>
            <a:off x="685800" y="1143000"/>
            <a:ext cx="5486400" cy="3086100"/>
          </a:xfrm>
          <a:prstGeom prst="rect">
            <a:avLst/>
          </a:prstGeom>
          <a:ln w="0">
            <a:noFill/>
          </a:ln>
        </p:spPr>
      </p:sp>
      <p:sp>
        <p:nvSpPr>
          <p:cNvPr id="3007" name="PlaceHolder 2"/>
          <p:cNvSpPr>
            <a:spLocks noGrp="1"/>
          </p:cNvSpPr>
          <p:nvPr>
            <p:ph type="body"/>
          </p:nvPr>
        </p:nvSpPr>
        <p:spPr>
          <a:xfrm>
            <a:off x="685800" y="4400640"/>
            <a:ext cx="5485680" cy="3599640"/>
          </a:xfrm>
          <a:prstGeom prst="rect">
            <a:avLst/>
          </a:prstGeom>
          <a:noFill/>
          <a:ln w="0">
            <a:noFill/>
          </a:ln>
        </p:spPr>
        <p:txBody>
          <a:bodyPr lIns="0" tIns="0" rIns="0" bIns="0" anchor="t">
            <a:noAutofit/>
          </a:bodyPr>
          <a:lstStyle/>
          <a:p>
            <a:pPr marL="216000" indent="0">
              <a:buNone/>
            </a:pPr>
            <a:endParaRPr lang="en-US" sz="1800" b="0" strike="noStrike" spc="-1">
              <a:solidFill>
                <a:srgbClr val="000000"/>
              </a:solidFill>
              <a:latin typeface="Calibri"/>
            </a:endParaRPr>
          </a:p>
        </p:txBody>
      </p:sp>
      <p:sp>
        <p:nvSpPr>
          <p:cNvPr id="3008" name="PlaceHolder 3"/>
          <p:cNvSpPr>
            <a:spLocks noGrp="1"/>
          </p:cNvSpPr>
          <p:nvPr>
            <p:ph type="sldNum" idx="28"/>
          </p:nvPr>
        </p:nvSpPr>
        <p:spPr>
          <a:xfrm>
            <a:off x="3884760" y="8685360"/>
            <a:ext cx="2971080" cy="45792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rgbClr val="000000"/>
                </a:solidFill>
                <a:latin typeface="Calibri"/>
              </a:defRPr>
            </a:lvl1pPr>
          </a:lstStyle>
          <a:p>
            <a:pPr indent="0" algn="r">
              <a:lnSpc>
                <a:spcPct val="100000"/>
              </a:lnSpc>
              <a:buNone/>
              <a:tabLst>
                <a:tab pos="0" algn="l"/>
              </a:tabLst>
            </a:pPr>
            <a:fld id="{1ABC4F31-EF1B-4B0A-996A-DE525BD4B68E}" type="slidenum">
              <a:rPr lang="en-US" sz="1200" b="0" strike="noStrike" spc="-1">
                <a:solidFill>
                  <a:srgbClr val="000000"/>
                </a:solidFill>
                <a:latin typeface="Calibri"/>
              </a:rPr>
              <a:pPr indent="0" algn="r">
                <a:lnSpc>
                  <a:spcPct val="100000"/>
                </a:lnSpc>
                <a:buNone/>
                <a:tabLst>
                  <a:tab pos="0" algn="l"/>
                </a:tabLst>
              </a:pPr>
              <a:t>1</a:t>
            </a:fld>
            <a:endParaRPr lang="en-US" sz="1200" b="0" strike="noStrike" spc="-1">
              <a:solidFill>
                <a:srgbClr val="000000"/>
              </a:solidFill>
              <a:latin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34643321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8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9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9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0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2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5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5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6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86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87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87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8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9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6"/>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43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43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4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4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4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5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5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7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6"/>
          </p:nvPr>
        </p:nvSpPr>
        <p:spPr/>
        <p:txBody>
          <a:body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18"/>
          </p:nvPr>
        </p:nvSpPr>
        <p:spPr/>
        <p:txBody>
          <a:body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1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01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01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02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02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02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2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3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03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0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18"/>
          </p:nvPr>
        </p:nvSpPr>
        <p:spPr/>
        <p:txBody>
          <a:body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0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5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18"/>
          </p:nvPr>
        </p:nvSpPr>
        <p:spPr/>
        <p:txBody>
          <a:body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3_Blank">
  <p:cSld name="3_Blank">
    <p:spTree>
      <p:nvGrpSpPr>
        <p:cNvPr id="1" name="Shape 39"/>
        <p:cNvGrpSpPr/>
        <p:nvPr/>
      </p:nvGrpSpPr>
      <p:grpSpPr>
        <a:xfrm>
          <a:off x="0" y="0"/>
          <a:ext cx="0" cy="0"/>
          <a:chOff x="0" y="0"/>
          <a:chExt cx="0" cy="0"/>
        </a:xfrm>
      </p:grpSpPr>
      <p:sp>
        <p:nvSpPr>
          <p:cNvPr id="40" name="Google Shape;40;p10"/>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0"/>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0"/>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graphicFrame>
        <p:nvGraphicFramePr>
          <p:cNvPr id="43" name="Google Shape;43;p10"/>
          <p:cNvGraphicFramePr/>
          <p:nvPr>
            <p:extLst>
              <p:ext uri="{D42A27DB-BD31-4B8C-83A1-F6EECF244321}">
                <p14:modId xmlns:p14="http://schemas.microsoft.com/office/powerpoint/2010/main" xmlns="" val="1351047670"/>
              </p:ext>
            </p:extLst>
          </p:nvPr>
        </p:nvGraphicFramePr>
        <p:xfrm>
          <a:off x="192504" y="180467"/>
          <a:ext cx="17917688" cy="1420720"/>
        </p:xfrm>
        <a:graphic>
          <a:graphicData uri="http://schemas.openxmlformats.org/drawingml/2006/table">
            <a:tbl>
              <a:tblPr>
                <a:noFill/>
              </a:tblPr>
              <a:tblGrid>
                <a:gridCol w="2126250">
                  <a:extLst>
                    <a:ext uri="{9D8B030D-6E8A-4147-A177-3AD203B41FA5}">
                      <a16:colId xmlns:a16="http://schemas.microsoft.com/office/drawing/2014/main" xmlns="" val="20000"/>
                    </a:ext>
                  </a:extLst>
                </a:gridCol>
                <a:gridCol w="13144425">
                  <a:extLst>
                    <a:ext uri="{9D8B030D-6E8A-4147-A177-3AD203B41FA5}">
                      <a16:colId xmlns:a16="http://schemas.microsoft.com/office/drawing/2014/main" xmlns="" val="20001"/>
                    </a:ext>
                  </a:extLst>
                </a:gridCol>
                <a:gridCol w="2647013">
                  <a:extLst>
                    <a:ext uri="{9D8B030D-6E8A-4147-A177-3AD203B41FA5}">
                      <a16:colId xmlns:a16="http://schemas.microsoft.com/office/drawing/2014/main" xmlns="" val="20002"/>
                    </a:ext>
                  </a:extLst>
                </a:gridCol>
              </a:tblGrid>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Company / 公司名稱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sz="2100" b="1" dirty="0">
                          <a:solidFill>
                            <a:schemeClr val="dk1"/>
                          </a:solidFill>
                          <a:latin typeface="Microsoft JhengHei"/>
                          <a:ea typeface="Microsoft JhengHei"/>
                          <a:cs typeface="Microsoft JhengHei"/>
                          <a:sym typeface="Microsoft JhengHei"/>
                        </a:rPr>
                        <a:t>Dean Shoes </a:t>
                      </a:r>
                      <a:r>
                        <a:rPr lang="zh-TW" altLang="en-US" sz="2100" b="1" dirty="0">
                          <a:solidFill>
                            <a:schemeClr val="dk1"/>
                          </a:solidFill>
                          <a:latin typeface="Microsoft JhengHei"/>
                          <a:ea typeface="Microsoft JhengHei"/>
                          <a:cs typeface="Microsoft JhengHei"/>
                          <a:sym typeface="Microsoft JhengHei"/>
                        </a:rPr>
                        <a:t>隆典集團</a:t>
                      </a: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endParaRPr sz="150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600"/>
                        </a:spcBef>
                        <a:spcAft>
                          <a:spcPts val="0"/>
                        </a:spcAft>
                        <a:buNone/>
                      </a:pP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0000"/>
                  </a:ext>
                </a:extLst>
              </a:tr>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Process ID / Name</a:t>
                      </a:r>
                      <a:endParaRPr sz="2700"/>
                    </a:p>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流程代碼 / 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500" dirty="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a16="http://schemas.microsoft.com/office/drawing/2014/main" xmlns="" val="10001"/>
                  </a:ext>
                </a:extLst>
              </a:tr>
            </a:tbl>
          </a:graphicData>
        </a:graphic>
      </p:graphicFrame>
      <p:sp>
        <p:nvSpPr>
          <p:cNvPr id="44" name="Google Shape;44;p10"/>
          <p:cNvSpPr/>
          <p:nvPr/>
        </p:nvSpPr>
        <p:spPr>
          <a:xfrm>
            <a:off x="15493776" y="846424"/>
            <a:ext cx="2601720" cy="664224"/>
          </a:xfrm>
          <a:prstGeom prst="rect">
            <a:avLst/>
          </a:prstGeom>
          <a:noFill/>
          <a:ln>
            <a:noFill/>
          </a:ln>
        </p:spPr>
        <p:txBody>
          <a:bodyPr spcFirstLastPara="1" wrap="square" lIns="137138" tIns="68550" rIns="137138" bIns="68550" anchor="t" anchorCtr="0">
            <a:spAutoFit/>
          </a:bodyPr>
          <a:lstStyle/>
          <a:p>
            <a:pPr marL="0" marR="0" lvl="0" indent="0" algn="l" rtl="0">
              <a:lnSpc>
                <a:spcPct val="100000"/>
              </a:lnSpc>
              <a:spcBef>
                <a:spcPts val="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PAGE </a:t>
            </a:r>
            <a:r>
              <a:rPr lang="en-US" sz="1500" b="0" i="0" u="none" strike="noStrike" cap="none" dirty="0" err="1">
                <a:solidFill>
                  <a:schemeClr val="dk1"/>
                </a:solidFill>
                <a:latin typeface="Microsoft JhengHei"/>
                <a:ea typeface="Microsoft JhengHei"/>
                <a:cs typeface="Microsoft JhengHei"/>
                <a:sym typeface="Microsoft JhengHei"/>
              </a:rPr>
              <a:t>頁次</a:t>
            </a:r>
            <a:r>
              <a:rPr lang="en-US" sz="1500" b="0" i="0" u="none" strike="noStrike" cap="none" dirty="0">
                <a:solidFill>
                  <a:schemeClr val="dk1"/>
                </a:solidFill>
                <a:latin typeface="Microsoft JhengHei"/>
                <a:ea typeface="Microsoft JhengHei"/>
                <a:cs typeface="Microsoft JhengHei"/>
                <a:sym typeface="Microsoft JhengHei"/>
              </a:rPr>
              <a:t> ：</a:t>
            </a:r>
            <a:endParaRPr dirty="0"/>
          </a:p>
          <a:p>
            <a:pPr marL="0" marR="0" lvl="0" indent="0" algn="l" rtl="0">
              <a:lnSpc>
                <a:spcPct val="100000"/>
              </a:lnSpc>
              <a:spcBef>
                <a:spcPts val="45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Latest Update :</a:t>
            </a:r>
            <a:endParaRPr dirty="0"/>
          </a:p>
        </p:txBody>
      </p:sp>
      <p:pic>
        <p:nvPicPr>
          <p:cNvPr id="46" name="Google Shape;46;p10" descr="A red and black logo&#10;&#10;Description automatically generated"/>
          <p:cNvPicPr preferRelativeResize="0"/>
          <p:nvPr/>
        </p:nvPicPr>
        <p:blipFill rotWithShape="1">
          <a:blip r:embed="rId2">
            <a:alphaModFix/>
          </a:blip>
          <a:srcRect/>
          <a:stretch/>
        </p:blipFill>
        <p:spPr>
          <a:xfrm>
            <a:off x="17304487" y="200232"/>
            <a:ext cx="785222" cy="684371"/>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581"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2"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5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4"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5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6"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87"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58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589"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59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1"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2"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3"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5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5"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6"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7"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5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9"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1"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3"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4"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0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6"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7"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8"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9"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61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11"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2"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3"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4"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5"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6"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slideLayout" Target="../slideLayouts/slideLayout49.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5" Type="http://schemas.openxmlformats.org/officeDocument/2006/relationships/image" Target="../media/image3.png"/><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theme" Target="../theme/theme5.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82" name="圖片 8"/>
          <p:cNvPicPr/>
          <p:nvPr/>
        </p:nvPicPr>
        <p:blipFill>
          <a:blip r:embed="rId14"/>
          <a:stretch/>
        </p:blipFill>
        <p:spPr>
          <a:xfrm>
            <a:off x="0" y="0"/>
            <a:ext cx="18287280" cy="10287720"/>
          </a:xfrm>
          <a:prstGeom prst="rect">
            <a:avLst/>
          </a:prstGeom>
          <a:ln w="0">
            <a:noFill/>
          </a:ln>
        </p:spPr>
      </p:pic>
      <p:sp>
        <p:nvSpPr>
          <p:cNvPr id="2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8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50" name="圖片 2"/>
          <p:cNvPicPr/>
          <p:nvPr/>
        </p:nvPicPr>
        <p:blipFill>
          <a:blip r:embed="rId14"/>
          <a:stretch/>
        </p:blipFill>
        <p:spPr>
          <a:xfrm>
            <a:off x="0" y="1440"/>
            <a:ext cx="18287280" cy="10285200"/>
          </a:xfrm>
          <a:prstGeom prst="rect">
            <a:avLst/>
          </a:prstGeom>
          <a:ln w="0">
            <a:noFill/>
          </a:ln>
        </p:spPr>
      </p:pic>
      <p:sp>
        <p:nvSpPr>
          <p:cNvPr id="851" name="TextBox 1"/>
          <p:cNvSpPr/>
          <p:nvPr/>
        </p:nvSpPr>
        <p:spPr>
          <a:xfrm>
            <a:off x="660600" y="600840"/>
            <a:ext cx="3228840" cy="1004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6000" b="1" strike="noStrike" spc="-1">
                <a:solidFill>
                  <a:schemeClr val="dk1"/>
                </a:solidFill>
                <a:latin typeface="Microsoft JhengHei"/>
                <a:ea typeface="Microsoft JhengHei"/>
              </a:rPr>
              <a:t>重要聲明</a:t>
            </a:r>
            <a:endParaRPr lang="en-US" sz="6000" b="0" strike="noStrike" spc="-1">
              <a:solidFill>
                <a:srgbClr val="000000"/>
              </a:solidFill>
              <a:latin typeface="Calibri"/>
            </a:endParaRPr>
          </a:p>
        </p:txBody>
      </p:sp>
      <p:sp>
        <p:nvSpPr>
          <p:cNvPr id="852" name="TextBox 3"/>
          <p:cNvSpPr/>
          <p:nvPr/>
        </p:nvSpPr>
        <p:spPr>
          <a:xfrm>
            <a:off x="561240" y="3205080"/>
            <a:ext cx="17165160" cy="338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rgbClr val="000000"/>
                </a:solidFill>
                <a:latin typeface="微軟正黑體"/>
                <a:ea typeface="微軟正黑體"/>
              </a:rPr>
              <a:t>本簡報依據</a:t>
            </a:r>
            <a:r>
              <a:rPr lang="zh-TW" sz="2400" b="1" strike="noStrike" spc="-1">
                <a:solidFill>
                  <a:schemeClr val="dk1"/>
                </a:solidFill>
                <a:latin typeface="微軟正黑體"/>
                <a:ea typeface="微軟正黑體"/>
              </a:rPr>
              <a:t>裕榮昌科技股份有限公司台中分公司</a:t>
            </a:r>
            <a:r>
              <a:rPr lang="zh-TW" sz="2400" b="1" strike="noStrike" spc="-1">
                <a:solidFill>
                  <a:srgbClr val="000000"/>
                </a:solidFill>
                <a:latin typeface="微軟正黑體"/>
                <a:ea typeface="微軟正黑體"/>
              </a:rPr>
              <a:t>之需求所編製。</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本份簡報係於</a:t>
            </a:r>
            <a:r>
              <a:rPr lang="en-US" sz="2400" b="1" strike="noStrike" spc="-1">
                <a:solidFill>
                  <a:schemeClr val="dk1"/>
                </a:solidFill>
                <a:latin typeface="微軟正黑體"/>
                <a:ea typeface="微軟正黑體"/>
              </a:rPr>
              <a:t>2025</a:t>
            </a:r>
            <a:r>
              <a:rPr lang="zh-TW" sz="2400" b="1" strike="noStrike" spc="-1">
                <a:solidFill>
                  <a:schemeClr val="dk1"/>
                </a:solidFill>
                <a:latin typeface="微軟正黑體"/>
                <a:ea typeface="微軟正黑體"/>
              </a:rPr>
              <a:t>年</a:t>
            </a:r>
            <a:r>
              <a:rPr lang="en-US" sz="2400" b="1" strike="noStrike" spc="-1">
                <a:solidFill>
                  <a:schemeClr val="dk1"/>
                </a:solidFill>
                <a:latin typeface="微軟正黑體"/>
                <a:ea typeface="微軟正黑體"/>
              </a:rPr>
              <a:t>4</a:t>
            </a:r>
            <a:r>
              <a:rPr lang="zh-TW" sz="2400" b="1" strike="noStrike" spc="-1">
                <a:solidFill>
                  <a:schemeClr val="dk1"/>
                </a:solidFill>
                <a:latin typeface="微軟正黑體"/>
                <a:ea typeface="微軟正黑體"/>
              </a:rPr>
              <a:t>月</a:t>
            </a:r>
            <a:r>
              <a:rPr lang="en-US" sz="2400" b="1" strike="noStrike" spc="-1">
                <a:solidFill>
                  <a:schemeClr val="dk1"/>
                </a:solidFill>
                <a:latin typeface="微軟正黑體"/>
                <a:ea typeface="微軟正黑體"/>
              </a:rPr>
              <a:t>1</a:t>
            </a:r>
            <a:r>
              <a:rPr lang="zh-TW" sz="2400" b="1" strike="noStrike" spc="-1">
                <a:solidFill>
                  <a:schemeClr val="dk1"/>
                </a:solidFill>
                <a:latin typeface="微軟正黑體"/>
                <a:ea typeface="微軟正黑體"/>
              </a:rPr>
              <a:t>日簽訂之服務委任合約製作完成，僅提供賜昌集團內部參考使用。</a:t>
            </a:r>
            <a:endParaRPr lang="en-US" sz="2400" b="0" strike="noStrike" spc="-1">
              <a:solidFill>
                <a:srgbClr val="000000"/>
              </a:solidFill>
              <a:latin typeface="Calibri"/>
            </a:endParaRPr>
          </a:p>
          <a:p>
            <a:pPr algn="just"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defTabSz="457200">
              <a:lnSpc>
                <a:spcPct val="100000"/>
              </a:lnSpc>
            </a:pPr>
            <a:r>
              <a:rPr lang="zh-TW" sz="2400" b="1" strike="noStrike" spc="-1">
                <a:solidFill>
                  <a:srgbClr val="000000"/>
                </a:solidFill>
                <a:latin typeface="微軟正黑體"/>
                <a:ea typeface="微軟正黑體"/>
              </a:rPr>
              <a:t>未經本公司書面同意，  貴公司以及專案所有成員不得將本簡報之全部或部分提供予任何第三人或使第三人得知其內容。</a:t>
            </a:r>
            <a:endParaRPr lang="en-US" sz="2400" b="0" strike="noStrike" spc="-1">
              <a:solidFill>
                <a:srgbClr val="000000"/>
              </a:solidFill>
              <a:latin typeface="Calibri"/>
            </a:endParaRPr>
          </a:p>
        </p:txBody>
      </p:sp>
      <p:sp>
        <p:nvSpPr>
          <p:cNvPr id="85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85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 id="2147483928" r:id="rId7"/>
    <p:sldLayoutId id="2147483929" r:id="rId8"/>
    <p:sldLayoutId id="2147483930" r:id="rId9"/>
    <p:sldLayoutId id="2147483931" r:id="rId10"/>
    <p:sldLayoutId id="2147483932" r:id="rId11"/>
    <p:sldLayoutId id="214748393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430" name="Google Shape;35;p9"/>
          <p:cNvGraphicFramePr/>
          <p:nvPr/>
        </p:nvGraphicFramePr>
        <p:xfrm>
          <a:off x="122400" y="114480"/>
          <a:ext cx="18019800" cy="10040760"/>
        </p:xfrm>
        <a:graphic>
          <a:graphicData uri="http://schemas.openxmlformats.org/drawingml/2006/table">
            <a:tbl>
              <a:tblPr/>
              <a:tblGrid>
                <a:gridCol w="2311200"/>
                <a:gridCol w="1188936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8799120">
                <a:tc gridSpan="3">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pic>
        <p:nvPicPr>
          <p:cNvPr id="1431" name="Google Shape;37;p9" descr="A red and black logo&#10;&#10;Description automatically generated"/>
          <p:cNvPicPr/>
          <p:nvPr/>
        </p:nvPicPr>
        <p:blipFill>
          <a:blip r:embed="rId14"/>
          <a:stretch/>
        </p:blipFill>
        <p:spPr>
          <a:xfrm>
            <a:off x="7067520" y="213120"/>
            <a:ext cx="482040" cy="419400"/>
          </a:xfrm>
          <a:prstGeom prst="rect">
            <a:avLst/>
          </a:prstGeom>
          <a:ln w="0">
            <a:noFill/>
          </a:ln>
        </p:spPr>
      </p:pic>
      <p:sp>
        <p:nvSpPr>
          <p:cNvPr id="1432" name="PlaceHolder 1"/>
          <p:cNvSpPr>
            <a:spLocks noGrp="1"/>
          </p:cNvSpPr>
          <p:nvPr>
            <p:ph type="dt" idx="6"/>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143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143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104" r:id="rId1"/>
    <p:sldLayoutId id="2147484105" r:id="rId2"/>
    <p:sldLayoutId id="2147484106" r:id="rId3"/>
    <p:sldLayoutId id="2147484107" r:id="rId4"/>
    <p:sldLayoutId id="2147484108" r:id="rId5"/>
    <p:sldLayoutId id="2147484109" r:id="rId6"/>
    <p:sldLayoutId id="2147484110" r:id="rId7"/>
    <p:sldLayoutId id="2147484111" r:id="rId8"/>
    <p:sldLayoutId id="2147484112" r:id="rId9"/>
    <p:sldLayoutId id="2147484113" r:id="rId10"/>
    <p:sldLayoutId id="2147484114" r:id="rId11"/>
    <p:sldLayoutId id="2147484115" r:id="rId12"/>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010" name="Google Shape;35;p9"/>
          <p:cNvGraphicFramePr/>
          <p:nvPr/>
        </p:nvGraphicFramePr>
        <p:xfrm>
          <a:off x="122400" y="114480"/>
          <a:ext cx="18019440" cy="10040760"/>
        </p:xfrm>
        <a:graphic>
          <a:graphicData uri="http://schemas.openxmlformats.org/drawingml/2006/table">
            <a:tbl>
              <a:tblPr/>
              <a:tblGrid>
                <a:gridCol w="2311200"/>
                <a:gridCol w="9468720"/>
                <a:gridCol w="242028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7008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Input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Output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Activities</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8429040">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bl>
          </a:graphicData>
        </a:graphic>
      </p:graphicFrame>
      <p:pic>
        <p:nvPicPr>
          <p:cNvPr id="2011" name="Google Shape;37;p9" descr="A red and black logo&#10;&#10;Description automatically generated"/>
          <p:cNvPicPr/>
          <p:nvPr/>
        </p:nvPicPr>
        <p:blipFill>
          <a:blip r:embed="rId15"/>
          <a:stretch/>
        </p:blipFill>
        <p:spPr>
          <a:xfrm>
            <a:off x="7067520" y="213120"/>
            <a:ext cx="482040" cy="419400"/>
          </a:xfrm>
          <a:prstGeom prst="rect">
            <a:avLst/>
          </a:prstGeom>
          <a:ln w="0">
            <a:noFill/>
          </a:ln>
        </p:spPr>
      </p:pic>
      <p:sp>
        <p:nvSpPr>
          <p:cNvPr id="2012" name="PlaceHolder 1"/>
          <p:cNvSpPr>
            <a:spLocks noGrp="1"/>
          </p:cNvSpPr>
          <p:nvPr>
            <p:ph type="dt" idx="18"/>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201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01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286" r:id="rId1"/>
    <p:sldLayoutId id="2147484287" r:id="rId2"/>
    <p:sldLayoutId id="2147484288" r:id="rId3"/>
    <p:sldLayoutId id="2147484289" r:id="rId4"/>
    <p:sldLayoutId id="2147484290" r:id="rId5"/>
    <p:sldLayoutId id="2147484291" r:id="rId6"/>
    <p:sldLayoutId id="2147484292" r:id="rId7"/>
    <p:sldLayoutId id="2147484293" r:id="rId8"/>
    <p:sldLayoutId id="2147484294" r:id="rId9"/>
    <p:sldLayoutId id="2147484295" r:id="rId10"/>
    <p:sldLayoutId id="2147484296" r:id="rId11"/>
    <p:sldLayoutId id="2147484297" r:id="rId12"/>
    <p:sldLayoutId id="2147484480" r:id="rId13"/>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78" name="圖片 4"/>
          <p:cNvPicPr/>
          <p:nvPr/>
        </p:nvPicPr>
        <p:blipFill>
          <a:blip r:embed="rId14"/>
          <a:stretch/>
        </p:blipFill>
        <p:spPr>
          <a:xfrm>
            <a:off x="0" y="0"/>
            <a:ext cx="18287280" cy="10287720"/>
          </a:xfrm>
          <a:prstGeom prst="rect">
            <a:avLst/>
          </a:prstGeom>
          <a:ln w="0">
            <a:noFill/>
          </a:ln>
        </p:spPr>
      </p:pic>
      <p:sp>
        <p:nvSpPr>
          <p:cNvPr id="25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580"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468" r:id="rId1"/>
    <p:sldLayoutId id="2147484469" r:id="rId2"/>
    <p:sldLayoutId id="2147484470" r:id="rId3"/>
    <p:sldLayoutId id="2147484471" r:id="rId4"/>
    <p:sldLayoutId id="2147484472" r:id="rId5"/>
    <p:sldLayoutId id="2147484473" r:id="rId6"/>
    <p:sldLayoutId id="2147484474" r:id="rId7"/>
    <p:sldLayoutId id="2147484475" r:id="rId8"/>
    <p:sldLayoutId id="2147484476" r:id="rId9"/>
    <p:sldLayoutId id="2147484477" r:id="rId10"/>
    <p:sldLayoutId id="2147484478" r:id="rId11"/>
    <p:sldLayoutId id="2147484479"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 name="矩形 1"/>
          <p:cNvSpPr/>
          <p:nvPr/>
        </p:nvSpPr>
        <p:spPr>
          <a:xfrm>
            <a:off x="843480" y="5144400"/>
            <a:ext cx="6536520" cy="155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4800" b="1" strike="noStrike" spc="-1">
                <a:solidFill>
                  <a:schemeClr val="dk1"/>
                </a:solidFill>
                <a:latin typeface="Microsoft JhengHei"/>
                <a:ea typeface="Microsoft JhengHei"/>
              </a:rPr>
              <a:t>賜昌集團 </a:t>
            </a:r>
            <a:r>
              <a:rPr lang="en-US" sz="4800" b="1" strike="noStrike" spc="-1">
                <a:solidFill>
                  <a:schemeClr val="dk1"/>
                </a:solidFill>
                <a:latin typeface="Microsoft JhengHei"/>
                <a:ea typeface="Microsoft JhengHei"/>
              </a:rPr>
              <a:t>SAP</a:t>
            </a:r>
            <a:r>
              <a:rPr lang="zh-TW" sz="4800" b="1" strike="noStrike" spc="-1">
                <a:solidFill>
                  <a:schemeClr val="dk1"/>
                </a:solidFill>
                <a:latin typeface="Microsoft JhengHei"/>
                <a:ea typeface="Microsoft JhengHei"/>
              </a:rPr>
              <a:t>推進中心</a:t>
            </a:r>
            <a:endParaRPr lang="en-US" sz="4800" b="0" strike="noStrike" spc="-1">
              <a:solidFill>
                <a:srgbClr val="000000"/>
              </a:solidFill>
              <a:latin typeface="Calibri"/>
            </a:endParaRPr>
          </a:p>
        </p:txBody>
      </p:sp>
      <p:sp>
        <p:nvSpPr>
          <p:cNvPr id="2857" name="TextBox 2"/>
          <p:cNvSpPr/>
          <p:nvPr/>
        </p:nvSpPr>
        <p:spPr>
          <a:xfrm>
            <a:off x="852840" y="7871400"/>
            <a:ext cx="2828380" cy="73721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dirty="0">
                <a:solidFill>
                  <a:schemeClr val="dk1"/>
                </a:solidFill>
                <a:latin typeface="Microsoft JhengHei"/>
                <a:ea typeface="Microsoft JhengHei"/>
              </a:rPr>
              <a:t>Presentation by </a:t>
            </a:r>
            <a:r>
              <a:rPr lang="en-US" sz="2100" b="1" strike="noStrike" spc="-1" dirty="0">
                <a:solidFill>
                  <a:schemeClr val="dk1"/>
                </a:solidFill>
                <a:latin typeface="Microsoft JhengHei"/>
                <a:ea typeface="Microsoft JhengHei"/>
              </a:rPr>
              <a:t>DSIT</a:t>
            </a:r>
            <a:endParaRPr lang="en-US" sz="2100" b="0" strike="noStrike" spc="-1" dirty="0">
              <a:solidFill>
                <a:srgbClr val="000000"/>
              </a:solidFill>
              <a:latin typeface="Calibri"/>
            </a:endParaRPr>
          </a:p>
          <a:p>
            <a:pPr defTabSz="457200">
              <a:lnSpc>
                <a:spcPct val="100000"/>
              </a:lnSpc>
            </a:pPr>
            <a:r>
              <a:rPr lang="en-US" sz="2100" b="0" strike="noStrike" spc="-1" dirty="0" smtClean="0">
                <a:solidFill>
                  <a:schemeClr val="dk1"/>
                </a:solidFill>
                <a:latin typeface="Microsoft JhengHei"/>
                <a:ea typeface="Microsoft JhengHei"/>
              </a:rPr>
              <a:t>2025/07/01</a:t>
            </a:r>
            <a:endParaRPr lang="en-US" sz="2100" b="0" strike="noStrike" spc="-1" dirty="0">
              <a:solidFill>
                <a:srgbClr val="000000"/>
              </a:solidFill>
              <a:latin typeface="Calibri"/>
            </a:endParaRPr>
          </a:p>
        </p:txBody>
      </p:sp>
      <p:sp>
        <p:nvSpPr>
          <p:cNvPr id="2858" name="矩形 1"/>
          <p:cNvSpPr/>
          <p:nvPr/>
        </p:nvSpPr>
        <p:spPr>
          <a:xfrm>
            <a:off x="843480" y="6523200"/>
            <a:ext cx="653652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3600" b="0" strike="noStrike" spc="-1" dirty="0" smtClean="0">
                <a:solidFill>
                  <a:schemeClr val="dk1"/>
                </a:solidFill>
                <a:latin typeface="Microsoft JhengHei"/>
                <a:ea typeface="Microsoft JhengHei"/>
              </a:rPr>
              <a:t>MM-IM-0050</a:t>
            </a:r>
            <a:endParaRPr lang="en-US" sz="3600" b="0" strike="noStrike" spc="-1" dirty="0">
              <a:solidFill>
                <a:srgbClr val="000000"/>
              </a:solidFill>
              <a:latin typeface="Calibri"/>
            </a:endParaRPr>
          </a:p>
        </p:txBody>
      </p:sp>
      <p:sp>
        <p:nvSpPr>
          <p:cNvPr id="2859" name="矩形 1"/>
          <p:cNvSpPr/>
          <p:nvPr/>
        </p:nvSpPr>
        <p:spPr>
          <a:xfrm>
            <a:off x="843480" y="7179120"/>
            <a:ext cx="7586140" cy="644877"/>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457200">
              <a:lnSpc>
                <a:spcPct val="100000"/>
              </a:lnSpc>
            </a:pPr>
            <a:r>
              <a:rPr lang="zh-TW" altLang="en-US" sz="3600" spc="-1" dirty="0" smtClean="0">
                <a:solidFill>
                  <a:schemeClr val="dk1"/>
                </a:solidFill>
                <a:latin typeface="Microsoft JhengHei"/>
                <a:ea typeface="Microsoft JhengHei"/>
              </a:rPr>
              <a:t>部門領料作業流程</a:t>
            </a:r>
            <a:endParaRPr lang="en-US" sz="3600" b="0" strike="noStrike" spc="-1" dirty="0">
              <a:solidFill>
                <a:srgbClr val="000000"/>
              </a:solidFill>
              <a:latin typeface="Calibri"/>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0" name="Google Shape;190;p2"/>
          <p:cNvGraphicFramePr/>
          <p:nvPr/>
        </p:nvGraphicFramePr>
        <p:xfrm>
          <a:off x="366120" y="1567440"/>
          <a:ext cx="17517960" cy="1640397"/>
        </p:xfrm>
        <a:graphic>
          <a:graphicData uri="http://schemas.openxmlformats.org/drawingml/2006/table">
            <a:tbl>
              <a:tblPr/>
              <a:tblGrid>
                <a:gridCol w="2061360"/>
                <a:gridCol w="2061360"/>
                <a:gridCol w="8327880"/>
                <a:gridCol w="1423080"/>
                <a:gridCol w="634680"/>
                <a:gridCol w="1192320"/>
                <a:gridCol w="576720"/>
                <a:gridCol w="1240560"/>
              </a:tblGrid>
              <a:tr h="504000">
                <a:tc rowSpan="3">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文件基本訊息</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文件主題</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dirty="0">
                          <a:solidFill>
                            <a:schemeClr val="lt1"/>
                          </a:solidFill>
                          <a:latin typeface="Microsoft JhengHei"/>
                          <a:ea typeface="Microsoft JhengHei"/>
                        </a:rPr>
                        <a:t> To </a:t>
                      </a:r>
                      <a:r>
                        <a:rPr lang="en-US" sz="1800" b="1" strike="noStrike" spc="-1" dirty="0" err="1">
                          <a:solidFill>
                            <a:schemeClr val="lt1"/>
                          </a:solidFill>
                          <a:latin typeface="Microsoft JhengHei"/>
                          <a:ea typeface="Microsoft JhengHei"/>
                        </a:rPr>
                        <a:t>be_Business</a:t>
                      </a:r>
                      <a:r>
                        <a:rPr lang="en-US" sz="1800" b="1" strike="noStrike" spc="-1" dirty="0">
                          <a:solidFill>
                            <a:schemeClr val="lt1"/>
                          </a:solidFill>
                          <a:latin typeface="Microsoft JhengHei"/>
                          <a:ea typeface="Microsoft JhengHei"/>
                        </a:rPr>
                        <a:t> Process</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創建日期</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gridSpan="4">
                  <a:txBody>
                    <a:bodyPr/>
                    <a:lstStyle/>
                    <a:p>
                      <a:pPr defTabSz="1371600">
                        <a:lnSpc>
                          <a:spcPct val="166000"/>
                        </a:lnSpc>
                        <a:tabLst>
                          <a:tab pos="0" algn="l"/>
                        </a:tabLst>
                      </a:pPr>
                      <a:r>
                        <a:rPr lang="en-US" sz="1800" b="1" strike="noStrike" spc="-1" dirty="0">
                          <a:solidFill>
                            <a:schemeClr val="lt1"/>
                          </a:solidFill>
                          <a:latin typeface="Microsoft JhengHei"/>
                          <a:ea typeface="Microsoft JhengHei"/>
                        </a:rPr>
                        <a:t> </a:t>
                      </a:r>
                      <a:r>
                        <a:rPr lang="en-US" sz="1800" b="1" strike="noStrike" spc="-1" dirty="0" smtClean="0">
                          <a:solidFill>
                            <a:schemeClr val="lt1"/>
                          </a:solidFill>
                          <a:latin typeface="Microsoft JhengHei"/>
                          <a:ea typeface="Microsoft JhengHei"/>
                        </a:rPr>
                        <a:t>2025/07/01</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dirty="0">
                          <a:solidFill>
                            <a:schemeClr val="lt1"/>
                          </a:solidFill>
                          <a:latin typeface="Microsoft JhengHei"/>
                          <a:ea typeface="Microsoft JhengHei"/>
                        </a:rPr>
                        <a:t>作者</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dirty="0" smtClean="0">
                          <a:solidFill>
                            <a:schemeClr val="dk1"/>
                          </a:solidFill>
                          <a:latin typeface="Microsoft JhengHei"/>
                          <a:ea typeface="Microsoft JhengHei"/>
                        </a:rPr>
                        <a:t>DSIT</a:t>
                      </a:r>
                      <a:endParaRPr lang="en-US" sz="1800" b="1" strike="noStrike" spc="-1" dirty="0">
                        <a:solidFill>
                          <a:srgbClr val="000000"/>
                        </a:solidFill>
                        <a:latin typeface="+mn-lt"/>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文件狀態</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1"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草稿版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r>
                        <a:rPr lang="x-none" sz="1800" b="1" strike="noStrike" spc="-1" dirty="0">
                          <a:solidFill>
                            <a:schemeClr val="dk1"/>
                          </a:solidFill>
                          <a:latin typeface="Microsoft JhengHei"/>
                          <a:ea typeface="Microsoft JhengHei"/>
                        </a:rPr>
                        <a:t>V</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確認版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marL="0" marR="0" indent="0" defTabSz="1371600" eaLnBrk="1" fontAlgn="auto" latinLnBrk="0" hangingPunct="1">
                        <a:lnSpc>
                          <a:spcPct val="166000"/>
                        </a:lnSpc>
                        <a:spcBef>
                          <a:spcPts val="0"/>
                        </a:spcBef>
                        <a:spcAft>
                          <a:spcPts val="0"/>
                        </a:spcAft>
                        <a:buClrTx/>
                        <a:buSzTx/>
                        <a:buFontTx/>
                        <a:buNone/>
                        <a:tabLst>
                          <a:tab pos="0" algn="l"/>
                        </a:tabLst>
                        <a:defRPr/>
                      </a:pPr>
                      <a:endParaRPr lang="en-US" sz="1800" b="1"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版本</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gridSpan="4">
                  <a:txBody>
                    <a:bodyPr/>
                    <a:lstStyle/>
                    <a:p>
                      <a:pPr defTabSz="1371600">
                        <a:lnSpc>
                          <a:spcPct val="166000"/>
                        </a:lnSpc>
                        <a:tabLst>
                          <a:tab pos="0" algn="l"/>
                        </a:tabLst>
                      </a:pPr>
                      <a:r>
                        <a:rPr lang="en-US" sz="1800" b="1" strike="noStrike" spc="-1" dirty="0">
                          <a:solidFill>
                            <a:schemeClr val="dk1"/>
                          </a:solidFill>
                          <a:latin typeface="Microsoft JhengHei"/>
                          <a:ea typeface="Microsoft JhengHei"/>
                        </a:rPr>
                        <a:t> </a:t>
                      </a:r>
                      <a:r>
                        <a:rPr lang="en-US" sz="1800" b="1" strike="noStrike" spc="-1" dirty="0" smtClean="0">
                          <a:solidFill>
                            <a:schemeClr val="dk1"/>
                          </a:solidFill>
                          <a:latin typeface="Microsoft JhengHei"/>
                          <a:ea typeface="Microsoft JhengHei"/>
                        </a:rPr>
                        <a:t>v2.1</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graphicFrame>
        <p:nvGraphicFramePr>
          <p:cNvPr id="2861" name="Google Shape;191;p2"/>
          <p:cNvGraphicFramePr/>
          <p:nvPr/>
        </p:nvGraphicFramePr>
        <p:xfrm>
          <a:off x="366120" y="3155400"/>
          <a:ext cx="17517960" cy="3152397"/>
        </p:xfrm>
        <a:graphic>
          <a:graphicData uri="http://schemas.openxmlformats.org/drawingml/2006/table">
            <a:tbl>
              <a:tblPr/>
              <a:tblGrid>
                <a:gridCol w="2061360"/>
                <a:gridCol w="2061360"/>
                <a:gridCol w="8327880"/>
                <a:gridCol w="3269880"/>
                <a:gridCol w="17974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文件版本</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版本號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變更說明</a:t>
                      </a:r>
                      <a:r>
                        <a:rPr lang="en-US" sz="1800" b="1" strike="noStrike" spc="-1" dirty="0">
                          <a:solidFill>
                            <a:schemeClr val="lt1"/>
                          </a:solidFill>
                          <a:latin typeface="Microsoft JhengHei"/>
                          <a:ea typeface="Microsoft JhengHei"/>
                        </a:rPr>
                        <a:t>(</a:t>
                      </a:r>
                      <a:r>
                        <a:rPr lang="zh-TW" sz="1800" b="1" strike="noStrike" spc="-1" dirty="0">
                          <a:solidFill>
                            <a:schemeClr val="lt1"/>
                          </a:solidFill>
                          <a:latin typeface="Microsoft JhengHei"/>
                          <a:ea typeface="Microsoft JhengHei"/>
                        </a:rPr>
                        <a:t>修改內容說明</a:t>
                      </a:r>
                      <a:r>
                        <a:rPr lang="en-US" sz="1800" b="1" strike="noStrike" spc="-1" dirty="0">
                          <a:solidFill>
                            <a:schemeClr val="lt1"/>
                          </a:solidFill>
                          <a:latin typeface="Microsoft JhengHei"/>
                          <a:ea typeface="Microsoft JhengHei"/>
                        </a:rPr>
                        <a:t>)</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修改人</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en-US" sz="1800" b="0" strike="noStrike" spc="-1" dirty="0" smtClean="0">
                          <a:solidFill>
                            <a:srgbClr val="000000"/>
                          </a:solidFill>
                          <a:latin typeface="Calibri"/>
                        </a:rPr>
                        <a:t>2.1</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00000"/>
                        </a:lnSpc>
                        <a:tabLst>
                          <a:tab pos="0" algn="l"/>
                        </a:tabLst>
                      </a:pPr>
                      <a:r>
                        <a:rPr lang="zh-TW" altLang="en-US" sz="1800" b="0" strike="noStrike" spc="-1" dirty="0" smtClean="0">
                          <a:solidFill>
                            <a:srgbClr val="000000"/>
                          </a:solidFill>
                          <a:latin typeface="Calibri"/>
                        </a:rPr>
                        <a:t>增加補充說明列出部門領用相關異動類型</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914400">
                        <a:lnSpc>
                          <a:spcPct val="166000"/>
                        </a:lnSpc>
                        <a:tabLst>
                          <a:tab pos="0" algn="l"/>
                        </a:tabLst>
                      </a:pPr>
                      <a:r>
                        <a:rPr lang="en-US" sz="1800" b="0" strike="noStrike" spc="-1" dirty="0" smtClean="0">
                          <a:solidFill>
                            <a:srgbClr val="000000"/>
                          </a:solidFill>
                          <a:latin typeface="Calibri"/>
                        </a:rPr>
                        <a:t>Vincent</a:t>
                      </a:r>
                      <a:r>
                        <a:rPr lang="en-US" sz="1800" b="0" strike="noStrike" spc="-1" baseline="0" dirty="0" smtClean="0">
                          <a:solidFill>
                            <a:srgbClr val="000000"/>
                          </a:solidFill>
                          <a:latin typeface="Calibri"/>
                        </a:rPr>
                        <a:t> Yeh</a:t>
                      </a:r>
                      <a:endParaRPr lang="en-US" sz="1800" b="0" strike="noStrike" spc="-1" dirty="0">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dirty="0" smtClean="0">
                          <a:solidFill>
                            <a:srgbClr val="000000"/>
                          </a:solidFill>
                          <a:latin typeface="Calibri"/>
                        </a:rPr>
                        <a:t>2025/07/22</a:t>
                      </a:r>
                      <a:endParaRPr lang="en-US" sz="1800" b="0" strike="noStrike" spc="-1" dirty="0">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1371600">
                        <a:lnSpc>
                          <a:spcPct val="100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bl>
          </a:graphicData>
        </a:graphic>
      </p:graphicFrame>
      <p:graphicFrame>
        <p:nvGraphicFramePr>
          <p:cNvPr id="2862" name="Google Shape;192;p2"/>
          <p:cNvGraphicFramePr/>
          <p:nvPr/>
        </p:nvGraphicFramePr>
        <p:xfrm>
          <a:off x="366120" y="6255360"/>
          <a:ext cx="17518320" cy="504000"/>
        </p:xfrm>
        <a:graphic>
          <a:graphicData uri="http://schemas.openxmlformats.org/drawingml/2006/table">
            <a:tbl>
              <a:tblPr/>
              <a:tblGrid>
                <a:gridCol w="2061360"/>
                <a:gridCol w="2066760"/>
                <a:gridCol w="1797480"/>
                <a:gridCol w="1932120"/>
                <a:gridCol w="1932120"/>
                <a:gridCol w="1932120"/>
                <a:gridCol w="1932120"/>
                <a:gridCol w="1932120"/>
                <a:gridCol w="1932120"/>
              </a:tblGrid>
              <a:tr h="504000">
                <a:tc>
                  <a:txBody>
                    <a:bodyPr/>
                    <a:lstStyle/>
                    <a:p>
                      <a:pPr defTabSz="1371600">
                        <a:lnSpc>
                          <a:spcPct val="150000"/>
                        </a:lnSpc>
                        <a:tabLst>
                          <a:tab pos="0" algn="l"/>
                        </a:tabLst>
                      </a:pPr>
                      <a:r>
                        <a:rPr lang="zh-TW" sz="1800" b="1" strike="noStrike" spc="-1">
                          <a:solidFill>
                            <a:schemeClr val="lt1"/>
                          </a:solidFill>
                          <a:latin typeface="Microsoft JhengHei"/>
                          <a:ea typeface="Microsoft JhengHei"/>
                        </a:rPr>
                        <a:t>機密等級</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極機密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內部使用</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V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一般</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r>
            </a:tbl>
          </a:graphicData>
        </a:graphic>
      </p:graphicFrame>
      <p:graphicFrame>
        <p:nvGraphicFramePr>
          <p:cNvPr id="2863" name="Google Shape;193;p2"/>
          <p:cNvGraphicFramePr/>
          <p:nvPr/>
        </p:nvGraphicFramePr>
        <p:xfrm>
          <a:off x="366120" y="6835320"/>
          <a:ext cx="17517600" cy="3237995"/>
        </p:xfrm>
        <a:graphic>
          <a:graphicData uri="http://schemas.openxmlformats.org/drawingml/2006/table">
            <a:tbl>
              <a:tblPr/>
              <a:tblGrid>
                <a:gridCol w="2045520"/>
                <a:gridCol w="2066760"/>
                <a:gridCol w="8024760"/>
                <a:gridCol w="2861280"/>
                <a:gridCol w="25192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審批</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角色</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姓名 與 職稱</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簽名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專案顧問</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en-US" sz="1800" b="1" strike="noStrike" spc="-1" smtClean="0">
                          <a:solidFill>
                            <a:schemeClr val="dk1"/>
                          </a:solidFill>
                          <a:latin typeface="Microsoft JhengHei"/>
                          <a:ea typeface="Microsoft JhengHei"/>
                        </a:rPr>
                        <a:t>Vincent</a:t>
                      </a:r>
                      <a:r>
                        <a:rPr lang="en-US" sz="1800" b="1" strike="noStrike" spc="-1" baseline="0" smtClean="0">
                          <a:solidFill>
                            <a:schemeClr val="dk1"/>
                          </a:solidFill>
                          <a:latin typeface="Microsoft JhengHei"/>
                          <a:ea typeface="Microsoft JhengHei"/>
                        </a:rPr>
                        <a:t> </a:t>
                      </a:r>
                      <a:r>
                        <a:rPr lang="en-US" sz="1800" b="1" strike="noStrike" spc="-1" baseline="0" dirty="0" smtClean="0">
                          <a:solidFill>
                            <a:schemeClr val="dk1"/>
                          </a:solidFill>
                          <a:latin typeface="Microsoft JhengHei"/>
                          <a:ea typeface="Microsoft JhengHei"/>
                        </a:rPr>
                        <a:t>Yeh</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關鍵使用者</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1"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流程負責人</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資訊單位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altLang="en-US" sz="1800" b="0" strike="noStrike" spc="-1" dirty="0" smtClean="0">
                          <a:solidFill>
                            <a:srgbClr val="000000"/>
                          </a:solidFill>
                          <a:latin typeface="Microsoft JhengHei"/>
                          <a:ea typeface="Microsoft JhengHei"/>
                        </a:rPr>
                        <a:t>余哲 </a:t>
                      </a:r>
                      <a:r>
                        <a:rPr lang="en-US" sz="1800" b="0" strike="noStrike" spc="-1" dirty="0" smtClean="0">
                          <a:solidFill>
                            <a:srgbClr val="000000"/>
                          </a:solidFill>
                          <a:latin typeface="Microsoft JhengHei"/>
                          <a:ea typeface="Microsoft JhengHei"/>
                        </a:rPr>
                        <a:t>Mark Yu</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專案經理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sz="1800" b="1" strike="noStrike" spc="-1" dirty="0">
                          <a:solidFill>
                            <a:schemeClr val="dk1"/>
                          </a:solidFill>
                          <a:latin typeface="Microsoft JhengHei"/>
                          <a:ea typeface="Microsoft JhengHei"/>
                        </a:rPr>
                        <a:t>蘇靖之 </a:t>
                      </a:r>
                      <a:r>
                        <a:rPr lang="en-US" sz="1800" b="1" strike="noStrike" spc="-1" dirty="0" err="1">
                          <a:solidFill>
                            <a:schemeClr val="dk1"/>
                          </a:solidFill>
                          <a:latin typeface="Microsoft JhengHei"/>
                          <a:ea typeface="Microsoft JhengHei"/>
                        </a:rPr>
                        <a:t>Giovenni</a:t>
                      </a:r>
                      <a:r>
                        <a:rPr lang="en-US" sz="1800" b="1" strike="noStrike" spc="-1" dirty="0">
                          <a:solidFill>
                            <a:schemeClr val="dk1"/>
                          </a:solidFill>
                          <a:latin typeface="Microsoft JhengHei"/>
                          <a:ea typeface="Microsoft JhengHei"/>
                        </a:rPr>
                        <a:t> Su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dirty="0">
                          <a:solidFill>
                            <a:schemeClr val="dk1"/>
                          </a:solidFill>
                          <a:latin typeface="Microsoft JhengHei"/>
                          <a:ea typeface="Microsoft JhengHei"/>
                        </a:rPr>
                        <a:t>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bl>
          </a:graphicData>
        </a:graphic>
      </p:graphicFrame>
      <p:sp>
        <p:nvSpPr>
          <p:cNvPr id="2864" name="TextBox 1"/>
          <p:cNvSpPr/>
          <p:nvPr/>
        </p:nvSpPr>
        <p:spPr>
          <a:xfrm>
            <a:off x="2521800" y="811440"/>
            <a:ext cx="8244000" cy="46021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r>
              <a:rPr lang="en-US" altLang="zh-TW" sz="2400" spc="-1" dirty="0" smtClean="0">
                <a:solidFill>
                  <a:schemeClr val="dk1"/>
                </a:solidFill>
                <a:latin typeface="Microsoft JhengHei"/>
                <a:ea typeface="Microsoft JhengHei"/>
              </a:rPr>
              <a:t>MM-IM-0050 </a:t>
            </a:r>
            <a:r>
              <a:rPr lang="zh-TW" altLang="en-US" sz="2400" spc="-1" dirty="0" smtClean="0">
                <a:solidFill>
                  <a:schemeClr val="dk1"/>
                </a:solidFill>
                <a:latin typeface="Microsoft JhengHei"/>
                <a:ea typeface="Microsoft JhengHei"/>
              </a:rPr>
              <a:t>部門領料作業流程</a:t>
            </a:r>
            <a:endParaRPr lang="en-US" sz="2400" b="0" strike="noStrike" spc="-1" dirty="0">
              <a:solidFill>
                <a:srgbClr val="000000"/>
              </a:solidFill>
              <a:latin typeface="Calibri"/>
            </a:endParaRPr>
          </a:p>
        </p:txBody>
      </p:sp>
      <p:sp>
        <p:nvSpPr>
          <p:cNvPr id="7" name="TextBox 2"/>
          <p:cNvSpPr/>
          <p:nvPr/>
        </p:nvSpPr>
        <p:spPr>
          <a:xfrm>
            <a:off x="16787866" y="735228"/>
            <a:ext cx="1357322" cy="33710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2025/07/22</a:t>
            </a:r>
            <a:endParaRPr lang="en-US" sz="1600" b="0" strike="noStrike" spc="-1" dirty="0">
              <a:solidFill>
                <a:srgbClr val="000000"/>
              </a:solidFill>
              <a:latin typeface="Calibri"/>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cxnSp>
        <p:nvCxnSpPr>
          <p:cNvPr id="6" name="Straight Connector 284">
            <a:extLst>
              <a:ext uri="{FF2B5EF4-FFF2-40B4-BE49-F238E27FC236}">
                <a16:creationId xmlns:a16="http://schemas.microsoft.com/office/drawing/2014/main" xmlns="" id="{9B19B4BF-9599-B835-12D9-B67512228A7B}"/>
              </a:ext>
            </a:extLst>
          </p:cNvPr>
          <p:cNvCxnSpPr>
            <a:cxnSpLocks/>
          </p:cNvCxnSpPr>
          <p:nvPr/>
        </p:nvCxnSpPr>
        <p:spPr>
          <a:xfrm>
            <a:off x="4765929" y="1409517"/>
            <a:ext cx="0" cy="86634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53">
            <a:extLst>
              <a:ext uri="{FF2B5EF4-FFF2-40B4-BE49-F238E27FC236}">
                <a16:creationId xmlns:a16="http://schemas.microsoft.com/office/drawing/2014/main" xmlns="" id="{30381EE2-3320-4812-6081-3A15B03E8B32}"/>
              </a:ext>
            </a:extLst>
          </p:cNvPr>
          <p:cNvSpPr txBox="1"/>
          <p:nvPr/>
        </p:nvSpPr>
        <p:spPr>
          <a:xfrm>
            <a:off x="14394343" y="2013760"/>
            <a:ext cx="3594197" cy="7617470"/>
          </a:xfrm>
          <a:prstGeom prst="rect">
            <a:avLst/>
          </a:prstGeom>
          <a:noFill/>
        </p:spPr>
        <p:txBody>
          <a:bodyPr wrap="square" lIns="137160" tIns="68580" rIns="137160" bIns="68580" rtlCol="0">
            <a:spAutoFit/>
          </a:bodyPr>
          <a:lstStyle/>
          <a:p>
            <a:pPr marL="342900" indent="-342900">
              <a:buFont typeface="+mj-lt"/>
              <a:buAutoNum type="arabicPeriod"/>
            </a:pPr>
            <a:r>
              <a:rPr lang="zh-TW" altLang="en-US" dirty="0"/>
              <a:t>需求單位填寫領料申請單，指定成本中心</a:t>
            </a:r>
            <a:r>
              <a:rPr lang="en-US" altLang="zh-TW" dirty="0"/>
              <a:t>(</a:t>
            </a:r>
            <a:r>
              <a:rPr lang="zh-TW" altLang="en-US" dirty="0"/>
              <a:t>部門</a:t>
            </a:r>
            <a:r>
              <a:rPr lang="en-US" altLang="zh-TW" dirty="0"/>
              <a:t>)</a:t>
            </a:r>
            <a:r>
              <a:rPr lang="zh-TW" altLang="en-US" dirty="0"/>
              <a:t>，領用</a:t>
            </a:r>
            <a:r>
              <a:rPr lang="zh-TW" altLang="en-US" dirty="0">
                <a:solidFill>
                  <a:srgbClr val="FF0000"/>
                </a:solidFill>
              </a:rPr>
              <a:t>非庶務類</a:t>
            </a:r>
            <a:r>
              <a:rPr lang="en-US" altLang="zh-TW" dirty="0">
                <a:solidFill>
                  <a:srgbClr val="FF0000"/>
                </a:solidFill>
              </a:rPr>
              <a:t>(</a:t>
            </a:r>
            <a:r>
              <a:rPr lang="zh-TW" altLang="en-US" dirty="0">
                <a:solidFill>
                  <a:srgbClr val="FF0000"/>
                </a:solidFill>
              </a:rPr>
              <a:t>物料不是</a:t>
            </a:r>
            <a:r>
              <a:rPr lang="en-US" altLang="zh-TW" dirty="0">
                <a:solidFill>
                  <a:srgbClr val="FF0000"/>
                </a:solidFill>
              </a:rPr>
              <a:t>Y</a:t>
            </a:r>
            <a:r>
              <a:rPr lang="zh-TW" altLang="en-US" dirty="0">
                <a:solidFill>
                  <a:srgbClr val="FF0000"/>
                </a:solidFill>
              </a:rPr>
              <a:t>開頭</a:t>
            </a:r>
            <a:r>
              <a:rPr lang="en-US" altLang="zh-TW" dirty="0">
                <a:solidFill>
                  <a:srgbClr val="FF0000"/>
                </a:solidFill>
              </a:rPr>
              <a:t>)</a:t>
            </a:r>
            <a:r>
              <a:rPr lang="zh-TW" altLang="en-US" dirty="0"/>
              <a:t>的料件，可用於開發研發、測試使用、教育練習</a:t>
            </a:r>
            <a:r>
              <a:rPr lang="en-US" altLang="zh-TW" dirty="0"/>
              <a:t>…</a:t>
            </a:r>
            <a:r>
              <a:rPr lang="zh-TW" altLang="en-US" dirty="0"/>
              <a:t>領料申請流程。</a:t>
            </a:r>
            <a:endParaRPr lang="en-US" altLang="zh-TW" dirty="0"/>
          </a:p>
          <a:p>
            <a:pPr marL="342900" indent="-342900">
              <a:buFont typeface="+mj-lt"/>
              <a:buAutoNum type="arabicPeriod"/>
            </a:pPr>
            <a:r>
              <a:rPr lang="zh-TW" altLang="en-US" dirty="0"/>
              <a:t>發起</a:t>
            </a:r>
            <a:r>
              <a:rPr lang="en-US" altLang="zh-TW" dirty="0"/>
              <a:t>BPM</a:t>
            </a:r>
            <a:r>
              <a:rPr lang="zh-TW" altLang="en-US" dirty="0"/>
              <a:t>簽核，由</a:t>
            </a:r>
            <a:r>
              <a:rPr lang="en-US" altLang="zh-TW" dirty="0"/>
              <a:t>BPM</a:t>
            </a:r>
            <a:r>
              <a:rPr lang="zh-TW" altLang="en-US" dirty="0"/>
              <a:t>按不同部門</a:t>
            </a:r>
            <a:r>
              <a:rPr lang="en-US" altLang="zh-TW" dirty="0"/>
              <a:t>/</a:t>
            </a:r>
            <a:r>
              <a:rPr lang="zh-TW" altLang="en-US" dirty="0"/>
              <a:t>領用標的作出不同的簽核流程。</a:t>
            </a:r>
            <a:endParaRPr lang="en-US" altLang="zh-TW" dirty="0"/>
          </a:p>
          <a:p>
            <a:pPr marL="342900" indent="-342900">
              <a:buFont typeface="+mj-lt"/>
              <a:buAutoNum type="arabicPeriod"/>
            </a:pPr>
            <a:r>
              <a:rPr lang="zh-TW" altLang="en-US" dirty="0"/>
              <a:t>透過</a:t>
            </a:r>
            <a:r>
              <a:rPr lang="en-US" altLang="zh-TW" dirty="0"/>
              <a:t>BPM</a:t>
            </a:r>
            <a:r>
              <a:rPr lang="zh-TW" altLang="en-US" dirty="0"/>
              <a:t>的簽核程序，由相關主管進行審核。</a:t>
            </a:r>
            <a:endParaRPr lang="en-US" altLang="zh-TW" dirty="0"/>
          </a:p>
          <a:p>
            <a:pPr marL="342900" indent="-342900">
              <a:buFont typeface="+mj-lt"/>
              <a:buAutoNum type="arabicPeriod"/>
            </a:pPr>
            <a:r>
              <a:rPr lang="zh-TW" altLang="en-US" dirty="0"/>
              <a:t>當審核通通的部門領用申請單則回傳給</a:t>
            </a:r>
            <a:r>
              <a:rPr lang="en-US" altLang="zh-TW" dirty="0"/>
              <a:t>SAP</a:t>
            </a:r>
            <a:r>
              <a:rPr lang="zh-TW" altLang="en-US" dirty="0"/>
              <a:t>去建立成本中心領用的預留單</a:t>
            </a:r>
            <a:r>
              <a:rPr lang="zh-TW" altLang="en-US" dirty="0" smtClean="0"/>
              <a:t>。</a:t>
            </a:r>
            <a:endParaRPr lang="en-US" altLang="zh-TW" dirty="0"/>
          </a:p>
          <a:p>
            <a:pPr marL="342900" indent="-342900">
              <a:buFont typeface="+mj-lt"/>
              <a:buAutoNum type="arabicPeriod"/>
            </a:pPr>
            <a:r>
              <a:rPr lang="zh-TW" altLang="en-US" dirty="0"/>
              <a:t>當</a:t>
            </a:r>
            <a:r>
              <a:rPr lang="en-US" altLang="zh-TW" dirty="0"/>
              <a:t>BPM</a:t>
            </a:r>
            <a:r>
              <a:rPr lang="zh-TW" altLang="en-US" dirty="0"/>
              <a:t>駁回則結束此部門領用申請單作業。</a:t>
            </a:r>
            <a:endParaRPr lang="en-US" altLang="zh-TW" dirty="0"/>
          </a:p>
          <a:p>
            <a:pPr marL="342900" indent="-342900">
              <a:buFont typeface="+mj-lt"/>
              <a:buAutoNum type="arabicPeriod"/>
            </a:pPr>
            <a:r>
              <a:rPr lang="zh-TW" altLang="en-US" dirty="0" smtClean="0"/>
              <a:t>未使用</a:t>
            </a:r>
            <a:r>
              <a:rPr lang="en-US" altLang="zh-TW" dirty="0" smtClean="0"/>
              <a:t>WMS</a:t>
            </a:r>
            <a:r>
              <a:rPr lang="zh-TW" altLang="en-US" dirty="0" smtClean="0"/>
              <a:t>倉庫</a:t>
            </a:r>
            <a:r>
              <a:rPr lang="zh-TW" altLang="en-US" dirty="0"/>
              <a:t>人員可依據核准的預留單執行執行存貨扣</a:t>
            </a:r>
            <a:r>
              <a:rPr lang="zh-TW" altLang="en-US" dirty="0" smtClean="0"/>
              <a:t>帳</a:t>
            </a:r>
            <a:endParaRPr lang="en-US" altLang="zh-TW" dirty="0"/>
          </a:p>
          <a:p>
            <a:pPr marL="342900" indent="-342900">
              <a:buFont typeface="+mj-lt"/>
              <a:buAutoNum type="arabicPeriod"/>
            </a:pPr>
            <a:r>
              <a:rPr lang="zh-TW" altLang="en-US" dirty="0" smtClean="0"/>
              <a:t>有使用</a:t>
            </a:r>
            <a:r>
              <a:rPr lang="en-US" altLang="zh-TW" dirty="0" smtClean="0"/>
              <a:t>WMS</a:t>
            </a:r>
            <a:r>
              <a:rPr lang="zh-TW" altLang="en-US" dirty="0" smtClean="0"/>
              <a:t>以背景執行</a:t>
            </a:r>
            <a:r>
              <a:rPr lang="en-GB" b="1" dirty="0" smtClean="0">
                <a:latin typeface="微軟正黑體" panose="020B0604030504040204" pitchFamily="34" charset="-120"/>
                <a:ea typeface="微軟正黑體" panose="020B0604030504040204" pitchFamily="34" charset="-120"/>
              </a:rPr>
              <a:t>ZMM087</a:t>
            </a:r>
            <a:r>
              <a:rPr lang="zh-TW" altLang="en-US" b="1" dirty="0" smtClean="0">
                <a:latin typeface="微軟正黑體" panose="020B0604030504040204" pitchFamily="34" charset="-120"/>
                <a:ea typeface="微軟正黑體" panose="020B0604030504040204" pitchFamily="34" charset="-120"/>
              </a:rPr>
              <a:t>將</a:t>
            </a:r>
            <a:r>
              <a:rPr lang="zh-TW" altLang="en-US" dirty="0" smtClean="0">
                <a:latin typeface="微軟正黑體" panose="020B0604030504040204" pitchFamily="34" charset="-120"/>
                <a:ea typeface="微軟正黑體" panose="020B0604030504040204" pitchFamily="34" charset="-120"/>
                <a:sym typeface="Arial"/>
              </a:rPr>
              <a:t>預留單至</a:t>
            </a:r>
            <a:r>
              <a:rPr lang="en-US" altLang="zh-TW" dirty="0" smtClean="0">
                <a:latin typeface="微軟正黑體" panose="020B0604030504040204" pitchFamily="34" charset="-120"/>
                <a:ea typeface="微軟正黑體" panose="020B0604030504040204" pitchFamily="34" charset="-120"/>
                <a:sym typeface="Arial"/>
              </a:rPr>
              <a:t>WMS</a:t>
            </a:r>
            <a:r>
              <a:rPr lang="zh-TW" altLang="en-US" dirty="0" smtClean="0">
                <a:latin typeface="微軟正黑體" panose="020B0604030504040204" pitchFamily="34" charset="-120"/>
                <a:ea typeface="微軟正黑體" panose="020B0604030504040204" pitchFamily="34" charset="-120"/>
                <a:sym typeface="Arial"/>
              </a:rPr>
              <a:t>進行下架發料作業</a:t>
            </a:r>
            <a:endParaRPr lang="en-US" altLang="zh-TW" dirty="0" smtClean="0"/>
          </a:p>
          <a:p>
            <a:pPr marL="342900" indent="-342900">
              <a:buFont typeface="+mj-lt"/>
              <a:buAutoNum type="arabicPeriod"/>
            </a:pPr>
            <a:r>
              <a:rPr lang="zh-TW" altLang="en-US" dirty="0" smtClean="0"/>
              <a:t>有使用</a:t>
            </a:r>
            <a:r>
              <a:rPr lang="en-US" altLang="zh-TW" dirty="0" smtClean="0"/>
              <a:t>WMS</a:t>
            </a:r>
            <a:r>
              <a:rPr lang="zh-TW" altLang="en-US" dirty="0" smtClean="0"/>
              <a:t>以背景執行</a:t>
            </a:r>
            <a:r>
              <a:rPr lang="en-GB" b="1" dirty="0" smtClean="0">
                <a:latin typeface="微軟正黑體" panose="020B0604030504040204" pitchFamily="34" charset="-120"/>
                <a:ea typeface="微軟正黑體" panose="020B0604030504040204" pitchFamily="34" charset="-120"/>
              </a:rPr>
              <a:t>ZMM088</a:t>
            </a:r>
            <a:r>
              <a:rPr lang="zh-TW" altLang="en-US" b="1" dirty="0" smtClean="0">
                <a:latin typeface="微軟正黑體" panose="020B0604030504040204" pitchFamily="34" charset="-120"/>
                <a:ea typeface="微軟正黑體" panose="020B0604030504040204" pitchFamily="34" charset="-120"/>
              </a:rPr>
              <a:t>將</a:t>
            </a:r>
            <a:r>
              <a:rPr lang="zh-TW" altLang="en-US" dirty="0" smtClean="0">
                <a:latin typeface="微軟正黑體" panose="020B0604030504040204" pitchFamily="34" charset="-120"/>
                <a:ea typeface="微軟正黑體" panose="020B0604030504040204" pitchFamily="34" charset="-120"/>
                <a:sym typeface="Arial"/>
              </a:rPr>
              <a:t>預留單下架發料作業結果傳入</a:t>
            </a:r>
            <a:r>
              <a:rPr lang="en-US" altLang="zh-TW" dirty="0" smtClean="0">
                <a:latin typeface="微軟正黑體" panose="020B0604030504040204" pitchFamily="34" charset="-120"/>
                <a:ea typeface="微軟正黑體" panose="020B0604030504040204" pitchFamily="34" charset="-120"/>
                <a:sym typeface="Arial"/>
              </a:rPr>
              <a:t>SAP</a:t>
            </a:r>
            <a:r>
              <a:rPr lang="zh-TW" altLang="en-US" dirty="0" smtClean="0">
                <a:latin typeface="微軟正黑體" panose="020B0604030504040204" pitchFamily="34" charset="-120"/>
                <a:ea typeface="微軟正黑體" panose="020B0604030504040204" pitchFamily="34" charset="-120"/>
                <a:sym typeface="Arial"/>
              </a:rPr>
              <a:t>進行過帳</a:t>
            </a:r>
            <a:endParaRPr lang="en-US" altLang="zh-TW" dirty="0" smtClean="0"/>
          </a:p>
          <a:p>
            <a:pPr marL="342900" indent="-342900">
              <a:buFont typeface="+mj-lt"/>
              <a:buAutoNum type="arabicPeriod"/>
            </a:pPr>
            <a:endParaRPr lang="en-US" altLang="zh-TW" dirty="0"/>
          </a:p>
          <a:p>
            <a:endParaRPr lang="en-US" altLang="zh-TW" dirty="0"/>
          </a:p>
        </p:txBody>
      </p:sp>
      <p:sp>
        <p:nvSpPr>
          <p:cNvPr id="8" name="文字方塊 17">
            <a:extLst>
              <a:ext uri="{FF2B5EF4-FFF2-40B4-BE49-F238E27FC236}">
                <a16:creationId xmlns:a16="http://schemas.microsoft.com/office/drawing/2014/main" xmlns="" id="{A3961CAE-69E4-A1C1-045A-63D595BA671B}"/>
              </a:ext>
            </a:extLst>
          </p:cNvPr>
          <p:cNvSpPr txBox="1"/>
          <p:nvPr/>
        </p:nvSpPr>
        <p:spPr>
          <a:xfrm>
            <a:off x="2569469" y="1400991"/>
            <a:ext cx="2693867" cy="400110"/>
          </a:xfrm>
          <a:prstGeom prst="rect">
            <a:avLst/>
          </a:prstGeom>
          <a:noFill/>
        </p:spPr>
        <p:txBody>
          <a:bodyPr wrap="square" lIns="137160" tIns="68580" rIns="137160" bIns="68580" rtlCol="0">
            <a:spAutoFit/>
          </a:bodyPr>
          <a:lstStyle/>
          <a:p>
            <a:pPr algn="ctr"/>
            <a:r>
              <a:rPr lang="zh-TW" altLang="en-US" sz="1700" dirty="0"/>
              <a:t>需求單位</a:t>
            </a:r>
          </a:p>
        </p:txBody>
      </p:sp>
      <p:sp>
        <p:nvSpPr>
          <p:cNvPr id="48" name="文字方塊 17">
            <a:extLst>
              <a:ext uri="{FF2B5EF4-FFF2-40B4-BE49-F238E27FC236}">
                <a16:creationId xmlns:a16="http://schemas.microsoft.com/office/drawing/2014/main" xmlns="" id="{0F2761B4-5F29-64DD-1721-5831D073894C}"/>
              </a:ext>
            </a:extLst>
          </p:cNvPr>
          <p:cNvSpPr txBox="1"/>
          <p:nvPr/>
        </p:nvSpPr>
        <p:spPr>
          <a:xfrm>
            <a:off x="7169893" y="1409517"/>
            <a:ext cx="4749311" cy="400110"/>
          </a:xfrm>
          <a:prstGeom prst="rect">
            <a:avLst/>
          </a:prstGeom>
          <a:noFill/>
        </p:spPr>
        <p:txBody>
          <a:bodyPr wrap="square" lIns="137160" tIns="68580" rIns="137160" bIns="68580" rtlCol="0">
            <a:spAutoFit/>
          </a:bodyPr>
          <a:lstStyle/>
          <a:p>
            <a:pPr algn="ctr"/>
            <a:r>
              <a:rPr lang="zh-TW" altLang="en-US" sz="1700" dirty="0"/>
              <a:t>倉庫單位</a:t>
            </a:r>
          </a:p>
        </p:txBody>
      </p:sp>
      <p:sp>
        <p:nvSpPr>
          <p:cNvPr id="60" name="文字方塊 59">
            <a:extLst>
              <a:ext uri="{FF2B5EF4-FFF2-40B4-BE49-F238E27FC236}">
                <a16:creationId xmlns:a16="http://schemas.microsoft.com/office/drawing/2014/main" xmlns="" id="{8ECF4CE1-DDC2-62E8-3C4E-7ECD29FF75F3}"/>
              </a:ext>
            </a:extLst>
          </p:cNvPr>
          <p:cNvSpPr txBox="1"/>
          <p:nvPr/>
        </p:nvSpPr>
        <p:spPr>
          <a:xfrm>
            <a:off x="2507711" y="860721"/>
            <a:ext cx="7218711" cy="415498"/>
          </a:xfrm>
          <a:prstGeom prst="rect">
            <a:avLst/>
          </a:prstGeom>
          <a:noFill/>
        </p:spPr>
        <p:txBody>
          <a:bodyPr wrap="square" lIns="137160" tIns="68580" rIns="137160" bIns="68580">
            <a:spAutoFit/>
          </a:bodyPr>
          <a:lstStyle/>
          <a:p>
            <a:pPr eaLnBrk="0" hangingPunct="0"/>
            <a:r>
              <a:rPr kumimoji="0" lang="en-US" altLang="zh-TW" b="1" dirty="0">
                <a:latin typeface="微軟正黑體" panose="020B0604030504040204" pitchFamily="34" charset="-120"/>
                <a:ea typeface="微軟正黑體" panose="020B0604030504040204" pitchFamily="34" charset="-120"/>
              </a:rPr>
              <a:t>MM-IM-00</a:t>
            </a:r>
            <a:r>
              <a:rPr lang="en-US" altLang="zh-TW" b="1" dirty="0">
                <a:latin typeface="微軟正黑體" panose="020B0604030504040204" pitchFamily="34" charset="-120"/>
                <a:ea typeface="微軟正黑體" panose="020B0604030504040204" pitchFamily="34" charset="-120"/>
              </a:rPr>
              <a:t>5</a:t>
            </a:r>
            <a:r>
              <a:rPr kumimoji="0" lang="en-US" altLang="zh-TW" b="1" dirty="0">
                <a:latin typeface="微軟正黑體" panose="020B0604030504040204" pitchFamily="34" charset="-120"/>
                <a:ea typeface="微軟正黑體" panose="020B0604030504040204" pitchFamily="34" charset="-120"/>
              </a:rPr>
              <a:t>0-01 </a:t>
            </a:r>
            <a:r>
              <a:rPr lang="zh-TW" altLang="en-US" b="1" dirty="0">
                <a:latin typeface="微軟正黑體" panose="020B0604030504040204" pitchFamily="34" charset="-120"/>
                <a:ea typeface="微軟正黑體" panose="020B0604030504040204" pitchFamily="34" charset="-120"/>
              </a:rPr>
              <a:t>部門領用非</a:t>
            </a:r>
            <a:r>
              <a:rPr kumimoji="0" lang="zh-TW" altLang="en-US" b="1" dirty="0">
                <a:latin typeface="微軟正黑體" panose="020B0604030504040204" pitchFamily="34" charset="-120"/>
                <a:ea typeface="微軟正黑體" panose="020B0604030504040204" pitchFamily="34" charset="-120"/>
              </a:rPr>
              <a:t>庶務用品</a:t>
            </a:r>
          </a:p>
        </p:txBody>
      </p:sp>
      <p:sp>
        <p:nvSpPr>
          <p:cNvPr id="205" name="流程圖: 結束點 204">
            <a:extLst>
              <a:ext uri="{FF2B5EF4-FFF2-40B4-BE49-F238E27FC236}">
                <a16:creationId xmlns:a16="http://schemas.microsoft.com/office/drawing/2014/main" xmlns="" id="{AF6DEB4F-42E0-79A4-1C86-971AEA2097AF}"/>
              </a:ext>
            </a:extLst>
          </p:cNvPr>
          <p:cNvSpPr/>
          <p:nvPr/>
        </p:nvSpPr>
        <p:spPr bwMode="auto">
          <a:xfrm>
            <a:off x="12249887" y="7482917"/>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26" name="肘形接點 68">
            <a:extLst>
              <a:ext uri="{FF2B5EF4-FFF2-40B4-BE49-F238E27FC236}">
                <a16:creationId xmlns:a16="http://schemas.microsoft.com/office/drawing/2014/main" xmlns="" id="{66E28980-1EE1-C5F9-8A46-65685EE64FF1}"/>
              </a:ext>
            </a:extLst>
          </p:cNvPr>
          <p:cNvCxnSpPr>
            <a:cxnSpLocks/>
            <a:stCxn id="2" idx="3"/>
            <a:endCxn id="43" idx="1"/>
          </p:cNvCxnSpPr>
          <p:nvPr/>
        </p:nvCxnSpPr>
        <p:spPr>
          <a:xfrm flipV="1">
            <a:off x="2236082" y="2998073"/>
            <a:ext cx="386565" cy="438"/>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41" name="表格 30">
            <a:extLst>
              <a:ext uri="{FF2B5EF4-FFF2-40B4-BE49-F238E27FC236}">
                <a16:creationId xmlns:a16="http://schemas.microsoft.com/office/drawing/2014/main" xmlns="" id="{854A0700-9A9F-B567-634C-89968BA305A7}"/>
              </a:ext>
            </a:extLst>
          </p:cNvPr>
          <p:cNvGraphicFramePr>
            <a:graphicFrameLocks noGrp="1"/>
          </p:cNvGraphicFramePr>
          <p:nvPr>
            <p:extLst>
              <p:ext uri="{D42A27DB-BD31-4B8C-83A1-F6EECF244321}">
                <p14:modId xmlns:p14="http://schemas.microsoft.com/office/powerpoint/2010/main" xmlns="" val="1670922381"/>
              </p:ext>
            </p:extLst>
          </p:nvPr>
        </p:nvGraphicFramePr>
        <p:xfrm>
          <a:off x="7275257" y="7247550"/>
          <a:ext cx="1860324" cy="1238591"/>
        </p:xfrm>
        <a:graphic>
          <a:graphicData uri="http://schemas.openxmlformats.org/drawingml/2006/table">
            <a:tbl>
              <a:tblPr>
                <a:tableStyleId>{5940675A-B579-460E-94D1-54222C63F5DA}</a:tableStyleId>
              </a:tblPr>
              <a:tblGrid>
                <a:gridCol w="930162">
                  <a:extLst>
                    <a:ext uri="{9D8B030D-6E8A-4147-A177-3AD203B41FA5}">
                      <a16:colId xmlns:a16="http://schemas.microsoft.com/office/drawing/2014/main" xmlns="" val="3433979995"/>
                    </a:ext>
                  </a:extLst>
                </a:gridCol>
                <a:gridCol w="930162">
                  <a:extLst>
                    <a:ext uri="{9D8B030D-6E8A-4147-A177-3AD203B41FA5}">
                      <a16:colId xmlns:a16="http://schemas.microsoft.com/office/drawing/2014/main" xmlns=""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MIGO</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87">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lang="zh-TW" altLang="en-US" sz="1500" dirty="0">
                          <a:latin typeface="微軟正黑體" panose="020B0604030504040204" pitchFamily="34" charset="-120"/>
                          <a:ea typeface="微軟正黑體" panose="020B0604030504040204" pitchFamily="34" charset="-120"/>
                        </a:rPr>
                        <a:t>成本中心領</a:t>
                      </a:r>
                      <a:r>
                        <a:rPr lang="zh-TW" altLang="en-US" sz="1500" dirty="0" smtClean="0">
                          <a:latin typeface="微軟正黑體" panose="020B0604030504040204" pitchFamily="34" charset="-120"/>
                          <a:ea typeface="微軟正黑體" panose="020B0604030504040204" pitchFamily="34" charset="-120"/>
                        </a:rPr>
                        <a:t>用</a:t>
                      </a:r>
                      <a:endParaRPr lang="en-US" altLang="zh-TW" sz="1500" dirty="0">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手自動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230" name="肘形接點 68">
            <a:extLst>
              <a:ext uri="{FF2B5EF4-FFF2-40B4-BE49-F238E27FC236}">
                <a16:creationId xmlns:a16="http://schemas.microsoft.com/office/drawing/2014/main" xmlns="" id="{D6DDC060-067B-1B07-0195-F13705EFFF6A}"/>
              </a:ext>
            </a:extLst>
          </p:cNvPr>
          <p:cNvCxnSpPr>
            <a:cxnSpLocks/>
            <a:stCxn id="9" idx="3"/>
            <a:endCxn id="52" idx="1"/>
          </p:cNvCxnSpPr>
          <p:nvPr/>
        </p:nvCxnSpPr>
        <p:spPr>
          <a:xfrm flipV="1">
            <a:off x="6812145" y="2647735"/>
            <a:ext cx="464889" cy="3535962"/>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30" name="表格 30">
            <a:extLst>
              <a:ext uri="{FF2B5EF4-FFF2-40B4-BE49-F238E27FC236}">
                <a16:creationId xmlns:a16="http://schemas.microsoft.com/office/drawing/2014/main" xmlns="" id="{65A6C6AC-E57A-9C7C-1A87-626216D58613}"/>
              </a:ext>
            </a:extLst>
          </p:cNvPr>
          <p:cNvGraphicFramePr>
            <a:graphicFrameLocks noGrp="1"/>
          </p:cNvGraphicFramePr>
          <p:nvPr>
            <p:extLst>
              <p:ext uri="{D42A27DB-BD31-4B8C-83A1-F6EECF244321}">
                <p14:modId xmlns:p14="http://schemas.microsoft.com/office/powerpoint/2010/main" xmlns="" val="4181249865"/>
              </p:ext>
            </p:extLst>
          </p:nvPr>
        </p:nvGraphicFramePr>
        <p:xfrm>
          <a:off x="7303196" y="5552679"/>
          <a:ext cx="1797828" cy="1009956"/>
        </p:xfrm>
        <a:graphic>
          <a:graphicData uri="http://schemas.openxmlformats.org/drawingml/2006/table">
            <a:tbl>
              <a:tblPr>
                <a:tableStyleId>{5940675A-B579-460E-94D1-54222C63F5DA}</a:tableStyleId>
              </a:tblPr>
              <a:tblGrid>
                <a:gridCol w="898914">
                  <a:extLst>
                    <a:ext uri="{9D8B030D-6E8A-4147-A177-3AD203B41FA5}">
                      <a16:colId xmlns:a16="http://schemas.microsoft.com/office/drawing/2014/main" xmlns="" val="3433979995"/>
                    </a:ext>
                  </a:extLst>
                </a:gridCol>
                <a:gridCol w="898914">
                  <a:extLst>
                    <a:ext uri="{9D8B030D-6E8A-4147-A177-3AD203B41FA5}">
                      <a16:colId xmlns:a16="http://schemas.microsoft.com/office/drawing/2014/main" xmlns="" val="3727974752"/>
                    </a:ext>
                  </a:extLst>
                </a:gridCol>
              </a:tblGrid>
              <a:tr h="336652">
                <a:tc gridSpan="2">
                  <a:txBody>
                    <a:bodyPr/>
                    <a:lstStyle/>
                    <a:p>
                      <a:pPr algn="ctr"/>
                      <a:r>
                        <a:rPr lang="en-GB" sz="1500" b="1" dirty="0">
                          <a:solidFill>
                            <a:srgbClr val="FF0000"/>
                          </a:solidFill>
                          <a:latin typeface="微軟正黑體" panose="020B0604030504040204" pitchFamily="34" charset="-120"/>
                          <a:ea typeface="微軟正黑體" panose="020B0604030504040204" pitchFamily="34" charset="-120"/>
                        </a:rPr>
                        <a:t> </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52">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揀貨備料</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54" name="肘形接點 68">
            <a:extLst>
              <a:ext uri="{FF2B5EF4-FFF2-40B4-BE49-F238E27FC236}">
                <a16:creationId xmlns:a16="http://schemas.microsoft.com/office/drawing/2014/main" xmlns="" id="{4B191E64-F223-A8BE-14B6-8BC313234E4E}"/>
              </a:ext>
            </a:extLst>
          </p:cNvPr>
          <p:cNvCxnSpPr>
            <a:cxnSpLocks/>
            <a:stCxn id="30" idx="2"/>
            <a:endCxn id="41" idx="0"/>
          </p:cNvCxnSpPr>
          <p:nvPr/>
        </p:nvCxnSpPr>
        <p:spPr>
          <a:xfrm rot="16200000" flipH="1">
            <a:off x="7861309" y="6903437"/>
            <a:ext cx="684914" cy="3309"/>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1" name="肘形接點 68">
            <a:extLst>
              <a:ext uri="{FF2B5EF4-FFF2-40B4-BE49-F238E27FC236}">
                <a16:creationId xmlns:a16="http://schemas.microsoft.com/office/drawing/2014/main" xmlns="" id="{A68A5695-0E00-A5A6-791C-96A720688BD9}"/>
              </a:ext>
            </a:extLst>
          </p:cNvPr>
          <p:cNvCxnSpPr>
            <a:cxnSpLocks/>
            <a:stCxn id="41" idx="2"/>
            <a:endCxn id="205" idx="1"/>
          </p:cNvCxnSpPr>
          <p:nvPr/>
        </p:nvCxnSpPr>
        <p:spPr>
          <a:xfrm rot="5400000" flipH="1" flipV="1">
            <a:off x="9921682" y="6157936"/>
            <a:ext cx="611941" cy="4044468"/>
          </a:xfrm>
          <a:prstGeom prst="bentConnector4">
            <a:avLst>
              <a:gd name="adj1" fmla="val -91911"/>
              <a:gd name="adj2" fmla="val 32673"/>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 name="流程圖: 結束點 1">
            <a:extLst>
              <a:ext uri="{FF2B5EF4-FFF2-40B4-BE49-F238E27FC236}">
                <a16:creationId xmlns:a16="http://schemas.microsoft.com/office/drawing/2014/main" xmlns="" id="{4C8C776D-DAEB-7D17-B096-DBA5FE0E0B72}"/>
              </a:ext>
            </a:extLst>
          </p:cNvPr>
          <p:cNvSpPr/>
          <p:nvPr/>
        </p:nvSpPr>
        <p:spPr bwMode="auto">
          <a:xfrm>
            <a:off x="438250" y="2607229"/>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sp>
        <p:nvSpPr>
          <p:cNvPr id="9" name="流程圖: 決策 50">
            <a:extLst>
              <a:ext uri="{FF2B5EF4-FFF2-40B4-BE49-F238E27FC236}">
                <a16:creationId xmlns:a16="http://schemas.microsoft.com/office/drawing/2014/main" xmlns="" id="{A1D67C27-1F5C-1D11-063E-2AAA07AE17A5}"/>
              </a:ext>
            </a:extLst>
          </p:cNvPr>
          <p:cNvSpPr/>
          <p:nvPr/>
        </p:nvSpPr>
        <p:spPr bwMode="auto">
          <a:xfrm>
            <a:off x="4970196" y="5594633"/>
            <a:ext cx="1841949" cy="1178126"/>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審核</a:t>
            </a:r>
          </a:p>
        </p:txBody>
      </p:sp>
      <p:cxnSp>
        <p:nvCxnSpPr>
          <p:cNvPr id="10" name="肘形接點 68">
            <a:extLst>
              <a:ext uri="{FF2B5EF4-FFF2-40B4-BE49-F238E27FC236}">
                <a16:creationId xmlns:a16="http://schemas.microsoft.com/office/drawing/2014/main" xmlns="" id="{050012AF-695E-8AFB-440D-B82C8270DAF8}"/>
              </a:ext>
            </a:extLst>
          </p:cNvPr>
          <p:cNvCxnSpPr>
            <a:cxnSpLocks/>
            <a:stCxn id="43" idx="3"/>
            <a:endCxn id="34" idx="1"/>
          </p:cNvCxnSpPr>
          <p:nvPr/>
        </p:nvCxnSpPr>
        <p:spPr>
          <a:xfrm flipV="1">
            <a:off x="4482971" y="2992510"/>
            <a:ext cx="473981" cy="5564"/>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7" name="TextBox 46">
            <a:extLst>
              <a:ext uri="{FF2B5EF4-FFF2-40B4-BE49-F238E27FC236}">
                <a16:creationId xmlns:a16="http://schemas.microsoft.com/office/drawing/2014/main" xmlns="" id="{C01CCBA3-F44E-18D5-91E7-8D4C2A4E01F5}"/>
              </a:ext>
            </a:extLst>
          </p:cNvPr>
          <p:cNvSpPr txBox="1"/>
          <p:nvPr/>
        </p:nvSpPr>
        <p:spPr>
          <a:xfrm>
            <a:off x="6500794" y="5787236"/>
            <a:ext cx="988706" cy="369389"/>
          </a:xfrm>
          <a:prstGeom prst="rect">
            <a:avLst/>
          </a:prstGeom>
          <a:noFill/>
        </p:spPr>
        <p:txBody>
          <a:bodyPr wrap="square" lIns="137160" tIns="68580" rIns="137160" bIns="68580" rtlCol="0">
            <a:spAutoFit/>
          </a:bodyPr>
          <a:lstStyle/>
          <a:p>
            <a:r>
              <a:rPr lang="en-US" altLang="zh-TW" sz="1500" dirty="0"/>
              <a:t>OK</a:t>
            </a:r>
            <a:endParaRPr lang="zh-TW" altLang="en-US" sz="1500" dirty="0"/>
          </a:p>
        </p:txBody>
      </p:sp>
      <p:cxnSp>
        <p:nvCxnSpPr>
          <p:cNvPr id="18" name="肘形接點 68">
            <a:extLst>
              <a:ext uri="{FF2B5EF4-FFF2-40B4-BE49-F238E27FC236}">
                <a16:creationId xmlns:a16="http://schemas.microsoft.com/office/drawing/2014/main" xmlns="" id="{31A7BFCF-9D3A-D770-D4AB-266170DDBDA6}"/>
              </a:ext>
            </a:extLst>
          </p:cNvPr>
          <p:cNvCxnSpPr>
            <a:cxnSpLocks/>
            <a:stCxn id="62" idx="3"/>
            <a:endCxn id="205" idx="1"/>
          </p:cNvCxnSpPr>
          <p:nvPr/>
        </p:nvCxnSpPr>
        <p:spPr>
          <a:xfrm flipV="1">
            <a:off x="6817891" y="7874200"/>
            <a:ext cx="5431997" cy="1175491"/>
          </a:xfrm>
          <a:prstGeom prst="bentConnector3">
            <a:avLst>
              <a:gd name="adj1" fmla="val 5000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7" name="TextBox 46">
            <a:extLst>
              <a:ext uri="{FF2B5EF4-FFF2-40B4-BE49-F238E27FC236}">
                <a16:creationId xmlns:a16="http://schemas.microsoft.com/office/drawing/2014/main" xmlns="" id="{77E2C2FD-C93F-BDB7-00E8-6D9DA3DBE0B5}"/>
              </a:ext>
            </a:extLst>
          </p:cNvPr>
          <p:cNvSpPr txBox="1"/>
          <p:nvPr/>
        </p:nvSpPr>
        <p:spPr>
          <a:xfrm>
            <a:off x="5891170" y="7223273"/>
            <a:ext cx="988706" cy="369389"/>
          </a:xfrm>
          <a:prstGeom prst="rect">
            <a:avLst/>
          </a:prstGeom>
          <a:noFill/>
        </p:spPr>
        <p:txBody>
          <a:bodyPr wrap="square" lIns="137160" tIns="68580" rIns="137160" bIns="68580" rtlCol="0">
            <a:spAutoFit/>
          </a:bodyPr>
          <a:lstStyle/>
          <a:p>
            <a:r>
              <a:rPr lang="en-US" altLang="zh-TW" sz="1500" dirty="0"/>
              <a:t>NG</a:t>
            </a:r>
            <a:endParaRPr lang="zh-TW" altLang="en-US" sz="1500" dirty="0"/>
          </a:p>
        </p:txBody>
      </p:sp>
      <p:graphicFrame>
        <p:nvGraphicFramePr>
          <p:cNvPr id="34" name="表格 30">
            <a:extLst>
              <a:ext uri="{FF2B5EF4-FFF2-40B4-BE49-F238E27FC236}">
                <a16:creationId xmlns:a16="http://schemas.microsoft.com/office/drawing/2014/main" xmlns="" id="{854A0700-9A9F-B567-634C-89968BA305A7}"/>
              </a:ext>
            </a:extLst>
          </p:cNvPr>
          <p:cNvGraphicFramePr>
            <a:graphicFrameLocks noGrp="1"/>
          </p:cNvGraphicFramePr>
          <p:nvPr>
            <p:extLst>
              <p:ext uri="{D42A27DB-BD31-4B8C-83A1-F6EECF244321}">
                <p14:modId xmlns:p14="http://schemas.microsoft.com/office/powerpoint/2010/main" xmlns="" val="2473657350"/>
              </p:ext>
            </p:extLst>
          </p:nvPr>
        </p:nvGraphicFramePr>
        <p:xfrm>
          <a:off x="4956951" y="2487531"/>
          <a:ext cx="1860324" cy="1009956"/>
        </p:xfrm>
        <a:graphic>
          <a:graphicData uri="http://schemas.openxmlformats.org/drawingml/2006/table">
            <a:tbl>
              <a:tblPr>
                <a:tableStyleId>{5940675A-B579-460E-94D1-54222C63F5DA}</a:tableStyleId>
              </a:tblPr>
              <a:tblGrid>
                <a:gridCol w="930162">
                  <a:extLst>
                    <a:ext uri="{9D8B030D-6E8A-4147-A177-3AD203B41FA5}">
                      <a16:colId xmlns:a16="http://schemas.microsoft.com/office/drawing/2014/main" xmlns="" val="3433979995"/>
                    </a:ext>
                  </a:extLst>
                </a:gridCol>
                <a:gridCol w="930162">
                  <a:extLst>
                    <a:ext uri="{9D8B030D-6E8A-4147-A177-3AD203B41FA5}">
                      <a16:colId xmlns:a16="http://schemas.microsoft.com/office/drawing/2014/main" xmlns="" val="3727974752"/>
                    </a:ext>
                  </a:extLst>
                </a:gridCol>
              </a:tblGrid>
              <a:tr h="336652">
                <a:tc gridSpan="2">
                  <a:txBody>
                    <a:bodyPr/>
                    <a:lstStyle/>
                    <a:p>
                      <a:pPr algn="ctr"/>
                      <a:endParaRPr lang="en-GB" sz="1500" b="1" dirty="0">
                        <a:solidFill>
                          <a:schemeClr val="tx1"/>
                        </a:solidFill>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52">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簽核</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4" name="Group 220">
            <a:extLst>
              <a:ext uri="{FF2B5EF4-FFF2-40B4-BE49-F238E27FC236}">
                <a16:creationId xmlns:a16="http://schemas.microsoft.com/office/drawing/2014/main" xmlns="" id="{F848FA31-285F-581D-D212-24891BC0A21D}"/>
              </a:ext>
            </a:extLst>
          </p:cNvPr>
          <p:cNvGrpSpPr/>
          <p:nvPr/>
        </p:nvGrpSpPr>
        <p:grpSpPr>
          <a:xfrm>
            <a:off x="6600133" y="2260692"/>
            <a:ext cx="543519" cy="408605"/>
            <a:chOff x="5906472" y="1486857"/>
            <a:chExt cx="362346" cy="272361"/>
          </a:xfrm>
        </p:grpSpPr>
        <p:sp>
          <p:nvSpPr>
            <p:cNvPr id="36" name="Oval 221">
              <a:extLst>
                <a:ext uri="{FF2B5EF4-FFF2-40B4-BE49-F238E27FC236}">
                  <a16:creationId xmlns:a16="http://schemas.microsoft.com/office/drawing/2014/main" xmlns="" id="{356A97A5-CB31-0C92-3F61-4C7E38116F9B}"/>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7" name="TextBox 222">
              <a:extLst>
                <a:ext uri="{FF2B5EF4-FFF2-40B4-BE49-F238E27FC236}">
                  <a16:creationId xmlns:a16="http://schemas.microsoft.com/office/drawing/2014/main" xmlns="" id="{47B4CE2C-6B17-313E-C49B-E24DC4A790A8}"/>
                </a:ext>
              </a:extLst>
            </p:cNvPr>
            <p:cNvSpPr txBox="1"/>
            <p:nvPr/>
          </p:nvSpPr>
          <p:spPr>
            <a:xfrm>
              <a:off x="5913218" y="1500045"/>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cxnSp>
        <p:nvCxnSpPr>
          <p:cNvPr id="38" name="Straight Connector 284">
            <a:extLst>
              <a:ext uri="{FF2B5EF4-FFF2-40B4-BE49-F238E27FC236}">
                <a16:creationId xmlns:a16="http://schemas.microsoft.com/office/drawing/2014/main" xmlns="" id="{9B19B4BF-9599-B835-12D9-B67512228A7B}"/>
              </a:ext>
            </a:extLst>
          </p:cNvPr>
          <p:cNvCxnSpPr>
            <a:cxnSpLocks/>
          </p:cNvCxnSpPr>
          <p:nvPr/>
        </p:nvCxnSpPr>
        <p:spPr>
          <a:xfrm>
            <a:off x="7156772" y="1382082"/>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43" name="表格 30">
            <a:extLst>
              <a:ext uri="{FF2B5EF4-FFF2-40B4-BE49-F238E27FC236}">
                <a16:creationId xmlns:a16="http://schemas.microsoft.com/office/drawing/2014/main" xmlns="" id="{73C10F2B-5D21-C07F-1F91-DE5DA86AE393}"/>
              </a:ext>
            </a:extLst>
          </p:cNvPr>
          <p:cNvGraphicFramePr>
            <a:graphicFrameLocks noGrp="1"/>
          </p:cNvGraphicFramePr>
          <p:nvPr>
            <p:extLst>
              <p:ext uri="{D42A27DB-BD31-4B8C-83A1-F6EECF244321}">
                <p14:modId xmlns:p14="http://schemas.microsoft.com/office/powerpoint/2010/main" xmlns="" val="3392319972"/>
              </p:ext>
            </p:extLst>
          </p:nvPr>
        </p:nvGraphicFramePr>
        <p:xfrm>
          <a:off x="2622647" y="2368313"/>
          <a:ext cx="1860324" cy="1259523"/>
        </p:xfrm>
        <a:graphic>
          <a:graphicData uri="http://schemas.openxmlformats.org/drawingml/2006/table">
            <a:tbl>
              <a:tblPr>
                <a:tableStyleId>{5940675A-B579-460E-94D1-54222C63F5DA}</a:tableStyleId>
              </a:tblPr>
              <a:tblGrid>
                <a:gridCol w="930162">
                  <a:extLst>
                    <a:ext uri="{9D8B030D-6E8A-4147-A177-3AD203B41FA5}">
                      <a16:colId xmlns:a16="http://schemas.microsoft.com/office/drawing/2014/main" xmlns="" val="3433979995"/>
                    </a:ext>
                  </a:extLst>
                </a:gridCol>
                <a:gridCol w="930162">
                  <a:extLst>
                    <a:ext uri="{9D8B030D-6E8A-4147-A177-3AD203B41FA5}">
                      <a16:colId xmlns:a16="http://schemas.microsoft.com/office/drawing/2014/main" xmlns="" val="3727974752"/>
                    </a:ext>
                  </a:extLst>
                </a:gridCol>
              </a:tblGrid>
              <a:tr h="419841">
                <a:tc gridSpan="2">
                  <a:txBody>
                    <a:bodyPr/>
                    <a:lstStyle/>
                    <a:p>
                      <a:pPr algn="ctr"/>
                      <a:endParaRPr lang="en-GB" sz="1500" b="1" dirty="0">
                        <a:solidFill>
                          <a:schemeClr val="tx1"/>
                        </a:solidFill>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419841">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部門領用申請單</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419841">
                <a:tc>
                  <a:txBody>
                    <a:bodyPr/>
                    <a:lstStyle/>
                    <a:p>
                      <a:pPr algn="ctr"/>
                      <a:r>
                        <a:rPr lang="en-US"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5" name="Group 220">
            <a:extLst>
              <a:ext uri="{FF2B5EF4-FFF2-40B4-BE49-F238E27FC236}">
                <a16:creationId xmlns:a16="http://schemas.microsoft.com/office/drawing/2014/main" xmlns="" id="{A9B401BC-DE49-5FC0-6565-D216316A23DA}"/>
              </a:ext>
            </a:extLst>
          </p:cNvPr>
          <p:cNvGrpSpPr/>
          <p:nvPr/>
        </p:nvGrpSpPr>
        <p:grpSpPr>
          <a:xfrm>
            <a:off x="4245573" y="2142757"/>
            <a:ext cx="543519" cy="408605"/>
            <a:chOff x="5906472" y="1486857"/>
            <a:chExt cx="362346" cy="272361"/>
          </a:xfrm>
        </p:grpSpPr>
        <p:sp>
          <p:nvSpPr>
            <p:cNvPr id="45" name="Oval 221">
              <a:extLst>
                <a:ext uri="{FF2B5EF4-FFF2-40B4-BE49-F238E27FC236}">
                  <a16:creationId xmlns:a16="http://schemas.microsoft.com/office/drawing/2014/main" xmlns=""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46" name="TextBox 222">
              <a:extLst>
                <a:ext uri="{FF2B5EF4-FFF2-40B4-BE49-F238E27FC236}">
                  <a16:creationId xmlns:a16="http://schemas.microsoft.com/office/drawing/2014/main" xmlns="" id="{38213EC1-2A6F-CC6F-9F41-D87C1E84A2C8}"/>
                </a:ext>
              </a:extLst>
            </p:cNvPr>
            <p:cNvSpPr txBox="1"/>
            <p:nvPr/>
          </p:nvSpPr>
          <p:spPr>
            <a:xfrm>
              <a:off x="5913218"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cxnSp>
        <p:nvCxnSpPr>
          <p:cNvPr id="49" name="肘形接點 68">
            <a:extLst>
              <a:ext uri="{FF2B5EF4-FFF2-40B4-BE49-F238E27FC236}">
                <a16:creationId xmlns:a16="http://schemas.microsoft.com/office/drawing/2014/main" xmlns="" id="{050012AF-695E-8AFB-440D-B82C8270DAF8}"/>
              </a:ext>
            </a:extLst>
          </p:cNvPr>
          <p:cNvCxnSpPr>
            <a:cxnSpLocks/>
            <a:stCxn id="34" idx="2"/>
            <a:endCxn id="9" idx="0"/>
          </p:cNvCxnSpPr>
          <p:nvPr/>
        </p:nvCxnSpPr>
        <p:spPr>
          <a:xfrm rot="16200000" flipH="1">
            <a:off x="4840568" y="4544031"/>
            <a:ext cx="2097147" cy="4058"/>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52" name="表格 30">
            <a:extLst>
              <a:ext uri="{FF2B5EF4-FFF2-40B4-BE49-F238E27FC236}">
                <a16:creationId xmlns:a16="http://schemas.microsoft.com/office/drawing/2014/main" xmlns="" id="{73C10F2B-5D21-C07F-1F91-DE5DA86AE393}"/>
              </a:ext>
            </a:extLst>
          </p:cNvPr>
          <p:cNvGraphicFramePr>
            <a:graphicFrameLocks noGrp="1"/>
          </p:cNvGraphicFramePr>
          <p:nvPr>
            <p:extLst>
              <p:ext uri="{D42A27DB-BD31-4B8C-83A1-F6EECF244321}">
                <p14:modId xmlns:p14="http://schemas.microsoft.com/office/powerpoint/2010/main" xmlns="" val="2616739583"/>
              </p:ext>
            </p:extLst>
          </p:nvPr>
        </p:nvGraphicFramePr>
        <p:xfrm>
          <a:off x="7277034" y="2142757"/>
          <a:ext cx="1860324" cy="1009956"/>
        </p:xfrm>
        <a:graphic>
          <a:graphicData uri="http://schemas.openxmlformats.org/drawingml/2006/table">
            <a:tbl>
              <a:tblPr>
                <a:tableStyleId>{5940675A-B579-460E-94D1-54222C63F5DA}</a:tableStyleId>
              </a:tblPr>
              <a:tblGrid>
                <a:gridCol w="930162">
                  <a:extLst>
                    <a:ext uri="{9D8B030D-6E8A-4147-A177-3AD203B41FA5}">
                      <a16:colId xmlns:a16="http://schemas.microsoft.com/office/drawing/2014/main" xmlns="" val="3433979995"/>
                    </a:ext>
                  </a:extLst>
                </a:gridCol>
                <a:gridCol w="930162">
                  <a:extLst>
                    <a:ext uri="{9D8B030D-6E8A-4147-A177-3AD203B41FA5}">
                      <a16:colId xmlns:a16="http://schemas.microsoft.com/office/drawing/2014/main" xmlns=""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ZMM071</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52">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建立預留單</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57" name="肘形接點 68">
            <a:extLst>
              <a:ext uri="{FF2B5EF4-FFF2-40B4-BE49-F238E27FC236}">
                <a16:creationId xmlns:a16="http://schemas.microsoft.com/office/drawing/2014/main" xmlns="" id="{D6DDC060-067B-1B07-0195-F13705EFFF6A}"/>
              </a:ext>
            </a:extLst>
          </p:cNvPr>
          <p:cNvCxnSpPr>
            <a:cxnSpLocks/>
            <a:stCxn id="52" idx="2"/>
            <a:endCxn id="23" idx="0"/>
          </p:cNvCxnSpPr>
          <p:nvPr/>
        </p:nvCxnSpPr>
        <p:spPr>
          <a:xfrm rot="5400000">
            <a:off x="7903976" y="3452096"/>
            <a:ext cx="602606" cy="3837"/>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62" name="表格 30">
            <a:extLst>
              <a:ext uri="{FF2B5EF4-FFF2-40B4-BE49-F238E27FC236}">
                <a16:creationId xmlns:a16="http://schemas.microsoft.com/office/drawing/2014/main" xmlns="" id="{73C10F2B-5D21-C07F-1F91-DE5DA86AE393}"/>
              </a:ext>
            </a:extLst>
          </p:cNvPr>
          <p:cNvGraphicFramePr>
            <a:graphicFrameLocks noGrp="1"/>
          </p:cNvGraphicFramePr>
          <p:nvPr>
            <p:extLst>
              <p:ext uri="{D42A27DB-BD31-4B8C-83A1-F6EECF244321}">
                <p14:modId xmlns:p14="http://schemas.microsoft.com/office/powerpoint/2010/main" xmlns="" val="1702617350"/>
              </p:ext>
            </p:extLst>
          </p:nvPr>
        </p:nvGraphicFramePr>
        <p:xfrm>
          <a:off x="4957566" y="8544713"/>
          <a:ext cx="1860324" cy="1009956"/>
        </p:xfrm>
        <a:graphic>
          <a:graphicData uri="http://schemas.openxmlformats.org/drawingml/2006/table">
            <a:tbl>
              <a:tblPr>
                <a:tableStyleId>{5940675A-B579-460E-94D1-54222C63F5DA}</a:tableStyleId>
              </a:tblPr>
              <a:tblGrid>
                <a:gridCol w="930162">
                  <a:extLst>
                    <a:ext uri="{9D8B030D-6E8A-4147-A177-3AD203B41FA5}">
                      <a16:colId xmlns:a16="http://schemas.microsoft.com/office/drawing/2014/main" xmlns="" val="3433979995"/>
                    </a:ext>
                  </a:extLst>
                </a:gridCol>
                <a:gridCol w="930162">
                  <a:extLst>
                    <a:ext uri="{9D8B030D-6E8A-4147-A177-3AD203B41FA5}">
                      <a16:colId xmlns:a16="http://schemas.microsoft.com/office/drawing/2014/main" xmlns="" val="3727974752"/>
                    </a:ext>
                  </a:extLst>
                </a:gridCol>
              </a:tblGrid>
              <a:tr h="336652">
                <a:tc gridSpan="2">
                  <a:txBody>
                    <a:bodyPr/>
                    <a:lstStyle/>
                    <a:p>
                      <a:pPr algn="ctr"/>
                      <a:endParaRPr lang="en-GB" sz="1500" b="1" dirty="0">
                        <a:solidFill>
                          <a:schemeClr val="tx1"/>
                        </a:solidFill>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52">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駁回</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sp>
        <p:nvSpPr>
          <p:cNvPr id="67" name="文字方塊 17">
            <a:extLst>
              <a:ext uri="{FF2B5EF4-FFF2-40B4-BE49-F238E27FC236}">
                <a16:creationId xmlns:a16="http://schemas.microsoft.com/office/drawing/2014/main" xmlns="" id="{0F2761B4-5F29-64DD-1721-5831D073894C}"/>
              </a:ext>
            </a:extLst>
          </p:cNvPr>
          <p:cNvSpPr txBox="1"/>
          <p:nvPr/>
        </p:nvSpPr>
        <p:spPr>
          <a:xfrm>
            <a:off x="4930982" y="1392977"/>
            <a:ext cx="1853246" cy="400110"/>
          </a:xfrm>
          <a:prstGeom prst="rect">
            <a:avLst/>
          </a:prstGeom>
          <a:noFill/>
        </p:spPr>
        <p:txBody>
          <a:bodyPr wrap="square" lIns="137160" tIns="68580" rIns="137160" bIns="68580" rtlCol="0">
            <a:spAutoFit/>
          </a:bodyPr>
          <a:lstStyle/>
          <a:p>
            <a:pPr algn="ctr"/>
            <a:r>
              <a:rPr lang="zh-TW" altLang="en-US" sz="1700" dirty="0"/>
              <a:t>倉庫主管</a:t>
            </a:r>
            <a:r>
              <a:rPr lang="en-US" altLang="zh-TW" sz="1700" dirty="0"/>
              <a:t>/</a:t>
            </a:r>
            <a:r>
              <a:rPr lang="zh-TW" altLang="en-US" sz="1700" dirty="0"/>
              <a:t>生管</a:t>
            </a:r>
          </a:p>
        </p:txBody>
      </p:sp>
      <p:cxnSp>
        <p:nvCxnSpPr>
          <p:cNvPr id="21" name="肘形接點 68">
            <a:extLst>
              <a:ext uri="{FF2B5EF4-FFF2-40B4-BE49-F238E27FC236}">
                <a16:creationId xmlns:a16="http://schemas.microsoft.com/office/drawing/2014/main" xmlns="" id="{029AD887-3298-5F32-C8BF-C1E86B11B5BC}"/>
              </a:ext>
            </a:extLst>
          </p:cNvPr>
          <p:cNvCxnSpPr>
            <a:cxnSpLocks/>
            <a:stCxn id="9" idx="2"/>
            <a:endCxn id="62" idx="0"/>
          </p:cNvCxnSpPr>
          <p:nvPr/>
        </p:nvCxnSpPr>
        <p:spPr>
          <a:xfrm rot="5400000">
            <a:off x="5003474" y="7657016"/>
            <a:ext cx="1771953" cy="3443"/>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3" name="流程圖: 決策 50">
            <a:extLst>
              <a:ext uri="{FF2B5EF4-FFF2-40B4-BE49-F238E27FC236}">
                <a16:creationId xmlns:a16="http://schemas.microsoft.com/office/drawing/2014/main" xmlns="" id="{1579CF65-F449-84CD-4D89-01622C60EE5C}"/>
              </a:ext>
            </a:extLst>
          </p:cNvPr>
          <p:cNvSpPr/>
          <p:nvPr/>
        </p:nvSpPr>
        <p:spPr bwMode="auto">
          <a:xfrm>
            <a:off x="7282385" y="3755318"/>
            <a:ext cx="1841949" cy="1178126"/>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500" dirty="0">
                <a:latin typeface="微軟正黑體" panose="020B0604030504040204" pitchFamily="34" charset="-120"/>
                <a:ea typeface="微軟正黑體" panose="020B0604030504040204" pitchFamily="34" charset="-120"/>
              </a:rPr>
              <a:t>WMS?</a:t>
            </a:r>
            <a:endParaRPr lang="zh-TW" altLang="en-US" sz="1500" dirty="0">
              <a:latin typeface="微軟正黑體" panose="020B0604030504040204" pitchFamily="34" charset="-120"/>
              <a:ea typeface="微軟正黑體" panose="020B0604030504040204" pitchFamily="34" charset="-120"/>
            </a:endParaRPr>
          </a:p>
        </p:txBody>
      </p:sp>
      <p:sp>
        <p:nvSpPr>
          <p:cNvPr id="24" name="TextBox 46">
            <a:extLst>
              <a:ext uri="{FF2B5EF4-FFF2-40B4-BE49-F238E27FC236}">
                <a16:creationId xmlns:a16="http://schemas.microsoft.com/office/drawing/2014/main" xmlns="" id="{ED185BF0-A956-09BF-97BB-74AED8949298}"/>
              </a:ext>
            </a:extLst>
          </p:cNvPr>
          <p:cNvSpPr txBox="1"/>
          <p:nvPr/>
        </p:nvSpPr>
        <p:spPr>
          <a:xfrm>
            <a:off x="9010221" y="4001067"/>
            <a:ext cx="404262" cy="369389"/>
          </a:xfrm>
          <a:prstGeom prst="rect">
            <a:avLst/>
          </a:prstGeom>
          <a:noFill/>
        </p:spPr>
        <p:txBody>
          <a:bodyPr wrap="square" lIns="137160" tIns="68580" rIns="137160" bIns="68580" rtlCol="0">
            <a:spAutoFit/>
          </a:bodyPr>
          <a:lstStyle/>
          <a:p>
            <a:r>
              <a:rPr lang="zh-TW" altLang="en-US" sz="1500" dirty="0"/>
              <a:t>是</a:t>
            </a:r>
          </a:p>
        </p:txBody>
      </p:sp>
      <p:sp>
        <p:nvSpPr>
          <p:cNvPr id="28" name="流程圖: 預設處理作業 21">
            <a:extLst>
              <a:ext uri="{FF2B5EF4-FFF2-40B4-BE49-F238E27FC236}">
                <a16:creationId xmlns:a16="http://schemas.microsoft.com/office/drawing/2014/main" xmlns="" id="{C8DC646D-D452-6FAD-EBEE-4A96CACF1993}"/>
              </a:ext>
            </a:extLst>
          </p:cNvPr>
          <p:cNvSpPr/>
          <p:nvPr/>
        </p:nvSpPr>
        <p:spPr bwMode="auto">
          <a:xfrm>
            <a:off x="12236171" y="3727829"/>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WMS</a:t>
            </a:r>
            <a:r>
              <a:rPr lang="zh-TW" altLang="en-US" sz="1500" dirty="0">
                <a:latin typeface="微軟正黑體" panose="020B0604030504040204" pitchFamily="34" charset="-120"/>
                <a:ea typeface="微軟正黑體" panose="020B0604030504040204" pitchFamily="34" charset="-120"/>
              </a:rPr>
              <a:t>系統</a:t>
            </a:r>
            <a:endParaRPr lang="en-US" altLang="zh-TW" sz="1500" dirty="0">
              <a:latin typeface="微軟正黑體" panose="020B0604030504040204" pitchFamily="34" charset="-120"/>
              <a:ea typeface="微軟正黑體" panose="020B0604030504040204" pitchFamily="34" charset="-120"/>
            </a:endParaRPr>
          </a:p>
        </p:txBody>
      </p:sp>
      <p:cxnSp>
        <p:nvCxnSpPr>
          <p:cNvPr id="29" name="肘形接點 68">
            <a:extLst>
              <a:ext uri="{FF2B5EF4-FFF2-40B4-BE49-F238E27FC236}">
                <a16:creationId xmlns:a16="http://schemas.microsoft.com/office/drawing/2014/main" xmlns="" id="{B6745AE4-917C-1EDC-8828-83C76ACDBC22}"/>
              </a:ext>
            </a:extLst>
          </p:cNvPr>
          <p:cNvCxnSpPr>
            <a:cxnSpLocks/>
            <a:stCxn id="23" idx="3"/>
            <a:endCxn id="3" idx="1"/>
          </p:cNvCxnSpPr>
          <p:nvPr/>
        </p:nvCxnSpPr>
        <p:spPr>
          <a:xfrm flipV="1">
            <a:off x="9124334" y="2650347"/>
            <a:ext cx="670389" cy="1694034"/>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3" name="肘形接點 68">
            <a:extLst>
              <a:ext uri="{FF2B5EF4-FFF2-40B4-BE49-F238E27FC236}">
                <a16:creationId xmlns:a16="http://schemas.microsoft.com/office/drawing/2014/main" xmlns="" id="{21B0FB52-FB5D-39F8-3B50-BC7E35DA442A}"/>
              </a:ext>
            </a:extLst>
          </p:cNvPr>
          <p:cNvCxnSpPr>
            <a:cxnSpLocks/>
            <a:stCxn id="23" idx="2"/>
            <a:endCxn id="30" idx="0"/>
          </p:cNvCxnSpPr>
          <p:nvPr/>
        </p:nvCxnSpPr>
        <p:spPr>
          <a:xfrm rot="5400000">
            <a:off x="7893117" y="5242438"/>
            <a:ext cx="619236" cy="1250"/>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42" name="TextBox 46">
            <a:extLst>
              <a:ext uri="{FF2B5EF4-FFF2-40B4-BE49-F238E27FC236}">
                <a16:creationId xmlns:a16="http://schemas.microsoft.com/office/drawing/2014/main" xmlns="" id="{D699AFC7-1A8E-A2DC-795D-AD6A390A2173}"/>
              </a:ext>
            </a:extLst>
          </p:cNvPr>
          <p:cNvSpPr txBox="1"/>
          <p:nvPr/>
        </p:nvSpPr>
        <p:spPr>
          <a:xfrm>
            <a:off x="8138371" y="4958428"/>
            <a:ext cx="404262" cy="369389"/>
          </a:xfrm>
          <a:prstGeom prst="rect">
            <a:avLst/>
          </a:prstGeom>
          <a:noFill/>
        </p:spPr>
        <p:txBody>
          <a:bodyPr wrap="square" lIns="137160" tIns="68580" rIns="137160" bIns="68580" rtlCol="0">
            <a:spAutoFit/>
          </a:bodyPr>
          <a:lstStyle/>
          <a:p>
            <a:r>
              <a:rPr lang="zh-TW" altLang="en-US" sz="1500" dirty="0"/>
              <a:t>否</a:t>
            </a:r>
          </a:p>
        </p:txBody>
      </p:sp>
      <p:grpSp>
        <p:nvGrpSpPr>
          <p:cNvPr id="11" name="Group 220">
            <a:extLst>
              <a:ext uri="{FF2B5EF4-FFF2-40B4-BE49-F238E27FC236}">
                <a16:creationId xmlns:a16="http://schemas.microsoft.com/office/drawing/2014/main" xmlns="" id="{035D3E8D-D773-980C-45C5-303AD809861F}"/>
              </a:ext>
            </a:extLst>
          </p:cNvPr>
          <p:cNvGrpSpPr/>
          <p:nvPr/>
        </p:nvGrpSpPr>
        <p:grpSpPr>
          <a:xfrm>
            <a:off x="8829264" y="1959708"/>
            <a:ext cx="543519" cy="408605"/>
            <a:chOff x="5906472" y="1486857"/>
            <a:chExt cx="362346" cy="272361"/>
          </a:xfrm>
        </p:grpSpPr>
        <p:sp>
          <p:nvSpPr>
            <p:cNvPr id="51" name="Oval 221">
              <a:extLst>
                <a:ext uri="{FF2B5EF4-FFF2-40B4-BE49-F238E27FC236}">
                  <a16:creationId xmlns:a16="http://schemas.microsoft.com/office/drawing/2014/main" xmlns="" id="{EB8CEBCA-F7C3-6464-70DB-1F69946FA9A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3" name="TextBox 222">
              <a:extLst>
                <a:ext uri="{FF2B5EF4-FFF2-40B4-BE49-F238E27FC236}">
                  <a16:creationId xmlns:a16="http://schemas.microsoft.com/office/drawing/2014/main" xmlns="" id="{CBA3732A-AF3A-FBAA-CFFA-F3C5BDBAEF2E}"/>
                </a:ext>
              </a:extLst>
            </p:cNvPr>
            <p:cNvSpPr txBox="1"/>
            <p:nvPr/>
          </p:nvSpPr>
          <p:spPr>
            <a:xfrm>
              <a:off x="5913218" y="1500045"/>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grpSp>
        <p:nvGrpSpPr>
          <p:cNvPr id="19" name="Group 220">
            <a:extLst>
              <a:ext uri="{FF2B5EF4-FFF2-40B4-BE49-F238E27FC236}">
                <a16:creationId xmlns:a16="http://schemas.microsoft.com/office/drawing/2014/main" xmlns="" id="{7DF73600-7F11-E869-62D2-457CF544E3A9}"/>
              </a:ext>
            </a:extLst>
          </p:cNvPr>
          <p:cNvGrpSpPr/>
          <p:nvPr/>
        </p:nvGrpSpPr>
        <p:grpSpPr>
          <a:xfrm>
            <a:off x="6049793" y="5486124"/>
            <a:ext cx="543519" cy="408605"/>
            <a:chOff x="5906472" y="1486857"/>
            <a:chExt cx="362346" cy="272361"/>
          </a:xfrm>
        </p:grpSpPr>
        <p:sp>
          <p:nvSpPr>
            <p:cNvPr id="65" name="Oval 221">
              <a:extLst>
                <a:ext uri="{FF2B5EF4-FFF2-40B4-BE49-F238E27FC236}">
                  <a16:creationId xmlns:a16="http://schemas.microsoft.com/office/drawing/2014/main" xmlns="" id="{B53DD786-42F9-9005-7164-C37038876C51}"/>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8" name="TextBox 222">
              <a:extLst>
                <a:ext uri="{FF2B5EF4-FFF2-40B4-BE49-F238E27FC236}">
                  <a16:creationId xmlns:a16="http://schemas.microsoft.com/office/drawing/2014/main" xmlns="" id="{15256C16-71D3-B0D7-E270-CB20EAC400B8}"/>
                </a:ext>
              </a:extLst>
            </p:cNvPr>
            <p:cNvSpPr txBox="1"/>
            <p:nvPr/>
          </p:nvSpPr>
          <p:spPr>
            <a:xfrm>
              <a:off x="5913218" y="1500045"/>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grpSp>
        <p:nvGrpSpPr>
          <p:cNvPr id="20" name="Group 220">
            <a:extLst>
              <a:ext uri="{FF2B5EF4-FFF2-40B4-BE49-F238E27FC236}">
                <a16:creationId xmlns:a16="http://schemas.microsoft.com/office/drawing/2014/main" xmlns="" id="{F848FA31-285F-581D-D212-24891BC0A21D}"/>
              </a:ext>
            </a:extLst>
          </p:cNvPr>
          <p:cNvGrpSpPr/>
          <p:nvPr/>
        </p:nvGrpSpPr>
        <p:grpSpPr>
          <a:xfrm>
            <a:off x="6544793" y="8340409"/>
            <a:ext cx="533400" cy="408605"/>
            <a:chOff x="5906184" y="1486857"/>
            <a:chExt cx="355600" cy="272361"/>
          </a:xfrm>
        </p:grpSpPr>
        <p:sp>
          <p:nvSpPr>
            <p:cNvPr id="228" name="Oval 221">
              <a:extLst>
                <a:ext uri="{FF2B5EF4-FFF2-40B4-BE49-F238E27FC236}">
                  <a16:creationId xmlns:a16="http://schemas.microsoft.com/office/drawing/2014/main" xmlns="" id="{356A97A5-CB31-0C92-3F61-4C7E38116F9B}"/>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29" name="TextBox 222">
              <a:extLst>
                <a:ext uri="{FF2B5EF4-FFF2-40B4-BE49-F238E27FC236}">
                  <a16:creationId xmlns:a16="http://schemas.microsoft.com/office/drawing/2014/main" xmlns="" id="{47B4CE2C-6B17-313E-C49B-E24DC4A790A8}"/>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grpSp>
        <p:nvGrpSpPr>
          <p:cNvPr id="22" name="Group 220">
            <a:extLst>
              <a:ext uri="{FF2B5EF4-FFF2-40B4-BE49-F238E27FC236}">
                <a16:creationId xmlns:a16="http://schemas.microsoft.com/office/drawing/2014/main" xmlns="" id="{BA8EFF61-686E-E653-03F1-27B4596B915C}"/>
              </a:ext>
            </a:extLst>
          </p:cNvPr>
          <p:cNvGrpSpPr/>
          <p:nvPr/>
        </p:nvGrpSpPr>
        <p:grpSpPr>
          <a:xfrm>
            <a:off x="8839383" y="7066958"/>
            <a:ext cx="533400" cy="408605"/>
            <a:chOff x="5906184" y="1486857"/>
            <a:chExt cx="355600" cy="272361"/>
          </a:xfrm>
        </p:grpSpPr>
        <p:sp>
          <p:nvSpPr>
            <p:cNvPr id="70" name="Oval 221">
              <a:extLst>
                <a:ext uri="{FF2B5EF4-FFF2-40B4-BE49-F238E27FC236}">
                  <a16:creationId xmlns:a16="http://schemas.microsoft.com/office/drawing/2014/main" xmlns="" id="{87C7C596-5C2A-AF4D-6A67-7A03E6A41148}"/>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1" name="TextBox 222">
              <a:extLst>
                <a:ext uri="{FF2B5EF4-FFF2-40B4-BE49-F238E27FC236}">
                  <a16:creationId xmlns:a16="http://schemas.microsoft.com/office/drawing/2014/main" xmlns="" id="{53C738A6-A3D0-2920-2412-8E33BCF8794A}"/>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3" name="表格 30">
            <a:extLst>
              <a:ext uri="{FF2B5EF4-FFF2-40B4-BE49-F238E27FC236}">
                <a16:creationId xmlns:a16="http://schemas.microsoft.com/office/drawing/2014/main" xmlns="" id="{5ED664D6-D205-ED36-2694-5FCBDB7DAAA6}"/>
              </a:ext>
            </a:extLst>
          </p:cNvPr>
          <p:cNvGraphicFramePr>
            <a:graphicFrameLocks noGrp="1"/>
          </p:cNvGraphicFramePr>
          <p:nvPr>
            <p:extLst>
              <p:ext uri="{D42A27DB-BD31-4B8C-83A1-F6EECF244321}">
                <p14:modId xmlns:p14="http://schemas.microsoft.com/office/powerpoint/2010/main" xmlns="" val="2166510685"/>
              </p:ext>
            </p:extLst>
          </p:nvPr>
        </p:nvGraphicFramePr>
        <p:xfrm>
          <a:off x="9794723" y="2145369"/>
          <a:ext cx="1860324" cy="1009956"/>
        </p:xfrm>
        <a:graphic>
          <a:graphicData uri="http://schemas.openxmlformats.org/drawingml/2006/table">
            <a:tbl>
              <a:tblPr>
                <a:tableStyleId>{5940675A-B579-460E-94D1-54222C63F5DA}</a:tableStyleId>
              </a:tblPr>
              <a:tblGrid>
                <a:gridCol w="930162">
                  <a:extLst>
                    <a:ext uri="{9D8B030D-6E8A-4147-A177-3AD203B41FA5}">
                      <a16:colId xmlns:a16="http://schemas.microsoft.com/office/drawing/2014/main" xmlns="" val="3433979995"/>
                    </a:ext>
                  </a:extLst>
                </a:gridCol>
                <a:gridCol w="930162">
                  <a:extLst>
                    <a:ext uri="{9D8B030D-6E8A-4147-A177-3AD203B41FA5}">
                      <a16:colId xmlns:a16="http://schemas.microsoft.com/office/drawing/2014/main" xmlns=""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ZMM087</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52">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拋預留單至</a:t>
                      </a:r>
                      <a:r>
                        <a:rPr kumimoji="0" lang="en-US"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WMS</a:t>
                      </a:r>
                      <a:endPar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aphicFrame>
        <p:nvGraphicFramePr>
          <p:cNvPr id="40" name="表格 30">
            <a:extLst>
              <a:ext uri="{FF2B5EF4-FFF2-40B4-BE49-F238E27FC236}">
                <a16:creationId xmlns:a16="http://schemas.microsoft.com/office/drawing/2014/main" xmlns="" id="{44BEA7C9-9198-844F-A29F-3166704266EE}"/>
              </a:ext>
            </a:extLst>
          </p:cNvPr>
          <p:cNvGraphicFramePr>
            <a:graphicFrameLocks noGrp="1"/>
          </p:cNvGraphicFramePr>
          <p:nvPr>
            <p:extLst>
              <p:ext uri="{D42A27DB-BD31-4B8C-83A1-F6EECF244321}">
                <p14:modId xmlns:p14="http://schemas.microsoft.com/office/powerpoint/2010/main" xmlns="" val="4140414609"/>
              </p:ext>
            </p:extLst>
          </p:nvPr>
        </p:nvGraphicFramePr>
        <p:xfrm>
          <a:off x="9753575" y="5526771"/>
          <a:ext cx="1860324" cy="1238591"/>
        </p:xfrm>
        <a:graphic>
          <a:graphicData uri="http://schemas.openxmlformats.org/drawingml/2006/table">
            <a:tbl>
              <a:tblPr>
                <a:tableStyleId>{5940675A-B579-460E-94D1-54222C63F5DA}</a:tableStyleId>
              </a:tblPr>
              <a:tblGrid>
                <a:gridCol w="930162">
                  <a:extLst>
                    <a:ext uri="{9D8B030D-6E8A-4147-A177-3AD203B41FA5}">
                      <a16:colId xmlns:a16="http://schemas.microsoft.com/office/drawing/2014/main" xmlns="" val="3433979995"/>
                    </a:ext>
                  </a:extLst>
                </a:gridCol>
                <a:gridCol w="930162">
                  <a:extLst>
                    <a:ext uri="{9D8B030D-6E8A-4147-A177-3AD203B41FA5}">
                      <a16:colId xmlns:a16="http://schemas.microsoft.com/office/drawing/2014/main" xmlns=""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ZMM088</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87">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en-US"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WMS</a:t>
                      </a:r>
                      <a:r>
                        <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回傳預留單過帳</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73" name="肘形接點 68">
            <a:extLst>
              <a:ext uri="{FF2B5EF4-FFF2-40B4-BE49-F238E27FC236}">
                <a16:creationId xmlns:a16="http://schemas.microsoft.com/office/drawing/2014/main" xmlns="" id="{0B8AB095-2230-8414-9FD7-C0005A950EC1}"/>
              </a:ext>
            </a:extLst>
          </p:cNvPr>
          <p:cNvCxnSpPr>
            <a:cxnSpLocks/>
            <a:stCxn id="3" idx="2"/>
            <a:endCxn id="28" idx="0"/>
          </p:cNvCxnSpPr>
          <p:nvPr/>
        </p:nvCxnSpPr>
        <p:spPr>
          <a:xfrm rot="16200000" flipH="1">
            <a:off x="11647554" y="2232655"/>
            <a:ext cx="572505" cy="2417843"/>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76" name="肘形接點 68">
            <a:extLst>
              <a:ext uri="{FF2B5EF4-FFF2-40B4-BE49-F238E27FC236}">
                <a16:creationId xmlns:a16="http://schemas.microsoft.com/office/drawing/2014/main" xmlns="" id="{16BB5354-CE92-1353-64BD-EE8A56369FD5}"/>
              </a:ext>
            </a:extLst>
          </p:cNvPr>
          <p:cNvCxnSpPr>
            <a:cxnSpLocks/>
            <a:stCxn id="28" idx="2"/>
            <a:endCxn id="40" idx="0"/>
          </p:cNvCxnSpPr>
          <p:nvPr/>
        </p:nvCxnSpPr>
        <p:spPr>
          <a:xfrm rot="5400000">
            <a:off x="11633059" y="4017101"/>
            <a:ext cx="560350" cy="2458991"/>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79" name="肘形接點 68">
            <a:extLst>
              <a:ext uri="{FF2B5EF4-FFF2-40B4-BE49-F238E27FC236}">
                <a16:creationId xmlns:a16="http://schemas.microsoft.com/office/drawing/2014/main" xmlns="" id="{8B9D7684-B915-DC69-C663-95686554BC34}"/>
              </a:ext>
            </a:extLst>
          </p:cNvPr>
          <p:cNvCxnSpPr>
            <a:cxnSpLocks/>
            <a:stCxn id="40" idx="2"/>
            <a:endCxn id="205" idx="1"/>
          </p:cNvCxnSpPr>
          <p:nvPr/>
        </p:nvCxnSpPr>
        <p:spPr>
          <a:xfrm rot="16200000" flipH="1">
            <a:off x="10912394" y="6536705"/>
            <a:ext cx="1108838" cy="156615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grpSp>
        <p:nvGrpSpPr>
          <p:cNvPr id="25" name="Group 220">
            <a:extLst>
              <a:ext uri="{FF2B5EF4-FFF2-40B4-BE49-F238E27FC236}">
                <a16:creationId xmlns:a16="http://schemas.microsoft.com/office/drawing/2014/main" xmlns="" id="{F57C22EF-2BDC-F9B6-BCF7-039468E216F7}"/>
              </a:ext>
            </a:extLst>
          </p:cNvPr>
          <p:cNvGrpSpPr/>
          <p:nvPr/>
        </p:nvGrpSpPr>
        <p:grpSpPr>
          <a:xfrm>
            <a:off x="11400405" y="1959707"/>
            <a:ext cx="533400" cy="408605"/>
            <a:chOff x="5906184" y="1486857"/>
            <a:chExt cx="355600" cy="272361"/>
          </a:xfrm>
        </p:grpSpPr>
        <p:sp>
          <p:nvSpPr>
            <p:cNvPr id="95" name="Oval 221">
              <a:extLst>
                <a:ext uri="{FF2B5EF4-FFF2-40B4-BE49-F238E27FC236}">
                  <a16:creationId xmlns:a16="http://schemas.microsoft.com/office/drawing/2014/main" xmlns="" id="{AA75DF61-29DA-6269-959D-B828228516BD}"/>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6" name="TextBox 222">
              <a:extLst>
                <a:ext uri="{FF2B5EF4-FFF2-40B4-BE49-F238E27FC236}">
                  <a16:creationId xmlns:a16="http://schemas.microsoft.com/office/drawing/2014/main" xmlns="" id="{D7373917-563C-07C1-04C7-50AA63B38113}"/>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7</a:t>
              </a:r>
            </a:p>
          </p:txBody>
        </p:sp>
      </p:grpSp>
      <p:grpSp>
        <p:nvGrpSpPr>
          <p:cNvPr id="31" name="Group 220">
            <a:extLst>
              <a:ext uri="{FF2B5EF4-FFF2-40B4-BE49-F238E27FC236}">
                <a16:creationId xmlns:a16="http://schemas.microsoft.com/office/drawing/2014/main" xmlns="" id="{2D9D24A9-3257-3D1C-400D-8D57457C936F}"/>
              </a:ext>
            </a:extLst>
          </p:cNvPr>
          <p:cNvGrpSpPr/>
          <p:nvPr/>
        </p:nvGrpSpPr>
        <p:grpSpPr>
          <a:xfrm>
            <a:off x="11339877" y="5301606"/>
            <a:ext cx="533400" cy="408605"/>
            <a:chOff x="5906184" y="1486857"/>
            <a:chExt cx="355600" cy="272361"/>
          </a:xfrm>
        </p:grpSpPr>
        <p:sp>
          <p:nvSpPr>
            <p:cNvPr id="98" name="Oval 221">
              <a:extLst>
                <a:ext uri="{FF2B5EF4-FFF2-40B4-BE49-F238E27FC236}">
                  <a16:creationId xmlns:a16="http://schemas.microsoft.com/office/drawing/2014/main" xmlns="" id="{CCF0CFCE-B6D6-2D09-68D4-D3E1760C0D7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9" name="TextBox 222">
              <a:extLst>
                <a:ext uri="{FF2B5EF4-FFF2-40B4-BE49-F238E27FC236}">
                  <a16:creationId xmlns:a16="http://schemas.microsoft.com/office/drawing/2014/main" xmlns="" id="{EA17683E-E4C2-2FEC-8CA5-6C1D73A3C548}"/>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8</a:t>
              </a:r>
              <a:endParaRPr lang="zh-TW" altLang="en-US" sz="1500" dirty="0">
                <a:latin typeface="微軟正黑體" panose="020B0604030504040204" pitchFamily="34" charset="-120"/>
                <a:ea typeface="微軟正黑體" panose="020B0604030504040204" pitchFamily="34" charset="-120"/>
              </a:endParaRPr>
            </a:p>
          </p:txBody>
        </p:sp>
      </p:grpSp>
      <p:sp>
        <p:nvSpPr>
          <p:cNvPr id="83"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1</a:t>
            </a:r>
            <a:endParaRPr lang="en-US" sz="1600" b="0" strike="noStrike" spc="-1" dirty="0">
              <a:solidFill>
                <a:srgbClr val="000000"/>
              </a:solidFill>
              <a:latin typeface="Calibri"/>
            </a:endParaRPr>
          </a:p>
        </p:txBody>
      </p:sp>
      <p:sp>
        <p:nvSpPr>
          <p:cNvPr id="66" name="TextBox 2"/>
          <p:cNvSpPr/>
          <p:nvPr/>
        </p:nvSpPr>
        <p:spPr>
          <a:xfrm>
            <a:off x="16787866" y="735228"/>
            <a:ext cx="1357322" cy="33710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2025/07/22</a:t>
            </a:r>
            <a:endParaRPr lang="en-US" sz="1600" b="0" strike="noStrike" spc="-1" dirty="0">
              <a:solidFill>
                <a:srgbClr val="000000"/>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cxnSp>
        <p:nvCxnSpPr>
          <p:cNvPr id="6" name="Straight Connector 284">
            <a:extLst>
              <a:ext uri="{FF2B5EF4-FFF2-40B4-BE49-F238E27FC236}">
                <a16:creationId xmlns:a16="http://schemas.microsoft.com/office/drawing/2014/main" xmlns="" id="{9B19B4BF-9599-B835-12D9-B67512228A7B}"/>
              </a:ext>
            </a:extLst>
          </p:cNvPr>
          <p:cNvCxnSpPr>
            <a:cxnSpLocks/>
          </p:cNvCxnSpPr>
          <p:nvPr/>
        </p:nvCxnSpPr>
        <p:spPr>
          <a:xfrm>
            <a:off x="5702822" y="1417841"/>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53">
            <a:extLst>
              <a:ext uri="{FF2B5EF4-FFF2-40B4-BE49-F238E27FC236}">
                <a16:creationId xmlns:a16="http://schemas.microsoft.com/office/drawing/2014/main" xmlns="" id="{30381EE2-3320-4812-6081-3A15B03E8B32}"/>
              </a:ext>
            </a:extLst>
          </p:cNvPr>
          <p:cNvSpPr txBox="1"/>
          <p:nvPr/>
        </p:nvSpPr>
        <p:spPr>
          <a:xfrm>
            <a:off x="14394343" y="2013759"/>
            <a:ext cx="3594197" cy="4570482"/>
          </a:xfrm>
          <a:prstGeom prst="rect">
            <a:avLst/>
          </a:prstGeom>
          <a:noFill/>
        </p:spPr>
        <p:txBody>
          <a:bodyPr wrap="square" lIns="137160" tIns="68580" rIns="137160" bIns="68580" rtlCol="0">
            <a:spAutoFit/>
          </a:bodyPr>
          <a:lstStyle/>
          <a:p>
            <a:pPr marL="342900" indent="-342900">
              <a:buFont typeface="+mj-lt"/>
              <a:buAutoNum type="arabicPeriod"/>
            </a:pPr>
            <a:r>
              <a:rPr lang="zh-TW" altLang="en-US" dirty="0"/>
              <a:t>需求單位填寫庶務性領料申請單，指定成本中心，用庶務性領料申請作業領用庶務類的物料</a:t>
            </a:r>
            <a:r>
              <a:rPr lang="en-US" altLang="zh-TW" dirty="0"/>
              <a:t>(</a:t>
            </a:r>
            <a:r>
              <a:rPr lang="zh-TW" altLang="en-US" dirty="0">
                <a:solidFill>
                  <a:srgbClr val="FF0000"/>
                </a:solidFill>
              </a:rPr>
              <a:t>物料</a:t>
            </a:r>
            <a:r>
              <a:rPr lang="en-US" altLang="zh-TW" dirty="0">
                <a:solidFill>
                  <a:srgbClr val="FF0000"/>
                </a:solidFill>
              </a:rPr>
              <a:t>Y</a:t>
            </a:r>
            <a:r>
              <a:rPr lang="zh-TW" altLang="en-US" dirty="0">
                <a:solidFill>
                  <a:srgbClr val="FF0000"/>
                </a:solidFill>
              </a:rPr>
              <a:t>開頭</a:t>
            </a:r>
            <a:r>
              <a:rPr lang="en-US" altLang="zh-TW" dirty="0"/>
              <a:t>)</a:t>
            </a:r>
            <a:r>
              <a:rPr lang="zh-TW" altLang="en-US" dirty="0"/>
              <a:t>，包含以下這些庶務大類</a:t>
            </a:r>
            <a:r>
              <a:rPr lang="en-US" altLang="zh-TW" dirty="0"/>
              <a:t>:</a:t>
            </a:r>
            <a:r>
              <a:rPr lang="zh-TW" altLang="en-US" dirty="0"/>
              <a:t> 文具用品</a:t>
            </a:r>
            <a:r>
              <a:rPr lang="en-US" altLang="zh-TW" dirty="0"/>
              <a:t>/</a:t>
            </a:r>
            <a:r>
              <a:rPr lang="zh-TW" altLang="en-US" dirty="0"/>
              <a:t>電腦周邊配件</a:t>
            </a:r>
            <a:r>
              <a:rPr lang="en-US" altLang="zh-TW" dirty="0"/>
              <a:t>(</a:t>
            </a:r>
            <a:r>
              <a:rPr lang="zh-TW" altLang="en-US" dirty="0"/>
              <a:t>批量預購</a:t>
            </a:r>
            <a:r>
              <a:rPr lang="en-US" altLang="zh-TW" dirty="0"/>
              <a:t>)</a:t>
            </a:r>
            <a:r>
              <a:rPr lang="zh-TW" altLang="en-US" dirty="0"/>
              <a:t>、工廠物料、總務庶務用品、制工具領用。</a:t>
            </a:r>
            <a:endParaRPr lang="en-US" altLang="zh-TW" dirty="0"/>
          </a:p>
          <a:p>
            <a:pPr marL="342900" indent="-342900">
              <a:buFont typeface="+mj-lt"/>
              <a:buAutoNum type="arabicPeriod"/>
            </a:pPr>
            <a:r>
              <a:rPr lang="zh-TW" altLang="en-US" dirty="0"/>
              <a:t>發起</a:t>
            </a:r>
            <a:r>
              <a:rPr lang="en-US" altLang="zh-TW" dirty="0"/>
              <a:t>BPM</a:t>
            </a:r>
            <a:r>
              <a:rPr lang="zh-TW" altLang="en-US" dirty="0"/>
              <a:t>簽核，由</a:t>
            </a:r>
            <a:r>
              <a:rPr lang="en-US" altLang="zh-TW" dirty="0"/>
              <a:t>BPM</a:t>
            </a:r>
            <a:r>
              <a:rPr lang="zh-TW" altLang="en-US" dirty="0"/>
              <a:t>依據庶務保管單位作出不同的簽核流程。</a:t>
            </a:r>
            <a:endParaRPr lang="en-US" altLang="zh-TW" dirty="0"/>
          </a:p>
          <a:p>
            <a:pPr marL="342900" indent="-342900">
              <a:buFont typeface="+mj-lt"/>
              <a:buAutoNum type="arabicPeriod"/>
            </a:pPr>
            <a:r>
              <a:rPr lang="zh-TW" altLang="en-US" dirty="0"/>
              <a:t>當審核通通的部門領用申請單則回傳給</a:t>
            </a:r>
            <a:r>
              <a:rPr lang="en-US" altLang="zh-TW" dirty="0"/>
              <a:t>SAP</a:t>
            </a:r>
            <a:r>
              <a:rPr lang="zh-TW" altLang="en-US" dirty="0"/>
              <a:t>去建立庶務性領用的預留單。</a:t>
            </a:r>
            <a:endParaRPr lang="en-US" altLang="zh-TW" dirty="0"/>
          </a:p>
          <a:p>
            <a:pPr marL="342900" indent="-342900">
              <a:buFont typeface="+mj-lt"/>
              <a:buAutoNum type="arabicPeriod"/>
            </a:pPr>
            <a:r>
              <a:rPr lang="zh-TW" altLang="en-US" dirty="0"/>
              <a:t>庶務性保管人員依據庶務性領用申請單做領料過帳作業。</a:t>
            </a:r>
            <a:endParaRPr lang="en-US" altLang="zh-TW" dirty="0"/>
          </a:p>
          <a:p>
            <a:endParaRPr lang="en-US" altLang="zh-TW" dirty="0"/>
          </a:p>
        </p:txBody>
      </p:sp>
      <p:sp>
        <p:nvSpPr>
          <p:cNvPr id="8" name="文字方塊 17">
            <a:extLst>
              <a:ext uri="{FF2B5EF4-FFF2-40B4-BE49-F238E27FC236}">
                <a16:creationId xmlns:a16="http://schemas.microsoft.com/office/drawing/2014/main" xmlns="" id="{A3961CAE-69E4-A1C1-045A-63D595BA671B}"/>
              </a:ext>
            </a:extLst>
          </p:cNvPr>
          <p:cNvSpPr txBox="1"/>
          <p:nvPr/>
        </p:nvSpPr>
        <p:spPr>
          <a:xfrm>
            <a:off x="3254924" y="1372623"/>
            <a:ext cx="1853246" cy="400110"/>
          </a:xfrm>
          <a:prstGeom prst="rect">
            <a:avLst/>
          </a:prstGeom>
          <a:noFill/>
        </p:spPr>
        <p:txBody>
          <a:bodyPr wrap="square" lIns="137160" tIns="68580" rIns="137160" bIns="68580" rtlCol="0">
            <a:spAutoFit/>
          </a:bodyPr>
          <a:lstStyle/>
          <a:p>
            <a:pPr algn="ctr"/>
            <a:r>
              <a:rPr lang="zh-TW" altLang="en-US" sz="1700" dirty="0"/>
              <a:t>需求單位</a:t>
            </a:r>
          </a:p>
        </p:txBody>
      </p:sp>
      <p:sp>
        <p:nvSpPr>
          <p:cNvPr id="48" name="文字方塊 17">
            <a:extLst>
              <a:ext uri="{FF2B5EF4-FFF2-40B4-BE49-F238E27FC236}">
                <a16:creationId xmlns:a16="http://schemas.microsoft.com/office/drawing/2014/main" xmlns="" id="{0F2761B4-5F29-64DD-1721-5831D073894C}"/>
              </a:ext>
            </a:extLst>
          </p:cNvPr>
          <p:cNvSpPr txBox="1"/>
          <p:nvPr/>
        </p:nvSpPr>
        <p:spPr>
          <a:xfrm>
            <a:off x="9458129" y="1417840"/>
            <a:ext cx="1853246" cy="400110"/>
          </a:xfrm>
          <a:prstGeom prst="rect">
            <a:avLst/>
          </a:prstGeom>
          <a:noFill/>
        </p:spPr>
        <p:txBody>
          <a:bodyPr wrap="square" lIns="137160" tIns="68580" rIns="137160" bIns="68580" rtlCol="0">
            <a:spAutoFit/>
          </a:bodyPr>
          <a:lstStyle/>
          <a:p>
            <a:pPr algn="ctr"/>
            <a:r>
              <a:rPr lang="zh-TW" altLang="en-US" sz="1700" dirty="0"/>
              <a:t>總務</a:t>
            </a:r>
            <a:r>
              <a:rPr lang="en-US" altLang="zh-TW" sz="1700" dirty="0"/>
              <a:t>/</a:t>
            </a:r>
            <a:r>
              <a:rPr lang="zh-TW" altLang="en-US" sz="1700" dirty="0"/>
              <a:t>開發部門</a:t>
            </a:r>
          </a:p>
        </p:txBody>
      </p:sp>
      <p:sp>
        <p:nvSpPr>
          <p:cNvPr id="60" name="文字方塊 59">
            <a:extLst>
              <a:ext uri="{FF2B5EF4-FFF2-40B4-BE49-F238E27FC236}">
                <a16:creationId xmlns:a16="http://schemas.microsoft.com/office/drawing/2014/main" xmlns="" id="{8ECF4CE1-DDC2-62E8-3C4E-7ECD29FF75F3}"/>
              </a:ext>
            </a:extLst>
          </p:cNvPr>
          <p:cNvSpPr txBox="1"/>
          <p:nvPr/>
        </p:nvSpPr>
        <p:spPr>
          <a:xfrm>
            <a:off x="2507711" y="839616"/>
            <a:ext cx="7218711" cy="415498"/>
          </a:xfrm>
          <a:prstGeom prst="rect">
            <a:avLst/>
          </a:prstGeom>
          <a:noFill/>
        </p:spPr>
        <p:txBody>
          <a:bodyPr wrap="square" lIns="137160" tIns="68580" rIns="137160" bIns="68580">
            <a:spAutoFit/>
          </a:bodyPr>
          <a:lstStyle/>
          <a:p>
            <a:pPr eaLnBrk="0" hangingPunct="0"/>
            <a:r>
              <a:rPr kumimoji="0" lang="en-US" altLang="zh-TW" b="1" dirty="0">
                <a:latin typeface="微軟正黑體" panose="020B0604030504040204" pitchFamily="34" charset="-120"/>
                <a:ea typeface="微軟正黑體" panose="020B0604030504040204" pitchFamily="34" charset="-120"/>
              </a:rPr>
              <a:t>MM-IM-00</a:t>
            </a:r>
            <a:r>
              <a:rPr lang="en-US" altLang="zh-TW" b="1" dirty="0">
                <a:latin typeface="微軟正黑體" panose="020B0604030504040204" pitchFamily="34" charset="-120"/>
                <a:ea typeface="微軟正黑體" panose="020B0604030504040204" pitchFamily="34" charset="-120"/>
              </a:rPr>
              <a:t>5</a:t>
            </a:r>
            <a:r>
              <a:rPr kumimoji="0" lang="en-US" altLang="zh-TW" b="1" dirty="0">
                <a:latin typeface="微軟正黑體" panose="020B0604030504040204" pitchFamily="34" charset="-120"/>
                <a:ea typeface="微軟正黑體" panose="020B0604030504040204" pitchFamily="34" charset="-120"/>
              </a:rPr>
              <a:t>0-02 </a:t>
            </a:r>
            <a:r>
              <a:rPr kumimoji="0" lang="zh-TW" altLang="en-US" b="1" dirty="0">
                <a:latin typeface="微軟正黑體" panose="020B0604030504040204" pitchFamily="34" charset="-120"/>
                <a:ea typeface="微軟正黑體" panose="020B0604030504040204" pitchFamily="34" charset="-120"/>
              </a:rPr>
              <a:t>部門領用庶務用品</a:t>
            </a:r>
          </a:p>
        </p:txBody>
      </p:sp>
      <p:sp>
        <p:nvSpPr>
          <p:cNvPr id="205" name="流程圖: 結束點 204">
            <a:extLst>
              <a:ext uri="{FF2B5EF4-FFF2-40B4-BE49-F238E27FC236}">
                <a16:creationId xmlns:a16="http://schemas.microsoft.com/office/drawing/2014/main" xmlns="" id="{AF6DEB4F-42E0-79A4-1C86-971AEA2097AF}"/>
              </a:ext>
            </a:extLst>
          </p:cNvPr>
          <p:cNvSpPr/>
          <p:nvPr/>
        </p:nvSpPr>
        <p:spPr bwMode="auto">
          <a:xfrm>
            <a:off x="12222455" y="8611345"/>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26" name="肘形接點 68">
            <a:extLst>
              <a:ext uri="{FF2B5EF4-FFF2-40B4-BE49-F238E27FC236}">
                <a16:creationId xmlns:a16="http://schemas.microsoft.com/office/drawing/2014/main" xmlns="" id="{66E28980-1EE1-C5F9-8A46-65685EE64FF1}"/>
              </a:ext>
            </a:extLst>
          </p:cNvPr>
          <p:cNvCxnSpPr>
            <a:cxnSpLocks/>
            <a:stCxn id="2" idx="3"/>
            <a:endCxn id="19" idx="1"/>
          </p:cNvCxnSpPr>
          <p:nvPr/>
        </p:nvCxnSpPr>
        <p:spPr>
          <a:xfrm>
            <a:off x="2236082" y="2998511"/>
            <a:ext cx="1004819" cy="1209"/>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41" name="表格 30">
            <a:extLst>
              <a:ext uri="{FF2B5EF4-FFF2-40B4-BE49-F238E27FC236}">
                <a16:creationId xmlns:a16="http://schemas.microsoft.com/office/drawing/2014/main" xmlns="" id="{854A0700-9A9F-B567-634C-89968BA305A7}"/>
              </a:ext>
            </a:extLst>
          </p:cNvPr>
          <p:cNvGraphicFramePr>
            <a:graphicFrameLocks noGrp="1"/>
          </p:cNvGraphicFramePr>
          <p:nvPr>
            <p:extLst>
              <p:ext uri="{D42A27DB-BD31-4B8C-83A1-F6EECF244321}">
                <p14:modId xmlns:p14="http://schemas.microsoft.com/office/powerpoint/2010/main" xmlns="" val="59936606"/>
              </p:ext>
            </p:extLst>
          </p:nvPr>
        </p:nvGraphicFramePr>
        <p:xfrm>
          <a:off x="9308993" y="7357295"/>
          <a:ext cx="1860324" cy="1467120"/>
        </p:xfrm>
        <a:graphic>
          <a:graphicData uri="http://schemas.openxmlformats.org/drawingml/2006/table">
            <a:tbl>
              <a:tblPr>
                <a:tableStyleId>{5940675A-B579-460E-94D1-54222C63F5DA}</a:tableStyleId>
              </a:tblPr>
              <a:tblGrid>
                <a:gridCol w="930162">
                  <a:extLst>
                    <a:ext uri="{9D8B030D-6E8A-4147-A177-3AD203B41FA5}">
                      <a16:colId xmlns:a16="http://schemas.microsoft.com/office/drawing/2014/main" xmlns="" val="3433979995"/>
                    </a:ext>
                  </a:extLst>
                </a:gridCol>
                <a:gridCol w="930162">
                  <a:extLst>
                    <a:ext uri="{9D8B030D-6E8A-4147-A177-3AD203B41FA5}">
                      <a16:colId xmlns:a16="http://schemas.microsoft.com/office/drawing/2014/main" xmlns=""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MIGO</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87">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lang="zh-TW" altLang="en-US" sz="1500" dirty="0" smtClean="0">
                          <a:latin typeface="微軟正黑體" panose="020B0604030504040204" pitchFamily="34" charset="-120"/>
                          <a:ea typeface="微軟正黑體" panose="020B0604030504040204" pitchFamily="34" charset="-120"/>
                        </a:rPr>
                        <a:t>參考預留單庶務</a:t>
                      </a:r>
                      <a:r>
                        <a:rPr lang="zh-TW" altLang="en-US" sz="1500" dirty="0">
                          <a:latin typeface="微軟正黑體" panose="020B0604030504040204" pitchFamily="34" charset="-120"/>
                          <a:ea typeface="微軟正黑體" panose="020B0604030504040204" pitchFamily="34" charset="-120"/>
                        </a:rPr>
                        <a:t>性領用</a:t>
                      </a:r>
                      <a:endParaRPr lang="en-US" altLang="zh-TW" sz="1500" dirty="0">
                        <a:latin typeface="微軟正黑體" panose="020B0604030504040204" pitchFamily="34" charset="-120"/>
                        <a:ea typeface="微軟正黑體" panose="020B0604030504040204" pitchFamily="34" charset="-120"/>
                      </a:endParaRPr>
                    </a:p>
                    <a:p>
                      <a:pPr algn="ctr" eaLnBrk="0" hangingPunct="0"/>
                      <a:r>
                        <a:rPr kumimoji="0" lang="en-US"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(Mvt.</a:t>
                      </a:r>
                      <a:r>
                        <a:rPr kumimoji="0" lang="en-US" altLang="zh-TW" sz="1500" b="0" i="0" u="none" strike="noStrike" cap="none" dirty="0">
                          <a:solidFill>
                            <a:srgbClr val="FF0000"/>
                          </a:solidFill>
                          <a:latin typeface="微軟正黑體" panose="020B0604030504040204" pitchFamily="34" charset="-120"/>
                          <a:ea typeface="微軟正黑體" panose="020B0604030504040204" pitchFamily="34" charset="-120"/>
                          <a:cs typeface="+mn-cs"/>
                          <a:sym typeface="Arial"/>
                        </a:rPr>
                        <a:t>901</a:t>
                      </a:r>
                      <a:r>
                        <a:rPr kumimoji="0" lang="en-US"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a:t>
                      </a:r>
                      <a:endPar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230" name="肘形接點 68">
            <a:extLst>
              <a:ext uri="{FF2B5EF4-FFF2-40B4-BE49-F238E27FC236}">
                <a16:creationId xmlns:a16="http://schemas.microsoft.com/office/drawing/2014/main" xmlns="" id="{D6DDC060-067B-1B07-0195-F13705EFFF6A}"/>
              </a:ext>
            </a:extLst>
          </p:cNvPr>
          <p:cNvCxnSpPr>
            <a:cxnSpLocks/>
            <a:stCxn id="9" idx="3"/>
            <a:endCxn id="47" idx="1"/>
          </p:cNvCxnSpPr>
          <p:nvPr/>
        </p:nvCxnSpPr>
        <p:spPr>
          <a:xfrm>
            <a:off x="7907329" y="4469494"/>
            <a:ext cx="1395362" cy="4019"/>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30" name="表格 30">
            <a:extLst>
              <a:ext uri="{FF2B5EF4-FFF2-40B4-BE49-F238E27FC236}">
                <a16:creationId xmlns:a16="http://schemas.microsoft.com/office/drawing/2014/main" xmlns="" id="{65A6C6AC-E57A-9C7C-1A87-626216D58613}"/>
              </a:ext>
            </a:extLst>
          </p:cNvPr>
          <p:cNvGraphicFramePr>
            <a:graphicFrameLocks noGrp="1"/>
          </p:cNvGraphicFramePr>
          <p:nvPr>
            <p:extLst>
              <p:ext uri="{D42A27DB-BD31-4B8C-83A1-F6EECF244321}">
                <p14:modId xmlns:p14="http://schemas.microsoft.com/office/powerpoint/2010/main" xmlns="" val="1632853879"/>
              </p:ext>
            </p:extLst>
          </p:nvPr>
        </p:nvGraphicFramePr>
        <p:xfrm>
          <a:off x="9336932" y="5703198"/>
          <a:ext cx="1797828" cy="1009956"/>
        </p:xfrm>
        <a:graphic>
          <a:graphicData uri="http://schemas.openxmlformats.org/drawingml/2006/table">
            <a:tbl>
              <a:tblPr>
                <a:tableStyleId>{5940675A-B579-460E-94D1-54222C63F5DA}</a:tableStyleId>
              </a:tblPr>
              <a:tblGrid>
                <a:gridCol w="898914">
                  <a:extLst>
                    <a:ext uri="{9D8B030D-6E8A-4147-A177-3AD203B41FA5}">
                      <a16:colId xmlns:a16="http://schemas.microsoft.com/office/drawing/2014/main" xmlns="" val="3433979995"/>
                    </a:ext>
                  </a:extLst>
                </a:gridCol>
                <a:gridCol w="898914">
                  <a:extLst>
                    <a:ext uri="{9D8B030D-6E8A-4147-A177-3AD203B41FA5}">
                      <a16:colId xmlns:a16="http://schemas.microsoft.com/office/drawing/2014/main" xmlns="" val="3727974752"/>
                    </a:ext>
                  </a:extLst>
                </a:gridCol>
              </a:tblGrid>
              <a:tr h="336652">
                <a:tc gridSpan="2">
                  <a:txBody>
                    <a:bodyPr/>
                    <a:lstStyle/>
                    <a:p>
                      <a:pPr algn="ctr"/>
                      <a:r>
                        <a:rPr lang="en-GB" sz="1500" b="1" dirty="0">
                          <a:solidFill>
                            <a:srgbClr val="FF0000"/>
                          </a:solidFill>
                          <a:latin typeface="微軟正黑體" panose="020B0604030504040204" pitchFamily="34" charset="-120"/>
                          <a:ea typeface="微軟正黑體" panose="020B0604030504040204" pitchFamily="34" charset="-120"/>
                        </a:rPr>
                        <a:t> </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52">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揀貨備料</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54" name="肘形接點 68">
            <a:extLst>
              <a:ext uri="{FF2B5EF4-FFF2-40B4-BE49-F238E27FC236}">
                <a16:creationId xmlns:a16="http://schemas.microsoft.com/office/drawing/2014/main" xmlns="" id="{4B191E64-F223-A8BE-14B6-8BC313234E4E}"/>
              </a:ext>
            </a:extLst>
          </p:cNvPr>
          <p:cNvCxnSpPr>
            <a:cxnSpLocks/>
            <a:stCxn id="30" idx="2"/>
            <a:endCxn id="41" idx="0"/>
          </p:cNvCxnSpPr>
          <p:nvPr/>
        </p:nvCxnSpPr>
        <p:spPr>
          <a:xfrm rot="16200000" flipH="1">
            <a:off x="9915431" y="7033569"/>
            <a:ext cx="644141" cy="3309"/>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1" name="肘形接點 68">
            <a:extLst>
              <a:ext uri="{FF2B5EF4-FFF2-40B4-BE49-F238E27FC236}">
                <a16:creationId xmlns:a16="http://schemas.microsoft.com/office/drawing/2014/main" xmlns="" id="{A68A5695-0E00-A5A6-791C-96A720688BD9}"/>
              </a:ext>
            </a:extLst>
          </p:cNvPr>
          <p:cNvCxnSpPr>
            <a:cxnSpLocks/>
            <a:stCxn id="41" idx="3"/>
            <a:endCxn id="205" idx="0"/>
          </p:cNvCxnSpPr>
          <p:nvPr/>
        </p:nvCxnSpPr>
        <p:spPr>
          <a:xfrm>
            <a:off x="11169317" y="7976590"/>
            <a:ext cx="1952054" cy="634754"/>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 name="流程圖: 結束點 1">
            <a:extLst>
              <a:ext uri="{FF2B5EF4-FFF2-40B4-BE49-F238E27FC236}">
                <a16:creationId xmlns:a16="http://schemas.microsoft.com/office/drawing/2014/main" xmlns="" id="{4C8C776D-DAEB-7D17-B096-DBA5FE0E0B72}"/>
              </a:ext>
            </a:extLst>
          </p:cNvPr>
          <p:cNvSpPr/>
          <p:nvPr/>
        </p:nvSpPr>
        <p:spPr bwMode="auto">
          <a:xfrm>
            <a:off x="438250" y="2607229"/>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sp>
        <p:nvSpPr>
          <p:cNvPr id="9" name="流程圖: 決策 50">
            <a:extLst>
              <a:ext uri="{FF2B5EF4-FFF2-40B4-BE49-F238E27FC236}">
                <a16:creationId xmlns:a16="http://schemas.microsoft.com/office/drawing/2014/main" xmlns="" id="{A1D67C27-1F5C-1D11-063E-2AAA07AE17A5}"/>
              </a:ext>
            </a:extLst>
          </p:cNvPr>
          <p:cNvSpPr/>
          <p:nvPr/>
        </p:nvSpPr>
        <p:spPr bwMode="auto">
          <a:xfrm>
            <a:off x="6065379" y="3880430"/>
            <a:ext cx="1841949" cy="1178126"/>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審核</a:t>
            </a:r>
          </a:p>
        </p:txBody>
      </p:sp>
      <p:cxnSp>
        <p:nvCxnSpPr>
          <p:cNvPr id="10" name="肘形接點 68">
            <a:extLst>
              <a:ext uri="{FF2B5EF4-FFF2-40B4-BE49-F238E27FC236}">
                <a16:creationId xmlns:a16="http://schemas.microsoft.com/office/drawing/2014/main" xmlns="" id="{050012AF-695E-8AFB-440D-B82C8270DAF8}"/>
              </a:ext>
            </a:extLst>
          </p:cNvPr>
          <p:cNvCxnSpPr>
            <a:cxnSpLocks/>
            <a:stCxn id="19" idx="3"/>
            <a:endCxn id="34" idx="1"/>
          </p:cNvCxnSpPr>
          <p:nvPr/>
        </p:nvCxnSpPr>
        <p:spPr>
          <a:xfrm flipV="1">
            <a:off x="5101225" y="2992509"/>
            <a:ext cx="951116" cy="7212"/>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7" name="TextBox 46">
            <a:extLst>
              <a:ext uri="{FF2B5EF4-FFF2-40B4-BE49-F238E27FC236}">
                <a16:creationId xmlns:a16="http://schemas.microsoft.com/office/drawing/2014/main" xmlns="" id="{C01CCBA3-F44E-18D5-91E7-8D4C2A4E01F5}"/>
              </a:ext>
            </a:extLst>
          </p:cNvPr>
          <p:cNvSpPr txBox="1"/>
          <p:nvPr/>
        </p:nvSpPr>
        <p:spPr>
          <a:xfrm>
            <a:off x="7891651" y="3953529"/>
            <a:ext cx="988706" cy="369389"/>
          </a:xfrm>
          <a:prstGeom prst="rect">
            <a:avLst/>
          </a:prstGeom>
          <a:noFill/>
        </p:spPr>
        <p:txBody>
          <a:bodyPr wrap="square" lIns="137160" tIns="68580" rIns="137160" bIns="68580" rtlCol="0">
            <a:spAutoFit/>
          </a:bodyPr>
          <a:lstStyle/>
          <a:p>
            <a:r>
              <a:rPr lang="en-US" altLang="zh-TW" sz="1500" dirty="0"/>
              <a:t>OK</a:t>
            </a:r>
            <a:endParaRPr lang="zh-TW" altLang="en-US" sz="1500" dirty="0"/>
          </a:p>
        </p:txBody>
      </p:sp>
      <p:cxnSp>
        <p:nvCxnSpPr>
          <p:cNvPr id="18" name="肘形接點 68">
            <a:extLst>
              <a:ext uri="{FF2B5EF4-FFF2-40B4-BE49-F238E27FC236}">
                <a16:creationId xmlns:a16="http://schemas.microsoft.com/office/drawing/2014/main" xmlns="" id="{31A7BFCF-9D3A-D770-D4AB-266170DDBDA6}"/>
              </a:ext>
            </a:extLst>
          </p:cNvPr>
          <p:cNvCxnSpPr>
            <a:cxnSpLocks/>
            <a:stCxn id="34" idx="2"/>
            <a:endCxn id="9" idx="0"/>
          </p:cNvCxnSpPr>
          <p:nvPr/>
        </p:nvCxnSpPr>
        <p:spPr>
          <a:xfrm rot="16200000" flipH="1">
            <a:off x="6792956" y="3687032"/>
            <a:ext cx="382943" cy="3852"/>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7" name="TextBox 46">
            <a:extLst>
              <a:ext uri="{FF2B5EF4-FFF2-40B4-BE49-F238E27FC236}">
                <a16:creationId xmlns:a16="http://schemas.microsoft.com/office/drawing/2014/main" xmlns="" id="{77E2C2FD-C93F-BDB7-00E8-6D9DA3DBE0B5}"/>
              </a:ext>
            </a:extLst>
          </p:cNvPr>
          <p:cNvSpPr txBox="1"/>
          <p:nvPr/>
        </p:nvSpPr>
        <p:spPr>
          <a:xfrm>
            <a:off x="7061084" y="5261685"/>
            <a:ext cx="988706" cy="369389"/>
          </a:xfrm>
          <a:prstGeom prst="rect">
            <a:avLst/>
          </a:prstGeom>
          <a:noFill/>
        </p:spPr>
        <p:txBody>
          <a:bodyPr wrap="square" lIns="137160" tIns="68580" rIns="137160" bIns="68580" rtlCol="0">
            <a:spAutoFit/>
          </a:bodyPr>
          <a:lstStyle/>
          <a:p>
            <a:r>
              <a:rPr lang="en-US" altLang="zh-TW" sz="1500" dirty="0"/>
              <a:t>NG</a:t>
            </a:r>
            <a:endParaRPr lang="zh-TW" altLang="en-US" sz="1500" dirty="0"/>
          </a:p>
        </p:txBody>
      </p:sp>
      <p:graphicFrame>
        <p:nvGraphicFramePr>
          <p:cNvPr id="19" name="表格 30">
            <a:extLst>
              <a:ext uri="{FF2B5EF4-FFF2-40B4-BE49-F238E27FC236}">
                <a16:creationId xmlns:a16="http://schemas.microsoft.com/office/drawing/2014/main" xmlns="" id="{CC75B91C-9A14-8C6F-3F94-98860C9E0ED7}"/>
              </a:ext>
            </a:extLst>
          </p:cNvPr>
          <p:cNvGraphicFramePr>
            <a:graphicFrameLocks noGrp="1"/>
          </p:cNvGraphicFramePr>
          <p:nvPr>
            <p:extLst>
              <p:ext uri="{D42A27DB-BD31-4B8C-83A1-F6EECF244321}">
                <p14:modId xmlns:p14="http://schemas.microsoft.com/office/powerpoint/2010/main" xmlns="" val="3591002394"/>
              </p:ext>
            </p:extLst>
          </p:nvPr>
        </p:nvGraphicFramePr>
        <p:xfrm>
          <a:off x="3240900" y="2369960"/>
          <a:ext cx="1860324" cy="1259523"/>
        </p:xfrm>
        <a:graphic>
          <a:graphicData uri="http://schemas.openxmlformats.org/drawingml/2006/table">
            <a:tbl>
              <a:tblPr>
                <a:tableStyleId>{5940675A-B579-460E-94D1-54222C63F5DA}</a:tableStyleId>
              </a:tblPr>
              <a:tblGrid>
                <a:gridCol w="930162">
                  <a:extLst>
                    <a:ext uri="{9D8B030D-6E8A-4147-A177-3AD203B41FA5}">
                      <a16:colId xmlns:a16="http://schemas.microsoft.com/office/drawing/2014/main" xmlns="" val="3433979995"/>
                    </a:ext>
                  </a:extLst>
                </a:gridCol>
                <a:gridCol w="930162">
                  <a:extLst>
                    <a:ext uri="{9D8B030D-6E8A-4147-A177-3AD203B41FA5}">
                      <a16:colId xmlns:a16="http://schemas.microsoft.com/office/drawing/2014/main" xmlns="" val="3727974752"/>
                    </a:ext>
                  </a:extLst>
                </a:gridCol>
              </a:tblGrid>
              <a:tr h="419841">
                <a:tc gridSpan="2">
                  <a:txBody>
                    <a:bodyPr/>
                    <a:lstStyle/>
                    <a:p>
                      <a:pPr algn="ctr"/>
                      <a:endParaRPr lang="en-GB" sz="1500" b="1" dirty="0">
                        <a:solidFill>
                          <a:schemeClr val="tx1"/>
                        </a:solidFill>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419841">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庶務領用申請單</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419841">
                <a:tc>
                  <a:txBody>
                    <a:bodyPr/>
                    <a:lstStyle/>
                    <a:p>
                      <a:pPr algn="ctr"/>
                      <a:r>
                        <a:rPr lang="en-US"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3" name="Group 220">
            <a:extLst>
              <a:ext uri="{FF2B5EF4-FFF2-40B4-BE49-F238E27FC236}">
                <a16:creationId xmlns:a16="http://schemas.microsoft.com/office/drawing/2014/main" xmlns="" id="{A9B401BC-DE49-5FC0-6565-D216316A23DA}"/>
              </a:ext>
            </a:extLst>
          </p:cNvPr>
          <p:cNvGrpSpPr/>
          <p:nvPr/>
        </p:nvGrpSpPr>
        <p:grpSpPr>
          <a:xfrm>
            <a:off x="4995605" y="2198624"/>
            <a:ext cx="533400" cy="408605"/>
            <a:chOff x="5906184" y="1486857"/>
            <a:chExt cx="355600" cy="272361"/>
          </a:xfrm>
        </p:grpSpPr>
        <p:sp>
          <p:nvSpPr>
            <p:cNvPr id="4" name="Oval 221">
              <a:extLst>
                <a:ext uri="{FF2B5EF4-FFF2-40B4-BE49-F238E27FC236}">
                  <a16:creationId xmlns:a16="http://schemas.microsoft.com/office/drawing/2014/main" xmlns=""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5" name="TextBox 222">
              <a:extLst>
                <a:ext uri="{FF2B5EF4-FFF2-40B4-BE49-F238E27FC236}">
                  <a16:creationId xmlns:a16="http://schemas.microsoft.com/office/drawing/2014/main" xmlns="" id="{38213EC1-2A6F-CC6F-9F41-D87C1E84A2C8}"/>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34" name="表格 30">
            <a:extLst>
              <a:ext uri="{FF2B5EF4-FFF2-40B4-BE49-F238E27FC236}">
                <a16:creationId xmlns:a16="http://schemas.microsoft.com/office/drawing/2014/main" xmlns="" id="{30DCBE68-70FF-4BE7-DF28-70DA7D140F7D}"/>
              </a:ext>
            </a:extLst>
          </p:cNvPr>
          <p:cNvGraphicFramePr>
            <a:graphicFrameLocks noGrp="1"/>
          </p:cNvGraphicFramePr>
          <p:nvPr>
            <p:extLst>
              <p:ext uri="{D42A27DB-BD31-4B8C-83A1-F6EECF244321}">
                <p14:modId xmlns:p14="http://schemas.microsoft.com/office/powerpoint/2010/main" xmlns="" val="1341052048"/>
              </p:ext>
            </p:extLst>
          </p:nvPr>
        </p:nvGraphicFramePr>
        <p:xfrm>
          <a:off x="6052340" y="2487531"/>
          <a:ext cx="1860324" cy="1009956"/>
        </p:xfrm>
        <a:graphic>
          <a:graphicData uri="http://schemas.openxmlformats.org/drawingml/2006/table">
            <a:tbl>
              <a:tblPr>
                <a:tableStyleId>{5940675A-B579-460E-94D1-54222C63F5DA}</a:tableStyleId>
              </a:tblPr>
              <a:tblGrid>
                <a:gridCol w="930162">
                  <a:extLst>
                    <a:ext uri="{9D8B030D-6E8A-4147-A177-3AD203B41FA5}">
                      <a16:colId xmlns:a16="http://schemas.microsoft.com/office/drawing/2014/main" xmlns="" val="3433979995"/>
                    </a:ext>
                  </a:extLst>
                </a:gridCol>
                <a:gridCol w="930162">
                  <a:extLst>
                    <a:ext uri="{9D8B030D-6E8A-4147-A177-3AD203B41FA5}">
                      <a16:colId xmlns:a16="http://schemas.microsoft.com/office/drawing/2014/main" xmlns="" val="3727974752"/>
                    </a:ext>
                  </a:extLst>
                </a:gridCol>
              </a:tblGrid>
              <a:tr h="336652">
                <a:tc gridSpan="2">
                  <a:txBody>
                    <a:bodyPr/>
                    <a:lstStyle/>
                    <a:p>
                      <a:pPr algn="ctr"/>
                      <a:endParaRPr lang="en-GB" sz="1500" b="1" dirty="0">
                        <a:solidFill>
                          <a:schemeClr val="tx1"/>
                        </a:solidFill>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52">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簽核</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37" name="Straight Connector 284">
            <a:extLst>
              <a:ext uri="{FF2B5EF4-FFF2-40B4-BE49-F238E27FC236}">
                <a16:creationId xmlns:a16="http://schemas.microsoft.com/office/drawing/2014/main" xmlns="" id="{EE54716B-3DE2-881D-C192-C8473F619EFD}"/>
              </a:ext>
            </a:extLst>
          </p:cNvPr>
          <p:cNvCxnSpPr>
            <a:cxnSpLocks/>
          </p:cNvCxnSpPr>
          <p:nvPr/>
        </p:nvCxnSpPr>
        <p:spPr>
          <a:xfrm>
            <a:off x="8465072" y="1372624"/>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文字方塊 17">
            <a:extLst>
              <a:ext uri="{FF2B5EF4-FFF2-40B4-BE49-F238E27FC236}">
                <a16:creationId xmlns:a16="http://schemas.microsoft.com/office/drawing/2014/main" xmlns="" id="{64253AAF-1F03-1589-BB26-4B652380CE6C}"/>
              </a:ext>
            </a:extLst>
          </p:cNvPr>
          <p:cNvSpPr txBox="1"/>
          <p:nvPr/>
        </p:nvSpPr>
        <p:spPr>
          <a:xfrm>
            <a:off x="6115298" y="1385060"/>
            <a:ext cx="2175950" cy="661720"/>
          </a:xfrm>
          <a:prstGeom prst="rect">
            <a:avLst/>
          </a:prstGeom>
          <a:noFill/>
        </p:spPr>
        <p:txBody>
          <a:bodyPr wrap="square" lIns="137160" tIns="68580" rIns="137160" bIns="68580" rtlCol="0">
            <a:spAutoFit/>
          </a:bodyPr>
          <a:lstStyle/>
          <a:p>
            <a:pPr algn="ctr"/>
            <a:r>
              <a:rPr lang="zh-TW" altLang="en-US" sz="1700" dirty="0"/>
              <a:t>主管</a:t>
            </a:r>
            <a:r>
              <a:rPr lang="en-US" altLang="zh-TW" sz="1700" dirty="0"/>
              <a:t>/</a:t>
            </a:r>
            <a:r>
              <a:rPr lang="zh-TW" altLang="en-US" sz="1700" dirty="0"/>
              <a:t>總務</a:t>
            </a:r>
            <a:r>
              <a:rPr lang="en-US" altLang="zh-TW" sz="1700" dirty="0"/>
              <a:t>/</a:t>
            </a:r>
            <a:r>
              <a:rPr lang="zh-TW" altLang="en-US" sz="1700" dirty="0"/>
              <a:t>開發部門</a:t>
            </a:r>
            <a:endParaRPr lang="en-US" altLang="zh-TW" sz="1700" dirty="0"/>
          </a:p>
          <a:p>
            <a:pPr algn="ctr"/>
            <a:endParaRPr lang="zh-TW" altLang="en-US" sz="1700" dirty="0"/>
          </a:p>
        </p:txBody>
      </p:sp>
      <p:grpSp>
        <p:nvGrpSpPr>
          <p:cNvPr id="11" name="Group 220">
            <a:extLst>
              <a:ext uri="{FF2B5EF4-FFF2-40B4-BE49-F238E27FC236}">
                <a16:creationId xmlns:a16="http://schemas.microsoft.com/office/drawing/2014/main" xmlns="" id="{A0339FAF-5C12-A96E-DFC2-64B69335D535}"/>
              </a:ext>
            </a:extLst>
          </p:cNvPr>
          <p:cNvGrpSpPr/>
          <p:nvPr/>
        </p:nvGrpSpPr>
        <p:grpSpPr>
          <a:xfrm>
            <a:off x="7702755" y="2249574"/>
            <a:ext cx="533400" cy="408605"/>
            <a:chOff x="5906184" y="1486857"/>
            <a:chExt cx="355600" cy="272361"/>
          </a:xfrm>
        </p:grpSpPr>
        <p:sp>
          <p:nvSpPr>
            <p:cNvPr id="40" name="Oval 221">
              <a:extLst>
                <a:ext uri="{FF2B5EF4-FFF2-40B4-BE49-F238E27FC236}">
                  <a16:creationId xmlns:a16="http://schemas.microsoft.com/office/drawing/2014/main" xmlns="" id="{5150C8FE-FD8C-4648-8BC7-96D7420FE3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42" name="TextBox 222">
              <a:extLst>
                <a:ext uri="{FF2B5EF4-FFF2-40B4-BE49-F238E27FC236}">
                  <a16:creationId xmlns:a16="http://schemas.microsoft.com/office/drawing/2014/main" xmlns="" id="{A5DAB6BA-EADF-647A-BCBC-F9EE7B6A65A5}"/>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47" name="表格 30">
            <a:extLst>
              <a:ext uri="{FF2B5EF4-FFF2-40B4-BE49-F238E27FC236}">
                <a16:creationId xmlns:a16="http://schemas.microsoft.com/office/drawing/2014/main" xmlns="" id="{707759F3-DE2B-3E90-9CDA-196FDE5C925C}"/>
              </a:ext>
            </a:extLst>
          </p:cNvPr>
          <p:cNvGraphicFramePr>
            <a:graphicFrameLocks noGrp="1"/>
          </p:cNvGraphicFramePr>
          <p:nvPr>
            <p:extLst>
              <p:ext uri="{D42A27DB-BD31-4B8C-83A1-F6EECF244321}">
                <p14:modId xmlns:p14="http://schemas.microsoft.com/office/powerpoint/2010/main" xmlns="" val="867974908"/>
              </p:ext>
            </p:extLst>
          </p:nvPr>
        </p:nvGraphicFramePr>
        <p:xfrm>
          <a:off x="9302690" y="3854216"/>
          <a:ext cx="1860324" cy="1238591"/>
        </p:xfrm>
        <a:graphic>
          <a:graphicData uri="http://schemas.openxmlformats.org/drawingml/2006/table">
            <a:tbl>
              <a:tblPr>
                <a:tableStyleId>{5940675A-B579-460E-94D1-54222C63F5DA}</a:tableStyleId>
              </a:tblPr>
              <a:tblGrid>
                <a:gridCol w="930162">
                  <a:extLst>
                    <a:ext uri="{9D8B030D-6E8A-4147-A177-3AD203B41FA5}">
                      <a16:colId xmlns:a16="http://schemas.microsoft.com/office/drawing/2014/main" xmlns="" val="3433979995"/>
                    </a:ext>
                  </a:extLst>
                </a:gridCol>
                <a:gridCol w="930162">
                  <a:extLst>
                    <a:ext uri="{9D8B030D-6E8A-4147-A177-3AD203B41FA5}">
                      <a16:colId xmlns:a16="http://schemas.microsoft.com/office/drawing/2014/main" xmlns=""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ZMM071</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87">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lang="zh-TW" altLang="en-US" sz="1500" dirty="0">
                          <a:latin typeface="微軟正黑體" panose="020B0604030504040204" pitchFamily="34" charset="-120"/>
                          <a:ea typeface="微軟正黑體" panose="020B0604030504040204" pitchFamily="34" charset="-120"/>
                        </a:rPr>
                        <a:t>建立預留單</a:t>
                      </a:r>
                      <a:endParaRPr lang="en-US" altLang="zh-TW" sz="1500" dirty="0">
                        <a:latin typeface="微軟正黑體" panose="020B0604030504040204" pitchFamily="34" charset="-120"/>
                        <a:ea typeface="微軟正黑體" panose="020B0604030504040204" pitchFamily="34" charset="-120"/>
                      </a:endParaRPr>
                    </a:p>
                    <a:p>
                      <a:pPr algn="ctr" eaLnBrk="0" hangingPunct="0"/>
                      <a:r>
                        <a:rPr kumimoji="0" lang="en-US"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(Mvt.</a:t>
                      </a:r>
                      <a:r>
                        <a:rPr kumimoji="0" lang="en-US" altLang="zh-TW" sz="1500" b="0" i="0" u="none" strike="noStrike" cap="none" dirty="0">
                          <a:solidFill>
                            <a:srgbClr val="FF0000"/>
                          </a:solidFill>
                          <a:latin typeface="微軟正黑體" panose="020B0604030504040204" pitchFamily="34" charset="-120"/>
                          <a:ea typeface="微軟正黑體" panose="020B0604030504040204" pitchFamily="34" charset="-120"/>
                          <a:cs typeface="+mn-cs"/>
                          <a:sym typeface="Arial"/>
                        </a:rPr>
                        <a:t>901</a:t>
                      </a:r>
                      <a:r>
                        <a:rPr kumimoji="0" lang="en-US"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a:t>
                      </a:r>
                      <a:endPar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51" name="肘形接點 68">
            <a:extLst>
              <a:ext uri="{FF2B5EF4-FFF2-40B4-BE49-F238E27FC236}">
                <a16:creationId xmlns:a16="http://schemas.microsoft.com/office/drawing/2014/main" xmlns="" id="{5FC9C818-5EA4-6756-3856-4E2332D807ED}"/>
              </a:ext>
            </a:extLst>
          </p:cNvPr>
          <p:cNvCxnSpPr>
            <a:cxnSpLocks/>
            <a:stCxn id="47" idx="2"/>
            <a:endCxn id="30" idx="0"/>
          </p:cNvCxnSpPr>
          <p:nvPr/>
        </p:nvCxnSpPr>
        <p:spPr>
          <a:xfrm rot="16200000" flipH="1">
            <a:off x="9929153" y="5396506"/>
            <a:ext cx="610390" cy="2994"/>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5" name="肘形接點 68">
            <a:extLst>
              <a:ext uri="{FF2B5EF4-FFF2-40B4-BE49-F238E27FC236}">
                <a16:creationId xmlns:a16="http://schemas.microsoft.com/office/drawing/2014/main" xmlns="" id="{38F14DD8-105C-0FE9-21CE-7B6A4C5884AF}"/>
              </a:ext>
            </a:extLst>
          </p:cNvPr>
          <p:cNvCxnSpPr>
            <a:cxnSpLocks/>
            <a:stCxn id="9" idx="2"/>
            <a:endCxn id="205" idx="1"/>
          </p:cNvCxnSpPr>
          <p:nvPr/>
        </p:nvCxnSpPr>
        <p:spPr>
          <a:xfrm rot="16200000" flipH="1">
            <a:off x="7632370" y="4412540"/>
            <a:ext cx="3944071" cy="5236101"/>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22" name="Group 220">
            <a:extLst>
              <a:ext uri="{FF2B5EF4-FFF2-40B4-BE49-F238E27FC236}">
                <a16:creationId xmlns:a16="http://schemas.microsoft.com/office/drawing/2014/main" xmlns="" id="{F848FA31-285F-581D-D212-24891BC0A21D}"/>
              </a:ext>
            </a:extLst>
          </p:cNvPr>
          <p:cNvGrpSpPr/>
          <p:nvPr/>
        </p:nvGrpSpPr>
        <p:grpSpPr>
          <a:xfrm>
            <a:off x="10960622" y="3608345"/>
            <a:ext cx="533400" cy="408605"/>
            <a:chOff x="5906184" y="1486857"/>
            <a:chExt cx="355600" cy="272361"/>
          </a:xfrm>
        </p:grpSpPr>
        <p:sp>
          <p:nvSpPr>
            <p:cNvPr id="228" name="Oval 221">
              <a:extLst>
                <a:ext uri="{FF2B5EF4-FFF2-40B4-BE49-F238E27FC236}">
                  <a16:creationId xmlns:a16="http://schemas.microsoft.com/office/drawing/2014/main" xmlns="" id="{356A97A5-CB31-0C92-3F61-4C7E38116F9B}"/>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29" name="TextBox 222">
              <a:extLst>
                <a:ext uri="{FF2B5EF4-FFF2-40B4-BE49-F238E27FC236}">
                  <a16:creationId xmlns:a16="http://schemas.microsoft.com/office/drawing/2014/main" xmlns="" id="{47B4CE2C-6B17-313E-C49B-E24DC4A790A8}"/>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grpSp>
        <p:nvGrpSpPr>
          <p:cNvPr id="23" name="Group 220">
            <a:extLst>
              <a:ext uri="{FF2B5EF4-FFF2-40B4-BE49-F238E27FC236}">
                <a16:creationId xmlns:a16="http://schemas.microsoft.com/office/drawing/2014/main" xmlns="" id="{C9C526D2-5712-0033-A352-9B3C28852ECB}"/>
              </a:ext>
            </a:extLst>
          </p:cNvPr>
          <p:cNvGrpSpPr/>
          <p:nvPr/>
        </p:nvGrpSpPr>
        <p:grpSpPr>
          <a:xfrm>
            <a:off x="10919487" y="7224174"/>
            <a:ext cx="533400" cy="408605"/>
            <a:chOff x="5906184" y="1486857"/>
            <a:chExt cx="355600" cy="272361"/>
          </a:xfrm>
        </p:grpSpPr>
        <p:sp>
          <p:nvSpPr>
            <p:cNvPr id="20" name="Oval 221">
              <a:extLst>
                <a:ext uri="{FF2B5EF4-FFF2-40B4-BE49-F238E27FC236}">
                  <a16:creationId xmlns:a16="http://schemas.microsoft.com/office/drawing/2014/main" xmlns="" id="{01277DA0-B2C3-837C-9B58-BA372323E76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1" name="TextBox 222">
              <a:extLst>
                <a:ext uri="{FF2B5EF4-FFF2-40B4-BE49-F238E27FC236}">
                  <a16:creationId xmlns:a16="http://schemas.microsoft.com/office/drawing/2014/main" xmlns="" id="{96ADD96D-A943-239D-5AB3-0BDA324BD237}"/>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sp>
        <p:nvSpPr>
          <p:cNvPr id="58"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2</a:t>
            </a:r>
            <a:endParaRPr lang="en-US" sz="1600" b="0" strike="noStrike" spc="-1" dirty="0">
              <a:solidFill>
                <a:srgbClr val="000000"/>
              </a:solidFill>
              <a:latin typeface="Calibri"/>
            </a:endParaRPr>
          </a:p>
        </p:txBody>
      </p:sp>
    </p:spTree>
    <p:extLst>
      <p:ext uri="{BB962C8B-B14F-4D97-AF65-F5344CB8AC3E}">
        <p14:creationId xmlns:p14="http://schemas.microsoft.com/office/powerpoint/2010/main" xmlns="" val="194762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4" name="Google Shape;204;p4"/>
          <p:cNvSpPr/>
          <p:nvPr/>
        </p:nvSpPr>
        <p:spPr>
          <a:xfrm>
            <a:off x="197114" y="1594875"/>
            <a:ext cx="17911883" cy="8400709"/>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r>
              <a:rPr lang="en-US" sz="2400" dirty="0" err="1">
                <a:solidFill>
                  <a:schemeClr val="dk1"/>
                </a:solidFill>
                <a:latin typeface="Arial"/>
                <a:ea typeface="Arial"/>
                <a:cs typeface="Arial"/>
                <a:sym typeface="Arial"/>
              </a:rPr>
              <a:t>流程補充說明</a:t>
            </a:r>
            <a:r>
              <a:rPr lang="en-US" sz="2400" dirty="0">
                <a:solidFill>
                  <a:schemeClr val="dk1"/>
                </a:solidFill>
                <a:latin typeface="Arial"/>
                <a:ea typeface="Arial"/>
                <a:cs typeface="Arial"/>
                <a:sym typeface="Arial"/>
              </a:rPr>
              <a:t>:</a:t>
            </a:r>
          </a:p>
          <a:p>
            <a:endParaRPr lang="en-US" sz="2400" dirty="0">
              <a:solidFill>
                <a:schemeClr val="dk1"/>
              </a:solidFill>
            </a:endParaRPr>
          </a:p>
          <a:p>
            <a:r>
              <a:rPr lang="en-US" altLang="zh-TW" sz="2400" dirty="0" smtClean="0">
                <a:solidFill>
                  <a:schemeClr val="dk1"/>
                </a:solidFill>
                <a:latin typeface="Arial"/>
                <a:ea typeface="Arial"/>
                <a:cs typeface="Arial"/>
                <a:sym typeface="Arial"/>
              </a:rPr>
              <a:t>1 </a:t>
            </a:r>
            <a:r>
              <a:rPr lang="zh-TW" altLang="en-US" sz="2400" dirty="0" smtClean="0">
                <a:solidFill>
                  <a:schemeClr val="dk1"/>
                </a:solidFill>
                <a:latin typeface="Arial"/>
                <a:ea typeface="Arial"/>
                <a:cs typeface="Arial"/>
                <a:sym typeface="Arial"/>
              </a:rPr>
              <a:t>與</a:t>
            </a:r>
            <a:r>
              <a:rPr lang="en-US" altLang="zh-TW" sz="2400" dirty="0">
                <a:solidFill>
                  <a:schemeClr val="dk1"/>
                </a:solidFill>
                <a:latin typeface="Arial"/>
                <a:ea typeface="Arial"/>
                <a:cs typeface="Arial"/>
                <a:sym typeface="Arial"/>
              </a:rPr>
              <a:t>WMS</a:t>
            </a:r>
            <a:r>
              <a:rPr lang="zh-TW" altLang="en-US" sz="2400" dirty="0">
                <a:solidFill>
                  <a:schemeClr val="dk1"/>
                </a:solidFill>
                <a:latin typeface="Arial"/>
                <a:ea typeface="Arial"/>
                <a:cs typeface="Arial"/>
                <a:sym typeface="Arial"/>
              </a:rPr>
              <a:t>介接說明補充</a:t>
            </a:r>
            <a:endParaRPr lang="en-US" altLang="zh-TW" sz="2400" dirty="0">
              <a:solidFill>
                <a:schemeClr val="dk1"/>
              </a:solidFill>
              <a:latin typeface="Arial"/>
              <a:ea typeface="Arial"/>
              <a:cs typeface="Arial"/>
              <a:sym typeface="Arial"/>
            </a:endParaRPr>
          </a:p>
          <a:p>
            <a:endParaRPr lang="en-US" altLang="zh-TW" sz="2400" dirty="0">
              <a:solidFill>
                <a:schemeClr val="dk1"/>
              </a:solidFill>
            </a:endParaRPr>
          </a:p>
          <a:p>
            <a:r>
              <a:rPr lang="zh-TW" altLang="en-US" sz="2400" dirty="0">
                <a:solidFill>
                  <a:schemeClr val="dk1"/>
                </a:solidFill>
                <a:latin typeface="Arial"/>
                <a:ea typeface="Arial"/>
                <a:cs typeface="Arial"/>
                <a:sym typeface="Arial"/>
              </a:rPr>
              <a:t>      </a:t>
            </a:r>
            <a:endParaRPr lang="zh-TW" altLang="en-US" sz="2400" dirty="0"/>
          </a:p>
          <a:p>
            <a:r>
              <a:rPr lang="en-US" sz="2400" dirty="0">
                <a:solidFill>
                  <a:schemeClr val="dk1"/>
                </a:solidFill>
                <a:latin typeface="Arial"/>
                <a:ea typeface="Arial"/>
                <a:cs typeface="Arial"/>
                <a:sym typeface="Arial"/>
              </a:rPr>
              <a:t> </a:t>
            </a:r>
            <a:endParaRPr dirty="0"/>
          </a:p>
          <a:p>
            <a:endParaRPr dirty="0">
              <a:solidFill>
                <a:schemeClr val="dk1"/>
              </a:solidFill>
              <a:latin typeface="Arial"/>
              <a:ea typeface="Arial"/>
              <a:cs typeface="Arial"/>
              <a:sym typeface="Arial"/>
            </a:endParaRPr>
          </a:p>
        </p:txBody>
      </p:sp>
      <p:sp>
        <p:nvSpPr>
          <p:cNvPr id="3" name="圓角矩形 28">
            <a:extLst>
              <a:ext uri="{FF2B5EF4-FFF2-40B4-BE49-F238E27FC236}">
                <a16:creationId xmlns:a16="http://schemas.microsoft.com/office/drawing/2014/main" xmlns="" id="{44ECDC4C-8BCE-AC89-1EB3-E8342DCD56A6}"/>
              </a:ext>
            </a:extLst>
          </p:cNvPr>
          <p:cNvSpPr/>
          <p:nvPr/>
        </p:nvSpPr>
        <p:spPr>
          <a:xfrm>
            <a:off x="1534155" y="3695016"/>
            <a:ext cx="2126940" cy="869012"/>
          </a:xfrm>
          <a:prstGeom prst="roundRect">
            <a:avLst/>
          </a:prstGeom>
          <a:solidFill>
            <a:srgbClr val="FFC000"/>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zh-TW" altLang="en-US" sz="3000" b="1" dirty="0">
                <a:latin typeface="微軟正黑體" pitchFamily="34" charset="-120"/>
                <a:ea typeface="微軟正黑體" pitchFamily="34" charset="-120"/>
              </a:rPr>
              <a:t>預留單</a:t>
            </a:r>
          </a:p>
        </p:txBody>
      </p:sp>
      <p:sp>
        <p:nvSpPr>
          <p:cNvPr id="4" name="圓角矩形 40">
            <a:extLst>
              <a:ext uri="{FF2B5EF4-FFF2-40B4-BE49-F238E27FC236}">
                <a16:creationId xmlns:a16="http://schemas.microsoft.com/office/drawing/2014/main" xmlns="" id="{32C6D849-55DE-714D-37D2-948C270C8D1A}"/>
              </a:ext>
            </a:extLst>
          </p:cNvPr>
          <p:cNvSpPr/>
          <p:nvPr/>
        </p:nvSpPr>
        <p:spPr>
          <a:xfrm>
            <a:off x="4635501" y="3681298"/>
            <a:ext cx="2135580" cy="869012"/>
          </a:xfrm>
          <a:prstGeom prst="roundRect">
            <a:avLst/>
          </a:prstGeom>
          <a:solidFill>
            <a:schemeClr val="accent1">
              <a:lumMod val="75000"/>
            </a:schemeClr>
          </a:solidFill>
          <a:ln>
            <a:solidFill>
              <a:srgbClr val="C00000"/>
            </a:solidFill>
          </a:ln>
        </p:spPr>
        <p:style>
          <a:lnRef idx="2">
            <a:schemeClr val="accent3">
              <a:shade val="50000"/>
            </a:schemeClr>
          </a:lnRef>
          <a:fillRef idx="1">
            <a:schemeClr val="accent3"/>
          </a:fillRef>
          <a:effectRef idx="0">
            <a:schemeClr val="accent3"/>
          </a:effectRef>
          <a:fontRef idx="minor">
            <a:schemeClr val="lt1"/>
          </a:fontRef>
        </p:style>
        <p:txBody>
          <a:bodyPr lIns="137160" tIns="68580" rIns="137160" bIns="68580" rtlCol="0" anchor="ctr"/>
          <a:lstStyle/>
          <a:p>
            <a:pPr algn="ctr"/>
            <a:r>
              <a:rPr lang="zh-TW" altLang="en-US" sz="2700" b="1" dirty="0">
                <a:latin typeface="微軟正黑體" pitchFamily="34" charset="-120"/>
                <a:ea typeface="微軟正黑體" pitchFamily="34" charset="-120"/>
              </a:rPr>
              <a:t>下架發料</a:t>
            </a:r>
          </a:p>
        </p:txBody>
      </p:sp>
      <p:sp>
        <p:nvSpPr>
          <p:cNvPr id="5" name="圓角矩形 28">
            <a:extLst>
              <a:ext uri="{FF2B5EF4-FFF2-40B4-BE49-F238E27FC236}">
                <a16:creationId xmlns:a16="http://schemas.microsoft.com/office/drawing/2014/main" xmlns="" id="{1BEBB7E9-4C64-EDBE-60A6-329D6807E3E8}"/>
              </a:ext>
            </a:extLst>
          </p:cNvPr>
          <p:cNvSpPr/>
          <p:nvPr/>
        </p:nvSpPr>
        <p:spPr>
          <a:xfrm>
            <a:off x="7924481" y="3695016"/>
            <a:ext cx="2126940" cy="869012"/>
          </a:xfrm>
          <a:prstGeom prst="roundRect">
            <a:avLst/>
          </a:prstGeom>
          <a:solidFill>
            <a:srgbClr val="FFC000"/>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zh-TW" altLang="en-US" sz="3000" b="1" dirty="0">
                <a:latin typeface="微軟正黑體" pitchFamily="34" charset="-120"/>
                <a:ea typeface="微軟正黑體" pitchFamily="34" charset="-120"/>
              </a:rPr>
              <a:t>部門發料</a:t>
            </a:r>
          </a:p>
        </p:txBody>
      </p:sp>
      <p:cxnSp>
        <p:nvCxnSpPr>
          <p:cNvPr id="6" name="接點: 肘形 5">
            <a:extLst>
              <a:ext uri="{FF2B5EF4-FFF2-40B4-BE49-F238E27FC236}">
                <a16:creationId xmlns:a16="http://schemas.microsoft.com/office/drawing/2014/main" xmlns="" id="{9B162F25-2E68-FC53-56F1-A37660886918}"/>
              </a:ext>
            </a:extLst>
          </p:cNvPr>
          <p:cNvCxnSpPr>
            <a:cxnSpLocks/>
            <a:stCxn id="3" idx="3"/>
            <a:endCxn id="4" idx="1"/>
          </p:cNvCxnSpPr>
          <p:nvPr/>
        </p:nvCxnSpPr>
        <p:spPr>
          <a:xfrm flipV="1">
            <a:off x="3661095" y="4115804"/>
            <a:ext cx="974406" cy="13718"/>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9" name="Group 220">
            <a:extLst>
              <a:ext uri="{FF2B5EF4-FFF2-40B4-BE49-F238E27FC236}">
                <a16:creationId xmlns:a16="http://schemas.microsoft.com/office/drawing/2014/main" xmlns="" id="{3F0C1B41-C589-79DD-81A8-1A931B9E2946}"/>
              </a:ext>
            </a:extLst>
          </p:cNvPr>
          <p:cNvGrpSpPr/>
          <p:nvPr/>
        </p:nvGrpSpPr>
        <p:grpSpPr>
          <a:xfrm>
            <a:off x="3971094" y="3476996"/>
            <a:ext cx="533400" cy="408605"/>
            <a:chOff x="5906184" y="1486857"/>
            <a:chExt cx="355600" cy="272361"/>
          </a:xfrm>
        </p:grpSpPr>
        <p:sp>
          <p:nvSpPr>
            <p:cNvPr id="10" name="Oval 221">
              <a:extLst>
                <a:ext uri="{FF2B5EF4-FFF2-40B4-BE49-F238E27FC236}">
                  <a16:creationId xmlns:a16="http://schemas.microsoft.com/office/drawing/2014/main" xmlns="" id="{D729A6CB-3D2F-1B89-6356-0EFF8015035B}"/>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 name="TextBox 222">
              <a:extLst>
                <a:ext uri="{FF2B5EF4-FFF2-40B4-BE49-F238E27FC236}">
                  <a16:creationId xmlns:a16="http://schemas.microsoft.com/office/drawing/2014/main" xmlns="" id="{8AC9FB91-6018-1709-6A54-E14F4F2915E0}"/>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cxnSp>
        <p:nvCxnSpPr>
          <p:cNvPr id="12" name="接點: 肘形 11">
            <a:extLst>
              <a:ext uri="{FF2B5EF4-FFF2-40B4-BE49-F238E27FC236}">
                <a16:creationId xmlns:a16="http://schemas.microsoft.com/office/drawing/2014/main" xmlns="" id="{D74662CC-1A41-69A7-D95B-C947E866AE6F}"/>
              </a:ext>
            </a:extLst>
          </p:cNvPr>
          <p:cNvCxnSpPr>
            <a:cxnSpLocks/>
            <a:stCxn id="4" idx="3"/>
            <a:endCxn id="5" idx="1"/>
          </p:cNvCxnSpPr>
          <p:nvPr/>
        </p:nvCxnSpPr>
        <p:spPr>
          <a:xfrm>
            <a:off x="6771082" y="4115804"/>
            <a:ext cx="1153400" cy="13718"/>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15" name="Group 220">
            <a:extLst>
              <a:ext uri="{FF2B5EF4-FFF2-40B4-BE49-F238E27FC236}">
                <a16:creationId xmlns:a16="http://schemas.microsoft.com/office/drawing/2014/main" xmlns="" id="{C2F3A239-494E-C98F-F508-BC25D7B08580}"/>
              </a:ext>
            </a:extLst>
          </p:cNvPr>
          <p:cNvGrpSpPr/>
          <p:nvPr/>
        </p:nvGrpSpPr>
        <p:grpSpPr>
          <a:xfrm>
            <a:off x="7156482" y="3504729"/>
            <a:ext cx="533400" cy="408605"/>
            <a:chOff x="5906184" y="1486857"/>
            <a:chExt cx="355600" cy="272361"/>
          </a:xfrm>
        </p:grpSpPr>
        <p:sp>
          <p:nvSpPr>
            <p:cNvPr id="16" name="Oval 221">
              <a:extLst>
                <a:ext uri="{FF2B5EF4-FFF2-40B4-BE49-F238E27FC236}">
                  <a16:creationId xmlns:a16="http://schemas.microsoft.com/office/drawing/2014/main" xmlns="" id="{B85850B7-96F8-920E-2561-A609D00B40C3}"/>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7" name="TextBox 222">
              <a:extLst>
                <a:ext uri="{FF2B5EF4-FFF2-40B4-BE49-F238E27FC236}">
                  <a16:creationId xmlns:a16="http://schemas.microsoft.com/office/drawing/2014/main" xmlns="" id="{9AA1CE9E-6DA4-6717-ECD6-679B2650AB44}"/>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sp>
        <p:nvSpPr>
          <p:cNvPr id="18" name="圓角矩形 28">
            <a:extLst>
              <a:ext uri="{FF2B5EF4-FFF2-40B4-BE49-F238E27FC236}">
                <a16:creationId xmlns:a16="http://schemas.microsoft.com/office/drawing/2014/main" xmlns="" id="{4FCAC5A1-BDAC-E745-46EE-47E6549CECE3}"/>
              </a:ext>
            </a:extLst>
          </p:cNvPr>
          <p:cNvSpPr/>
          <p:nvPr/>
        </p:nvSpPr>
        <p:spPr>
          <a:xfrm>
            <a:off x="16766852" y="8897239"/>
            <a:ext cx="1188132" cy="432115"/>
          </a:xfrm>
          <a:prstGeom prst="roundRect">
            <a:avLst/>
          </a:prstGeom>
          <a:solidFill>
            <a:srgbClr val="FFC000"/>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US" altLang="zh-TW" b="1" dirty="0">
                <a:latin typeface="微軟正黑體" pitchFamily="34" charset="-120"/>
                <a:ea typeface="微軟正黑體" pitchFamily="34" charset="-120"/>
              </a:rPr>
              <a:t>SAP</a:t>
            </a:r>
            <a:endParaRPr lang="zh-TW" altLang="en-US" sz="2100" b="1" dirty="0">
              <a:latin typeface="微軟正黑體" pitchFamily="34" charset="-120"/>
              <a:ea typeface="微軟正黑體" pitchFamily="34" charset="-120"/>
            </a:endParaRPr>
          </a:p>
        </p:txBody>
      </p:sp>
      <p:sp>
        <p:nvSpPr>
          <p:cNvPr id="19" name="圓角矩形 40">
            <a:extLst>
              <a:ext uri="{FF2B5EF4-FFF2-40B4-BE49-F238E27FC236}">
                <a16:creationId xmlns:a16="http://schemas.microsoft.com/office/drawing/2014/main" xmlns="" id="{9CE2953D-3D92-C8ED-7BD5-905509E51E0C}"/>
              </a:ext>
            </a:extLst>
          </p:cNvPr>
          <p:cNvSpPr/>
          <p:nvPr/>
        </p:nvSpPr>
        <p:spPr>
          <a:xfrm>
            <a:off x="16766852" y="9401709"/>
            <a:ext cx="1188132" cy="432115"/>
          </a:xfrm>
          <a:prstGeom prst="roundRect">
            <a:avLst/>
          </a:prstGeom>
          <a:solidFill>
            <a:schemeClr val="accent1">
              <a:lumMod val="75000"/>
            </a:schemeClr>
          </a:solidFill>
          <a:ln>
            <a:solidFill>
              <a:srgbClr val="C00000"/>
            </a:solidFill>
          </a:ln>
        </p:spPr>
        <p:style>
          <a:lnRef idx="2">
            <a:schemeClr val="accent3">
              <a:shade val="50000"/>
            </a:schemeClr>
          </a:lnRef>
          <a:fillRef idx="1">
            <a:schemeClr val="accent3"/>
          </a:fillRef>
          <a:effectRef idx="0">
            <a:schemeClr val="accent3"/>
          </a:effectRef>
          <a:fontRef idx="minor">
            <a:schemeClr val="lt1"/>
          </a:fontRef>
        </p:style>
        <p:txBody>
          <a:bodyPr lIns="137160" tIns="68580" rIns="137160" bIns="68580" rtlCol="0" anchor="ctr"/>
          <a:lstStyle/>
          <a:p>
            <a:pPr algn="ctr"/>
            <a:r>
              <a:rPr lang="en-US" altLang="zh-TW" b="1" dirty="0">
                <a:latin typeface="微軟正黑體" pitchFamily="34" charset="-120"/>
                <a:ea typeface="微軟正黑體" pitchFamily="34" charset="-120"/>
              </a:rPr>
              <a:t>WMS</a:t>
            </a:r>
            <a:endParaRPr lang="zh-TW" altLang="en-US" b="1" dirty="0">
              <a:latin typeface="微軟正黑體" pitchFamily="34" charset="-120"/>
              <a:ea typeface="微軟正黑體" pitchFamily="34" charset="-120"/>
            </a:endParaRPr>
          </a:p>
        </p:txBody>
      </p:sp>
      <p:graphicFrame>
        <p:nvGraphicFramePr>
          <p:cNvPr id="20" name="表格 19">
            <a:extLst>
              <a:ext uri="{FF2B5EF4-FFF2-40B4-BE49-F238E27FC236}">
                <a16:creationId xmlns:a16="http://schemas.microsoft.com/office/drawing/2014/main" xmlns="" id="{6ADCBDE5-8C3A-62F0-617D-D9A16CDDF692}"/>
              </a:ext>
            </a:extLst>
          </p:cNvPr>
          <p:cNvGraphicFramePr>
            <a:graphicFrameLocks noGrp="1"/>
          </p:cNvGraphicFramePr>
          <p:nvPr>
            <p:extLst>
              <p:ext uri="{D42A27DB-BD31-4B8C-83A1-F6EECF244321}">
                <p14:modId xmlns:p14="http://schemas.microsoft.com/office/powerpoint/2010/main" xmlns="" val="2894298005"/>
              </p:ext>
            </p:extLst>
          </p:nvPr>
        </p:nvGraphicFramePr>
        <p:xfrm>
          <a:off x="1733517" y="8216662"/>
          <a:ext cx="13395961" cy="1112692"/>
        </p:xfrm>
        <a:graphic>
          <a:graphicData uri="http://schemas.openxmlformats.org/drawingml/2006/table">
            <a:tbl>
              <a:tblPr firstRow="1" bandRow="1"/>
              <a:tblGrid>
                <a:gridCol w="586073">
                  <a:extLst>
                    <a:ext uri="{9D8B030D-6E8A-4147-A177-3AD203B41FA5}">
                      <a16:colId xmlns:a16="http://schemas.microsoft.com/office/drawing/2014/main" xmlns="" val="4193373909"/>
                    </a:ext>
                  </a:extLst>
                </a:gridCol>
                <a:gridCol w="12809888">
                  <a:extLst>
                    <a:ext uri="{9D8B030D-6E8A-4147-A177-3AD203B41FA5}">
                      <a16:colId xmlns:a16="http://schemas.microsoft.com/office/drawing/2014/main" xmlns="" val="175700329"/>
                    </a:ext>
                  </a:extLst>
                </a:gridCol>
              </a:tblGrid>
              <a:tr h="556346">
                <a:tc>
                  <a:txBody>
                    <a:bodyPr/>
                    <a:lstStyle/>
                    <a:p>
                      <a:r>
                        <a:rPr lang="en-US" altLang="zh-TW" sz="2700" dirty="0"/>
                        <a:t>1</a:t>
                      </a:r>
                      <a:endParaRPr lang="zh-TW" altLang="en-US" sz="2700" dirty="0"/>
                    </a:p>
                  </a:txBody>
                  <a:tcPr marL="137160" marR="137160" marT="68591" marB="68591"/>
                </a:tc>
                <a:tc>
                  <a:txBody>
                    <a:bodyPr/>
                    <a:lstStyle/>
                    <a:p>
                      <a:r>
                        <a:rPr lang="en-US" altLang="zh-TW" sz="2700" dirty="0"/>
                        <a:t>SAP</a:t>
                      </a:r>
                      <a:r>
                        <a:rPr lang="zh-TW" altLang="en-US" sz="2700" dirty="0"/>
                        <a:t>部門領用</a:t>
                      </a:r>
                      <a:r>
                        <a:rPr lang="en-US" altLang="zh-TW" sz="2700" dirty="0"/>
                        <a:t>(</a:t>
                      </a:r>
                      <a:r>
                        <a:rPr lang="zh-TW" altLang="en-US" sz="2700" dirty="0"/>
                        <a:t>預留單</a:t>
                      </a:r>
                      <a:r>
                        <a:rPr lang="en-US" altLang="zh-TW" sz="2700" dirty="0"/>
                        <a:t>)</a:t>
                      </a:r>
                      <a:r>
                        <a:rPr lang="zh-TW" altLang="en-US" sz="2700" dirty="0"/>
                        <a:t>拋給</a:t>
                      </a:r>
                      <a:r>
                        <a:rPr lang="en-US" altLang="zh-TW" sz="2700" dirty="0"/>
                        <a:t>WMS</a:t>
                      </a:r>
                    </a:p>
                  </a:txBody>
                  <a:tcPr marL="137160" marR="137160" marT="68591" marB="68591"/>
                </a:tc>
                <a:extLst>
                  <a:ext uri="{0D108BD9-81ED-4DB2-BD59-A6C34878D82A}">
                    <a16:rowId xmlns:a16="http://schemas.microsoft.com/office/drawing/2014/main" xmlns="" val="388478257"/>
                  </a:ext>
                </a:extLst>
              </a:tr>
              <a:tr h="556346">
                <a:tc>
                  <a:txBody>
                    <a:bodyPr/>
                    <a:lstStyle/>
                    <a:p>
                      <a:r>
                        <a:rPr lang="en-US" altLang="zh-TW" sz="2700" dirty="0"/>
                        <a:t>2</a:t>
                      </a:r>
                      <a:endParaRPr lang="zh-TW" altLang="en-US" sz="2700" dirty="0"/>
                    </a:p>
                  </a:txBody>
                  <a:tcPr marL="137160" marR="137160" marT="68591" marB="68591"/>
                </a:tc>
                <a:tc>
                  <a:txBody>
                    <a:bodyPr/>
                    <a:lstStyle/>
                    <a:p>
                      <a:r>
                        <a:rPr lang="en-US" altLang="zh-TW" sz="2700" dirty="0"/>
                        <a:t>WMS</a:t>
                      </a:r>
                      <a:r>
                        <a:rPr lang="zh-TW" altLang="en-US" sz="2700" dirty="0"/>
                        <a:t>下架發料或上架收料後拋給</a:t>
                      </a:r>
                      <a:r>
                        <a:rPr lang="en-US" altLang="zh-TW" sz="2700" dirty="0"/>
                        <a:t>SAP</a:t>
                      </a:r>
                      <a:r>
                        <a:rPr lang="zh-TW" altLang="en-US" sz="2700" dirty="0"/>
                        <a:t>執行預留單過帳作業</a:t>
                      </a:r>
                    </a:p>
                  </a:txBody>
                  <a:tcPr marL="137160" marR="137160" marT="68591" marB="68591"/>
                </a:tc>
                <a:extLst>
                  <a:ext uri="{0D108BD9-81ED-4DB2-BD59-A6C34878D82A}">
                    <a16:rowId xmlns:a16="http://schemas.microsoft.com/office/drawing/2014/main" xmlns="" val="2767441219"/>
                  </a:ext>
                </a:extLst>
              </a:tr>
            </a:tbl>
          </a:graphicData>
        </a:graphic>
      </p:graphicFrame>
      <p:sp>
        <p:nvSpPr>
          <p:cNvPr id="7" name="圓角矩形 28">
            <a:extLst>
              <a:ext uri="{FF2B5EF4-FFF2-40B4-BE49-F238E27FC236}">
                <a16:creationId xmlns:a16="http://schemas.microsoft.com/office/drawing/2014/main" xmlns="" id="{0F240397-FB45-AA68-6C4A-D07EFCBAD319}"/>
              </a:ext>
            </a:extLst>
          </p:cNvPr>
          <p:cNvSpPr/>
          <p:nvPr/>
        </p:nvSpPr>
        <p:spPr>
          <a:xfrm>
            <a:off x="1621625" y="5197629"/>
            <a:ext cx="2126940" cy="869012"/>
          </a:xfrm>
          <a:prstGeom prst="roundRect">
            <a:avLst/>
          </a:prstGeom>
          <a:solidFill>
            <a:srgbClr val="FFC000"/>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zh-TW" altLang="en-US" sz="3000" b="1" dirty="0">
                <a:latin typeface="微軟正黑體" pitchFamily="34" charset="-120"/>
                <a:ea typeface="微軟正黑體" pitchFamily="34" charset="-120"/>
              </a:rPr>
              <a:t>預留單</a:t>
            </a:r>
          </a:p>
        </p:txBody>
      </p:sp>
      <p:sp>
        <p:nvSpPr>
          <p:cNvPr id="8" name="圓角矩形 40">
            <a:extLst>
              <a:ext uri="{FF2B5EF4-FFF2-40B4-BE49-F238E27FC236}">
                <a16:creationId xmlns:a16="http://schemas.microsoft.com/office/drawing/2014/main" xmlns="" id="{AE61E3B6-E85F-9FA4-0A3F-3AC2C6A3A1C6}"/>
              </a:ext>
            </a:extLst>
          </p:cNvPr>
          <p:cNvSpPr/>
          <p:nvPr/>
        </p:nvSpPr>
        <p:spPr>
          <a:xfrm>
            <a:off x="4722971" y="5183911"/>
            <a:ext cx="2135580" cy="869012"/>
          </a:xfrm>
          <a:prstGeom prst="roundRect">
            <a:avLst/>
          </a:prstGeom>
          <a:solidFill>
            <a:schemeClr val="accent1">
              <a:lumMod val="75000"/>
            </a:schemeClr>
          </a:solidFill>
          <a:ln>
            <a:solidFill>
              <a:srgbClr val="C00000"/>
            </a:solidFill>
          </a:ln>
        </p:spPr>
        <p:style>
          <a:lnRef idx="2">
            <a:schemeClr val="accent3">
              <a:shade val="50000"/>
            </a:schemeClr>
          </a:lnRef>
          <a:fillRef idx="1">
            <a:schemeClr val="accent3"/>
          </a:fillRef>
          <a:effectRef idx="0">
            <a:schemeClr val="accent3"/>
          </a:effectRef>
          <a:fontRef idx="minor">
            <a:schemeClr val="lt1"/>
          </a:fontRef>
        </p:style>
        <p:txBody>
          <a:bodyPr lIns="137160" tIns="68580" rIns="137160" bIns="68580" rtlCol="0" anchor="ctr"/>
          <a:lstStyle/>
          <a:p>
            <a:pPr algn="ctr"/>
            <a:r>
              <a:rPr lang="zh-TW" altLang="en-US" sz="2700" b="1" dirty="0">
                <a:latin typeface="微軟正黑體" pitchFamily="34" charset="-120"/>
                <a:ea typeface="微軟正黑體" pitchFamily="34" charset="-120"/>
              </a:rPr>
              <a:t>上架收料</a:t>
            </a:r>
          </a:p>
        </p:txBody>
      </p:sp>
      <p:sp>
        <p:nvSpPr>
          <p:cNvPr id="13" name="圓角矩形 28">
            <a:extLst>
              <a:ext uri="{FF2B5EF4-FFF2-40B4-BE49-F238E27FC236}">
                <a16:creationId xmlns:a16="http://schemas.microsoft.com/office/drawing/2014/main" xmlns="" id="{231C5426-96E0-DB7B-6E20-25CDF326814C}"/>
              </a:ext>
            </a:extLst>
          </p:cNvPr>
          <p:cNvSpPr/>
          <p:nvPr/>
        </p:nvSpPr>
        <p:spPr>
          <a:xfrm>
            <a:off x="8011950" y="5197629"/>
            <a:ext cx="2126940" cy="869012"/>
          </a:xfrm>
          <a:prstGeom prst="roundRect">
            <a:avLst/>
          </a:prstGeom>
          <a:solidFill>
            <a:srgbClr val="FFC000"/>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zh-TW" altLang="en-US" sz="3000" b="1" dirty="0">
                <a:latin typeface="微軟正黑體" pitchFamily="34" charset="-120"/>
                <a:ea typeface="微軟正黑體" pitchFamily="34" charset="-120"/>
              </a:rPr>
              <a:t>部門退料</a:t>
            </a:r>
          </a:p>
        </p:txBody>
      </p:sp>
      <p:cxnSp>
        <p:nvCxnSpPr>
          <p:cNvPr id="14" name="接點: 肘形 13">
            <a:extLst>
              <a:ext uri="{FF2B5EF4-FFF2-40B4-BE49-F238E27FC236}">
                <a16:creationId xmlns:a16="http://schemas.microsoft.com/office/drawing/2014/main" xmlns="" id="{5B0758B4-A4D4-E8AC-804C-EF023671DE85}"/>
              </a:ext>
            </a:extLst>
          </p:cNvPr>
          <p:cNvCxnSpPr>
            <a:cxnSpLocks/>
            <a:stCxn id="7" idx="3"/>
            <a:endCxn id="8" idx="1"/>
          </p:cNvCxnSpPr>
          <p:nvPr/>
        </p:nvCxnSpPr>
        <p:spPr>
          <a:xfrm flipV="1">
            <a:off x="3748565" y="5618417"/>
            <a:ext cx="974406" cy="13718"/>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21" name="Group 220">
            <a:extLst>
              <a:ext uri="{FF2B5EF4-FFF2-40B4-BE49-F238E27FC236}">
                <a16:creationId xmlns:a16="http://schemas.microsoft.com/office/drawing/2014/main" xmlns="" id="{67AE837C-A0D2-5AC2-1A8A-D34ECE4AC8DA}"/>
              </a:ext>
            </a:extLst>
          </p:cNvPr>
          <p:cNvGrpSpPr/>
          <p:nvPr/>
        </p:nvGrpSpPr>
        <p:grpSpPr>
          <a:xfrm>
            <a:off x="4058564" y="4979608"/>
            <a:ext cx="533400" cy="408605"/>
            <a:chOff x="5906184" y="1486857"/>
            <a:chExt cx="355600" cy="272361"/>
          </a:xfrm>
        </p:grpSpPr>
        <p:sp>
          <p:nvSpPr>
            <p:cNvPr id="22" name="Oval 221">
              <a:extLst>
                <a:ext uri="{FF2B5EF4-FFF2-40B4-BE49-F238E27FC236}">
                  <a16:creationId xmlns:a16="http://schemas.microsoft.com/office/drawing/2014/main" xmlns="" id="{6CAD8BD1-E893-098C-210A-89A32DCEB808}"/>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 name="TextBox 222">
              <a:extLst>
                <a:ext uri="{FF2B5EF4-FFF2-40B4-BE49-F238E27FC236}">
                  <a16:creationId xmlns:a16="http://schemas.microsoft.com/office/drawing/2014/main" xmlns="" id="{32985325-05AA-3DD0-4F4A-9A9D5C76C1BE}"/>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cxnSp>
        <p:nvCxnSpPr>
          <p:cNvPr id="24" name="接點: 肘形 23">
            <a:extLst>
              <a:ext uri="{FF2B5EF4-FFF2-40B4-BE49-F238E27FC236}">
                <a16:creationId xmlns:a16="http://schemas.microsoft.com/office/drawing/2014/main" xmlns="" id="{4509350E-50CF-A4D0-DC81-B619182751CD}"/>
              </a:ext>
            </a:extLst>
          </p:cNvPr>
          <p:cNvCxnSpPr>
            <a:cxnSpLocks/>
            <a:stCxn id="8" idx="3"/>
            <a:endCxn id="13" idx="1"/>
          </p:cNvCxnSpPr>
          <p:nvPr/>
        </p:nvCxnSpPr>
        <p:spPr>
          <a:xfrm>
            <a:off x="6858551" y="5618417"/>
            <a:ext cx="1153400" cy="13718"/>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25" name="Group 220">
            <a:extLst>
              <a:ext uri="{FF2B5EF4-FFF2-40B4-BE49-F238E27FC236}">
                <a16:creationId xmlns:a16="http://schemas.microsoft.com/office/drawing/2014/main" xmlns="" id="{AEC58F1A-F046-C580-8560-9999B667A888}"/>
              </a:ext>
            </a:extLst>
          </p:cNvPr>
          <p:cNvGrpSpPr/>
          <p:nvPr/>
        </p:nvGrpSpPr>
        <p:grpSpPr>
          <a:xfrm>
            <a:off x="7243952" y="5007341"/>
            <a:ext cx="533400" cy="408605"/>
            <a:chOff x="5906184" y="1486857"/>
            <a:chExt cx="355600" cy="272361"/>
          </a:xfrm>
        </p:grpSpPr>
        <p:sp>
          <p:nvSpPr>
            <p:cNvPr id="26" name="Oval 221">
              <a:extLst>
                <a:ext uri="{FF2B5EF4-FFF2-40B4-BE49-F238E27FC236}">
                  <a16:creationId xmlns:a16="http://schemas.microsoft.com/office/drawing/2014/main" xmlns="" id="{C10D5E0E-650B-006D-1DAA-91E3EE40D5D2}"/>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7" name="TextBox 222">
              <a:extLst>
                <a:ext uri="{FF2B5EF4-FFF2-40B4-BE49-F238E27FC236}">
                  <a16:creationId xmlns:a16="http://schemas.microsoft.com/office/drawing/2014/main" xmlns="" id="{F605C952-701C-3C1E-DD54-6AA3D2B0E9ED}"/>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sp>
        <p:nvSpPr>
          <p:cNvPr id="31"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smtClean="0">
                <a:solidFill>
                  <a:schemeClr val="dk1"/>
                </a:solidFill>
                <a:latin typeface="微軟正黑體"/>
                <a:ea typeface="微軟正黑體"/>
              </a:rPr>
              <a:t>3</a:t>
            </a:r>
            <a:endParaRPr lang="en-US" sz="1600" b="0" strike="noStrike" spc="-1" dirty="0">
              <a:solidFill>
                <a:srgbClr val="000000"/>
              </a:solidFill>
              <a:latin typeface="Calibri"/>
            </a:endParaRPr>
          </a:p>
        </p:txBody>
      </p:sp>
      <p:sp>
        <p:nvSpPr>
          <p:cNvPr id="29" name="文字方塊 28">
            <a:extLst>
              <a:ext uri="{FF2B5EF4-FFF2-40B4-BE49-F238E27FC236}">
                <a16:creationId xmlns:a16="http://schemas.microsoft.com/office/drawing/2014/main" xmlns="" id="{8ECF4CE1-DDC2-62E8-3C4E-7ECD29FF75F3}"/>
              </a:ext>
            </a:extLst>
          </p:cNvPr>
          <p:cNvSpPr txBox="1"/>
          <p:nvPr/>
        </p:nvSpPr>
        <p:spPr>
          <a:xfrm>
            <a:off x="2507711" y="860721"/>
            <a:ext cx="7218711" cy="415498"/>
          </a:xfrm>
          <a:prstGeom prst="rect">
            <a:avLst/>
          </a:prstGeom>
          <a:noFill/>
        </p:spPr>
        <p:txBody>
          <a:bodyPr wrap="square" lIns="137160" tIns="68580" rIns="137160" bIns="68580">
            <a:spAutoFit/>
          </a:bodyPr>
          <a:lstStyle/>
          <a:p>
            <a:pPr eaLnBrk="0" hangingPunct="0"/>
            <a:r>
              <a:rPr kumimoji="0" lang="en-US" altLang="zh-TW" b="1" dirty="0" smtClean="0">
                <a:latin typeface="微軟正黑體" panose="020B0604030504040204" pitchFamily="34" charset="-120"/>
                <a:ea typeface="微軟正黑體" panose="020B0604030504040204" pitchFamily="34" charset="-120"/>
              </a:rPr>
              <a:t>MM-IM-00</a:t>
            </a:r>
            <a:r>
              <a:rPr lang="en-US" altLang="zh-TW" b="1" dirty="0" smtClean="0">
                <a:latin typeface="微軟正黑體" panose="020B0604030504040204" pitchFamily="34" charset="-120"/>
                <a:ea typeface="微軟正黑體" panose="020B0604030504040204" pitchFamily="34" charset="-120"/>
              </a:rPr>
              <a:t>5</a:t>
            </a:r>
            <a:r>
              <a:rPr kumimoji="0" lang="en-US" altLang="zh-TW" b="1" dirty="0" smtClean="0">
                <a:latin typeface="微軟正黑體" panose="020B0604030504040204" pitchFamily="34" charset="-120"/>
                <a:ea typeface="微軟正黑體" panose="020B0604030504040204" pitchFamily="34" charset="-120"/>
              </a:rPr>
              <a:t>0 </a:t>
            </a:r>
            <a:r>
              <a:rPr lang="zh-TW" altLang="en-US" b="1" dirty="0">
                <a:latin typeface="微軟正黑體" panose="020B0604030504040204" pitchFamily="34" charset="-120"/>
                <a:ea typeface="微軟正黑體" panose="020B0604030504040204" pitchFamily="34" charset="-120"/>
              </a:rPr>
              <a:t>部門</a:t>
            </a:r>
            <a:r>
              <a:rPr lang="zh-TW" altLang="en-US" b="1" dirty="0" smtClean="0">
                <a:latin typeface="微軟正黑體" panose="020B0604030504040204" pitchFamily="34" charset="-120"/>
                <a:ea typeface="微軟正黑體" panose="020B0604030504040204" pitchFamily="34" charset="-120"/>
              </a:rPr>
              <a:t>領料</a:t>
            </a:r>
            <a:endParaRPr kumimoji="0" lang="zh-TW" altLang="en-US" b="1" dirty="0">
              <a:latin typeface="微軟正黑體" panose="020B0604030504040204" pitchFamily="34" charset="-120"/>
              <a:ea typeface="微軟正黑體" panose="020B0604030504040204" pitchFamily="34" charset="-12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857192" y="3216672"/>
          <a:ext cx="8929749" cy="5928150"/>
        </p:xfrm>
        <a:graphic>
          <a:graphicData uri="http://schemas.openxmlformats.org/drawingml/2006/table">
            <a:tbl>
              <a:tblPr/>
              <a:tblGrid>
                <a:gridCol w="1669474"/>
                <a:gridCol w="2950700"/>
                <a:gridCol w="4309575"/>
              </a:tblGrid>
              <a:tr h="248294">
                <a:tc>
                  <a:txBody>
                    <a:bodyPr/>
                    <a:lstStyle/>
                    <a:p>
                      <a:pPr algn="ctr" fontAlgn="ctr"/>
                      <a:r>
                        <a:rPr lang="zh-TW" altLang="en-US" sz="1500" b="1" i="0" u="none" strike="noStrike" dirty="0">
                          <a:solidFill>
                            <a:srgbClr val="000000"/>
                          </a:solidFill>
                          <a:latin typeface="微軟正黑體"/>
                        </a:rPr>
                        <a:t>異動</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rowSpan="2">
                  <a:txBody>
                    <a:bodyPr/>
                    <a:lstStyle/>
                    <a:p>
                      <a:pPr algn="ctr" fontAlgn="ctr"/>
                      <a:r>
                        <a:rPr lang="zh-TW" altLang="en-US" sz="1800" b="1" i="0" u="none" strike="noStrike" dirty="0">
                          <a:solidFill>
                            <a:srgbClr val="000000"/>
                          </a:solidFill>
                          <a:latin typeface="微軟正黑體"/>
                        </a:rPr>
                        <a:t>異動說明</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rowSpan="2">
                  <a:txBody>
                    <a:bodyPr/>
                    <a:lstStyle/>
                    <a:p>
                      <a:pPr algn="ctr" fontAlgn="ctr"/>
                      <a:r>
                        <a:rPr lang="zh-TW" altLang="en-US" sz="1800" b="1" i="0" u="none" strike="noStrike">
                          <a:solidFill>
                            <a:srgbClr val="000000"/>
                          </a:solidFill>
                          <a:latin typeface="微軟正黑體"/>
                        </a:rPr>
                        <a:t>備註</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r>
              <a:tr h="291197">
                <a:tc>
                  <a:txBody>
                    <a:bodyPr/>
                    <a:lstStyle/>
                    <a:p>
                      <a:pPr algn="ctr" fontAlgn="ctr"/>
                      <a:r>
                        <a:rPr lang="zh-TW" altLang="en-US" sz="1500" b="1" i="0" u="none" strike="noStrike" dirty="0">
                          <a:solidFill>
                            <a:srgbClr val="000000"/>
                          </a:solidFill>
                          <a:latin typeface="微軟正黑體"/>
                        </a:rPr>
                        <a:t>類型</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C0C0C0"/>
                    </a:solidFill>
                  </a:tcPr>
                </a:tc>
                <a:tc vMerge="1">
                  <a:txBody>
                    <a:bodyPr/>
                    <a:lstStyle/>
                    <a:p>
                      <a:endParaRPr lang="zh-TW" altLang="en-US"/>
                    </a:p>
                  </a:txBody>
                  <a:tcPr/>
                </a:tc>
                <a:tc vMerge="1">
                  <a:txBody>
                    <a:bodyPr/>
                    <a:lstStyle/>
                    <a:p>
                      <a:endParaRPr lang="zh-TW" altLang="en-US"/>
                    </a:p>
                  </a:txBody>
                  <a:tcPr/>
                </a:tc>
              </a:tr>
              <a:tr h="564634">
                <a:tc>
                  <a:txBody>
                    <a:bodyPr/>
                    <a:lstStyle/>
                    <a:p>
                      <a:pPr algn="ctr" fontAlgn="ctr"/>
                      <a:r>
                        <a:rPr lang="en-US" altLang="zh-TW" sz="1800" b="0" i="0" u="none" strike="noStrike" dirty="0">
                          <a:solidFill>
                            <a:srgbClr val="000000"/>
                          </a:solidFill>
                          <a:latin typeface="微軟正黑體"/>
                        </a:rPr>
                        <a:t>201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fontAlgn="ctr"/>
                      <a:r>
                        <a:rPr lang="zh-TW" altLang="en-US" sz="1800" b="0" i="0" u="none" strike="noStrike" dirty="0">
                          <a:solidFill>
                            <a:srgbClr val="000000"/>
                          </a:solidFill>
                          <a:latin typeface="微軟正黑體"/>
                        </a:rPr>
                        <a:t>成本中心的發貨</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800" b="0" i="0" u="none" strike="noStrike">
                          <a:solidFill>
                            <a:srgbClr val="000000"/>
                          </a:solidFill>
                          <a:latin typeface="微軟正黑體"/>
                        </a:rPr>
                        <a:t>領用非</a:t>
                      </a:r>
                      <a:r>
                        <a:rPr lang="en-US" altLang="zh-TW" sz="1800" b="0" i="0" u="none" strike="noStrike">
                          <a:solidFill>
                            <a:srgbClr val="000000"/>
                          </a:solidFill>
                          <a:latin typeface="微軟正黑體"/>
                        </a:rPr>
                        <a:t>Y</a:t>
                      </a:r>
                      <a:r>
                        <a:rPr lang="zh-TW" altLang="en-US" sz="1800" b="0" i="0" u="none" strike="noStrike">
                          <a:solidFill>
                            <a:srgbClr val="000000"/>
                          </a:solidFill>
                          <a:latin typeface="微軟正黑體"/>
                        </a:rPr>
                        <a:t>開頭物料</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64634">
                <a:tc>
                  <a:txBody>
                    <a:bodyPr/>
                    <a:lstStyle/>
                    <a:p>
                      <a:pPr algn="ctr" fontAlgn="ctr"/>
                      <a:r>
                        <a:rPr lang="en-US" altLang="zh-TW" sz="1800" b="0" i="0" u="none" strike="noStrike">
                          <a:solidFill>
                            <a:srgbClr val="000000"/>
                          </a:solidFill>
                          <a:latin typeface="微軟正黑體"/>
                        </a:rPr>
                        <a:t>202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800" b="0" i="0" u="none" strike="noStrike" dirty="0">
                          <a:solidFill>
                            <a:srgbClr val="000000"/>
                          </a:solidFill>
                          <a:latin typeface="微軟正黑體"/>
                        </a:rPr>
                        <a:t>成本中心的 </a:t>
                      </a:r>
                      <a:r>
                        <a:rPr lang="en-US" sz="1800" b="0" i="0" u="none" strike="noStrike" dirty="0">
                          <a:solidFill>
                            <a:srgbClr val="000000"/>
                          </a:solidFill>
                          <a:latin typeface="微軟正黑體"/>
                        </a:rPr>
                        <a:t>RE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800" b="0" i="0" u="none" strike="noStrike">
                          <a:solidFill>
                            <a:srgbClr val="000000"/>
                          </a:solidFill>
                          <a:latin typeface="微軟正黑體"/>
                        </a:rPr>
                        <a:t>退回非</a:t>
                      </a:r>
                      <a:r>
                        <a:rPr lang="en-US" altLang="zh-TW" sz="1800" b="0" i="0" u="none" strike="noStrike">
                          <a:solidFill>
                            <a:srgbClr val="000000"/>
                          </a:solidFill>
                          <a:latin typeface="微軟正黑體"/>
                        </a:rPr>
                        <a:t>Y</a:t>
                      </a:r>
                      <a:r>
                        <a:rPr lang="zh-TW" altLang="en-US" sz="1800" b="0" i="0" u="none" strike="noStrike">
                          <a:solidFill>
                            <a:srgbClr val="000000"/>
                          </a:solidFill>
                          <a:latin typeface="微軟正黑體"/>
                        </a:rPr>
                        <a:t>開頭物料</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75806">
                <a:tc>
                  <a:txBody>
                    <a:bodyPr/>
                    <a:lstStyle/>
                    <a:p>
                      <a:pPr algn="ctr" fontAlgn="ctr"/>
                      <a:r>
                        <a:rPr lang="en-US" altLang="zh-TW" sz="1800" b="0" i="0" u="none" strike="noStrike">
                          <a:solidFill>
                            <a:srgbClr val="000000"/>
                          </a:solidFill>
                          <a:latin typeface="微軟正黑體"/>
                        </a:rPr>
                        <a:t>291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800" b="0" i="0" u="none" strike="noStrike" dirty="0">
                          <a:solidFill>
                            <a:srgbClr val="000000"/>
                          </a:solidFill>
                          <a:latin typeface="微軟正黑體"/>
                        </a:rPr>
                        <a:t>所有科目指派</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800" b="0" i="0" u="none" strike="noStrike">
                          <a:solidFill>
                            <a:srgbClr val="000000"/>
                          </a:solidFill>
                          <a:latin typeface="微軟正黑體"/>
                        </a:rPr>
                        <a:t>自製標</a:t>
                      </a:r>
                      <a:r>
                        <a:rPr lang="en-US" altLang="zh-TW" sz="1800" b="0" i="0" u="none" strike="noStrike">
                          <a:solidFill>
                            <a:srgbClr val="000000"/>
                          </a:solidFill>
                          <a:latin typeface="微軟正黑體"/>
                        </a:rPr>
                        <a:t>/</a:t>
                      </a:r>
                      <a:r>
                        <a:rPr lang="zh-TW" altLang="en-US" sz="1800" b="0" i="0" u="none" strike="noStrike">
                          <a:solidFill>
                            <a:srgbClr val="000000"/>
                          </a:solidFill>
                          <a:latin typeface="微軟正黑體"/>
                        </a:rPr>
                        <a:t>轉印紙領用</a:t>
                      </a:r>
                      <a:r>
                        <a:rPr lang="en-US" altLang="zh-TW" sz="1800" b="0" i="0" u="none" strike="noStrike">
                          <a:solidFill>
                            <a:srgbClr val="000000"/>
                          </a:solidFill>
                          <a:latin typeface="微軟正黑體"/>
                        </a:rPr>
                        <a:t>( </a:t>
                      </a:r>
                      <a:r>
                        <a:rPr lang="zh-TW" altLang="en-US" sz="1800" b="0" i="0" u="none" strike="noStrike">
                          <a:solidFill>
                            <a:srgbClr val="000000"/>
                          </a:solidFill>
                          <a:latin typeface="微軟正黑體"/>
                        </a:rPr>
                        <a:t>空白</a:t>
                      </a:r>
                      <a:r>
                        <a:rPr lang="en-US" altLang="zh-TW" sz="1800" b="0" i="0" u="none" strike="noStrike">
                          <a:solidFill>
                            <a:srgbClr val="000000"/>
                          </a:solidFill>
                          <a:latin typeface="微軟正黑體"/>
                        </a:rPr>
                        <a:t>) (VAS </a:t>
                      </a:r>
                      <a:r>
                        <a:rPr lang="zh-TW" altLang="en-US" sz="1800" b="0" i="0" u="none" strike="noStrike">
                          <a:solidFill>
                            <a:srgbClr val="000000"/>
                          </a:solidFill>
                          <a:latin typeface="微軟正黑體"/>
                        </a:rPr>
                        <a:t>會用到的用</a:t>
                      </a:r>
                      <a:r>
                        <a:rPr lang="en-US" altLang="zh-TW" sz="1800" b="0" i="0" u="none" strike="noStrike">
                          <a:solidFill>
                            <a:srgbClr val="000000"/>
                          </a:solidFill>
                          <a:latin typeface="微軟正黑體"/>
                        </a:rPr>
                        <a:t>291</a:t>
                      </a:r>
                      <a:r>
                        <a:rPr lang="zh-TW" altLang="en-US" sz="1800" b="0" i="0" u="none" strike="noStrike">
                          <a:solidFill>
                            <a:srgbClr val="000000"/>
                          </a:solidFill>
                          <a:latin typeface="微軟正黑體"/>
                        </a:rPr>
                        <a:t>領空白</a:t>
                      </a:r>
                      <a:r>
                        <a:rPr lang="en-US" altLang="zh-TW" sz="1800" b="0" i="0" u="none" strike="noStrike">
                          <a:solidFill>
                            <a:srgbClr val="000000"/>
                          </a:solidFill>
                          <a:latin typeface="微軟正黑體"/>
                        </a:rPr>
                        <a: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64634">
                <a:tc>
                  <a:txBody>
                    <a:bodyPr/>
                    <a:lstStyle/>
                    <a:p>
                      <a:pPr algn="ctr" fontAlgn="ctr"/>
                      <a:r>
                        <a:rPr lang="en-US" altLang="zh-TW" sz="1800" b="0" i="0" u="none" strike="noStrike">
                          <a:solidFill>
                            <a:srgbClr val="000000"/>
                          </a:solidFill>
                          <a:latin typeface="微軟正黑體"/>
                        </a:rPr>
                        <a:t>901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800" b="0" i="0" u="none" strike="noStrike">
                          <a:solidFill>
                            <a:srgbClr val="000000"/>
                          </a:solidFill>
                          <a:latin typeface="微軟正黑體"/>
                        </a:rPr>
                        <a:t>庶務領用</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800" b="0" i="0" u="none" strike="noStrike" dirty="0">
                          <a:solidFill>
                            <a:srgbClr val="000000"/>
                          </a:solidFill>
                          <a:latin typeface="微軟正黑體"/>
                        </a:rPr>
                        <a:t>領用</a:t>
                      </a:r>
                      <a:r>
                        <a:rPr lang="en-US" altLang="zh-TW" sz="1800" b="0" i="0" u="none" strike="noStrike" dirty="0">
                          <a:solidFill>
                            <a:srgbClr val="000000"/>
                          </a:solidFill>
                          <a:latin typeface="微軟正黑體"/>
                        </a:rPr>
                        <a:t>Y</a:t>
                      </a:r>
                      <a:r>
                        <a:rPr lang="zh-TW" altLang="en-US" sz="1800" b="0" i="0" u="none" strike="noStrike" dirty="0">
                          <a:solidFill>
                            <a:srgbClr val="000000"/>
                          </a:solidFill>
                          <a:latin typeface="微軟正黑體"/>
                        </a:rPr>
                        <a:t>開頭物料</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64634">
                <a:tc>
                  <a:txBody>
                    <a:bodyPr/>
                    <a:lstStyle/>
                    <a:p>
                      <a:pPr algn="ctr" fontAlgn="ctr"/>
                      <a:r>
                        <a:rPr lang="en-US" altLang="zh-TW" sz="1800" b="0" i="0" u="none" strike="noStrike">
                          <a:solidFill>
                            <a:srgbClr val="000000"/>
                          </a:solidFill>
                          <a:latin typeface="微軟正黑體"/>
                        </a:rPr>
                        <a:t>903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800" b="0" i="0" u="none" strike="noStrike">
                          <a:solidFill>
                            <a:srgbClr val="000000"/>
                          </a:solidFill>
                          <a:latin typeface="微軟正黑體"/>
                        </a:rPr>
                        <a:t>測試領用</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800" b="0" i="0" u="none" strike="noStrike" dirty="0">
                          <a:solidFill>
                            <a:srgbClr val="000000"/>
                          </a:solidFill>
                          <a:latin typeface="微軟正黑體"/>
                        </a:rPr>
                        <a:t>測試領用非非</a:t>
                      </a:r>
                      <a:r>
                        <a:rPr lang="en-US" altLang="zh-TW" sz="1800" b="0" i="0" u="none" strike="noStrike" dirty="0">
                          <a:solidFill>
                            <a:srgbClr val="000000"/>
                          </a:solidFill>
                          <a:latin typeface="微軟正黑體"/>
                        </a:rPr>
                        <a:t>Y</a:t>
                      </a:r>
                      <a:r>
                        <a:rPr lang="zh-TW" altLang="en-US" sz="1800" b="0" i="0" u="none" strike="noStrike" dirty="0">
                          <a:solidFill>
                            <a:srgbClr val="000000"/>
                          </a:solidFill>
                          <a:latin typeface="微軟正黑體"/>
                        </a:rPr>
                        <a:t>開頭物料</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64634">
                <a:tc>
                  <a:txBody>
                    <a:bodyPr/>
                    <a:lstStyle/>
                    <a:p>
                      <a:pPr algn="ctr" fontAlgn="ctr"/>
                      <a:r>
                        <a:rPr lang="en-US" altLang="zh-TW" sz="1800" b="0" i="0" u="none" strike="noStrike">
                          <a:solidFill>
                            <a:srgbClr val="000000"/>
                          </a:solidFill>
                          <a:latin typeface="微軟正黑體"/>
                        </a:rPr>
                        <a:t>905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800" b="0" i="0" u="none" strike="noStrike">
                          <a:solidFill>
                            <a:srgbClr val="000000"/>
                          </a:solidFill>
                          <a:latin typeface="微軟正黑體"/>
                        </a:rPr>
                        <a:t>研發領用</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800" b="0" i="0" u="none" strike="noStrike" dirty="0">
                          <a:solidFill>
                            <a:srgbClr val="000000"/>
                          </a:solidFill>
                          <a:latin typeface="微軟正黑體"/>
                        </a:rPr>
                        <a:t>研發部門領用 </a:t>
                      </a:r>
                      <a:r>
                        <a:rPr lang="en-US" altLang="zh-TW" sz="1800" b="0" i="0" u="none" strike="noStrike" dirty="0">
                          <a:solidFill>
                            <a:srgbClr val="000000"/>
                          </a:solidFill>
                          <a:latin typeface="微軟正黑體"/>
                        </a:rPr>
                        <a:t>(R</a:t>
                      </a:r>
                      <a:r>
                        <a:rPr lang="zh-TW" altLang="en-US" sz="1800" b="0" i="0" u="none" strike="noStrike" dirty="0">
                          <a:solidFill>
                            <a:srgbClr val="000000"/>
                          </a:solidFill>
                          <a:latin typeface="微軟正黑體"/>
                        </a:rPr>
                        <a:t>類</a:t>
                      </a:r>
                      <a:r>
                        <a:rPr lang="en-US" altLang="zh-TW" sz="1800" b="0" i="0" u="none" strike="noStrike" dirty="0">
                          <a:solidFill>
                            <a:srgbClr val="000000"/>
                          </a:solidFill>
                          <a:latin typeface="微軟正黑體"/>
                        </a:rPr>
                        <a: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860415">
                <a:tc>
                  <a:txBody>
                    <a:bodyPr/>
                    <a:lstStyle/>
                    <a:p>
                      <a:pPr algn="ctr" fontAlgn="ctr"/>
                      <a:r>
                        <a:rPr lang="en-US" altLang="zh-TW" sz="1800" b="0" i="0" u="none" strike="noStrike">
                          <a:solidFill>
                            <a:srgbClr val="000000"/>
                          </a:solidFill>
                          <a:latin typeface="微軟正黑體"/>
                        </a:rPr>
                        <a:t>906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800" b="0" i="0" u="none" strike="noStrike">
                          <a:solidFill>
                            <a:srgbClr val="000000"/>
                          </a:solidFill>
                          <a:latin typeface="微軟正黑體"/>
                        </a:rPr>
                        <a:t>RE </a:t>
                      </a:r>
                      <a:r>
                        <a:rPr lang="zh-TW" altLang="en-US" sz="1800" b="0" i="0" u="none" strike="noStrike">
                          <a:solidFill>
                            <a:srgbClr val="000000"/>
                          </a:solidFill>
                          <a:latin typeface="微軟正黑體"/>
                        </a:rPr>
                        <a:t>研發領用</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800" b="0" i="0" u="none" strike="noStrike" dirty="0">
                          <a:solidFill>
                            <a:srgbClr val="000000"/>
                          </a:solidFill>
                          <a:latin typeface="微軟正黑體"/>
                        </a:rPr>
                        <a:t>研發部門將原物料退回庫存。資材請開發代購原料也用此方法入庫。</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64634">
                <a:tc>
                  <a:txBody>
                    <a:bodyPr/>
                    <a:lstStyle/>
                    <a:p>
                      <a:pPr algn="ctr" fontAlgn="ctr"/>
                      <a:r>
                        <a:rPr lang="en-US" altLang="zh-TW" sz="1800" b="0" i="0" u="none" strike="noStrike">
                          <a:solidFill>
                            <a:srgbClr val="000000"/>
                          </a:solidFill>
                          <a:latin typeface="微軟正黑體"/>
                        </a:rPr>
                        <a:t>907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800" b="0" i="0" u="none" strike="noStrike">
                          <a:solidFill>
                            <a:srgbClr val="000000"/>
                          </a:solidFill>
                          <a:latin typeface="微軟正黑體"/>
                        </a:rPr>
                        <a:t>膠藥水領用</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800" b="0" i="0" u="none" strike="noStrike" dirty="0">
                          <a:solidFill>
                            <a:srgbClr val="000000"/>
                          </a:solidFill>
                          <a:latin typeface="微軟正黑體"/>
                        </a:rPr>
                        <a:t>生產部門領用膠藥水</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64634">
                <a:tc>
                  <a:txBody>
                    <a:bodyPr/>
                    <a:lstStyle/>
                    <a:p>
                      <a:pPr algn="ctr" fontAlgn="ctr"/>
                      <a:r>
                        <a:rPr lang="en-US" altLang="zh-TW" sz="1800" b="0" i="0" u="none" strike="noStrike">
                          <a:solidFill>
                            <a:srgbClr val="000000"/>
                          </a:solidFill>
                          <a:latin typeface="微軟正黑體"/>
                        </a:rPr>
                        <a:t>909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800" b="0" i="0" u="none" strike="noStrike">
                          <a:solidFill>
                            <a:srgbClr val="000000"/>
                          </a:solidFill>
                          <a:latin typeface="微軟正黑體"/>
                        </a:rPr>
                        <a:t>油墨</a:t>
                      </a:r>
                      <a:r>
                        <a:rPr lang="en-US" altLang="zh-TW" sz="1800" b="0" i="0" u="none" strike="noStrike">
                          <a:solidFill>
                            <a:srgbClr val="000000"/>
                          </a:solidFill>
                          <a:latin typeface="微軟正黑體"/>
                        </a:rPr>
                        <a:t>/</a:t>
                      </a:r>
                      <a:r>
                        <a:rPr lang="zh-TW" altLang="en-US" sz="1800" b="0" i="0" u="none" strike="noStrike">
                          <a:solidFill>
                            <a:srgbClr val="000000"/>
                          </a:solidFill>
                          <a:latin typeface="微軟正黑體"/>
                        </a:rPr>
                        <a:t>油漆 生產領用</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800" b="0" i="0" u="none" strike="noStrike" dirty="0">
                          <a:solidFill>
                            <a:srgbClr val="000000"/>
                          </a:solidFill>
                          <a:latin typeface="微軟正黑體"/>
                        </a:rPr>
                        <a:t>生產部門領用 印刷油墨</a:t>
                      </a:r>
                      <a:r>
                        <a:rPr lang="en-US" altLang="zh-TW" sz="1800" b="0" i="0" u="none" strike="noStrike" dirty="0">
                          <a:solidFill>
                            <a:srgbClr val="000000"/>
                          </a:solidFill>
                          <a:latin typeface="微軟正黑體"/>
                        </a:rPr>
                        <a:t>/</a:t>
                      </a:r>
                      <a:r>
                        <a:rPr lang="zh-TW" altLang="en-US" sz="1800" b="0" i="0" u="none" strike="noStrike" dirty="0">
                          <a:solidFill>
                            <a:srgbClr val="000000"/>
                          </a:solidFill>
                          <a:latin typeface="微軟正黑體"/>
                        </a:rPr>
                        <a:t>油漆</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4" name="文字方塊 3">
            <a:extLst>
              <a:ext uri="{FF2B5EF4-FFF2-40B4-BE49-F238E27FC236}">
                <a16:creationId xmlns:a16="http://schemas.microsoft.com/office/drawing/2014/main" xmlns="" id="{8ECF4CE1-DDC2-62E8-3C4E-7ECD29FF75F3}"/>
              </a:ext>
            </a:extLst>
          </p:cNvPr>
          <p:cNvSpPr txBox="1"/>
          <p:nvPr/>
        </p:nvSpPr>
        <p:spPr>
          <a:xfrm>
            <a:off x="2507711" y="860721"/>
            <a:ext cx="7218711" cy="415498"/>
          </a:xfrm>
          <a:prstGeom prst="rect">
            <a:avLst/>
          </a:prstGeom>
          <a:noFill/>
        </p:spPr>
        <p:txBody>
          <a:bodyPr wrap="square" lIns="137160" tIns="68580" rIns="137160" bIns="68580">
            <a:spAutoFit/>
          </a:bodyPr>
          <a:lstStyle/>
          <a:p>
            <a:pPr eaLnBrk="0" hangingPunct="0"/>
            <a:r>
              <a:rPr kumimoji="0" lang="en-US" altLang="zh-TW" b="1" dirty="0" smtClean="0">
                <a:latin typeface="微軟正黑體" panose="020B0604030504040204" pitchFamily="34" charset="-120"/>
                <a:ea typeface="微軟正黑體" panose="020B0604030504040204" pitchFamily="34" charset="-120"/>
              </a:rPr>
              <a:t>MM-IM-00</a:t>
            </a:r>
            <a:r>
              <a:rPr lang="en-US" altLang="zh-TW" b="1" dirty="0" smtClean="0">
                <a:latin typeface="微軟正黑體" panose="020B0604030504040204" pitchFamily="34" charset="-120"/>
                <a:ea typeface="微軟正黑體" panose="020B0604030504040204" pitchFamily="34" charset="-120"/>
              </a:rPr>
              <a:t>5</a:t>
            </a:r>
            <a:r>
              <a:rPr kumimoji="0" lang="en-US" altLang="zh-TW" b="1" dirty="0" smtClean="0">
                <a:latin typeface="微軟正黑體" panose="020B0604030504040204" pitchFamily="34" charset="-120"/>
                <a:ea typeface="微軟正黑體" panose="020B0604030504040204" pitchFamily="34" charset="-120"/>
              </a:rPr>
              <a:t>0 </a:t>
            </a:r>
            <a:r>
              <a:rPr lang="zh-TW" altLang="en-US" b="1" dirty="0">
                <a:latin typeface="微軟正黑體" panose="020B0604030504040204" pitchFamily="34" charset="-120"/>
                <a:ea typeface="微軟正黑體" panose="020B0604030504040204" pitchFamily="34" charset="-120"/>
              </a:rPr>
              <a:t>部門</a:t>
            </a:r>
            <a:r>
              <a:rPr lang="zh-TW" altLang="en-US" b="1" dirty="0" smtClean="0">
                <a:latin typeface="微軟正黑體" panose="020B0604030504040204" pitchFamily="34" charset="-120"/>
                <a:ea typeface="微軟正黑體" panose="020B0604030504040204" pitchFamily="34" charset="-120"/>
              </a:rPr>
              <a:t>領料</a:t>
            </a:r>
            <a:endParaRPr kumimoji="0" lang="zh-TW" altLang="en-US" b="1" dirty="0">
              <a:latin typeface="微軟正黑體" panose="020B0604030504040204" pitchFamily="34" charset="-120"/>
              <a:ea typeface="微軟正黑體" panose="020B0604030504040204" pitchFamily="34" charset="-120"/>
            </a:endParaRPr>
          </a:p>
        </p:txBody>
      </p:sp>
      <p:sp>
        <p:nvSpPr>
          <p:cNvPr id="7" name="Google Shape;204;p4"/>
          <p:cNvSpPr/>
          <p:nvPr/>
        </p:nvSpPr>
        <p:spPr>
          <a:xfrm>
            <a:off x="197114" y="1594875"/>
            <a:ext cx="17911883" cy="8400709"/>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r>
              <a:rPr lang="en-US" sz="2400" dirty="0" err="1">
                <a:solidFill>
                  <a:schemeClr val="dk1"/>
                </a:solidFill>
                <a:latin typeface="Arial"/>
                <a:ea typeface="Arial"/>
                <a:cs typeface="Arial"/>
                <a:sym typeface="Arial"/>
              </a:rPr>
              <a:t>流程補充說明</a:t>
            </a:r>
            <a:r>
              <a:rPr lang="en-US" sz="2400" dirty="0">
                <a:solidFill>
                  <a:schemeClr val="dk1"/>
                </a:solidFill>
                <a:latin typeface="Arial"/>
                <a:ea typeface="Arial"/>
                <a:cs typeface="Arial"/>
                <a:sym typeface="Arial"/>
              </a:rPr>
              <a:t>:</a:t>
            </a:r>
          </a:p>
          <a:p>
            <a:endParaRPr lang="en-US" sz="2400" dirty="0">
              <a:solidFill>
                <a:schemeClr val="dk1"/>
              </a:solidFill>
            </a:endParaRPr>
          </a:p>
          <a:p>
            <a:r>
              <a:rPr lang="en-US" altLang="zh-TW" sz="2400" dirty="0" smtClean="0">
                <a:solidFill>
                  <a:schemeClr val="dk1"/>
                </a:solidFill>
                <a:latin typeface="Arial"/>
                <a:ea typeface="Arial"/>
                <a:cs typeface="Arial"/>
                <a:sym typeface="Arial"/>
              </a:rPr>
              <a:t>2  </a:t>
            </a:r>
            <a:r>
              <a:rPr lang="zh-TW" altLang="en-US" sz="2400" dirty="0" smtClean="0">
                <a:solidFill>
                  <a:schemeClr val="dk1"/>
                </a:solidFill>
                <a:latin typeface="Arial"/>
                <a:ea typeface="Arial"/>
                <a:cs typeface="Arial"/>
                <a:sym typeface="Arial"/>
              </a:rPr>
              <a:t>部門領用相關異動類型</a:t>
            </a:r>
            <a:endParaRPr lang="en-US" altLang="zh-TW" sz="2400" dirty="0" smtClean="0">
              <a:solidFill>
                <a:schemeClr val="dk1"/>
              </a:solidFill>
              <a:latin typeface="Arial"/>
              <a:ea typeface="Arial"/>
              <a:cs typeface="Arial"/>
              <a:sym typeface="Arial"/>
            </a:endParaRPr>
          </a:p>
          <a:p>
            <a:endParaRPr lang="en-US" altLang="zh-TW" sz="2400" dirty="0">
              <a:solidFill>
                <a:schemeClr val="dk1"/>
              </a:solidFill>
              <a:latin typeface="Arial"/>
              <a:ea typeface="Arial"/>
              <a:cs typeface="Arial"/>
              <a:sym typeface="Arial"/>
            </a:endParaRPr>
          </a:p>
          <a:p>
            <a:endParaRPr lang="en-US" altLang="zh-TW" sz="2400" dirty="0">
              <a:solidFill>
                <a:schemeClr val="dk1"/>
              </a:solidFill>
            </a:endParaRPr>
          </a:p>
          <a:p>
            <a:r>
              <a:rPr lang="zh-TW" altLang="en-US" sz="2400" dirty="0">
                <a:solidFill>
                  <a:schemeClr val="dk1"/>
                </a:solidFill>
                <a:latin typeface="Arial"/>
                <a:ea typeface="Arial"/>
                <a:cs typeface="Arial"/>
                <a:sym typeface="Arial"/>
              </a:rPr>
              <a:t>      </a:t>
            </a:r>
            <a:endParaRPr lang="zh-TW" altLang="en-US" sz="2400" dirty="0"/>
          </a:p>
          <a:p>
            <a:r>
              <a:rPr lang="en-US" sz="2400" dirty="0">
                <a:solidFill>
                  <a:schemeClr val="dk1"/>
                </a:solidFill>
                <a:latin typeface="Arial"/>
                <a:ea typeface="Arial"/>
                <a:cs typeface="Arial"/>
                <a:sym typeface="Arial"/>
              </a:rPr>
              <a:t> </a:t>
            </a:r>
            <a:endParaRPr dirty="0"/>
          </a:p>
          <a:p>
            <a:endParaRPr dirty="0">
              <a:solidFill>
                <a:schemeClr val="dk1"/>
              </a:solidFill>
              <a:latin typeface="Arial"/>
              <a:ea typeface="Arial"/>
              <a:cs typeface="Arial"/>
              <a:sym typeface="Arial"/>
            </a:endParaRPr>
          </a:p>
        </p:txBody>
      </p:sp>
      <p:sp>
        <p:nvSpPr>
          <p:cNvPr id="8" name="TextBox 2"/>
          <p:cNvSpPr/>
          <p:nvPr/>
        </p:nvSpPr>
        <p:spPr>
          <a:xfrm>
            <a:off x="16787866" y="735228"/>
            <a:ext cx="1357322" cy="33710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2025/07/22</a:t>
            </a:r>
            <a:endParaRPr lang="en-US" sz="1600" b="0" strike="noStrike" spc="-1" dirty="0">
              <a:solidFill>
                <a:srgbClr val="000000"/>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5" name="流程圖: 結束點 8"/>
          <p:cNvSpPr/>
          <p:nvPr/>
        </p:nvSpPr>
        <p:spPr>
          <a:xfrm>
            <a:off x="3242520" y="2150280"/>
            <a:ext cx="1797120" cy="518760"/>
          </a:xfrm>
          <a:prstGeom prst="flowChartTermina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流程</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開始或結束點</a:t>
            </a:r>
            <a:endParaRPr lang="en-US" sz="1500" b="0" strike="noStrike" spc="-1">
              <a:solidFill>
                <a:srgbClr val="000000"/>
              </a:solidFill>
              <a:latin typeface="Calibri"/>
            </a:endParaRPr>
          </a:p>
        </p:txBody>
      </p:sp>
      <p:sp>
        <p:nvSpPr>
          <p:cNvPr id="2976" name="文字方塊 12"/>
          <p:cNvSpPr/>
          <p:nvPr/>
        </p:nvSpPr>
        <p:spPr>
          <a:xfrm>
            <a:off x="5510880" y="2833560"/>
            <a:ext cx="6012720" cy="191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上方</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若本作業為系統交易請輸入該系統的交易代碼</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中間區塊</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動作</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作業</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系統交易 的名稱</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左下方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此處請輸入系統名稱</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若非系統交易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請留空白</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右下方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有自動化程序</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請輸入自動</a:t>
            </a:r>
            <a:endParaRPr lang="en-US" sz="1800" b="0" strike="noStrike" spc="-1">
              <a:solidFill>
                <a:srgbClr val="000000"/>
              </a:solidFill>
              <a:latin typeface="Calibri"/>
            </a:endParaRPr>
          </a:p>
          <a:p>
            <a:pPr defTabSz="457200">
              <a:lnSpc>
                <a:spcPct val="100000"/>
              </a:lnSpc>
            </a:pPr>
            <a:endParaRPr lang="en-US" sz="1800" b="0" strike="noStrike" spc="-1">
              <a:solidFill>
                <a:srgbClr val="000000"/>
              </a:solidFill>
              <a:latin typeface="Calibri"/>
            </a:endParaRPr>
          </a:p>
        </p:txBody>
      </p:sp>
      <p:sp>
        <p:nvSpPr>
          <p:cNvPr id="2977" name="文字方塊 15"/>
          <p:cNvSpPr/>
          <p:nvPr/>
        </p:nvSpPr>
        <p:spPr>
          <a:xfrm>
            <a:off x="5510880" y="2296440"/>
            <a:ext cx="33890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流程起始點或結束點</a:t>
            </a:r>
            <a:endParaRPr lang="en-US" sz="1800" b="0" strike="noStrike" spc="-1">
              <a:solidFill>
                <a:srgbClr val="000000"/>
              </a:solidFill>
              <a:latin typeface="Calibri"/>
            </a:endParaRPr>
          </a:p>
        </p:txBody>
      </p:sp>
      <p:sp>
        <p:nvSpPr>
          <p:cNvPr id="2978" name="文字方塊 24"/>
          <p:cNvSpPr/>
          <p:nvPr/>
        </p:nvSpPr>
        <p:spPr>
          <a:xfrm>
            <a:off x="2548800" y="1451160"/>
            <a:ext cx="5504760" cy="48744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本區域請輸入部門或是工作職掌</a:t>
            </a:r>
            <a:r>
              <a:rPr lang="en-US" sz="1600" b="0" strike="noStrike" spc="-1">
                <a:solidFill>
                  <a:schemeClr val="dk1"/>
                </a:solidFill>
                <a:latin typeface="微軟正黑體"/>
                <a:ea typeface="微軟正黑體"/>
              </a:rPr>
              <a:t>. </a:t>
            </a:r>
            <a:endParaRPr lang="en-US" sz="1600" b="0" strike="noStrike" spc="-1">
              <a:solidFill>
                <a:srgbClr val="000000"/>
              </a:solidFill>
              <a:latin typeface="Calibri"/>
            </a:endParaRPr>
          </a:p>
          <a:p>
            <a:pPr defTabSz="457200">
              <a:lnSpc>
                <a:spcPct val="100000"/>
              </a:lnSpc>
            </a:pPr>
            <a:r>
              <a:rPr lang="zh-TW" sz="1600" b="0" strike="noStrike" spc="-1">
                <a:solidFill>
                  <a:schemeClr val="dk1"/>
                </a:solidFill>
                <a:latin typeface="微軟正黑體"/>
                <a:ea typeface="微軟正黑體"/>
              </a:rPr>
              <a:t>例如</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業務處 或 業務處</a:t>
            </a:r>
            <a:r>
              <a:rPr lang="en-US" sz="1600" b="0" strike="noStrike" spc="-1">
                <a:solidFill>
                  <a:schemeClr val="dk1"/>
                </a:solidFill>
                <a:latin typeface="微軟正黑體"/>
                <a:ea typeface="微軟正黑體"/>
              </a:rPr>
              <a:t>/</a:t>
            </a:r>
            <a:r>
              <a:rPr lang="zh-TW" sz="1600" b="0" strike="noStrike" spc="-1">
                <a:solidFill>
                  <a:schemeClr val="dk1"/>
                </a:solidFill>
                <a:latin typeface="微軟正黑體"/>
                <a:ea typeface="微軟正黑體"/>
              </a:rPr>
              <a:t>業務經理 或 業務人員</a:t>
            </a:r>
            <a:endParaRPr lang="en-US" sz="1600" b="0" strike="noStrike" spc="-1">
              <a:solidFill>
                <a:srgbClr val="000000"/>
              </a:solidFill>
              <a:latin typeface="Calibri"/>
            </a:endParaRPr>
          </a:p>
        </p:txBody>
      </p:sp>
      <p:sp>
        <p:nvSpPr>
          <p:cNvPr id="2979" name="文字方塊 25"/>
          <p:cNvSpPr/>
          <p:nvPr/>
        </p:nvSpPr>
        <p:spPr>
          <a:xfrm>
            <a:off x="240480" y="1840680"/>
            <a:ext cx="206856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本區塊用來說明本流程動作所需要的資料來源</a:t>
            </a:r>
            <a:r>
              <a:rPr lang="en-US" sz="1600" b="0" strike="noStrike" spc="-1">
                <a:solidFill>
                  <a:schemeClr val="dk1"/>
                </a:solidFill>
                <a:latin typeface="微軟正黑體"/>
                <a:ea typeface="微軟正黑體"/>
              </a:rPr>
              <a:t> 包含前置作業流程,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sp>
        <p:nvSpPr>
          <p:cNvPr id="2980" name="文字方塊 26"/>
          <p:cNvSpPr/>
          <p:nvPr/>
        </p:nvSpPr>
        <p:spPr>
          <a:xfrm>
            <a:off x="12055680" y="1856160"/>
            <a:ext cx="208584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本區塊用來說明本流程動作所會產出的結果</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包含後續作業流程</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graphicFrame>
        <p:nvGraphicFramePr>
          <p:cNvPr id="2981" name="表格 30"/>
          <p:cNvGraphicFramePr/>
          <p:nvPr/>
        </p:nvGraphicFramePr>
        <p:xfrm>
          <a:off x="3242520" y="300240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sp>
        <p:nvSpPr>
          <p:cNvPr id="2982" name="流程圖: 預設處理作業 21"/>
          <p:cNvSpPr/>
          <p:nvPr/>
        </p:nvSpPr>
        <p:spPr>
          <a:xfrm>
            <a:off x="3242520" y="4808880"/>
            <a:ext cx="1812240" cy="1237680"/>
          </a:xfrm>
          <a:prstGeom prst="flowChartPredefined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lnSpc>
                <a:spcPct val="100000"/>
              </a:lnSpc>
            </a:pPr>
            <a:r>
              <a:rPr lang="en-US" sz="1500" b="0" strike="noStrike" spc="-1">
                <a:solidFill>
                  <a:schemeClr val="dk1"/>
                </a:solidFill>
                <a:latin typeface="微軟正黑體"/>
                <a:ea typeface="微軟正黑體"/>
              </a:rPr>
              <a:t>XXX-001-02</a:t>
            </a:r>
            <a:endParaRPr lang="en-US" sz="1500" b="0" strike="noStrike" spc="-1">
              <a:solidFill>
                <a:srgbClr val="000000"/>
              </a:solidFill>
              <a:latin typeface="Calibri"/>
            </a:endParaRPr>
          </a:p>
          <a:p>
            <a:pPr algn="ctr" defTabSz="457200">
              <a:lnSpc>
                <a:spcPct val="100000"/>
              </a:lnSpc>
            </a:pPr>
            <a:r>
              <a:rPr lang="en-US" sz="1500" b="0" strike="noStrike" spc="-1">
                <a:solidFill>
                  <a:schemeClr val="dk1"/>
                </a:solidFill>
                <a:latin typeface="微軟正黑體"/>
                <a:ea typeface="微軟正黑體"/>
              </a:rPr>
              <a:t>XXX</a:t>
            </a:r>
            <a:r>
              <a:rPr lang="zh-TW" sz="1500" b="0" strike="noStrike" spc="-1">
                <a:solidFill>
                  <a:schemeClr val="dk1"/>
                </a:solidFill>
                <a:latin typeface="微軟正黑體"/>
                <a:ea typeface="微軟正黑體"/>
              </a:rPr>
              <a:t>作業流程</a:t>
            </a:r>
            <a:endParaRPr lang="en-US" sz="1500" b="0" strike="noStrike" spc="-1">
              <a:solidFill>
                <a:srgbClr val="000000"/>
              </a:solidFill>
              <a:latin typeface="Calibri"/>
            </a:endParaRPr>
          </a:p>
        </p:txBody>
      </p:sp>
      <p:sp>
        <p:nvSpPr>
          <p:cNvPr id="2983" name="流程圖: 文件 42"/>
          <p:cNvSpPr/>
          <p:nvPr/>
        </p:nvSpPr>
        <p:spPr>
          <a:xfrm>
            <a:off x="3242520" y="6336000"/>
            <a:ext cx="1841400" cy="1237680"/>
          </a:xfrm>
          <a:prstGeom prst="flowChartDocument">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產出或投入</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文件</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報表</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表單</a:t>
            </a:r>
            <a:endParaRPr lang="en-US" sz="1500" b="0" strike="noStrike" spc="-1">
              <a:solidFill>
                <a:srgbClr val="000000"/>
              </a:solidFill>
              <a:latin typeface="Calibri"/>
            </a:endParaRPr>
          </a:p>
        </p:txBody>
      </p:sp>
      <p:sp>
        <p:nvSpPr>
          <p:cNvPr id="2984" name="文字方塊 46"/>
          <p:cNvSpPr/>
          <p:nvPr/>
        </p:nvSpPr>
        <p:spPr>
          <a:xfrm>
            <a:off x="5568840" y="5289480"/>
            <a:ext cx="41036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於本流程中有關聯的流程編號與名稱</a:t>
            </a:r>
            <a:endParaRPr lang="en-US" sz="1800" b="0" strike="noStrike" spc="-1">
              <a:solidFill>
                <a:srgbClr val="000000"/>
              </a:solidFill>
              <a:latin typeface="Calibri"/>
            </a:endParaRPr>
          </a:p>
        </p:txBody>
      </p:sp>
      <p:sp>
        <p:nvSpPr>
          <p:cNvPr id="2985" name="文字方塊 47"/>
          <p:cNvSpPr/>
          <p:nvPr/>
        </p:nvSpPr>
        <p:spPr>
          <a:xfrm>
            <a:off x="5568840" y="6418440"/>
            <a:ext cx="53132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於本流程中投入或是產出的文件</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報表</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表單名稱</a:t>
            </a:r>
            <a:endParaRPr lang="en-US" sz="1800" b="0" strike="noStrike" spc="-1">
              <a:solidFill>
                <a:srgbClr val="000000"/>
              </a:solidFill>
              <a:latin typeface="Calibri"/>
            </a:endParaRPr>
          </a:p>
        </p:txBody>
      </p:sp>
      <p:sp>
        <p:nvSpPr>
          <p:cNvPr id="2986" name="流程圖: 決策 50"/>
          <p:cNvSpPr/>
          <p:nvPr/>
        </p:nvSpPr>
        <p:spPr>
          <a:xfrm>
            <a:off x="7394040" y="7226640"/>
            <a:ext cx="1841400" cy="1177200"/>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決策或判斷點</a:t>
            </a:r>
            <a:endParaRPr lang="en-US" sz="1500" b="0" strike="noStrike" spc="-1">
              <a:solidFill>
                <a:srgbClr val="000000"/>
              </a:solidFill>
              <a:latin typeface="Calibri"/>
            </a:endParaRPr>
          </a:p>
        </p:txBody>
      </p:sp>
      <p:sp>
        <p:nvSpPr>
          <p:cNvPr id="2987" name="流程圖: 接點 51"/>
          <p:cNvSpPr/>
          <p:nvPr/>
        </p:nvSpPr>
        <p:spPr>
          <a:xfrm>
            <a:off x="7989840" y="8646120"/>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A</a:t>
            </a:r>
            <a:endParaRPr lang="en-US" sz="1800" b="0" strike="noStrike" spc="-1">
              <a:solidFill>
                <a:srgbClr val="000000"/>
              </a:solidFill>
              <a:latin typeface="Calibri"/>
            </a:endParaRPr>
          </a:p>
        </p:txBody>
      </p:sp>
      <p:sp>
        <p:nvSpPr>
          <p:cNvPr id="2988" name="流程圖: 換頁接點 52"/>
          <p:cNvSpPr/>
          <p:nvPr/>
        </p:nvSpPr>
        <p:spPr>
          <a:xfrm>
            <a:off x="8002440" y="9410400"/>
            <a:ext cx="559800" cy="466560"/>
          </a:xfrm>
          <a:prstGeom prst="flowChartOffpage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P2</a:t>
            </a:r>
            <a:endParaRPr lang="en-US" sz="1800" b="0" strike="noStrike" spc="-1">
              <a:solidFill>
                <a:srgbClr val="000000"/>
              </a:solidFill>
              <a:latin typeface="Calibri"/>
            </a:endParaRPr>
          </a:p>
        </p:txBody>
      </p:sp>
      <p:sp>
        <p:nvSpPr>
          <p:cNvPr id="2989" name="文字方塊 53"/>
          <p:cNvSpPr/>
          <p:nvPr/>
        </p:nvSpPr>
        <p:spPr>
          <a:xfrm>
            <a:off x="9526680" y="7716240"/>
            <a:ext cx="185580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決策或是判斷點</a:t>
            </a:r>
            <a:endParaRPr lang="en-US" sz="1800" b="0" strike="noStrike" spc="-1">
              <a:solidFill>
                <a:srgbClr val="000000"/>
              </a:solidFill>
              <a:latin typeface="Calibri"/>
            </a:endParaRPr>
          </a:p>
        </p:txBody>
      </p:sp>
      <p:sp>
        <p:nvSpPr>
          <p:cNvPr id="2990" name="文字方塊 54"/>
          <p:cNvSpPr/>
          <p:nvPr/>
        </p:nvSpPr>
        <p:spPr>
          <a:xfrm>
            <a:off x="9571320" y="869652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同一頁面上的連結點</a:t>
            </a:r>
            <a:endParaRPr lang="en-US" sz="1800" b="0" strike="noStrike" spc="-1">
              <a:solidFill>
                <a:srgbClr val="000000"/>
              </a:solidFill>
              <a:latin typeface="Calibri"/>
            </a:endParaRPr>
          </a:p>
        </p:txBody>
      </p:sp>
      <p:sp>
        <p:nvSpPr>
          <p:cNvPr id="2991" name="文字方塊 55"/>
          <p:cNvSpPr/>
          <p:nvPr/>
        </p:nvSpPr>
        <p:spPr>
          <a:xfrm>
            <a:off x="9571320" y="941040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換頁之連接點</a:t>
            </a:r>
            <a:endParaRPr lang="en-US" sz="1800" b="0" strike="noStrike" spc="-1">
              <a:solidFill>
                <a:srgbClr val="000000"/>
              </a:solidFill>
              <a:latin typeface="Calibri"/>
            </a:endParaRPr>
          </a:p>
        </p:txBody>
      </p:sp>
      <p:sp>
        <p:nvSpPr>
          <p:cNvPr id="2992" name="文字方塊 21"/>
          <p:cNvSpPr/>
          <p:nvPr/>
        </p:nvSpPr>
        <p:spPr>
          <a:xfrm>
            <a:off x="16660800" y="226440"/>
            <a:ext cx="139140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本區塊之頁次</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日期會自動更新</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日期為最後一次更新日</a:t>
            </a:r>
            <a:endParaRPr lang="en-US" sz="1600" b="0" strike="noStrike" spc="-1">
              <a:solidFill>
                <a:srgbClr val="000000"/>
              </a:solidFill>
              <a:latin typeface="Calibri"/>
            </a:endParaRPr>
          </a:p>
        </p:txBody>
      </p:sp>
      <p:sp>
        <p:nvSpPr>
          <p:cNvPr id="2993" name="文字方塊 53"/>
          <p:cNvSpPr/>
          <p:nvPr/>
        </p:nvSpPr>
        <p:spPr>
          <a:xfrm>
            <a:off x="5545800" y="8023320"/>
            <a:ext cx="1556640" cy="548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說明號碼，位於右上角</a:t>
            </a:r>
            <a:endParaRPr lang="en-US" sz="1800" b="0" strike="noStrike" spc="-1">
              <a:solidFill>
                <a:srgbClr val="000000"/>
              </a:solidFill>
              <a:latin typeface="Calibri"/>
            </a:endParaRPr>
          </a:p>
        </p:txBody>
      </p:sp>
      <p:graphicFrame>
        <p:nvGraphicFramePr>
          <p:cNvPr id="2994" name="表格 30"/>
          <p:cNvGraphicFramePr/>
          <p:nvPr/>
        </p:nvGraphicFramePr>
        <p:xfrm>
          <a:off x="3242520" y="811944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grpSp>
        <p:nvGrpSpPr>
          <p:cNvPr id="2995" name="Group 232"/>
          <p:cNvGrpSpPr/>
          <p:nvPr/>
        </p:nvGrpSpPr>
        <p:grpSpPr>
          <a:xfrm>
            <a:off x="4888080" y="7911720"/>
            <a:ext cx="557280" cy="407880"/>
            <a:chOff x="4888080" y="7911720"/>
            <a:chExt cx="557280" cy="407880"/>
          </a:xfrm>
        </p:grpSpPr>
        <p:sp>
          <p:nvSpPr>
            <p:cNvPr id="2996" name="Oval 233"/>
            <p:cNvSpPr/>
            <p:nvPr/>
          </p:nvSpPr>
          <p:spPr>
            <a:xfrm>
              <a:off x="4888080" y="7911720"/>
              <a:ext cx="410760" cy="40788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4050" b="0" strike="noStrike" spc="-1">
                <a:solidFill>
                  <a:schemeClr val="lt1"/>
                </a:solidFill>
                <a:latin typeface="Calibri"/>
              </a:endParaRPr>
            </a:p>
          </p:txBody>
        </p:sp>
        <p:sp>
          <p:nvSpPr>
            <p:cNvPr id="2997" name="TextBox 234"/>
            <p:cNvSpPr/>
            <p:nvPr/>
          </p:nvSpPr>
          <p:spPr>
            <a:xfrm>
              <a:off x="4912560" y="7931520"/>
              <a:ext cx="5328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500" b="0" strike="noStrike" spc="-1">
                  <a:solidFill>
                    <a:schemeClr val="dk1"/>
                  </a:solidFill>
                  <a:latin typeface="微軟正黑體"/>
                  <a:ea typeface="微軟正黑體"/>
                </a:rPr>
                <a:t>1</a:t>
              </a:r>
              <a:endParaRPr lang="en-US" sz="1500" b="0" strike="noStrike" spc="-1">
                <a:solidFill>
                  <a:srgbClr val="000000"/>
                </a:solidFill>
                <a:latin typeface="Calibri"/>
              </a:endParaRPr>
            </a:p>
          </p:txBody>
        </p:sp>
      </p:grpSp>
      <p:grpSp>
        <p:nvGrpSpPr>
          <p:cNvPr id="2998" name="Group 4"/>
          <p:cNvGrpSpPr/>
          <p:nvPr/>
        </p:nvGrpSpPr>
        <p:grpSpPr>
          <a:xfrm>
            <a:off x="10674360" y="835920"/>
            <a:ext cx="3404880" cy="417600"/>
            <a:chOff x="10674360" y="835920"/>
            <a:chExt cx="3404880" cy="417600"/>
          </a:xfrm>
        </p:grpSpPr>
        <p:grpSp>
          <p:nvGrpSpPr>
            <p:cNvPr id="2999" name="Group 24"/>
            <p:cNvGrpSpPr/>
            <p:nvPr/>
          </p:nvGrpSpPr>
          <p:grpSpPr>
            <a:xfrm>
              <a:off x="10674360" y="835920"/>
              <a:ext cx="1297080" cy="417600"/>
              <a:chOff x="10674360" y="835920"/>
              <a:chExt cx="1297080" cy="417600"/>
            </a:xfrm>
          </p:grpSpPr>
          <p:sp>
            <p:nvSpPr>
              <p:cNvPr id="3000" name="文字方塊 21"/>
              <p:cNvSpPr/>
              <p:nvPr/>
            </p:nvSpPr>
            <p:spPr>
              <a:xfrm>
                <a:off x="10674360" y="83592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sp>
            <p:nvSpPr>
              <p:cNvPr id="3001" name="文字方塊 22"/>
              <p:cNvSpPr/>
              <p:nvPr/>
            </p:nvSpPr>
            <p:spPr>
              <a:xfrm>
                <a:off x="11027160" y="858960"/>
                <a:ext cx="94428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新流程</a:t>
                </a:r>
                <a:endParaRPr lang="en-US" sz="2000" b="0" strike="noStrike" spc="-1">
                  <a:solidFill>
                    <a:srgbClr val="000000"/>
                  </a:solidFill>
                  <a:latin typeface="Calibri"/>
                </a:endParaRPr>
              </a:p>
            </p:txBody>
          </p:sp>
        </p:grpSp>
        <p:grpSp>
          <p:nvGrpSpPr>
            <p:cNvPr id="3002" name="Group 31"/>
            <p:cNvGrpSpPr/>
            <p:nvPr/>
          </p:nvGrpSpPr>
          <p:grpSpPr>
            <a:xfrm>
              <a:off x="11982960" y="843840"/>
              <a:ext cx="2096280" cy="409680"/>
              <a:chOff x="11982960" y="843840"/>
              <a:chExt cx="2096280" cy="409680"/>
            </a:xfrm>
          </p:grpSpPr>
          <p:sp>
            <p:nvSpPr>
              <p:cNvPr id="3003" name="文字方塊 23"/>
              <p:cNvSpPr/>
              <p:nvPr/>
            </p:nvSpPr>
            <p:spPr>
              <a:xfrm>
                <a:off x="12371400" y="858960"/>
                <a:ext cx="170784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權責單位改變</a:t>
                </a:r>
                <a:endParaRPr lang="en-US" sz="2000" b="0" strike="noStrike" spc="-1">
                  <a:solidFill>
                    <a:srgbClr val="000000"/>
                  </a:solidFill>
                  <a:latin typeface="Calibri"/>
                </a:endParaRPr>
              </a:p>
            </p:txBody>
          </p:sp>
          <p:sp>
            <p:nvSpPr>
              <p:cNvPr id="3004" name="文字方塊 21"/>
              <p:cNvSpPr/>
              <p:nvPr/>
            </p:nvSpPr>
            <p:spPr>
              <a:xfrm>
                <a:off x="11982960" y="84384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grpSp>
      </p:grpSp>
      <p:sp>
        <p:nvSpPr>
          <p:cNvPr id="3005" name="TextBox 36"/>
          <p:cNvSpPr/>
          <p:nvPr/>
        </p:nvSpPr>
        <p:spPr>
          <a:xfrm>
            <a:off x="2521800" y="811440"/>
            <a:ext cx="8244000" cy="45540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chemeClr val="dk1"/>
                </a:solidFill>
                <a:latin typeface="Microsoft JhengHei"/>
                <a:ea typeface="Microsoft JhengHei"/>
              </a:rPr>
              <a:t>本區域請輸入”流程編碼”與 “流程名稱”</a:t>
            </a:r>
            <a:endParaRPr lang="en-US" sz="2400" b="0" strike="noStrike" spc="-1">
              <a:solidFill>
                <a:srgbClr val="000000"/>
              </a:solidFill>
              <a:latin typeface="Calibri"/>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theme/theme1.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15976</TotalTime>
  <Words>1058</Words>
  <Application>Collabora_Office/23.05.5.4$Linux_X86_64 LibreOffice_project/1681200a96e5ffa1bee996c23ec760042f91abfa</Application>
  <PresentationFormat>自訂</PresentationFormat>
  <Paragraphs>257</Paragraphs>
  <Slides>9</Slides>
  <Notes>4</Notes>
  <HiddenSlides>0</HiddenSlides>
  <MMClips>0</MMClips>
  <ScaleCrop>false</ScaleCrop>
  <HeadingPairs>
    <vt:vector size="4" baseType="variant">
      <vt:variant>
        <vt:lpstr>佈景主題</vt:lpstr>
      </vt:variant>
      <vt:variant>
        <vt:i4>5</vt:i4>
      </vt:variant>
      <vt:variant>
        <vt:lpstr>投影片標題</vt:lpstr>
      </vt:variant>
      <vt:variant>
        <vt:i4>9</vt:i4>
      </vt:variant>
    </vt:vector>
  </HeadingPairs>
  <TitlesOfParts>
    <vt:vector size="14" baseType="lpstr">
      <vt:lpstr>Office 2013 - 2022 Theme</vt:lpstr>
      <vt:lpstr>Office 2013 - 2022 Theme</vt:lpstr>
      <vt:lpstr>Office 2013 - 2022 Theme</vt:lpstr>
      <vt:lpstr>Office 2013 - 2022 Theme</vt:lpstr>
      <vt:lpstr>Office 2013 - 2022 Theme</vt:lpstr>
      <vt:lpstr>投影片 1</vt:lpstr>
      <vt:lpstr>投影片 2</vt:lpstr>
      <vt:lpstr>投影片 3</vt:lpstr>
      <vt:lpstr>投影片 4</vt:lpstr>
      <vt:lpstr>投影片 5</vt:lpstr>
      <vt:lpstr>投影片 6</vt:lpstr>
      <vt:lpstr>投影片 7</vt:lpstr>
      <vt:lpstr>投影片 8</vt:lpstr>
      <vt:lpstr>投影片 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葉春祥</cp:lastModifiedBy>
  <cp:revision>147</cp:revision>
  <dcterms:created xsi:type="dcterms:W3CDTF">2023-05-31T01:27:04Z</dcterms:created>
  <dcterms:modified xsi:type="dcterms:W3CDTF">2025-07-22T00:35:05Z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Custom</vt:lpwstr>
  </property>
  <property fmtid="{D5CDD505-2E9C-101B-9397-08002B2CF9AE}" pid="4" name="Slides">
    <vt:i4>9</vt:i4>
  </property>
</Properties>
</file>