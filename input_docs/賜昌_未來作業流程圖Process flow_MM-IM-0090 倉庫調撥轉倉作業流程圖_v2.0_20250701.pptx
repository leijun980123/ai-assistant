
<file path=[Content_Types].xml><?xml version="1.0" encoding="utf-8"?>
<Types xmlns="http://schemas.openxmlformats.org/package/2006/content-types">
  <Override PartName="/ppt/slideMasters/slideMaster3.xml" ContentType="application/vnd.openxmlformats-officedocument.presentationml.slideMaster+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39.xml" ContentType="application/vnd.openxmlformats-officedocument.presentationml.slideLayout+xml"/>
  <Override PartName="/ppt/slideLayouts/slideLayout48.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46.xml" ContentType="application/vnd.openxmlformats-officedocument.presentationml.slideLayout+xml"/>
  <Override PartName="/ppt/slideLayouts/slideLayout55.xml" ContentType="application/vnd.openxmlformats-officedocument.presentationml.slideLayout+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35.xml" ContentType="application/vnd.openxmlformats-officedocument.presentationml.slideLayout+xml"/>
  <Override PartName="/ppt/slideLayouts/slideLayout44.xml" ContentType="application/vnd.openxmlformats-officedocument.presentationml.slideLayout+xml"/>
  <Override PartName="/ppt/slideLayouts/slideLayout53.xml" ContentType="application/vnd.openxmlformats-officedocument.presentationml.slideLayout+xml"/>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slideLayouts/slideLayout42.xml" ContentType="application/vnd.openxmlformats-officedocument.presentationml.slideLayout+xml"/>
  <Override PartName="/ppt/slideLayouts/slideLayout51.xml" ContentType="application/vnd.openxmlformats-officedocument.presentationml.slideLayout+xml"/>
  <Override PartName="/ppt/slideLayouts/slideLayout60.xml" ContentType="application/vnd.openxmlformats-officedocument.presentationml.slideLayout+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Layouts/slideLayout40.xml" ContentType="application/vnd.openxmlformats-officedocument.presentationml.slideLayout+xml"/>
  <Override PartName="/docProps/custom.xml" ContentType="application/vnd.openxmlformats-officedocument.custom-properties+xml"/>
  <Override PartName="/ppt/slideMasters/slideMaster4.xml" ContentType="application/vnd.openxmlformats-officedocument.presentationml.slideMaster+xml"/>
  <Override PartName="/ppt/slides/slide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theme/theme6.xml" ContentType="application/vnd.openxmlformats-officedocument.theme+xml"/>
  <Override PartName="/ppt/slideMasters/slideMaster2.xml" ContentType="application/vnd.openxmlformats-officedocument.presentationml.slideMaster+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Default Extension="png" ContentType="image/png"/>
  <Override PartName="/ppt/slideLayouts/slideLayout38.xml" ContentType="application/vnd.openxmlformats-officedocument.presentationml.slideLayout+xml"/>
  <Override PartName="/ppt/slideLayouts/slideLayout49.xml" ContentType="application/vnd.openxmlformats-officedocument.presentationml.slideLayout+xml"/>
  <Override PartName="/ppt/theme/theme4.xml" ContentType="application/vnd.openxmlformats-officedocument.theme+xml"/>
  <Override PartName="/ppt/slideLayouts/slideLayout58.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slideLayouts/slideLayout45.xml" ContentType="application/vnd.openxmlformats-officedocument.presentationml.slideLayout+xml"/>
  <Override PartName="/ppt/slideLayouts/slideLayout47.xml" ContentType="application/vnd.openxmlformats-officedocument.presentationml.slideLayout+xml"/>
  <Override PartName="/ppt/slideLayouts/slideLayout56.xml" ContentType="application/vnd.openxmlformats-officedocument.presentationml.slideLayout+xml"/>
  <Override PartName="/ppt/slides/slide1.xml" ContentType="application/vnd.openxmlformats-officedocument.presentationml.slide+xml"/>
  <Override PartName="/ppt/slideLayouts/slideLayout3.xml" ContentType="application/vnd.openxmlformats-officedocument.presentationml.slideLayout+xml"/>
  <Default Extension="jpeg" ContentType="image/jpeg"/>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Override PartName="/ppt/slideLayouts/slideLayout43.xml" ContentType="application/vnd.openxmlformats-officedocument.presentationml.slideLayout+xml"/>
  <Override PartName="/ppt/slideLayouts/slideLayout54.xml" ContentType="application/vnd.openxmlformats-officedocument.presentationml.slideLayout+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ppt/slideLayouts/slideLayout61.xml" ContentType="application/vnd.openxmlformats-officedocument.presentationml.slideLayout+xml"/>
  <Override PartName="/docProps/app.xml" ContentType="application/vnd.openxmlformats-officedocument.extended-properties+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50.xml" ContentType="application/vnd.openxmlformats-officedocument.presentationml.slideLayout+xml"/>
  <Override PartName="/ppt/slideLayouts/slideLayout10.xml" ContentType="application/vnd.openxmlformats-officedocument.presentationml.slideLayout+xml"/>
  <Override PartName="/ppt/slideMasters/slideMaster5.xml" ContentType="application/vnd.openxmlformats-officedocument.presentationml.slideMaster+xml"/>
  <Override PartName="/ppt/slideLayouts/slideLayout5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39" r:id="rId1"/>
    <p:sldMasterId id="2147483921" r:id="rId2"/>
    <p:sldMasterId id="2147484103" r:id="rId3"/>
    <p:sldMasterId id="2147484285" r:id="rId4"/>
    <p:sldMasterId id="2147484467" r:id="rId5"/>
  </p:sldMasterIdLst>
  <p:notesMasterIdLst>
    <p:notesMasterId r:id="rId13"/>
  </p:notesMasterIdLst>
  <p:sldIdLst>
    <p:sldId id="256" r:id="rId6"/>
    <p:sldId id="257" r:id="rId7"/>
    <p:sldId id="258" r:id="rId8"/>
    <p:sldId id="297" r:id="rId9"/>
    <p:sldId id="299" r:id="rId10"/>
    <p:sldId id="263" r:id="rId11"/>
    <p:sldId id="264" r:id="rId12"/>
  </p:sldIdLst>
  <p:sldSz cx="18288000" cy="10288588"/>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3" autoAdjust="0"/>
    <p:restoredTop sz="94688" autoAdjust="0"/>
  </p:normalViewPr>
  <p:slideViewPr>
    <p:cSldViewPr>
      <p:cViewPr>
        <p:scale>
          <a:sx n="50" d="100"/>
          <a:sy n="50" d="100"/>
        </p:scale>
        <p:origin x="-228" y="0"/>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notesMaster" Target="notesMasters/notesMaster1.xml"/><Relationship Id="rId3" Type="http://schemas.openxmlformats.org/officeDocument/2006/relationships/slideMaster" Target="slideMasters/slideMaster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5.xml"/><Relationship Id="rId15" Type="http://schemas.openxmlformats.org/officeDocument/2006/relationships/viewProps" Target="viewProps.xml"/><Relationship Id="rId10" Type="http://schemas.openxmlformats.org/officeDocument/2006/relationships/slide" Target="slides/slide5.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50"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a:r>
              <a:rPr lang="zh-TW" sz="4400" b="0" strike="noStrike" spc="-1">
                <a:solidFill>
                  <a:srgbClr val="000000"/>
                </a:solidFill>
                <a:latin typeface="Calibri"/>
              </a:rPr>
              <a:t>請按這裡移動投影片</a:t>
            </a:r>
            <a:endParaRPr lang="en-US" sz="4400" b="0" strike="noStrike" spc="-1">
              <a:solidFill>
                <a:srgbClr val="000000"/>
              </a:solidFill>
              <a:latin typeface="Calibri"/>
            </a:endParaRPr>
          </a:p>
        </p:txBody>
      </p:sp>
      <p:sp>
        <p:nvSpPr>
          <p:cNvPr id="285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0">
              <a:buNone/>
            </a:pPr>
            <a:r>
              <a:rPr lang="zh-TW" sz="2000" b="0" strike="noStrike" spc="-1">
                <a:solidFill>
                  <a:srgbClr val="000000"/>
                </a:solidFill>
                <a:latin typeface="Calibri"/>
              </a:rPr>
              <a:t>請按這裡編輯備註格式</a:t>
            </a:r>
            <a:endParaRPr lang="en-US" sz="2000" b="0" strike="noStrike" spc="-1">
              <a:solidFill>
                <a:srgbClr val="000000"/>
              </a:solidFill>
              <a:latin typeface="Calibri"/>
            </a:endParaRPr>
          </a:p>
        </p:txBody>
      </p:sp>
      <p:sp>
        <p:nvSpPr>
          <p:cNvPr id="2852"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Calibri"/>
              </a:rPr>
              <a:t>&lt;頁首&gt;</a:t>
            </a:r>
          </a:p>
        </p:txBody>
      </p:sp>
      <p:sp>
        <p:nvSpPr>
          <p:cNvPr id="2853" name="PlaceHolder 4"/>
          <p:cNvSpPr>
            <a:spLocks noGrp="1"/>
          </p:cNvSpPr>
          <p:nvPr>
            <p:ph type="dt" idx="25"/>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Calibri"/>
              </a:defRPr>
            </a:lvl1pPr>
          </a:lstStyle>
          <a:p>
            <a:pPr indent="0" algn="r">
              <a:buNone/>
            </a:pPr>
            <a:r>
              <a:rPr lang="en-US" sz="1400" b="0" strike="noStrike" spc="-1">
                <a:solidFill>
                  <a:srgbClr val="000000"/>
                </a:solidFill>
                <a:latin typeface="Calibri"/>
              </a:rPr>
              <a:t>&lt;日期/時間&gt;</a:t>
            </a:r>
          </a:p>
        </p:txBody>
      </p:sp>
      <p:sp>
        <p:nvSpPr>
          <p:cNvPr id="2854" name="PlaceHolder 5"/>
          <p:cNvSpPr>
            <a:spLocks noGrp="1"/>
          </p:cNvSpPr>
          <p:nvPr>
            <p:ph type="ftr" idx="26"/>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&lt;頁尾&gt;</a:t>
            </a:r>
          </a:p>
        </p:txBody>
      </p:sp>
      <p:sp>
        <p:nvSpPr>
          <p:cNvPr id="2855" name="PlaceHolder 6"/>
          <p:cNvSpPr>
            <a:spLocks noGrp="1"/>
          </p:cNvSpPr>
          <p:nvPr>
            <p:ph type="sldNum" idx="27"/>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Calibri"/>
              </a:defRPr>
            </a:lvl1pPr>
          </a:lstStyle>
          <a:p>
            <a:pPr indent="0" algn="r">
              <a:buNone/>
            </a:pPr>
            <a:fld id="{FB232C99-2376-461D-B3FA-3C25B4154633}" type="slidenum">
              <a:rPr lang="en-US" sz="1400" b="0" strike="noStrike" spc="-1">
                <a:solidFill>
                  <a:srgbClr val="000000"/>
                </a:solidFill>
                <a:latin typeface="Calibri"/>
              </a:rPr>
              <a:pPr indent="0" algn="r">
                <a:buNone/>
              </a:pPr>
              <a:t>‹#›</a:t>
            </a:fld>
            <a:endParaRPr lang="en-US" sz="14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6" name="PlaceHolder 1"/>
          <p:cNvSpPr>
            <a:spLocks noGrp="1" noRot="1" noChangeAspect="1"/>
          </p:cNvSpPr>
          <p:nvPr>
            <p:ph type="sldImg"/>
          </p:nvPr>
        </p:nvSpPr>
        <p:spPr>
          <a:xfrm>
            <a:off x="685800" y="1143000"/>
            <a:ext cx="5486400" cy="3086100"/>
          </a:xfrm>
          <a:prstGeom prst="rect">
            <a:avLst/>
          </a:prstGeom>
          <a:ln w="0">
            <a:noFill/>
          </a:ln>
        </p:spPr>
      </p:sp>
      <p:sp>
        <p:nvSpPr>
          <p:cNvPr id="3007" name="PlaceHolder 2"/>
          <p:cNvSpPr>
            <a:spLocks noGrp="1"/>
          </p:cNvSpPr>
          <p:nvPr>
            <p:ph type="body"/>
          </p:nvPr>
        </p:nvSpPr>
        <p:spPr>
          <a:xfrm>
            <a:off x="685800" y="4400640"/>
            <a:ext cx="5485680" cy="3599640"/>
          </a:xfrm>
          <a:prstGeom prst="rect">
            <a:avLst/>
          </a:prstGeom>
          <a:noFill/>
          <a:ln w="0">
            <a:noFill/>
          </a:ln>
        </p:spPr>
        <p:txBody>
          <a:bodyPr lIns="0" tIns="0" rIns="0" bIns="0" anchor="t">
            <a:noAutofit/>
          </a:bodyPr>
          <a:lstStyle/>
          <a:p>
            <a:pPr marL="216000" indent="0">
              <a:buNone/>
            </a:pPr>
            <a:endParaRPr lang="en-US" sz="1800" b="0" strike="noStrike" spc="-1">
              <a:solidFill>
                <a:srgbClr val="000000"/>
              </a:solidFill>
              <a:latin typeface="Calibri"/>
            </a:endParaRPr>
          </a:p>
        </p:txBody>
      </p:sp>
      <p:sp>
        <p:nvSpPr>
          <p:cNvPr id="3008" name="PlaceHolder 3"/>
          <p:cNvSpPr>
            <a:spLocks noGrp="1"/>
          </p:cNvSpPr>
          <p:nvPr>
            <p:ph type="sldNum" idx="28"/>
          </p:nvPr>
        </p:nvSpPr>
        <p:spPr>
          <a:xfrm>
            <a:off x="3884760" y="8685360"/>
            <a:ext cx="2971080" cy="457920"/>
          </a:xfrm>
          <a:prstGeom prst="rect">
            <a:avLst/>
          </a:prstGeom>
          <a:noFill/>
          <a:ln w="0">
            <a:noFill/>
          </a:ln>
        </p:spPr>
        <p:txBody>
          <a:bodyPr lIns="0" tIns="0" rIns="0" bIns="0" anchor="b">
            <a:noAutofit/>
          </a:bodyPr>
          <a:lstStyle>
            <a:lvl1pPr indent="0" algn="r">
              <a:lnSpc>
                <a:spcPct val="100000"/>
              </a:lnSpc>
              <a:buNone/>
              <a:tabLst>
                <a:tab pos="0" algn="l"/>
              </a:tabLst>
              <a:defRPr lang="en-US" sz="1200" b="0" strike="noStrike" spc="-1">
                <a:solidFill>
                  <a:srgbClr val="000000"/>
                </a:solidFill>
                <a:latin typeface="Calibri"/>
              </a:defRPr>
            </a:lvl1pPr>
          </a:lstStyle>
          <a:p>
            <a:pPr indent="0" algn="r">
              <a:lnSpc>
                <a:spcPct val="100000"/>
              </a:lnSpc>
              <a:buNone/>
              <a:tabLst>
                <a:tab pos="0" algn="l"/>
              </a:tabLst>
            </a:pPr>
            <a:fld id="{1ABC4F31-EF1B-4B0A-996A-DE525BD4B68E}" type="slidenum">
              <a:rPr lang="en-US" sz="1200" b="0" strike="noStrike" spc="-1">
                <a:solidFill>
                  <a:srgbClr val="000000"/>
                </a:solidFill>
                <a:latin typeface="Calibri"/>
              </a:rPr>
              <a:pPr indent="0" algn="r">
                <a:lnSpc>
                  <a:spcPct val="100000"/>
                </a:lnSpc>
                <a:buNone/>
                <a:tabLst>
                  <a:tab pos="0" algn="l"/>
                </a:tabLst>
              </a:pPr>
              <a:t>1</a:t>
            </a:fld>
            <a:endParaRPr lang="en-US" sz="1200" b="0" strike="noStrike" spc="-1">
              <a:solidFill>
                <a:srgbClr val="000000"/>
              </a:solidFill>
              <a:latin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8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8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8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8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8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9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9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9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0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0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0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0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0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1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1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2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5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5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5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5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5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6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86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86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86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87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7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87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7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87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8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8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8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9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dt" idx="6"/>
          </p:nvPr>
        </p:nvSpPr>
        <p:spPr/>
        <p:txBody>
          <a:body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43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3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43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3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43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44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 name="PlaceHolder 2"/>
          <p:cNvSpPr>
            <a:spLocks noGrp="1"/>
          </p:cNvSpPr>
          <p:nvPr>
            <p:ph type="dt" idx="6"/>
          </p:nvPr>
        </p:nvSpPr>
        <p:spPr/>
        <p:txBody>
          <a:body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44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
        <p:nvSpPr>
          <p:cNvPr id="3" name="PlaceHolder 2"/>
          <p:cNvSpPr>
            <a:spLocks noGrp="1"/>
          </p:cNvSpPr>
          <p:nvPr>
            <p:ph type="dt" idx="6"/>
          </p:nvPr>
        </p:nvSpPr>
        <p:spPr/>
        <p:txBody>
          <a:body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4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44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45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5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45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5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45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6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7" name="PlaceHolder 6"/>
          <p:cNvSpPr>
            <a:spLocks noGrp="1"/>
          </p:cNvSpPr>
          <p:nvPr>
            <p:ph type="dt" idx="6"/>
          </p:nvPr>
        </p:nvSpPr>
        <p:spPr/>
        <p:txBody>
          <a:body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46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6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7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9" name="PlaceHolder 8"/>
          <p:cNvSpPr>
            <a:spLocks noGrp="1"/>
          </p:cNvSpPr>
          <p:nvPr>
            <p:ph type="dt" idx="6"/>
          </p:nvPr>
        </p:nvSpPr>
        <p:spPr/>
        <p:txBody>
          <a:body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dt" idx="18"/>
          </p:nvPr>
        </p:nvSpPr>
        <p:spPr/>
        <p:txBody>
          <a:body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1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1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
        <p:nvSpPr>
          <p:cNvPr id="4" name="PlaceHolder 3"/>
          <p:cNvSpPr>
            <a:spLocks noGrp="1"/>
          </p:cNvSpPr>
          <p:nvPr>
            <p:ph type="dt" idx="18"/>
          </p:nvPr>
        </p:nvSpPr>
        <p:spPr/>
        <p:txBody>
          <a:body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01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1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4" name="PlaceHolder 3"/>
          <p:cNvSpPr>
            <a:spLocks noGrp="1"/>
          </p:cNvSpPr>
          <p:nvPr>
            <p:ph type="dt" idx="18"/>
          </p:nvPr>
        </p:nvSpPr>
        <p:spPr/>
        <p:txBody>
          <a:body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01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18"/>
          </p:nvPr>
        </p:nvSpPr>
        <p:spPr/>
        <p:txBody>
          <a:body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02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 name="PlaceHolder 2"/>
          <p:cNvSpPr>
            <a:spLocks noGrp="1"/>
          </p:cNvSpPr>
          <p:nvPr>
            <p:ph type="dt" idx="18"/>
          </p:nvPr>
        </p:nvSpPr>
        <p:spPr/>
        <p:txBody>
          <a:body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02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
        <p:nvSpPr>
          <p:cNvPr id="3" name="PlaceHolder 2"/>
          <p:cNvSpPr>
            <a:spLocks noGrp="1"/>
          </p:cNvSpPr>
          <p:nvPr>
            <p:ph type="dt" idx="18"/>
          </p:nvPr>
        </p:nvSpPr>
        <p:spPr/>
        <p:txBody>
          <a:body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02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02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3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3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03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3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18"/>
          </p:nvPr>
        </p:nvSpPr>
        <p:spPr/>
        <p:txBody>
          <a:body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03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4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7" name="PlaceHolder 6"/>
          <p:cNvSpPr>
            <a:spLocks noGrp="1"/>
          </p:cNvSpPr>
          <p:nvPr>
            <p:ph type="dt" idx="18"/>
          </p:nvPr>
        </p:nvSpPr>
        <p:spPr/>
        <p:txBody>
          <a:body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04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4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5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9" name="PlaceHolder 8"/>
          <p:cNvSpPr>
            <a:spLocks noGrp="1"/>
          </p:cNvSpPr>
          <p:nvPr>
            <p:ph type="dt" idx="18"/>
          </p:nvPr>
        </p:nvSpPr>
        <p:spPr/>
        <p:txBody>
          <a:body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3_Blank">
  <p:cSld name="3_Blank">
    <p:spTree>
      <p:nvGrpSpPr>
        <p:cNvPr id="1" name="Shape 39"/>
        <p:cNvGrpSpPr/>
        <p:nvPr/>
      </p:nvGrpSpPr>
      <p:grpSpPr>
        <a:xfrm>
          <a:off x="0" y="0"/>
          <a:ext cx="0" cy="0"/>
          <a:chOff x="0" y="0"/>
          <a:chExt cx="0" cy="0"/>
        </a:xfrm>
      </p:grpSpPr>
      <p:sp>
        <p:nvSpPr>
          <p:cNvPr id="40" name="Google Shape;40;p10"/>
          <p:cNvSpPr txBox="1">
            <a:spLocks noGrp="1"/>
          </p:cNvSpPr>
          <p:nvPr>
            <p:ph type="ftr" idx="11"/>
          </p:nvPr>
        </p:nvSpPr>
        <p:spPr>
          <a:xfrm>
            <a:off x="664368" y="9534091"/>
            <a:ext cx="8210552" cy="205772"/>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10"/>
          <p:cNvSpPr txBox="1">
            <a:spLocks noGrp="1"/>
          </p:cNvSpPr>
          <p:nvPr>
            <p:ph type="dt" idx="10"/>
          </p:nvPr>
        </p:nvSpPr>
        <p:spPr>
          <a:xfrm>
            <a:off x="14976444" y="9534091"/>
            <a:ext cx="2647188" cy="205772"/>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0"/>
          <p:cNvSpPr txBox="1">
            <a:spLocks noGrp="1"/>
          </p:cNvSpPr>
          <p:nvPr>
            <p:ph type="sldNum" idx="12"/>
          </p:nvPr>
        </p:nvSpPr>
        <p:spPr>
          <a:xfrm>
            <a:off x="14976444" y="9739863"/>
            <a:ext cx="2647188" cy="205772"/>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dirty="0"/>
          </a:p>
        </p:txBody>
      </p:sp>
      <p:graphicFrame>
        <p:nvGraphicFramePr>
          <p:cNvPr id="43" name="Google Shape;43;p10"/>
          <p:cNvGraphicFramePr/>
          <p:nvPr>
            <p:extLst>
              <p:ext uri="{D42A27DB-BD31-4B8C-83A1-F6EECF244321}">
                <p14:modId xmlns="" xmlns:p14="http://schemas.microsoft.com/office/powerpoint/2010/main" val="1351047670"/>
              </p:ext>
            </p:extLst>
          </p:nvPr>
        </p:nvGraphicFramePr>
        <p:xfrm>
          <a:off x="192504" y="180467"/>
          <a:ext cx="17917688" cy="1420720"/>
        </p:xfrm>
        <a:graphic>
          <a:graphicData uri="http://schemas.openxmlformats.org/drawingml/2006/table">
            <a:tbl>
              <a:tblPr>
                <a:noFill/>
              </a:tblPr>
              <a:tblGrid>
                <a:gridCol w="2126250">
                  <a:extLst>
                    <a:ext uri="{9D8B030D-6E8A-4147-A177-3AD203B41FA5}">
                      <a16:colId xmlns="" xmlns:a16="http://schemas.microsoft.com/office/drawing/2014/main" val="20000"/>
                    </a:ext>
                  </a:extLst>
                </a:gridCol>
                <a:gridCol w="13144425">
                  <a:extLst>
                    <a:ext uri="{9D8B030D-6E8A-4147-A177-3AD203B41FA5}">
                      <a16:colId xmlns="" xmlns:a16="http://schemas.microsoft.com/office/drawing/2014/main" val="20001"/>
                    </a:ext>
                  </a:extLst>
                </a:gridCol>
                <a:gridCol w="2647013">
                  <a:extLst>
                    <a:ext uri="{9D8B030D-6E8A-4147-A177-3AD203B41FA5}">
                      <a16:colId xmlns="" xmlns:a16="http://schemas.microsoft.com/office/drawing/2014/main" val="20002"/>
                    </a:ext>
                  </a:extLst>
                </a:gridCol>
              </a:tblGrid>
              <a:tr h="710360">
                <a:tc>
                  <a:txBody>
                    <a:bodyPr/>
                    <a:lstStyle/>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Company / 公司名稱</a:t>
                      </a: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r>
                        <a:rPr lang="en-US" sz="2100" b="1" dirty="0">
                          <a:solidFill>
                            <a:schemeClr val="dk1"/>
                          </a:solidFill>
                          <a:latin typeface="Microsoft JhengHei"/>
                          <a:ea typeface="Microsoft JhengHei"/>
                          <a:cs typeface="Microsoft JhengHei"/>
                          <a:sym typeface="Microsoft JhengHei"/>
                        </a:rPr>
                        <a:t>Dean Shoes </a:t>
                      </a:r>
                      <a:r>
                        <a:rPr lang="zh-TW" altLang="en-US" sz="2100" b="1" dirty="0">
                          <a:solidFill>
                            <a:schemeClr val="dk1"/>
                          </a:solidFill>
                          <a:latin typeface="Microsoft JhengHei"/>
                          <a:ea typeface="Microsoft JhengHei"/>
                          <a:cs typeface="Microsoft JhengHei"/>
                          <a:sym typeface="Microsoft JhengHei"/>
                        </a:rPr>
                        <a:t>隆典集團</a:t>
                      </a: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rowSpan="2">
                  <a:txBody>
                    <a:bodyPr/>
                    <a:lstStyle/>
                    <a:p>
                      <a:pPr marL="0" marR="0" lvl="0" indent="0" algn="l" rtl="0">
                        <a:lnSpc>
                          <a:spcPct val="100000"/>
                        </a:lnSpc>
                        <a:spcBef>
                          <a:spcPts val="0"/>
                        </a:spcBef>
                        <a:spcAft>
                          <a:spcPts val="0"/>
                        </a:spcAft>
                        <a:buNone/>
                      </a:pPr>
                      <a:endParaRPr sz="1500">
                        <a:solidFill>
                          <a:schemeClr val="dk1"/>
                        </a:solidFill>
                        <a:latin typeface="Microsoft JhengHei"/>
                        <a:ea typeface="Microsoft JhengHei"/>
                        <a:cs typeface="Microsoft JhengHei"/>
                        <a:sym typeface="Microsoft JhengHei"/>
                      </a:endParaRPr>
                    </a:p>
                    <a:p>
                      <a:pPr marL="0" marR="0" lvl="0" indent="0" algn="l" rtl="0">
                        <a:lnSpc>
                          <a:spcPct val="100000"/>
                        </a:lnSpc>
                        <a:spcBef>
                          <a:spcPts val="600"/>
                        </a:spcBef>
                        <a:spcAft>
                          <a:spcPts val="0"/>
                        </a:spcAft>
                        <a:buNone/>
                      </a:pP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 xmlns:a16="http://schemas.microsoft.com/office/drawing/2014/main" val="10000"/>
                  </a:ext>
                </a:extLst>
              </a:tr>
              <a:tr h="710360">
                <a:tc>
                  <a:txBody>
                    <a:bodyPr/>
                    <a:lstStyle/>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Process ID / Name</a:t>
                      </a:r>
                      <a:endParaRPr sz="2700"/>
                    </a:p>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流程代碼 / 名稱</a:t>
                      </a: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500" dirty="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vMerge="1">
                  <a:txBody>
                    <a:bodyPr/>
                    <a:lstStyle/>
                    <a:p>
                      <a:endParaRPr lang="en-US"/>
                    </a:p>
                  </a:txBody>
                  <a:tcPr/>
                </a:tc>
                <a:extLst>
                  <a:ext uri="{0D108BD9-81ED-4DB2-BD59-A6C34878D82A}">
                    <a16:rowId xmlns="" xmlns:a16="http://schemas.microsoft.com/office/drawing/2014/main" val="10001"/>
                  </a:ext>
                </a:extLst>
              </a:tr>
            </a:tbl>
          </a:graphicData>
        </a:graphic>
      </p:graphicFrame>
      <p:sp>
        <p:nvSpPr>
          <p:cNvPr id="44" name="Google Shape;44;p10"/>
          <p:cNvSpPr/>
          <p:nvPr/>
        </p:nvSpPr>
        <p:spPr>
          <a:xfrm>
            <a:off x="15493776" y="846424"/>
            <a:ext cx="2601720" cy="664224"/>
          </a:xfrm>
          <a:prstGeom prst="rect">
            <a:avLst/>
          </a:prstGeom>
          <a:noFill/>
          <a:ln>
            <a:noFill/>
          </a:ln>
        </p:spPr>
        <p:txBody>
          <a:bodyPr spcFirstLastPara="1" wrap="square" lIns="137138" tIns="68550" rIns="137138" bIns="68550" anchor="t" anchorCtr="0">
            <a:spAutoFit/>
          </a:bodyPr>
          <a:lstStyle/>
          <a:p>
            <a:pPr marL="0" marR="0" lvl="0" indent="0" algn="l" rtl="0">
              <a:lnSpc>
                <a:spcPct val="100000"/>
              </a:lnSpc>
              <a:spcBef>
                <a:spcPts val="0"/>
              </a:spcBef>
              <a:spcAft>
                <a:spcPts val="0"/>
              </a:spcAft>
              <a:buNone/>
            </a:pPr>
            <a:r>
              <a:rPr lang="en-US" sz="1500" b="0" i="0" u="none" strike="noStrike" cap="none" dirty="0">
                <a:solidFill>
                  <a:schemeClr val="dk1"/>
                </a:solidFill>
                <a:latin typeface="Microsoft JhengHei"/>
                <a:ea typeface="Microsoft JhengHei"/>
                <a:cs typeface="Microsoft JhengHei"/>
                <a:sym typeface="Microsoft JhengHei"/>
              </a:rPr>
              <a:t>PAGE </a:t>
            </a:r>
            <a:r>
              <a:rPr lang="en-US" sz="1500" b="0" i="0" u="none" strike="noStrike" cap="none" dirty="0" err="1">
                <a:solidFill>
                  <a:schemeClr val="dk1"/>
                </a:solidFill>
                <a:latin typeface="Microsoft JhengHei"/>
                <a:ea typeface="Microsoft JhengHei"/>
                <a:cs typeface="Microsoft JhengHei"/>
                <a:sym typeface="Microsoft JhengHei"/>
              </a:rPr>
              <a:t>頁次</a:t>
            </a:r>
            <a:r>
              <a:rPr lang="en-US" sz="1500" b="0" i="0" u="none" strike="noStrike" cap="none" dirty="0">
                <a:solidFill>
                  <a:schemeClr val="dk1"/>
                </a:solidFill>
                <a:latin typeface="Microsoft JhengHei"/>
                <a:ea typeface="Microsoft JhengHei"/>
                <a:cs typeface="Microsoft JhengHei"/>
                <a:sym typeface="Microsoft JhengHei"/>
              </a:rPr>
              <a:t> ：</a:t>
            </a:r>
            <a:endParaRPr dirty="0"/>
          </a:p>
          <a:p>
            <a:pPr marL="0" marR="0" lvl="0" indent="0" algn="l" rtl="0">
              <a:lnSpc>
                <a:spcPct val="100000"/>
              </a:lnSpc>
              <a:spcBef>
                <a:spcPts val="450"/>
              </a:spcBef>
              <a:spcAft>
                <a:spcPts val="0"/>
              </a:spcAft>
              <a:buNone/>
            </a:pPr>
            <a:r>
              <a:rPr lang="en-US" sz="1500" b="0" i="0" u="none" strike="noStrike" cap="none" dirty="0">
                <a:solidFill>
                  <a:schemeClr val="dk1"/>
                </a:solidFill>
                <a:latin typeface="Microsoft JhengHei"/>
                <a:ea typeface="Microsoft JhengHei"/>
                <a:cs typeface="Microsoft JhengHei"/>
                <a:sym typeface="Microsoft JhengHei"/>
              </a:rPr>
              <a:t>Latest Update :</a:t>
            </a:r>
            <a:endParaRPr dirty="0"/>
          </a:p>
        </p:txBody>
      </p:sp>
      <p:pic>
        <p:nvPicPr>
          <p:cNvPr id="46" name="Google Shape;46;p10" descr="A red and black logo&#10;&#10;Description automatically generated"/>
          <p:cNvPicPr preferRelativeResize="0"/>
          <p:nvPr/>
        </p:nvPicPr>
        <p:blipFill rotWithShape="1">
          <a:blip r:embed="rId2">
            <a:alphaModFix/>
          </a:blip>
          <a:srcRect/>
          <a:stretch/>
        </p:blipFill>
        <p:spPr>
          <a:xfrm>
            <a:off x="17304487" y="200232"/>
            <a:ext cx="785222" cy="684371"/>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581"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2"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58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4"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58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6"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87"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58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589"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590"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1"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2"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3"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59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5"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6"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7"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59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9"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1"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0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03"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4"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0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06"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7"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8"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9"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610"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11"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2"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3"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4"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5"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6"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2.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3.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slideLayout" Target="../slideLayouts/slideLayout49.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5" Type="http://schemas.openxmlformats.org/officeDocument/2006/relationships/image" Target="../media/image3.png"/><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theme" Target="../theme/theme5.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image" Target="../media/image4.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82" name="圖片 8"/>
          <p:cNvPicPr/>
          <p:nvPr/>
        </p:nvPicPr>
        <p:blipFill>
          <a:blip r:embed="rId14"/>
          <a:stretch/>
        </p:blipFill>
        <p:spPr>
          <a:xfrm>
            <a:off x="0" y="0"/>
            <a:ext cx="18287280" cy="10287720"/>
          </a:xfrm>
          <a:prstGeom prst="rect">
            <a:avLst/>
          </a:prstGeom>
          <a:ln w="0">
            <a:noFill/>
          </a:ln>
        </p:spPr>
      </p:pic>
      <p:sp>
        <p:nvSpPr>
          <p:cNvPr id="28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84"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50" name="圖片 2"/>
          <p:cNvPicPr/>
          <p:nvPr/>
        </p:nvPicPr>
        <p:blipFill>
          <a:blip r:embed="rId14"/>
          <a:stretch/>
        </p:blipFill>
        <p:spPr>
          <a:xfrm>
            <a:off x="0" y="1440"/>
            <a:ext cx="18287280" cy="10285200"/>
          </a:xfrm>
          <a:prstGeom prst="rect">
            <a:avLst/>
          </a:prstGeom>
          <a:ln w="0">
            <a:noFill/>
          </a:ln>
        </p:spPr>
      </p:pic>
      <p:sp>
        <p:nvSpPr>
          <p:cNvPr id="851" name="TextBox 1"/>
          <p:cNvSpPr/>
          <p:nvPr/>
        </p:nvSpPr>
        <p:spPr>
          <a:xfrm>
            <a:off x="660600" y="600840"/>
            <a:ext cx="3228840" cy="10040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6000" b="1" strike="noStrike" spc="-1">
                <a:solidFill>
                  <a:schemeClr val="dk1"/>
                </a:solidFill>
                <a:latin typeface="Microsoft JhengHei"/>
                <a:ea typeface="Microsoft JhengHei"/>
              </a:rPr>
              <a:t>重要聲明</a:t>
            </a:r>
            <a:endParaRPr lang="en-US" sz="6000" b="0" strike="noStrike" spc="-1">
              <a:solidFill>
                <a:srgbClr val="000000"/>
              </a:solidFill>
              <a:latin typeface="Calibri"/>
            </a:endParaRPr>
          </a:p>
        </p:txBody>
      </p:sp>
      <p:sp>
        <p:nvSpPr>
          <p:cNvPr id="852" name="TextBox 3"/>
          <p:cNvSpPr/>
          <p:nvPr/>
        </p:nvSpPr>
        <p:spPr>
          <a:xfrm>
            <a:off x="561240" y="3205080"/>
            <a:ext cx="17165160" cy="338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2400" b="1" strike="noStrike" spc="-1">
                <a:solidFill>
                  <a:srgbClr val="000000"/>
                </a:solidFill>
                <a:latin typeface="微軟正黑體"/>
                <a:ea typeface="微軟正黑體"/>
              </a:rPr>
              <a:t>本簡報依據</a:t>
            </a:r>
            <a:r>
              <a:rPr lang="zh-TW" sz="2400" b="1" strike="noStrike" spc="-1">
                <a:solidFill>
                  <a:schemeClr val="dk1"/>
                </a:solidFill>
                <a:latin typeface="微軟正黑體"/>
                <a:ea typeface="微軟正黑體"/>
              </a:rPr>
              <a:t>裕榮昌科技股份有限公司台中分公司</a:t>
            </a:r>
            <a:r>
              <a:rPr lang="zh-TW" sz="2400" b="1" strike="noStrike" spc="-1">
                <a:solidFill>
                  <a:srgbClr val="000000"/>
                </a:solidFill>
                <a:latin typeface="微軟正黑體"/>
                <a:ea typeface="微軟正黑體"/>
              </a:rPr>
              <a:t>之需求所編製。</a:t>
            </a:r>
            <a:endParaRPr lang="en-US" sz="2400" b="0" strike="noStrike" spc="-1">
              <a:solidFill>
                <a:srgbClr val="000000"/>
              </a:solidFill>
              <a:latin typeface="Calibri"/>
            </a:endParaRPr>
          </a:p>
          <a:p>
            <a:pPr defTabSz="457200">
              <a:lnSpc>
                <a:spcPct val="100000"/>
              </a:lnSpc>
            </a:pPr>
            <a:endParaRPr lang="en-US" sz="2400" b="0" strike="noStrike" spc="-1">
              <a:solidFill>
                <a:srgbClr val="000000"/>
              </a:solidFill>
              <a:latin typeface="Calibri"/>
            </a:endParaRPr>
          </a:p>
          <a:p>
            <a:pPr algn="just" defTabSz="457200">
              <a:lnSpc>
                <a:spcPct val="100000"/>
              </a:lnSpc>
            </a:pPr>
            <a:r>
              <a:rPr lang="zh-TW" sz="2400" b="1" strike="noStrike" spc="-1">
                <a:solidFill>
                  <a:schemeClr val="dk1"/>
                </a:solidFill>
                <a:latin typeface="微軟正黑體"/>
                <a:ea typeface="微軟正黑體"/>
              </a:rPr>
              <a:t>本份簡報係於</a:t>
            </a:r>
            <a:r>
              <a:rPr lang="en-US" sz="2400" b="1" strike="noStrike" spc="-1">
                <a:solidFill>
                  <a:schemeClr val="dk1"/>
                </a:solidFill>
                <a:latin typeface="微軟正黑體"/>
                <a:ea typeface="微軟正黑體"/>
              </a:rPr>
              <a:t>2025</a:t>
            </a:r>
            <a:r>
              <a:rPr lang="zh-TW" sz="2400" b="1" strike="noStrike" spc="-1">
                <a:solidFill>
                  <a:schemeClr val="dk1"/>
                </a:solidFill>
                <a:latin typeface="微軟正黑體"/>
                <a:ea typeface="微軟正黑體"/>
              </a:rPr>
              <a:t>年</a:t>
            </a:r>
            <a:r>
              <a:rPr lang="en-US" sz="2400" b="1" strike="noStrike" spc="-1">
                <a:solidFill>
                  <a:schemeClr val="dk1"/>
                </a:solidFill>
                <a:latin typeface="微軟正黑體"/>
                <a:ea typeface="微軟正黑體"/>
              </a:rPr>
              <a:t>4</a:t>
            </a:r>
            <a:r>
              <a:rPr lang="zh-TW" sz="2400" b="1" strike="noStrike" spc="-1">
                <a:solidFill>
                  <a:schemeClr val="dk1"/>
                </a:solidFill>
                <a:latin typeface="微軟正黑體"/>
                <a:ea typeface="微軟正黑體"/>
              </a:rPr>
              <a:t>月</a:t>
            </a:r>
            <a:r>
              <a:rPr lang="en-US" sz="2400" b="1" strike="noStrike" spc="-1">
                <a:solidFill>
                  <a:schemeClr val="dk1"/>
                </a:solidFill>
                <a:latin typeface="微軟正黑體"/>
                <a:ea typeface="微軟正黑體"/>
              </a:rPr>
              <a:t>1</a:t>
            </a:r>
            <a:r>
              <a:rPr lang="zh-TW" sz="2400" b="1" strike="noStrike" spc="-1">
                <a:solidFill>
                  <a:schemeClr val="dk1"/>
                </a:solidFill>
                <a:latin typeface="微軟正黑體"/>
                <a:ea typeface="微軟正黑體"/>
              </a:rPr>
              <a:t>日簽訂之服務委任合約製作完成，僅提供賜昌集團內部參考使用。</a:t>
            </a:r>
            <a:endParaRPr lang="en-US" sz="2400" b="0" strike="noStrike" spc="-1">
              <a:solidFill>
                <a:srgbClr val="000000"/>
              </a:solidFill>
              <a:latin typeface="Calibri"/>
            </a:endParaRPr>
          </a:p>
          <a:p>
            <a:pPr algn="just" defTabSz="457200">
              <a:lnSpc>
                <a:spcPct val="100000"/>
              </a:lnSpc>
            </a:pPr>
            <a:endParaRPr lang="en-US" sz="2400" b="0" strike="noStrike" spc="-1">
              <a:solidFill>
                <a:srgbClr val="000000"/>
              </a:solidFill>
              <a:latin typeface="Calibri"/>
            </a:endParaRPr>
          </a:p>
          <a:p>
            <a:pPr algn="just" defTabSz="457200">
              <a:lnSpc>
                <a:spcPct val="100000"/>
              </a:lnSpc>
            </a:pPr>
            <a:r>
              <a:rPr lang="zh-TW" sz="2400" b="1" strike="noStrike" spc="-1">
                <a:solidFill>
                  <a:schemeClr val="dk1"/>
                </a:solidFill>
                <a:latin typeface="微軟正黑體"/>
                <a:ea typeface="微軟正黑體"/>
              </a:rPr>
              <a:t>本份簡報為機密文件，在未取得本公司書面同意下，除委任合約中指明之對象及用途外，本簡報不得複製或提供第三人使用，亦不得作為其他用途。對於任何人因違反前述規定，任意傳閱、複製或使用本份報告所引發之任何損失，本公司將不負任何義務及責任。</a:t>
            </a:r>
            <a:endParaRPr lang="en-US" sz="2400" b="0" strike="noStrike" spc="-1">
              <a:solidFill>
                <a:srgbClr val="000000"/>
              </a:solidFill>
              <a:latin typeface="Calibri"/>
            </a:endParaRPr>
          </a:p>
          <a:p>
            <a:pPr defTabSz="457200">
              <a:lnSpc>
                <a:spcPct val="100000"/>
              </a:lnSpc>
            </a:pPr>
            <a:endParaRPr lang="en-US" sz="2400" b="0" strike="noStrike" spc="-1">
              <a:solidFill>
                <a:srgbClr val="000000"/>
              </a:solidFill>
              <a:latin typeface="Calibri"/>
            </a:endParaRPr>
          </a:p>
          <a:p>
            <a:pPr defTabSz="457200">
              <a:lnSpc>
                <a:spcPct val="100000"/>
              </a:lnSpc>
            </a:pPr>
            <a:r>
              <a:rPr lang="zh-TW" sz="2400" b="1" strike="noStrike" spc="-1">
                <a:solidFill>
                  <a:srgbClr val="000000"/>
                </a:solidFill>
                <a:latin typeface="微軟正黑體"/>
                <a:ea typeface="微軟正黑體"/>
              </a:rPr>
              <a:t>未經本公司書面同意，  貴公司以及專案所有成員不得將本簡報之全部或部分提供予任何第三人或使第三人得知其內容。</a:t>
            </a:r>
            <a:endParaRPr lang="en-US" sz="2400" b="0" strike="noStrike" spc="-1">
              <a:solidFill>
                <a:srgbClr val="000000"/>
              </a:solidFill>
              <a:latin typeface="Calibri"/>
            </a:endParaRPr>
          </a:p>
        </p:txBody>
      </p:sp>
      <p:sp>
        <p:nvSpPr>
          <p:cNvPr id="85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854"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922" r:id="rId1"/>
    <p:sldLayoutId id="2147483923" r:id="rId2"/>
    <p:sldLayoutId id="2147483924" r:id="rId3"/>
    <p:sldLayoutId id="2147483925" r:id="rId4"/>
    <p:sldLayoutId id="2147483926" r:id="rId5"/>
    <p:sldLayoutId id="2147483927" r:id="rId6"/>
    <p:sldLayoutId id="2147483928" r:id="rId7"/>
    <p:sldLayoutId id="2147483929" r:id="rId8"/>
    <p:sldLayoutId id="2147483930" r:id="rId9"/>
    <p:sldLayoutId id="2147483931" r:id="rId10"/>
    <p:sldLayoutId id="2147483932" r:id="rId11"/>
    <p:sldLayoutId id="2147483933" r:id="rId12"/>
  </p:sldLayoutIdLst>
  <p:txStyles>
    <p:titleStyle/>
    <p:bodyStyle/>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430" name="Google Shape;35;p9"/>
          <p:cNvGraphicFramePr/>
          <p:nvPr/>
        </p:nvGraphicFramePr>
        <p:xfrm>
          <a:off x="122400" y="114480"/>
          <a:ext cx="18019800" cy="10040760"/>
        </p:xfrm>
        <a:graphic>
          <a:graphicData uri="http://schemas.openxmlformats.org/drawingml/2006/table">
            <a:tbl>
              <a:tblPr/>
              <a:tblGrid>
                <a:gridCol w="2311200"/>
                <a:gridCol w="11889360"/>
                <a:gridCol w="3819240"/>
              </a:tblGrid>
              <a:tr h="62604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Company / </a:t>
                      </a:r>
                      <a:r>
                        <a:rPr lang="zh-TW" sz="1600" b="1" strike="noStrike" spc="-1">
                          <a:solidFill>
                            <a:schemeClr val="dk1"/>
                          </a:solidFill>
                          <a:latin typeface="Microsoft JhengHei"/>
                          <a:ea typeface="Microsoft JhengHei"/>
                        </a:rPr>
                        <a:t>公司名稱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50000"/>
                        </a:lnSpc>
                        <a:tabLst>
                          <a:tab pos="0" algn="l"/>
                        </a:tabLst>
                      </a:pPr>
                      <a:r>
                        <a:rPr lang="en-US" sz="2400" b="1" strike="noStrike" spc="-1">
                          <a:solidFill>
                            <a:schemeClr val="dk1"/>
                          </a:solidFill>
                          <a:latin typeface="Microsoft JhengHei"/>
                          <a:ea typeface="Microsoft JhengHei"/>
                        </a:rPr>
                        <a:t>                Freetrend </a:t>
                      </a:r>
                      <a:r>
                        <a:rPr lang="zh-TW" sz="2400" b="1" strike="noStrike" spc="-1">
                          <a:solidFill>
                            <a:schemeClr val="dk1"/>
                          </a:solidFill>
                          <a:latin typeface="Microsoft JhengHei"/>
                          <a:ea typeface="Microsoft JhengHei"/>
                        </a:rPr>
                        <a:t>賜昌集團</a:t>
                      </a:r>
                      <a:endParaRPr lang="en-US" sz="2400" b="0" strike="noStrike" spc="-1">
                        <a:solidFill>
                          <a:srgbClr val="000000"/>
                        </a:solidFill>
                        <a:latin typeface="Calibri"/>
                      </a:endParaRPr>
                    </a:p>
                  </a:txBody>
                  <a:tcPr marL="84240" marR="842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rowSpan="2">
                  <a:txBody>
                    <a:bodyPr/>
                    <a:lstStyle/>
                    <a:p>
                      <a:pPr defTabSz="1371600">
                        <a:lnSpc>
                          <a:spcPct val="100000"/>
                        </a:lnSpc>
                        <a:tabLst>
                          <a:tab pos="0" algn="l"/>
                        </a:tabLst>
                      </a:pPr>
                      <a:r>
                        <a:rPr lang="en-US" sz="1600" b="1" strike="noStrike" spc="-1">
                          <a:solidFill>
                            <a:schemeClr val="dk1"/>
                          </a:solidFill>
                          <a:latin typeface="Microsoft JhengHei"/>
                          <a:ea typeface="Microsoft JhengHei"/>
                        </a:rPr>
                        <a:t>Page </a:t>
                      </a:r>
                      <a:r>
                        <a:rPr lang="zh-TW" sz="1600" b="1" strike="noStrike" spc="-1">
                          <a:solidFill>
                            <a:schemeClr val="dk1"/>
                          </a:solidFill>
                          <a:latin typeface="Microsoft JhengHei"/>
                          <a:ea typeface="Microsoft JhengHei"/>
                        </a:rPr>
                        <a:t>頁次：</a:t>
                      </a:r>
                      <a:endParaRPr lang="en-US" sz="1600" b="0" strike="noStrike" spc="-1">
                        <a:solidFill>
                          <a:srgbClr val="000000"/>
                        </a:solidFill>
                        <a:latin typeface="Calibri"/>
                      </a:endParaRPr>
                    </a:p>
                    <a:p>
                      <a:pPr defTabSz="914400">
                        <a:lnSpc>
                          <a:spcPct val="100000"/>
                        </a:lnSpc>
                        <a:spcBef>
                          <a:spcPts val="300"/>
                        </a:spcBef>
                        <a:tabLst>
                          <a:tab pos="0" algn="l"/>
                        </a:tabLst>
                      </a:pPr>
                      <a:r>
                        <a:rPr lang="en-US" sz="1600" b="1" strike="noStrike" spc="-1">
                          <a:solidFill>
                            <a:schemeClr val="dk1"/>
                          </a:solidFill>
                          <a:latin typeface="Microsoft JhengHei"/>
                          <a:ea typeface="Microsoft JhengHei"/>
                        </a:rPr>
                        <a:t>Latest Update </a:t>
                      </a:r>
                      <a:r>
                        <a:rPr lang="zh-TW" sz="1600" b="1" strike="noStrike" spc="-1">
                          <a:solidFill>
                            <a:schemeClr val="dk1"/>
                          </a:solidFill>
                          <a:latin typeface="Microsoft JhengHei"/>
                          <a:ea typeface="Microsoft JhengHei"/>
                        </a:rPr>
                        <a:t>最後更新：</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60156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ID / Name</a:t>
                      </a:r>
                      <a:endParaRPr lang="en-US" sz="1600" b="0" strike="noStrike" spc="-1">
                        <a:solidFill>
                          <a:srgbClr val="000000"/>
                        </a:solidFill>
                        <a:latin typeface="Calibri"/>
                      </a:endParaRPr>
                    </a:p>
                    <a:p>
                      <a:pPr algn="ctr" defTabSz="1371600">
                        <a:lnSpc>
                          <a:spcPct val="100000"/>
                        </a:lnSpc>
                        <a:tabLst>
                          <a:tab pos="0" algn="l"/>
                        </a:tabLst>
                      </a:pPr>
                      <a:r>
                        <a:rPr lang="zh-TW" sz="1600" b="1" strike="noStrike" spc="-1">
                          <a:solidFill>
                            <a:schemeClr val="dk1"/>
                          </a:solidFill>
                          <a:latin typeface="Microsoft JhengHei"/>
                          <a:ea typeface="Microsoft JhengHei"/>
                        </a:rPr>
                        <a:t>流程代碼 </a:t>
                      </a:r>
                      <a:r>
                        <a:rPr lang="en-US" sz="1600" b="1" strike="noStrike" spc="-1">
                          <a:solidFill>
                            <a:schemeClr val="dk1"/>
                          </a:solidFill>
                          <a:latin typeface="Microsoft JhengHei"/>
                          <a:ea typeface="Microsoft JhengHei"/>
                        </a:rPr>
                        <a:t>/ </a:t>
                      </a:r>
                      <a:r>
                        <a:rPr lang="zh-TW" sz="1600" b="1" strike="noStrike" spc="-1">
                          <a:solidFill>
                            <a:schemeClr val="dk1"/>
                          </a:solidFill>
                          <a:latin typeface="Microsoft JhengHei"/>
                          <a:ea typeface="Microsoft JhengHei"/>
                        </a:rPr>
                        <a:t>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6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8799120">
                <a:tc gridSpan="3">
                  <a:txBody>
                    <a:bodyPr/>
                    <a:lstStyle/>
                    <a:p>
                      <a:endParaRPr lang="en-US" sz="1600" b="1"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bl>
          </a:graphicData>
        </a:graphic>
      </p:graphicFrame>
      <p:pic>
        <p:nvPicPr>
          <p:cNvPr id="1431" name="Google Shape;37;p9" descr="A red and black logo&#10;&#10;Description automatically generated"/>
          <p:cNvPicPr/>
          <p:nvPr/>
        </p:nvPicPr>
        <p:blipFill>
          <a:blip r:embed="rId14"/>
          <a:stretch/>
        </p:blipFill>
        <p:spPr>
          <a:xfrm>
            <a:off x="7067520" y="213120"/>
            <a:ext cx="482040" cy="419400"/>
          </a:xfrm>
          <a:prstGeom prst="rect">
            <a:avLst/>
          </a:prstGeom>
          <a:ln w="0">
            <a:noFill/>
          </a:ln>
        </p:spPr>
      </p:pic>
      <p:sp>
        <p:nvSpPr>
          <p:cNvPr id="1432" name="PlaceHolder 1"/>
          <p:cNvSpPr>
            <a:spLocks noGrp="1"/>
          </p:cNvSpPr>
          <p:nvPr>
            <p:ph type="dt" idx="6"/>
          </p:nvPr>
        </p:nvSpPr>
        <p:spPr>
          <a:xfrm>
            <a:off x="16862040" y="726480"/>
            <a:ext cx="1163880" cy="26028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&lt;日期/時間&gt;</a:t>
            </a:r>
          </a:p>
        </p:txBody>
      </p:sp>
      <p:sp>
        <p:nvSpPr>
          <p:cNvPr id="1433" name="PlaceHolder 2"/>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1434" name="PlaceHolder 3"/>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104" r:id="rId1"/>
    <p:sldLayoutId id="2147484105" r:id="rId2"/>
    <p:sldLayoutId id="2147484106" r:id="rId3"/>
    <p:sldLayoutId id="2147484107" r:id="rId4"/>
    <p:sldLayoutId id="2147484108" r:id="rId5"/>
    <p:sldLayoutId id="2147484109" r:id="rId6"/>
    <p:sldLayoutId id="2147484110" r:id="rId7"/>
    <p:sldLayoutId id="2147484111" r:id="rId8"/>
    <p:sldLayoutId id="2147484112" r:id="rId9"/>
    <p:sldLayoutId id="2147484113" r:id="rId10"/>
    <p:sldLayoutId id="2147484114" r:id="rId11"/>
    <p:sldLayoutId id="2147484115" r:id="rId12"/>
  </p:sldLayoutIdLst>
  <p:txStyles>
    <p:titleStyle/>
    <p:bodyStyle/>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2010" name="Google Shape;35;p9"/>
          <p:cNvGraphicFramePr/>
          <p:nvPr/>
        </p:nvGraphicFramePr>
        <p:xfrm>
          <a:off x="122400" y="114480"/>
          <a:ext cx="18019440" cy="10040760"/>
        </p:xfrm>
        <a:graphic>
          <a:graphicData uri="http://schemas.openxmlformats.org/drawingml/2006/table">
            <a:tbl>
              <a:tblPr/>
              <a:tblGrid>
                <a:gridCol w="2311200"/>
                <a:gridCol w="9468720"/>
                <a:gridCol w="2420280"/>
                <a:gridCol w="3819240"/>
              </a:tblGrid>
              <a:tr h="62604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Company / </a:t>
                      </a:r>
                      <a:r>
                        <a:rPr lang="zh-TW" sz="1600" b="1" strike="noStrike" spc="-1">
                          <a:solidFill>
                            <a:schemeClr val="dk1"/>
                          </a:solidFill>
                          <a:latin typeface="Microsoft JhengHei"/>
                          <a:ea typeface="Microsoft JhengHei"/>
                        </a:rPr>
                        <a:t>公司名稱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gridSpan="2">
                  <a:txBody>
                    <a:bodyPr/>
                    <a:lstStyle/>
                    <a:p>
                      <a:pPr algn="ctr" defTabSz="1371600">
                        <a:lnSpc>
                          <a:spcPct val="150000"/>
                        </a:lnSpc>
                        <a:tabLst>
                          <a:tab pos="0" algn="l"/>
                        </a:tabLst>
                      </a:pPr>
                      <a:r>
                        <a:rPr lang="en-US" sz="2400" b="1" strike="noStrike" spc="-1">
                          <a:solidFill>
                            <a:schemeClr val="dk1"/>
                          </a:solidFill>
                          <a:latin typeface="Microsoft JhengHei"/>
                          <a:ea typeface="Microsoft JhengHei"/>
                        </a:rPr>
                        <a:t>                Freetrend </a:t>
                      </a:r>
                      <a:r>
                        <a:rPr lang="zh-TW" sz="2400" b="1" strike="noStrike" spc="-1">
                          <a:solidFill>
                            <a:schemeClr val="dk1"/>
                          </a:solidFill>
                          <a:latin typeface="Microsoft JhengHei"/>
                          <a:ea typeface="Microsoft JhengHei"/>
                        </a:rPr>
                        <a:t>賜昌集團</a:t>
                      </a:r>
                      <a:endParaRPr lang="en-US" sz="2400" b="0" strike="noStrike" spc="-1">
                        <a:solidFill>
                          <a:srgbClr val="000000"/>
                        </a:solidFill>
                        <a:latin typeface="Calibri"/>
                      </a:endParaRPr>
                    </a:p>
                  </a:txBody>
                  <a:tcPr marL="84240" marR="842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rowSpan="2">
                  <a:txBody>
                    <a:bodyPr/>
                    <a:lstStyle/>
                    <a:p>
                      <a:pPr defTabSz="1371600">
                        <a:lnSpc>
                          <a:spcPct val="100000"/>
                        </a:lnSpc>
                        <a:tabLst>
                          <a:tab pos="0" algn="l"/>
                        </a:tabLst>
                      </a:pPr>
                      <a:r>
                        <a:rPr lang="en-US" sz="1600" b="1" strike="noStrike" spc="-1">
                          <a:solidFill>
                            <a:schemeClr val="dk1"/>
                          </a:solidFill>
                          <a:latin typeface="Microsoft JhengHei"/>
                          <a:ea typeface="Microsoft JhengHei"/>
                        </a:rPr>
                        <a:t>Page </a:t>
                      </a:r>
                      <a:r>
                        <a:rPr lang="zh-TW" sz="1600" b="1" strike="noStrike" spc="-1">
                          <a:solidFill>
                            <a:schemeClr val="dk1"/>
                          </a:solidFill>
                          <a:latin typeface="Microsoft JhengHei"/>
                          <a:ea typeface="Microsoft JhengHei"/>
                        </a:rPr>
                        <a:t>頁次：</a:t>
                      </a:r>
                      <a:endParaRPr lang="en-US" sz="1600" b="0" strike="noStrike" spc="-1">
                        <a:solidFill>
                          <a:srgbClr val="000000"/>
                        </a:solidFill>
                        <a:latin typeface="Calibri"/>
                      </a:endParaRPr>
                    </a:p>
                    <a:p>
                      <a:pPr defTabSz="914400">
                        <a:lnSpc>
                          <a:spcPct val="100000"/>
                        </a:lnSpc>
                        <a:spcBef>
                          <a:spcPts val="300"/>
                        </a:spcBef>
                        <a:tabLst>
                          <a:tab pos="0" algn="l"/>
                        </a:tabLst>
                      </a:pPr>
                      <a:r>
                        <a:rPr lang="en-US" sz="1600" b="1" strike="noStrike" spc="-1">
                          <a:solidFill>
                            <a:schemeClr val="dk1"/>
                          </a:solidFill>
                          <a:latin typeface="Microsoft JhengHei"/>
                          <a:ea typeface="Microsoft JhengHei"/>
                        </a:rPr>
                        <a:t>Latest Update </a:t>
                      </a:r>
                      <a:r>
                        <a:rPr lang="zh-TW" sz="1600" b="1" strike="noStrike" spc="-1">
                          <a:solidFill>
                            <a:schemeClr val="dk1"/>
                          </a:solidFill>
                          <a:latin typeface="Microsoft JhengHei"/>
                          <a:ea typeface="Microsoft JhengHei"/>
                        </a:rPr>
                        <a:t>最後更新：</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60156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ID / Name</a:t>
                      </a:r>
                      <a:endParaRPr lang="en-US" sz="1600" b="0" strike="noStrike" spc="-1">
                        <a:solidFill>
                          <a:srgbClr val="000000"/>
                        </a:solidFill>
                        <a:latin typeface="Calibri"/>
                      </a:endParaRPr>
                    </a:p>
                    <a:p>
                      <a:pPr algn="ctr" defTabSz="1371600">
                        <a:lnSpc>
                          <a:spcPct val="100000"/>
                        </a:lnSpc>
                        <a:tabLst>
                          <a:tab pos="0" algn="l"/>
                        </a:tabLst>
                      </a:pPr>
                      <a:r>
                        <a:rPr lang="zh-TW" sz="1600" b="1" strike="noStrike" spc="-1">
                          <a:solidFill>
                            <a:schemeClr val="dk1"/>
                          </a:solidFill>
                          <a:latin typeface="Microsoft JhengHei"/>
                          <a:ea typeface="Microsoft JhengHei"/>
                        </a:rPr>
                        <a:t>流程代碼 </a:t>
                      </a:r>
                      <a:r>
                        <a:rPr lang="en-US" sz="1600" b="1" strike="noStrike" spc="-1">
                          <a:solidFill>
                            <a:schemeClr val="dk1"/>
                          </a:solidFill>
                          <a:latin typeface="Microsoft JhengHei"/>
                          <a:ea typeface="Microsoft JhengHei"/>
                        </a:rPr>
                        <a:t>/ </a:t>
                      </a:r>
                      <a:r>
                        <a:rPr lang="zh-TW" sz="1600" b="1" strike="noStrike" spc="-1">
                          <a:solidFill>
                            <a:schemeClr val="dk1"/>
                          </a:solidFill>
                          <a:latin typeface="Microsoft JhengHei"/>
                          <a:ea typeface="Microsoft JhengHei"/>
                        </a:rPr>
                        <a:t>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gridSpan="2">
                  <a:txBody>
                    <a:bodyPr/>
                    <a:lstStyle/>
                    <a:p>
                      <a:endParaRPr lang="en-US" sz="16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7008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Input</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600" b="1"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Output</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Activities</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8429040">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bl>
          </a:graphicData>
        </a:graphic>
      </p:graphicFrame>
      <p:pic>
        <p:nvPicPr>
          <p:cNvPr id="2011" name="Google Shape;37;p9" descr="A red and black logo&#10;&#10;Description automatically generated"/>
          <p:cNvPicPr/>
          <p:nvPr/>
        </p:nvPicPr>
        <p:blipFill>
          <a:blip r:embed="rId15"/>
          <a:stretch/>
        </p:blipFill>
        <p:spPr>
          <a:xfrm>
            <a:off x="7067520" y="213120"/>
            <a:ext cx="482040" cy="419400"/>
          </a:xfrm>
          <a:prstGeom prst="rect">
            <a:avLst/>
          </a:prstGeom>
          <a:ln w="0">
            <a:noFill/>
          </a:ln>
        </p:spPr>
      </p:pic>
      <p:sp>
        <p:nvSpPr>
          <p:cNvPr id="2012" name="PlaceHolder 1"/>
          <p:cNvSpPr>
            <a:spLocks noGrp="1"/>
          </p:cNvSpPr>
          <p:nvPr>
            <p:ph type="dt" idx="18"/>
          </p:nvPr>
        </p:nvSpPr>
        <p:spPr>
          <a:xfrm>
            <a:off x="16862040" y="726480"/>
            <a:ext cx="1163880" cy="26028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&lt;日期/時間&gt;</a:t>
            </a:r>
          </a:p>
        </p:txBody>
      </p:sp>
      <p:sp>
        <p:nvSpPr>
          <p:cNvPr id="2013" name="PlaceHolder 2"/>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014" name="PlaceHolder 3"/>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286" r:id="rId1"/>
    <p:sldLayoutId id="2147484287" r:id="rId2"/>
    <p:sldLayoutId id="2147484288" r:id="rId3"/>
    <p:sldLayoutId id="2147484289" r:id="rId4"/>
    <p:sldLayoutId id="2147484290" r:id="rId5"/>
    <p:sldLayoutId id="2147484291" r:id="rId6"/>
    <p:sldLayoutId id="2147484292" r:id="rId7"/>
    <p:sldLayoutId id="2147484293" r:id="rId8"/>
    <p:sldLayoutId id="2147484294" r:id="rId9"/>
    <p:sldLayoutId id="2147484295" r:id="rId10"/>
    <p:sldLayoutId id="2147484296" r:id="rId11"/>
    <p:sldLayoutId id="2147484297" r:id="rId12"/>
    <p:sldLayoutId id="2147484480" r:id="rId13"/>
  </p:sldLayoutIdLst>
  <p:txStyles>
    <p:titleStyle/>
    <p:bodyStyle/>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578" name="圖片 4"/>
          <p:cNvPicPr/>
          <p:nvPr/>
        </p:nvPicPr>
        <p:blipFill>
          <a:blip r:embed="rId14"/>
          <a:stretch/>
        </p:blipFill>
        <p:spPr>
          <a:xfrm>
            <a:off x="0" y="0"/>
            <a:ext cx="18287280" cy="10287720"/>
          </a:xfrm>
          <a:prstGeom prst="rect">
            <a:avLst/>
          </a:prstGeom>
          <a:ln w="0">
            <a:noFill/>
          </a:ln>
        </p:spPr>
      </p:pic>
      <p:sp>
        <p:nvSpPr>
          <p:cNvPr id="257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580"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468" r:id="rId1"/>
    <p:sldLayoutId id="2147484469" r:id="rId2"/>
    <p:sldLayoutId id="2147484470" r:id="rId3"/>
    <p:sldLayoutId id="2147484471" r:id="rId4"/>
    <p:sldLayoutId id="2147484472" r:id="rId5"/>
    <p:sldLayoutId id="2147484473" r:id="rId6"/>
    <p:sldLayoutId id="2147484474" r:id="rId7"/>
    <p:sldLayoutId id="2147484475" r:id="rId8"/>
    <p:sldLayoutId id="2147484476" r:id="rId9"/>
    <p:sldLayoutId id="2147484477" r:id="rId10"/>
    <p:sldLayoutId id="2147484478" r:id="rId11"/>
    <p:sldLayoutId id="2147484479" r:id="rId1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 name="矩形 1"/>
          <p:cNvSpPr/>
          <p:nvPr/>
        </p:nvSpPr>
        <p:spPr>
          <a:xfrm>
            <a:off x="843480" y="5144400"/>
            <a:ext cx="6536520" cy="1552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4800" b="1" strike="noStrike" spc="-1">
                <a:solidFill>
                  <a:schemeClr val="dk1"/>
                </a:solidFill>
                <a:latin typeface="Microsoft JhengHei"/>
                <a:ea typeface="Microsoft JhengHei"/>
              </a:rPr>
              <a:t>賜昌集團 </a:t>
            </a:r>
            <a:r>
              <a:rPr lang="en-US" sz="4800" b="1" strike="noStrike" spc="-1">
                <a:solidFill>
                  <a:schemeClr val="dk1"/>
                </a:solidFill>
                <a:latin typeface="Microsoft JhengHei"/>
                <a:ea typeface="Microsoft JhengHei"/>
              </a:rPr>
              <a:t>SAP</a:t>
            </a:r>
            <a:r>
              <a:rPr lang="zh-TW" sz="4800" b="1" strike="noStrike" spc="-1">
                <a:solidFill>
                  <a:schemeClr val="dk1"/>
                </a:solidFill>
                <a:latin typeface="Microsoft JhengHei"/>
                <a:ea typeface="Microsoft JhengHei"/>
              </a:rPr>
              <a:t>推進中心</a:t>
            </a:r>
            <a:endParaRPr lang="en-US" sz="4800" b="0" strike="noStrike" spc="-1">
              <a:solidFill>
                <a:srgbClr val="000000"/>
              </a:solidFill>
              <a:latin typeface="Calibri"/>
            </a:endParaRPr>
          </a:p>
        </p:txBody>
      </p:sp>
      <p:sp>
        <p:nvSpPr>
          <p:cNvPr id="2857" name="TextBox 2"/>
          <p:cNvSpPr/>
          <p:nvPr/>
        </p:nvSpPr>
        <p:spPr>
          <a:xfrm>
            <a:off x="852840" y="7871400"/>
            <a:ext cx="2828380" cy="73721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dirty="0">
                <a:solidFill>
                  <a:schemeClr val="dk1"/>
                </a:solidFill>
                <a:latin typeface="Microsoft JhengHei"/>
                <a:ea typeface="Microsoft JhengHei"/>
              </a:rPr>
              <a:t>Presentation by </a:t>
            </a:r>
            <a:r>
              <a:rPr lang="en-US" sz="2100" b="1" strike="noStrike" spc="-1" dirty="0">
                <a:solidFill>
                  <a:schemeClr val="dk1"/>
                </a:solidFill>
                <a:latin typeface="Microsoft JhengHei"/>
                <a:ea typeface="Microsoft JhengHei"/>
              </a:rPr>
              <a:t>DSIT</a:t>
            </a:r>
            <a:endParaRPr lang="en-US" sz="2100" b="0" strike="noStrike" spc="-1" dirty="0">
              <a:solidFill>
                <a:srgbClr val="000000"/>
              </a:solidFill>
              <a:latin typeface="Calibri"/>
            </a:endParaRPr>
          </a:p>
          <a:p>
            <a:pPr defTabSz="457200">
              <a:lnSpc>
                <a:spcPct val="100000"/>
              </a:lnSpc>
            </a:pPr>
            <a:r>
              <a:rPr lang="en-US" sz="2100" b="0" strike="noStrike" spc="-1" dirty="0" smtClean="0">
                <a:solidFill>
                  <a:schemeClr val="dk1"/>
                </a:solidFill>
                <a:latin typeface="Microsoft JhengHei"/>
                <a:ea typeface="Microsoft JhengHei"/>
              </a:rPr>
              <a:t>2025/07/01</a:t>
            </a:r>
            <a:endParaRPr lang="en-US" sz="2100" b="0" strike="noStrike" spc="-1" dirty="0">
              <a:solidFill>
                <a:srgbClr val="000000"/>
              </a:solidFill>
              <a:latin typeface="Calibri"/>
            </a:endParaRPr>
          </a:p>
        </p:txBody>
      </p:sp>
      <p:sp>
        <p:nvSpPr>
          <p:cNvPr id="2858" name="矩形 1"/>
          <p:cNvSpPr/>
          <p:nvPr/>
        </p:nvSpPr>
        <p:spPr>
          <a:xfrm>
            <a:off x="843480" y="6523200"/>
            <a:ext cx="6536520" cy="64487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3600" b="0" strike="noStrike" spc="-1" dirty="0" smtClean="0">
                <a:solidFill>
                  <a:schemeClr val="dk1"/>
                </a:solidFill>
                <a:latin typeface="Microsoft JhengHei"/>
                <a:ea typeface="Microsoft JhengHei"/>
              </a:rPr>
              <a:t>MM-IM-0090</a:t>
            </a:r>
            <a:endParaRPr lang="en-US" sz="3600" b="0" strike="noStrike" spc="-1" dirty="0">
              <a:solidFill>
                <a:srgbClr val="000000"/>
              </a:solidFill>
              <a:latin typeface="Calibri"/>
            </a:endParaRPr>
          </a:p>
        </p:txBody>
      </p:sp>
      <p:sp>
        <p:nvSpPr>
          <p:cNvPr id="2859" name="矩形 1"/>
          <p:cNvSpPr/>
          <p:nvPr/>
        </p:nvSpPr>
        <p:spPr>
          <a:xfrm>
            <a:off x="843480" y="7179120"/>
            <a:ext cx="7586140" cy="644877"/>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defTabSz="457200">
              <a:lnSpc>
                <a:spcPct val="100000"/>
              </a:lnSpc>
            </a:pPr>
            <a:r>
              <a:rPr lang="zh-TW" altLang="en-US" sz="3600" spc="-1" dirty="0" smtClean="0">
                <a:solidFill>
                  <a:schemeClr val="dk1"/>
                </a:solidFill>
                <a:latin typeface="Microsoft JhengHei"/>
                <a:ea typeface="Microsoft JhengHei"/>
              </a:rPr>
              <a:t>倉庫調撥轉倉作業流程</a:t>
            </a:r>
            <a:endParaRPr lang="en-US" sz="3600" b="0" strike="noStrike" spc="-1" dirty="0">
              <a:solidFill>
                <a:srgbClr val="000000"/>
              </a:solidFill>
              <a:latin typeface="Calibri"/>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60" name="Google Shape;190;p2"/>
          <p:cNvGraphicFramePr/>
          <p:nvPr/>
        </p:nvGraphicFramePr>
        <p:xfrm>
          <a:off x="366120" y="1567440"/>
          <a:ext cx="17517960" cy="1640397"/>
        </p:xfrm>
        <a:graphic>
          <a:graphicData uri="http://schemas.openxmlformats.org/drawingml/2006/table">
            <a:tbl>
              <a:tblPr/>
              <a:tblGrid>
                <a:gridCol w="2061360"/>
                <a:gridCol w="2061360"/>
                <a:gridCol w="8327880"/>
                <a:gridCol w="1423080"/>
                <a:gridCol w="634680"/>
                <a:gridCol w="1192320"/>
                <a:gridCol w="576720"/>
                <a:gridCol w="1240560"/>
              </a:tblGrid>
              <a:tr h="504000">
                <a:tc rowSpan="3">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文件基本訊息</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文件主題</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en-US" sz="1800" b="1" strike="noStrike" spc="-1" dirty="0">
                          <a:solidFill>
                            <a:schemeClr val="lt1"/>
                          </a:solidFill>
                          <a:latin typeface="Microsoft JhengHei"/>
                          <a:ea typeface="Microsoft JhengHei"/>
                        </a:rPr>
                        <a:t> To </a:t>
                      </a:r>
                      <a:r>
                        <a:rPr lang="en-US" sz="1800" b="1" strike="noStrike" spc="-1" dirty="0" err="1">
                          <a:solidFill>
                            <a:schemeClr val="lt1"/>
                          </a:solidFill>
                          <a:latin typeface="Microsoft JhengHei"/>
                          <a:ea typeface="Microsoft JhengHei"/>
                        </a:rPr>
                        <a:t>be_Business</a:t>
                      </a:r>
                      <a:r>
                        <a:rPr lang="en-US" sz="1800" b="1" strike="noStrike" spc="-1" dirty="0">
                          <a:solidFill>
                            <a:schemeClr val="lt1"/>
                          </a:solidFill>
                          <a:latin typeface="Microsoft JhengHei"/>
                          <a:ea typeface="Microsoft JhengHei"/>
                        </a:rPr>
                        <a:t> Process</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創建日期</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gridSpan="4">
                  <a:txBody>
                    <a:bodyPr/>
                    <a:lstStyle/>
                    <a:p>
                      <a:pPr defTabSz="1371600">
                        <a:lnSpc>
                          <a:spcPct val="166000"/>
                        </a:lnSpc>
                        <a:tabLst>
                          <a:tab pos="0" algn="l"/>
                        </a:tabLst>
                      </a:pPr>
                      <a:r>
                        <a:rPr lang="en-US" sz="1800" b="1" strike="noStrike" spc="-1" dirty="0">
                          <a:solidFill>
                            <a:schemeClr val="lt1"/>
                          </a:solidFill>
                          <a:latin typeface="Microsoft JhengHei"/>
                          <a:ea typeface="Microsoft JhengHei"/>
                        </a:rPr>
                        <a:t> </a:t>
                      </a:r>
                      <a:r>
                        <a:rPr lang="en-US" sz="1800" b="1" strike="noStrike" spc="-1" dirty="0" smtClean="0">
                          <a:solidFill>
                            <a:schemeClr val="lt1"/>
                          </a:solidFill>
                          <a:latin typeface="Microsoft JhengHei"/>
                          <a:ea typeface="Microsoft JhengHei"/>
                        </a:rPr>
                        <a:t>2025/07/01</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r>
                        <a:rPr lang="zh-TW" sz="1800" b="1" strike="noStrike" spc="-1" dirty="0">
                          <a:solidFill>
                            <a:schemeClr val="lt1"/>
                          </a:solidFill>
                          <a:latin typeface="Microsoft JhengHei"/>
                          <a:ea typeface="Microsoft JhengHei"/>
                        </a:rPr>
                        <a:t>作者</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r>
                        <a:rPr lang="en-US" sz="1800" b="1" strike="noStrike" spc="-1" dirty="0" smtClean="0">
                          <a:solidFill>
                            <a:schemeClr val="dk1"/>
                          </a:solidFill>
                          <a:latin typeface="Microsoft JhengHei"/>
                          <a:ea typeface="Microsoft JhengHei"/>
                        </a:rPr>
                        <a:t>DSIT</a:t>
                      </a:r>
                      <a:endParaRPr lang="en-US" sz="1800" b="1"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文件狀態</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1"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草稿版</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r>
                        <a:rPr lang="x-none" sz="1800" b="1" strike="noStrike" spc="-1" dirty="0">
                          <a:solidFill>
                            <a:schemeClr val="dk1"/>
                          </a:solidFill>
                          <a:latin typeface="Microsoft JhengHei"/>
                          <a:ea typeface="Microsoft JhengHei"/>
                        </a:rPr>
                        <a:t>V</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確認版</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marL="0" marR="0" indent="0" defTabSz="1371600" eaLnBrk="1" fontAlgn="auto" latinLnBrk="0" hangingPunct="1">
                        <a:lnSpc>
                          <a:spcPct val="166000"/>
                        </a:lnSpc>
                        <a:spcBef>
                          <a:spcPts val="0"/>
                        </a:spcBef>
                        <a:spcAft>
                          <a:spcPts val="0"/>
                        </a:spcAft>
                        <a:buClrTx/>
                        <a:buSzTx/>
                        <a:buFontTx/>
                        <a:buNone/>
                        <a:tabLst>
                          <a:tab pos="0" algn="l"/>
                        </a:tabLst>
                        <a:defRPr/>
                      </a:pPr>
                      <a:endParaRPr lang="en-US" sz="1800" b="1"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版本</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gridSpan="4">
                  <a:txBody>
                    <a:bodyPr/>
                    <a:lstStyle/>
                    <a:p>
                      <a:pPr defTabSz="1371600">
                        <a:lnSpc>
                          <a:spcPct val="166000"/>
                        </a:lnSpc>
                        <a:tabLst>
                          <a:tab pos="0" algn="l"/>
                        </a:tabLst>
                      </a:pPr>
                      <a:r>
                        <a:rPr lang="en-US" sz="1800" b="1" strike="noStrike" spc="-1" dirty="0">
                          <a:solidFill>
                            <a:schemeClr val="dk1"/>
                          </a:solidFill>
                          <a:latin typeface="Microsoft JhengHei"/>
                          <a:ea typeface="Microsoft JhengHei"/>
                        </a:rPr>
                        <a:t> </a:t>
                      </a:r>
                      <a:r>
                        <a:rPr lang="en-US" sz="1800" b="1" strike="noStrike" spc="-1" dirty="0" smtClean="0">
                          <a:solidFill>
                            <a:schemeClr val="dk1"/>
                          </a:solidFill>
                          <a:latin typeface="Microsoft JhengHei"/>
                          <a:ea typeface="Microsoft JhengHei"/>
                        </a:rPr>
                        <a:t>v2.0</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bl>
          </a:graphicData>
        </a:graphic>
      </p:graphicFrame>
      <p:graphicFrame>
        <p:nvGraphicFramePr>
          <p:cNvPr id="2861" name="Google Shape;191;p2"/>
          <p:cNvGraphicFramePr/>
          <p:nvPr/>
        </p:nvGraphicFramePr>
        <p:xfrm>
          <a:off x="366120" y="3155400"/>
          <a:ext cx="17517960" cy="3195196"/>
        </p:xfrm>
        <a:graphic>
          <a:graphicData uri="http://schemas.openxmlformats.org/drawingml/2006/table">
            <a:tbl>
              <a:tblPr/>
              <a:tblGrid>
                <a:gridCol w="2061360"/>
                <a:gridCol w="2061360"/>
                <a:gridCol w="8327880"/>
                <a:gridCol w="3269880"/>
                <a:gridCol w="1797480"/>
              </a:tblGrid>
              <a:tr h="504000">
                <a:tc rowSpan="6">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文件版本</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版本號</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變更說明</a:t>
                      </a:r>
                      <a:r>
                        <a:rPr lang="en-US" sz="1800" b="1" strike="noStrike" spc="-1" dirty="0">
                          <a:solidFill>
                            <a:schemeClr val="lt1"/>
                          </a:solidFill>
                          <a:latin typeface="Microsoft JhengHei"/>
                          <a:ea typeface="Microsoft JhengHei"/>
                        </a:rPr>
                        <a:t>(</a:t>
                      </a:r>
                      <a:r>
                        <a:rPr lang="zh-TW" sz="1800" b="1" strike="noStrike" spc="-1" dirty="0">
                          <a:solidFill>
                            <a:schemeClr val="lt1"/>
                          </a:solidFill>
                          <a:latin typeface="Microsoft JhengHei"/>
                          <a:ea typeface="Microsoft JhengHei"/>
                        </a:rPr>
                        <a:t>修改內容說明</a:t>
                      </a:r>
                      <a:r>
                        <a:rPr lang="en-US" sz="1800" b="1" strike="noStrike" spc="-1" dirty="0">
                          <a:solidFill>
                            <a:schemeClr val="lt1"/>
                          </a:solidFill>
                          <a:latin typeface="Microsoft JhengHei"/>
                          <a:ea typeface="Microsoft JhengHei"/>
                        </a:rPr>
                        <a:t>)</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修改人</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日期</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1371600">
                        <a:lnSpc>
                          <a:spcPct val="100000"/>
                        </a:lnSpc>
                        <a:tabLst>
                          <a:tab pos="0" algn="l"/>
                        </a:tabLst>
                      </a:pP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914400">
                        <a:lnSpc>
                          <a:spcPct val="166000"/>
                        </a:lnSpc>
                        <a:tabLst>
                          <a:tab pos="0" algn="l"/>
                        </a:tabLst>
                      </a:pPr>
                      <a:endParaRPr lang="en-US" sz="1800" b="0" strike="noStrike" spc="-1">
                        <a:solidFill>
                          <a:srgbClr val="000000"/>
                        </a:solidFill>
                        <a:latin typeface="Calibri"/>
                      </a:endParaRPr>
                    </a:p>
                  </a:txBody>
                  <a:tcPr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endParaRPr lang="en-US" sz="1800" b="0" strike="noStrike" spc="-1">
                        <a:solidFill>
                          <a:srgbClr val="000000"/>
                        </a:solidFill>
                        <a:latin typeface="Calibri"/>
                      </a:endParaRPr>
                    </a:p>
                  </a:txBody>
                  <a:tcPr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914400">
                        <a:lnSpc>
                          <a:spcPct val="166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algn="ctr" defTabSz="914400">
                        <a:lnSpc>
                          <a:spcPct val="166000"/>
                        </a:lnSpc>
                        <a:tabLst>
                          <a:tab pos="0" algn="l"/>
                        </a:tabLst>
                      </a:pPr>
                      <a:endParaRPr lang="en-US" sz="1800" b="0" strike="noStrike" spc="-1">
                        <a:solidFill>
                          <a:srgbClr val="000000"/>
                        </a:solidFill>
                        <a:latin typeface="Calibri"/>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algn="ctr" defTabSz="1371600">
                        <a:lnSpc>
                          <a:spcPct val="100000"/>
                        </a:lnSpc>
                        <a:tabLst>
                          <a:tab pos="0" algn="l"/>
                        </a:tabLst>
                      </a:pPr>
                      <a:endParaRPr lang="en-US" sz="1800" b="0" strike="noStrike" spc="-1">
                        <a:solidFill>
                          <a:srgbClr val="000000"/>
                        </a:solidFill>
                        <a:latin typeface="Calibri"/>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endParaRPr lang="en-US" sz="1800" b="0" strike="noStrike" spc="-1">
                        <a:solidFill>
                          <a:schemeClr val="lt1"/>
                        </a:solidFill>
                        <a:latin typeface="Microsoft JhengHei"/>
                        <a:ea typeface="Microsoft JhengHe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endParaRPr lang="en-US" sz="1800" b="0" strike="noStrike" spc="-1">
                        <a:solidFill>
                          <a:schemeClr val="lt1"/>
                        </a:solidFill>
                        <a:latin typeface="Microsoft JhengHei"/>
                        <a:ea typeface="Microsoft JhengHe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bl>
          </a:graphicData>
        </a:graphic>
      </p:graphicFrame>
      <p:graphicFrame>
        <p:nvGraphicFramePr>
          <p:cNvPr id="2862" name="Google Shape;192;p2"/>
          <p:cNvGraphicFramePr/>
          <p:nvPr/>
        </p:nvGraphicFramePr>
        <p:xfrm>
          <a:off x="366120" y="6255360"/>
          <a:ext cx="17518320" cy="504000"/>
        </p:xfrm>
        <a:graphic>
          <a:graphicData uri="http://schemas.openxmlformats.org/drawingml/2006/table">
            <a:tbl>
              <a:tblPr/>
              <a:tblGrid>
                <a:gridCol w="2061360"/>
                <a:gridCol w="2066760"/>
                <a:gridCol w="1797480"/>
                <a:gridCol w="1932120"/>
                <a:gridCol w="1932120"/>
                <a:gridCol w="1932120"/>
                <a:gridCol w="1932120"/>
                <a:gridCol w="1932120"/>
                <a:gridCol w="1932120"/>
              </a:tblGrid>
              <a:tr h="504000">
                <a:tc>
                  <a:txBody>
                    <a:bodyPr/>
                    <a:lstStyle/>
                    <a:p>
                      <a:pPr defTabSz="1371600">
                        <a:lnSpc>
                          <a:spcPct val="150000"/>
                        </a:lnSpc>
                        <a:tabLst>
                          <a:tab pos="0" algn="l"/>
                        </a:tabLst>
                      </a:pPr>
                      <a:r>
                        <a:rPr lang="zh-TW" sz="1800" b="1" strike="noStrike" spc="-1">
                          <a:solidFill>
                            <a:schemeClr val="lt1"/>
                          </a:solidFill>
                          <a:latin typeface="Microsoft JhengHei"/>
                          <a:ea typeface="Microsoft JhengHei"/>
                        </a:rPr>
                        <a:t>機密等級</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極機密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機密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內部使用</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V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一般</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r>
            </a:tbl>
          </a:graphicData>
        </a:graphic>
      </p:graphicFrame>
      <p:graphicFrame>
        <p:nvGraphicFramePr>
          <p:cNvPr id="2863" name="Google Shape;193;p2"/>
          <p:cNvGraphicFramePr/>
          <p:nvPr/>
        </p:nvGraphicFramePr>
        <p:xfrm>
          <a:off x="366120" y="6835320"/>
          <a:ext cx="17517600" cy="3237995"/>
        </p:xfrm>
        <a:graphic>
          <a:graphicData uri="http://schemas.openxmlformats.org/drawingml/2006/table">
            <a:tbl>
              <a:tblPr/>
              <a:tblGrid>
                <a:gridCol w="2045520"/>
                <a:gridCol w="2066760"/>
                <a:gridCol w="8024760"/>
                <a:gridCol w="2861280"/>
                <a:gridCol w="2519280"/>
              </a:tblGrid>
              <a:tr h="504000">
                <a:tc rowSpan="6">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審批</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角色</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姓名 與 職稱</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簽名</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日期</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專案顧問</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en-US" sz="1800" b="1" strike="noStrike" spc="-1" dirty="0" smtClean="0">
                          <a:solidFill>
                            <a:schemeClr val="dk1"/>
                          </a:solidFill>
                          <a:latin typeface="Microsoft JhengHei"/>
                          <a:ea typeface="Microsoft JhengHei"/>
                        </a:rPr>
                        <a:t>Vincent</a:t>
                      </a:r>
                      <a:r>
                        <a:rPr lang="en-US" sz="1800" b="1" strike="noStrike" spc="-1" baseline="0" dirty="0" smtClean="0">
                          <a:solidFill>
                            <a:schemeClr val="dk1"/>
                          </a:solidFill>
                          <a:latin typeface="Microsoft JhengHei"/>
                          <a:ea typeface="Microsoft JhengHei"/>
                        </a:rPr>
                        <a:t> </a:t>
                      </a:r>
                      <a:r>
                        <a:rPr lang="en-US" sz="1800" b="1" strike="noStrike" spc="-1" baseline="0" dirty="0" smtClean="0">
                          <a:solidFill>
                            <a:schemeClr val="dk1"/>
                          </a:solidFill>
                          <a:latin typeface="Microsoft JhengHei"/>
                          <a:ea typeface="Microsoft JhengHei"/>
                        </a:rPr>
                        <a:t>Yeh</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關鍵使用者</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1"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流程負責人</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資訊單位</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zh-TW" altLang="en-US" sz="1800" b="0" strike="noStrike" spc="-1" dirty="0" smtClean="0">
                          <a:solidFill>
                            <a:srgbClr val="000000"/>
                          </a:solidFill>
                          <a:latin typeface="Microsoft JhengHei"/>
                          <a:ea typeface="Microsoft JhengHei"/>
                        </a:rPr>
                        <a:t>余哲 </a:t>
                      </a:r>
                      <a:r>
                        <a:rPr lang="en-US" sz="1800" b="0" strike="noStrike" spc="-1" dirty="0" smtClean="0">
                          <a:solidFill>
                            <a:srgbClr val="000000"/>
                          </a:solidFill>
                          <a:latin typeface="Microsoft JhengHei"/>
                          <a:ea typeface="Microsoft JhengHei"/>
                        </a:rPr>
                        <a:t>Mark Yu</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專案經理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zh-TW" sz="1800" b="1" strike="noStrike" spc="-1" dirty="0">
                          <a:solidFill>
                            <a:schemeClr val="dk1"/>
                          </a:solidFill>
                          <a:latin typeface="Microsoft JhengHei"/>
                          <a:ea typeface="Microsoft JhengHei"/>
                        </a:rPr>
                        <a:t>蘇靖之 </a:t>
                      </a:r>
                      <a:r>
                        <a:rPr lang="en-US" sz="1800" b="1" strike="noStrike" spc="-1" dirty="0" err="1">
                          <a:solidFill>
                            <a:schemeClr val="dk1"/>
                          </a:solidFill>
                          <a:latin typeface="Microsoft JhengHei"/>
                          <a:ea typeface="Microsoft JhengHei"/>
                        </a:rPr>
                        <a:t>Giovenni</a:t>
                      </a:r>
                      <a:r>
                        <a:rPr lang="en-US" sz="1800" b="1" strike="noStrike" spc="-1" dirty="0">
                          <a:solidFill>
                            <a:schemeClr val="dk1"/>
                          </a:solidFill>
                          <a:latin typeface="Microsoft JhengHei"/>
                          <a:ea typeface="Microsoft JhengHei"/>
                        </a:rPr>
                        <a:t> Su </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dirty="0">
                          <a:solidFill>
                            <a:schemeClr val="dk1"/>
                          </a:solidFill>
                          <a:latin typeface="Microsoft JhengHei"/>
                          <a:ea typeface="Microsoft JhengHei"/>
                        </a:rPr>
                        <a:t> </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bl>
          </a:graphicData>
        </a:graphic>
      </p:graphicFrame>
      <p:sp>
        <p:nvSpPr>
          <p:cNvPr id="2864" name="TextBox 1"/>
          <p:cNvSpPr/>
          <p:nvPr/>
        </p:nvSpPr>
        <p:spPr>
          <a:xfrm>
            <a:off x="2521800" y="811440"/>
            <a:ext cx="8244000" cy="46021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r>
              <a:rPr lang="en-US" altLang="zh-TW" sz="2400" spc="-1" dirty="0" smtClean="0">
                <a:solidFill>
                  <a:schemeClr val="dk1"/>
                </a:solidFill>
                <a:latin typeface="Microsoft JhengHei"/>
                <a:ea typeface="Microsoft JhengHei"/>
              </a:rPr>
              <a:t>MM-IM-0090 </a:t>
            </a:r>
            <a:r>
              <a:rPr lang="zh-TW" altLang="en-US" sz="2400" spc="-1" dirty="0" smtClean="0">
                <a:solidFill>
                  <a:schemeClr val="dk1"/>
                </a:solidFill>
                <a:latin typeface="Microsoft JhengHei"/>
                <a:ea typeface="Microsoft JhengHei"/>
              </a:rPr>
              <a:t>倉庫調撥轉倉作業流程</a:t>
            </a:r>
            <a:endParaRPr lang="en-US" sz="2400" b="0" strike="noStrike" spc="-1" dirty="0">
              <a:solidFill>
                <a:srgbClr val="000000"/>
              </a:solidFill>
              <a:latin typeface="Calibri"/>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2" name="流程圖: 結束點 1">
            <a:extLst>
              <a:ext uri="{FF2B5EF4-FFF2-40B4-BE49-F238E27FC236}">
                <a16:creationId xmlns="" xmlns:a16="http://schemas.microsoft.com/office/drawing/2014/main" id="{1FB9514E-6261-C7AC-D58E-6A5F2E6F81FD}"/>
              </a:ext>
            </a:extLst>
          </p:cNvPr>
          <p:cNvSpPr/>
          <p:nvPr/>
        </p:nvSpPr>
        <p:spPr bwMode="auto">
          <a:xfrm>
            <a:off x="465489" y="2791375"/>
            <a:ext cx="1797831" cy="78256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horz" wrap="none" lIns="152823" tIns="76412" rIns="152823" bIns="76412"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eaLnBrk="0" hangingPunct="0"/>
            <a:r>
              <a:rPr lang="zh-TW" altLang="en-US" sz="1500" dirty="0">
                <a:latin typeface="微軟正黑體" panose="020B0604030504040204" pitchFamily="34" charset="-120"/>
                <a:ea typeface="微軟正黑體" panose="020B0604030504040204" pitchFamily="34" charset="-120"/>
              </a:rPr>
              <a:t>開始</a:t>
            </a:r>
          </a:p>
        </p:txBody>
      </p:sp>
      <p:sp>
        <p:nvSpPr>
          <p:cNvPr id="7" name="TextBox 53">
            <a:extLst>
              <a:ext uri="{FF2B5EF4-FFF2-40B4-BE49-F238E27FC236}">
                <a16:creationId xmlns="" xmlns:a16="http://schemas.microsoft.com/office/drawing/2014/main" id="{30381EE2-3320-4812-6081-3A15B03E8B32}"/>
              </a:ext>
            </a:extLst>
          </p:cNvPr>
          <p:cNvSpPr txBox="1"/>
          <p:nvPr/>
        </p:nvSpPr>
        <p:spPr>
          <a:xfrm>
            <a:off x="14326327" y="2068101"/>
            <a:ext cx="3594197" cy="5401479"/>
          </a:xfrm>
          <a:prstGeom prst="rect">
            <a:avLst/>
          </a:prstGeom>
          <a:noFill/>
        </p:spPr>
        <p:txBody>
          <a:bodyPr wrap="square" lIns="137160" tIns="68580" rIns="137160" bIns="68580" rtlCol="0">
            <a:spAutoFit/>
          </a:bodyPr>
          <a:lstStyle/>
          <a:p>
            <a:pPr marL="342900" indent="-342900">
              <a:buFont typeface="+mj-lt"/>
              <a:buAutoNum type="arabicPeriod"/>
            </a:pPr>
            <a:r>
              <a:rPr lang="zh-TW" altLang="en-US" dirty="0"/>
              <a:t>倉管人員有調倉的需求，例如</a:t>
            </a:r>
            <a:r>
              <a:rPr lang="en-US" altLang="zh-TW" dirty="0"/>
              <a:t>:</a:t>
            </a:r>
            <a:r>
              <a:rPr lang="zh-TW" altLang="en-US" dirty="0"/>
              <a:t>需要轉到轉呆滯不良倉，或是移轉到線邊倉時，則可以透過此交易進行調倉作業。</a:t>
            </a:r>
            <a:endParaRPr lang="en-US" altLang="zh-TW" dirty="0"/>
          </a:p>
          <a:p>
            <a:pPr marL="342900" indent="-342900">
              <a:buFont typeface="+mj-lt"/>
              <a:buAutoNum type="arabicPeriod"/>
            </a:pPr>
            <a:r>
              <a:rPr lang="zh-TW" altLang="en-US" dirty="0"/>
              <a:t>倉管人員執行移倉動作，執行完畢，如果是移到呆滯不良倉，須通知採購人員，如果移到線邊倉則須通知現場製造人員。</a:t>
            </a:r>
            <a:endParaRPr lang="en-US" altLang="zh-TW" dirty="0"/>
          </a:p>
          <a:p>
            <a:pPr marL="342900" indent="-342900">
              <a:buFont typeface="+mj-lt"/>
              <a:buAutoNum type="arabicPeriod"/>
            </a:pPr>
            <a:r>
              <a:rPr lang="zh-TW" altLang="en-US" dirty="0" smtClean="0"/>
              <a:t>當有啟用</a:t>
            </a:r>
            <a:r>
              <a:rPr lang="en-US" altLang="zh-TW" dirty="0" smtClean="0"/>
              <a:t>WMS</a:t>
            </a:r>
            <a:r>
              <a:rPr lang="zh-TW" altLang="en-US" dirty="0" smtClean="0"/>
              <a:t>系統時，則需要建立調倉預留單，並拋給</a:t>
            </a:r>
            <a:r>
              <a:rPr lang="en-US" altLang="zh-TW" dirty="0" smtClean="0"/>
              <a:t>WMS</a:t>
            </a:r>
            <a:r>
              <a:rPr lang="zh-TW" altLang="en-US" dirty="0" smtClean="0"/>
              <a:t>去執行調倉下架作業。</a:t>
            </a:r>
            <a:endParaRPr lang="en-US" altLang="zh-TW" dirty="0" smtClean="0"/>
          </a:p>
          <a:p>
            <a:pPr marL="342900" indent="-342900">
              <a:buFont typeface="+mj-lt"/>
              <a:buAutoNum type="arabicPeriod"/>
            </a:pPr>
            <a:r>
              <a:rPr lang="zh-TW" altLang="en-US" dirty="0" smtClean="0"/>
              <a:t>有使用</a:t>
            </a:r>
            <a:r>
              <a:rPr lang="en-US" altLang="zh-TW" dirty="0" smtClean="0"/>
              <a:t>WMS</a:t>
            </a:r>
            <a:r>
              <a:rPr lang="zh-TW" altLang="en-US" dirty="0" smtClean="0"/>
              <a:t>以背景執行</a:t>
            </a:r>
            <a:r>
              <a:rPr lang="en-GB" altLang="en-US" dirty="0" smtClean="0"/>
              <a:t>ZMM087</a:t>
            </a:r>
            <a:r>
              <a:rPr lang="zh-TW" altLang="en-US" dirty="0" smtClean="0"/>
              <a:t>將</a:t>
            </a:r>
            <a:r>
              <a:rPr lang="zh-TW" altLang="en-US" dirty="0" smtClean="0">
                <a:sym typeface="Arial"/>
              </a:rPr>
              <a:t>預留單至</a:t>
            </a:r>
            <a:r>
              <a:rPr lang="en-US" altLang="zh-TW" dirty="0" smtClean="0">
                <a:sym typeface="Arial"/>
              </a:rPr>
              <a:t>WMS</a:t>
            </a:r>
            <a:r>
              <a:rPr lang="zh-TW" altLang="en-US" dirty="0" smtClean="0">
                <a:sym typeface="Arial"/>
              </a:rPr>
              <a:t>進行</a:t>
            </a:r>
            <a:r>
              <a:rPr lang="zh-TW" altLang="en-US" dirty="0" smtClean="0"/>
              <a:t>調倉下架</a:t>
            </a:r>
            <a:r>
              <a:rPr lang="en-US" altLang="zh-TW" dirty="0" smtClean="0"/>
              <a:t>(/</a:t>
            </a:r>
            <a:r>
              <a:rPr lang="zh-TW" altLang="en-US" dirty="0" smtClean="0"/>
              <a:t>上架</a:t>
            </a:r>
            <a:r>
              <a:rPr lang="en-US" altLang="zh-TW" dirty="0" smtClean="0"/>
              <a:t>)</a:t>
            </a:r>
            <a:r>
              <a:rPr lang="zh-TW" altLang="en-US" dirty="0" smtClean="0"/>
              <a:t>作業</a:t>
            </a:r>
            <a:endParaRPr lang="en-US" altLang="zh-TW" dirty="0" smtClean="0"/>
          </a:p>
          <a:p>
            <a:pPr marL="342900" indent="-342900">
              <a:buFont typeface="+mj-lt"/>
              <a:buAutoNum type="arabicPeriod"/>
            </a:pPr>
            <a:r>
              <a:rPr lang="zh-TW" altLang="en-US" dirty="0" smtClean="0"/>
              <a:t>有使用</a:t>
            </a:r>
            <a:r>
              <a:rPr lang="en-US" altLang="zh-TW" dirty="0" smtClean="0"/>
              <a:t>WMS</a:t>
            </a:r>
            <a:r>
              <a:rPr lang="zh-TW" altLang="en-US" dirty="0" smtClean="0"/>
              <a:t>以背景執行</a:t>
            </a:r>
            <a:r>
              <a:rPr lang="en-GB" altLang="en-US" dirty="0" smtClean="0"/>
              <a:t>ZMM088</a:t>
            </a:r>
            <a:r>
              <a:rPr lang="zh-TW" altLang="en-US" dirty="0" smtClean="0"/>
              <a:t>將</a:t>
            </a:r>
            <a:r>
              <a:rPr lang="zh-TW" altLang="en-US" dirty="0" smtClean="0">
                <a:sym typeface="Arial"/>
              </a:rPr>
              <a:t>預留單作業結果傳入</a:t>
            </a:r>
            <a:r>
              <a:rPr lang="en-US" altLang="zh-TW" dirty="0" smtClean="0">
                <a:sym typeface="Arial"/>
              </a:rPr>
              <a:t>SAP</a:t>
            </a:r>
            <a:r>
              <a:rPr lang="zh-TW" altLang="en-US" dirty="0" smtClean="0">
                <a:sym typeface="Arial"/>
              </a:rPr>
              <a:t>進行過帳</a:t>
            </a:r>
            <a:endParaRPr lang="en-US" altLang="zh-TW" dirty="0" smtClean="0"/>
          </a:p>
          <a:p>
            <a:pPr marL="342900" indent="-342900"/>
            <a:endParaRPr lang="en-US" altLang="zh-TW" dirty="0"/>
          </a:p>
          <a:p>
            <a:endParaRPr lang="en-US" altLang="zh-TW" dirty="0"/>
          </a:p>
        </p:txBody>
      </p:sp>
      <p:sp>
        <p:nvSpPr>
          <p:cNvPr id="48" name="文字方塊 17">
            <a:extLst>
              <a:ext uri="{FF2B5EF4-FFF2-40B4-BE49-F238E27FC236}">
                <a16:creationId xmlns="" xmlns:a16="http://schemas.microsoft.com/office/drawing/2014/main" id="{0F2761B4-5F29-64DD-1721-5831D073894C}"/>
              </a:ext>
            </a:extLst>
          </p:cNvPr>
          <p:cNvSpPr txBox="1"/>
          <p:nvPr/>
        </p:nvSpPr>
        <p:spPr>
          <a:xfrm>
            <a:off x="6377219" y="1321671"/>
            <a:ext cx="1853246" cy="400110"/>
          </a:xfrm>
          <a:prstGeom prst="rect">
            <a:avLst/>
          </a:prstGeom>
          <a:noFill/>
        </p:spPr>
        <p:txBody>
          <a:bodyPr wrap="square" lIns="137160" tIns="68580" rIns="137160" bIns="68580" rtlCol="0">
            <a:spAutoFit/>
          </a:bodyPr>
          <a:lstStyle/>
          <a:p>
            <a:pPr algn="ctr"/>
            <a:r>
              <a:rPr lang="zh-TW" altLang="en-US" sz="1700" dirty="0"/>
              <a:t>倉管人員</a:t>
            </a:r>
          </a:p>
        </p:txBody>
      </p:sp>
      <p:sp>
        <p:nvSpPr>
          <p:cNvPr id="60" name="文字方塊 59">
            <a:extLst>
              <a:ext uri="{FF2B5EF4-FFF2-40B4-BE49-F238E27FC236}">
                <a16:creationId xmlns="" xmlns:a16="http://schemas.microsoft.com/office/drawing/2014/main" id="{8ECF4CE1-DDC2-62E8-3C4E-7ECD29FF75F3}"/>
              </a:ext>
            </a:extLst>
          </p:cNvPr>
          <p:cNvSpPr txBox="1"/>
          <p:nvPr/>
        </p:nvSpPr>
        <p:spPr>
          <a:xfrm>
            <a:off x="2507711" y="807958"/>
            <a:ext cx="7218711" cy="415498"/>
          </a:xfrm>
          <a:prstGeom prst="rect">
            <a:avLst/>
          </a:prstGeom>
          <a:noFill/>
        </p:spPr>
        <p:txBody>
          <a:bodyPr wrap="square" lIns="137160" tIns="68580" rIns="137160" bIns="68580">
            <a:spAutoFit/>
          </a:bodyPr>
          <a:lstStyle/>
          <a:p>
            <a:pPr eaLnBrk="0" hangingPunct="0"/>
            <a:r>
              <a:rPr kumimoji="0" lang="en-US" altLang="zh-TW" b="1" dirty="0">
                <a:latin typeface="微軟正黑體" panose="020B0604030504040204" pitchFamily="34" charset="-120"/>
                <a:ea typeface="微軟正黑體" panose="020B0604030504040204" pitchFamily="34" charset="-120"/>
              </a:rPr>
              <a:t>MM-IM-0090</a:t>
            </a:r>
            <a:r>
              <a:rPr kumimoji="0" lang="zh-TW" altLang="en-US" b="1" dirty="0">
                <a:latin typeface="微軟正黑體" panose="020B0604030504040204" pitchFamily="34" charset="-120"/>
                <a:ea typeface="微軟正黑體" panose="020B0604030504040204" pitchFamily="34" charset="-120"/>
              </a:rPr>
              <a:t>倉庫調撥轉倉作業</a:t>
            </a:r>
            <a:r>
              <a:rPr kumimoji="0" lang="zh-TW" altLang="en-US" b="1" dirty="0" smtClean="0">
                <a:latin typeface="微軟正黑體" panose="020B0604030504040204" pitchFamily="34" charset="-120"/>
                <a:ea typeface="微軟正黑體" panose="020B0604030504040204" pitchFamily="34" charset="-120"/>
              </a:rPr>
              <a:t>流程</a:t>
            </a:r>
            <a:endParaRPr kumimoji="0" lang="zh-TW" altLang="en-US" b="1" dirty="0">
              <a:latin typeface="微軟正黑體" panose="020B0604030504040204" pitchFamily="34" charset="-120"/>
              <a:ea typeface="微軟正黑體" panose="020B0604030504040204" pitchFamily="34" charset="-120"/>
            </a:endParaRPr>
          </a:p>
        </p:txBody>
      </p:sp>
      <p:sp>
        <p:nvSpPr>
          <p:cNvPr id="205" name="流程圖: 結束點 204">
            <a:extLst>
              <a:ext uri="{FF2B5EF4-FFF2-40B4-BE49-F238E27FC236}">
                <a16:creationId xmlns="" xmlns:a16="http://schemas.microsoft.com/office/drawing/2014/main" id="{AF6DEB4F-42E0-79A4-1C86-971AEA2097AF}"/>
              </a:ext>
            </a:extLst>
          </p:cNvPr>
          <p:cNvSpPr/>
          <p:nvPr/>
        </p:nvSpPr>
        <p:spPr bwMode="auto">
          <a:xfrm>
            <a:off x="12256338" y="2784254"/>
            <a:ext cx="1797831" cy="78256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horz" wrap="none" lIns="152823" tIns="76412" rIns="152823" bIns="76412"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graphicFrame>
        <p:nvGraphicFramePr>
          <p:cNvPr id="255" name="表格 30">
            <a:extLst>
              <a:ext uri="{FF2B5EF4-FFF2-40B4-BE49-F238E27FC236}">
                <a16:creationId xmlns="" xmlns:a16="http://schemas.microsoft.com/office/drawing/2014/main" id="{F09FCB7C-D385-8396-3A72-46FBD73AC0AB}"/>
              </a:ext>
            </a:extLst>
          </p:cNvPr>
          <p:cNvGraphicFramePr>
            <a:graphicFrameLocks noGrp="1"/>
          </p:cNvGraphicFramePr>
          <p:nvPr>
            <p:extLst>
              <p:ext uri="{D42A27DB-BD31-4B8C-83A1-F6EECF244321}">
                <p14:modId xmlns="" xmlns:p14="http://schemas.microsoft.com/office/powerpoint/2010/main" val="1019556538"/>
              </p:ext>
            </p:extLst>
          </p:nvPr>
        </p:nvGraphicFramePr>
        <p:xfrm>
          <a:off x="8880215" y="2567921"/>
          <a:ext cx="1797832" cy="1238591"/>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52">
                <a:tc gridSpan="2">
                  <a:txBody>
                    <a:bodyPr/>
                    <a:lstStyle/>
                    <a:p>
                      <a:pPr algn="ctr"/>
                      <a:r>
                        <a:rPr lang="en-GB" sz="1500" b="1" dirty="0">
                          <a:solidFill>
                            <a:schemeClr val="tx1"/>
                          </a:solidFill>
                          <a:latin typeface="微軟正黑體" panose="020B0604030504040204" pitchFamily="34" charset="-120"/>
                          <a:ea typeface="微軟正黑體" panose="020B0604030504040204" pitchFamily="34" charset="-120"/>
                        </a:rPr>
                        <a:t>MIGO</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65287">
                <a:tc gridSpan="2">
                  <a:txBody>
                    <a:bodyPr/>
                    <a:lstStyle/>
                    <a:p>
                      <a:pPr marL="0" marR="0" lvl="0" indent="0" algn="ctr" defTabSz="914400" rtl="0" eaLnBrk="0" fontAlgn="auto" latinLnBrk="0" hangingPunct="0">
                        <a:lnSpc>
                          <a:spcPct val="100000"/>
                        </a:lnSpc>
                        <a:spcBef>
                          <a:spcPts val="0"/>
                        </a:spcBef>
                        <a:spcAft>
                          <a:spcPts val="0"/>
                        </a:spcAft>
                        <a:buClr>
                          <a:srgbClr val="000000"/>
                        </a:buClr>
                        <a:buSzTx/>
                        <a:buFont typeface="Arial"/>
                        <a:buNone/>
                        <a:tabLst/>
                        <a:defRPr/>
                      </a:pPr>
                      <a:r>
                        <a:rPr lang="zh-TW" altLang="en-US" sz="1500" dirty="0">
                          <a:latin typeface="微軟正黑體" panose="020B0604030504040204" pitchFamily="34" charset="-120"/>
                          <a:ea typeface="微軟正黑體" panose="020B0604030504040204" pitchFamily="34" charset="-120"/>
                        </a:rPr>
                        <a:t>轉倉</a:t>
                      </a:r>
                      <a:endParaRPr lang="en-US" altLang="zh-TW" sz="1500" dirty="0">
                        <a:latin typeface="微軟正黑體" panose="020B0604030504040204" pitchFamily="34" charset="-120"/>
                        <a:ea typeface="微軟正黑體" panose="020B0604030504040204" pitchFamily="34" charset="-120"/>
                      </a:endParaRPr>
                    </a:p>
                    <a:p>
                      <a:pPr algn="ctr" eaLnBrk="0" hangingPunct="0"/>
                      <a:r>
                        <a:rPr kumimoji="0" lang="en-US" altLang="zh-TW"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(Mvt.311)</a:t>
                      </a:r>
                      <a:endParaRPr kumimoji="0" lang="zh-TW" altLang="en-US"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52">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256" name="肘形接點 68">
            <a:extLst>
              <a:ext uri="{FF2B5EF4-FFF2-40B4-BE49-F238E27FC236}">
                <a16:creationId xmlns="" xmlns:a16="http://schemas.microsoft.com/office/drawing/2014/main" id="{08873431-DD58-FF6E-BA86-6DE56A0E076B}"/>
              </a:ext>
            </a:extLst>
          </p:cNvPr>
          <p:cNvCxnSpPr>
            <a:cxnSpLocks/>
            <a:stCxn id="19" idx="3"/>
            <a:endCxn id="4" idx="1"/>
          </p:cNvCxnSpPr>
          <p:nvPr/>
        </p:nvCxnSpPr>
        <p:spPr>
          <a:xfrm>
            <a:off x="5441141" y="3175537"/>
            <a:ext cx="736565" cy="11637"/>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43" name="肘形接點 68">
            <a:extLst>
              <a:ext uri="{FF2B5EF4-FFF2-40B4-BE49-F238E27FC236}">
                <a16:creationId xmlns="" xmlns:a16="http://schemas.microsoft.com/office/drawing/2014/main" id="{3ED44D61-8379-D9AF-8A76-04CA85A471FF}"/>
              </a:ext>
            </a:extLst>
          </p:cNvPr>
          <p:cNvCxnSpPr>
            <a:cxnSpLocks/>
            <a:stCxn id="4" idx="3"/>
            <a:endCxn id="255" idx="1"/>
          </p:cNvCxnSpPr>
          <p:nvPr/>
        </p:nvCxnSpPr>
        <p:spPr>
          <a:xfrm>
            <a:off x="8019655" y="3187173"/>
            <a:ext cx="860561" cy="44"/>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nvGrpSpPr>
          <p:cNvPr id="5" name="Group 220">
            <a:extLst>
              <a:ext uri="{FF2B5EF4-FFF2-40B4-BE49-F238E27FC236}">
                <a16:creationId xmlns="" xmlns:a16="http://schemas.microsoft.com/office/drawing/2014/main" id="{EE2EFB62-64E8-A5E0-F94F-0FA2D59292D5}"/>
              </a:ext>
            </a:extLst>
          </p:cNvPr>
          <p:cNvGrpSpPr/>
          <p:nvPr/>
        </p:nvGrpSpPr>
        <p:grpSpPr>
          <a:xfrm>
            <a:off x="10474974" y="2363660"/>
            <a:ext cx="533400" cy="408605"/>
            <a:chOff x="5906184" y="1486857"/>
            <a:chExt cx="355600" cy="272361"/>
          </a:xfrm>
        </p:grpSpPr>
        <p:sp>
          <p:nvSpPr>
            <p:cNvPr id="226" name="Oval 221">
              <a:extLst>
                <a:ext uri="{FF2B5EF4-FFF2-40B4-BE49-F238E27FC236}">
                  <a16:creationId xmlns="" xmlns:a16="http://schemas.microsoft.com/office/drawing/2014/main" id="{8314359D-F7EC-220F-4E02-CFE83EF3BA12}"/>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27" name="TextBox 222">
              <a:extLst>
                <a:ext uri="{FF2B5EF4-FFF2-40B4-BE49-F238E27FC236}">
                  <a16:creationId xmlns="" xmlns:a16="http://schemas.microsoft.com/office/drawing/2014/main" id="{E2E4EE6E-B2D9-3A04-9C48-E30B3CE8C8E4}"/>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graphicFrame>
        <p:nvGraphicFramePr>
          <p:cNvPr id="19" name="表格 30">
            <a:extLst>
              <a:ext uri="{FF2B5EF4-FFF2-40B4-BE49-F238E27FC236}">
                <a16:creationId xmlns="" xmlns:a16="http://schemas.microsoft.com/office/drawing/2014/main" id="{CDB3BE9B-A406-F659-6186-EACE5EE97EA0}"/>
              </a:ext>
            </a:extLst>
          </p:cNvPr>
          <p:cNvGraphicFramePr>
            <a:graphicFrameLocks noGrp="1"/>
          </p:cNvGraphicFramePr>
          <p:nvPr>
            <p:extLst>
              <p:ext uri="{D42A27DB-BD31-4B8C-83A1-F6EECF244321}">
                <p14:modId xmlns="" xmlns:p14="http://schemas.microsoft.com/office/powerpoint/2010/main" val="1267729694"/>
              </p:ext>
            </p:extLst>
          </p:nvPr>
        </p:nvGraphicFramePr>
        <p:xfrm>
          <a:off x="3643310" y="2670558"/>
          <a:ext cx="1797832" cy="1009956"/>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52">
                <a:tc gridSpan="2">
                  <a:txBody>
                    <a:bodyPr/>
                    <a:lstStyle/>
                    <a:p>
                      <a:pPr algn="ctr"/>
                      <a:endParaRPr lang="en-GB" sz="1500" b="1" dirty="0">
                        <a:solidFill>
                          <a:schemeClr val="tx1"/>
                        </a:solidFill>
                        <a:latin typeface="微軟正黑體" panose="020B0604030504040204" pitchFamily="34" charset="-120"/>
                        <a:ea typeface="微軟正黑體" panose="020B0604030504040204" pitchFamily="34" charset="-120"/>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336652">
                <a:tc gridSpan="2">
                  <a:txBody>
                    <a:bodyPr/>
                    <a:lstStyle/>
                    <a:p>
                      <a:pPr marL="0" marR="0" lvl="0" indent="0" algn="ctr" defTabSz="914400" rtl="0" eaLnBrk="0" fontAlgn="auto" latinLnBrk="0" hangingPunct="0">
                        <a:lnSpc>
                          <a:spcPct val="100000"/>
                        </a:lnSpc>
                        <a:spcBef>
                          <a:spcPts val="0"/>
                        </a:spcBef>
                        <a:spcAft>
                          <a:spcPts val="0"/>
                        </a:spcAft>
                        <a:buClr>
                          <a:srgbClr val="000000"/>
                        </a:buClr>
                        <a:buSzTx/>
                        <a:buFont typeface="Arial"/>
                        <a:buNone/>
                        <a:tabLst/>
                        <a:defRPr/>
                      </a:pPr>
                      <a:r>
                        <a:rPr lang="zh-TW" altLang="en-US" sz="1500" dirty="0">
                          <a:latin typeface="微軟正黑體" panose="020B0604030504040204" pitchFamily="34" charset="-120"/>
                          <a:ea typeface="微軟正黑體" panose="020B0604030504040204" pitchFamily="34" charset="-120"/>
                        </a:rPr>
                        <a:t>調倉需求</a:t>
                      </a:r>
                      <a:endParaRPr lang="en-US" altLang="zh-TW" sz="1500" dirty="0">
                        <a:latin typeface="微軟正黑體" panose="020B0604030504040204" pitchFamily="34" charset="-120"/>
                        <a:ea typeface="微軟正黑體" panose="020B0604030504040204" pitchFamily="34" charset="-120"/>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52">
                <a:tc>
                  <a:txBody>
                    <a:bodyPr/>
                    <a:lstStyle/>
                    <a:p>
                      <a:pPr algn="ct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20" name="肘形接點 68">
            <a:extLst>
              <a:ext uri="{FF2B5EF4-FFF2-40B4-BE49-F238E27FC236}">
                <a16:creationId xmlns="" xmlns:a16="http://schemas.microsoft.com/office/drawing/2014/main" id="{11EA5587-09CD-3459-EEB1-B1D3BB5B7758}"/>
              </a:ext>
            </a:extLst>
          </p:cNvPr>
          <p:cNvCxnSpPr>
            <a:cxnSpLocks/>
            <a:stCxn id="2" idx="3"/>
            <a:endCxn id="19" idx="1"/>
          </p:cNvCxnSpPr>
          <p:nvPr/>
        </p:nvCxnSpPr>
        <p:spPr>
          <a:xfrm flipV="1">
            <a:off x="2263321" y="3175536"/>
            <a:ext cx="1379990" cy="7122"/>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nvGrpSpPr>
          <p:cNvPr id="6" name="Group 220">
            <a:extLst>
              <a:ext uri="{FF2B5EF4-FFF2-40B4-BE49-F238E27FC236}">
                <a16:creationId xmlns="" xmlns:a16="http://schemas.microsoft.com/office/drawing/2014/main" id="{CE9F06D9-3241-CC0E-4C10-9633D1425158}"/>
              </a:ext>
            </a:extLst>
          </p:cNvPr>
          <p:cNvGrpSpPr/>
          <p:nvPr/>
        </p:nvGrpSpPr>
        <p:grpSpPr>
          <a:xfrm>
            <a:off x="5164822" y="2449412"/>
            <a:ext cx="533400" cy="408605"/>
            <a:chOff x="5906184" y="1486857"/>
            <a:chExt cx="355600" cy="272361"/>
          </a:xfrm>
        </p:grpSpPr>
        <p:sp>
          <p:nvSpPr>
            <p:cNvPr id="25" name="Oval 221">
              <a:extLst>
                <a:ext uri="{FF2B5EF4-FFF2-40B4-BE49-F238E27FC236}">
                  <a16:creationId xmlns="" xmlns:a16="http://schemas.microsoft.com/office/drawing/2014/main" id="{17141050-BDF1-D91A-4A6F-FCB9B465C640}"/>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6" name="TextBox 222">
              <a:extLst>
                <a:ext uri="{FF2B5EF4-FFF2-40B4-BE49-F238E27FC236}">
                  <a16:creationId xmlns="" xmlns:a16="http://schemas.microsoft.com/office/drawing/2014/main" id="{C32DDFDD-F9D9-352C-CC87-72449D5D64DD}"/>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cxnSp>
        <p:nvCxnSpPr>
          <p:cNvPr id="30" name="肘形接點 68">
            <a:extLst>
              <a:ext uri="{FF2B5EF4-FFF2-40B4-BE49-F238E27FC236}">
                <a16:creationId xmlns="" xmlns:a16="http://schemas.microsoft.com/office/drawing/2014/main" id="{E03F49E4-1C1A-5796-B8D1-B85CB24CC08D}"/>
              </a:ext>
            </a:extLst>
          </p:cNvPr>
          <p:cNvCxnSpPr>
            <a:cxnSpLocks/>
            <a:stCxn id="4" idx="2"/>
          </p:cNvCxnSpPr>
          <p:nvPr/>
        </p:nvCxnSpPr>
        <p:spPr>
          <a:xfrm rot="5400000">
            <a:off x="6722931" y="4125603"/>
            <a:ext cx="725116" cy="26382"/>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36" name="TextBox 46">
            <a:extLst>
              <a:ext uri="{FF2B5EF4-FFF2-40B4-BE49-F238E27FC236}">
                <a16:creationId xmlns="" xmlns:a16="http://schemas.microsoft.com/office/drawing/2014/main" id="{F1077557-BFE4-D498-1BD1-524660435254}"/>
              </a:ext>
            </a:extLst>
          </p:cNvPr>
          <p:cNvSpPr txBox="1"/>
          <p:nvPr/>
        </p:nvSpPr>
        <p:spPr>
          <a:xfrm>
            <a:off x="7155894" y="3891960"/>
            <a:ext cx="404262" cy="369389"/>
          </a:xfrm>
          <a:prstGeom prst="rect">
            <a:avLst/>
          </a:prstGeom>
          <a:noFill/>
        </p:spPr>
        <p:txBody>
          <a:bodyPr wrap="square" lIns="137160" tIns="68580" rIns="137160" bIns="68580" rtlCol="0">
            <a:spAutoFit/>
          </a:bodyPr>
          <a:lstStyle/>
          <a:p>
            <a:r>
              <a:rPr lang="zh-TW" altLang="en-US" sz="1500" dirty="0"/>
              <a:t>是</a:t>
            </a:r>
          </a:p>
        </p:txBody>
      </p:sp>
      <p:cxnSp>
        <p:nvCxnSpPr>
          <p:cNvPr id="37" name="肘形接點 68">
            <a:extLst>
              <a:ext uri="{FF2B5EF4-FFF2-40B4-BE49-F238E27FC236}">
                <a16:creationId xmlns="" xmlns:a16="http://schemas.microsoft.com/office/drawing/2014/main" id="{F47FAA44-2FFA-02CD-24BC-7BCE0F797E4B}"/>
              </a:ext>
            </a:extLst>
          </p:cNvPr>
          <p:cNvCxnSpPr>
            <a:cxnSpLocks/>
          </p:cNvCxnSpPr>
          <p:nvPr/>
        </p:nvCxnSpPr>
        <p:spPr>
          <a:xfrm flipV="1">
            <a:off x="8072432" y="5072856"/>
            <a:ext cx="1571634" cy="2"/>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40" name="肘形接點 68">
            <a:extLst>
              <a:ext uri="{FF2B5EF4-FFF2-40B4-BE49-F238E27FC236}">
                <a16:creationId xmlns="" xmlns:a16="http://schemas.microsoft.com/office/drawing/2014/main" id="{B3170657-0D90-608B-32B5-4FFBE9CA4AFA}"/>
              </a:ext>
            </a:extLst>
          </p:cNvPr>
          <p:cNvCxnSpPr>
            <a:cxnSpLocks/>
            <a:stCxn id="255" idx="3"/>
            <a:endCxn id="205" idx="1"/>
          </p:cNvCxnSpPr>
          <p:nvPr/>
        </p:nvCxnSpPr>
        <p:spPr>
          <a:xfrm flipV="1">
            <a:off x="10678046" y="3175536"/>
            <a:ext cx="1578293" cy="11681"/>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43" name="TextBox 46">
            <a:extLst>
              <a:ext uri="{FF2B5EF4-FFF2-40B4-BE49-F238E27FC236}">
                <a16:creationId xmlns="" xmlns:a16="http://schemas.microsoft.com/office/drawing/2014/main" id="{944FE345-EBFA-6F87-A1B8-1CAD37331D2B}"/>
              </a:ext>
            </a:extLst>
          </p:cNvPr>
          <p:cNvSpPr txBox="1"/>
          <p:nvPr/>
        </p:nvSpPr>
        <p:spPr>
          <a:xfrm>
            <a:off x="8045672" y="2575227"/>
            <a:ext cx="404262" cy="369389"/>
          </a:xfrm>
          <a:prstGeom prst="rect">
            <a:avLst/>
          </a:prstGeom>
          <a:noFill/>
        </p:spPr>
        <p:txBody>
          <a:bodyPr wrap="square" lIns="137160" tIns="68580" rIns="137160" bIns="68580" rtlCol="0">
            <a:spAutoFit/>
          </a:bodyPr>
          <a:lstStyle/>
          <a:p>
            <a:r>
              <a:rPr lang="zh-TW" altLang="en-US" sz="1500" dirty="0"/>
              <a:t>否</a:t>
            </a:r>
          </a:p>
        </p:txBody>
      </p:sp>
      <p:sp>
        <p:nvSpPr>
          <p:cNvPr id="3" name="流程圖: 預設處理作業 21">
            <a:extLst>
              <a:ext uri="{FF2B5EF4-FFF2-40B4-BE49-F238E27FC236}">
                <a16:creationId xmlns="" xmlns:a16="http://schemas.microsoft.com/office/drawing/2014/main" id="{3DEDA78A-875A-00AA-B24D-87E820FD5E5C}"/>
              </a:ext>
            </a:extLst>
          </p:cNvPr>
          <p:cNvSpPr/>
          <p:nvPr/>
        </p:nvSpPr>
        <p:spPr bwMode="auto">
          <a:xfrm>
            <a:off x="12246755" y="4483169"/>
            <a:ext cx="1813112" cy="1238591"/>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WMS</a:t>
            </a:r>
            <a:r>
              <a:rPr lang="zh-TW" altLang="en-US" sz="1500" dirty="0">
                <a:latin typeface="微軟正黑體" panose="020B0604030504040204" pitchFamily="34" charset="-120"/>
                <a:ea typeface="微軟正黑體" panose="020B0604030504040204" pitchFamily="34" charset="-120"/>
              </a:rPr>
              <a:t>系統</a:t>
            </a:r>
            <a:endParaRPr lang="en-US" altLang="zh-TW" sz="1500" dirty="0">
              <a:latin typeface="微軟正黑體" panose="020B0604030504040204" pitchFamily="34" charset="-120"/>
              <a:ea typeface="微軟正黑體" panose="020B0604030504040204" pitchFamily="34" charset="-120"/>
            </a:endParaRPr>
          </a:p>
        </p:txBody>
      </p:sp>
      <p:sp>
        <p:nvSpPr>
          <p:cNvPr id="4" name="流程圖: 決策 50">
            <a:extLst>
              <a:ext uri="{FF2B5EF4-FFF2-40B4-BE49-F238E27FC236}">
                <a16:creationId xmlns="" xmlns:a16="http://schemas.microsoft.com/office/drawing/2014/main" id="{0F87AE88-6BFA-FF30-90F4-355B7F449363}"/>
              </a:ext>
            </a:extLst>
          </p:cNvPr>
          <p:cNvSpPr/>
          <p:nvPr/>
        </p:nvSpPr>
        <p:spPr bwMode="auto">
          <a:xfrm>
            <a:off x="6177705" y="2598110"/>
            <a:ext cx="1841949" cy="1178126"/>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sz="1500" dirty="0">
                <a:latin typeface="微軟正黑體" panose="020B0604030504040204" pitchFamily="34" charset="-120"/>
                <a:ea typeface="微軟正黑體" panose="020B0604030504040204" pitchFamily="34" charset="-120"/>
              </a:rPr>
              <a:t>WMS?</a:t>
            </a:r>
            <a:endParaRPr lang="zh-TW" altLang="en-US" sz="1500" dirty="0">
              <a:latin typeface="微軟正黑體" panose="020B0604030504040204" pitchFamily="34" charset="-120"/>
              <a:ea typeface="微軟正黑體" panose="020B0604030504040204" pitchFamily="34" charset="-120"/>
            </a:endParaRPr>
          </a:p>
        </p:txBody>
      </p:sp>
      <p:graphicFrame>
        <p:nvGraphicFramePr>
          <p:cNvPr id="42" name="表格 30">
            <a:extLst>
              <a:ext uri="{FF2B5EF4-FFF2-40B4-BE49-F238E27FC236}">
                <a16:creationId xmlns="" xmlns:a16="http://schemas.microsoft.com/office/drawing/2014/main" id="{0D0084EC-645F-5D40-8362-2732F4C98F6F}"/>
              </a:ext>
            </a:extLst>
          </p:cNvPr>
          <p:cNvGraphicFramePr>
            <a:graphicFrameLocks noGrp="1"/>
          </p:cNvGraphicFramePr>
          <p:nvPr>
            <p:extLst>
              <p:ext uri="{D42A27DB-BD31-4B8C-83A1-F6EECF244321}">
                <p14:modId xmlns="" xmlns:p14="http://schemas.microsoft.com/office/powerpoint/2010/main" val="1086775186"/>
              </p:ext>
            </p:extLst>
          </p:nvPr>
        </p:nvGraphicFramePr>
        <p:xfrm>
          <a:off x="6155645" y="4483170"/>
          <a:ext cx="1890028" cy="1238591"/>
        </p:xfrm>
        <a:graphic>
          <a:graphicData uri="http://schemas.openxmlformats.org/drawingml/2006/table">
            <a:tbl>
              <a:tblPr>
                <a:tableStyleId>{5940675A-B579-460E-94D1-54222C63F5DA}</a:tableStyleId>
              </a:tblPr>
              <a:tblGrid>
                <a:gridCol w="945014">
                  <a:extLst>
                    <a:ext uri="{9D8B030D-6E8A-4147-A177-3AD203B41FA5}">
                      <a16:colId xmlns="" xmlns:a16="http://schemas.microsoft.com/office/drawing/2014/main" val="3433979995"/>
                    </a:ext>
                  </a:extLst>
                </a:gridCol>
                <a:gridCol w="945014">
                  <a:extLst>
                    <a:ext uri="{9D8B030D-6E8A-4147-A177-3AD203B41FA5}">
                      <a16:colId xmlns="" xmlns:a16="http://schemas.microsoft.com/office/drawing/2014/main" val="3727974752"/>
                    </a:ext>
                  </a:extLst>
                </a:gridCol>
              </a:tblGrid>
              <a:tr h="336652">
                <a:tc gridSpan="2">
                  <a:txBody>
                    <a:bodyPr/>
                    <a:lstStyle/>
                    <a:p>
                      <a:pPr algn="ctr"/>
                      <a:r>
                        <a:rPr lang="en-GB" sz="1500" b="1" dirty="0">
                          <a:solidFill>
                            <a:schemeClr val="tx1"/>
                          </a:solidFill>
                          <a:latin typeface="微軟正黑體" panose="020B0604030504040204" pitchFamily="34" charset="-120"/>
                          <a:ea typeface="微軟正黑體" panose="020B0604030504040204" pitchFamily="34" charset="-120"/>
                        </a:rPr>
                        <a:t>MB21</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65287">
                <a:tc gridSpan="2">
                  <a:txBody>
                    <a:bodyPr/>
                    <a:lstStyle/>
                    <a:p>
                      <a:pPr marL="0" marR="0" lvl="0" indent="0" algn="ctr" defTabSz="914400" rtl="0" eaLnBrk="0" fontAlgn="auto" latinLnBrk="0" hangingPunct="0">
                        <a:lnSpc>
                          <a:spcPct val="100000"/>
                        </a:lnSpc>
                        <a:spcBef>
                          <a:spcPts val="0"/>
                        </a:spcBef>
                        <a:spcAft>
                          <a:spcPts val="0"/>
                        </a:spcAft>
                        <a:buClr>
                          <a:srgbClr val="000000"/>
                        </a:buClr>
                        <a:buSzTx/>
                        <a:buFont typeface="Arial"/>
                        <a:buNone/>
                        <a:tabLst/>
                        <a:defRPr/>
                      </a:pPr>
                      <a:r>
                        <a:rPr lang="zh-TW" altLang="en-US" sz="1500" dirty="0">
                          <a:latin typeface="微軟正黑體" panose="020B0604030504040204" pitchFamily="34" charset="-120"/>
                          <a:ea typeface="微軟正黑體" panose="020B0604030504040204" pitchFamily="34" charset="-120"/>
                        </a:rPr>
                        <a:t>轉倉</a:t>
                      </a:r>
                      <a:endParaRPr lang="en-US" altLang="zh-TW" sz="1500" dirty="0">
                        <a:latin typeface="微軟正黑體" panose="020B0604030504040204" pitchFamily="34" charset="-120"/>
                        <a:ea typeface="微軟正黑體" panose="020B0604030504040204" pitchFamily="34" charset="-120"/>
                      </a:endParaRPr>
                    </a:p>
                    <a:p>
                      <a:pPr algn="ctr" eaLnBrk="0" hangingPunct="0"/>
                      <a:r>
                        <a:rPr kumimoji="0" lang="en-US" altLang="zh-TW"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(Mvt.311)</a:t>
                      </a:r>
                      <a:endParaRPr kumimoji="0" lang="zh-TW" altLang="en-US"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52">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pSp>
        <p:nvGrpSpPr>
          <p:cNvPr id="8" name="Group 220">
            <a:extLst>
              <a:ext uri="{FF2B5EF4-FFF2-40B4-BE49-F238E27FC236}">
                <a16:creationId xmlns="" xmlns:a16="http://schemas.microsoft.com/office/drawing/2014/main" id="{68E4ED91-8928-5C88-9246-9C08272D99A3}"/>
              </a:ext>
            </a:extLst>
          </p:cNvPr>
          <p:cNvGrpSpPr/>
          <p:nvPr/>
        </p:nvGrpSpPr>
        <p:grpSpPr>
          <a:xfrm>
            <a:off x="7806590" y="4358476"/>
            <a:ext cx="533400" cy="408605"/>
            <a:chOff x="5906184" y="1486857"/>
            <a:chExt cx="355600" cy="272361"/>
          </a:xfrm>
        </p:grpSpPr>
        <p:sp>
          <p:nvSpPr>
            <p:cNvPr id="53" name="Oval 221">
              <a:extLst>
                <a:ext uri="{FF2B5EF4-FFF2-40B4-BE49-F238E27FC236}">
                  <a16:creationId xmlns="" xmlns:a16="http://schemas.microsoft.com/office/drawing/2014/main" id="{1215D9C1-4B60-75EF-7916-B21BF1A03905}"/>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4" name="TextBox 222">
              <a:extLst>
                <a:ext uri="{FF2B5EF4-FFF2-40B4-BE49-F238E27FC236}">
                  <a16:creationId xmlns="" xmlns:a16="http://schemas.microsoft.com/office/drawing/2014/main" id="{1C8E4F58-E3A2-E403-D02C-16B0A69E4FBB}"/>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sp>
        <p:nvSpPr>
          <p:cNvPr id="63" name="流程圖: 文件 42">
            <a:extLst>
              <a:ext uri="{FF2B5EF4-FFF2-40B4-BE49-F238E27FC236}">
                <a16:creationId xmlns="" xmlns:a16="http://schemas.microsoft.com/office/drawing/2014/main" id="{9B962A07-D761-D75C-2DB6-D76A7420E778}"/>
              </a:ext>
            </a:extLst>
          </p:cNvPr>
          <p:cNvSpPr/>
          <p:nvPr/>
        </p:nvSpPr>
        <p:spPr bwMode="auto">
          <a:xfrm>
            <a:off x="7072298" y="5725153"/>
            <a:ext cx="1841949" cy="954681"/>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調撥轉倉申請單</a:t>
            </a:r>
          </a:p>
        </p:txBody>
      </p:sp>
      <p:sp>
        <p:nvSpPr>
          <p:cNvPr id="57" name="TextBox 2"/>
          <p:cNvSpPr/>
          <p:nvPr/>
        </p:nvSpPr>
        <p:spPr>
          <a:xfrm>
            <a:off x="15598440" y="419400"/>
            <a:ext cx="550440" cy="3371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600" b="0" strike="noStrike" spc="-1" dirty="0" smtClean="0">
                <a:solidFill>
                  <a:schemeClr val="dk1"/>
                </a:solidFill>
                <a:latin typeface="微軟正黑體"/>
                <a:ea typeface="微軟正黑體"/>
              </a:rPr>
              <a:t>1</a:t>
            </a:r>
            <a:endParaRPr lang="en-US" sz="1600" b="0" strike="noStrike" spc="-1" dirty="0">
              <a:solidFill>
                <a:srgbClr val="000000"/>
              </a:solidFill>
              <a:latin typeface="Calibri"/>
            </a:endParaRPr>
          </a:p>
        </p:txBody>
      </p:sp>
      <p:graphicFrame>
        <p:nvGraphicFramePr>
          <p:cNvPr id="61" name="表格 30">
            <a:extLst>
              <a:ext uri="{FF2B5EF4-FFF2-40B4-BE49-F238E27FC236}">
                <a16:creationId xmlns:a16="http://schemas.microsoft.com/office/drawing/2014/main" xmlns="" id="{5ED664D6-D205-ED36-2694-5FCBDB7DAAA6}"/>
              </a:ext>
            </a:extLst>
          </p:cNvPr>
          <p:cNvGraphicFramePr>
            <a:graphicFrameLocks noGrp="1"/>
          </p:cNvGraphicFramePr>
          <p:nvPr>
            <p:extLst>
              <p:ext uri="{D42A27DB-BD31-4B8C-83A1-F6EECF244321}">
                <p14:modId xmlns:p14="http://schemas.microsoft.com/office/powerpoint/2010/main" xmlns="" val="2166510685"/>
              </p:ext>
            </p:extLst>
          </p:nvPr>
        </p:nvGraphicFramePr>
        <p:xfrm>
          <a:off x="9613776" y="4572321"/>
          <a:ext cx="1860324" cy="1009956"/>
        </p:xfrm>
        <a:graphic>
          <a:graphicData uri="http://schemas.openxmlformats.org/drawingml/2006/table">
            <a:tbl>
              <a:tblPr>
                <a:tableStyleId>{5940675A-B579-460E-94D1-54222C63F5DA}</a:tableStyleId>
              </a:tblPr>
              <a:tblGrid>
                <a:gridCol w="930162">
                  <a:extLst>
                    <a:ext uri="{9D8B030D-6E8A-4147-A177-3AD203B41FA5}">
                      <a16:colId xmlns:a16="http://schemas.microsoft.com/office/drawing/2014/main" xmlns="" val="3433979995"/>
                    </a:ext>
                  </a:extLst>
                </a:gridCol>
                <a:gridCol w="930162">
                  <a:extLst>
                    <a:ext uri="{9D8B030D-6E8A-4147-A177-3AD203B41FA5}">
                      <a16:colId xmlns:a16="http://schemas.microsoft.com/office/drawing/2014/main" xmlns="" val="3727974752"/>
                    </a:ext>
                  </a:extLst>
                </a:gridCol>
              </a:tblGrid>
              <a:tr h="336652">
                <a:tc gridSpan="2">
                  <a:txBody>
                    <a:bodyPr/>
                    <a:lstStyle/>
                    <a:p>
                      <a:pPr algn="ctr"/>
                      <a:r>
                        <a:rPr lang="en-GB" sz="1500" b="1" dirty="0">
                          <a:solidFill>
                            <a:schemeClr val="tx1"/>
                          </a:solidFill>
                          <a:latin typeface="微軟正黑體" panose="020B0604030504040204" pitchFamily="34" charset="-120"/>
                          <a:ea typeface="微軟正黑體" panose="020B0604030504040204" pitchFamily="34" charset="-120"/>
                        </a:rPr>
                        <a:t>ZMM087</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336652">
                <a:tc gridSpan="2">
                  <a:txBody>
                    <a:bodyPr/>
                    <a:lstStyle/>
                    <a:p>
                      <a:pPr marL="0" marR="0" lvl="0" indent="0" algn="ctr" defTabSz="914400" rtl="0" eaLnBrk="0" fontAlgn="auto" latinLnBrk="0" hangingPunct="0">
                        <a:lnSpc>
                          <a:spcPct val="100000"/>
                        </a:lnSpc>
                        <a:spcBef>
                          <a:spcPts val="0"/>
                        </a:spcBef>
                        <a:spcAft>
                          <a:spcPts val="0"/>
                        </a:spcAft>
                        <a:buClr>
                          <a:srgbClr val="000000"/>
                        </a:buClr>
                        <a:buSzTx/>
                        <a:buFont typeface="Arial"/>
                        <a:buNone/>
                        <a:tabLst/>
                        <a:defRPr/>
                      </a:pPr>
                      <a:r>
                        <a:rPr kumimoji="0" lang="zh-TW" altLang="en-US"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拋預留單至</a:t>
                      </a:r>
                      <a:r>
                        <a:rPr kumimoji="0" lang="en-US" altLang="zh-TW"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WMS</a:t>
                      </a:r>
                      <a:endParaRPr kumimoji="0" lang="zh-TW" altLang="en-US"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52">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自動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aphicFrame>
        <p:nvGraphicFramePr>
          <p:cNvPr id="62" name="表格 30">
            <a:extLst>
              <a:ext uri="{FF2B5EF4-FFF2-40B4-BE49-F238E27FC236}">
                <a16:creationId xmlns:a16="http://schemas.microsoft.com/office/drawing/2014/main" xmlns="" id="{44BEA7C9-9198-844F-A29F-3166704266EE}"/>
              </a:ext>
            </a:extLst>
          </p:cNvPr>
          <p:cNvGraphicFramePr>
            <a:graphicFrameLocks noGrp="1"/>
          </p:cNvGraphicFramePr>
          <p:nvPr>
            <p:extLst>
              <p:ext uri="{D42A27DB-BD31-4B8C-83A1-F6EECF244321}">
                <p14:modId xmlns:p14="http://schemas.microsoft.com/office/powerpoint/2010/main" xmlns="" val="4140414609"/>
              </p:ext>
            </p:extLst>
          </p:nvPr>
        </p:nvGraphicFramePr>
        <p:xfrm>
          <a:off x="9786942" y="6430178"/>
          <a:ext cx="1860324" cy="1238591"/>
        </p:xfrm>
        <a:graphic>
          <a:graphicData uri="http://schemas.openxmlformats.org/drawingml/2006/table">
            <a:tbl>
              <a:tblPr>
                <a:tableStyleId>{5940675A-B579-460E-94D1-54222C63F5DA}</a:tableStyleId>
              </a:tblPr>
              <a:tblGrid>
                <a:gridCol w="930162">
                  <a:extLst>
                    <a:ext uri="{9D8B030D-6E8A-4147-A177-3AD203B41FA5}">
                      <a16:colId xmlns:a16="http://schemas.microsoft.com/office/drawing/2014/main" xmlns="" val="3433979995"/>
                    </a:ext>
                  </a:extLst>
                </a:gridCol>
                <a:gridCol w="930162">
                  <a:extLst>
                    <a:ext uri="{9D8B030D-6E8A-4147-A177-3AD203B41FA5}">
                      <a16:colId xmlns:a16="http://schemas.microsoft.com/office/drawing/2014/main" xmlns="" val="3727974752"/>
                    </a:ext>
                  </a:extLst>
                </a:gridCol>
              </a:tblGrid>
              <a:tr h="336652">
                <a:tc gridSpan="2">
                  <a:txBody>
                    <a:bodyPr/>
                    <a:lstStyle/>
                    <a:p>
                      <a:pPr algn="ctr"/>
                      <a:r>
                        <a:rPr lang="en-GB" sz="1500" b="1" dirty="0">
                          <a:solidFill>
                            <a:schemeClr val="tx1"/>
                          </a:solidFill>
                          <a:latin typeface="微軟正黑體" panose="020B0604030504040204" pitchFamily="34" charset="-120"/>
                          <a:ea typeface="微軟正黑體" panose="020B0604030504040204" pitchFamily="34" charset="-120"/>
                        </a:rPr>
                        <a:t>ZMM088</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65287">
                <a:tc gridSpan="2">
                  <a:txBody>
                    <a:bodyPr/>
                    <a:lstStyle/>
                    <a:p>
                      <a:pPr marL="0" marR="0" lvl="0" indent="0" algn="ctr" defTabSz="914400" rtl="0" eaLnBrk="0" fontAlgn="auto" latinLnBrk="0" hangingPunct="0">
                        <a:lnSpc>
                          <a:spcPct val="100000"/>
                        </a:lnSpc>
                        <a:spcBef>
                          <a:spcPts val="0"/>
                        </a:spcBef>
                        <a:spcAft>
                          <a:spcPts val="0"/>
                        </a:spcAft>
                        <a:buClr>
                          <a:srgbClr val="000000"/>
                        </a:buClr>
                        <a:buSzTx/>
                        <a:buFont typeface="Arial"/>
                        <a:buNone/>
                        <a:tabLst/>
                        <a:defRPr/>
                      </a:pPr>
                      <a:r>
                        <a:rPr kumimoji="0" lang="en-US" altLang="zh-TW"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WMS</a:t>
                      </a:r>
                      <a:r>
                        <a:rPr kumimoji="0" lang="zh-TW" altLang="en-US"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回傳預留單過帳</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52">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自動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pSp>
        <p:nvGrpSpPr>
          <p:cNvPr id="64" name="Group 220">
            <a:extLst>
              <a:ext uri="{FF2B5EF4-FFF2-40B4-BE49-F238E27FC236}">
                <a16:creationId xmlns:a16="http://schemas.microsoft.com/office/drawing/2014/main" xmlns="" id="{F57C22EF-2BDC-F9B6-BCF7-039468E216F7}"/>
              </a:ext>
            </a:extLst>
          </p:cNvPr>
          <p:cNvGrpSpPr/>
          <p:nvPr/>
        </p:nvGrpSpPr>
        <p:grpSpPr>
          <a:xfrm>
            <a:off x="11219458" y="4386659"/>
            <a:ext cx="533400" cy="408605"/>
            <a:chOff x="5906184" y="1486857"/>
            <a:chExt cx="355600" cy="272361"/>
          </a:xfrm>
        </p:grpSpPr>
        <p:sp>
          <p:nvSpPr>
            <p:cNvPr id="65" name="Oval 221">
              <a:extLst>
                <a:ext uri="{FF2B5EF4-FFF2-40B4-BE49-F238E27FC236}">
                  <a16:creationId xmlns:a16="http://schemas.microsoft.com/office/drawing/2014/main" xmlns="" id="{AA75DF61-29DA-6269-959D-B828228516BD}"/>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6" name="TextBox 222">
              <a:extLst>
                <a:ext uri="{FF2B5EF4-FFF2-40B4-BE49-F238E27FC236}">
                  <a16:creationId xmlns:a16="http://schemas.microsoft.com/office/drawing/2014/main" xmlns="" id="{D7373917-563C-07C1-04C7-50AA63B38113}"/>
                </a:ext>
              </a:extLst>
            </p:cNvPr>
            <p:cNvSpPr txBox="1"/>
            <p:nvPr/>
          </p:nvSpPr>
          <p:spPr>
            <a:xfrm>
              <a:off x="5906184"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4</a:t>
              </a:r>
              <a:endParaRPr lang="en-US" altLang="zh-TW" sz="1500" dirty="0">
                <a:latin typeface="微軟正黑體" panose="020B0604030504040204" pitchFamily="34" charset="-120"/>
                <a:ea typeface="微軟正黑體" panose="020B0604030504040204" pitchFamily="34" charset="-120"/>
              </a:endParaRPr>
            </a:p>
          </p:txBody>
        </p:sp>
      </p:grpSp>
      <p:grpSp>
        <p:nvGrpSpPr>
          <p:cNvPr id="67" name="Group 220">
            <a:extLst>
              <a:ext uri="{FF2B5EF4-FFF2-40B4-BE49-F238E27FC236}">
                <a16:creationId xmlns:a16="http://schemas.microsoft.com/office/drawing/2014/main" xmlns="" id="{2D9D24A9-3257-3D1C-400D-8D57457C936F}"/>
              </a:ext>
            </a:extLst>
          </p:cNvPr>
          <p:cNvGrpSpPr/>
          <p:nvPr/>
        </p:nvGrpSpPr>
        <p:grpSpPr>
          <a:xfrm>
            <a:off x="11373244" y="6205013"/>
            <a:ext cx="533400" cy="408605"/>
            <a:chOff x="5906184" y="1486857"/>
            <a:chExt cx="355600" cy="272361"/>
          </a:xfrm>
        </p:grpSpPr>
        <p:sp>
          <p:nvSpPr>
            <p:cNvPr id="68" name="Oval 221">
              <a:extLst>
                <a:ext uri="{FF2B5EF4-FFF2-40B4-BE49-F238E27FC236}">
                  <a16:creationId xmlns:a16="http://schemas.microsoft.com/office/drawing/2014/main" xmlns="" id="{CCF0CFCE-B6D6-2D09-68D4-D3E1760C0D7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9" name="TextBox 222">
              <a:extLst>
                <a:ext uri="{FF2B5EF4-FFF2-40B4-BE49-F238E27FC236}">
                  <a16:creationId xmlns:a16="http://schemas.microsoft.com/office/drawing/2014/main" xmlns="" id="{EA17683E-E4C2-2FEC-8CA5-6C1D73A3C548}"/>
                </a:ext>
              </a:extLst>
            </p:cNvPr>
            <p:cNvSpPr txBox="1"/>
            <p:nvPr/>
          </p:nvSpPr>
          <p:spPr>
            <a:xfrm>
              <a:off x="5906184"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5</a:t>
              </a:r>
              <a:endParaRPr lang="zh-TW" altLang="en-US" sz="1500" dirty="0">
                <a:latin typeface="微軟正黑體" panose="020B0604030504040204" pitchFamily="34" charset="-120"/>
                <a:ea typeface="微軟正黑體" panose="020B0604030504040204" pitchFamily="34" charset="-120"/>
              </a:endParaRPr>
            </a:p>
          </p:txBody>
        </p:sp>
      </p:grpSp>
      <p:cxnSp>
        <p:nvCxnSpPr>
          <p:cNvPr id="71" name="肘形接點 68">
            <a:extLst>
              <a:ext uri="{FF2B5EF4-FFF2-40B4-BE49-F238E27FC236}">
                <a16:creationId xmlns="" xmlns:a16="http://schemas.microsoft.com/office/drawing/2014/main" id="{F47FAA44-2FFA-02CD-24BC-7BCE0F797E4B}"/>
              </a:ext>
            </a:extLst>
          </p:cNvPr>
          <p:cNvCxnSpPr>
            <a:cxnSpLocks/>
            <a:endCxn id="3" idx="1"/>
          </p:cNvCxnSpPr>
          <p:nvPr/>
        </p:nvCxnSpPr>
        <p:spPr>
          <a:xfrm>
            <a:off x="11501454" y="5072856"/>
            <a:ext cx="745301" cy="29609"/>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80" name="肘形接點 68">
            <a:extLst>
              <a:ext uri="{FF2B5EF4-FFF2-40B4-BE49-F238E27FC236}">
                <a16:creationId xmlns="" xmlns:a16="http://schemas.microsoft.com/office/drawing/2014/main" id="{F47FAA44-2FFA-02CD-24BC-7BCE0F797E4B}"/>
              </a:ext>
            </a:extLst>
          </p:cNvPr>
          <p:cNvCxnSpPr>
            <a:cxnSpLocks/>
            <a:stCxn id="3" idx="2"/>
          </p:cNvCxnSpPr>
          <p:nvPr/>
        </p:nvCxnSpPr>
        <p:spPr>
          <a:xfrm rot="5400000">
            <a:off x="11758860" y="5607231"/>
            <a:ext cx="1279922" cy="1508981"/>
          </a:xfrm>
          <a:prstGeom prst="bentConnector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4" name="Google Shape;204;p4"/>
          <p:cNvSpPr/>
          <p:nvPr/>
        </p:nvSpPr>
        <p:spPr>
          <a:xfrm>
            <a:off x="197114" y="1594875"/>
            <a:ext cx="17911883" cy="8400709"/>
          </a:xfrm>
          <a:prstGeom prst="rect">
            <a:avLst/>
          </a:prstGeom>
          <a:noFill/>
          <a:ln w="19050" cap="flat" cmpd="sng">
            <a:solidFill>
              <a:schemeClr val="dk1"/>
            </a:solidFill>
            <a:prstDash val="solid"/>
            <a:round/>
            <a:headEnd type="none" w="sm" len="sm"/>
            <a:tailEnd type="none" w="sm" len="sm"/>
          </a:ln>
        </p:spPr>
        <p:txBody>
          <a:bodyPr spcFirstLastPara="1" wrap="square" lIns="137138" tIns="68550" rIns="137138" bIns="68550" anchor="t" anchorCtr="0">
            <a:noAutofit/>
          </a:bodyPr>
          <a:lstStyle/>
          <a:p>
            <a:r>
              <a:rPr lang="en-US" sz="2400" dirty="0" err="1">
                <a:solidFill>
                  <a:schemeClr val="dk1"/>
                </a:solidFill>
                <a:latin typeface="Arial"/>
                <a:ea typeface="Arial"/>
                <a:cs typeface="Arial"/>
                <a:sym typeface="Arial"/>
              </a:rPr>
              <a:t>流程補充說明</a:t>
            </a:r>
            <a:r>
              <a:rPr lang="en-US" sz="2400" dirty="0">
                <a:solidFill>
                  <a:schemeClr val="dk1"/>
                </a:solidFill>
                <a:latin typeface="Arial"/>
                <a:ea typeface="Arial"/>
                <a:cs typeface="Arial"/>
                <a:sym typeface="Arial"/>
              </a:rPr>
              <a:t>:</a:t>
            </a:r>
          </a:p>
          <a:p>
            <a:endParaRPr lang="en-US" sz="2400" dirty="0">
              <a:solidFill>
                <a:schemeClr val="dk1"/>
              </a:solidFill>
            </a:endParaRPr>
          </a:p>
          <a:p>
            <a:r>
              <a:rPr lang="zh-TW" altLang="en-US" sz="2400" dirty="0">
                <a:solidFill>
                  <a:schemeClr val="dk1"/>
                </a:solidFill>
                <a:latin typeface="Arial"/>
                <a:ea typeface="Arial"/>
                <a:cs typeface="Arial"/>
                <a:sym typeface="Arial"/>
              </a:rPr>
              <a:t>與</a:t>
            </a:r>
            <a:r>
              <a:rPr lang="en-US" altLang="zh-TW" sz="2400" dirty="0">
                <a:solidFill>
                  <a:schemeClr val="dk1"/>
                </a:solidFill>
                <a:latin typeface="Arial"/>
                <a:ea typeface="Arial"/>
                <a:cs typeface="Arial"/>
                <a:sym typeface="Arial"/>
              </a:rPr>
              <a:t>WMS</a:t>
            </a:r>
            <a:r>
              <a:rPr lang="zh-TW" altLang="en-US" sz="2400" dirty="0">
                <a:solidFill>
                  <a:schemeClr val="dk1"/>
                </a:solidFill>
                <a:latin typeface="Arial"/>
                <a:ea typeface="Arial"/>
                <a:cs typeface="Arial"/>
                <a:sym typeface="Arial"/>
              </a:rPr>
              <a:t>介接說明補充</a:t>
            </a:r>
            <a:endParaRPr lang="en-US" altLang="zh-TW" sz="2400" dirty="0">
              <a:solidFill>
                <a:schemeClr val="dk1"/>
              </a:solidFill>
              <a:latin typeface="Arial"/>
              <a:ea typeface="Arial"/>
              <a:cs typeface="Arial"/>
              <a:sym typeface="Arial"/>
            </a:endParaRPr>
          </a:p>
          <a:p>
            <a:endParaRPr lang="en-US" altLang="zh-TW" sz="2400" dirty="0">
              <a:solidFill>
                <a:schemeClr val="dk1"/>
              </a:solidFill>
            </a:endParaRPr>
          </a:p>
          <a:p>
            <a:r>
              <a:rPr lang="zh-TW" altLang="en-US" sz="2400" dirty="0">
                <a:solidFill>
                  <a:schemeClr val="dk1"/>
                </a:solidFill>
                <a:latin typeface="Arial"/>
                <a:ea typeface="Arial"/>
                <a:cs typeface="Arial"/>
                <a:sym typeface="Arial"/>
              </a:rPr>
              <a:t>   </a:t>
            </a:r>
            <a:endParaRPr lang="en-US" altLang="zh-TW" sz="2400" dirty="0">
              <a:solidFill>
                <a:schemeClr val="dk1"/>
              </a:solidFill>
              <a:latin typeface="Arial"/>
              <a:ea typeface="Arial"/>
              <a:cs typeface="Arial"/>
              <a:sym typeface="Arial"/>
            </a:endParaRPr>
          </a:p>
          <a:p>
            <a:r>
              <a:rPr lang="en-US" sz="2400" dirty="0">
                <a:solidFill>
                  <a:schemeClr val="dk1"/>
                </a:solidFill>
                <a:latin typeface="Arial"/>
                <a:ea typeface="Arial"/>
                <a:cs typeface="Arial"/>
                <a:sym typeface="Arial"/>
              </a:rPr>
              <a:t> </a:t>
            </a:r>
            <a:endParaRPr dirty="0"/>
          </a:p>
          <a:p>
            <a:endParaRPr dirty="0">
              <a:solidFill>
                <a:schemeClr val="dk1"/>
              </a:solidFill>
              <a:latin typeface="Arial"/>
              <a:ea typeface="Arial"/>
              <a:cs typeface="Arial"/>
              <a:sym typeface="Arial"/>
            </a:endParaRPr>
          </a:p>
        </p:txBody>
      </p:sp>
      <p:sp>
        <p:nvSpPr>
          <p:cNvPr id="2" name="Google Shape;38;p9">
            <a:extLst>
              <a:ext uri="{FF2B5EF4-FFF2-40B4-BE49-F238E27FC236}">
                <a16:creationId xmlns="" xmlns:a16="http://schemas.microsoft.com/office/drawing/2014/main" id="{212072A4-7FC5-6FDD-EF62-9115B1D99FEC}"/>
              </a:ext>
            </a:extLst>
          </p:cNvPr>
          <p:cNvSpPr txBox="1"/>
          <p:nvPr/>
        </p:nvSpPr>
        <p:spPr>
          <a:xfrm>
            <a:off x="16570194" y="757990"/>
            <a:ext cx="648072" cy="547772"/>
          </a:xfrm>
          <a:prstGeom prst="rect">
            <a:avLst/>
          </a:prstGeom>
          <a:noFill/>
          <a:ln>
            <a:noFill/>
          </a:ln>
        </p:spPr>
        <p:txBody>
          <a:bodyPr spcFirstLastPara="1" wrap="square" lIns="137138" tIns="68550" rIns="137138" bIns="68550" anchor="ctr" anchorCtr="0">
            <a:noAutofit/>
          </a:bodyPr>
          <a:lstStyle/>
          <a:p>
            <a:pPr algn="r"/>
            <a:endParaRPr sz="1500" dirty="0">
              <a:solidFill>
                <a:srgbClr val="888888"/>
              </a:solidFill>
              <a:latin typeface="Arial"/>
              <a:ea typeface="Arial"/>
              <a:cs typeface="Arial"/>
              <a:sym typeface="Arial"/>
            </a:endParaRPr>
          </a:p>
        </p:txBody>
      </p:sp>
      <p:sp>
        <p:nvSpPr>
          <p:cNvPr id="3" name="圓角矩形 28">
            <a:extLst>
              <a:ext uri="{FF2B5EF4-FFF2-40B4-BE49-F238E27FC236}">
                <a16:creationId xmlns="" xmlns:a16="http://schemas.microsoft.com/office/drawing/2014/main" id="{315234B8-50A9-154A-C63A-A34613BAB25C}"/>
              </a:ext>
            </a:extLst>
          </p:cNvPr>
          <p:cNvSpPr/>
          <p:nvPr/>
        </p:nvSpPr>
        <p:spPr>
          <a:xfrm>
            <a:off x="1534155" y="3695016"/>
            <a:ext cx="2126940" cy="869012"/>
          </a:xfrm>
          <a:prstGeom prst="roundRect">
            <a:avLst/>
          </a:prstGeom>
          <a:solidFill>
            <a:srgbClr val="FFC000"/>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zh-TW" altLang="en-US" sz="3000" b="1" dirty="0">
                <a:latin typeface="微軟正黑體" pitchFamily="34" charset="-120"/>
                <a:ea typeface="微軟正黑體" pitchFamily="34" charset="-120"/>
              </a:rPr>
              <a:t>預留單</a:t>
            </a:r>
          </a:p>
        </p:txBody>
      </p:sp>
      <p:sp>
        <p:nvSpPr>
          <p:cNvPr id="4" name="圓角矩形 40">
            <a:extLst>
              <a:ext uri="{FF2B5EF4-FFF2-40B4-BE49-F238E27FC236}">
                <a16:creationId xmlns="" xmlns:a16="http://schemas.microsoft.com/office/drawing/2014/main" id="{2C53BCE9-FCC4-E9D6-DB4E-E0AD4982F4A8}"/>
              </a:ext>
            </a:extLst>
          </p:cNvPr>
          <p:cNvSpPr/>
          <p:nvPr/>
        </p:nvSpPr>
        <p:spPr>
          <a:xfrm>
            <a:off x="4635501" y="3681298"/>
            <a:ext cx="2135580" cy="869012"/>
          </a:xfrm>
          <a:prstGeom prst="roundRect">
            <a:avLst/>
          </a:prstGeom>
          <a:solidFill>
            <a:schemeClr val="accent1">
              <a:lumMod val="75000"/>
            </a:schemeClr>
          </a:solidFill>
          <a:ln>
            <a:solidFill>
              <a:srgbClr val="C00000"/>
            </a:solidFill>
          </a:ln>
        </p:spPr>
        <p:style>
          <a:lnRef idx="2">
            <a:schemeClr val="accent3">
              <a:shade val="50000"/>
            </a:schemeClr>
          </a:lnRef>
          <a:fillRef idx="1">
            <a:schemeClr val="accent3"/>
          </a:fillRef>
          <a:effectRef idx="0">
            <a:schemeClr val="accent3"/>
          </a:effectRef>
          <a:fontRef idx="minor">
            <a:schemeClr val="lt1"/>
          </a:fontRef>
        </p:style>
        <p:txBody>
          <a:bodyPr lIns="137160" tIns="68580" rIns="137160" bIns="68580" rtlCol="0" anchor="ctr"/>
          <a:lstStyle/>
          <a:p>
            <a:pPr algn="ctr"/>
            <a:r>
              <a:rPr lang="zh-TW" altLang="en-US" sz="2700" b="1" dirty="0" smtClean="0">
                <a:latin typeface="微軟正黑體" pitchFamily="34" charset="-120"/>
                <a:ea typeface="微軟正黑體" pitchFamily="34" charset="-120"/>
              </a:rPr>
              <a:t>調</a:t>
            </a:r>
            <a:r>
              <a:rPr lang="zh-TW" altLang="en-US" sz="2700" b="1" dirty="0">
                <a:latin typeface="微軟正黑體" pitchFamily="34" charset="-120"/>
                <a:ea typeface="微軟正黑體" pitchFamily="34" charset="-120"/>
              </a:rPr>
              <a:t>倉</a:t>
            </a:r>
          </a:p>
        </p:txBody>
      </p:sp>
      <p:sp>
        <p:nvSpPr>
          <p:cNvPr id="5" name="圓角矩形 28">
            <a:extLst>
              <a:ext uri="{FF2B5EF4-FFF2-40B4-BE49-F238E27FC236}">
                <a16:creationId xmlns="" xmlns:a16="http://schemas.microsoft.com/office/drawing/2014/main" id="{7D6E28F1-83AE-8AD1-E580-53A21497E963}"/>
              </a:ext>
            </a:extLst>
          </p:cNvPr>
          <p:cNvSpPr/>
          <p:nvPr/>
        </p:nvSpPr>
        <p:spPr>
          <a:xfrm>
            <a:off x="7924481" y="3695016"/>
            <a:ext cx="2126940" cy="869012"/>
          </a:xfrm>
          <a:prstGeom prst="roundRect">
            <a:avLst/>
          </a:prstGeom>
          <a:solidFill>
            <a:srgbClr val="FFC000"/>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zh-TW" altLang="en-US" sz="3000" b="1" dirty="0">
                <a:latin typeface="微軟正黑體" pitchFamily="34" charset="-120"/>
                <a:ea typeface="微軟正黑體" pitchFamily="34" charset="-120"/>
              </a:rPr>
              <a:t>調倉</a:t>
            </a:r>
          </a:p>
        </p:txBody>
      </p:sp>
      <p:cxnSp>
        <p:nvCxnSpPr>
          <p:cNvPr id="6" name="接點: 肘形 5">
            <a:extLst>
              <a:ext uri="{FF2B5EF4-FFF2-40B4-BE49-F238E27FC236}">
                <a16:creationId xmlns="" xmlns:a16="http://schemas.microsoft.com/office/drawing/2014/main" id="{D07ED555-0FB3-83B3-E700-A94127C07C59}"/>
              </a:ext>
            </a:extLst>
          </p:cNvPr>
          <p:cNvCxnSpPr>
            <a:cxnSpLocks/>
            <a:stCxn id="3" idx="3"/>
            <a:endCxn id="4" idx="1"/>
          </p:cNvCxnSpPr>
          <p:nvPr/>
        </p:nvCxnSpPr>
        <p:spPr>
          <a:xfrm flipV="1">
            <a:off x="3661095" y="4115804"/>
            <a:ext cx="974406" cy="13718"/>
          </a:xfrm>
          <a:prstGeom prst="bent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7" name="Group 220">
            <a:extLst>
              <a:ext uri="{FF2B5EF4-FFF2-40B4-BE49-F238E27FC236}">
                <a16:creationId xmlns="" xmlns:a16="http://schemas.microsoft.com/office/drawing/2014/main" id="{80424F7D-4F08-5659-A7C6-FCA6891CFDC7}"/>
              </a:ext>
            </a:extLst>
          </p:cNvPr>
          <p:cNvGrpSpPr/>
          <p:nvPr/>
        </p:nvGrpSpPr>
        <p:grpSpPr>
          <a:xfrm>
            <a:off x="3971094" y="3476996"/>
            <a:ext cx="533400" cy="408605"/>
            <a:chOff x="5906184" y="1486857"/>
            <a:chExt cx="355600" cy="272361"/>
          </a:xfrm>
        </p:grpSpPr>
        <p:sp>
          <p:nvSpPr>
            <p:cNvPr id="8" name="Oval 221">
              <a:extLst>
                <a:ext uri="{FF2B5EF4-FFF2-40B4-BE49-F238E27FC236}">
                  <a16:creationId xmlns="" xmlns:a16="http://schemas.microsoft.com/office/drawing/2014/main" id="{CF13A624-7C3B-47B8-D765-B983912A641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9" name="TextBox 222">
              <a:extLst>
                <a:ext uri="{FF2B5EF4-FFF2-40B4-BE49-F238E27FC236}">
                  <a16:creationId xmlns="" xmlns:a16="http://schemas.microsoft.com/office/drawing/2014/main" id="{E980624D-16BB-0D13-0E8D-2B1F0546E5D5}"/>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cxnSp>
        <p:nvCxnSpPr>
          <p:cNvPr id="10" name="接點: 肘形 9">
            <a:extLst>
              <a:ext uri="{FF2B5EF4-FFF2-40B4-BE49-F238E27FC236}">
                <a16:creationId xmlns="" xmlns:a16="http://schemas.microsoft.com/office/drawing/2014/main" id="{36B424DB-21DE-EB43-F7D7-9E1AB54CE8E7}"/>
              </a:ext>
            </a:extLst>
          </p:cNvPr>
          <p:cNvCxnSpPr>
            <a:cxnSpLocks/>
            <a:stCxn id="4" idx="3"/>
            <a:endCxn id="5" idx="1"/>
          </p:cNvCxnSpPr>
          <p:nvPr/>
        </p:nvCxnSpPr>
        <p:spPr>
          <a:xfrm>
            <a:off x="6771082" y="4115804"/>
            <a:ext cx="1153400" cy="13718"/>
          </a:xfrm>
          <a:prstGeom prst="bent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11" name="Group 220">
            <a:extLst>
              <a:ext uri="{FF2B5EF4-FFF2-40B4-BE49-F238E27FC236}">
                <a16:creationId xmlns="" xmlns:a16="http://schemas.microsoft.com/office/drawing/2014/main" id="{C89577B8-0244-65FB-7E2A-B6C0A114DB6E}"/>
              </a:ext>
            </a:extLst>
          </p:cNvPr>
          <p:cNvGrpSpPr/>
          <p:nvPr/>
        </p:nvGrpSpPr>
        <p:grpSpPr>
          <a:xfrm>
            <a:off x="7156482" y="3504729"/>
            <a:ext cx="533400" cy="408605"/>
            <a:chOff x="5906184" y="1486857"/>
            <a:chExt cx="355600" cy="272361"/>
          </a:xfrm>
        </p:grpSpPr>
        <p:sp>
          <p:nvSpPr>
            <p:cNvPr id="12" name="Oval 221">
              <a:extLst>
                <a:ext uri="{FF2B5EF4-FFF2-40B4-BE49-F238E27FC236}">
                  <a16:creationId xmlns="" xmlns:a16="http://schemas.microsoft.com/office/drawing/2014/main" id="{8DFACF5C-8893-DAAF-607B-BB52CD746369}"/>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3" name="TextBox 222">
              <a:extLst>
                <a:ext uri="{FF2B5EF4-FFF2-40B4-BE49-F238E27FC236}">
                  <a16:creationId xmlns="" xmlns:a16="http://schemas.microsoft.com/office/drawing/2014/main" id="{D200E772-BBCA-86DA-C38B-E655006C4F89}"/>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sp>
        <p:nvSpPr>
          <p:cNvPr id="25" name="圓角矩形 28">
            <a:extLst>
              <a:ext uri="{FF2B5EF4-FFF2-40B4-BE49-F238E27FC236}">
                <a16:creationId xmlns="" xmlns:a16="http://schemas.microsoft.com/office/drawing/2014/main" id="{E2A7EFD7-DC02-BC43-F92C-1EEE4218CCF9}"/>
              </a:ext>
            </a:extLst>
          </p:cNvPr>
          <p:cNvSpPr/>
          <p:nvPr/>
        </p:nvSpPr>
        <p:spPr>
          <a:xfrm>
            <a:off x="16766852" y="8897239"/>
            <a:ext cx="1188132" cy="432115"/>
          </a:xfrm>
          <a:prstGeom prst="roundRect">
            <a:avLst/>
          </a:prstGeom>
          <a:solidFill>
            <a:srgbClr val="FFC000"/>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en-US" altLang="zh-TW" b="1" dirty="0">
                <a:latin typeface="微軟正黑體" pitchFamily="34" charset="-120"/>
                <a:ea typeface="微軟正黑體" pitchFamily="34" charset="-120"/>
              </a:rPr>
              <a:t>SAP</a:t>
            </a:r>
            <a:endParaRPr lang="zh-TW" altLang="en-US" sz="2100" b="1" dirty="0">
              <a:latin typeface="微軟正黑體" pitchFamily="34" charset="-120"/>
              <a:ea typeface="微軟正黑體" pitchFamily="34" charset="-120"/>
            </a:endParaRPr>
          </a:p>
        </p:txBody>
      </p:sp>
      <p:sp>
        <p:nvSpPr>
          <p:cNvPr id="26" name="圓角矩形 40">
            <a:extLst>
              <a:ext uri="{FF2B5EF4-FFF2-40B4-BE49-F238E27FC236}">
                <a16:creationId xmlns="" xmlns:a16="http://schemas.microsoft.com/office/drawing/2014/main" id="{C6798B7F-11E2-F399-0298-1B3CBC3E8487}"/>
              </a:ext>
            </a:extLst>
          </p:cNvPr>
          <p:cNvSpPr/>
          <p:nvPr/>
        </p:nvSpPr>
        <p:spPr>
          <a:xfrm>
            <a:off x="16766852" y="9401709"/>
            <a:ext cx="1188132" cy="432115"/>
          </a:xfrm>
          <a:prstGeom prst="roundRect">
            <a:avLst/>
          </a:prstGeom>
          <a:solidFill>
            <a:schemeClr val="accent1">
              <a:lumMod val="75000"/>
            </a:schemeClr>
          </a:solidFill>
          <a:ln>
            <a:solidFill>
              <a:srgbClr val="C00000"/>
            </a:solidFill>
          </a:ln>
        </p:spPr>
        <p:style>
          <a:lnRef idx="2">
            <a:schemeClr val="accent3">
              <a:shade val="50000"/>
            </a:schemeClr>
          </a:lnRef>
          <a:fillRef idx="1">
            <a:schemeClr val="accent3"/>
          </a:fillRef>
          <a:effectRef idx="0">
            <a:schemeClr val="accent3"/>
          </a:effectRef>
          <a:fontRef idx="minor">
            <a:schemeClr val="lt1"/>
          </a:fontRef>
        </p:style>
        <p:txBody>
          <a:bodyPr lIns="137160" tIns="68580" rIns="137160" bIns="68580" rtlCol="0" anchor="ctr"/>
          <a:lstStyle/>
          <a:p>
            <a:pPr algn="ctr"/>
            <a:r>
              <a:rPr lang="en-US" altLang="zh-TW" b="1" dirty="0">
                <a:latin typeface="微軟正黑體" pitchFamily="34" charset="-120"/>
                <a:ea typeface="微軟正黑體" pitchFamily="34" charset="-120"/>
              </a:rPr>
              <a:t>WMS</a:t>
            </a:r>
            <a:endParaRPr lang="zh-TW" altLang="en-US" b="1" dirty="0">
              <a:latin typeface="微軟正黑體" pitchFamily="34" charset="-120"/>
              <a:ea typeface="微軟正黑體" pitchFamily="34" charset="-120"/>
            </a:endParaRPr>
          </a:p>
        </p:txBody>
      </p:sp>
      <p:graphicFrame>
        <p:nvGraphicFramePr>
          <p:cNvPr id="27" name="表格 26">
            <a:extLst>
              <a:ext uri="{FF2B5EF4-FFF2-40B4-BE49-F238E27FC236}">
                <a16:creationId xmlns="" xmlns:a16="http://schemas.microsoft.com/office/drawing/2014/main" id="{2C087326-7FEF-1A30-79CE-65CA273B1456}"/>
              </a:ext>
            </a:extLst>
          </p:cNvPr>
          <p:cNvGraphicFramePr>
            <a:graphicFrameLocks noGrp="1"/>
          </p:cNvGraphicFramePr>
          <p:nvPr>
            <p:extLst>
              <p:ext uri="{D42A27DB-BD31-4B8C-83A1-F6EECF244321}">
                <p14:modId xmlns="" xmlns:p14="http://schemas.microsoft.com/office/powerpoint/2010/main" val="2793338578"/>
              </p:ext>
            </p:extLst>
          </p:nvPr>
        </p:nvGraphicFramePr>
        <p:xfrm>
          <a:off x="1733517" y="8216662"/>
          <a:ext cx="13395961" cy="1112692"/>
        </p:xfrm>
        <a:graphic>
          <a:graphicData uri="http://schemas.openxmlformats.org/drawingml/2006/table">
            <a:tbl>
              <a:tblPr firstRow="1" bandRow="1"/>
              <a:tblGrid>
                <a:gridCol w="586073">
                  <a:extLst>
                    <a:ext uri="{9D8B030D-6E8A-4147-A177-3AD203B41FA5}">
                      <a16:colId xmlns="" xmlns:a16="http://schemas.microsoft.com/office/drawing/2014/main" val="4193373909"/>
                    </a:ext>
                  </a:extLst>
                </a:gridCol>
                <a:gridCol w="12809888">
                  <a:extLst>
                    <a:ext uri="{9D8B030D-6E8A-4147-A177-3AD203B41FA5}">
                      <a16:colId xmlns="" xmlns:a16="http://schemas.microsoft.com/office/drawing/2014/main" val="175700329"/>
                    </a:ext>
                  </a:extLst>
                </a:gridCol>
              </a:tblGrid>
              <a:tr h="556346">
                <a:tc>
                  <a:txBody>
                    <a:bodyPr/>
                    <a:lstStyle/>
                    <a:p>
                      <a:r>
                        <a:rPr lang="en-US" altLang="zh-TW" sz="2700" dirty="0"/>
                        <a:t>1</a:t>
                      </a:r>
                      <a:endParaRPr lang="zh-TW" altLang="en-US" sz="2700" dirty="0"/>
                    </a:p>
                  </a:txBody>
                  <a:tcPr marL="137160" marR="137160" marT="68591" marB="68591"/>
                </a:tc>
                <a:tc>
                  <a:txBody>
                    <a:bodyPr/>
                    <a:lstStyle/>
                    <a:p>
                      <a:r>
                        <a:rPr lang="en-US" altLang="zh-TW" sz="2700" dirty="0"/>
                        <a:t>SAP</a:t>
                      </a:r>
                      <a:r>
                        <a:rPr lang="zh-TW" altLang="en-US" sz="2700" dirty="0"/>
                        <a:t> 調撥轉倉申請單</a:t>
                      </a:r>
                      <a:r>
                        <a:rPr lang="en-US" altLang="zh-TW" sz="2700" dirty="0"/>
                        <a:t>(</a:t>
                      </a:r>
                      <a:r>
                        <a:rPr lang="zh-TW" altLang="en-US" sz="2700" dirty="0"/>
                        <a:t>預留單</a:t>
                      </a:r>
                      <a:r>
                        <a:rPr lang="en-US" altLang="zh-TW" sz="2700" dirty="0"/>
                        <a:t>)</a:t>
                      </a:r>
                      <a:r>
                        <a:rPr lang="zh-TW" altLang="en-US" sz="2700" dirty="0"/>
                        <a:t>拋給</a:t>
                      </a:r>
                      <a:r>
                        <a:rPr lang="en-US" altLang="zh-TW" sz="2700" dirty="0"/>
                        <a:t>WMS</a:t>
                      </a:r>
                    </a:p>
                  </a:txBody>
                  <a:tcPr marL="137160" marR="137160" marT="68591" marB="68591"/>
                </a:tc>
                <a:extLst>
                  <a:ext uri="{0D108BD9-81ED-4DB2-BD59-A6C34878D82A}">
                    <a16:rowId xmlns="" xmlns:a16="http://schemas.microsoft.com/office/drawing/2014/main" val="388478257"/>
                  </a:ext>
                </a:extLst>
              </a:tr>
              <a:tr h="556346">
                <a:tc>
                  <a:txBody>
                    <a:bodyPr/>
                    <a:lstStyle/>
                    <a:p>
                      <a:r>
                        <a:rPr lang="en-US" altLang="zh-TW" sz="2700" dirty="0"/>
                        <a:t>2</a:t>
                      </a:r>
                      <a:endParaRPr lang="zh-TW" altLang="en-US" sz="2700" dirty="0"/>
                    </a:p>
                  </a:txBody>
                  <a:tcPr marL="137160" marR="137160" marT="68591" marB="68591"/>
                </a:tc>
                <a:tc>
                  <a:txBody>
                    <a:bodyPr/>
                    <a:lstStyle/>
                    <a:p>
                      <a:r>
                        <a:rPr lang="en-US" altLang="zh-TW" sz="2700" dirty="0"/>
                        <a:t>WMS</a:t>
                      </a:r>
                      <a:r>
                        <a:rPr lang="zh-TW" altLang="en-US" sz="2700" dirty="0"/>
                        <a:t>上下架調倉拋給</a:t>
                      </a:r>
                      <a:r>
                        <a:rPr lang="en-US" altLang="zh-TW" sz="2700" dirty="0"/>
                        <a:t>SAP</a:t>
                      </a:r>
                      <a:r>
                        <a:rPr lang="zh-TW" altLang="en-US" sz="2700" dirty="0"/>
                        <a:t>執行預留單過帳作業</a:t>
                      </a:r>
                    </a:p>
                  </a:txBody>
                  <a:tcPr marL="137160" marR="137160" marT="68591" marB="68591"/>
                </a:tc>
                <a:extLst>
                  <a:ext uri="{0D108BD9-81ED-4DB2-BD59-A6C34878D82A}">
                    <a16:rowId xmlns="" xmlns:a16="http://schemas.microsoft.com/office/drawing/2014/main" val="2767441219"/>
                  </a:ext>
                </a:extLst>
              </a:tr>
            </a:tbl>
          </a:graphicData>
        </a:graphic>
      </p:graphicFrame>
      <p:sp>
        <p:nvSpPr>
          <p:cNvPr id="38" name="TextBox 2"/>
          <p:cNvSpPr/>
          <p:nvPr/>
        </p:nvSpPr>
        <p:spPr>
          <a:xfrm>
            <a:off x="15598440" y="419400"/>
            <a:ext cx="550440" cy="3371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600" b="0" strike="noStrike" spc="-1" dirty="0" smtClean="0">
                <a:solidFill>
                  <a:schemeClr val="dk1"/>
                </a:solidFill>
                <a:latin typeface="微軟正黑體"/>
                <a:ea typeface="微軟正黑體"/>
              </a:rPr>
              <a:t>2</a:t>
            </a:r>
            <a:endParaRPr lang="en-US" sz="1600" b="0" strike="noStrike" spc="-1" dirty="0">
              <a:solidFill>
                <a:srgbClr val="000000"/>
              </a:solidFill>
              <a:latin typeface="Calibri"/>
            </a:endParaRPr>
          </a:p>
        </p:txBody>
      </p:sp>
      <p:sp>
        <p:nvSpPr>
          <p:cNvPr id="19" name="文字方塊 18">
            <a:extLst>
              <a:ext uri="{FF2B5EF4-FFF2-40B4-BE49-F238E27FC236}">
                <a16:creationId xmlns="" xmlns:a16="http://schemas.microsoft.com/office/drawing/2014/main" id="{8ECF4CE1-DDC2-62E8-3C4E-7ECD29FF75F3}"/>
              </a:ext>
            </a:extLst>
          </p:cNvPr>
          <p:cNvSpPr txBox="1"/>
          <p:nvPr/>
        </p:nvSpPr>
        <p:spPr>
          <a:xfrm>
            <a:off x="2507711" y="807958"/>
            <a:ext cx="7218711" cy="415498"/>
          </a:xfrm>
          <a:prstGeom prst="rect">
            <a:avLst/>
          </a:prstGeom>
          <a:noFill/>
        </p:spPr>
        <p:txBody>
          <a:bodyPr wrap="square" lIns="137160" tIns="68580" rIns="137160" bIns="68580">
            <a:spAutoFit/>
          </a:bodyPr>
          <a:lstStyle/>
          <a:p>
            <a:pPr eaLnBrk="0" hangingPunct="0"/>
            <a:r>
              <a:rPr kumimoji="0" lang="en-US" altLang="zh-TW" b="1" dirty="0">
                <a:latin typeface="微軟正黑體" panose="020B0604030504040204" pitchFamily="34" charset="-120"/>
                <a:ea typeface="微軟正黑體" panose="020B0604030504040204" pitchFamily="34" charset="-120"/>
              </a:rPr>
              <a:t>MM-IM-0090</a:t>
            </a:r>
            <a:r>
              <a:rPr kumimoji="0" lang="zh-TW" altLang="en-US" b="1" dirty="0">
                <a:latin typeface="微軟正黑體" panose="020B0604030504040204" pitchFamily="34" charset="-120"/>
                <a:ea typeface="微軟正黑體" panose="020B0604030504040204" pitchFamily="34" charset="-120"/>
              </a:rPr>
              <a:t>倉庫調撥轉倉作業</a:t>
            </a:r>
            <a:r>
              <a:rPr kumimoji="0" lang="zh-TW" altLang="en-US" b="1" dirty="0" smtClean="0">
                <a:latin typeface="微軟正黑體" panose="020B0604030504040204" pitchFamily="34" charset="-120"/>
                <a:ea typeface="微軟正黑體" panose="020B0604030504040204" pitchFamily="34" charset="-120"/>
              </a:rPr>
              <a:t>流程</a:t>
            </a:r>
            <a:endParaRPr kumimoji="0" lang="zh-TW" altLang="en-US" b="1" dirty="0">
              <a:latin typeface="微軟正黑體" panose="020B0604030504040204" pitchFamily="34" charset="-120"/>
              <a:ea typeface="微軟正黑體" panose="020B0604030504040204" pitchFamily="34" charset="-12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5" name="流程圖: 結束點 8"/>
          <p:cNvSpPr/>
          <p:nvPr/>
        </p:nvSpPr>
        <p:spPr>
          <a:xfrm>
            <a:off x="3242520" y="2150280"/>
            <a:ext cx="1797120" cy="518760"/>
          </a:xfrm>
          <a:prstGeom prst="flowChartTermina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流程</a:t>
            </a:r>
            <a:endParaRPr lang="en-US" sz="1500" b="0" strike="noStrike" spc="-1">
              <a:solidFill>
                <a:srgbClr val="000000"/>
              </a:solidFill>
              <a:latin typeface="Calibri"/>
            </a:endParaRPr>
          </a:p>
          <a:p>
            <a:pPr algn="ctr" defTabSz="457200">
              <a:lnSpc>
                <a:spcPct val="100000"/>
              </a:lnSpc>
            </a:pPr>
            <a:r>
              <a:rPr lang="zh-TW" sz="1500" b="0" strike="noStrike" spc="-1">
                <a:solidFill>
                  <a:schemeClr val="dk1"/>
                </a:solidFill>
                <a:latin typeface="微軟正黑體"/>
                <a:ea typeface="微軟正黑體"/>
              </a:rPr>
              <a:t>開始或結束點</a:t>
            </a:r>
            <a:endParaRPr lang="en-US" sz="1500" b="0" strike="noStrike" spc="-1">
              <a:solidFill>
                <a:srgbClr val="000000"/>
              </a:solidFill>
              <a:latin typeface="Calibri"/>
            </a:endParaRPr>
          </a:p>
        </p:txBody>
      </p:sp>
      <p:sp>
        <p:nvSpPr>
          <p:cNvPr id="2976" name="文字方塊 12"/>
          <p:cNvSpPr/>
          <p:nvPr/>
        </p:nvSpPr>
        <p:spPr>
          <a:xfrm>
            <a:off x="5510880" y="2833560"/>
            <a:ext cx="6012720" cy="191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上方</a:t>
            </a:r>
            <a:r>
              <a:rPr lang="en-US" sz="1800" b="1"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若本作業為系統交易請輸入該系統的交易代碼</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中間區塊</a:t>
            </a:r>
            <a:r>
              <a:rPr lang="en-US" sz="1800" b="1"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動作</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作業</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系統交易 的名稱</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左下方</a:t>
            </a:r>
            <a:r>
              <a:rPr lang="en-US" sz="1800" b="1" strike="noStrike" spc="-1">
                <a:solidFill>
                  <a:srgbClr val="C00000"/>
                </a:solidFill>
                <a:latin typeface="微軟正黑體"/>
                <a:ea typeface="微軟正黑體"/>
              </a:rPr>
              <a:t>:</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此處請輸入系統名稱</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若非系統交易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請留空白</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右下方</a:t>
            </a:r>
            <a:r>
              <a:rPr lang="en-US" sz="1800" b="1" strike="noStrike" spc="-1">
                <a:solidFill>
                  <a:srgbClr val="C00000"/>
                </a:solidFill>
                <a:latin typeface="微軟正黑體"/>
                <a:ea typeface="微軟正黑體"/>
              </a:rPr>
              <a:t>:</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有自動化程序</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請輸入自動</a:t>
            </a:r>
            <a:endParaRPr lang="en-US" sz="1800" b="0" strike="noStrike" spc="-1">
              <a:solidFill>
                <a:srgbClr val="000000"/>
              </a:solidFill>
              <a:latin typeface="Calibri"/>
            </a:endParaRPr>
          </a:p>
          <a:p>
            <a:pPr defTabSz="457200">
              <a:lnSpc>
                <a:spcPct val="100000"/>
              </a:lnSpc>
            </a:pPr>
            <a:endParaRPr lang="en-US" sz="1800" b="0" strike="noStrike" spc="-1">
              <a:solidFill>
                <a:srgbClr val="000000"/>
              </a:solidFill>
              <a:latin typeface="Calibri"/>
            </a:endParaRPr>
          </a:p>
        </p:txBody>
      </p:sp>
      <p:sp>
        <p:nvSpPr>
          <p:cNvPr id="2977" name="文字方塊 15"/>
          <p:cNvSpPr/>
          <p:nvPr/>
        </p:nvSpPr>
        <p:spPr>
          <a:xfrm>
            <a:off x="5510880" y="2296440"/>
            <a:ext cx="33890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流程起始點或結束點</a:t>
            </a:r>
            <a:endParaRPr lang="en-US" sz="1800" b="0" strike="noStrike" spc="-1">
              <a:solidFill>
                <a:srgbClr val="000000"/>
              </a:solidFill>
              <a:latin typeface="Calibri"/>
            </a:endParaRPr>
          </a:p>
        </p:txBody>
      </p:sp>
      <p:sp>
        <p:nvSpPr>
          <p:cNvPr id="2978" name="文字方塊 24"/>
          <p:cNvSpPr/>
          <p:nvPr/>
        </p:nvSpPr>
        <p:spPr>
          <a:xfrm>
            <a:off x="2548800" y="1451160"/>
            <a:ext cx="5504760" cy="48744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本區域請輸入部門或是工作職掌</a:t>
            </a:r>
            <a:r>
              <a:rPr lang="en-US" sz="1600" b="0" strike="noStrike" spc="-1">
                <a:solidFill>
                  <a:schemeClr val="dk1"/>
                </a:solidFill>
                <a:latin typeface="微軟正黑體"/>
                <a:ea typeface="微軟正黑體"/>
              </a:rPr>
              <a:t>. </a:t>
            </a:r>
            <a:endParaRPr lang="en-US" sz="1600" b="0" strike="noStrike" spc="-1">
              <a:solidFill>
                <a:srgbClr val="000000"/>
              </a:solidFill>
              <a:latin typeface="Calibri"/>
            </a:endParaRPr>
          </a:p>
          <a:p>
            <a:pPr defTabSz="457200">
              <a:lnSpc>
                <a:spcPct val="100000"/>
              </a:lnSpc>
            </a:pPr>
            <a:r>
              <a:rPr lang="zh-TW" sz="1600" b="0" strike="noStrike" spc="-1">
                <a:solidFill>
                  <a:schemeClr val="dk1"/>
                </a:solidFill>
                <a:latin typeface="微軟正黑體"/>
                <a:ea typeface="微軟正黑體"/>
              </a:rPr>
              <a:t>例如</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業務處 或 業務處</a:t>
            </a:r>
            <a:r>
              <a:rPr lang="en-US" sz="1600" b="0" strike="noStrike" spc="-1">
                <a:solidFill>
                  <a:schemeClr val="dk1"/>
                </a:solidFill>
                <a:latin typeface="微軟正黑體"/>
                <a:ea typeface="微軟正黑體"/>
              </a:rPr>
              <a:t>/</a:t>
            </a:r>
            <a:r>
              <a:rPr lang="zh-TW" sz="1600" b="0" strike="noStrike" spc="-1">
                <a:solidFill>
                  <a:schemeClr val="dk1"/>
                </a:solidFill>
                <a:latin typeface="微軟正黑體"/>
                <a:ea typeface="微軟正黑體"/>
              </a:rPr>
              <a:t>業務經理 或 業務人員</a:t>
            </a:r>
            <a:endParaRPr lang="en-US" sz="1600" b="0" strike="noStrike" spc="-1">
              <a:solidFill>
                <a:srgbClr val="000000"/>
              </a:solidFill>
              <a:latin typeface="Calibri"/>
            </a:endParaRPr>
          </a:p>
        </p:txBody>
      </p:sp>
      <p:sp>
        <p:nvSpPr>
          <p:cNvPr id="2979" name="文字方塊 25"/>
          <p:cNvSpPr/>
          <p:nvPr/>
        </p:nvSpPr>
        <p:spPr>
          <a:xfrm>
            <a:off x="240480" y="1840680"/>
            <a:ext cx="206856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本區塊用來說明本流程動作所需要的資料來源</a:t>
            </a:r>
            <a:r>
              <a:rPr lang="en-US" sz="1600" b="0" strike="noStrike" spc="-1">
                <a:solidFill>
                  <a:schemeClr val="dk1"/>
                </a:solidFill>
                <a:latin typeface="微軟正黑體"/>
                <a:ea typeface="微軟正黑體"/>
              </a:rPr>
              <a:t> 包含前置作業流程, </a:t>
            </a:r>
            <a:r>
              <a:rPr lang="zh-TW" sz="1600" b="0" strike="noStrike" spc="-1">
                <a:solidFill>
                  <a:schemeClr val="dk1"/>
                </a:solidFill>
                <a:latin typeface="微軟正黑體"/>
                <a:ea typeface="微軟正黑體"/>
              </a:rPr>
              <a:t>文件等</a:t>
            </a:r>
            <a:endParaRPr lang="en-US" sz="1600" b="0" strike="noStrike" spc="-1">
              <a:solidFill>
                <a:srgbClr val="000000"/>
              </a:solidFill>
              <a:latin typeface="Calibri"/>
            </a:endParaRPr>
          </a:p>
        </p:txBody>
      </p:sp>
      <p:sp>
        <p:nvSpPr>
          <p:cNvPr id="2980" name="文字方塊 26"/>
          <p:cNvSpPr/>
          <p:nvPr/>
        </p:nvSpPr>
        <p:spPr>
          <a:xfrm>
            <a:off x="12055680" y="1856160"/>
            <a:ext cx="208584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本區塊用來說明本流程動作所會產出的結果</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包含後續作業流程</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文件等</a:t>
            </a:r>
            <a:endParaRPr lang="en-US" sz="1600" b="0" strike="noStrike" spc="-1">
              <a:solidFill>
                <a:srgbClr val="000000"/>
              </a:solidFill>
              <a:latin typeface="Calibri"/>
            </a:endParaRPr>
          </a:p>
        </p:txBody>
      </p:sp>
      <p:graphicFrame>
        <p:nvGraphicFramePr>
          <p:cNvPr id="2981" name="表格 30"/>
          <p:cNvGraphicFramePr/>
          <p:nvPr/>
        </p:nvGraphicFramePr>
        <p:xfrm>
          <a:off x="3242520" y="3002400"/>
          <a:ext cx="1797120" cy="1238400"/>
        </p:xfrm>
        <a:graphic>
          <a:graphicData uri="http://schemas.openxmlformats.org/drawingml/2006/table">
            <a:tbl>
              <a:tblPr/>
              <a:tblGrid>
                <a:gridCol w="898560"/>
                <a:gridCol w="898560"/>
              </a:tblGrid>
              <a:tr h="336600">
                <a:tc gridSpan="2">
                  <a:txBody>
                    <a:bodyPr/>
                    <a:lstStyle/>
                    <a:p>
                      <a:pPr algn="ctr" defTabSz="1371600">
                        <a:lnSpc>
                          <a:spcPct val="100000"/>
                        </a:lnSpc>
                      </a:pPr>
                      <a:r>
                        <a:rPr lang="en-US" sz="1500" b="0" strike="noStrike" spc="-1">
                          <a:solidFill>
                            <a:schemeClr val="dk1"/>
                          </a:solidFill>
                          <a:latin typeface="Calibri"/>
                        </a:rPr>
                        <a:t>BP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565200">
                <a:tc gridSpan="2">
                  <a:txBody>
                    <a:bodyPr/>
                    <a:lstStyle/>
                    <a:p>
                      <a:pPr algn="ctr" defTabSz="1371600">
                        <a:lnSpc>
                          <a:spcPct val="100000"/>
                        </a:lnSpc>
                      </a:pPr>
                      <a:r>
                        <a:rPr lang="zh-TW" sz="1500" b="0" strike="noStrike" spc="-1">
                          <a:solidFill>
                            <a:schemeClr val="dk1"/>
                          </a:solidFill>
                          <a:latin typeface="Calibri"/>
                        </a:rPr>
                        <a:t>交易名稱</a:t>
                      </a:r>
                      <a:endParaRPr lang="en-US" sz="1500" b="0" strike="noStrike" spc="-1">
                        <a:solidFill>
                          <a:srgbClr val="000000"/>
                        </a:solidFill>
                        <a:latin typeface="Calibri"/>
                      </a:endParaRPr>
                    </a:p>
                    <a:p>
                      <a:pPr algn="ctr" defTabSz="1371600">
                        <a:lnSpc>
                          <a:spcPct val="100000"/>
                        </a:lnSpc>
                      </a:pPr>
                      <a:r>
                        <a:rPr lang="zh-TW" sz="1500" b="0" strike="noStrike" spc="-1">
                          <a:solidFill>
                            <a:schemeClr val="dk1"/>
                          </a:solidFill>
                          <a:latin typeface="Calibri"/>
                        </a:rPr>
                        <a:t>作業</a:t>
                      </a:r>
                      <a:r>
                        <a:rPr lang="en-US" sz="1500" b="0" strike="noStrike" spc="-1">
                          <a:solidFill>
                            <a:schemeClr val="dk1"/>
                          </a:solidFill>
                          <a:latin typeface="Calibri"/>
                        </a:rPr>
                        <a:t>/</a:t>
                      </a:r>
                      <a:r>
                        <a:rPr lang="zh-TW" sz="1500" b="0" strike="noStrike" spc="-1">
                          <a:solidFill>
                            <a:schemeClr val="dk1"/>
                          </a:solidFill>
                          <a:latin typeface="Calibri"/>
                        </a:rPr>
                        <a:t>動作</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36600">
                <a:tc>
                  <a:txBody>
                    <a:bodyPr/>
                    <a:lstStyle/>
                    <a:p>
                      <a:pPr algn="ctr" defTabSz="1371600">
                        <a:lnSpc>
                          <a:spcPct val="100000"/>
                        </a:lnSpc>
                      </a:pPr>
                      <a:r>
                        <a:rPr lang="en-US" sz="1500" b="0" strike="noStrike" spc="-1">
                          <a:solidFill>
                            <a:schemeClr val="dk1"/>
                          </a:solidFill>
                          <a:latin typeface="Calibri"/>
                        </a:rPr>
                        <a:t>SAP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defTabSz="1371600">
                        <a:lnSpc>
                          <a:spcPct val="100000"/>
                        </a:lnSpc>
                      </a:pPr>
                      <a:r>
                        <a:rPr lang="zh-TW" sz="1500" b="0" strike="noStrike" spc="-1">
                          <a:solidFill>
                            <a:schemeClr val="dk1"/>
                          </a:solidFill>
                          <a:latin typeface="Calibri"/>
                        </a:rPr>
                        <a:t>自動</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r>
            </a:tbl>
          </a:graphicData>
        </a:graphic>
      </p:graphicFrame>
      <p:sp>
        <p:nvSpPr>
          <p:cNvPr id="2982" name="流程圖: 預設處理作業 21"/>
          <p:cNvSpPr/>
          <p:nvPr/>
        </p:nvSpPr>
        <p:spPr>
          <a:xfrm>
            <a:off x="3242520" y="4808880"/>
            <a:ext cx="1812240" cy="1237680"/>
          </a:xfrm>
          <a:prstGeom prst="flowChartPredefined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lnSpc>
                <a:spcPct val="100000"/>
              </a:lnSpc>
            </a:pPr>
            <a:r>
              <a:rPr lang="en-US" sz="1500" b="0" strike="noStrike" spc="-1">
                <a:solidFill>
                  <a:schemeClr val="dk1"/>
                </a:solidFill>
                <a:latin typeface="微軟正黑體"/>
                <a:ea typeface="微軟正黑體"/>
              </a:rPr>
              <a:t>XXX-001-02</a:t>
            </a:r>
            <a:endParaRPr lang="en-US" sz="1500" b="0" strike="noStrike" spc="-1">
              <a:solidFill>
                <a:srgbClr val="000000"/>
              </a:solidFill>
              <a:latin typeface="Calibri"/>
            </a:endParaRPr>
          </a:p>
          <a:p>
            <a:pPr algn="ctr" defTabSz="457200">
              <a:lnSpc>
                <a:spcPct val="100000"/>
              </a:lnSpc>
            </a:pPr>
            <a:r>
              <a:rPr lang="en-US" sz="1500" b="0" strike="noStrike" spc="-1">
                <a:solidFill>
                  <a:schemeClr val="dk1"/>
                </a:solidFill>
                <a:latin typeface="微軟正黑體"/>
                <a:ea typeface="微軟正黑體"/>
              </a:rPr>
              <a:t>XXX</a:t>
            </a:r>
            <a:r>
              <a:rPr lang="zh-TW" sz="1500" b="0" strike="noStrike" spc="-1">
                <a:solidFill>
                  <a:schemeClr val="dk1"/>
                </a:solidFill>
                <a:latin typeface="微軟正黑體"/>
                <a:ea typeface="微軟正黑體"/>
              </a:rPr>
              <a:t>作業流程</a:t>
            </a:r>
            <a:endParaRPr lang="en-US" sz="1500" b="0" strike="noStrike" spc="-1">
              <a:solidFill>
                <a:srgbClr val="000000"/>
              </a:solidFill>
              <a:latin typeface="Calibri"/>
            </a:endParaRPr>
          </a:p>
        </p:txBody>
      </p:sp>
      <p:sp>
        <p:nvSpPr>
          <p:cNvPr id="2983" name="流程圖: 文件 42"/>
          <p:cNvSpPr/>
          <p:nvPr/>
        </p:nvSpPr>
        <p:spPr>
          <a:xfrm>
            <a:off x="3242520" y="6336000"/>
            <a:ext cx="1841400" cy="1237680"/>
          </a:xfrm>
          <a:prstGeom prst="flowChartDocument">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產出或投入</a:t>
            </a:r>
            <a:endParaRPr lang="en-US" sz="1500" b="0" strike="noStrike" spc="-1">
              <a:solidFill>
                <a:srgbClr val="000000"/>
              </a:solidFill>
              <a:latin typeface="Calibri"/>
            </a:endParaRPr>
          </a:p>
          <a:p>
            <a:pPr algn="ctr" defTabSz="457200">
              <a:lnSpc>
                <a:spcPct val="100000"/>
              </a:lnSpc>
            </a:pPr>
            <a:r>
              <a:rPr lang="zh-TW" sz="1500" b="0" strike="noStrike" spc="-1">
                <a:solidFill>
                  <a:schemeClr val="dk1"/>
                </a:solidFill>
                <a:latin typeface="微軟正黑體"/>
                <a:ea typeface="微軟正黑體"/>
              </a:rPr>
              <a:t>文件</a:t>
            </a:r>
            <a:r>
              <a:rPr lang="en-US" sz="1500" b="0" strike="noStrike" spc="-1">
                <a:solidFill>
                  <a:schemeClr val="dk1"/>
                </a:solidFill>
                <a:latin typeface="微軟正黑體"/>
                <a:ea typeface="微軟正黑體"/>
              </a:rPr>
              <a:t>/</a:t>
            </a:r>
            <a:r>
              <a:rPr lang="zh-TW" sz="1500" b="0" strike="noStrike" spc="-1">
                <a:solidFill>
                  <a:schemeClr val="dk1"/>
                </a:solidFill>
                <a:latin typeface="微軟正黑體"/>
                <a:ea typeface="微軟正黑體"/>
              </a:rPr>
              <a:t>報表</a:t>
            </a:r>
            <a:r>
              <a:rPr lang="en-US" sz="1500" b="0" strike="noStrike" spc="-1">
                <a:solidFill>
                  <a:schemeClr val="dk1"/>
                </a:solidFill>
                <a:latin typeface="微軟正黑體"/>
                <a:ea typeface="微軟正黑體"/>
              </a:rPr>
              <a:t>/</a:t>
            </a:r>
            <a:r>
              <a:rPr lang="zh-TW" sz="1500" b="0" strike="noStrike" spc="-1">
                <a:solidFill>
                  <a:schemeClr val="dk1"/>
                </a:solidFill>
                <a:latin typeface="微軟正黑體"/>
                <a:ea typeface="微軟正黑體"/>
              </a:rPr>
              <a:t>表單</a:t>
            </a:r>
            <a:endParaRPr lang="en-US" sz="1500" b="0" strike="noStrike" spc="-1">
              <a:solidFill>
                <a:srgbClr val="000000"/>
              </a:solidFill>
              <a:latin typeface="Calibri"/>
            </a:endParaRPr>
          </a:p>
        </p:txBody>
      </p:sp>
      <p:sp>
        <p:nvSpPr>
          <p:cNvPr id="2984" name="文字方塊 46"/>
          <p:cNvSpPr/>
          <p:nvPr/>
        </p:nvSpPr>
        <p:spPr>
          <a:xfrm>
            <a:off x="5568840" y="5289480"/>
            <a:ext cx="41036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於本流程中有關聯的流程編號與名稱</a:t>
            </a:r>
            <a:endParaRPr lang="en-US" sz="1800" b="0" strike="noStrike" spc="-1">
              <a:solidFill>
                <a:srgbClr val="000000"/>
              </a:solidFill>
              <a:latin typeface="Calibri"/>
            </a:endParaRPr>
          </a:p>
        </p:txBody>
      </p:sp>
      <p:sp>
        <p:nvSpPr>
          <p:cNvPr id="2985" name="文字方塊 47"/>
          <p:cNvSpPr/>
          <p:nvPr/>
        </p:nvSpPr>
        <p:spPr>
          <a:xfrm>
            <a:off x="5568840" y="6418440"/>
            <a:ext cx="53132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於本流程中投入或是產出的文件</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報表</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表單名稱</a:t>
            </a:r>
            <a:endParaRPr lang="en-US" sz="1800" b="0" strike="noStrike" spc="-1">
              <a:solidFill>
                <a:srgbClr val="000000"/>
              </a:solidFill>
              <a:latin typeface="Calibri"/>
            </a:endParaRPr>
          </a:p>
        </p:txBody>
      </p:sp>
      <p:sp>
        <p:nvSpPr>
          <p:cNvPr id="2986" name="流程圖: 決策 50"/>
          <p:cNvSpPr/>
          <p:nvPr/>
        </p:nvSpPr>
        <p:spPr>
          <a:xfrm>
            <a:off x="7394040" y="7226640"/>
            <a:ext cx="1841400" cy="1177200"/>
          </a:xfrm>
          <a:prstGeom prst="flowChartDecision">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決策或判斷點</a:t>
            </a:r>
            <a:endParaRPr lang="en-US" sz="1500" b="0" strike="noStrike" spc="-1">
              <a:solidFill>
                <a:srgbClr val="000000"/>
              </a:solidFill>
              <a:latin typeface="Calibri"/>
            </a:endParaRPr>
          </a:p>
        </p:txBody>
      </p:sp>
      <p:sp>
        <p:nvSpPr>
          <p:cNvPr id="2987" name="流程圖: 接點 51"/>
          <p:cNvSpPr/>
          <p:nvPr/>
        </p:nvSpPr>
        <p:spPr>
          <a:xfrm>
            <a:off x="7989840" y="8646120"/>
            <a:ext cx="544680" cy="466560"/>
          </a:xfrm>
          <a:prstGeom prst="flowChart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a:solidFill>
                  <a:schemeClr val="dk1"/>
                </a:solidFill>
                <a:latin typeface="微軟正黑體"/>
                <a:ea typeface="微軟正黑體"/>
              </a:rPr>
              <a:t>A</a:t>
            </a:r>
            <a:endParaRPr lang="en-US" sz="1800" b="0" strike="noStrike" spc="-1">
              <a:solidFill>
                <a:srgbClr val="000000"/>
              </a:solidFill>
              <a:latin typeface="Calibri"/>
            </a:endParaRPr>
          </a:p>
        </p:txBody>
      </p:sp>
      <p:sp>
        <p:nvSpPr>
          <p:cNvPr id="2988" name="流程圖: 換頁接點 52"/>
          <p:cNvSpPr/>
          <p:nvPr/>
        </p:nvSpPr>
        <p:spPr>
          <a:xfrm>
            <a:off x="8002440" y="9410400"/>
            <a:ext cx="559800" cy="466560"/>
          </a:xfrm>
          <a:prstGeom prst="flowChartOffpage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a:solidFill>
                  <a:schemeClr val="dk1"/>
                </a:solidFill>
                <a:latin typeface="微軟正黑體"/>
                <a:ea typeface="微軟正黑體"/>
              </a:rPr>
              <a:t>P2</a:t>
            </a:r>
            <a:endParaRPr lang="en-US" sz="1800" b="0" strike="noStrike" spc="-1">
              <a:solidFill>
                <a:srgbClr val="000000"/>
              </a:solidFill>
              <a:latin typeface="Calibri"/>
            </a:endParaRPr>
          </a:p>
        </p:txBody>
      </p:sp>
      <p:sp>
        <p:nvSpPr>
          <p:cNvPr id="2989" name="文字方塊 53"/>
          <p:cNvSpPr/>
          <p:nvPr/>
        </p:nvSpPr>
        <p:spPr>
          <a:xfrm>
            <a:off x="9526680" y="7716240"/>
            <a:ext cx="185580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決策或是判斷點</a:t>
            </a:r>
            <a:endParaRPr lang="en-US" sz="1800" b="0" strike="noStrike" spc="-1">
              <a:solidFill>
                <a:srgbClr val="000000"/>
              </a:solidFill>
              <a:latin typeface="Calibri"/>
            </a:endParaRPr>
          </a:p>
        </p:txBody>
      </p:sp>
      <p:sp>
        <p:nvSpPr>
          <p:cNvPr id="2990" name="文字方塊 54"/>
          <p:cNvSpPr/>
          <p:nvPr/>
        </p:nvSpPr>
        <p:spPr>
          <a:xfrm>
            <a:off x="9571320" y="8696520"/>
            <a:ext cx="206712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同一頁面上的連結點</a:t>
            </a:r>
            <a:endParaRPr lang="en-US" sz="1800" b="0" strike="noStrike" spc="-1">
              <a:solidFill>
                <a:srgbClr val="000000"/>
              </a:solidFill>
              <a:latin typeface="Calibri"/>
            </a:endParaRPr>
          </a:p>
        </p:txBody>
      </p:sp>
      <p:sp>
        <p:nvSpPr>
          <p:cNvPr id="2991" name="文字方塊 55"/>
          <p:cNvSpPr/>
          <p:nvPr/>
        </p:nvSpPr>
        <p:spPr>
          <a:xfrm>
            <a:off x="9571320" y="9410400"/>
            <a:ext cx="206712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換頁之連接點</a:t>
            </a:r>
            <a:endParaRPr lang="en-US" sz="1800" b="0" strike="noStrike" spc="-1">
              <a:solidFill>
                <a:srgbClr val="000000"/>
              </a:solidFill>
              <a:latin typeface="Calibri"/>
            </a:endParaRPr>
          </a:p>
        </p:txBody>
      </p:sp>
      <p:sp>
        <p:nvSpPr>
          <p:cNvPr id="2992" name="文字方塊 21"/>
          <p:cNvSpPr/>
          <p:nvPr/>
        </p:nvSpPr>
        <p:spPr>
          <a:xfrm>
            <a:off x="16660800" y="226440"/>
            <a:ext cx="139140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本區塊之頁次</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日期會自動更新</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日期為最後一次更新日</a:t>
            </a:r>
            <a:endParaRPr lang="en-US" sz="1600" b="0" strike="noStrike" spc="-1">
              <a:solidFill>
                <a:srgbClr val="000000"/>
              </a:solidFill>
              <a:latin typeface="Calibri"/>
            </a:endParaRPr>
          </a:p>
        </p:txBody>
      </p:sp>
      <p:sp>
        <p:nvSpPr>
          <p:cNvPr id="2993" name="文字方塊 53"/>
          <p:cNvSpPr/>
          <p:nvPr/>
        </p:nvSpPr>
        <p:spPr>
          <a:xfrm>
            <a:off x="5545800" y="8023320"/>
            <a:ext cx="1556640" cy="548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說明號碼，位於右上角</a:t>
            </a:r>
            <a:endParaRPr lang="en-US" sz="1800" b="0" strike="noStrike" spc="-1">
              <a:solidFill>
                <a:srgbClr val="000000"/>
              </a:solidFill>
              <a:latin typeface="Calibri"/>
            </a:endParaRPr>
          </a:p>
        </p:txBody>
      </p:sp>
      <p:graphicFrame>
        <p:nvGraphicFramePr>
          <p:cNvPr id="2994" name="表格 30"/>
          <p:cNvGraphicFramePr/>
          <p:nvPr/>
        </p:nvGraphicFramePr>
        <p:xfrm>
          <a:off x="3242520" y="8119440"/>
          <a:ext cx="1797120" cy="1238400"/>
        </p:xfrm>
        <a:graphic>
          <a:graphicData uri="http://schemas.openxmlformats.org/drawingml/2006/table">
            <a:tbl>
              <a:tblPr/>
              <a:tblGrid>
                <a:gridCol w="898560"/>
                <a:gridCol w="898560"/>
              </a:tblGrid>
              <a:tr h="336600">
                <a:tc gridSpan="2">
                  <a:txBody>
                    <a:bodyPr/>
                    <a:lstStyle/>
                    <a:p>
                      <a:pPr algn="ctr" defTabSz="1371600">
                        <a:lnSpc>
                          <a:spcPct val="100000"/>
                        </a:lnSpc>
                      </a:pPr>
                      <a:r>
                        <a:rPr lang="en-US" sz="1500" b="0" strike="noStrike" spc="-1">
                          <a:solidFill>
                            <a:schemeClr val="dk1"/>
                          </a:solidFill>
                          <a:latin typeface="Calibri"/>
                        </a:rPr>
                        <a:t>BP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565200">
                <a:tc gridSpan="2">
                  <a:txBody>
                    <a:bodyPr/>
                    <a:lstStyle/>
                    <a:p>
                      <a:pPr algn="ctr" defTabSz="1371600">
                        <a:lnSpc>
                          <a:spcPct val="100000"/>
                        </a:lnSpc>
                      </a:pPr>
                      <a:r>
                        <a:rPr lang="zh-TW" sz="1500" b="0" strike="noStrike" spc="-1">
                          <a:solidFill>
                            <a:schemeClr val="dk1"/>
                          </a:solidFill>
                          <a:latin typeface="Calibri"/>
                        </a:rPr>
                        <a:t>交易名稱</a:t>
                      </a:r>
                      <a:endParaRPr lang="en-US" sz="1500" b="0" strike="noStrike" spc="-1">
                        <a:solidFill>
                          <a:srgbClr val="000000"/>
                        </a:solidFill>
                        <a:latin typeface="Calibri"/>
                      </a:endParaRPr>
                    </a:p>
                    <a:p>
                      <a:pPr algn="ctr" defTabSz="1371600">
                        <a:lnSpc>
                          <a:spcPct val="100000"/>
                        </a:lnSpc>
                      </a:pPr>
                      <a:r>
                        <a:rPr lang="zh-TW" sz="1500" b="0" strike="noStrike" spc="-1">
                          <a:solidFill>
                            <a:schemeClr val="dk1"/>
                          </a:solidFill>
                          <a:latin typeface="Calibri"/>
                        </a:rPr>
                        <a:t>作業</a:t>
                      </a:r>
                      <a:r>
                        <a:rPr lang="en-US" sz="1500" b="0" strike="noStrike" spc="-1">
                          <a:solidFill>
                            <a:schemeClr val="dk1"/>
                          </a:solidFill>
                          <a:latin typeface="Calibri"/>
                        </a:rPr>
                        <a:t>/</a:t>
                      </a:r>
                      <a:r>
                        <a:rPr lang="zh-TW" sz="1500" b="0" strike="noStrike" spc="-1">
                          <a:solidFill>
                            <a:schemeClr val="dk1"/>
                          </a:solidFill>
                          <a:latin typeface="Calibri"/>
                        </a:rPr>
                        <a:t>動作</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36600">
                <a:tc>
                  <a:txBody>
                    <a:bodyPr/>
                    <a:lstStyle/>
                    <a:p>
                      <a:pPr algn="ctr" defTabSz="1371600">
                        <a:lnSpc>
                          <a:spcPct val="100000"/>
                        </a:lnSpc>
                      </a:pPr>
                      <a:r>
                        <a:rPr lang="en-US" sz="1500" b="0" strike="noStrike" spc="-1">
                          <a:solidFill>
                            <a:schemeClr val="dk1"/>
                          </a:solidFill>
                          <a:latin typeface="Calibri"/>
                        </a:rPr>
                        <a:t>SAP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defTabSz="1371600">
                        <a:lnSpc>
                          <a:spcPct val="100000"/>
                        </a:lnSpc>
                      </a:pPr>
                      <a:r>
                        <a:rPr lang="zh-TW" sz="1500" b="0" strike="noStrike" spc="-1">
                          <a:solidFill>
                            <a:schemeClr val="dk1"/>
                          </a:solidFill>
                          <a:latin typeface="Calibri"/>
                        </a:rPr>
                        <a:t>自動</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r>
            </a:tbl>
          </a:graphicData>
        </a:graphic>
      </p:graphicFrame>
      <p:grpSp>
        <p:nvGrpSpPr>
          <p:cNvPr id="2995" name="Group 232"/>
          <p:cNvGrpSpPr/>
          <p:nvPr/>
        </p:nvGrpSpPr>
        <p:grpSpPr>
          <a:xfrm>
            <a:off x="4888080" y="7911720"/>
            <a:ext cx="557280" cy="407880"/>
            <a:chOff x="4888080" y="7911720"/>
            <a:chExt cx="557280" cy="407880"/>
          </a:xfrm>
        </p:grpSpPr>
        <p:sp>
          <p:nvSpPr>
            <p:cNvPr id="2996" name="Oval 233"/>
            <p:cNvSpPr/>
            <p:nvPr/>
          </p:nvSpPr>
          <p:spPr>
            <a:xfrm>
              <a:off x="4888080" y="7911720"/>
              <a:ext cx="410760" cy="407880"/>
            </a:xfrm>
            <a:prstGeom prst="ellipse">
              <a:avLst/>
            </a:prstGeom>
            <a:solidFill>
              <a:schemeClr val="bg1"/>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4050" b="0" strike="noStrike" spc="-1">
                <a:solidFill>
                  <a:schemeClr val="lt1"/>
                </a:solidFill>
                <a:latin typeface="Calibri"/>
              </a:endParaRPr>
            </a:p>
          </p:txBody>
        </p:sp>
        <p:sp>
          <p:nvSpPr>
            <p:cNvPr id="2997" name="TextBox 234"/>
            <p:cNvSpPr/>
            <p:nvPr/>
          </p:nvSpPr>
          <p:spPr>
            <a:xfrm>
              <a:off x="4912560" y="7931520"/>
              <a:ext cx="532800" cy="318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500" b="0" strike="noStrike" spc="-1">
                  <a:solidFill>
                    <a:schemeClr val="dk1"/>
                  </a:solidFill>
                  <a:latin typeface="微軟正黑體"/>
                  <a:ea typeface="微軟正黑體"/>
                </a:rPr>
                <a:t>1</a:t>
              </a:r>
              <a:endParaRPr lang="en-US" sz="1500" b="0" strike="noStrike" spc="-1">
                <a:solidFill>
                  <a:srgbClr val="000000"/>
                </a:solidFill>
                <a:latin typeface="Calibri"/>
              </a:endParaRPr>
            </a:p>
          </p:txBody>
        </p:sp>
      </p:grpSp>
      <p:grpSp>
        <p:nvGrpSpPr>
          <p:cNvPr id="2998" name="Group 4"/>
          <p:cNvGrpSpPr/>
          <p:nvPr/>
        </p:nvGrpSpPr>
        <p:grpSpPr>
          <a:xfrm>
            <a:off x="10674360" y="835920"/>
            <a:ext cx="3404880" cy="417600"/>
            <a:chOff x="10674360" y="835920"/>
            <a:chExt cx="3404880" cy="417600"/>
          </a:xfrm>
        </p:grpSpPr>
        <p:grpSp>
          <p:nvGrpSpPr>
            <p:cNvPr id="2999" name="Group 24"/>
            <p:cNvGrpSpPr/>
            <p:nvPr/>
          </p:nvGrpSpPr>
          <p:grpSpPr>
            <a:xfrm>
              <a:off x="10674360" y="835920"/>
              <a:ext cx="1297080" cy="417600"/>
              <a:chOff x="10674360" y="835920"/>
              <a:chExt cx="1297080" cy="417600"/>
            </a:xfrm>
          </p:grpSpPr>
          <p:sp>
            <p:nvSpPr>
              <p:cNvPr id="3000" name="文字方塊 21"/>
              <p:cNvSpPr/>
              <p:nvPr/>
            </p:nvSpPr>
            <p:spPr>
              <a:xfrm>
                <a:off x="10674360" y="835920"/>
                <a:ext cx="446400" cy="409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a:solidFill>
                      <a:schemeClr val="dk1"/>
                    </a:solidFill>
                    <a:latin typeface="Wingdings"/>
                    <a:ea typeface="Microsoft JhengHei"/>
                  </a:rPr>
                  <a:t></a:t>
                </a:r>
                <a:endParaRPr lang="en-US" sz="2100" b="0" strike="noStrike" spc="-1">
                  <a:solidFill>
                    <a:srgbClr val="000000"/>
                  </a:solidFill>
                  <a:latin typeface="Calibri"/>
                </a:endParaRPr>
              </a:p>
            </p:txBody>
          </p:sp>
          <p:sp>
            <p:nvSpPr>
              <p:cNvPr id="3001" name="文字方塊 22"/>
              <p:cNvSpPr/>
              <p:nvPr/>
            </p:nvSpPr>
            <p:spPr>
              <a:xfrm>
                <a:off x="11027160" y="858960"/>
                <a:ext cx="944280" cy="3945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2000" b="0" strike="noStrike" spc="-1">
                    <a:solidFill>
                      <a:schemeClr val="dk1"/>
                    </a:solidFill>
                    <a:latin typeface="Microsoft JhengHei"/>
                    <a:ea typeface="Microsoft JhengHei"/>
                  </a:rPr>
                  <a:t>新流程</a:t>
                </a:r>
                <a:endParaRPr lang="en-US" sz="2000" b="0" strike="noStrike" spc="-1">
                  <a:solidFill>
                    <a:srgbClr val="000000"/>
                  </a:solidFill>
                  <a:latin typeface="Calibri"/>
                </a:endParaRPr>
              </a:p>
            </p:txBody>
          </p:sp>
        </p:grpSp>
        <p:grpSp>
          <p:nvGrpSpPr>
            <p:cNvPr id="3002" name="Group 31"/>
            <p:cNvGrpSpPr/>
            <p:nvPr/>
          </p:nvGrpSpPr>
          <p:grpSpPr>
            <a:xfrm>
              <a:off x="11982960" y="843840"/>
              <a:ext cx="2096280" cy="409680"/>
              <a:chOff x="11982960" y="843840"/>
              <a:chExt cx="2096280" cy="409680"/>
            </a:xfrm>
          </p:grpSpPr>
          <p:sp>
            <p:nvSpPr>
              <p:cNvPr id="3003" name="文字方塊 23"/>
              <p:cNvSpPr/>
              <p:nvPr/>
            </p:nvSpPr>
            <p:spPr>
              <a:xfrm>
                <a:off x="12371400" y="858960"/>
                <a:ext cx="1707840" cy="3945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2000" b="0" strike="noStrike" spc="-1">
                    <a:solidFill>
                      <a:schemeClr val="dk1"/>
                    </a:solidFill>
                    <a:latin typeface="Microsoft JhengHei"/>
                    <a:ea typeface="Microsoft JhengHei"/>
                  </a:rPr>
                  <a:t>權責單位改變</a:t>
                </a:r>
                <a:endParaRPr lang="en-US" sz="2000" b="0" strike="noStrike" spc="-1">
                  <a:solidFill>
                    <a:srgbClr val="000000"/>
                  </a:solidFill>
                  <a:latin typeface="Calibri"/>
                </a:endParaRPr>
              </a:p>
            </p:txBody>
          </p:sp>
          <p:sp>
            <p:nvSpPr>
              <p:cNvPr id="3004" name="文字方塊 21"/>
              <p:cNvSpPr/>
              <p:nvPr/>
            </p:nvSpPr>
            <p:spPr>
              <a:xfrm>
                <a:off x="11982960" y="843840"/>
                <a:ext cx="446400" cy="409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a:solidFill>
                      <a:schemeClr val="dk1"/>
                    </a:solidFill>
                    <a:latin typeface="Wingdings"/>
                    <a:ea typeface="Microsoft JhengHei"/>
                  </a:rPr>
                  <a:t></a:t>
                </a:r>
                <a:endParaRPr lang="en-US" sz="2100" b="0" strike="noStrike" spc="-1">
                  <a:solidFill>
                    <a:srgbClr val="000000"/>
                  </a:solidFill>
                  <a:latin typeface="Calibri"/>
                </a:endParaRPr>
              </a:p>
            </p:txBody>
          </p:sp>
        </p:grpSp>
      </p:grpSp>
      <p:sp>
        <p:nvSpPr>
          <p:cNvPr id="3005" name="TextBox 36"/>
          <p:cNvSpPr/>
          <p:nvPr/>
        </p:nvSpPr>
        <p:spPr>
          <a:xfrm>
            <a:off x="2521800" y="811440"/>
            <a:ext cx="8244000" cy="45540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2400" b="1" strike="noStrike" spc="-1">
                <a:solidFill>
                  <a:schemeClr val="dk1"/>
                </a:solidFill>
                <a:latin typeface="Microsoft JhengHei"/>
                <a:ea typeface="Microsoft JhengHei"/>
              </a:rPr>
              <a:t>本區域請輸入”流程編碼”與 “流程名稱”</a:t>
            </a:r>
            <a:endParaRPr lang="en-US" sz="2400" b="0" strike="noStrike" spc="-1">
              <a:solidFill>
                <a:srgbClr val="000000"/>
              </a:solidFill>
              <a:latin typeface="Calibri"/>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sld>
</file>

<file path=ppt/theme/theme1.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6.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16105</TotalTime>
  <Words>615</Words>
  <Application>Collabora_Office/23.05.5.4$Linux_X86_64 LibreOffice_project/1681200a96e5ffa1bee996c23ec760042f91abfa</Application>
  <PresentationFormat>自訂</PresentationFormat>
  <Paragraphs>151</Paragraphs>
  <Slides>7</Slides>
  <Notes>3</Notes>
  <HiddenSlides>0</HiddenSlides>
  <MMClips>0</MMClips>
  <ScaleCrop>false</ScaleCrop>
  <HeadingPairs>
    <vt:vector size="4" baseType="variant">
      <vt:variant>
        <vt:lpstr>佈景主題</vt:lpstr>
      </vt:variant>
      <vt:variant>
        <vt:i4>5</vt:i4>
      </vt:variant>
      <vt:variant>
        <vt:lpstr>投影片標題</vt:lpstr>
      </vt:variant>
      <vt:variant>
        <vt:i4>7</vt:i4>
      </vt:variant>
    </vt:vector>
  </HeadingPairs>
  <TitlesOfParts>
    <vt:vector size="12" baseType="lpstr">
      <vt:lpstr>Office 2013 - 2022 Theme</vt:lpstr>
      <vt:lpstr>Office 2013 - 2022 Theme</vt:lpstr>
      <vt:lpstr>Office 2013 - 2022 Theme</vt:lpstr>
      <vt:lpstr>Office 2013 - 2022 Theme</vt:lpstr>
      <vt:lpstr>Office 2013 - 2022 Theme</vt:lpstr>
      <vt:lpstr>投影片 1</vt:lpstr>
      <vt:lpstr>投影片 2</vt:lpstr>
      <vt:lpstr>投影片 3</vt:lpstr>
      <vt:lpstr>投影片 4</vt:lpstr>
      <vt:lpstr>投影片 5</vt:lpstr>
      <vt:lpstr>投影片 6</vt:lpstr>
      <vt:lpstr>投影片 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joy.huang</dc:creator>
  <cp:lastModifiedBy>葉春祥</cp:lastModifiedBy>
  <cp:revision>139</cp:revision>
  <dcterms:created xsi:type="dcterms:W3CDTF">2023-05-31T01:27:04Z</dcterms:created>
  <dcterms:modified xsi:type="dcterms:W3CDTF">2025-07-06T01:04:36Z</dcterms:modified>
  <dc:language>zh-TW</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7</vt:i4>
  </property>
  <property fmtid="{D5CDD505-2E9C-101B-9397-08002B2CF9AE}" pid="3" name="PresentationFormat">
    <vt:lpwstr>Custom</vt:lpwstr>
  </property>
  <property fmtid="{D5CDD505-2E9C-101B-9397-08002B2CF9AE}" pid="4" name="Slides">
    <vt:i4>9</vt:i4>
  </property>
</Properties>
</file>