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39.xml" ContentType="application/vnd.openxmlformats-officedocument.presentationml.slideLayout+xml"/>
  <Override PartName="/ppt/slideLayouts/slideLayout48.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4.xml" ContentType="application/vnd.openxmlformats-officedocument.presentationml.slideMaster+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8.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85" r:id="rId4"/>
    <p:sldMasterId id="2147484467" r:id="rId5"/>
  </p:sldMasterIdLst>
  <p:notesMasterIdLst>
    <p:notesMasterId r:id="rId12"/>
  </p:notesMasterIdLst>
  <p:sldIdLst>
    <p:sldId id="256" r:id="rId6"/>
    <p:sldId id="257" r:id="rId7"/>
    <p:sldId id="258" r:id="rId8"/>
    <p:sldId id="276" r:id="rId9"/>
    <p:sldId id="263" r:id="rId10"/>
    <p:sldId id="264" r:id="rId11"/>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3" autoAdjust="0"/>
    <p:restoredTop sz="94688" autoAdjust="0"/>
  </p:normalViewPr>
  <p:slideViewPr>
    <p:cSldViewPr>
      <p:cViewPr>
        <p:scale>
          <a:sx n="44" d="100"/>
          <a:sy n="44" d="100"/>
        </p:scale>
        <p:origin x="-588" y="-204"/>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9961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40760"/>
        </p:xfrm>
        <a:graphic>
          <a:graphicData uri="http://schemas.openxmlformats.org/drawingml/2006/table">
            <a:tbl>
              <a:tblPr/>
              <a:tblGrid>
                <a:gridCol w="2311200"/>
                <a:gridCol w="1188936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pic>
        <p:nvPicPr>
          <p:cNvPr id="1431" name="Google Shape;37;p9" descr="A red and black logo&#10;&#10;Description automatically generated"/>
          <p:cNvPicPr/>
          <p:nvPr/>
        </p:nvPicPr>
        <p:blipFill>
          <a:blip r:embed="rId14"/>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2011" name="Google Shape;37;p9" descr="A red and black logo&#10;&#10;Description automatically generated"/>
          <p:cNvPicPr/>
          <p:nvPr/>
        </p:nvPicPr>
        <p:blipFill>
          <a:blip r:embed="rId14"/>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smtClean="0">
                <a:solidFill>
                  <a:schemeClr val="dk1"/>
                </a:solidFill>
                <a:latin typeface="Microsoft JhengHei"/>
                <a:ea typeface="Microsoft JhengHei"/>
              </a:rPr>
              <a:t>2025/07/01</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smtClean="0">
                <a:solidFill>
                  <a:schemeClr val="dk1"/>
                </a:solidFill>
                <a:latin typeface="Microsoft JhengHei"/>
                <a:ea typeface="Microsoft JhengHei"/>
              </a:rPr>
              <a:t>MM-IM-0160</a:t>
            </a:r>
            <a:endParaRPr lang="en-US" sz="3600" b="0" strike="noStrike" spc="-1" dirty="0">
              <a:solidFill>
                <a:srgbClr val="000000"/>
              </a:solidFill>
              <a:latin typeface="Calibri"/>
            </a:endParaRPr>
          </a:p>
        </p:txBody>
      </p:sp>
      <p:sp>
        <p:nvSpPr>
          <p:cNvPr id="2859" name="矩形 1"/>
          <p:cNvSpPr/>
          <p:nvPr/>
        </p:nvSpPr>
        <p:spPr>
          <a:xfrm>
            <a:off x="843480" y="717912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altLang="en-US" sz="3600" spc="-1" dirty="0" smtClean="0">
                <a:solidFill>
                  <a:schemeClr val="dk1"/>
                </a:solidFill>
                <a:latin typeface="Microsoft JhengHei"/>
                <a:ea typeface="Microsoft JhengHei"/>
              </a:rPr>
              <a:t>品管材料分色流程</a:t>
            </a:r>
            <a:endParaRPr lang="en-US" sz="3600" b="0" strike="noStrike" spc="-1" dirty="0">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640397"/>
        </p:xfrm>
        <a:graphic>
          <a:graphicData uri="http://schemas.openxmlformats.org/drawingml/2006/table">
            <a:tbl>
              <a:tblPr/>
              <a:tblGrid>
                <a:gridCol w="2061360"/>
                <a:gridCol w="2061360"/>
                <a:gridCol w="8327880"/>
                <a:gridCol w="1423080"/>
                <a:gridCol w="634680"/>
                <a:gridCol w="1192320"/>
                <a:gridCol w="576720"/>
                <a:gridCol w="1240560"/>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a:solidFill>
                            <a:schemeClr val="lt1"/>
                          </a:solidFill>
                          <a:latin typeface="Microsoft JhengHei"/>
                          <a:ea typeface="Microsoft JhengHei"/>
                        </a:rPr>
                        <a:t> To be_Business Process</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創建日期</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a:t>
                      </a:r>
                      <a:r>
                        <a:rPr lang="en-US" sz="1800" b="1" strike="noStrike" spc="-1" dirty="0" smtClean="0">
                          <a:solidFill>
                            <a:schemeClr val="lt1"/>
                          </a:solidFill>
                          <a:latin typeface="Microsoft JhengHei"/>
                          <a:ea typeface="Microsoft JhengHei"/>
                        </a:rPr>
                        <a:t>2025/07/01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altLang="zh-TW" sz="1800" b="0" strike="noStrike" spc="-1" dirty="0" smtClean="0">
                          <a:solidFill>
                            <a:srgbClr val="000000"/>
                          </a:solidFill>
                          <a:latin typeface="Calibri"/>
                        </a:rPr>
                        <a:t>DSIT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 </a:t>
                      </a:r>
                      <a:r>
                        <a:rPr lang="en-US" sz="1800" b="1" strike="noStrike" spc="-1" dirty="0" smtClean="0">
                          <a:solidFill>
                            <a:schemeClr val="dk1"/>
                          </a:solidFill>
                          <a:latin typeface="Microsoft JhengHei"/>
                          <a:ea typeface="Microsoft JhengHei"/>
                        </a:rPr>
                        <a:t>v2.0</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graphicFrame>
        <p:nvGraphicFramePr>
          <p:cNvPr id="2861" name="Google Shape;191;p2"/>
          <p:cNvGraphicFramePr/>
          <p:nvPr/>
        </p:nvGraphicFramePr>
        <p:xfrm>
          <a:off x="366120" y="3155400"/>
          <a:ext cx="17517960" cy="3195196"/>
        </p:xfrm>
        <a:graphic>
          <a:graphicData uri="http://schemas.openxmlformats.org/drawingml/2006/table">
            <a:tbl>
              <a:tblPr/>
              <a:tblGrid>
                <a:gridCol w="2061360"/>
                <a:gridCol w="2061360"/>
                <a:gridCol w="8327880"/>
                <a:gridCol w="3269880"/>
                <a:gridCol w="17974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gridCol w="2066760"/>
                <a:gridCol w="1797480"/>
                <a:gridCol w="1932120"/>
                <a:gridCol w="1932120"/>
                <a:gridCol w="1932120"/>
                <a:gridCol w="1932120"/>
                <a:gridCol w="1932120"/>
                <a:gridCol w="1932120"/>
              </a:tblGrid>
              <a:tr h="504000">
                <a:tc>
                  <a:txBody>
                    <a:bodyPr/>
                    <a:lstStyle/>
                    <a:p>
                      <a:pPr defTabSz="1371600">
                        <a:lnSpc>
                          <a:spcPct val="150000"/>
                        </a:lnSpc>
                        <a:tabLst>
                          <a:tab pos="0" algn="l"/>
                        </a:tabLst>
                      </a:pPr>
                      <a:r>
                        <a:rPr lang="zh-TW" sz="1800" b="1" strike="noStrike" spc="-1" dirty="0">
                          <a:solidFill>
                            <a:schemeClr val="lt1"/>
                          </a:solidFill>
                          <a:latin typeface="Microsoft JhengHei"/>
                          <a:ea typeface="Microsoft JhengHei"/>
                        </a:rPr>
                        <a:t>機密等級</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r>
            </a:tbl>
          </a:graphicData>
        </a:graphic>
      </p:graphicFrame>
      <p:graphicFrame>
        <p:nvGraphicFramePr>
          <p:cNvPr id="2863" name="Google Shape;193;p2"/>
          <p:cNvGraphicFramePr/>
          <p:nvPr/>
        </p:nvGraphicFramePr>
        <p:xfrm>
          <a:off x="366120" y="6835320"/>
          <a:ext cx="17517600" cy="3237995"/>
        </p:xfrm>
        <a:graphic>
          <a:graphicData uri="http://schemas.openxmlformats.org/drawingml/2006/table">
            <a:tbl>
              <a:tblPr/>
              <a:tblGrid>
                <a:gridCol w="2045520"/>
                <a:gridCol w="2066760"/>
                <a:gridCol w="8024760"/>
                <a:gridCol w="2861280"/>
                <a:gridCol w="25192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姓名 與 職稱</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bl>
          </a:graphicData>
        </a:graphic>
      </p:graphicFrame>
      <p:sp>
        <p:nvSpPr>
          <p:cNvPr id="2864" name="TextBox 1"/>
          <p:cNvSpPr/>
          <p:nvPr/>
        </p:nvSpPr>
        <p:spPr>
          <a:xfrm>
            <a:off x="2521800" y="811440"/>
            <a:ext cx="8244000" cy="4602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altLang="zh-TW" sz="2400" spc="-1" dirty="0" smtClean="0">
                <a:solidFill>
                  <a:schemeClr val="dk1"/>
                </a:solidFill>
                <a:latin typeface="Microsoft JhengHei"/>
                <a:ea typeface="Microsoft JhengHei"/>
              </a:rPr>
              <a:t>MM-MA-0160  </a:t>
            </a:r>
            <a:r>
              <a:rPr lang="zh-TW" altLang="en-US" sz="2400" spc="-1" dirty="0" smtClean="0">
                <a:solidFill>
                  <a:schemeClr val="dk1"/>
                </a:solidFill>
                <a:latin typeface="Microsoft JhengHei"/>
                <a:ea typeface="Microsoft JhengHei"/>
              </a:rPr>
              <a:t>品管材料分色流程</a:t>
            </a:r>
            <a:endParaRPr lang="en-US" sz="2400" b="0" strike="noStrike" spc="-1" dirty="0">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4" name="TextBox 53">
            <a:extLst>
              <a:ext uri="{FF2B5EF4-FFF2-40B4-BE49-F238E27FC236}">
                <a16:creationId xmlns="" xmlns:a16="http://schemas.microsoft.com/office/drawing/2014/main" id="{F4F7E849-8B76-341E-4159-14E9AAC91F70}"/>
              </a:ext>
            </a:extLst>
          </p:cNvPr>
          <p:cNvSpPr txBox="1"/>
          <p:nvPr/>
        </p:nvSpPr>
        <p:spPr>
          <a:xfrm>
            <a:off x="14380626" y="1981846"/>
            <a:ext cx="3594197" cy="3185487"/>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品保人員會開發採購色卡進行對色檢驗，當對色</a:t>
            </a:r>
            <a:r>
              <a:rPr lang="en-US" altLang="zh-TW" dirty="0"/>
              <a:t>OK</a:t>
            </a:r>
            <a:r>
              <a:rPr lang="zh-TW" altLang="en-US" dirty="0"/>
              <a:t>則允收判定。</a:t>
            </a:r>
            <a:endParaRPr lang="en-US" altLang="zh-TW" dirty="0"/>
          </a:p>
          <a:p>
            <a:pPr marL="342900" indent="-342900">
              <a:buFont typeface="+mj-lt"/>
              <a:buAutoNum type="arabicPeriod"/>
            </a:pPr>
            <a:r>
              <a:rPr lang="zh-TW" altLang="en-US" dirty="0"/>
              <a:t>品保人員依據倉管提供的入料色進行分色分組。</a:t>
            </a:r>
            <a:endParaRPr lang="en-US" altLang="zh-TW" dirty="0"/>
          </a:p>
          <a:p>
            <a:pPr marL="342900" indent="-342900">
              <a:buFont typeface="+mj-lt"/>
              <a:buAutoNum type="arabicPeriod"/>
            </a:pPr>
            <a:r>
              <a:rPr lang="zh-TW" altLang="en-US" dirty="0"/>
              <a:t>分色結果交給倉管將分標示於色卡上。</a:t>
            </a:r>
            <a:endParaRPr lang="en-US" altLang="zh-TW" dirty="0"/>
          </a:p>
          <a:p>
            <a:pPr marL="342900" indent="-342900">
              <a:buFont typeface="+mj-lt"/>
              <a:buAutoNum type="arabicPeriod"/>
            </a:pPr>
            <a:r>
              <a:rPr lang="zh-TW" altLang="en-US" dirty="0"/>
              <a:t>倉管人員依據分批領料單去執行配色分組</a:t>
            </a:r>
            <a:r>
              <a:rPr lang="en-US" altLang="zh-TW" dirty="0"/>
              <a:t>(</a:t>
            </a:r>
            <a:r>
              <a:rPr lang="zh-TW" altLang="en-US" dirty="0"/>
              <a:t>分色通知單</a:t>
            </a:r>
            <a:r>
              <a:rPr lang="en-US" altLang="zh-TW" dirty="0"/>
              <a:t>)</a:t>
            </a:r>
            <a:r>
              <a:rPr lang="zh-TW" altLang="en-US" dirty="0"/>
              <a:t>、並列印列印分色通知單。</a:t>
            </a:r>
          </a:p>
          <a:p>
            <a:endParaRPr lang="zh-TW" altLang="en-US" dirty="0"/>
          </a:p>
        </p:txBody>
      </p:sp>
      <p:sp>
        <p:nvSpPr>
          <p:cNvPr id="4" name="文字方塊 3">
            <a:extLst>
              <a:ext uri="{FF2B5EF4-FFF2-40B4-BE49-F238E27FC236}">
                <a16:creationId xmlns="" xmlns:a16="http://schemas.microsoft.com/office/drawing/2014/main" id="{83E6F622-2FBE-CC67-50FE-4ABD7D8B9696}"/>
              </a:ext>
            </a:extLst>
          </p:cNvPr>
          <p:cNvSpPr txBox="1"/>
          <p:nvPr/>
        </p:nvSpPr>
        <p:spPr>
          <a:xfrm>
            <a:off x="2351316" y="820210"/>
            <a:ext cx="7218711" cy="415498"/>
          </a:xfrm>
          <a:prstGeom prst="rect">
            <a:avLst/>
          </a:prstGeom>
          <a:noFill/>
        </p:spPr>
        <p:txBody>
          <a:bodyPr wrap="square" lIns="137160" tIns="68580" rIns="137160" bIns="68580">
            <a:spAutoFit/>
          </a:bodyPr>
          <a:lstStyle/>
          <a:p>
            <a:pPr eaLnBrk="0" hangingPunct="0"/>
            <a:r>
              <a:rPr lang="de-DE" altLang="zh-TW" b="1" dirty="0" smtClean="0">
                <a:latin typeface="微軟正黑體" panose="020B0604030504040204" pitchFamily="34" charset="-120"/>
                <a:ea typeface="微軟正黑體" panose="020B0604030504040204" pitchFamily="34" charset="-120"/>
                <a:sym typeface="Microsoft JhengHei"/>
              </a:rPr>
              <a:t>MM-IM-0160</a:t>
            </a:r>
            <a:r>
              <a:rPr lang="zh-TW" altLang="en-US" b="1" dirty="0" smtClean="0">
                <a:latin typeface="微軟正黑體" panose="020B0604030504040204" pitchFamily="34" charset="-120"/>
                <a:ea typeface="微軟正黑體" panose="020B0604030504040204" pitchFamily="34" charset="-120"/>
                <a:sym typeface="Microsoft JhengHei"/>
              </a:rPr>
              <a:t> </a:t>
            </a:r>
            <a:r>
              <a:rPr lang="zh-TW" altLang="de-DE" b="1" dirty="0" smtClean="0">
                <a:latin typeface="微軟正黑體" panose="020B0604030504040204" pitchFamily="34" charset="-120"/>
                <a:ea typeface="微軟正黑體" panose="020B0604030504040204" pitchFamily="34" charset="-120"/>
                <a:sym typeface="Microsoft JhengHei"/>
              </a:rPr>
              <a:t>品</a:t>
            </a:r>
            <a:r>
              <a:rPr lang="zh-TW" altLang="de-DE" b="1" dirty="0">
                <a:latin typeface="微軟正黑體" panose="020B0604030504040204" pitchFamily="34" charset="-120"/>
                <a:ea typeface="微軟正黑體" panose="020B0604030504040204" pitchFamily="34" charset="-120"/>
                <a:sym typeface="Microsoft JhengHei"/>
              </a:rPr>
              <a:t>管材料分色流程</a:t>
            </a:r>
          </a:p>
        </p:txBody>
      </p:sp>
      <p:sp>
        <p:nvSpPr>
          <p:cNvPr id="25" name="流程圖: 結束點 8">
            <a:extLst>
              <a:ext uri="{FF2B5EF4-FFF2-40B4-BE49-F238E27FC236}">
                <a16:creationId xmlns="" xmlns:a16="http://schemas.microsoft.com/office/drawing/2014/main" id="{1FB9514E-6261-C7AC-D58E-6A5F2E6F81FD}"/>
              </a:ext>
            </a:extLst>
          </p:cNvPr>
          <p:cNvSpPr/>
          <p:nvPr/>
        </p:nvSpPr>
        <p:spPr bwMode="auto">
          <a:xfrm>
            <a:off x="12050757" y="8840481"/>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16" name="Straight Connector 284">
            <a:extLst>
              <a:ext uri="{FF2B5EF4-FFF2-40B4-BE49-F238E27FC236}">
                <a16:creationId xmlns="" xmlns:a16="http://schemas.microsoft.com/office/drawing/2014/main" id="{3343F13F-0020-F344-5B28-F9AEB09CA3FA}"/>
              </a:ext>
            </a:extLst>
          </p:cNvPr>
          <p:cNvCxnSpPr>
            <a:cxnSpLocks/>
          </p:cNvCxnSpPr>
          <p:nvPr/>
        </p:nvCxnSpPr>
        <p:spPr>
          <a:xfrm>
            <a:off x="9025689" y="1376688"/>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字方塊 17">
            <a:extLst>
              <a:ext uri="{FF2B5EF4-FFF2-40B4-BE49-F238E27FC236}">
                <a16:creationId xmlns="" xmlns:a16="http://schemas.microsoft.com/office/drawing/2014/main" id="{DE52170D-3194-E094-D743-3842F95326FE}"/>
              </a:ext>
            </a:extLst>
          </p:cNvPr>
          <p:cNvSpPr txBox="1"/>
          <p:nvPr/>
        </p:nvSpPr>
        <p:spPr>
          <a:xfrm>
            <a:off x="9035592" y="1379077"/>
            <a:ext cx="2974476" cy="400110"/>
          </a:xfrm>
          <a:prstGeom prst="rect">
            <a:avLst/>
          </a:prstGeom>
          <a:noFill/>
        </p:spPr>
        <p:txBody>
          <a:bodyPr wrap="square" lIns="137160" tIns="68580" rIns="137160" bIns="68580" rtlCol="0">
            <a:spAutoFit/>
          </a:bodyPr>
          <a:lstStyle/>
          <a:p>
            <a:pPr algn="ctr"/>
            <a:r>
              <a:rPr lang="zh-TW" altLang="en-US" sz="1700" dirty="0"/>
              <a:t>權責主管</a:t>
            </a:r>
          </a:p>
        </p:txBody>
      </p:sp>
      <p:cxnSp>
        <p:nvCxnSpPr>
          <p:cNvPr id="57" name="肘形接點 68">
            <a:extLst>
              <a:ext uri="{FF2B5EF4-FFF2-40B4-BE49-F238E27FC236}">
                <a16:creationId xmlns="" xmlns:a16="http://schemas.microsoft.com/office/drawing/2014/main" id="{8E184E7B-49D4-0B0F-DFF1-32CCB2A9AB0C}"/>
              </a:ext>
            </a:extLst>
          </p:cNvPr>
          <p:cNvCxnSpPr>
            <a:cxnSpLocks/>
            <a:stCxn id="28" idx="2"/>
            <a:endCxn id="23" idx="1"/>
          </p:cNvCxnSpPr>
          <p:nvPr/>
        </p:nvCxnSpPr>
        <p:spPr>
          <a:xfrm rot="16200000" flipH="1">
            <a:off x="7740805" y="6706064"/>
            <a:ext cx="1126447" cy="2270489"/>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 name="肘形接點 68">
            <a:extLst>
              <a:ext uri="{FF2B5EF4-FFF2-40B4-BE49-F238E27FC236}">
                <a16:creationId xmlns="" xmlns:a16="http://schemas.microsoft.com/office/drawing/2014/main" id="{70F961FE-0AA7-D2B8-F257-ECB0C3D45D2D}"/>
              </a:ext>
            </a:extLst>
          </p:cNvPr>
          <p:cNvCxnSpPr>
            <a:cxnSpLocks/>
            <a:stCxn id="8" idx="3"/>
            <a:endCxn id="11" idx="1"/>
          </p:cNvCxnSpPr>
          <p:nvPr/>
        </p:nvCxnSpPr>
        <p:spPr>
          <a:xfrm flipV="1">
            <a:off x="2180027" y="2754653"/>
            <a:ext cx="1081865" cy="380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23" name="表格 30">
            <a:extLst>
              <a:ext uri="{FF2B5EF4-FFF2-40B4-BE49-F238E27FC236}">
                <a16:creationId xmlns="" xmlns:a16="http://schemas.microsoft.com/office/drawing/2014/main" id="{36F45BC6-97E0-5DAF-4CDF-28F120688387}"/>
              </a:ext>
            </a:extLst>
          </p:cNvPr>
          <p:cNvGraphicFramePr>
            <a:graphicFrameLocks noGrp="1"/>
          </p:cNvGraphicFramePr>
          <p:nvPr>
            <p:extLst>
              <p:ext uri="{D42A27DB-BD31-4B8C-83A1-F6EECF244321}">
                <p14:modId xmlns="" xmlns:p14="http://schemas.microsoft.com/office/powerpoint/2010/main" val="2216092707"/>
              </p:ext>
            </p:extLst>
          </p:nvPr>
        </p:nvGraphicFramePr>
        <p:xfrm>
          <a:off x="9439272" y="7899555"/>
          <a:ext cx="1797832" cy="100995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52">
                <a:tc gridSpan="2">
                  <a:txBody>
                    <a:bodyPr/>
                    <a:lstStyle/>
                    <a:p>
                      <a:pPr algn="ctr"/>
                      <a:endParaRPr lang="en-GB" sz="1500" b="1" dirty="0">
                        <a:solidFill>
                          <a:srgbClr val="FF0000"/>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dirty="0">
                          <a:latin typeface="微軟正黑體" panose="020B0604030504040204" pitchFamily="34" charset="-120"/>
                          <a:ea typeface="微軟正黑體" panose="020B0604030504040204" pitchFamily="34" charset="-120"/>
                        </a:rPr>
                        <a:t>通知單簽核</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zh-TW" altLang="en-US" sz="1500" dirty="0">
                          <a:latin typeface="微軟正黑體" panose="020B0604030504040204" pitchFamily="34" charset="-120"/>
                          <a:ea typeface="微軟正黑體" panose="020B0604030504040204" pitchFamily="34" charset="-120"/>
                        </a:rPr>
                        <a:t>紙本</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11" name="表格 30">
            <a:extLst>
              <a:ext uri="{FF2B5EF4-FFF2-40B4-BE49-F238E27FC236}">
                <a16:creationId xmlns="" xmlns:a16="http://schemas.microsoft.com/office/drawing/2014/main" id="{38BDF0A1-D232-AF01-17F5-92E6C0291911}"/>
              </a:ext>
            </a:extLst>
          </p:cNvPr>
          <p:cNvGraphicFramePr>
            <a:graphicFrameLocks noGrp="1"/>
          </p:cNvGraphicFramePr>
          <p:nvPr>
            <p:extLst>
              <p:ext uri="{D42A27DB-BD31-4B8C-83A1-F6EECF244321}">
                <p14:modId xmlns="" xmlns:p14="http://schemas.microsoft.com/office/powerpoint/2010/main" val="4130820686"/>
              </p:ext>
            </p:extLst>
          </p:nvPr>
        </p:nvGraphicFramePr>
        <p:xfrm>
          <a:off x="3261891" y="2249675"/>
          <a:ext cx="1797832" cy="100995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52">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a:r>
                        <a:rPr lang="zh-TW" altLang="en-US" sz="1500" dirty="0">
                          <a:latin typeface="微軟正黑體" panose="020B0604030504040204" pitchFamily="34" charset="-120"/>
                          <a:ea typeface="微軟正黑體" panose="020B0604030504040204" pitchFamily="34" charset="-120"/>
                        </a:rPr>
                        <a:t>進行分色</a:t>
                      </a:r>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組</a:t>
                      </a:r>
                      <a:r>
                        <a:rPr lang="en-US" altLang="zh-TW" sz="1500" dirty="0">
                          <a:latin typeface="微軟正黑體" panose="020B0604030504040204" pitchFamily="34" charset="-120"/>
                          <a:ea typeface="微軟正黑體" panose="020B0604030504040204" pitchFamily="34" charset="-120"/>
                        </a:rPr>
                        <a:t>)</a:t>
                      </a: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13" name="表格 30">
            <a:extLst>
              <a:ext uri="{FF2B5EF4-FFF2-40B4-BE49-F238E27FC236}">
                <a16:creationId xmlns="" xmlns:a16="http://schemas.microsoft.com/office/drawing/2014/main" id="{8B73211D-3B62-EFDD-CA96-EE0CF25C21EE}"/>
              </a:ext>
            </a:extLst>
          </p:cNvPr>
          <p:cNvGraphicFramePr>
            <a:graphicFrameLocks noGrp="1"/>
          </p:cNvGraphicFramePr>
          <p:nvPr>
            <p:extLst>
              <p:ext uri="{D42A27DB-BD31-4B8C-83A1-F6EECF244321}">
                <p14:modId xmlns="" xmlns:p14="http://schemas.microsoft.com/office/powerpoint/2010/main" val="4034114577"/>
              </p:ext>
            </p:extLst>
          </p:nvPr>
        </p:nvGraphicFramePr>
        <p:xfrm>
          <a:off x="3258618" y="3902786"/>
          <a:ext cx="1797832" cy="100995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52">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a:r>
                        <a:rPr lang="zh-TW" altLang="en-US" sz="1500" dirty="0">
                          <a:latin typeface="微軟正黑體" panose="020B0604030504040204" pitchFamily="34" charset="-120"/>
                          <a:ea typeface="微軟正黑體" panose="020B0604030504040204" pitchFamily="34" charset="-120"/>
                        </a:rPr>
                        <a:t>色卡標示分組</a:t>
                      </a:r>
                      <a:endParaRPr lang="en-US" altLang="zh-TW"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17" name="肘形接點 68">
            <a:extLst>
              <a:ext uri="{FF2B5EF4-FFF2-40B4-BE49-F238E27FC236}">
                <a16:creationId xmlns="" xmlns:a16="http://schemas.microsoft.com/office/drawing/2014/main" id="{8AAA443D-46CA-F572-446F-707AD076A74C}"/>
              </a:ext>
            </a:extLst>
          </p:cNvPr>
          <p:cNvCxnSpPr>
            <a:cxnSpLocks/>
            <a:stCxn id="11" idx="2"/>
            <a:endCxn id="13" idx="0"/>
          </p:cNvCxnSpPr>
          <p:nvPr/>
        </p:nvCxnSpPr>
        <p:spPr>
          <a:xfrm rot="5400000">
            <a:off x="3837593" y="3579572"/>
            <a:ext cx="643155" cy="3273"/>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2" name="文字方塊 17">
            <a:extLst>
              <a:ext uri="{FF2B5EF4-FFF2-40B4-BE49-F238E27FC236}">
                <a16:creationId xmlns="" xmlns:a16="http://schemas.microsoft.com/office/drawing/2014/main" id="{5C5F1B27-1A7C-3BD5-5D18-38BD4B7BAD09}"/>
              </a:ext>
            </a:extLst>
          </p:cNvPr>
          <p:cNvSpPr txBox="1"/>
          <p:nvPr/>
        </p:nvSpPr>
        <p:spPr>
          <a:xfrm>
            <a:off x="2696626" y="1367291"/>
            <a:ext cx="3086720" cy="400110"/>
          </a:xfrm>
          <a:prstGeom prst="rect">
            <a:avLst/>
          </a:prstGeom>
          <a:noFill/>
        </p:spPr>
        <p:txBody>
          <a:bodyPr wrap="square" lIns="137160" tIns="68580" rIns="137160" bIns="68580" rtlCol="0">
            <a:spAutoFit/>
          </a:bodyPr>
          <a:lstStyle/>
          <a:p>
            <a:pPr algn="ctr"/>
            <a:r>
              <a:rPr lang="zh-TW" altLang="en-US" sz="1700" dirty="0"/>
              <a:t>品保人員</a:t>
            </a:r>
          </a:p>
        </p:txBody>
      </p:sp>
      <p:cxnSp>
        <p:nvCxnSpPr>
          <p:cNvPr id="58" name="Straight Connector 284">
            <a:extLst>
              <a:ext uri="{FF2B5EF4-FFF2-40B4-BE49-F238E27FC236}">
                <a16:creationId xmlns="" xmlns:a16="http://schemas.microsoft.com/office/drawing/2014/main" id="{6A8CFF48-7080-1D07-C26F-643B4DE44553}"/>
              </a:ext>
            </a:extLst>
          </p:cNvPr>
          <p:cNvCxnSpPr>
            <a:cxnSpLocks/>
          </p:cNvCxnSpPr>
          <p:nvPr/>
        </p:nvCxnSpPr>
        <p:spPr>
          <a:xfrm>
            <a:off x="5705097" y="1393188"/>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文字方塊 17">
            <a:extLst>
              <a:ext uri="{FF2B5EF4-FFF2-40B4-BE49-F238E27FC236}">
                <a16:creationId xmlns="" xmlns:a16="http://schemas.microsoft.com/office/drawing/2014/main" id="{3D606090-3EEF-8429-7C4C-A773D8ED1B1D}"/>
              </a:ext>
            </a:extLst>
          </p:cNvPr>
          <p:cNvSpPr txBox="1"/>
          <p:nvPr/>
        </p:nvSpPr>
        <p:spPr>
          <a:xfrm>
            <a:off x="5753267" y="1383791"/>
            <a:ext cx="3086720" cy="400110"/>
          </a:xfrm>
          <a:prstGeom prst="rect">
            <a:avLst/>
          </a:prstGeom>
          <a:noFill/>
        </p:spPr>
        <p:txBody>
          <a:bodyPr wrap="square" lIns="137160" tIns="68580" rIns="137160" bIns="68580" rtlCol="0">
            <a:spAutoFit/>
          </a:bodyPr>
          <a:lstStyle/>
          <a:p>
            <a:pPr algn="ctr"/>
            <a:r>
              <a:rPr lang="zh-TW" altLang="en-US" sz="1700" dirty="0"/>
              <a:t>倉管</a:t>
            </a:r>
          </a:p>
        </p:txBody>
      </p:sp>
      <p:graphicFrame>
        <p:nvGraphicFramePr>
          <p:cNvPr id="19" name="表格 30">
            <a:extLst>
              <a:ext uri="{FF2B5EF4-FFF2-40B4-BE49-F238E27FC236}">
                <a16:creationId xmlns="" xmlns:a16="http://schemas.microsoft.com/office/drawing/2014/main" id="{3E903032-AAC7-A976-BC21-DF0EE96B6061}"/>
              </a:ext>
            </a:extLst>
          </p:cNvPr>
          <p:cNvGraphicFramePr>
            <a:graphicFrameLocks noGrp="1"/>
          </p:cNvGraphicFramePr>
          <p:nvPr>
            <p:extLst>
              <p:ext uri="{D42A27DB-BD31-4B8C-83A1-F6EECF244321}">
                <p14:modId xmlns="" xmlns:p14="http://schemas.microsoft.com/office/powerpoint/2010/main" val="3655737369"/>
              </p:ext>
            </p:extLst>
          </p:nvPr>
        </p:nvGraphicFramePr>
        <p:xfrm>
          <a:off x="6344258" y="3903635"/>
          <a:ext cx="1797832" cy="100995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52">
                <a:tc gridSpan="2">
                  <a:txBody>
                    <a:bodyPr/>
                    <a:lstStyle/>
                    <a:p>
                      <a:pPr algn="ct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a:r>
                        <a:rPr lang="zh-TW" altLang="en-US" sz="1500" dirty="0">
                          <a:latin typeface="微軟正黑體" panose="020B0604030504040204" pitchFamily="34" charset="-120"/>
                          <a:ea typeface="微軟正黑體" panose="020B0604030504040204" pitchFamily="34" charset="-120"/>
                        </a:rPr>
                        <a:t>庫存分色</a:t>
                      </a:r>
                      <a:endParaRPr lang="en-US" altLang="zh-TW"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1" name="肘形接點 68">
            <a:extLst>
              <a:ext uri="{FF2B5EF4-FFF2-40B4-BE49-F238E27FC236}">
                <a16:creationId xmlns="" xmlns:a16="http://schemas.microsoft.com/office/drawing/2014/main" id="{FC717B2A-6393-E8A4-DEF6-25B17A1E29F1}"/>
              </a:ext>
            </a:extLst>
          </p:cNvPr>
          <p:cNvCxnSpPr>
            <a:cxnSpLocks/>
            <a:stCxn id="13" idx="3"/>
            <a:endCxn id="19" idx="1"/>
          </p:cNvCxnSpPr>
          <p:nvPr/>
        </p:nvCxnSpPr>
        <p:spPr>
          <a:xfrm>
            <a:off x="5056450" y="4407764"/>
            <a:ext cx="1287809" cy="84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3" name="Group 220">
            <a:extLst>
              <a:ext uri="{FF2B5EF4-FFF2-40B4-BE49-F238E27FC236}">
                <a16:creationId xmlns="" xmlns:a16="http://schemas.microsoft.com/office/drawing/2014/main" id="{ADD1546F-75A2-0E22-F66E-32DFDB0DE746}"/>
              </a:ext>
            </a:extLst>
          </p:cNvPr>
          <p:cNvGrpSpPr/>
          <p:nvPr/>
        </p:nvGrpSpPr>
        <p:grpSpPr>
          <a:xfrm>
            <a:off x="4817106" y="2099642"/>
            <a:ext cx="533400" cy="415825"/>
            <a:chOff x="5906184" y="1486857"/>
            <a:chExt cx="355600" cy="272361"/>
          </a:xfrm>
        </p:grpSpPr>
        <p:sp>
          <p:nvSpPr>
            <p:cNvPr id="46" name="Oval 221">
              <a:extLst>
                <a:ext uri="{FF2B5EF4-FFF2-40B4-BE49-F238E27FC236}">
                  <a16:creationId xmlns="" xmlns:a16="http://schemas.microsoft.com/office/drawing/2014/main" id="{E638D9BF-33CE-140D-7D4D-42C18836B30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48" name="TextBox 222">
              <a:extLst>
                <a:ext uri="{FF2B5EF4-FFF2-40B4-BE49-F238E27FC236}">
                  <a16:creationId xmlns="" xmlns:a16="http://schemas.microsoft.com/office/drawing/2014/main" id="{454E1CB9-6ED4-AD5A-39EC-6D1B324BA26E}"/>
                </a:ext>
              </a:extLst>
            </p:cNvPr>
            <p:cNvSpPr txBox="1"/>
            <p:nvPr/>
          </p:nvSpPr>
          <p:spPr>
            <a:xfrm>
              <a:off x="5906184" y="1507079"/>
              <a:ext cx="355600" cy="21167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7" name="Group 220">
            <a:extLst>
              <a:ext uri="{FF2B5EF4-FFF2-40B4-BE49-F238E27FC236}">
                <a16:creationId xmlns="" xmlns:a16="http://schemas.microsoft.com/office/drawing/2014/main" id="{A467672E-D4FD-79FF-5A75-8755B469E948}"/>
              </a:ext>
            </a:extLst>
          </p:cNvPr>
          <p:cNvGrpSpPr/>
          <p:nvPr/>
        </p:nvGrpSpPr>
        <p:grpSpPr>
          <a:xfrm>
            <a:off x="7858428" y="3653817"/>
            <a:ext cx="533400" cy="415825"/>
            <a:chOff x="5906184" y="1486857"/>
            <a:chExt cx="355600" cy="272361"/>
          </a:xfrm>
        </p:grpSpPr>
        <p:sp>
          <p:nvSpPr>
            <p:cNvPr id="14" name="Oval 221">
              <a:extLst>
                <a:ext uri="{FF2B5EF4-FFF2-40B4-BE49-F238E27FC236}">
                  <a16:creationId xmlns="" xmlns:a16="http://schemas.microsoft.com/office/drawing/2014/main" id="{35BBC6C5-C7D7-7F40-FF46-8DD7A25A22B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8" name="TextBox 222">
              <a:extLst>
                <a:ext uri="{FF2B5EF4-FFF2-40B4-BE49-F238E27FC236}">
                  <a16:creationId xmlns="" xmlns:a16="http://schemas.microsoft.com/office/drawing/2014/main" id="{C086EF96-47E2-841B-E2D4-A443B4DA7044}"/>
                </a:ext>
              </a:extLst>
            </p:cNvPr>
            <p:cNvSpPr txBox="1"/>
            <p:nvPr/>
          </p:nvSpPr>
          <p:spPr>
            <a:xfrm>
              <a:off x="5906184" y="1507079"/>
              <a:ext cx="355600" cy="21167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35" name="流程圖: 預設處理作業 21">
            <a:extLst>
              <a:ext uri="{FF2B5EF4-FFF2-40B4-BE49-F238E27FC236}">
                <a16:creationId xmlns="" xmlns:a16="http://schemas.microsoft.com/office/drawing/2014/main" id="{3F763848-FBA2-AC19-FD40-25D74B68E0C6}"/>
              </a:ext>
            </a:extLst>
          </p:cNvPr>
          <p:cNvSpPr/>
          <p:nvPr/>
        </p:nvSpPr>
        <p:spPr bwMode="auto">
          <a:xfrm>
            <a:off x="339824" y="6140005"/>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MM-IM-0030</a:t>
            </a:r>
          </a:p>
          <a:p>
            <a:pPr algn="ctr" eaLnBrk="0" hangingPunct="0"/>
            <a:r>
              <a:rPr lang="zh-TW" altLang="en-US" sz="1500" dirty="0">
                <a:latin typeface="微軟正黑體" panose="020B0604030504040204" pitchFamily="34" charset="-120"/>
                <a:ea typeface="微軟正黑體" panose="020B0604030504040204" pitchFamily="34" charset="-120"/>
              </a:rPr>
              <a:t>生產領料作業</a:t>
            </a:r>
          </a:p>
        </p:txBody>
      </p:sp>
      <p:cxnSp>
        <p:nvCxnSpPr>
          <p:cNvPr id="39" name="肘形接點 68">
            <a:extLst>
              <a:ext uri="{FF2B5EF4-FFF2-40B4-BE49-F238E27FC236}">
                <a16:creationId xmlns="" xmlns:a16="http://schemas.microsoft.com/office/drawing/2014/main" id="{3383A047-D72F-F69D-67CB-F92A591B0FA5}"/>
              </a:ext>
            </a:extLst>
          </p:cNvPr>
          <p:cNvCxnSpPr>
            <a:cxnSpLocks/>
            <a:stCxn id="35" idx="3"/>
            <a:endCxn id="28" idx="1"/>
          </p:cNvCxnSpPr>
          <p:nvPr/>
        </p:nvCxnSpPr>
        <p:spPr>
          <a:xfrm>
            <a:off x="2152935" y="6759301"/>
            <a:ext cx="4116933" cy="1380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8" name="流程圖: 預設處理作業 21">
            <a:extLst>
              <a:ext uri="{FF2B5EF4-FFF2-40B4-BE49-F238E27FC236}">
                <a16:creationId xmlns="" xmlns:a16="http://schemas.microsoft.com/office/drawing/2014/main" id="{9EA16AA6-8870-EA5D-3EED-7C978E4C6BD0}"/>
              </a:ext>
            </a:extLst>
          </p:cNvPr>
          <p:cNvSpPr/>
          <p:nvPr/>
        </p:nvSpPr>
        <p:spPr bwMode="auto">
          <a:xfrm>
            <a:off x="366915" y="2139165"/>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fontAlgn="ctr">
              <a:lnSpc>
                <a:spcPts val="1847"/>
              </a:lnSpc>
            </a:pPr>
            <a:r>
              <a:rPr lang="en-US" altLang="zh-TW" sz="1500" dirty="0">
                <a:latin typeface="微軟正黑體" panose="020B0604030504040204" pitchFamily="34" charset="-120"/>
                <a:ea typeface="微軟正黑體" panose="020B0604030504040204" pitchFamily="34" charset="-120"/>
              </a:rPr>
              <a:t>	</a:t>
            </a:r>
            <a:r>
              <a:rPr lang="en-US" altLang="zh-CN" sz="1500" dirty="0">
                <a:latin typeface="微軟正黑體" panose="020B0604030504040204" pitchFamily="34" charset="-120"/>
                <a:ea typeface="微軟正黑體" panose="020B0604030504040204" pitchFamily="34" charset="-120"/>
              </a:rPr>
              <a:t> QM-IN-0010</a:t>
            </a:r>
          </a:p>
          <a:p>
            <a:pPr algn="ctr" fontAlgn="ctr">
              <a:lnSpc>
                <a:spcPts val="1847"/>
              </a:lnSpc>
            </a:pPr>
            <a:r>
              <a:rPr lang="zh-CN" altLang="en-US" sz="1500" dirty="0">
                <a:latin typeface="微軟正黑體" panose="020B0604030504040204" pitchFamily="34" charset="-120"/>
                <a:ea typeface="微軟正黑體" panose="020B0604030504040204" pitchFamily="34" charset="-120"/>
              </a:rPr>
              <a:t>進料檢驗流程</a:t>
            </a:r>
            <a:endParaRPr lang="zh-TW" altLang="en-US" sz="1500" dirty="0">
              <a:latin typeface="微軟正黑體" panose="020B0604030504040204" pitchFamily="34" charset="-120"/>
              <a:ea typeface="微軟正黑體" panose="020B0604030504040204" pitchFamily="34" charset="-120"/>
            </a:endParaRPr>
          </a:p>
        </p:txBody>
      </p:sp>
      <p:grpSp>
        <p:nvGrpSpPr>
          <p:cNvPr id="9" name="Group 220">
            <a:extLst>
              <a:ext uri="{FF2B5EF4-FFF2-40B4-BE49-F238E27FC236}">
                <a16:creationId xmlns="" xmlns:a16="http://schemas.microsoft.com/office/drawing/2014/main" id="{A9B401BC-DE49-5FC0-6565-D216316A23DA}"/>
              </a:ext>
            </a:extLst>
          </p:cNvPr>
          <p:cNvGrpSpPr/>
          <p:nvPr/>
        </p:nvGrpSpPr>
        <p:grpSpPr>
          <a:xfrm>
            <a:off x="1918278" y="1950233"/>
            <a:ext cx="533400" cy="408605"/>
            <a:chOff x="5906184" y="1486857"/>
            <a:chExt cx="355600" cy="272361"/>
          </a:xfrm>
        </p:grpSpPr>
        <p:sp>
          <p:nvSpPr>
            <p:cNvPr id="32"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TextBox 222">
              <a:extLst>
                <a:ext uri="{FF2B5EF4-FFF2-40B4-BE49-F238E27FC236}">
                  <a16:creationId xmlns="" xmlns:a16="http://schemas.microsoft.com/office/drawing/2014/main" id="{38213EC1-2A6F-CC6F-9F41-D87C1E84A2C8}"/>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28" name="表格 30">
            <a:extLst>
              <a:ext uri="{FF2B5EF4-FFF2-40B4-BE49-F238E27FC236}">
                <a16:creationId xmlns="" xmlns:a16="http://schemas.microsoft.com/office/drawing/2014/main" id="{5C6247F6-F26B-0F71-4D34-7C53F1F5A467}"/>
              </a:ext>
            </a:extLst>
          </p:cNvPr>
          <p:cNvGraphicFramePr>
            <a:graphicFrameLocks noGrp="1"/>
          </p:cNvGraphicFramePr>
          <p:nvPr>
            <p:extLst>
              <p:ext uri="{D42A27DB-BD31-4B8C-83A1-F6EECF244321}">
                <p14:modId xmlns="" xmlns:p14="http://schemas.microsoft.com/office/powerpoint/2010/main" val="2419064566"/>
              </p:ext>
            </p:extLst>
          </p:nvPr>
        </p:nvGraphicFramePr>
        <p:xfrm>
          <a:off x="6269868" y="6268129"/>
          <a:ext cx="1797832" cy="100995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52">
                <a:tc gridSpan="2">
                  <a:txBody>
                    <a:bodyPr/>
                    <a:lstStyle/>
                    <a:p>
                      <a:pPr algn="ctr"/>
                      <a:r>
                        <a:rPr lang="en-GB" altLang="zh-TW" sz="1500" b="1">
                          <a:solidFill>
                            <a:schemeClr val="tx1"/>
                          </a:solidFill>
                          <a:latin typeface="微軟正黑體" panose="020B0604030504040204" pitchFamily="34" charset="-120"/>
                          <a:ea typeface="微軟正黑體" panose="020B0604030504040204" pitchFamily="34" charset="-120"/>
                        </a:rPr>
                        <a:t>ZMM034</a:t>
                      </a: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a:r>
                        <a:rPr lang="zh-TW" altLang="en-US" sz="1500" dirty="0">
                          <a:latin typeface="微軟正黑體" panose="020B0604030504040204" pitchFamily="34" charset="-120"/>
                          <a:ea typeface="微軟正黑體" panose="020B0604030504040204" pitchFamily="34" charset="-120"/>
                        </a:rPr>
                        <a:t>色卡列印分色領料</a:t>
                      </a:r>
                      <a:endParaRPr lang="en-US" altLang="zh-TW"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GB" sz="1500" dirty="0">
                          <a:latin typeface="微軟正黑體" panose="020B0604030504040204" pitchFamily="34" charset="-120"/>
                          <a:ea typeface="微軟正黑體" panose="020B0604030504040204" pitchFamily="34" charset="-120"/>
                        </a:rPr>
                        <a:t>SAP</a:t>
                      </a: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10" name="Group 220">
            <a:extLst>
              <a:ext uri="{FF2B5EF4-FFF2-40B4-BE49-F238E27FC236}">
                <a16:creationId xmlns="" xmlns:a16="http://schemas.microsoft.com/office/drawing/2014/main" id="{F5672E09-086B-241A-24DA-0C5CA5B81A5E}"/>
              </a:ext>
            </a:extLst>
          </p:cNvPr>
          <p:cNvGrpSpPr/>
          <p:nvPr/>
        </p:nvGrpSpPr>
        <p:grpSpPr>
          <a:xfrm>
            <a:off x="7889676" y="6060217"/>
            <a:ext cx="533400" cy="415825"/>
            <a:chOff x="5906184" y="1486857"/>
            <a:chExt cx="355600" cy="272361"/>
          </a:xfrm>
        </p:grpSpPr>
        <p:sp>
          <p:nvSpPr>
            <p:cNvPr id="36" name="Oval 221">
              <a:extLst>
                <a:ext uri="{FF2B5EF4-FFF2-40B4-BE49-F238E27FC236}">
                  <a16:creationId xmlns="" xmlns:a16="http://schemas.microsoft.com/office/drawing/2014/main" id="{8F7E47BA-A77E-55D6-DFF7-B1F65B9C5FA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37" name="TextBox 222">
              <a:extLst>
                <a:ext uri="{FF2B5EF4-FFF2-40B4-BE49-F238E27FC236}">
                  <a16:creationId xmlns="" xmlns:a16="http://schemas.microsoft.com/office/drawing/2014/main" id="{DB57781D-9BAE-CDCA-F839-6E065DA8768C}"/>
                </a:ext>
              </a:extLst>
            </p:cNvPr>
            <p:cNvSpPr txBox="1"/>
            <p:nvPr/>
          </p:nvSpPr>
          <p:spPr>
            <a:xfrm>
              <a:off x="5906184" y="1507079"/>
              <a:ext cx="355600" cy="21167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sp>
        <p:nvSpPr>
          <p:cNvPr id="20" name="流程圖: 文件 42">
            <a:extLst>
              <a:ext uri="{FF2B5EF4-FFF2-40B4-BE49-F238E27FC236}">
                <a16:creationId xmlns="" xmlns:a16="http://schemas.microsoft.com/office/drawing/2014/main" id="{6FD8D4E3-0C08-F49C-4737-1FACAEAD2167}"/>
              </a:ext>
            </a:extLst>
          </p:cNvPr>
          <p:cNvSpPr/>
          <p:nvPr/>
        </p:nvSpPr>
        <p:spPr bwMode="auto">
          <a:xfrm>
            <a:off x="7722698" y="7198147"/>
            <a:ext cx="1356833" cy="795192"/>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分色通知單</a:t>
            </a:r>
            <a:r>
              <a:rPr lang="en-US" altLang="zh-TW" sz="1500" dirty="0">
                <a:latin typeface="微軟正黑體" panose="020B0604030504040204" pitchFamily="34" charset="-120"/>
                <a:ea typeface="微軟正黑體" panose="020B0604030504040204" pitchFamily="34" charset="-120"/>
              </a:rPr>
              <a:t>)</a:t>
            </a:r>
            <a:endParaRPr lang="zh-TW" altLang="en-US" sz="1500" dirty="0">
              <a:latin typeface="微軟正黑體" panose="020B0604030504040204" pitchFamily="34" charset="-120"/>
              <a:ea typeface="微軟正黑體" panose="020B0604030504040204" pitchFamily="34" charset="-120"/>
            </a:endParaRPr>
          </a:p>
        </p:txBody>
      </p:sp>
      <p:cxnSp>
        <p:nvCxnSpPr>
          <p:cNvPr id="47" name="肘形接點 68">
            <a:extLst>
              <a:ext uri="{FF2B5EF4-FFF2-40B4-BE49-F238E27FC236}">
                <a16:creationId xmlns="" xmlns:a16="http://schemas.microsoft.com/office/drawing/2014/main" id="{7F9B298B-906D-46E2-B1EE-DE9A4C907BB4}"/>
              </a:ext>
            </a:extLst>
          </p:cNvPr>
          <p:cNvCxnSpPr>
            <a:cxnSpLocks/>
            <a:stCxn id="19" idx="3"/>
            <a:endCxn id="25" idx="0"/>
          </p:cNvCxnSpPr>
          <p:nvPr/>
        </p:nvCxnSpPr>
        <p:spPr>
          <a:xfrm>
            <a:off x="8142089" y="4408613"/>
            <a:ext cx="4807584" cy="4431867"/>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1" name="肘形接點 68">
            <a:extLst>
              <a:ext uri="{FF2B5EF4-FFF2-40B4-BE49-F238E27FC236}">
                <a16:creationId xmlns="" xmlns:a16="http://schemas.microsoft.com/office/drawing/2014/main" id="{E00A944C-4A0A-264D-190A-A73E78ABA5FF}"/>
              </a:ext>
            </a:extLst>
          </p:cNvPr>
          <p:cNvCxnSpPr>
            <a:cxnSpLocks/>
            <a:stCxn id="23" idx="2"/>
            <a:endCxn id="25" idx="1"/>
          </p:cNvCxnSpPr>
          <p:nvPr/>
        </p:nvCxnSpPr>
        <p:spPr>
          <a:xfrm rot="16200000" flipH="1">
            <a:off x="11033345" y="8214352"/>
            <a:ext cx="322253" cy="1712570"/>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59"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1</a:t>
            </a:r>
            <a:endParaRPr lang="en-US" sz="1600" b="0" strike="noStrike" spc="-1" dirty="0">
              <a:solidFill>
                <a:srgbClr val="000000"/>
              </a:solidFill>
              <a:latin typeface="Calibri"/>
            </a:endParaRPr>
          </a:p>
        </p:txBody>
      </p:sp>
    </p:spTree>
    <p:extLst>
      <p:ext uri="{BB962C8B-B14F-4D97-AF65-F5344CB8AC3E}">
        <p14:creationId xmlns="" xmlns:p14="http://schemas.microsoft.com/office/powerpoint/2010/main" val="34078046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graphicFrame>
        <p:nvGraphicFramePr>
          <p:cNvPr id="2981" name="表格 30"/>
          <p:cNvGraphicFramePr/>
          <p:nvPr/>
        </p:nvGraphicFramePr>
        <p:xfrm>
          <a:off x="3242520" y="300240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a:solidFill>
                  <a:schemeClr val="dk1"/>
                </a:solidFill>
                <a:latin typeface="微軟正黑體"/>
                <a:ea typeface="微軟正黑體"/>
              </a:rPr>
              <a:t>XXX-001-02</a:t>
            </a:r>
            <a:endParaRPr lang="en-US" sz="1500" b="0" strike="noStrike" spc="-1">
              <a:solidFill>
                <a:srgbClr val="000000"/>
              </a:solidFill>
              <a:latin typeface="Calibri"/>
            </a:endParaRPr>
          </a:p>
          <a:p>
            <a:pPr algn="ctr" defTabSz="457200">
              <a:lnSpc>
                <a:spcPct val="100000"/>
              </a:lnSpc>
            </a:pPr>
            <a:r>
              <a:rPr lang="en-US" sz="1500" b="0" strike="noStrike" spc="-1">
                <a:solidFill>
                  <a:schemeClr val="dk1"/>
                </a:solidFill>
                <a:latin typeface="微軟正黑體"/>
                <a:ea typeface="微軟正黑體"/>
              </a:rPr>
              <a:t>XXX</a:t>
            </a:r>
            <a:r>
              <a:rPr lang="zh-TW" sz="1500" b="0" strike="noStrike" spc="-1">
                <a:solidFill>
                  <a:schemeClr val="dk1"/>
                </a:solidFill>
                <a:latin typeface="微軟正黑體"/>
                <a:ea typeface="微軟正黑體"/>
              </a:rPr>
              <a:t>作業流程</a:t>
            </a:r>
            <a:endParaRPr lang="en-US" sz="1500" b="0" strike="noStrike" spc="-1">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aphicFrame>
        <p:nvGraphicFramePr>
          <p:cNvPr id="2994" name="表格 30"/>
          <p:cNvGraphicFramePr/>
          <p:nvPr/>
        </p:nvGraphicFramePr>
        <p:xfrm>
          <a:off x="3242520" y="811944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15796</TotalTime>
  <Words>474</Words>
  <Application>Collabora_Office/23.05.5.4$Linux_X86_64 LibreOffice_project/1681200a96e5ffa1bee996c23ec760042f91abfa</Application>
  <PresentationFormat>自訂</PresentationFormat>
  <Paragraphs>124</Paragraphs>
  <Slides>6</Slides>
  <Notes>2</Notes>
  <HiddenSlides>0</HiddenSlides>
  <MMClips>0</MMClips>
  <ScaleCrop>false</ScaleCrop>
  <HeadingPairs>
    <vt:vector size="4" baseType="variant">
      <vt:variant>
        <vt:lpstr>佈景主題</vt:lpstr>
      </vt:variant>
      <vt:variant>
        <vt:i4>5</vt:i4>
      </vt:variant>
      <vt:variant>
        <vt:lpstr>投影片標題</vt:lpstr>
      </vt:variant>
      <vt:variant>
        <vt:i4>6</vt:i4>
      </vt:variant>
    </vt:vector>
  </HeadingPairs>
  <TitlesOfParts>
    <vt:vector size="11" baseType="lpstr">
      <vt:lpstr>Office 2013 - 2022 Theme</vt:lpstr>
      <vt:lpstr>Office 2013 - 2022 Theme</vt:lpstr>
      <vt:lpstr>Office 2013 - 2022 Theme</vt:lpstr>
      <vt:lpstr>Office 2013 - 2022 Theme</vt:lpstr>
      <vt:lpstr>Office 2013 - 2022 Theme</vt:lpstr>
      <vt:lpstr>投影片 1</vt:lpstr>
      <vt:lpstr>投影片 2</vt:lpstr>
      <vt:lpstr>投影片 3</vt:lpstr>
      <vt:lpstr>投影片 4</vt:lpstr>
      <vt:lpstr>投影片 5</vt:lpstr>
      <vt:lpstr>投影片 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121</cp:revision>
  <dcterms:created xsi:type="dcterms:W3CDTF">2023-05-31T01:27:04Z</dcterms:created>
  <dcterms:modified xsi:type="dcterms:W3CDTF">2025-07-06T12:04:42Z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