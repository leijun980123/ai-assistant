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slideLayouts/slideLayout48.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3"/>
  </p:notesMasterIdLst>
  <p:sldIdLst>
    <p:sldId id="256" r:id="rId6"/>
    <p:sldId id="257" r:id="rId7"/>
    <p:sldId id="258" r:id="rId8"/>
    <p:sldId id="277" r:id="rId9"/>
    <p:sldId id="278" r:id="rId10"/>
    <p:sldId id="263" r:id="rId11"/>
    <p:sldId id="264" r:id="rId12"/>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3" autoAdjust="0"/>
    <p:restoredTop sz="94688" autoAdjust="0"/>
  </p:normalViewPr>
  <p:slideViewPr>
    <p:cSldViewPr>
      <p:cViewPr>
        <p:scale>
          <a:sx n="50" d="100"/>
          <a:sy n="50" d="100"/>
        </p:scale>
        <p:origin x="-228" y="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p14="http://schemas.microsoft.com/office/powerpoint/2010/main" xmlns=""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a16="http://schemas.microsoft.com/office/drawing/2014/main" xmlns="" val="20000"/>
                    </a:ext>
                  </a:extLst>
                </a:gridCol>
                <a:gridCol w="13144425">
                  <a:extLst>
                    <a:ext uri="{9D8B030D-6E8A-4147-A177-3AD203B41FA5}">
                      <a16:colId xmlns:a16="http://schemas.microsoft.com/office/drawing/2014/main" xmlns="" val="20001"/>
                    </a:ext>
                  </a:extLst>
                </a:gridCol>
                <a:gridCol w="2647013">
                  <a:extLst>
                    <a:ext uri="{9D8B030D-6E8A-4147-A177-3AD203B41FA5}">
                      <a16:colId xmlns:a16="http://schemas.microsoft.com/office/drawing/2014/main" xmlns=""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image" Target="../media/image3.png"/><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theme" Target="../theme/theme5.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480" r:id="rId1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MM-IM-0170</a:t>
            </a:r>
            <a:endParaRPr lang="en-US" sz="3600" b="0" strike="noStrike" spc="-1" dirty="0">
              <a:solidFill>
                <a:srgbClr val="000000"/>
              </a:solidFill>
              <a:latin typeface="Calibri"/>
            </a:endParaRPr>
          </a:p>
        </p:txBody>
      </p:sp>
      <p:sp>
        <p:nvSpPr>
          <p:cNvPr id="2859" name="矩形 1"/>
          <p:cNvSpPr/>
          <p:nvPr/>
        </p:nvSpPr>
        <p:spPr>
          <a:xfrm>
            <a:off x="843480" y="717912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製工模具報廢管理作業流程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To </a:t>
                      </a:r>
                      <a:r>
                        <a:rPr lang="en-US" sz="1800" b="1" strike="noStrike" spc="-1" dirty="0" err="1">
                          <a:solidFill>
                            <a:schemeClr val="lt1"/>
                          </a:solidFill>
                          <a:latin typeface="Microsoft JhengHei"/>
                          <a:ea typeface="Microsoft JhengHei"/>
                        </a:rPr>
                        <a:t>be_Business</a:t>
                      </a:r>
                      <a:r>
                        <a:rPr lang="en-US" sz="1800" b="1" strike="noStrike" spc="-1" dirty="0">
                          <a:solidFill>
                            <a:schemeClr val="lt1"/>
                          </a:solidFill>
                          <a:latin typeface="Microsoft JhengHei"/>
                          <a:ea typeface="Microsoft JhengHei"/>
                        </a:rPr>
                        <a:t> Process</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創建日期</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dirty="0">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altLang="zh-TW" sz="2400" spc="-1" dirty="0" smtClean="0">
                <a:solidFill>
                  <a:schemeClr val="dk1"/>
                </a:solidFill>
                <a:latin typeface="Microsoft JhengHei"/>
                <a:ea typeface="Microsoft JhengHei"/>
              </a:rPr>
              <a:t>MM-MA-0170 </a:t>
            </a:r>
            <a:r>
              <a:rPr lang="zh-TW" altLang="en-US" sz="2400" spc="-1" dirty="0" smtClean="0">
                <a:solidFill>
                  <a:schemeClr val="dk1"/>
                </a:solidFill>
                <a:latin typeface="Microsoft JhengHei"/>
                <a:ea typeface="Microsoft JhengHei"/>
              </a:rPr>
              <a:t>製工模具報廢管理作業流程</a:t>
            </a:r>
            <a:endParaRPr lang="en-US" sz="24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1">
            <a:extLst>
              <a:ext uri="{FF2B5EF4-FFF2-40B4-BE49-F238E27FC236}">
                <a16:creationId xmlns:a16="http://schemas.microsoft.com/office/drawing/2014/main" xmlns="" id="{1FB9514E-6261-C7AC-D58E-6A5F2E6F81FD}"/>
              </a:ext>
            </a:extLst>
          </p:cNvPr>
          <p:cNvSpPr/>
          <p:nvPr/>
        </p:nvSpPr>
        <p:spPr bwMode="auto">
          <a:xfrm>
            <a:off x="413248" y="2366061"/>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cxnSp>
        <p:nvCxnSpPr>
          <p:cNvPr id="6" name="Straight Connector 284">
            <a:extLst>
              <a:ext uri="{FF2B5EF4-FFF2-40B4-BE49-F238E27FC236}">
                <a16:creationId xmlns:a16="http://schemas.microsoft.com/office/drawing/2014/main" xmlns="" id="{9B19B4BF-9599-B835-12D9-B67512228A7B}"/>
              </a:ext>
            </a:extLst>
          </p:cNvPr>
          <p:cNvCxnSpPr>
            <a:cxnSpLocks/>
          </p:cNvCxnSpPr>
          <p:nvPr/>
        </p:nvCxnSpPr>
        <p:spPr>
          <a:xfrm>
            <a:off x="7560008" y="1390167"/>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a16="http://schemas.microsoft.com/office/drawing/2014/main" xmlns="" id="{30381EE2-3320-4812-6081-3A15B03E8B32}"/>
              </a:ext>
            </a:extLst>
          </p:cNvPr>
          <p:cNvSpPr txBox="1"/>
          <p:nvPr/>
        </p:nvSpPr>
        <p:spPr>
          <a:xfrm>
            <a:off x="14394343" y="2013759"/>
            <a:ext cx="3594197" cy="3739485"/>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smtClean="0"/>
              <a:t>客戶無相關的訂單需求，模具斬刀同步申請報廢。</a:t>
            </a:r>
            <a:endParaRPr lang="en-US" altLang="zh-TW" dirty="0" smtClean="0"/>
          </a:p>
          <a:p>
            <a:pPr marL="342900" indent="-342900">
              <a:buFont typeface="+mj-lt"/>
              <a:buAutoNum type="arabicPeriod"/>
            </a:pPr>
            <a:r>
              <a:rPr lang="zh-TW" altLang="en-US" dirty="0" smtClean="0"/>
              <a:t>現場單位或模具課勘驗製工模具是否可維修或是已不堪使用提列報廢。</a:t>
            </a:r>
            <a:endParaRPr lang="en-US" altLang="zh-TW" dirty="0" smtClean="0"/>
          </a:p>
          <a:p>
            <a:pPr marL="342900" indent="-342900">
              <a:buFont typeface="+mj-lt"/>
              <a:buAutoNum type="arabicPeriod"/>
            </a:pPr>
            <a:r>
              <a:rPr lang="zh-TW" altLang="en-US" dirty="0" smtClean="0"/>
              <a:t>生</a:t>
            </a:r>
            <a:r>
              <a:rPr lang="zh-TW" altLang="en-US" dirty="0"/>
              <a:t>管單位</a:t>
            </a:r>
            <a:r>
              <a:rPr lang="en-US" altLang="zh-TW" dirty="0"/>
              <a:t>/</a:t>
            </a:r>
            <a:r>
              <a:rPr lang="zh-TW" altLang="en-US" dirty="0"/>
              <a:t>模具課依據客戶提供的報廢鞋型的模具明細清單，執行下架製工模具，底部工程單位通知模具報廢廠方處理，並拍照存檔，並提報會計與當地稅務海關，並提報給客戶。</a:t>
            </a:r>
            <a:endParaRPr lang="en-US" altLang="zh-TW" dirty="0"/>
          </a:p>
          <a:p>
            <a:pPr marL="342900" indent="-342900">
              <a:buFont typeface="+mj-lt"/>
              <a:buAutoNum type="arabicPeriod"/>
            </a:pPr>
            <a:endParaRPr lang="en-US" altLang="zh-TW" dirty="0"/>
          </a:p>
          <a:p>
            <a:endParaRPr lang="en-US" altLang="zh-TW" dirty="0"/>
          </a:p>
        </p:txBody>
      </p:sp>
      <p:sp>
        <p:nvSpPr>
          <p:cNvPr id="8" name="文字方塊 17">
            <a:extLst>
              <a:ext uri="{FF2B5EF4-FFF2-40B4-BE49-F238E27FC236}">
                <a16:creationId xmlns:a16="http://schemas.microsoft.com/office/drawing/2014/main" xmlns="" id="{A3961CAE-69E4-A1C1-045A-63D595BA671B}"/>
              </a:ext>
            </a:extLst>
          </p:cNvPr>
          <p:cNvSpPr txBox="1"/>
          <p:nvPr/>
        </p:nvSpPr>
        <p:spPr>
          <a:xfrm>
            <a:off x="4069166" y="1362915"/>
            <a:ext cx="2360190" cy="400110"/>
          </a:xfrm>
          <a:prstGeom prst="rect">
            <a:avLst/>
          </a:prstGeom>
          <a:noFill/>
        </p:spPr>
        <p:txBody>
          <a:bodyPr wrap="square" lIns="137160" tIns="68580" rIns="137160" bIns="68580" rtlCol="0">
            <a:spAutoFit/>
          </a:bodyPr>
          <a:lstStyle/>
          <a:p>
            <a:pPr algn="ctr"/>
            <a:r>
              <a:rPr lang="zh-TW" altLang="en-US" sz="1700" dirty="0"/>
              <a:t>現場單位</a:t>
            </a:r>
            <a:r>
              <a:rPr lang="en-US" altLang="zh-TW" sz="1700" dirty="0"/>
              <a:t>/</a:t>
            </a:r>
            <a:r>
              <a:rPr lang="zh-TW" altLang="en-US" sz="1700" dirty="0"/>
              <a:t>模具課</a:t>
            </a:r>
          </a:p>
        </p:txBody>
      </p:sp>
      <p:sp>
        <p:nvSpPr>
          <p:cNvPr id="48" name="文字方塊 17">
            <a:extLst>
              <a:ext uri="{FF2B5EF4-FFF2-40B4-BE49-F238E27FC236}">
                <a16:creationId xmlns:a16="http://schemas.microsoft.com/office/drawing/2014/main" xmlns="" id="{0F2761B4-5F29-64DD-1721-5831D073894C}"/>
              </a:ext>
            </a:extLst>
          </p:cNvPr>
          <p:cNvSpPr txBox="1"/>
          <p:nvPr/>
        </p:nvSpPr>
        <p:spPr>
          <a:xfrm>
            <a:off x="8667875" y="1388934"/>
            <a:ext cx="2455800" cy="400110"/>
          </a:xfrm>
          <a:prstGeom prst="rect">
            <a:avLst/>
          </a:prstGeom>
          <a:noFill/>
        </p:spPr>
        <p:txBody>
          <a:bodyPr wrap="square" lIns="137160" tIns="68580" rIns="137160" bIns="68580" rtlCol="0">
            <a:spAutoFit/>
          </a:bodyPr>
          <a:lstStyle/>
          <a:p>
            <a:pPr algn="ctr"/>
            <a:r>
              <a:rPr lang="zh-TW" altLang="en-US" sz="1700" dirty="0"/>
              <a:t>生管單位</a:t>
            </a:r>
            <a:r>
              <a:rPr lang="en-US" altLang="zh-TW" sz="1700" dirty="0"/>
              <a:t>/</a:t>
            </a:r>
            <a:r>
              <a:rPr lang="zh-TW" altLang="en-US" sz="1700" dirty="0"/>
              <a:t>模具課</a:t>
            </a:r>
          </a:p>
        </p:txBody>
      </p:sp>
      <p:sp>
        <p:nvSpPr>
          <p:cNvPr id="60" name="文字方塊 59">
            <a:extLst>
              <a:ext uri="{FF2B5EF4-FFF2-40B4-BE49-F238E27FC236}">
                <a16:creationId xmlns:a16="http://schemas.microsoft.com/office/drawing/2014/main" xmlns=""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MM-IM-0170 </a:t>
            </a:r>
            <a:r>
              <a:rPr lang="zh-TW" altLang="en-US" b="1" dirty="0" smtClean="0">
                <a:latin typeface="微軟正黑體" panose="020B0604030504040204" pitchFamily="34" charset="-120"/>
                <a:ea typeface="微軟正黑體" panose="020B0604030504040204" pitchFamily="34" charset="-120"/>
              </a:rPr>
              <a:t>製</a:t>
            </a:r>
            <a:r>
              <a:rPr lang="zh-TW" altLang="en-US" b="1" dirty="0">
                <a:latin typeface="微軟正黑體" panose="020B0604030504040204" pitchFamily="34" charset="-120"/>
                <a:ea typeface="微軟正黑體" panose="020B0604030504040204" pitchFamily="34" charset="-120"/>
              </a:rPr>
              <a:t>工模具</a:t>
            </a:r>
            <a:r>
              <a:rPr kumimoji="0" lang="zh-TW" altLang="en-US" b="1" dirty="0">
                <a:latin typeface="微軟正黑體" panose="020B0604030504040204" pitchFamily="34" charset="-120"/>
                <a:ea typeface="微軟正黑體" panose="020B0604030504040204" pitchFamily="34" charset="-120"/>
              </a:rPr>
              <a:t>報廢作業流程</a:t>
            </a:r>
          </a:p>
        </p:txBody>
      </p:sp>
      <p:sp>
        <p:nvSpPr>
          <p:cNvPr id="205" name="流程圖: 結束點 204">
            <a:extLst>
              <a:ext uri="{FF2B5EF4-FFF2-40B4-BE49-F238E27FC236}">
                <a16:creationId xmlns:a16="http://schemas.microsoft.com/office/drawing/2014/main" xmlns="" id="{AF6DEB4F-42E0-79A4-1C86-971AEA2097AF}"/>
              </a:ext>
            </a:extLst>
          </p:cNvPr>
          <p:cNvSpPr/>
          <p:nvPr/>
        </p:nvSpPr>
        <p:spPr bwMode="auto">
          <a:xfrm>
            <a:off x="12501586" y="7644624"/>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303" name="肘形接點 68">
            <a:extLst>
              <a:ext uri="{FF2B5EF4-FFF2-40B4-BE49-F238E27FC236}">
                <a16:creationId xmlns:a16="http://schemas.microsoft.com/office/drawing/2014/main" xmlns="" id="{F029D045-29C2-5BDE-06F3-34EEA44F1D55}"/>
              </a:ext>
            </a:extLst>
          </p:cNvPr>
          <p:cNvCxnSpPr>
            <a:cxnSpLocks/>
            <a:stCxn id="39" idx="3"/>
            <a:endCxn id="56" idx="1"/>
          </p:cNvCxnSpPr>
          <p:nvPr/>
        </p:nvCxnSpPr>
        <p:spPr>
          <a:xfrm flipV="1">
            <a:off x="6636225" y="6100142"/>
            <a:ext cx="5651047" cy="563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2" name="肘形接點 68">
            <a:extLst>
              <a:ext uri="{FF2B5EF4-FFF2-40B4-BE49-F238E27FC236}">
                <a16:creationId xmlns:a16="http://schemas.microsoft.com/office/drawing/2014/main" xmlns="" id="{455F687E-D5F2-BB6B-9318-21C6E7BF176C}"/>
              </a:ext>
            </a:extLst>
          </p:cNvPr>
          <p:cNvCxnSpPr>
            <a:cxnSpLocks/>
            <a:stCxn id="39" idx="2"/>
            <a:endCxn id="231" idx="1"/>
          </p:cNvCxnSpPr>
          <p:nvPr/>
        </p:nvCxnSpPr>
        <p:spPr>
          <a:xfrm rot="16200000" flipH="1">
            <a:off x="6593109" y="5794261"/>
            <a:ext cx="1523040" cy="3008138"/>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9" name="流程圖: 決策 50">
            <a:extLst>
              <a:ext uri="{FF2B5EF4-FFF2-40B4-BE49-F238E27FC236}">
                <a16:creationId xmlns:a16="http://schemas.microsoft.com/office/drawing/2014/main" xmlns="" id="{AD12E8BF-FC22-85CD-B930-1ECBB327F5D1}"/>
              </a:ext>
            </a:extLst>
          </p:cNvPr>
          <p:cNvSpPr/>
          <p:nvPr/>
        </p:nvSpPr>
        <p:spPr bwMode="auto">
          <a:xfrm>
            <a:off x="5064894" y="5674736"/>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可維修</a:t>
            </a:r>
            <a:endParaRPr lang="en-US" altLang="zh-TW" sz="1500" dirty="0">
              <a:latin typeface="微軟正黑體" panose="020B0604030504040204" pitchFamily="34" charset="-120"/>
              <a:ea typeface="微軟正黑體" panose="020B0604030504040204" pitchFamily="34" charset="-120"/>
            </a:endParaRPr>
          </a:p>
        </p:txBody>
      </p:sp>
      <p:sp>
        <p:nvSpPr>
          <p:cNvPr id="56" name="流程圖: 預設處理作業 21">
            <a:extLst>
              <a:ext uri="{FF2B5EF4-FFF2-40B4-BE49-F238E27FC236}">
                <a16:creationId xmlns:a16="http://schemas.microsoft.com/office/drawing/2014/main" xmlns="" id="{EC3EEF55-D5C1-D856-62E9-55E670DEFF86}"/>
              </a:ext>
            </a:extLst>
          </p:cNvPr>
          <p:cNvSpPr/>
          <p:nvPr/>
        </p:nvSpPr>
        <p:spPr bwMode="auto">
          <a:xfrm>
            <a:off x="12287272" y="5480846"/>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MM-IM-0210</a:t>
            </a:r>
          </a:p>
          <a:p>
            <a:pPr algn="ctr" eaLnBrk="0" hangingPunct="0"/>
            <a:r>
              <a:rPr lang="zh-TW" altLang="en-US" sz="1500" dirty="0">
                <a:latin typeface="微軟正黑體" panose="020B0604030504040204" pitchFamily="34" charset="-120"/>
                <a:ea typeface="微軟正黑體" panose="020B0604030504040204" pitchFamily="34" charset="-120"/>
              </a:rPr>
              <a:t>製工模具維修</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作業流程</a:t>
            </a:r>
          </a:p>
        </p:txBody>
      </p:sp>
      <p:sp>
        <p:nvSpPr>
          <p:cNvPr id="231" name="流程圖: 預設處理作業 21">
            <a:extLst>
              <a:ext uri="{FF2B5EF4-FFF2-40B4-BE49-F238E27FC236}">
                <a16:creationId xmlns:a16="http://schemas.microsoft.com/office/drawing/2014/main" xmlns="" id="{3AA300D8-7952-CC08-7624-C2BC59EC5B59}"/>
              </a:ext>
            </a:extLst>
          </p:cNvPr>
          <p:cNvSpPr/>
          <p:nvPr/>
        </p:nvSpPr>
        <p:spPr bwMode="auto">
          <a:xfrm>
            <a:off x="8858698" y="7440554"/>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MM-IM-0080</a:t>
            </a:r>
          </a:p>
          <a:p>
            <a:pPr algn="ctr" eaLnBrk="0" hangingPunct="0"/>
            <a:r>
              <a:rPr lang="zh-TW" altLang="en-US" sz="1500" dirty="0">
                <a:latin typeface="微軟正黑體" panose="020B0604030504040204" pitchFamily="34" charset="-120"/>
                <a:ea typeface="微軟正黑體" panose="020B0604030504040204" pitchFamily="34" charset="-120"/>
              </a:rPr>
              <a:t>庫存報廢</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作業流程 </a:t>
            </a:r>
          </a:p>
        </p:txBody>
      </p:sp>
      <p:cxnSp>
        <p:nvCxnSpPr>
          <p:cNvPr id="233" name="肘形接點 68">
            <a:extLst>
              <a:ext uri="{FF2B5EF4-FFF2-40B4-BE49-F238E27FC236}">
                <a16:creationId xmlns:a16="http://schemas.microsoft.com/office/drawing/2014/main" xmlns="" id="{86F0652A-7B45-FB66-AA3A-FD20FE13C5C2}"/>
              </a:ext>
            </a:extLst>
          </p:cNvPr>
          <p:cNvCxnSpPr>
            <a:cxnSpLocks/>
            <a:endCxn id="231" idx="1"/>
          </p:cNvCxnSpPr>
          <p:nvPr/>
        </p:nvCxnSpPr>
        <p:spPr>
          <a:xfrm flipV="1">
            <a:off x="6449609" y="8059850"/>
            <a:ext cx="2409089" cy="300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4" name="TextBox 46">
            <a:extLst>
              <a:ext uri="{FF2B5EF4-FFF2-40B4-BE49-F238E27FC236}">
                <a16:creationId xmlns:a16="http://schemas.microsoft.com/office/drawing/2014/main" xmlns="" id="{BE576891-0AF6-BAEE-5D40-33B1D8CB1F68}"/>
              </a:ext>
            </a:extLst>
          </p:cNvPr>
          <p:cNvSpPr txBox="1"/>
          <p:nvPr/>
        </p:nvSpPr>
        <p:spPr>
          <a:xfrm>
            <a:off x="6857984" y="5644360"/>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29" name="肘形接點 68">
            <a:extLst>
              <a:ext uri="{FF2B5EF4-FFF2-40B4-BE49-F238E27FC236}">
                <a16:creationId xmlns:a16="http://schemas.microsoft.com/office/drawing/2014/main" xmlns="" id="{417A073F-E6C3-1098-7B9A-CF7853479154}"/>
              </a:ext>
            </a:extLst>
          </p:cNvPr>
          <p:cNvCxnSpPr>
            <a:cxnSpLocks/>
            <a:endCxn id="39" idx="0"/>
          </p:cNvCxnSpPr>
          <p:nvPr/>
        </p:nvCxnSpPr>
        <p:spPr>
          <a:xfrm rot="16200000" flipH="1">
            <a:off x="5124638" y="4948814"/>
            <a:ext cx="1387698" cy="6414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0" name="TextBox 46">
            <a:extLst>
              <a:ext uri="{FF2B5EF4-FFF2-40B4-BE49-F238E27FC236}">
                <a16:creationId xmlns:a16="http://schemas.microsoft.com/office/drawing/2014/main" xmlns="" id="{BD6AFA7E-F680-73A2-3382-9F7F1A772D44}"/>
              </a:ext>
            </a:extLst>
          </p:cNvPr>
          <p:cNvSpPr txBox="1"/>
          <p:nvPr/>
        </p:nvSpPr>
        <p:spPr>
          <a:xfrm>
            <a:off x="6006475" y="7432801"/>
            <a:ext cx="404262" cy="369389"/>
          </a:xfrm>
          <a:prstGeom prst="rect">
            <a:avLst/>
          </a:prstGeom>
          <a:noFill/>
        </p:spPr>
        <p:txBody>
          <a:bodyPr wrap="square" lIns="137160" tIns="68580" rIns="137160" bIns="68580" rtlCol="0">
            <a:spAutoFit/>
          </a:bodyPr>
          <a:lstStyle/>
          <a:p>
            <a:r>
              <a:rPr lang="zh-TW" altLang="en-US" sz="1500" dirty="0"/>
              <a:t>否</a:t>
            </a:r>
          </a:p>
        </p:txBody>
      </p:sp>
      <p:cxnSp>
        <p:nvCxnSpPr>
          <p:cNvPr id="50" name="肘形接點 68">
            <a:extLst>
              <a:ext uri="{FF2B5EF4-FFF2-40B4-BE49-F238E27FC236}">
                <a16:creationId xmlns:a16="http://schemas.microsoft.com/office/drawing/2014/main" xmlns="" id="{B091586E-9A27-FEA4-7093-B0BD5983563F}"/>
              </a:ext>
            </a:extLst>
          </p:cNvPr>
          <p:cNvCxnSpPr>
            <a:cxnSpLocks/>
            <a:stCxn id="71" idx="2"/>
            <a:endCxn id="231" idx="1"/>
          </p:cNvCxnSpPr>
          <p:nvPr/>
        </p:nvCxnSpPr>
        <p:spPr>
          <a:xfrm rot="16200000" flipH="1">
            <a:off x="3851738" y="3052890"/>
            <a:ext cx="4869782" cy="5144138"/>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肘形接點 68">
            <a:extLst>
              <a:ext uri="{FF2B5EF4-FFF2-40B4-BE49-F238E27FC236}">
                <a16:creationId xmlns:a16="http://schemas.microsoft.com/office/drawing/2014/main" xmlns="" id="{2FBFFA6D-8802-F16F-6D05-13350771DA25}"/>
              </a:ext>
            </a:extLst>
          </p:cNvPr>
          <p:cNvCxnSpPr>
            <a:cxnSpLocks/>
            <a:stCxn id="231" idx="3"/>
            <a:endCxn id="205" idx="1"/>
          </p:cNvCxnSpPr>
          <p:nvPr/>
        </p:nvCxnSpPr>
        <p:spPr>
          <a:xfrm flipV="1">
            <a:off x="10671810" y="8035906"/>
            <a:ext cx="1829776" cy="2394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6" name="肘形接點 68">
            <a:extLst>
              <a:ext uri="{FF2B5EF4-FFF2-40B4-BE49-F238E27FC236}">
                <a16:creationId xmlns:a16="http://schemas.microsoft.com/office/drawing/2014/main" xmlns="" id="{AE707AB8-F980-6645-48C6-BC39F670C943}"/>
              </a:ext>
            </a:extLst>
          </p:cNvPr>
          <p:cNvCxnSpPr>
            <a:cxnSpLocks/>
            <a:stCxn id="2" idx="3"/>
            <a:endCxn id="71" idx="1"/>
          </p:cNvCxnSpPr>
          <p:nvPr/>
        </p:nvCxnSpPr>
        <p:spPr>
          <a:xfrm>
            <a:off x="2211079" y="2757343"/>
            <a:ext cx="717815" cy="168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21" name="Group 220">
            <a:extLst>
              <a:ext uri="{FF2B5EF4-FFF2-40B4-BE49-F238E27FC236}">
                <a16:creationId xmlns:a16="http://schemas.microsoft.com/office/drawing/2014/main" xmlns="" id="{8DE4F11F-D824-DF60-E81F-BE6E8C5A8087}"/>
              </a:ext>
            </a:extLst>
          </p:cNvPr>
          <p:cNvGrpSpPr/>
          <p:nvPr/>
        </p:nvGrpSpPr>
        <p:grpSpPr>
          <a:xfrm>
            <a:off x="10443776" y="7277285"/>
            <a:ext cx="533400" cy="408605"/>
            <a:chOff x="5906184" y="1486857"/>
            <a:chExt cx="355600" cy="272361"/>
          </a:xfrm>
        </p:grpSpPr>
        <p:sp>
          <p:nvSpPr>
            <p:cNvPr id="17" name="Oval 221">
              <a:extLst>
                <a:ext uri="{FF2B5EF4-FFF2-40B4-BE49-F238E27FC236}">
                  <a16:creationId xmlns:a16="http://schemas.microsoft.com/office/drawing/2014/main" xmlns="" id="{8F252BDB-D609-FD8D-5384-86CBCB5757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19" name="TextBox 222">
              <a:extLst>
                <a:ext uri="{FF2B5EF4-FFF2-40B4-BE49-F238E27FC236}">
                  <a16:creationId xmlns:a16="http://schemas.microsoft.com/office/drawing/2014/main" xmlns="" id="{2E6D1624-7828-77A3-2709-2F44ADEB8A83}"/>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46" name="Group 5"/>
          <p:cNvGrpSpPr/>
          <p:nvPr/>
        </p:nvGrpSpPr>
        <p:grpSpPr>
          <a:xfrm>
            <a:off x="10674360" y="835920"/>
            <a:ext cx="3404880" cy="417600"/>
            <a:chOff x="10674360" y="835920"/>
            <a:chExt cx="3404880" cy="417600"/>
          </a:xfrm>
        </p:grpSpPr>
        <p:grpSp>
          <p:nvGrpSpPr>
            <p:cNvPr id="49" name="Group 6"/>
            <p:cNvGrpSpPr/>
            <p:nvPr/>
          </p:nvGrpSpPr>
          <p:grpSpPr>
            <a:xfrm>
              <a:off x="10674360" y="835920"/>
              <a:ext cx="1297080" cy="417600"/>
              <a:chOff x="10674360" y="835920"/>
              <a:chExt cx="1297080" cy="417600"/>
            </a:xfrm>
          </p:grpSpPr>
          <p:sp>
            <p:nvSpPr>
              <p:cNvPr id="54" name="文字方塊 21"/>
              <p:cNvSpPr/>
              <p:nvPr/>
            </p:nvSpPr>
            <p:spPr>
              <a:xfrm>
                <a:off x="10674360" y="835920"/>
                <a:ext cx="410731" cy="39865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000" spc="-2" dirty="0" smtClean="0">
                    <a:solidFill>
                      <a:srgbClr val="000000"/>
                    </a:solidFill>
                    <a:latin typeface="Wingdings"/>
                    <a:ea typeface="Arial"/>
                  </a:rPr>
                  <a:t></a:t>
                </a:r>
                <a:endParaRPr lang="en-US" sz="2100" b="0" strike="noStrike" spc="-1" dirty="0">
                  <a:solidFill>
                    <a:srgbClr val="000000"/>
                  </a:solidFill>
                  <a:latin typeface="Calibri"/>
                </a:endParaRPr>
              </a:p>
            </p:txBody>
          </p:sp>
          <p:sp>
            <p:nvSpPr>
              <p:cNvPr id="57"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51" name="Group 8"/>
            <p:cNvGrpSpPr/>
            <p:nvPr/>
          </p:nvGrpSpPr>
          <p:grpSpPr>
            <a:xfrm>
              <a:off x="11982960" y="843840"/>
              <a:ext cx="2096280" cy="409680"/>
              <a:chOff x="11982960" y="843840"/>
              <a:chExt cx="2096280" cy="409680"/>
            </a:xfrm>
          </p:grpSpPr>
          <p:sp>
            <p:nvSpPr>
              <p:cNvPr id="52"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53"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58"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grpSp>
        <p:nvGrpSpPr>
          <p:cNvPr id="66" name="群組 65"/>
          <p:cNvGrpSpPr/>
          <p:nvPr/>
        </p:nvGrpSpPr>
        <p:grpSpPr>
          <a:xfrm>
            <a:off x="4929158" y="3644096"/>
            <a:ext cx="1817458" cy="1217256"/>
            <a:chOff x="15073354" y="8308668"/>
            <a:chExt cx="1817458" cy="1217256"/>
          </a:xfrm>
        </p:grpSpPr>
        <p:sp>
          <p:nvSpPr>
            <p:cNvPr id="67" name="流程圖: 程序 66"/>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68" name="流程圖: 程序 67"/>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現場勘驗是否可維修</a:t>
              </a:r>
              <a:endParaRPr lang="zh-TW" altLang="en-US" sz="1500" dirty="0">
                <a:latin typeface="微軟正黑體" panose="020B0604030504040204" pitchFamily="34" charset="-120"/>
                <a:ea typeface="微軟正黑體" panose="020B0604030504040204" pitchFamily="34" charset="-120"/>
              </a:endParaRPr>
            </a:p>
          </p:txBody>
        </p:sp>
        <p:sp>
          <p:nvSpPr>
            <p:cNvPr id="69" name="流程圖: 程序 68"/>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70" name="流程圖: 程序 69"/>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sp>
        <p:nvSpPr>
          <p:cNvPr id="71" name="流程圖: 決策 50">
            <a:extLst>
              <a:ext uri="{FF2B5EF4-FFF2-40B4-BE49-F238E27FC236}">
                <a16:creationId xmlns:a16="http://schemas.microsoft.com/office/drawing/2014/main" xmlns="" id="{AD12E8BF-FC22-85CD-B930-1ECBB327F5D1}"/>
              </a:ext>
            </a:extLst>
          </p:cNvPr>
          <p:cNvSpPr/>
          <p:nvPr/>
        </p:nvSpPr>
        <p:spPr bwMode="auto">
          <a:xfrm>
            <a:off x="2928894" y="2327994"/>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客戶仍有訂單</a:t>
            </a:r>
            <a:r>
              <a:rPr lang="zh-TW" altLang="en-US" sz="1500" dirty="0" smtClean="0">
                <a:latin typeface="微軟正黑體" panose="020B0604030504040204" pitchFamily="34" charset="-120"/>
                <a:ea typeface="微軟正黑體" panose="020B0604030504040204" pitchFamily="34" charset="-120"/>
              </a:rPr>
              <a:t>需求</a:t>
            </a:r>
            <a:endParaRPr lang="zh-TW" altLang="en-US" sz="1500" dirty="0">
              <a:latin typeface="微軟正黑體" panose="020B0604030504040204" pitchFamily="34" charset="-120"/>
              <a:ea typeface="微軟正黑體" panose="020B0604030504040204" pitchFamily="34" charset="-120"/>
            </a:endParaRPr>
          </a:p>
        </p:txBody>
      </p:sp>
      <p:sp>
        <p:nvSpPr>
          <p:cNvPr id="74" name="TextBox 46">
            <a:extLst>
              <a:ext uri="{FF2B5EF4-FFF2-40B4-BE49-F238E27FC236}">
                <a16:creationId xmlns:a16="http://schemas.microsoft.com/office/drawing/2014/main" xmlns="" id="{BE576891-0AF6-BAEE-5D40-33B1D8CB1F68}"/>
              </a:ext>
            </a:extLst>
          </p:cNvPr>
          <p:cNvSpPr txBox="1"/>
          <p:nvPr/>
        </p:nvSpPr>
        <p:spPr>
          <a:xfrm>
            <a:off x="4714844" y="2358212"/>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75" name="肘形接點 68">
            <a:extLst>
              <a:ext uri="{FF2B5EF4-FFF2-40B4-BE49-F238E27FC236}">
                <a16:creationId xmlns:a16="http://schemas.microsoft.com/office/drawing/2014/main" xmlns="" id="{417A073F-E6C3-1098-7B9A-CF7853479154}"/>
              </a:ext>
            </a:extLst>
          </p:cNvPr>
          <p:cNvCxnSpPr>
            <a:cxnSpLocks/>
            <a:stCxn id="71" idx="3"/>
            <a:endCxn id="67" idx="0"/>
          </p:cNvCxnSpPr>
          <p:nvPr/>
        </p:nvCxnSpPr>
        <p:spPr>
          <a:xfrm>
            <a:off x="4500225" y="2759031"/>
            <a:ext cx="1334333" cy="885065"/>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3" name="Group 220">
            <a:extLst>
              <a:ext uri="{FF2B5EF4-FFF2-40B4-BE49-F238E27FC236}">
                <a16:creationId xmlns:a16="http://schemas.microsoft.com/office/drawing/2014/main" xmlns="" id="{A9B401BC-DE49-5FC0-6565-D216316A23DA}"/>
              </a:ext>
            </a:extLst>
          </p:cNvPr>
          <p:cNvGrpSpPr/>
          <p:nvPr/>
        </p:nvGrpSpPr>
        <p:grpSpPr>
          <a:xfrm>
            <a:off x="6500794" y="3429782"/>
            <a:ext cx="533400" cy="408605"/>
            <a:chOff x="5906184" y="1486857"/>
            <a:chExt cx="355600" cy="272361"/>
          </a:xfrm>
        </p:grpSpPr>
        <p:sp>
          <p:nvSpPr>
            <p:cNvPr id="4"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5" name="TextBox 222">
              <a:extLst>
                <a:ext uri="{FF2B5EF4-FFF2-40B4-BE49-F238E27FC236}">
                  <a16:creationId xmlns:a16="http://schemas.microsoft.com/office/drawing/2014/main" xmlns=""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86" name="TextBox 46">
            <a:extLst>
              <a:ext uri="{FF2B5EF4-FFF2-40B4-BE49-F238E27FC236}">
                <a16:creationId xmlns:a16="http://schemas.microsoft.com/office/drawing/2014/main" xmlns="" id="{BD6AFA7E-F680-73A2-3382-9F7F1A772D44}"/>
              </a:ext>
            </a:extLst>
          </p:cNvPr>
          <p:cNvSpPr txBox="1"/>
          <p:nvPr/>
        </p:nvSpPr>
        <p:spPr>
          <a:xfrm>
            <a:off x="3857588" y="3358344"/>
            <a:ext cx="404262" cy="369389"/>
          </a:xfrm>
          <a:prstGeom prst="rect">
            <a:avLst/>
          </a:prstGeom>
          <a:noFill/>
        </p:spPr>
        <p:txBody>
          <a:bodyPr wrap="square" lIns="137160" tIns="68580" rIns="137160" bIns="68580" rtlCol="0">
            <a:spAutoFit/>
          </a:bodyPr>
          <a:lstStyle/>
          <a:p>
            <a:r>
              <a:rPr lang="zh-TW" altLang="en-US" sz="1500" dirty="0"/>
              <a:t>否</a:t>
            </a:r>
          </a:p>
        </p:txBody>
      </p:sp>
      <p:grpSp>
        <p:nvGrpSpPr>
          <p:cNvPr id="87" name="Group 220">
            <a:extLst>
              <a:ext uri="{FF2B5EF4-FFF2-40B4-BE49-F238E27FC236}">
                <a16:creationId xmlns:a16="http://schemas.microsoft.com/office/drawing/2014/main" xmlns="" id="{A9B401BC-DE49-5FC0-6565-D216316A23DA}"/>
              </a:ext>
            </a:extLst>
          </p:cNvPr>
          <p:cNvGrpSpPr/>
          <p:nvPr/>
        </p:nvGrpSpPr>
        <p:grpSpPr>
          <a:xfrm>
            <a:off x="3929026" y="2001022"/>
            <a:ext cx="533400" cy="408605"/>
            <a:chOff x="5906184" y="1486857"/>
            <a:chExt cx="355600" cy="272361"/>
          </a:xfrm>
        </p:grpSpPr>
        <p:sp>
          <p:nvSpPr>
            <p:cNvPr id="88"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89" name="TextBox 222">
              <a:extLst>
                <a:ext uri="{FF2B5EF4-FFF2-40B4-BE49-F238E27FC236}">
                  <a16:creationId xmlns:a16="http://schemas.microsoft.com/office/drawing/2014/main" xmlns=""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lang="en-US" sz="2400" dirty="0">
              <a:solidFill>
                <a:schemeClr val="dk1"/>
              </a:solidFill>
            </a:endParaRPr>
          </a:p>
          <a:p>
            <a:r>
              <a:rPr lang="en-US" sz="2400" dirty="0">
                <a:solidFill>
                  <a:schemeClr val="dk1"/>
                </a:solidFill>
                <a:latin typeface="Arial"/>
                <a:ea typeface="Arial"/>
                <a:cs typeface="Arial"/>
                <a:sym typeface="Arial"/>
              </a:rPr>
              <a:t> </a:t>
            </a:r>
            <a:r>
              <a:rPr lang="zh-TW" altLang="en-US" sz="2400" dirty="0">
                <a:solidFill>
                  <a:schemeClr val="dk1"/>
                </a:solidFill>
                <a:latin typeface="Arial"/>
                <a:ea typeface="Arial"/>
                <a:cs typeface="Arial"/>
                <a:sym typeface="Arial"/>
              </a:rPr>
              <a:t>  報廢原因</a:t>
            </a:r>
            <a:endParaRPr dirty="0"/>
          </a:p>
          <a:p>
            <a:endParaRPr dirty="0">
              <a:solidFill>
                <a:schemeClr val="dk1"/>
              </a:solidFill>
              <a:latin typeface="Arial"/>
              <a:ea typeface="Arial"/>
              <a:cs typeface="Arial"/>
              <a:sym typeface="Arial"/>
            </a:endParaRPr>
          </a:p>
        </p:txBody>
      </p:sp>
      <p:graphicFrame>
        <p:nvGraphicFramePr>
          <p:cNvPr id="3" name="表格 2">
            <a:extLst>
              <a:ext uri="{FF2B5EF4-FFF2-40B4-BE49-F238E27FC236}">
                <a16:creationId xmlns:a16="http://schemas.microsoft.com/office/drawing/2014/main" xmlns="" id="{965A7372-4A9D-7ADE-1F31-3B03ACAC7A5E}"/>
              </a:ext>
            </a:extLst>
          </p:cNvPr>
          <p:cNvGraphicFramePr>
            <a:graphicFrameLocks noGrp="1"/>
          </p:cNvGraphicFramePr>
          <p:nvPr>
            <p:extLst>
              <p:ext uri="{D42A27DB-BD31-4B8C-83A1-F6EECF244321}">
                <p14:modId xmlns:p14="http://schemas.microsoft.com/office/powerpoint/2010/main" xmlns="" val="3137692659"/>
              </p:ext>
            </p:extLst>
          </p:nvPr>
        </p:nvGraphicFramePr>
        <p:xfrm>
          <a:off x="592836" y="2986484"/>
          <a:ext cx="5193578" cy="2072960"/>
        </p:xfrm>
        <a:graphic>
          <a:graphicData uri="http://schemas.openxmlformats.org/drawingml/2006/table">
            <a:tbl>
              <a:tblPr firstRow="1" bandRow="1"/>
              <a:tblGrid>
                <a:gridCol w="5193578">
                  <a:extLst>
                    <a:ext uri="{9D8B030D-6E8A-4147-A177-3AD203B41FA5}">
                      <a16:colId xmlns:a16="http://schemas.microsoft.com/office/drawing/2014/main" xmlns="" val="3562311931"/>
                    </a:ext>
                  </a:extLst>
                </a:gridCol>
              </a:tblGrid>
              <a:tr h="556346">
                <a:tc>
                  <a:txBody>
                    <a:bodyPr/>
                    <a:lstStyle/>
                    <a:p>
                      <a:r>
                        <a:rPr lang="zh-TW" altLang="en-US" sz="2700" dirty="0"/>
                        <a:t>不堪使用，無法維修</a:t>
                      </a:r>
                    </a:p>
                  </a:txBody>
                  <a:tcPr marL="137160" marR="137160" marT="68591" marB="68591"/>
                </a:tc>
                <a:extLst>
                  <a:ext uri="{0D108BD9-81ED-4DB2-BD59-A6C34878D82A}">
                    <a16:rowId xmlns:a16="http://schemas.microsoft.com/office/drawing/2014/main" xmlns="" val="3004874876"/>
                  </a:ext>
                </a:extLst>
              </a:tr>
              <a:tr h="960268">
                <a:tc>
                  <a:txBody>
                    <a:bodyPr/>
                    <a:lstStyle/>
                    <a:p>
                      <a:r>
                        <a:rPr lang="zh-TW" altLang="en-US" sz="2700" dirty="0"/>
                        <a:t>客戶兩年內已無訂單需求</a:t>
                      </a:r>
                    </a:p>
                  </a:txBody>
                  <a:tcPr marL="137160" marR="137160" marT="68591" marB="68591"/>
                </a:tc>
                <a:extLst>
                  <a:ext uri="{0D108BD9-81ED-4DB2-BD59-A6C34878D82A}">
                    <a16:rowId xmlns:a16="http://schemas.microsoft.com/office/drawing/2014/main" xmlns="" val="2637345287"/>
                  </a:ext>
                </a:extLst>
              </a:tr>
              <a:tr h="556346">
                <a:tc>
                  <a:txBody>
                    <a:bodyPr/>
                    <a:lstStyle/>
                    <a:p>
                      <a:endParaRPr lang="zh-TW" altLang="en-US" sz="2700" dirty="0"/>
                    </a:p>
                  </a:txBody>
                  <a:tcPr marL="137160" marR="137160" marT="68591" marB="68591"/>
                </a:tc>
                <a:extLst>
                  <a:ext uri="{0D108BD9-81ED-4DB2-BD59-A6C34878D82A}">
                    <a16:rowId xmlns:a16="http://schemas.microsoft.com/office/drawing/2014/main" xmlns="" val="1928614484"/>
                  </a:ext>
                </a:extLst>
              </a:tr>
            </a:tbl>
          </a:graphicData>
        </a:graphic>
      </p:graphicFrame>
      <p:sp>
        <p:nvSpPr>
          <p:cNvPr id="6"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a:t>
            </a:r>
            <a:endParaRPr lang="en-US" sz="1600" b="0" strike="noStrike" spc="-1" dirty="0">
              <a:solidFill>
                <a:srgbClr val="000000"/>
              </a:solidFill>
              <a:latin typeface="Calibri"/>
            </a:endParaRPr>
          </a:p>
        </p:txBody>
      </p:sp>
      <p:sp>
        <p:nvSpPr>
          <p:cNvPr id="5" name="文字方塊 4">
            <a:extLst>
              <a:ext uri="{FF2B5EF4-FFF2-40B4-BE49-F238E27FC236}">
                <a16:creationId xmlns:a16="http://schemas.microsoft.com/office/drawing/2014/main" xmlns=""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MM-IM-0170 </a:t>
            </a:r>
            <a:r>
              <a:rPr lang="zh-TW" altLang="en-US" b="1" dirty="0" smtClean="0">
                <a:latin typeface="微軟正黑體" panose="020B0604030504040204" pitchFamily="34" charset="-120"/>
                <a:ea typeface="微軟正黑體" panose="020B0604030504040204" pitchFamily="34" charset="-120"/>
              </a:rPr>
              <a:t>製</a:t>
            </a:r>
            <a:r>
              <a:rPr lang="zh-TW" altLang="en-US" b="1" dirty="0">
                <a:latin typeface="微軟正黑體" panose="020B0604030504040204" pitchFamily="34" charset="-120"/>
                <a:ea typeface="微軟正黑體" panose="020B0604030504040204" pitchFamily="34" charset="-120"/>
              </a:rPr>
              <a:t>工模具</a:t>
            </a:r>
            <a:r>
              <a:rPr kumimoji="0" lang="zh-TW" altLang="en-US" b="1" dirty="0">
                <a:latin typeface="微軟正黑體" panose="020B0604030504040204" pitchFamily="34" charset="-120"/>
                <a:ea typeface="微軟正黑體" panose="020B0604030504040204" pitchFamily="34" charset="-120"/>
              </a:rPr>
              <a:t>報廢作業流程</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15891</TotalTime>
  <Words>521</Words>
  <Application>Collabora_Office/23.05.5.4$Linux_X86_64 LibreOffice_project/1681200a96e5ffa1bee996c23ec760042f91abfa</Application>
  <PresentationFormat>自訂</PresentationFormat>
  <Paragraphs>129</Paragraphs>
  <Slides>7</Slides>
  <Notes>3</Notes>
  <HiddenSlides>0</HiddenSlides>
  <MMClips>0</MMClips>
  <ScaleCrop>false</ScaleCrop>
  <HeadingPairs>
    <vt:vector size="4" baseType="variant">
      <vt:variant>
        <vt:lpstr>佈景主題</vt:lpstr>
      </vt:variant>
      <vt:variant>
        <vt:i4>5</vt:i4>
      </vt:variant>
      <vt:variant>
        <vt:lpstr>投影片標題</vt:lpstr>
      </vt:variant>
      <vt:variant>
        <vt:i4>7</vt:i4>
      </vt:variant>
    </vt:vector>
  </HeadingPairs>
  <TitlesOfParts>
    <vt:vector size="12"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124</cp:revision>
  <dcterms:created xsi:type="dcterms:W3CDTF">2023-05-31T01:27:04Z</dcterms:created>
  <dcterms:modified xsi:type="dcterms:W3CDTF">2025-07-10T05:36:19Z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