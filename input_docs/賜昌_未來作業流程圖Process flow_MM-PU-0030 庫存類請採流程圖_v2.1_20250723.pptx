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2"/>
  </p:notesMasterIdLst>
  <p:sldIdLst>
    <p:sldId id="261" r:id="rId2"/>
    <p:sldId id="2147472997" r:id="rId3"/>
    <p:sldId id="257" r:id="rId4"/>
    <p:sldId id="2147375390" r:id="rId5"/>
    <p:sldId id="2147473003" r:id="rId6"/>
    <p:sldId id="2147375391" r:id="rId7"/>
    <p:sldId id="2147473001" r:id="rId8"/>
    <p:sldId id="2147473002" r:id="rId9"/>
    <p:sldId id="2147473000" r:id="rId10"/>
    <p:sldId id="2147375389" r:id="rId11"/>
  </p:sldIdLst>
  <p:sldSz cx="18288000" cy="102885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8D7CC"/>
    <a:srgbClr val="F1CB78"/>
    <a:srgbClr val="A82415"/>
    <a:srgbClr val="BE5107"/>
    <a:srgbClr val="FFA92A"/>
    <a:srgbClr val="4472C4"/>
    <a:srgbClr val="70170F"/>
    <a:srgbClr val="FF9300"/>
    <a:srgbClr val="ED8278"/>
    <a:srgbClr val="C40A1A"/>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271" autoAdjust="0"/>
    <p:restoredTop sz="94142"/>
  </p:normalViewPr>
  <p:slideViewPr>
    <p:cSldViewPr snapToGrid="0">
      <p:cViewPr>
        <p:scale>
          <a:sx n="50" d="100"/>
          <a:sy n="50" d="100"/>
        </p:scale>
        <p:origin x="-316" y="416"/>
      </p:cViewPr>
      <p:guideLst>
        <p:guide orient="horz" pos="3240"/>
        <p:guide pos="576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05686-526E-EA47-AD21-0320394F441D}" type="datetimeFigureOut">
              <a:rPr kumimoji="1" lang="zh-TW" altLang="en-US" smtClean="0"/>
              <a:pPr/>
              <a:t>2025/7/28</a:t>
            </a:fld>
            <a:endParaRPr kumimoji="1"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en-US" altLang="zh-TW"/>
              <a:t>Click to edit Master text styles</a:t>
            </a:r>
          </a:p>
          <a:p>
            <a:pPr lvl="1"/>
            <a:r>
              <a:rPr kumimoji="1" lang="en-US" altLang="zh-TW"/>
              <a:t>Second level</a:t>
            </a:r>
          </a:p>
          <a:p>
            <a:pPr lvl="2"/>
            <a:r>
              <a:rPr kumimoji="1" lang="en-US" altLang="zh-TW"/>
              <a:t>Third level</a:t>
            </a:r>
          </a:p>
          <a:p>
            <a:pPr lvl="3"/>
            <a:r>
              <a:rPr kumimoji="1" lang="en-US" altLang="zh-TW"/>
              <a:t>Fourth level</a:t>
            </a:r>
          </a:p>
          <a:p>
            <a:pPr lvl="4"/>
            <a:r>
              <a:rPr kumimoji="1" lang="en-US" altLang="zh-TW"/>
              <a:t>Fifth level</a:t>
            </a:r>
            <a:endParaRPr kumimoji="1"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98844B-D7EC-8749-B720-E795CFF10818}" type="slidenum">
              <a:rPr kumimoji="1" lang="zh-TW" altLang="en-US" smtClean="0"/>
              <a:pPr/>
              <a:t>‹#›</a:t>
            </a:fld>
            <a:endParaRPr kumimoji="1" lang="zh-TW" altLang="en-US"/>
          </a:p>
        </p:txBody>
      </p:sp>
    </p:spTree>
    <p:extLst>
      <p:ext uri="{BB962C8B-B14F-4D97-AF65-F5344CB8AC3E}">
        <p14:creationId xmlns:p14="http://schemas.microsoft.com/office/powerpoint/2010/main" xmlns="" val="3481488999"/>
      </p:ext>
    </p:extLst>
  </p:cSld>
  <p:clrMap bg1="lt1" tx1="dk1" bg2="lt2" tx2="dk2" accent1="accent1" accent2="accent2" accent3="accent3" accent4="accent4" accent5="accent5" accent6="accent6" hlink="hlink" folHlink="folHlink"/>
  <p:notesStyle>
    <a:lvl1pPr marL="0" algn="l" defTabSz="1371327" rtl="0" eaLnBrk="1" latinLnBrk="0" hangingPunct="1">
      <a:defRPr sz="1800" kern="1200">
        <a:solidFill>
          <a:schemeClr val="tx1"/>
        </a:solidFill>
        <a:latin typeface="+mn-lt"/>
        <a:ea typeface="+mn-ea"/>
        <a:cs typeface="+mn-cs"/>
      </a:defRPr>
    </a:lvl1pPr>
    <a:lvl2pPr marL="685662" algn="l" defTabSz="1371327" rtl="0" eaLnBrk="1" latinLnBrk="0" hangingPunct="1">
      <a:defRPr sz="1800" kern="1200">
        <a:solidFill>
          <a:schemeClr val="tx1"/>
        </a:solidFill>
        <a:latin typeface="+mn-lt"/>
        <a:ea typeface="+mn-ea"/>
        <a:cs typeface="+mn-cs"/>
      </a:defRPr>
    </a:lvl2pPr>
    <a:lvl3pPr marL="1371327" algn="l" defTabSz="1371327" rtl="0" eaLnBrk="1" latinLnBrk="0" hangingPunct="1">
      <a:defRPr sz="1800" kern="1200">
        <a:solidFill>
          <a:schemeClr val="tx1"/>
        </a:solidFill>
        <a:latin typeface="+mn-lt"/>
        <a:ea typeface="+mn-ea"/>
        <a:cs typeface="+mn-cs"/>
      </a:defRPr>
    </a:lvl3pPr>
    <a:lvl4pPr marL="2056989" algn="l" defTabSz="1371327" rtl="0" eaLnBrk="1" latinLnBrk="0" hangingPunct="1">
      <a:defRPr sz="1800" kern="1200">
        <a:solidFill>
          <a:schemeClr val="tx1"/>
        </a:solidFill>
        <a:latin typeface="+mn-lt"/>
        <a:ea typeface="+mn-ea"/>
        <a:cs typeface="+mn-cs"/>
      </a:defRPr>
    </a:lvl4pPr>
    <a:lvl5pPr marL="2742651" algn="l" defTabSz="1371327" rtl="0" eaLnBrk="1" latinLnBrk="0" hangingPunct="1">
      <a:defRPr sz="1800" kern="1200">
        <a:solidFill>
          <a:schemeClr val="tx1"/>
        </a:solidFill>
        <a:latin typeface="+mn-lt"/>
        <a:ea typeface="+mn-ea"/>
        <a:cs typeface="+mn-cs"/>
      </a:defRPr>
    </a:lvl5pPr>
    <a:lvl6pPr marL="3428315" algn="l" defTabSz="1371327" rtl="0" eaLnBrk="1" latinLnBrk="0" hangingPunct="1">
      <a:defRPr sz="1800" kern="1200">
        <a:solidFill>
          <a:schemeClr val="tx1"/>
        </a:solidFill>
        <a:latin typeface="+mn-lt"/>
        <a:ea typeface="+mn-ea"/>
        <a:cs typeface="+mn-cs"/>
      </a:defRPr>
    </a:lvl6pPr>
    <a:lvl7pPr marL="4113978" algn="l" defTabSz="1371327" rtl="0" eaLnBrk="1" latinLnBrk="0" hangingPunct="1">
      <a:defRPr sz="1800" kern="1200">
        <a:solidFill>
          <a:schemeClr val="tx1"/>
        </a:solidFill>
        <a:latin typeface="+mn-lt"/>
        <a:ea typeface="+mn-ea"/>
        <a:cs typeface="+mn-cs"/>
      </a:defRPr>
    </a:lvl7pPr>
    <a:lvl8pPr marL="4799640" algn="l" defTabSz="1371327" rtl="0" eaLnBrk="1" latinLnBrk="0" hangingPunct="1">
      <a:defRPr sz="1800" kern="1200">
        <a:solidFill>
          <a:schemeClr val="tx1"/>
        </a:solidFill>
        <a:latin typeface="+mn-lt"/>
        <a:ea typeface="+mn-ea"/>
        <a:cs typeface="+mn-cs"/>
      </a:defRPr>
    </a:lvl8pPr>
    <a:lvl9pPr marL="5485302" algn="l" defTabSz="1371327" rtl="0" eaLnBrk="1" latinLnBrk="0" hangingPunct="1">
      <a:defRPr sz="1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TW" altLang="en-US" dirty="0"/>
          </a:p>
        </p:txBody>
      </p:sp>
      <p:sp>
        <p:nvSpPr>
          <p:cNvPr id="4" name="Slide Number Placeholder 3"/>
          <p:cNvSpPr>
            <a:spLocks noGrp="1"/>
          </p:cNvSpPr>
          <p:nvPr>
            <p:ph type="sldNum" sz="quarter" idx="5"/>
          </p:nvPr>
        </p:nvSpPr>
        <p:spPr/>
        <p:txBody>
          <a:bodyPr/>
          <a:lstStyle/>
          <a:p>
            <a:fld id="{4598844B-D7EC-8749-B720-E795CFF10818}" type="slidenum">
              <a:rPr kumimoji="1" lang="zh-TW" altLang="en-US" smtClean="0"/>
              <a:pPr/>
              <a:t>1</a:t>
            </a:fld>
            <a:endParaRPr kumimoji="1" lang="zh-TW" altLang="en-US"/>
          </a:p>
        </p:txBody>
      </p:sp>
    </p:spTree>
    <p:extLst>
      <p:ext uri="{BB962C8B-B14F-4D97-AF65-F5344CB8AC3E}">
        <p14:creationId xmlns:p14="http://schemas.microsoft.com/office/powerpoint/2010/main" xmlns="" val="709080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99614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9961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xmlns="" id="{5A308213-629C-4B3B-0E62-A86CE8E9844B}"/>
            </a:ext>
          </a:extLst>
        </p:cNvPr>
        <p:cNvGrpSpPr/>
        <p:nvPr/>
      </p:nvGrpSpPr>
      <p:grpSpPr>
        <a:xfrm>
          <a:off x="0" y="0"/>
          <a:ext cx="0" cy="0"/>
          <a:chOff x="0" y="0"/>
          <a:chExt cx="0" cy="0"/>
        </a:xfrm>
      </p:grpSpPr>
      <p:sp>
        <p:nvSpPr>
          <p:cNvPr id="200" name="Google Shape;200;p4:notes">
            <a:extLst>
              <a:ext uri="{FF2B5EF4-FFF2-40B4-BE49-F238E27FC236}">
                <a16:creationId xmlns:a16="http://schemas.microsoft.com/office/drawing/2014/main" xmlns="" id="{9750245C-D440-67CB-C462-45C3E4ED580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a:extLst>
              <a:ext uri="{FF2B5EF4-FFF2-40B4-BE49-F238E27FC236}">
                <a16:creationId xmlns:a16="http://schemas.microsoft.com/office/drawing/2014/main" xmlns="" id="{1DB9C198-7C89-26FA-9964-BFD5CFB247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1389310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a:extLst>
            <a:ext uri="{FF2B5EF4-FFF2-40B4-BE49-F238E27FC236}">
              <a16:creationId xmlns:a16="http://schemas.microsoft.com/office/drawing/2014/main" xmlns="" id="{40EEC280-26EE-7913-F459-0110244E822C}"/>
            </a:ext>
          </a:extLst>
        </p:cNvPr>
        <p:cNvGrpSpPr/>
        <p:nvPr/>
      </p:nvGrpSpPr>
      <p:grpSpPr>
        <a:xfrm>
          <a:off x="0" y="0"/>
          <a:ext cx="0" cy="0"/>
          <a:chOff x="0" y="0"/>
          <a:chExt cx="0" cy="0"/>
        </a:xfrm>
      </p:grpSpPr>
      <p:sp>
        <p:nvSpPr>
          <p:cNvPr id="200" name="Google Shape;200;p4:notes">
            <a:extLst>
              <a:ext uri="{FF2B5EF4-FFF2-40B4-BE49-F238E27FC236}">
                <a16:creationId xmlns:a16="http://schemas.microsoft.com/office/drawing/2014/main" xmlns="" id="{51C6E8A9-F2F9-87E3-7864-E0162411AC1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a:extLst>
              <a:ext uri="{FF2B5EF4-FFF2-40B4-BE49-F238E27FC236}">
                <a16:creationId xmlns:a16="http://schemas.microsoft.com/office/drawing/2014/main" xmlns="" id="{508C244B-6DC9-FA99-D3E0-658F58416E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922479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xmlns="" val="3271384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804"/>
            <a:ext cx="13716000" cy="3581953"/>
          </a:xfrm>
        </p:spPr>
        <p:txBody>
          <a:bodyPr anchor="b"/>
          <a:lstStyle>
            <a:lvl1pPr algn="ctr">
              <a:defRPr sz="9000"/>
            </a:lvl1pPr>
          </a:lstStyle>
          <a:p>
            <a:r>
              <a:rPr lang="en-US" altLang="zh-TW" dirty="0"/>
              <a:t>Click to edit Master title style</a:t>
            </a:r>
            <a:endParaRPr lang="en-US" dirty="0"/>
          </a:p>
        </p:txBody>
      </p:sp>
      <p:sp>
        <p:nvSpPr>
          <p:cNvPr id="3" name="Subtitle 2"/>
          <p:cNvSpPr>
            <a:spLocks noGrp="1"/>
          </p:cNvSpPr>
          <p:nvPr>
            <p:ph type="subTitle" idx="1"/>
          </p:nvPr>
        </p:nvSpPr>
        <p:spPr>
          <a:xfrm>
            <a:off x="2286000" y="5403891"/>
            <a:ext cx="13716000" cy="2484026"/>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ltLang="zh-TW" dirty="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4688877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idx="1"/>
          </p:nvPr>
        </p:nvSpPr>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72288323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5004"/>
            <a:ext cx="15773400" cy="4279766"/>
          </a:xfrm>
        </p:spPr>
        <p:txBody>
          <a:bodyPr anchor="b"/>
          <a:lstStyle>
            <a:lvl1pPr>
              <a:defRPr sz="9000"/>
            </a:lvl1pPr>
          </a:lstStyle>
          <a:p>
            <a:r>
              <a:rPr lang="en-US" altLang="zh-TW" dirty="0"/>
              <a:t>Click to edit Master title style</a:t>
            </a:r>
            <a:endParaRPr lang="en-US" dirty="0"/>
          </a:p>
        </p:txBody>
      </p:sp>
      <p:sp>
        <p:nvSpPr>
          <p:cNvPr id="3" name="Text Placeholder 2"/>
          <p:cNvSpPr>
            <a:spLocks noGrp="1"/>
          </p:cNvSpPr>
          <p:nvPr>
            <p:ph type="body" idx="1"/>
          </p:nvPr>
        </p:nvSpPr>
        <p:spPr>
          <a:xfrm>
            <a:off x="1247775" y="6885258"/>
            <a:ext cx="15773400" cy="2250628"/>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ltLang="zh-TW" dirty="0"/>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75249958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Content Placeholder 2"/>
          <p:cNvSpPr>
            <a:spLocks noGrp="1"/>
          </p:cNvSpPr>
          <p:nvPr>
            <p:ph sz="half" idx="1"/>
          </p:nvPr>
        </p:nvSpPr>
        <p:spPr>
          <a:xfrm>
            <a:off x="1257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Content Placeholder 3"/>
          <p:cNvSpPr>
            <a:spLocks noGrp="1"/>
          </p:cNvSpPr>
          <p:nvPr>
            <p:ph sz="half" idx="2"/>
          </p:nvPr>
        </p:nvSpPr>
        <p:spPr>
          <a:xfrm>
            <a:off x="9258300" y="2738860"/>
            <a:ext cx="7772400" cy="652801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106830400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773"/>
            <a:ext cx="15773400" cy="1988651"/>
          </a:xfrm>
        </p:spPr>
        <p:txBody>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9683" y="2522134"/>
            <a:ext cx="7736681"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4" name="Content Placeholder 3"/>
          <p:cNvSpPr>
            <a:spLocks noGrp="1"/>
          </p:cNvSpPr>
          <p:nvPr>
            <p:ph sz="half" idx="2"/>
          </p:nvPr>
        </p:nvSpPr>
        <p:spPr>
          <a:xfrm>
            <a:off x="1259683" y="3758193"/>
            <a:ext cx="7736681"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5" name="Text Placeholder 4"/>
          <p:cNvSpPr>
            <a:spLocks noGrp="1"/>
          </p:cNvSpPr>
          <p:nvPr>
            <p:ph type="body" sz="quarter" idx="3"/>
          </p:nvPr>
        </p:nvSpPr>
        <p:spPr>
          <a:xfrm>
            <a:off x="9258300" y="2522134"/>
            <a:ext cx="7774782" cy="1236059"/>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ltLang="zh-TW" dirty="0"/>
              <a:t>Click to edit Master text styles</a:t>
            </a:r>
          </a:p>
        </p:txBody>
      </p:sp>
      <p:sp>
        <p:nvSpPr>
          <p:cNvPr id="6" name="Content Placeholder 5"/>
          <p:cNvSpPr>
            <a:spLocks noGrp="1"/>
          </p:cNvSpPr>
          <p:nvPr>
            <p:ph sz="quarter" idx="4"/>
          </p:nvPr>
        </p:nvSpPr>
        <p:spPr>
          <a:xfrm>
            <a:off x="9258300" y="3758193"/>
            <a:ext cx="7774782" cy="5527735"/>
          </a:xfrm>
        </p:spPr>
        <p:txBody>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6319273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8347444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30187064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Content Placeholder 2"/>
          <p:cNvSpPr>
            <a:spLocks noGrp="1"/>
          </p:cNvSpPr>
          <p:nvPr>
            <p:ph idx="1"/>
          </p:nvPr>
        </p:nvSpPr>
        <p:spPr>
          <a:xfrm>
            <a:off x="7774782" y="1481367"/>
            <a:ext cx="9258300" cy="7311566"/>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353915219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906"/>
            <a:ext cx="5898356" cy="2400671"/>
          </a:xfrm>
        </p:spPr>
        <p:txBody>
          <a:bodyPr anchor="b"/>
          <a:lstStyle>
            <a:lvl1pPr>
              <a:defRPr sz="4800"/>
            </a:lvl1pPr>
          </a:lstStyle>
          <a:p>
            <a:r>
              <a:rPr lang="en-US" altLang="zh-TW" dirty="0"/>
              <a:t>Click to edit Master title style</a:t>
            </a:r>
            <a:endParaRPr lang="en-US" dirty="0"/>
          </a:p>
        </p:txBody>
      </p:sp>
      <p:sp>
        <p:nvSpPr>
          <p:cNvPr id="3" name="Picture Placeholder 2"/>
          <p:cNvSpPr>
            <a:spLocks noGrp="1" noChangeAspect="1"/>
          </p:cNvSpPr>
          <p:nvPr>
            <p:ph type="pic" idx="1"/>
          </p:nvPr>
        </p:nvSpPr>
        <p:spPr>
          <a:xfrm>
            <a:off x="7774782" y="1481367"/>
            <a:ext cx="9258300" cy="7311566"/>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ltLang="zh-TW" dirty="0"/>
              <a:t>Click icon to add picture</a:t>
            </a:r>
            <a:endParaRPr lang="en-US" dirty="0"/>
          </a:p>
        </p:txBody>
      </p:sp>
      <p:sp>
        <p:nvSpPr>
          <p:cNvPr id="4" name="Text Placeholder 3"/>
          <p:cNvSpPr>
            <a:spLocks noGrp="1"/>
          </p:cNvSpPr>
          <p:nvPr>
            <p:ph type="body" sz="half" idx="2"/>
          </p:nvPr>
        </p:nvSpPr>
        <p:spPr>
          <a:xfrm>
            <a:off x="1259683" y="3086576"/>
            <a:ext cx="5898356" cy="5718265"/>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ltLang="zh-TW" dirty="0"/>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58747696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21438517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772"/>
            <a:ext cx="3943350" cy="8719103"/>
          </a:xfrm>
        </p:spPr>
        <p:txBody>
          <a:bodyPr vert="eaVert"/>
          <a:lstStyle/>
          <a:p>
            <a:r>
              <a:rPr lang="en-US" altLang="zh-TW" dirty="0"/>
              <a:t>Click to edit Master title style</a:t>
            </a:r>
            <a:endParaRPr lang="en-US" dirty="0"/>
          </a:p>
        </p:txBody>
      </p:sp>
      <p:sp>
        <p:nvSpPr>
          <p:cNvPr id="3" name="Vertical Text Placeholder 2"/>
          <p:cNvSpPr>
            <a:spLocks noGrp="1"/>
          </p:cNvSpPr>
          <p:nvPr>
            <p:ph type="body" orient="vert" idx="1"/>
          </p:nvPr>
        </p:nvSpPr>
        <p:spPr>
          <a:xfrm>
            <a:off x="1257300" y="547772"/>
            <a:ext cx="11601450" cy="8719103"/>
          </a:xfrm>
        </p:spPr>
        <p:txBody>
          <a:bodyPr vert="eaVert"/>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pPr/>
              <a:t>7/28/2025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114701806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訂版面配置">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xmlns="" id="{E25844F4-1900-BFFB-A55D-854D27EE700E}"/>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0"/>
            <a:ext cx="18288000" cy="10288588"/>
          </a:xfrm>
          <a:prstGeom prst="rect">
            <a:avLst/>
          </a:prstGeom>
        </p:spPr>
      </p:pic>
    </p:spTree>
    <p:extLst>
      <p:ext uri="{BB962C8B-B14F-4D97-AF65-F5344CB8AC3E}">
        <p14:creationId xmlns:p14="http://schemas.microsoft.com/office/powerpoint/2010/main" xmlns="" val="833539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自訂版面配置">
    <p:spTree>
      <p:nvGrpSpPr>
        <p:cNvPr id="1" name=""/>
        <p:cNvGrpSpPr/>
        <p:nvPr/>
      </p:nvGrpSpPr>
      <p:grpSpPr>
        <a:xfrm>
          <a:off x="0" y="0"/>
          <a:ext cx="0" cy="0"/>
          <a:chOff x="0" y="0"/>
          <a:chExt cx="0" cy="0"/>
        </a:xfrm>
      </p:grpSpPr>
      <p:pic>
        <p:nvPicPr>
          <p:cNvPr id="7" name="圖片 6">
            <a:extLst>
              <a:ext uri="{FF2B5EF4-FFF2-40B4-BE49-F238E27FC236}">
                <a16:creationId xmlns:a16="http://schemas.microsoft.com/office/drawing/2014/main" xmlns="" id="{1089C009-AC07-C46C-AE77-052C754A5BCD}"/>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3" y="2575"/>
            <a:ext cx="18287997" cy="10286015"/>
          </a:xfrm>
          <a:prstGeom prst="rect">
            <a:avLst/>
          </a:prstGeom>
        </p:spPr>
      </p:pic>
    </p:spTree>
    <p:extLst>
      <p:ext uri="{BB962C8B-B14F-4D97-AF65-F5344CB8AC3E}">
        <p14:creationId xmlns:p14="http://schemas.microsoft.com/office/powerpoint/2010/main" xmlns="" val="9564581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1290"/>
            <a:ext cx="18288000" cy="10286015"/>
          </a:xfrm>
          <a:prstGeom prst="rect">
            <a:avLst/>
          </a:prstGeom>
        </p:spPr>
      </p:pic>
      <p:sp>
        <p:nvSpPr>
          <p:cNvPr id="2" name="TextBox 1">
            <a:extLst>
              <a:ext uri="{FF2B5EF4-FFF2-40B4-BE49-F238E27FC236}">
                <a16:creationId xmlns:a16="http://schemas.microsoft.com/office/drawing/2014/main" xmlns="" id="{3C3275E5-3531-FFFA-3798-282621745510}"/>
              </a:ext>
            </a:extLst>
          </p:cNvPr>
          <p:cNvSpPr txBox="1"/>
          <p:nvPr userDrawn="1"/>
        </p:nvSpPr>
        <p:spPr>
          <a:xfrm>
            <a:off x="644238" y="600812"/>
            <a:ext cx="3262432" cy="1015663"/>
          </a:xfrm>
          <a:prstGeom prst="rect">
            <a:avLst/>
          </a:prstGeom>
          <a:noFill/>
        </p:spPr>
        <p:txBody>
          <a:bodyPr wrap="none" rtlCol="0">
            <a:spAutoFit/>
          </a:bodyPr>
          <a:lstStyle/>
          <a:p>
            <a:r>
              <a:rPr kumimoji="1" lang="zh-TW" altLang="en-US" sz="6000" b="1">
                <a:latin typeface="Microsoft JhengHei" panose="020B0604030504040204" pitchFamily="34" charset="-120"/>
                <a:ea typeface="Microsoft JhengHei" panose="020B0604030504040204" pitchFamily="34" charset="-120"/>
              </a:rPr>
              <a:t>重要聲明</a:t>
            </a:r>
          </a:p>
        </p:txBody>
      </p:sp>
      <p:sp>
        <p:nvSpPr>
          <p:cNvPr id="4" name="TextBox 3">
            <a:extLst>
              <a:ext uri="{FF2B5EF4-FFF2-40B4-BE49-F238E27FC236}">
                <a16:creationId xmlns:a16="http://schemas.microsoft.com/office/drawing/2014/main" xmlns="" id="{D3BA386D-4EF9-4F60-02E3-7C1A898CF24E}"/>
              </a:ext>
            </a:extLst>
          </p:cNvPr>
          <p:cNvSpPr txBox="1"/>
          <p:nvPr userDrawn="1"/>
        </p:nvSpPr>
        <p:spPr>
          <a:xfrm>
            <a:off x="561111" y="3205004"/>
            <a:ext cx="17165778" cy="3416320"/>
          </a:xfrm>
          <a:prstGeom prst="rect">
            <a:avLst/>
          </a:prstGeom>
          <a:noFill/>
        </p:spPr>
        <p:txBody>
          <a:bodyPr wrap="square" rtlCol="0">
            <a:spAutoFit/>
          </a:bodyPr>
          <a:lstStyle/>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本簡報依據</a:t>
            </a:r>
            <a:r>
              <a:rPr lang="zh-TW" altLang="en-US" sz="2400" b="1" dirty="0">
                <a:latin typeface="微軟正黑體" panose="020B0604030504040204" pitchFamily="34" charset="-120"/>
                <a:ea typeface="微軟正黑體" panose="020B0604030504040204" pitchFamily="34" charset="-120"/>
              </a:rPr>
              <a:t>裕榮昌科技股份有限公司台中分公司</a:t>
            </a: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之需求所編製。</a:t>
            </a: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buClr>
                <a:srgbClr val="000000"/>
              </a:buClr>
            </a:pPr>
            <a:endParaRPr lang="en-US" altLang="zh-TW" sz="2400" b="1" kern="0" dirty="0">
              <a:solidFill>
                <a:srgbClr val="000000"/>
              </a:solidFill>
              <a:latin typeface="微軟正黑體" panose="020B0604030504040204" pitchFamily="34" charset="-120"/>
              <a:ea typeface="微軟正黑體" panose="020B0604030504040204" pitchFamily="34" charset="-120"/>
              <a:cs typeface="Arial"/>
              <a:sym typeface="Arial"/>
            </a:endParaRPr>
          </a:p>
          <a:p>
            <a:pPr algn="just" fontAlgn="base"/>
            <a:r>
              <a:rPr lang="zh-TW" altLang="en-US" sz="2400" b="1" dirty="0">
                <a:latin typeface="微軟正黑體" panose="020B0604030504040204" pitchFamily="34" charset="-120"/>
                <a:ea typeface="微軟正黑體" panose="020B0604030504040204" pitchFamily="34" charset="-120"/>
              </a:rPr>
              <a:t>本份簡報係於</a:t>
            </a:r>
            <a:r>
              <a:rPr lang="en-US" altLang="zh-TW" sz="2400" b="1" dirty="0">
                <a:latin typeface="微軟正黑體" panose="020B0604030504040204" pitchFamily="34" charset="-120"/>
                <a:ea typeface="微軟正黑體" panose="020B0604030504040204" pitchFamily="34" charset="-120"/>
              </a:rPr>
              <a:t>2025</a:t>
            </a:r>
            <a:r>
              <a:rPr lang="zh-TW" altLang="en-US" sz="2400" b="1" dirty="0">
                <a:latin typeface="微軟正黑體" panose="020B0604030504040204" pitchFamily="34" charset="-120"/>
                <a:ea typeface="微軟正黑體" panose="020B0604030504040204" pitchFamily="34" charset="-120"/>
              </a:rPr>
              <a:t>年</a:t>
            </a:r>
            <a:r>
              <a:rPr lang="en-US" altLang="zh-TW" sz="2400" b="1" dirty="0">
                <a:latin typeface="微軟正黑體" panose="020B0604030504040204" pitchFamily="34" charset="-120"/>
                <a:ea typeface="微軟正黑體" panose="020B0604030504040204" pitchFamily="34" charset="-120"/>
              </a:rPr>
              <a:t>4</a:t>
            </a:r>
            <a:r>
              <a:rPr lang="zh-TW" altLang="en-US" sz="2400" b="1" dirty="0">
                <a:latin typeface="微軟正黑體" panose="020B0604030504040204" pitchFamily="34" charset="-120"/>
                <a:ea typeface="微軟正黑體" panose="020B0604030504040204" pitchFamily="34" charset="-120"/>
              </a:rPr>
              <a:t>月</a:t>
            </a:r>
            <a:r>
              <a:rPr lang="en-US" altLang="zh-TW" sz="2400" b="1" dirty="0">
                <a:latin typeface="微軟正黑體" panose="020B0604030504040204" pitchFamily="34" charset="-120"/>
                <a:ea typeface="微軟正黑體" panose="020B0604030504040204" pitchFamily="34" charset="-120"/>
              </a:rPr>
              <a:t>1</a:t>
            </a:r>
            <a:r>
              <a:rPr lang="zh-TW" altLang="en-US" sz="2400" b="1" dirty="0">
                <a:latin typeface="微軟正黑體" panose="020B0604030504040204" pitchFamily="34" charset="-120"/>
                <a:ea typeface="微軟正黑體" panose="020B0604030504040204" pitchFamily="34" charset="-120"/>
              </a:rPr>
              <a:t>日簽訂之服務委任合約製作完成，僅提供賜昌集團內部參考使用。</a:t>
            </a:r>
          </a:p>
          <a:p>
            <a:pPr algn="just" fontAlgn="base"/>
            <a:endParaRPr lang="en-US" altLang="zh-TW" sz="2400" b="1" dirty="0">
              <a:latin typeface="微軟正黑體" panose="020B0604030504040204" pitchFamily="34" charset="-120"/>
              <a:ea typeface="微軟正黑體" panose="020B0604030504040204" pitchFamily="34" charset="-120"/>
            </a:endParaRPr>
          </a:p>
          <a:p>
            <a:pPr algn="just" fontAlgn="base"/>
            <a:r>
              <a:rPr lang="zh-TW" altLang="en-US" sz="2400" b="1" dirty="0">
                <a:latin typeface="微軟正黑體" panose="020B0604030504040204" pitchFamily="34" charset="-120"/>
                <a:ea typeface="微軟正黑體" panose="020B0604030504040204" pitchFamily="34" charset="-120"/>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p>
          <a:p>
            <a:endParaRPr lang="zh-TW" altLang="en-US" sz="2400" b="1" dirty="0">
              <a:latin typeface="微軟正黑體" panose="020B0604030504040204" pitchFamily="34" charset="-120"/>
              <a:ea typeface="微軟正黑體" panose="020B0604030504040204" pitchFamily="34" charset="-120"/>
            </a:endParaRPr>
          </a:p>
          <a:p>
            <a:pPr>
              <a:buClr>
                <a:srgbClr val="000000"/>
              </a:buClr>
            </a:pPr>
            <a:r>
              <a:rPr lang="zh-TW" altLang="en-US" sz="2400" b="1" kern="0" dirty="0">
                <a:solidFill>
                  <a:srgbClr val="000000"/>
                </a:solidFill>
                <a:latin typeface="微軟正黑體" panose="020B0604030504040204" pitchFamily="34" charset="-120"/>
                <a:ea typeface="微軟正黑體" panose="020B0604030504040204" pitchFamily="34" charset="-120"/>
                <a:cs typeface="Arial"/>
                <a:sym typeface="Arial"/>
              </a:rPr>
              <a:t>未經本公司書面同意，  貴公司以及專案所有成員不得將本簡報之全部或部分提供予任何第三人或使第三人得知其內容。</a:t>
            </a:r>
          </a:p>
        </p:txBody>
      </p:sp>
    </p:spTree>
    <p:extLst>
      <p:ext uri="{BB962C8B-B14F-4D97-AF65-F5344CB8AC3E}">
        <p14:creationId xmlns:p14="http://schemas.microsoft.com/office/powerpoint/2010/main" xmlns="" val="194200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自訂版面配置">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xmlns="" id="{8BD2CC32-CECA-3D65-6472-4640E726C047}"/>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1290"/>
            <a:ext cx="18288000" cy="10286015"/>
          </a:xfrm>
          <a:prstGeom prst="rect">
            <a:avLst/>
          </a:prstGeom>
        </p:spPr>
      </p:pic>
    </p:spTree>
    <p:extLst>
      <p:ext uri="{BB962C8B-B14F-4D97-AF65-F5344CB8AC3E}">
        <p14:creationId xmlns:p14="http://schemas.microsoft.com/office/powerpoint/2010/main" xmlns="" val="275478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Title and Full Content - Subtitle" preserve="1">
  <p:cSld name="2_Title and Full Content - Subtitle">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664371" y="715994"/>
            <a:ext cx="16959261" cy="684373"/>
          </a:xfrm>
          <a:prstGeom prst="rect">
            <a:avLst/>
          </a:prstGeom>
          <a:noFill/>
          <a:ln>
            <a:noFill/>
          </a:ln>
        </p:spPr>
        <p:txBody>
          <a:bodyPr spcFirstLastPara="1" wrap="square" lIns="0" tIns="0" rIns="0" bIns="0" anchor="t" anchorCtr="0">
            <a:normAutofit/>
          </a:bodyPr>
          <a:lstStyle>
            <a:lvl1pPr lvl="0" algn="l">
              <a:lnSpc>
                <a:spcPct val="85000"/>
              </a:lnSpc>
              <a:spcBef>
                <a:spcPts val="0"/>
              </a:spcBef>
              <a:spcAft>
                <a:spcPts val="0"/>
              </a:spcAft>
              <a:buClr>
                <a:schemeClr val="dk1"/>
              </a:buClr>
              <a:buSzPts val="2800"/>
              <a:buFont typeface="Microsoft JhengHei"/>
              <a:buNone/>
              <a:defRPr sz="4200" b="1">
                <a:latin typeface="Microsoft JhengHei"/>
                <a:ea typeface="Microsoft JhengHei"/>
                <a:cs typeface="Microsoft JhengHei"/>
                <a:sym typeface="Microsoft JhengHe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8"/>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a:pPr/>
              <a:t>‹#›</a:t>
            </a:fld>
            <a:endParaRPr lang="en-US"/>
          </a:p>
        </p:txBody>
      </p:sp>
      <p:sp>
        <p:nvSpPr>
          <p:cNvPr id="28" name="Google Shape;28;p8"/>
          <p:cNvSpPr txBox="1">
            <a:spLocks noGrp="1"/>
          </p:cNvSpPr>
          <p:nvPr>
            <p:ph type="subTitle" idx="1"/>
          </p:nvPr>
        </p:nvSpPr>
        <p:spPr>
          <a:xfrm>
            <a:off x="664368" y="1674730"/>
            <a:ext cx="16959264" cy="1212484"/>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accent4"/>
              </a:buClr>
              <a:buSzPts val="2000"/>
              <a:buNone/>
              <a:defRPr sz="3000" b="1">
                <a:solidFill>
                  <a:schemeClr val="accent4"/>
                </a:solidFill>
                <a:latin typeface="Microsoft JhengHei"/>
                <a:ea typeface="Microsoft JhengHei"/>
                <a:cs typeface="Microsoft JhengHei"/>
                <a:sym typeface="Microsoft JhengHei"/>
              </a:defRPr>
            </a:lvl1pPr>
            <a:lvl2pPr lvl="1" algn="l">
              <a:lnSpc>
                <a:spcPct val="85000"/>
              </a:lnSpc>
              <a:spcBef>
                <a:spcPts val="0"/>
              </a:spcBef>
              <a:spcAft>
                <a:spcPts val="0"/>
              </a:spcAft>
              <a:buClr>
                <a:schemeClr val="dk1"/>
              </a:buClr>
              <a:buSzPts val="2400"/>
              <a:buNone/>
              <a:defRPr sz="3600"/>
            </a:lvl2pPr>
            <a:lvl3pPr lvl="2" algn="l">
              <a:lnSpc>
                <a:spcPct val="85000"/>
              </a:lnSpc>
              <a:spcBef>
                <a:spcPts val="0"/>
              </a:spcBef>
              <a:spcAft>
                <a:spcPts val="0"/>
              </a:spcAft>
              <a:buClr>
                <a:schemeClr val="dk1"/>
              </a:buClr>
              <a:buSzPts val="2400"/>
              <a:buNone/>
              <a:defRPr sz="3600"/>
            </a:lvl3pPr>
            <a:lvl4pPr lvl="3" algn="l">
              <a:lnSpc>
                <a:spcPct val="85000"/>
              </a:lnSpc>
              <a:spcBef>
                <a:spcPts val="0"/>
              </a:spcBef>
              <a:spcAft>
                <a:spcPts val="0"/>
              </a:spcAft>
              <a:buClr>
                <a:schemeClr val="dk1"/>
              </a:buClr>
              <a:buSzPts val="2400"/>
              <a:buNone/>
              <a:defRPr sz="3600"/>
            </a:lvl4pPr>
            <a:lvl5pPr lvl="4" algn="l">
              <a:lnSpc>
                <a:spcPct val="85000"/>
              </a:lnSpc>
              <a:spcBef>
                <a:spcPts val="0"/>
              </a:spcBef>
              <a:spcAft>
                <a:spcPts val="0"/>
              </a:spcAft>
              <a:buClr>
                <a:schemeClr val="dk1"/>
              </a:buClr>
              <a:buSzPts val="2400"/>
              <a:buNone/>
              <a:defRPr sz="3600"/>
            </a:lvl5pPr>
            <a:lvl6pPr lvl="5" algn="l">
              <a:lnSpc>
                <a:spcPct val="85000"/>
              </a:lnSpc>
              <a:spcBef>
                <a:spcPts val="0"/>
              </a:spcBef>
              <a:spcAft>
                <a:spcPts val="0"/>
              </a:spcAft>
              <a:buClr>
                <a:schemeClr val="dk1"/>
              </a:buClr>
              <a:buSzPts val="2400"/>
              <a:buNone/>
              <a:defRPr sz="3600"/>
            </a:lvl6pPr>
            <a:lvl7pPr lvl="6" algn="l">
              <a:lnSpc>
                <a:spcPct val="85000"/>
              </a:lnSpc>
              <a:spcBef>
                <a:spcPts val="0"/>
              </a:spcBef>
              <a:spcAft>
                <a:spcPts val="0"/>
              </a:spcAft>
              <a:buClr>
                <a:schemeClr val="dk1"/>
              </a:buClr>
              <a:buSzPts val="2400"/>
              <a:buNone/>
              <a:defRPr sz="3600"/>
            </a:lvl7pPr>
            <a:lvl8pPr lvl="7" algn="l">
              <a:lnSpc>
                <a:spcPct val="85000"/>
              </a:lnSpc>
              <a:spcBef>
                <a:spcPts val="0"/>
              </a:spcBef>
              <a:spcAft>
                <a:spcPts val="0"/>
              </a:spcAft>
              <a:buClr>
                <a:schemeClr val="dk1"/>
              </a:buClr>
              <a:buSzPts val="2400"/>
              <a:buNone/>
              <a:defRPr sz="3600"/>
            </a:lvl8pPr>
            <a:lvl9pPr lvl="8" algn="l">
              <a:lnSpc>
                <a:spcPct val="85000"/>
              </a:lnSpc>
              <a:spcBef>
                <a:spcPts val="0"/>
              </a:spcBef>
              <a:spcAft>
                <a:spcPts val="0"/>
              </a:spcAft>
              <a:buClr>
                <a:schemeClr val="dk1"/>
              </a:buClr>
              <a:buSzPts val="2400"/>
              <a:buNone/>
              <a:defRPr sz="3600"/>
            </a:lvl9pPr>
          </a:lstStyle>
          <a:p>
            <a:endParaRPr/>
          </a:p>
        </p:txBody>
      </p:sp>
      <p:cxnSp>
        <p:nvCxnSpPr>
          <p:cNvPr id="2" name="Google Shape;26;p8">
            <a:extLst>
              <a:ext uri="{FF2B5EF4-FFF2-40B4-BE49-F238E27FC236}">
                <a16:creationId xmlns:a16="http://schemas.microsoft.com/office/drawing/2014/main" xmlns="" id="{3C44852E-2A4F-C390-0531-598DA50C7D0D}"/>
              </a:ext>
            </a:extLst>
          </p:cNvPr>
          <p:cNvCxnSpPr>
            <a:cxnSpLocks/>
          </p:cNvCxnSpPr>
          <p:nvPr userDrawn="1"/>
        </p:nvCxnSpPr>
        <p:spPr>
          <a:xfrm>
            <a:off x="609166" y="1512141"/>
            <a:ext cx="17014463" cy="0"/>
          </a:xfrm>
          <a:prstGeom prst="straightConnector1">
            <a:avLst/>
          </a:prstGeom>
          <a:noFill/>
          <a:ln w="38100" cap="sq" cmpd="sng">
            <a:solidFill>
              <a:srgbClr val="A82415"/>
            </a:solidFill>
            <a:prstDash val="solid"/>
            <a:round/>
            <a:headEnd type="none" w="sm" len="sm"/>
            <a:tailEnd type="none" w="sm" len="sm"/>
          </a:ln>
        </p:spPr>
      </p:cxnSp>
      <p:pic>
        <p:nvPicPr>
          <p:cNvPr id="3" name="Google Shape;27;p8" descr="A red and black logo&#10;&#10;Description automatically generated">
            <a:extLst>
              <a:ext uri="{FF2B5EF4-FFF2-40B4-BE49-F238E27FC236}">
                <a16:creationId xmlns:a16="http://schemas.microsoft.com/office/drawing/2014/main" xmlns="" id="{7203C895-E48E-5654-59B4-87C538B70FA1}"/>
              </a:ext>
            </a:extLst>
          </p:cNvPr>
          <p:cNvPicPr preferRelativeResize="0"/>
          <p:nvPr userDrawn="1"/>
        </p:nvPicPr>
        <p:blipFill rotWithShape="1">
          <a:blip r:embed="rId2">
            <a:alphaModFix/>
          </a:blip>
          <a:srcRect/>
          <a:stretch/>
        </p:blipFill>
        <p:spPr>
          <a:xfrm>
            <a:off x="16791708" y="695699"/>
            <a:ext cx="831921" cy="724961"/>
          </a:xfrm>
          <a:prstGeom prst="rect">
            <a:avLst/>
          </a:prstGeom>
          <a:noFill/>
          <a:ln>
            <a:noFill/>
          </a:ln>
        </p:spPr>
      </p:pic>
    </p:spTree>
    <p:extLst>
      <p:ext uri="{BB962C8B-B14F-4D97-AF65-F5344CB8AC3E}">
        <p14:creationId xmlns:p14="http://schemas.microsoft.com/office/powerpoint/2010/main" xmlns="" val="1804427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Title and Full Content - Subtitle" preserve="1" userDrawn="1">
  <p:cSld name="2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xmlns="" val="3675913295"/>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11889371">
                  <a:extLst>
                    <a:ext uri="{9D8B030D-6E8A-4147-A177-3AD203B41FA5}">
                      <a16:colId xmlns:a16="http://schemas.microsoft.com/office/drawing/2014/main" xmlns="" val="20001"/>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r h="8799383">
                <a:tc gridSpan="3">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pPr marL="0" marR="0" lvl="0" indent="0" algn="ctr"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pPr marL="0" marR="0" lvl="0" indent="0" algn="ctr" rtl="0">
                        <a:lnSpc>
                          <a:spcPct val="100000"/>
                        </a:lnSpc>
                        <a:spcBef>
                          <a:spcPts val="0"/>
                        </a:spcBef>
                        <a:spcAft>
                          <a:spcPts val="0"/>
                        </a:spcAft>
                        <a:buClr>
                          <a:schemeClr val="dk1"/>
                        </a:buClr>
                        <a:buSzPts val="1000"/>
                        <a:buFont typeface="Arial"/>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4" name="Google Shape;24;p8">
            <a:extLst>
              <a:ext uri="{FF2B5EF4-FFF2-40B4-BE49-F238E27FC236}">
                <a16:creationId xmlns:a16="http://schemas.microsoft.com/office/drawing/2014/main" xmlns="" id="{10ED93F3-E6DB-99ED-6C71-93C2253FB3D7}"/>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xmlns="" val="19753370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and Full Content - Subtitle" userDrawn="1">
  <p:cSld name="1_Title and Full Content - Subtitle">
    <p:spTree>
      <p:nvGrpSpPr>
        <p:cNvPr id="1" name="Shape 21"/>
        <p:cNvGrpSpPr/>
        <p:nvPr/>
      </p:nvGrpSpPr>
      <p:grpSpPr>
        <a:xfrm>
          <a:off x="0" y="0"/>
          <a:ext cx="0" cy="0"/>
          <a:chOff x="0" y="0"/>
          <a:chExt cx="0" cy="0"/>
        </a:xfrm>
      </p:grpSpPr>
      <p:graphicFrame>
        <p:nvGraphicFramePr>
          <p:cNvPr id="2" name="Google Shape;35;p9">
            <a:extLst>
              <a:ext uri="{FF2B5EF4-FFF2-40B4-BE49-F238E27FC236}">
                <a16:creationId xmlns:a16="http://schemas.microsoft.com/office/drawing/2014/main" xmlns="" id="{DDE4C3EC-89CD-BB54-5F4C-D558F5C045CB}"/>
              </a:ext>
            </a:extLst>
          </p:cNvPr>
          <p:cNvGraphicFramePr/>
          <p:nvPr userDrawn="1">
            <p:extLst>
              <p:ext uri="{D42A27DB-BD31-4B8C-83A1-F6EECF244321}">
                <p14:modId xmlns:p14="http://schemas.microsoft.com/office/powerpoint/2010/main" xmlns="" val="642626727"/>
              </p:ext>
            </p:extLst>
          </p:nvPr>
        </p:nvGraphicFramePr>
        <p:xfrm>
          <a:off x="122557" y="114450"/>
          <a:ext cx="18019970" cy="10041076"/>
        </p:xfrm>
        <a:graphic>
          <a:graphicData uri="http://schemas.openxmlformats.org/drawingml/2006/table">
            <a:tbl>
              <a:tblPr>
                <a:noFill/>
              </a:tblPr>
              <a:tblGrid>
                <a:gridCol w="2311228">
                  <a:extLst>
                    <a:ext uri="{9D8B030D-6E8A-4147-A177-3AD203B41FA5}">
                      <a16:colId xmlns:a16="http://schemas.microsoft.com/office/drawing/2014/main" xmlns="" val="20000"/>
                    </a:ext>
                  </a:extLst>
                </a:gridCol>
                <a:gridCol w="9468940">
                  <a:extLst>
                    <a:ext uri="{9D8B030D-6E8A-4147-A177-3AD203B41FA5}">
                      <a16:colId xmlns:a16="http://schemas.microsoft.com/office/drawing/2014/main" xmlns="" val="20001"/>
                    </a:ext>
                  </a:extLst>
                </a:gridCol>
                <a:gridCol w="2420431">
                  <a:extLst>
                    <a:ext uri="{9D8B030D-6E8A-4147-A177-3AD203B41FA5}">
                      <a16:colId xmlns:a16="http://schemas.microsoft.com/office/drawing/2014/main" xmlns="" val="697488759"/>
                    </a:ext>
                  </a:extLst>
                </a:gridCol>
                <a:gridCol w="3819371">
                  <a:extLst>
                    <a:ext uri="{9D8B030D-6E8A-4147-A177-3AD203B41FA5}">
                      <a16:colId xmlns:a16="http://schemas.microsoft.com/office/drawing/2014/main" xmlns="" val="20002"/>
                    </a:ext>
                  </a:extLst>
                </a:gridCol>
              </a:tblGrid>
              <a:tr h="626091">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Company / 公司名稱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gridSpan="2">
                  <a:txBody>
                    <a:bodyPr/>
                    <a:lstStyle/>
                    <a:p>
                      <a:pPr marL="0" marR="0" lvl="0" indent="0" algn="ctr" rtl="0">
                        <a:lnSpc>
                          <a:spcPct val="150000"/>
                        </a:lnSpc>
                        <a:spcBef>
                          <a:spcPts val="0"/>
                        </a:spcBef>
                        <a:spcAft>
                          <a:spcPts val="0"/>
                        </a:spcAft>
                        <a:buNone/>
                      </a:pPr>
                      <a:r>
                        <a:rPr lang="en-US" sz="2400" b="1">
                          <a:solidFill>
                            <a:schemeClr val="dk1"/>
                          </a:solidFill>
                          <a:latin typeface="Microsoft JhengHei"/>
                          <a:ea typeface="Microsoft JhengHei"/>
                          <a:cs typeface="Microsoft JhengHei"/>
                          <a:sym typeface="Microsoft JhengHei"/>
                        </a:rPr>
                        <a:t>                Freetrend </a:t>
                      </a:r>
                      <a:r>
                        <a:rPr lang="zh-TW" altLang="en-US" sz="2400" b="1">
                          <a:solidFill>
                            <a:schemeClr val="dk1"/>
                          </a:solidFill>
                          <a:latin typeface="Microsoft JhengHei"/>
                          <a:ea typeface="Microsoft JhengHei"/>
                          <a:cs typeface="Microsoft JhengHei"/>
                          <a:sym typeface="Microsoft JhengHei"/>
                        </a:rPr>
                        <a:t>賜昌集團</a:t>
                      </a:r>
                      <a:endParaRPr sz="2400" b="1">
                        <a:solidFill>
                          <a:schemeClr val="dk1"/>
                        </a:solidFill>
                        <a:latin typeface="Microsoft JhengHei"/>
                        <a:ea typeface="Microsoft JhengHei"/>
                        <a:cs typeface="Microsoft JhengHei"/>
                        <a:sym typeface="Microsoft JhengHei"/>
                      </a:endParaRPr>
                    </a:p>
                  </a:txBody>
                  <a:tcPr marL="84400" marR="8440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hMerge="1">
                  <a:txBody>
                    <a:bodyPr/>
                    <a:lstStyle/>
                    <a:p>
                      <a:endParaRPr lang="zh-TW" altLang="en-US"/>
                    </a:p>
                  </a:txBody>
                  <a:tcPr/>
                </a:tc>
                <a:tc rowSpan="2">
                  <a:txBody>
                    <a:bodyPr/>
                    <a:lstStyle/>
                    <a:p>
                      <a:pPr marL="0" marR="0" lvl="0" indent="0" algn="l" rtl="0">
                        <a:lnSpc>
                          <a:spcPct val="100000"/>
                        </a:lnSpc>
                        <a:spcBef>
                          <a:spcPts val="0"/>
                        </a:spcBef>
                        <a:spcAft>
                          <a:spcPts val="0"/>
                        </a:spcAft>
                        <a:buNone/>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Page </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頁次：</a:t>
                      </a:r>
                      <a:endParaRPr lang="zh-TW" altLang="en-US" sz="1600" b="1">
                        <a:latin typeface="Microsoft JhengHei" panose="020B0604030504040204" pitchFamily="34" charset="-120"/>
                        <a:ea typeface="Microsoft JhengHei" panose="020B0604030504040204" pitchFamily="34" charset="-120"/>
                      </a:endParaRPr>
                    </a:p>
                    <a:p>
                      <a:pPr marL="0" marR="0" lvl="0" indent="0" algn="l" defTabSz="914446" rtl="0" eaLnBrk="1" fontAlgn="auto" latinLnBrk="0" hangingPunct="1">
                        <a:lnSpc>
                          <a:spcPct val="100000"/>
                        </a:lnSpc>
                        <a:spcBef>
                          <a:spcPts val="300"/>
                        </a:spcBef>
                        <a:spcAft>
                          <a:spcPts val="0"/>
                        </a:spcAft>
                        <a:buClrTx/>
                        <a:buSzTx/>
                        <a:buFontTx/>
                        <a:buNone/>
                        <a:tabLst/>
                        <a:defRPr/>
                      </a:pPr>
                      <a:r>
                        <a:rPr 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Latest Update 最後更新</a:t>
                      </a:r>
                      <a:r>
                        <a:rPr lang="zh-TW" altLang="en-US"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a:t>
                      </a:r>
                      <a:endParaRPr lang="en-US" altLang="zh-TW" sz="1600" b="1" i="0" u="none" strike="noStrike" cap="none">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60160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ID / Name</a:t>
                      </a:r>
                      <a:endParaRPr sz="1600" b="1">
                        <a:latin typeface="Microsoft JhengHei" panose="020B0604030504040204" pitchFamily="34" charset="-120"/>
                        <a:ea typeface="Microsoft JhengHei" panose="020B0604030504040204" pitchFamily="34" charset="-120"/>
                      </a:endParaRPr>
                    </a:p>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流程代碼 / 名稱</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gridSpan="2">
                  <a:txBody>
                    <a:bodyPr/>
                    <a:lstStyle/>
                    <a:p>
                      <a:pPr marL="0" marR="0" lvl="0" indent="0" algn="l" rtl="0">
                        <a:spcBef>
                          <a:spcPts val="0"/>
                        </a:spcBef>
                        <a:spcAft>
                          <a:spcPts val="0"/>
                        </a:spcAft>
                        <a:buNone/>
                      </a:pPr>
                      <a:endParaRPr sz="1600">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hMerge="1">
                  <a:txBody>
                    <a:bodyPr/>
                    <a:lstStyle/>
                    <a:p>
                      <a:endParaRPr lang="zh-TW" altLang="en-US"/>
                    </a:p>
                  </a:txBody>
                  <a:tcPr/>
                </a:tc>
                <a:tc vMerge="1">
                  <a:txBody>
                    <a:bodyPr/>
                    <a:lstStyle/>
                    <a:p>
                      <a:endParaRPr lang="en-US"/>
                    </a:p>
                  </a:txBody>
                  <a:tcPr/>
                </a:tc>
                <a:extLst>
                  <a:ext uri="{0D108BD9-81ED-4DB2-BD59-A6C34878D82A}">
                    <a16:rowId xmlns:a16="http://schemas.microsoft.com/office/drawing/2014/main" xmlns="" val="10001"/>
                  </a:ext>
                </a:extLst>
              </a:tr>
              <a:tr h="370223">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Input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spcBef>
                          <a:spcPts val="0"/>
                        </a:spcBef>
                        <a:spcAft>
                          <a:spcPts val="0"/>
                        </a:spcAft>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Output</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lgn="ctr">
                      <a:solidFill>
                        <a:schemeClr val="dk1"/>
                      </a:solidFill>
                      <a:prstDash val="solid"/>
                      <a:round/>
                      <a:headEnd type="none" w="sm" len="sm"/>
                      <a:tailEnd type="none" w="sm" len="sm"/>
                    </a:lnR>
                    <a:lnT w="12700" cap="flat" cmpd="sng" algn="ctr">
                      <a:solidFill>
                        <a:schemeClr val="dk1"/>
                      </a:solidFill>
                      <a:prstDash val="solid"/>
                      <a:round/>
                      <a:headEnd type="none" w="sm" len="sm"/>
                      <a:tailEnd type="none" w="sm" len="sm"/>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ctr" rtl="0">
                        <a:lnSpc>
                          <a:spcPct val="100000"/>
                        </a:lnSpc>
                        <a:spcBef>
                          <a:spcPts val="0"/>
                        </a:spcBef>
                        <a:spcAft>
                          <a:spcPts val="0"/>
                        </a:spcAft>
                        <a:buClr>
                          <a:schemeClr val="dk1"/>
                        </a:buClr>
                        <a:buSzPts val="1000"/>
                        <a:buFont typeface="Arial"/>
                        <a:buNone/>
                      </a:pPr>
                      <a:r>
                        <a:rPr lang="en-US"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rPr>
                        <a:t>Process Activities</a:t>
                      </a:r>
                      <a:endParaRPr sz="1600" b="1">
                        <a:solidFill>
                          <a:schemeClr val="dk1"/>
                        </a:solidFill>
                        <a:latin typeface="Microsoft JhengHei" panose="020B0604030504040204" pitchFamily="34" charset="-120"/>
                        <a:ea typeface="Microsoft JhengHei" panose="020B0604030504040204" pitchFamily="34" charset="-120"/>
                        <a:cs typeface="Microsoft JhengHei"/>
                        <a:sym typeface="Microsoft JhengHei"/>
                      </a:endParaRPr>
                    </a:p>
                  </a:txBody>
                  <a:tcPr marL="84400" marR="84400" marT="45725" marB="45725" anchor="ctr">
                    <a:lnL w="12700" cap="flat" cmpd="sng" algn="ctr">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lgn="ctr">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438868285"/>
                  </a:ext>
                </a:extLst>
              </a:tr>
              <a:tr h="8429160">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solidFill>
                        <a:schemeClr val="dk1"/>
                      </a:solid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spcBef>
                          <a:spcPts val="0"/>
                        </a:spcBef>
                        <a:spcAft>
                          <a:spcPts val="0"/>
                        </a:spcAft>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endParaRPr sz="1000">
                        <a:solidFill>
                          <a:schemeClr val="dk1"/>
                        </a:solidFill>
                        <a:latin typeface="Microsoft JhengHei"/>
                        <a:ea typeface="Microsoft JhengHei"/>
                        <a:cs typeface="Microsoft JhengHei"/>
                        <a:sym typeface="Microsoft JhengHei"/>
                      </a:endParaRPr>
                    </a:p>
                  </a:txBody>
                  <a:tcPr marL="84400" marR="84400" marT="45725" marB="45725" anchor="ctr">
                    <a:lnL w="12700" cap="flat" cmpd="sng" algn="ctr">
                      <a:solidFill>
                        <a:schemeClr val="tx1"/>
                      </a:solidFill>
                      <a:prstDash val="solid"/>
                      <a:round/>
                      <a:headEnd type="none" w="med" len="med"/>
                      <a:tailEnd type="none" w="med" len="med"/>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3940032794"/>
                  </a:ext>
                </a:extLst>
              </a:tr>
            </a:tbl>
          </a:graphicData>
        </a:graphic>
      </p:graphicFrame>
      <p:pic>
        <p:nvPicPr>
          <p:cNvPr id="3" name="Google Shape;37;p9" descr="A red and black logo&#10;&#10;Description automatically generated">
            <a:extLst>
              <a:ext uri="{FF2B5EF4-FFF2-40B4-BE49-F238E27FC236}">
                <a16:creationId xmlns:a16="http://schemas.microsoft.com/office/drawing/2014/main" xmlns="" id="{FEC0DF01-974E-FA50-4309-25053ECD68E4}"/>
              </a:ext>
            </a:extLst>
          </p:cNvPr>
          <p:cNvPicPr preferRelativeResize="0"/>
          <p:nvPr userDrawn="1"/>
        </p:nvPicPr>
        <p:blipFill rotWithShape="1">
          <a:blip r:embed="rId2">
            <a:alphaModFix/>
          </a:blip>
          <a:srcRect/>
          <a:stretch/>
        </p:blipFill>
        <p:spPr>
          <a:xfrm>
            <a:off x="7067490" y="213243"/>
            <a:ext cx="482734" cy="420132"/>
          </a:xfrm>
          <a:prstGeom prst="rect">
            <a:avLst/>
          </a:prstGeom>
          <a:noFill/>
          <a:ln>
            <a:noFill/>
          </a:ln>
        </p:spPr>
      </p:pic>
      <p:sp>
        <p:nvSpPr>
          <p:cNvPr id="10" name="Google Shape;24;p8">
            <a:extLst>
              <a:ext uri="{FF2B5EF4-FFF2-40B4-BE49-F238E27FC236}">
                <a16:creationId xmlns:a16="http://schemas.microsoft.com/office/drawing/2014/main" xmlns="" id="{0448B46C-C68B-BB74-204F-0F458130E386}"/>
              </a:ext>
            </a:extLst>
          </p:cNvPr>
          <p:cNvSpPr txBox="1">
            <a:spLocks noGrp="1"/>
          </p:cNvSpPr>
          <p:nvPr>
            <p:ph type="dt" idx="10"/>
          </p:nvPr>
        </p:nvSpPr>
        <p:spPr>
          <a:xfrm>
            <a:off x="16862156" y="726363"/>
            <a:ext cx="1164432" cy="260837"/>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4/4/25</a:t>
            </a:r>
            <a:endParaRPr/>
          </a:p>
        </p:txBody>
      </p:sp>
    </p:spTree>
    <p:extLst>
      <p:ext uri="{BB962C8B-B14F-4D97-AF65-F5344CB8AC3E}">
        <p14:creationId xmlns:p14="http://schemas.microsoft.com/office/powerpoint/2010/main" xmlns="" val="34162246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自訂版面配置">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xmlns="" id="{0B02BF32-51F7-DDF0-4455-62412D8BC839}"/>
              </a:ext>
            </a:extLst>
          </p:cNvPr>
          <p:cNvPicPr>
            <a:picLocks noChangeAspect="1"/>
          </p:cNvPicPr>
          <p:nvPr userDrawn="1"/>
        </p:nvPicPr>
        <p:blipFill>
          <a:blip r:embed="rId2" cstate="screen">
            <a:extLst>
              <a:ext uri="{28A0092B-C50C-407E-A947-70E740481C1C}">
                <a14:useLocalDpi xmlns:a14="http://schemas.microsoft.com/office/drawing/2010/main" xmlns=""/>
              </a:ext>
            </a:extLst>
          </a:blip>
          <a:srcRect/>
          <a:stretch/>
        </p:blipFill>
        <p:spPr>
          <a:xfrm>
            <a:off x="0" y="0"/>
            <a:ext cx="18288000" cy="10288588"/>
          </a:xfrm>
          <a:prstGeom prst="rect">
            <a:avLst/>
          </a:prstGeom>
        </p:spPr>
      </p:pic>
    </p:spTree>
    <p:extLst>
      <p:ext uri="{BB962C8B-B14F-4D97-AF65-F5344CB8AC3E}">
        <p14:creationId xmlns:p14="http://schemas.microsoft.com/office/powerpoint/2010/main" xmlns="" val="42046135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773"/>
            <a:ext cx="15773400" cy="1988651"/>
          </a:xfrm>
          <a:prstGeom prst="rect">
            <a:avLst/>
          </a:prstGeom>
        </p:spPr>
        <p:txBody>
          <a:bodyPr vert="horz" lIns="91440" tIns="45720" rIns="91440" bIns="45720" rtlCol="0" anchor="ctr">
            <a:normAutofit/>
          </a:bodyPr>
          <a:lstStyle/>
          <a:p>
            <a:r>
              <a:rPr lang="en-US" altLang="zh-TW" dirty="0"/>
              <a:t>Click to edit Master title style</a:t>
            </a:r>
            <a:endParaRPr lang="en-US" dirty="0"/>
          </a:p>
        </p:txBody>
      </p:sp>
      <p:sp>
        <p:nvSpPr>
          <p:cNvPr id="3" name="Text Placeholder 2"/>
          <p:cNvSpPr>
            <a:spLocks noGrp="1"/>
          </p:cNvSpPr>
          <p:nvPr>
            <p:ph type="body" idx="1"/>
          </p:nvPr>
        </p:nvSpPr>
        <p:spPr>
          <a:xfrm>
            <a:off x="1257300" y="2738860"/>
            <a:ext cx="15773400" cy="6528015"/>
          </a:xfrm>
          <a:prstGeom prst="rect">
            <a:avLst/>
          </a:prstGeom>
        </p:spPr>
        <p:txBody>
          <a:bodyPr vert="horz" lIns="91440" tIns="45720" rIns="91440" bIns="45720" rtlCol="0">
            <a:normAutofit/>
          </a:body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en-US" dirty="0"/>
          </a:p>
        </p:txBody>
      </p:sp>
      <p:sp>
        <p:nvSpPr>
          <p:cNvPr id="4" name="Date Placeholder 3"/>
          <p:cNvSpPr>
            <a:spLocks noGrp="1"/>
          </p:cNvSpPr>
          <p:nvPr>
            <p:ph type="dt" sz="half" idx="2"/>
          </p:nvPr>
        </p:nvSpPr>
        <p:spPr>
          <a:xfrm>
            <a:off x="1257300" y="9535998"/>
            <a:ext cx="4114800" cy="547772"/>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pPr/>
              <a:t>7/28/2025</a:t>
            </a:fld>
            <a:endParaRPr lang="en-US" dirty="0"/>
          </a:p>
        </p:txBody>
      </p:sp>
      <p:sp>
        <p:nvSpPr>
          <p:cNvPr id="5" name="Footer Placeholder 4"/>
          <p:cNvSpPr>
            <a:spLocks noGrp="1"/>
          </p:cNvSpPr>
          <p:nvPr>
            <p:ph type="ftr" sz="quarter" idx="3"/>
          </p:nvPr>
        </p:nvSpPr>
        <p:spPr>
          <a:xfrm>
            <a:off x="6057900" y="9535998"/>
            <a:ext cx="6172200" cy="547772"/>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5998"/>
            <a:ext cx="4114800" cy="547772"/>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pPr/>
              <a:t>‹#›</a:t>
            </a:fld>
            <a:endParaRPr lang="en-US" dirty="0"/>
          </a:p>
        </p:txBody>
      </p:sp>
    </p:spTree>
    <p:extLst>
      <p:ext uri="{BB962C8B-B14F-4D97-AF65-F5344CB8AC3E}">
        <p14:creationId xmlns:p14="http://schemas.microsoft.com/office/powerpoint/2010/main" xmlns="" val="319702633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65" r:id="rId13"/>
    <p:sldLayoutId id="2147483668" r:id="rId14"/>
    <p:sldLayoutId id="2147483664" r:id="rId15"/>
    <p:sldLayoutId id="2147483683" r:id="rId16"/>
    <p:sldLayoutId id="2147483684" r:id="rId17"/>
    <p:sldLayoutId id="2147483682" r:id="rId18"/>
    <p:sldLayoutId id="2147483663" r:id="rId19"/>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
            <a:extLst>
              <a:ext uri="{FF2B5EF4-FFF2-40B4-BE49-F238E27FC236}">
                <a16:creationId xmlns:a16="http://schemas.microsoft.com/office/drawing/2014/main" xmlns="" id="{7F582E9E-3697-760D-DA26-BA27025404FB}"/>
              </a:ext>
            </a:extLst>
          </p:cNvPr>
          <p:cNvSpPr>
            <a:spLocks noChangeArrowheads="1"/>
          </p:cNvSpPr>
          <p:nvPr/>
        </p:nvSpPr>
        <p:spPr bwMode="auto">
          <a:xfrm>
            <a:off x="843405" y="5144294"/>
            <a:ext cx="6537111" cy="830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4800" dirty="0">
                <a:latin typeface="Microsoft JhengHei" panose="020B0604030504040204" pitchFamily="34" charset="-120"/>
                <a:ea typeface="Microsoft JhengHei" panose="020B0604030504040204" pitchFamily="34" charset="-120"/>
              </a:rPr>
              <a:t>賜昌集團 </a:t>
            </a:r>
            <a:r>
              <a:rPr lang="en-US" altLang="zh-TW" sz="4800" dirty="0">
                <a:latin typeface="Microsoft JhengHei" panose="020B0604030504040204" pitchFamily="34" charset="-120"/>
                <a:ea typeface="Microsoft JhengHei" panose="020B0604030504040204" pitchFamily="34" charset="-120"/>
              </a:rPr>
              <a:t>SAP</a:t>
            </a:r>
            <a:r>
              <a:rPr lang="zh-TW" altLang="en-US" sz="4800" dirty="0">
                <a:latin typeface="Microsoft JhengHei" panose="020B0604030504040204" pitchFamily="34" charset="-120"/>
                <a:ea typeface="Microsoft JhengHei" panose="020B0604030504040204" pitchFamily="34" charset="-120"/>
              </a:rPr>
              <a:t>推進中心</a:t>
            </a:r>
          </a:p>
        </p:txBody>
      </p:sp>
      <p:sp>
        <p:nvSpPr>
          <p:cNvPr id="3" name="TextBox 2">
            <a:extLst>
              <a:ext uri="{FF2B5EF4-FFF2-40B4-BE49-F238E27FC236}">
                <a16:creationId xmlns:a16="http://schemas.microsoft.com/office/drawing/2014/main" xmlns="" id="{8859345E-AB13-0337-28A8-72F68FB71A83}"/>
              </a:ext>
            </a:extLst>
          </p:cNvPr>
          <p:cNvSpPr txBox="1"/>
          <p:nvPr/>
        </p:nvSpPr>
        <p:spPr>
          <a:xfrm>
            <a:off x="843407" y="7871570"/>
            <a:ext cx="2833853" cy="738664"/>
          </a:xfrm>
          <a:prstGeom prst="rect">
            <a:avLst/>
          </a:prstGeom>
          <a:noFill/>
        </p:spPr>
        <p:txBody>
          <a:bodyPr wrap="none" rtlCol="0">
            <a:spAutoFit/>
          </a:bodyPr>
          <a:lstStyle/>
          <a:p>
            <a:r>
              <a:rPr kumimoji="1" lang="en-US" altLang="zh-TW" sz="2100" dirty="0">
                <a:latin typeface="Microsoft JhengHei" panose="020B0604030504040204" pitchFamily="34" charset="-120"/>
                <a:ea typeface="Microsoft JhengHei" panose="020B0604030504040204" pitchFamily="34" charset="-120"/>
              </a:rPr>
              <a:t>Presentation by </a:t>
            </a:r>
            <a:r>
              <a:rPr kumimoji="1" lang="en-US" altLang="zh-TW" sz="2100" b="1" dirty="0">
                <a:latin typeface="Microsoft JhengHei" panose="020B0604030504040204" pitchFamily="34" charset="-120"/>
                <a:ea typeface="Microsoft JhengHei" panose="020B0604030504040204" pitchFamily="34" charset="-120"/>
              </a:rPr>
              <a:t>DSIT</a:t>
            </a:r>
          </a:p>
          <a:p>
            <a:r>
              <a:rPr kumimoji="1" lang="en-US" altLang="zh-TW" sz="2100" dirty="0" smtClean="0">
                <a:latin typeface="Microsoft JhengHei" panose="020B0604030504040204" pitchFamily="34" charset="-120"/>
                <a:ea typeface="Microsoft JhengHei" panose="020B0604030504040204" pitchFamily="34" charset="-120"/>
              </a:rPr>
              <a:t>2025/06/30</a:t>
            </a:r>
            <a:endParaRPr kumimoji="1" lang="zh-TW" altLang="en-US" sz="2100" dirty="0">
              <a:latin typeface="Microsoft JhengHei" panose="020B0604030504040204" pitchFamily="34" charset="-120"/>
              <a:ea typeface="Microsoft JhengHei" panose="020B0604030504040204" pitchFamily="34" charset="-120"/>
            </a:endParaRPr>
          </a:p>
        </p:txBody>
      </p:sp>
      <p:sp>
        <p:nvSpPr>
          <p:cNvPr id="4" name="矩形 1">
            <a:extLst>
              <a:ext uri="{FF2B5EF4-FFF2-40B4-BE49-F238E27FC236}">
                <a16:creationId xmlns:a16="http://schemas.microsoft.com/office/drawing/2014/main" xmlns="" id="{B99C6C67-25AF-0B71-AD21-378FF0D6B16C}"/>
              </a:ext>
            </a:extLst>
          </p:cNvPr>
          <p:cNvSpPr>
            <a:spLocks noChangeArrowheads="1"/>
          </p:cNvSpPr>
          <p:nvPr/>
        </p:nvSpPr>
        <p:spPr bwMode="auto">
          <a:xfrm>
            <a:off x="843405" y="6523311"/>
            <a:ext cx="653711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en-US" altLang="zh-TW" sz="3600" b="0" strike="noStrike" spc="-1" dirty="0">
                <a:solidFill>
                  <a:schemeClr val="dk1"/>
                </a:solidFill>
                <a:latin typeface="Microsoft JhengHei"/>
                <a:ea typeface="Microsoft JhengHei"/>
              </a:rPr>
              <a:t>MM-PU-0030</a:t>
            </a:r>
            <a:endParaRPr lang="zh-TW" altLang="en-US" sz="3600" b="0" dirty="0">
              <a:ea typeface="新細明體" panose="02020500000000000000" pitchFamily="18" charset="-120"/>
            </a:endParaRPr>
          </a:p>
        </p:txBody>
      </p:sp>
      <p:sp>
        <p:nvSpPr>
          <p:cNvPr id="5" name="矩形 1">
            <a:extLst>
              <a:ext uri="{FF2B5EF4-FFF2-40B4-BE49-F238E27FC236}">
                <a16:creationId xmlns:a16="http://schemas.microsoft.com/office/drawing/2014/main" xmlns="" id="{E1637891-39B6-9F83-1E67-17C75D44F0A1}"/>
              </a:ext>
            </a:extLst>
          </p:cNvPr>
          <p:cNvSpPr>
            <a:spLocks noChangeArrowheads="1"/>
          </p:cNvSpPr>
          <p:nvPr/>
        </p:nvSpPr>
        <p:spPr bwMode="auto">
          <a:xfrm>
            <a:off x="843405" y="7179076"/>
            <a:ext cx="6537111"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2400" b="1">
                <a:solidFill>
                  <a:schemeClr val="tx1"/>
                </a:solidFill>
                <a:latin typeface="Arial" panose="020B0604020202020204" pitchFamily="34" charset="0"/>
                <a:ea typeface="微軟正黑體" panose="020B0604030504040204" pitchFamily="34" charset="-12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ea typeface="微軟正黑體" panose="020B0604030504040204" pitchFamily="34" charset="-120"/>
                <a:cs typeface="Arial" panose="020B0604020202020204" pitchFamily="34" charset="0"/>
              </a:defRPr>
            </a:lvl2pPr>
            <a:lvl3pPr marL="1143000" indent="-228600">
              <a:spcBef>
                <a:spcPct val="20000"/>
              </a:spcBef>
              <a:buFont typeface="Arial" panose="020B0604020202020204" pitchFamily="34" charset="0"/>
              <a:buChar char="•"/>
              <a:defRPr sz="1600">
                <a:solidFill>
                  <a:schemeClr val="tx1"/>
                </a:solidFill>
                <a:latin typeface="Arial" panose="020B0604020202020204" pitchFamily="34" charset="0"/>
                <a:ea typeface="微軟正黑體" panose="020B0604030504040204" pitchFamily="34" charset="-120"/>
                <a:cs typeface="Arial" panose="020B0604020202020204" pitchFamily="34" charset="0"/>
              </a:defRPr>
            </a:lvl3pPr>
            <a:lvl4pPr marL="1600200" indent="-228600">
              <a:spcBef>
                <a:spcPct val="20000"/>
              </a:spcBef>
              <a:buFont typeface="Arial" panose="020B0604020202020204" pitchFamily="34" charset="0"/>
              <a:buChar char="–"/>
              <a:defRPr sz="1400">
                <a:solidFill>
                  <a:schemeClr val="tx1"/>
                </a:solidFill>
                <a:latin typeface="Arial" panose="020B0604020202020204" pitchFamily="34" charset="0"/>
                <a:ea typeface="微軟正黑體" panose="020B0604030504040204" pitchFamily="34" charset="-120"/>
                <a:cs typeface="Arial" panose="020B0604020202020204" pitchFamily="34" charset="0"/>
              </a:defRPr>
            </a:lvl4pPr>
            <a:lvl5pPr marL="2057400" indent="-228600">
              <a:spcBef>
                <a:spcPct val="20000"/>
              </a:spcBef>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1200">
                <a:solidFill>
                  <a:schemeClr val="tx1"/>
                </a:solidFill>
                <a:latin typeface="Arial" panose="020B0604020202020204" pitchFamily="34" charset="0"/>
                <a:ea typeface="微軟正黑體" panose="020B0604030504040204" pitchFamily="34" charset="-120"/>
                <a:cs typeface="Arial" panose="020B0604020202020204" pitchFamily="34" charset="0"/>
              </a:defRPr>
            </a:lvl9pPr>
          </a:lstStyle>
          <a:p>
            <a:pPr eaLnBrk="1" hangingPunct="1">
              <a:spcBef>
                <a:spcPct val="0"/>
              </a:spcBef>
              <a:buFontTx/>
              <a:buNone/>
            </a:pPr>
            <a:r>
              <a:rPr lang="zh-TW" altLang="en-US" sz="3600" b="0" strike="noStrike" spc="-1" dirty="0">
                <a:solidFill>
                  <a:schemeClr val="dk1"/>
                </a:solidFill>
                <a:latin typeface="Microsoft JhengHei"/>
                <a:ea typeface="Microsoft JhengHei"/>
              </a:rPr>
              <a:t>庫存類請採流程</a:t>
            </a:r>
            <a:endParaRPr lang="zh-TW" altLang="en-US" sz="3600" b="0" dirty="0">
              <a:ea typeface="新細明體" panose="02020500000000000000" pitchFamily="18" charset="-120"/>
            </a:endParaRPr>
          </a:p>
        </p:txBody>
      </p:sp>
    </p:spTree>
    <p:extLst>
      <p:ext uri="{BB962C8B-B14F-4D97-AF65-F5344CB8AC3E}">
        <p14:creationId xmlns:p14="http://schemas.microsoft.com/office/powerpoint/2010/main" xmlns="" val="428307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21030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graphicFrame>
        <p:nvGraphicFramePr>
          <p:cNvPr id="190" name="Google Shape;190;p2"/>
          <p:cNvGraphicFramePr/>
          <p:nvPr>
            <p:extLst>
              <p:ext uri="{D42A27DB-BD31-4B8C-83A1-F6EECF244321}">
                <p14:modId xmlns:p14="http://schemas.microsoft.com/office/powerpoint/2010/main" xmlns="" val="4221912561"/>
              </p:ext>
            </p:extLst>
          </p:nvPr>
        </p:nvGraphicFramePr>
        <p:xfrm>
          <a:off x="366269" y="1567509"/>
          <a:ext cx="17518777" cy="1512000"/>
        </p:xfrm>
        <a:graphic>
          <a:graphicData uri="http://schemas.openxmlformats.org/drawingml/2006/table">
            <a:tbl>
              <a:tblPr>
                <a:noFill/>
              </a:tblPr>
              <a:tblGrid>
                <a:gridCol w="2061420">
                  <a:extLst>
                    <a:ext uri="{9D8B030D-6E8A-4147-A177-3AD203B41FA5}">
                      <a16:colId xmlns:a16="http://schemas.microsoft.com/office/drawing/2014/main" xmlns="" val="1034483988"/>
                    </a:ext>
                  </a:extLst>
                </a:gridCol>
                <a:gridCol w="2061420">
                  <a:extLst>
                    <a:ext uri="{9D8B030D-6E8A-4147-A177-3AD203B41FA5}">
                      <a16:colId xmlns:a16="http://schemas.microsoft.com/office/drawing/2014/main" xmlns="" val="20000"/>
                    </a:ext>
                  </a:extLst>
                </a:gridCol>
                <a:gridCol w="8327926">
                  <a:extLst>
                    <a:ext uri="{9D8B030D-6E8A-4147-A177-3AD203B41FA5}">
                      <a16:colId xmlns:a16="http://schemas.microsoft.com/office/drawing/2014/main" xmlns="" val="20001"/>
                    </a:ext>
                  </a:extLst>
                </a:gridCol>
                <a:gridCol w="1423236">
                  <a:extLst>
                    <a:ext uri="{9D8B030D-6E8A-4147-A177-3AD203B41FA5}">
                      <a16:colId xmlns:a16="http://schemas.microsoft.com/office/drawing/2014/main" xmlns="" val="20002"/>
                    </a:ext>
                  </a:extLst>
                </a:gridCol>
                <a:gridCol w="634687">
                  <a:extLst>
                    <a:ext uri="{9D8B030D-6E8A-4147-A177-3AD203B41FA5}">
                      <a16:colId xmlns:a16="http://schemas.microsoft.com/office/drawing/2014/main" xmlns="" val="20003"/>
                    </a:ext>
                  </a:extLst>
                </a:gridCol>
                <a:gridCol w="1192442">
                  <a:extLst>
                    <a:ext uri="{9D8B030D-6E8A-4147-A177-3AD203B41FA5}">
                      <a16:colId xmlns:a16="http://schemas.microsoft.com/office/drawing/2014/main" xmlns="" val="2445255174"/>
                    </a:ext>
                  </a:extLst>
                </a:gridCol>
                <a:gridCol w="576988">
                  <a:extLst>
                    <a:ext uri="{9D8B030D-6E8A-4147-A177-3AD203B41FA5}">
                      <a16:colId xmlns:a16="http://schemas.microsoft.com/office/drawing/2014/main" xmlns="" val="3610384773"/>
                    </a:ext>
                  </a:extLst>
                </a:gridCol>
                <a:gridCol w="1240658">
                  <a:extLst>
                    <a:ext uri="{9D8B030D-6E8A-4147-A177-3AD203B41FA5}">
                      <a16:colId xmlns:a16="http://schemas.microsoft.com/office/drawing/2014/main" xmlns="" val="4169125416"/>
                    </a:ext>
                  </a:extLst>
                </a:gridCol>
              </a:tblGrid>
              <a:tr h="504000">
                <a:tc rowSpan="3">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文件基本訊息</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文件主題</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 To be_Business Process</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創建日期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gridSpan="4">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r>
                        <a:rPr lang="en-US" sz="1800" b="1" u="none" strike="noStrike" cap="none" dirty="0">
                          <a:solidFill>
                            <a:schemeClr val="lt1"/>
                          </a:solidFill>
                          <a:latin typeface="Microsoft JhengHei"/>
                          <a:ea typeface="Microsoft JhengHei"/>
                          <a:cs typeface="Microsoft JhengHei"/>
                          <a:sym typeface="Microsoft JhengHei"/>
                        </a:rPr>
                        <a:t> </a:t>
                      </a:r>
                      <a:r>
                        <a:rPr lang="en-US" altLang="zh-TW" sz="1800" b="1" u="none" strike="noStrike" cap="none" dirty="0" smtClean="0">
                          <a:solidFill>
                            <a:schemeClr val="lt1"/>
                          </a:solidFill>
                          <a:latin typeface="Microsoft JhengHei"/>
                          <a:ea typeface="Microsoft JhengHei"/>
                          <a:cs typeface="Microsoft JhengHei"/>
                          <a:sym typeface="Microsoft JhengHei"/>
                        </a:rPr>
                        <a:t>2025/06/30</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err="1">
                          <a:solidFill>
                            <a:schemeClr val="lt1"/>
                          </a:solidFill>
                          <a:latin typeface="Microsoft JhengHei"/>
                          <a:ea typeface="Microsoft JhengHei"/>
                          <a:cs typeface="Microsoft JhengHei"/>
                          <a:sym typeface="Microsoft JhengHei"/>
                        </a:rPr>
                        <a:t>作者</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altLang="zh-TW" sz="1800" b="1" u="none" strike="noStrike" cap="none" dirty="0">
                          <a:solidFill>
                            <a:schemeClr val="dk1"/>
                          </a:solidFill>
                          <a:latin typeface="Microsoft JhengHei"/>
                          <a:ea typeface="Microsoft JhengHei"/>
                          <a:cs typeface="Microsoft JhengHei"/>
                          <a:sym typeface="Microsoft JhengHei"/>
                        </a:rPr>
                        <a:t>DSIT</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文件狀態</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l" rtl="0">
                        <a:lnSpc>
                          <a:spcPct val="166666"/>
                        </a:lnSpc>
                        <a:spcBef>
                          <a:spcPts val="0"/>
                        </a:spcBef>
                        <a:spcAft>
                          <a:spcPts val="0"/>
                        </a:spcAft>
                        <a:buClr>
                          <a:schemeClr val="dk1"/>
                        </a:buClr>
                        <a:buSzPts val="1200"/>
                        <a:buFont typeface="Arimo"/>
                        <a:buNone/>
                      </a:pPr>
                      <a:r>
                        <a:rPr lang="en-US" sz="1800" b="1" u="none" strike="noStrike" cap="none" dirty="0" err="1">
                          <a:solidFill>
                            <a:schemeClr val="dk1"/>
                          </a:solidFill>
                          <a:latin typeface="Microsoft JhengHei"/>
                          <a:ea typeface="Microsoft JhengHei"/>
                          <a:cs typeface="Microsoft JhengHei"/>
                          <a:sym typeface="Microsoft JhengHei"/>
                        </a:rPr>
                        <a:t>草稿版</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Clr>
                          <a:schemeClr val="dk1"/>
                        </a:buClr>
                        <a:buSzPts val="1200"/>
                        <a:buFont typeface="Arimo"/>
                        <a:buNone/>
                      </a:pPr>
                      <a:r>
                        <a:rPr lang="x-none" sz="1800" b="1" u="none" strike="noStrike" cap="none" dirty="0">
                          <a:solidFill>
                            <a:schemeClr val="dk1"/>
                          </a:solidFill>
                          <a:latin typeface="Microsoft JhengHei"/>
                          <a:ea typeface="Microsoft JhengHei"/>
                          <a:cs typeface="Microsoft JhengHei"/>
                          <a:sym typeface="Microsoft JhengHei"/>
                        </a:rPr>
                        <a:t>V</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l" defTabSz="1371600" rtl="0" eaLnBrk="1" fontAlgn="auto" latinLnBrk="0" hangingPunct="1">
                        <a:lnSpc>
                          <a:spcPct val="166666"/>
                        </a:lnSpc>
                        <a:spcBef>
                          <a:spcPts val="0"/>
                        </a:spcBef>
                        <a:spcAft>
                          <a:spcPts val="0"/>
                        </a:spcAft>
                        <a:buClr>
                          <a:schemeClr val="dk1"/>
                        </a:buClr>
                        <a:buSzPts val="1200"/>
                        <a:buFont typeface="Arimo"/>
                        <a:buNone/>
                        <a:tabLst/>
                        <a:defRPr/>
                      </a:pPr>
                      <a:r>
                        <a:rPr lang="zh-TW" altLang="en-US" sz="1800" b="1" u="none" strike="noStrike" cap="none" dirty="0">
                          <a:solidFill>
                            <a:schemeClr val="dk1"/>
                          </a:solidFill>
                          <a:latin typeface="Microsoft JhengHei"/>
                          <a:ea typeface="Microsoft JhengHei"/>
                          <a:cs typeface="Microsoft JhengHei"/>
                          <a:sym typeface="Microsoft JhengHei"/>
                        </a:rPr>
                        <a:t>確認版</a:t>
                      </a: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pPr marL="0" marR="0" lvl="0" indent="0" algn="l" rtl="0">
                        <a:lnSpc>
                          <a:spcPct val="166666"/>
                        </a:lnSpc>
                        <a:spcBef>
                          <a:spcPts val="0"/>
                        </a:spcBef>
                        <a:spcAft>
                          <a:spcPts val="0"/>
                        </a:spcAft>
                        <a:buNone/>
                      </a:pPr>
                      <a:endParaRPr sz="4100"/>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dirty="0"/>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1371600" rtl="0" eaLnBrk="1" fontAlgn="auto" latinLnBrk="0" hangingPunct="1">
                        <a:lnSpc>
                          <a:spcPct val="166666"/>
                        </a:lnSpc>
                        <a:spcBef>
                          <a:spcPts val="0"/>
                        </a:spcBef>
                        <a:spcAft>
                          <a:spcPts val="0"/>
                        </a:spcAft>
                        <a:buClrTx/>
                        <a:buSzTx/>
                        <a:buFontTx/>
                        <a:buNone/>
                        <a:tabLst/>
                        <a:defRPr/>
                      </a:pPr>
                      <a:endParaRPr lang="zh-TW" altLang="en-US" sz="1800" b="1"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0" algn="l" rtl="0">
                        <a:lnSpc>
                          <a:spcPct val="166666"/>
                        </a:lnSpc>
                        <a:spcBef>
                          <a:spcPts val="0"/>
                        </a:spcBef>
                        <a:spcAft>
                          <a:spcPts val="0"/>
                        </a:spcAft>
                        <a:buNone/>
                      </a:pPr>
                      <a:r>
                        <a:rPr lang="en-US" sz="1800" b="1" u="none" strike="noStrike" cap="none" dirty="0" err="1">
                          <a:solidFill>
                            <a:schemeClr val="dk1"/>
                          </a:solidFill>
                          <a:latin typeface="Microsoft JhengHei"/>
                          <a:ea typeface="Microsoft JhengHei"/>
                          <a:cs typeface="Microsoft JhengHei"/>
                          <a:sym typeface="Microsoft JhengHei"/>
                        </a:rPr>
                        <a:t>版本</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gridSpan="4">
                  <a:txBody>
                    <a:bodyPr/>
                    <a:lstStyle/>
                    <a:p>
                      <a:pPr marL="0" marR="0" lvl="0" indent="0" algn="l" rtl="0">
                        <a:lnSpc>
                          <a:spcPct val="166666"/>
                        </a:lnSpc>
                        <a:spcBef>
                          <a:spcPts val="0"/>
                        </a:spcBef>
                        <a:spcAft>
                          <a:spcPts val="0"/>
                        </a:spcAft>
                        <a:buNone/>
                      </a:pPr>
                      <a:r>
                        <a:rPr lang="en-US" sz="1800" b="1" u="none" strike="noStrike" cap="none" dirty="0">
                          <a:solidFill>
                            <a:schemeClr val="dk1"/>
                          </a:solidFill>
                          <a:latin typeface="Microsoft JhengHei"/>
                          <a:ea typeface="Microsoft JhengHei"/>
                          <a:cs typeface="Microsoft JhengHei"/>
                          <a:sym typeface="Microsoft JhengHei"/>
                        </a:rPr>
                        <a:t> </a:t>
                      </a:r>
                      <a:r>
                        <a:rPr lang="en-US" sz="1800" b="1" u="none" strike="noStrike" cap="none" dirty="0" smtClean="0">
                          <a:solidFill>
                            <a:schemeClr val="dk1"/>
                          </a:solidFill>
                          <a:latin typeface="Microsoft JhengHei"/>
                          <a:ea typeface="Microsoft JhengHei"/>
                          <a:cs typeface="Microsoft JhengHei"/>
                          <a:sym typeface="Microsoft JhengHei"/>
                        </a:rPr>
                        <a:t>v2.1</a:t>
                      </a:r>
                      <a:endParaRPr sz="1800" b="1"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extLst>
                  <a:ext uri="{0D108BD9-81ED-4DB2-BD59-A6C34878D82A}">
                    <a16:rowId xmlns:a16="http://schemas.microsoft.com/office/drawing/2014/main" xmlns="" val="10002"/>
                  </a:ext>
                </a:extLst>
              </a:tr>
            </a:tbl>
          </a:graphicData>
        </a:graphic>
      </p:graphicFrame>
      <p:graphicFrame>
        <p:nvGraphicFramePr>
          <p:cNvPr id="191" name="Google Shape;191;p2"/>
          <p:cNvGraphicFramePr/>
          <p:nvPr>
            <p:extLst>
              <p:ext uri="{D42A27DB-BD31-4B8C-83A1-F6EECF244321}">
                <p14:modId xmlns:p14="http://schemas.microsoft.com/office/powerpoint/2010/main" xmlns="" val="3644532040"/>
              </p:ext>
            </p:extLst>
          </p:nvPr>
        </p:nvGraphicFramePr>
        <p:xfrm>
          <a:off x="366270" y="3155451"/>
          <a:ext cx="17518775" cy="3149589"/>
        </p:xfrm>
        <a:graphic>
          <a:graphicData uri="http://schemas.openxmlformats.org/drawingml/2006/table">
            <a:tbl>
              <a:tblPr>
                <a:noFill/>
              </a:tblPr>
              <a:tblGrid>
                <a:gridCol w="2061420">
                  <a:extLst>
                    <a:ext uri="{9D8B030D-6E8A-4147-A177-3AD203B41FA5}">
                      <a16:colId xmlns:a16="http://schemas.microsoft.com/office/drawing/2014/main" xmlns="" val="2419195791"/>
                    </a:ext>
                  </a:extLst>
                </a:gridCol>
                <a:gridCol w="2061420">
                  <a:extLst>
                    <a:ext uri="{9D8B030D-6E8A-4147-A177-3AD203B41FA5}">
                      <a16:colId xmlns:a16="http://schemas.microsoft.com/office/drawing/2014/main" xmlns="" val="20000"/>
                    </a:ext>
                  </a:extLst>
                </a:gridCol>
                <a:gridCol w="8327988">
                  <a:extLst>
                    <a:ext uri="{9D8B030D-6E8A-4147-A177-3AD203B41FA5}">
                      <a16:colId xmlns:a16="http://schemas.microsoft.com/office/drawing/2014/main" xmlns="" val="20001"/>
                    </a:ext>
                  </a:extLst>
                </a:gridCol>
                <a:gridCol w="3270143">
                  <a:extLst>
                    <a:ext uri="{9D8B030D-6E8A-4147-A177-3AD203B41FA5}">
                      <a16:colId xmlns:a16="http://schemas.microsoft.com/office/drawing/2014/main" xmlns="" val="20002"/>
                    </a:ext>
                  </a:extLst>
                </a:gridCol>
                <a:gridCol w="1797804">
                  <a:extLst>
                    <a:ext uri="{9D8B030D-6E8A-4147-A177-3AD203B41FA5}">
                      <a16:colId xmlns:a16="http://schemas.microsoft.com/office/drawing/2014/main" xmlns="" val="20003"/>
                    </a:ext>
                  </a:extLst>
                </a:gridCol>
              </a:tblGrid>
              <a:tr h="428821">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文件版本</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版本號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變更說明(修改內容說明)</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修改人</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日期</a:t>
                      </a: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90284">
                <a:tc vMerge="1">
                  <a:txBody>
                    <a:bodyPr/>
                    <a:lstStyle/>
                    <a:p>
                      <a:pPr marL="0" marR="0" lvl="0" indent="0" algn="l" rtl="0">
                        <a:lnSpc>
                          <a:spcPct val="166666"/>
                        </a:lnSpc>
                        <a:spcBef>
                          <a:spcPts val="0"/>
                        </a:spcBef>
                        <a:spcAft>
                          <a:spcPts val="0"/>
                        </a:spcAft>
                        <a:buNone/>
                      </a:pPr>
                      <a:endParaRPr sz="1800"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dirty="0" smtClean="0">
                          <a:solidFill>
                            <a:schemeClr val="lt1"/>
                          </a:solidFill>
                          <a:latin typeface="Microsoft JhengHei" panose="020B0604030504040204" pitchFamily="34" charset="-120"/>
                          <a:ea typeface="Microsoft JhengHei" panose="020B0604030504040204" pitchFamily="34" charset="-120"/>
                          <a:cs typeface="Microsoft JhengHei"/>
                          <a:sym typeface="Microsoft JhengHei"/>
                        </a:rPr>
                        <a:t>2.1</a:t>
                      </a: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r>
                        <a:rPr lang="zh-TW" altLang="en-US" sz="1800" b="1" strike="noStrike" spc="-1" dirty="0" smtClean="0">
                          <a:solidFill>
                            <a:srgbClr val="000000"/>
                          </a:solidFill>
                          <a:latin typeface="Microsoft JhengHei" panose="020B0604030504040204" pitchFamily="34" charset="-120"/>
                          <a:ea typeface="Microsoft JhengHei" panose="020B0604030504040204" pitchFamily="34" charset="-120"/>
                        </a:rPr>
                        <a:t>增加借料採購單流程</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0" algn="ctr" defTabSz="1371600" rtl="0" eaLnBrk="1" fontAlgn="auto" latinLnBrk="0" hangingPunct="1">
                        <a:lnSpc>
                          <a:spcPct val="166000"/>
                        </a:lnSpc>
                        <a:spcBef>
                          <a:spcPts val="0"/>
                        </a:spcBef>
                        <a:spcAft>
                          <a:spcPts val="0"/>
                        </a:spcAft>
                        <a:buClrTx/>
                        <a:buSzTx/>
                        <a:buFontTx/>
                        <a:buNone/>
                        <a:tabLst>
                          <a:tab pos="0" algn="l"/>
                        </a:tabLst>
                        <a:defRPr/>
                      </a:pPr>
                      <a:r>
                        <a:rPr lang="en-US" altLang="zh-TW" sz="1800" b="0" strike="noStrike" spc="-1" dirty="0" smtClean="0">
                          <a:solidFill>
                            <a:schemeClr val="dk1"/>
                          </a:solidFill>
                          <a:latin typeface="Microsoft JhengHei"/>
                          <a:ea typeface="Microsoft JhengHei"/>
                        </a:rPr>
                        <a:t>Vincent</a:t>
                      </a:r>
                      <a:r>
                        <a:rPr lang="en-US" altLang="zh-TW" sz="1800" b="0" strike="noStrike" spc="-1" baseline="0" dirty="0" smtClean="0">
                          <a:solidFill>
                            <a:schemeClr val="dk1"/>
                          </a:solidFill>
                          <a:latin typeface="Microsoft JhengHei"/>
                          <a:ea typeface="Microsoft JhengHei"/>
                        </a:rPr>
                        <a:t> Yeh</a:t>
                      </a:r>
                      <a:endParaRPr lang="en-US" altLang="zh-TW" sz="1800" b="0" strike="noStrike" spc="-1" dirty="0">
                        <a:solidFill>
                          <a:schemeClr val="dk1"/>
                        </a:solidFill>
                        <a:latin typeface="Microsoft JhengHei"/>
                        <a:ea typeface="Microsoft JhengHei"/>
                      </a:endParaRPr>
                    </a:p>
                  </a:txBody>
                  <a:tcP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r>
                        <a:rPr lang="en-US" sz="1800" b="1" strike="noStrike" spc="-1" dirty="0" smtClean="0">
                          <a:solidFill>
                            <a:srgbClr val="000000"/>
                          </a:solidFill>
                          <a:latin typeface="Microsoft JhengHei" panose="020B0604030504040204" pitchFamily="34" charset="-120"/>
                          <a:ea typeface="Microsoft JhengHei" panose="020B0604030504040204" pitchFamily="34" charset="-120"/>
                        </a:rPr>
                        <a:t>2025/07/23</a:t>
                      </a: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24626">
                <a:tc vMerge="1">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u="none" strike="noStrike" cap="none" dirty="0">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lnSpc>
                          <a:spcPct val="166000"/>
                        </a:lnSpc>
                        <a:tabLst>
                          <a:tab pos="0" algn="l"/>
                        </a:tabLst>
                      </a:pPr>
                      <a:endParaRPr lang="en-US" sz="1800" b="1" strike="noStrike" spc="-1">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2"/>
                  </a:ext>
                </a:extLst>
              </a:tr>
              <a:tr h="524626">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algn="ctr">
                        <a:lnSpc>
                          <a:spcPct val="166000"/>
                        </a:lnSpc>
                        <a:tabLst>
                          <a:tab pos="0" algn="l"/>
                        </a:tabLst>
                      </a:pPr>
                      <a:endParaRPr lang="en-US" sz="1800" b="1" strike="noStrike" spc="-1" dirty="0">
                        <a:solidFill>
                          <a:srgbClr val="000000"/>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26822">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endParaRPr sz="1800"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68400" marR="6840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tc>
                  <a:txBody>
                    <a:bodyPr/>
                    <a:lstStyle/>
                    <a:p>
                      <a:pPr algn="ctr"/>
                      <a:endParaRPr lang="en-US" sz="1800" b="1" strike="noStrike" spc="-1" dirty="0">
                        <a:solidFill>
                          <a:schemeClr val="dk1"/>
                        </a:solidFill>
                        <a:latin typeface="Microsoft JhengHei" panose="020B0604030504040204" pitchFamily="34" charset="-120"/>
                        <a:ea typeface="Microsoft JhengHei" panose="020B0604030504040204" pitchFamily="34" charset="-120"/>
                      </a:endParaRPr>
                    </a:p>
                  </a:txBody>
                  <a:tcPr marL="68400" marR="68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428821">
                <a:tc vMerge="1">
                  <a:txBody>
                    <a:bodyPr/>
                    <a:lstStyle/>
                    <a:p>
                      <a:pPr marL="0" marR="0" lvl="0" indent="0" algn="l" rtl="0">
                        <a:lnSpc>
                          <a:spcPct val="166666"/>
                        </a:lnSpc>
                        <a:spcBef>
                          <a:spcPts val="0"/>
                        </a:spcBef>
                        <a:spcAft>
                          <a:spcPts val="0"/>
                        </a:spcAft>
                        <a:buNone/>
                      </a:pPr>
                      <a:endParaRPr sz="1800" b="1" u="none" strike="noStrike" cap="none">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u="none" strike="noStrike" cap="none" dirty="0">
                        <a:solidFill>
                          <a:schemeClr val="lt1"/>
                        </a:solidFill>
                        <a:latin typeface="Microsoft JhengHei" panose="020B0604030504040204" pitchFamily="34" charset="-120"/>
                        <a:ea typeface="Microsoft JhengHei" panose="020B0604030504040204" pitchFamily="34" charset="-120"/>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l" rtl="0">
                        <a:lnSpc>
                          <a:spcPct val="166666"/>
                        </a:lnSpc>
                        <a:spcBef>
                          <a:spcPts val="0"/>
                        </a:spcBef>
                        <a:spcAft>
                          <a:spcPts val="0"/>
                        </a:spcAft>
                        <a:buNone/>
                      </a:pPr>
                      <a:endParaRPr sz="1800" b="1"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defTabSz="914400" rtl="0" eaLnBrk="1" fontAlgn="auto" latinLnBrk="0" hangingPunct="1">
                        <a:lnSpc>
                          <a:spcPct val="166666"/>
                        </a:lnSpc>
                        <a:spcBef>
                          <a:spcPts val="0"/>
                        </a:spcBef>
                        <a:spcAft>
                          <a:spcPts val="0"/>
                        </a:spcAft>
                        <a:buClr>
                          <a:srgbClr val="000000"/>
                        </a:buClr>
                        <a:buSzTx/>
                        <a:buFont typeface="Arial"/>
                        <a:buNone/>
                        <a:tabLst/>
                        <a:defRPr/>
                      </a:pPr>
                      <a:endParaRPr lang="zh-TW" altLang="en-US" sz="1800" b="1" i="0" u="none" strike="noStrike" cap="none" dirty="0">
                        <a:solidFill>
                          <a:schemeClr val="dk1"/>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tc>
                  <a:txBody>
                    <a:bodyPr/>
                    <a:lstStyle/>
                    <a:p>
                      <a:pPr marL="0" marR="0" lvl="0" indent="0" algn="ctr" rtl="0">
                        <a:spcBef>
                          <a:spcPts val="0"/>
                        </a:spcBef>
                        <a:spcAft>
                          <a:spcPts val="0"/>
                        </a:spcAft>
                        <a:buNone/>
                      </a:pPr>
                      <a:endParaRPr sz="1800" b="1" i="0" u="none" strike="noStrike" cap="none" dirty="0">
                        <a:solidFill>
                          <a:srgbClr val="000000"/>
                        </a:solidFill>
                        <a:latin typeface="Microsoft JhengHei" panose="020B0604030504040204" pitchFamily="34" charset="-120"/>
                        <a:ea typeface="Microsoft JhengHei" panose="020B0604030504040204" pitchFamily="34" charset="-120"/>
                        <a:cs typeface="Arial"/>
                        <a:sym typeface="Microsoft JhengHei"/>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7CC"/>
                    </a:solidFill>
                  </a:tcPr>
                </a:tc>
                <a:extLst>
                  <a:ext uri="{0D108BD9-81ED-4DB2-BD59-A6C34878D82A}">
                    <a16:rowId xmlns:a16="http://schemas.microsoft.com/office/drawing/2014/main" xmlns="" val="1342071289"/>
                  </a:ext>
                </a:extLst>
              </a:tr>
            </a:tbl>
          </a:graphicData>
        </a:graphic>
      </p:graphicFrame>
      <p:graphicFrame>
        <p:nvGraphicFramePr>
          <p:cNvPr id="192" name="Google Shape;192;p2"/>
          <p:cNvGraphicFramePr/>
          <p:nvPr>
            <p:extLst>
              <p:ext uri="{D42A27DB-BD31-4B8C-83A1-F6EECF244321}">
                <p14:modId xmlns:p14="http://schemas.microsoft.com/office/powerpoint/2010/main" xmlns="" val="2853513147"/>
              </p:ext>
            </p:extLst>
          </p:nvPr>
        </p:nvGraphicFramePr>
        <p:xfrm>
          <a:off x="366269" y="6255393"/>
          <a:ext cx="17518780" cy="504000"/>
        </p:xfrm>
        <a:graphic>
          <a:graphicData uri="http://schemas.openxmlformats.org/drawingml/2006/table">
            <a:tbl>
              <a:tblPr>
                <a:noFill/>
              </a:tblPr>
              <a:tblGrid>
                <a:gridCol w="2061420">
                  <a:extLst>
                    <a:ext uri="{9D8B030D-6E8A-4147-A177-3AD203B41FA5}">
                      <a16:colId xmlns:a16="http://schemas.microsoft.com/office/drawing/2014/main" xmlns="" val="2993713426"/>
                    </a:ext>
                  </a:extLst>
                </a:gridCol>
                <a:gridCol w="2066819">
                  <a:extLst>
                    <a:ext uri="{9D8B030D-6E8A-4147-A177-3AD203B41FA5}">
                      <a16:colId xmlns:a16="http://schemas.microsoft.com/office/drawing/2014/main" xmlns="" val="20000"/>
                    </a:ext>
                  </a:extLst>
                </a:gridCol>
                <a:gridCol w="1797521">
                  <a:extLst>
                    <a:ext uri="{9D8B030D-6E8A-4147-A177-3AD203B41FA5}">
                      <a16:colId xmlns:a16="http://schemas.microsoft.com/office/drawing/2014/main" xmlns="" val="20001"/>
                    </a:ext>
                  </a:extLst>
                </a:gridCol>
                <a:gridCol w="1932170">
                  <a:extLst>
                    <a:ext uri="{9D8B030D-6E8A-4147-A177-3AD203B41FA5}">
                      <a16:colId xmlns:a16="http://schemas.microsoft.com/office/drawing/2014/main" xmlns="" val="20002"/>
                    </a:ext>
                  </a:extLst>
                </a:gridCol>
                <a:gridCol w="1932170">
                  <a:extLst>
                    <a:ext uri="{9D8B030D-6E8A-4147-A177-3AD203B41FA5}">
                      <a16:colId xmlns:a16="http://schemas.microsoft.com/office/drawing/2014/main" xmlns="" val="20003"/>
                    </a:ext>
                  </a:extLst>
                </a:gridCol>
                <a:gridCol w="1932170">
                  <a:extLst>
                    <a:ext uri="{9D8B030D-6E8A-4147-A177-3AD203B41FA5}">
                      <a16:colId xmlns:a16="http://schemas.microsoft.com/office/drawing/2014/main" xmlns="" val="20004"/>
                    </a:ext>
                  </a:extLst>
                </a:gridCol>
                <a:gridCol w="1932170">
                  <a:extLst>
                    <a:ext uri="{9D8B030D-6E8A-4147-A177-3AD203B41FA5}">
                      <a16:colId xmlns:a16="http://schemas.microsoft.com/office/drawing/2014/main" xmlns="" val="20005"/>
                    </a:ext>
                  </a:extLst>
                </a:gridCol>
                <a:gridCol w="1932170">
                  <a:extLst>
                    <a:ext uri="{9D8B030D-6E8A-4147-A177-3AD203B41FA5}">
                      <a16:colId xmlns:a16="http://schemas.microsoft.com/office/drawing/2014/main" xmlns="" val="20006"/>
                    </a:ext>
                  </a:extLst>
                </a:gridCol>
                <a:gridCol w="1932170">
                  <a:extLst>
                    <a:ext uri="{9D8B030D-6E8A-4147-A177-3AD203B41FA5}">
                      <a16:colId xmlns:a16="http://schemas.microsoft.com/office/drawing/2014/main" xmlns="" val="20007"/>
                    </a:ext>
                  </a:extLst>
                </a:gridCol>
              </a:tblGrid>
              <a:tr h="504000">
                <a:tc>
                  <a:txBody>
                    <a:bodyPr/>
                    <a:lstStyle/>
                    <a:p>
                      <a:pPr marL="0" marR="0" lvl="0" indent="0" algn="l" rtl="0">
                        <a:lnSpc>
                          <a:spcPct val="150000"/>
                        </a:lnSpc>
                        <a:spcBef>
                          <a:spcPts val="0"/>
                        </a:spcBef>
                        <a:spcAft>
                          <a:spcPts val="0"/>
                        </a:spcAft>
                        <a:buNone/>
                      </a:pPr>
                      <a:r>
                        <a:rPr lang="x-none" sz="1800" b="1" u="none" strike="noStrike" cap="none">
                          <a:solidFill>
                            <a:schemeClr val="lt1"/>
                          </a:solidFill>
                          <a:latin typeface="Microsoft JhengHei"/>
                          <a:ea typeface="Microsoft JhengHei"/>
                          <a:cs typeface="Microsoft JhengHei"/>
                          <a:sym typeface="Microsoft JhengHei"/>
                        </a:rPr>
                        <a:t>機密等級</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極機密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機密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內部使用</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V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一般</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50000"/>
                        </a:lnSpc>
                        <a:spcBef>
                          <a:spcPts val="0"/>
                        </a:spcBef>
                        <a:spcAft>
                          <a:spcPts val="0"/>
                        </a:spcAft>
                        <a:buNone/>
                      </a:pPr>
                      <a:r>
                        <a:rPr lang="en-US" sz="1800" b="1" u="none" strike="noStrike" cap="none">
                          <a:solidFill>
                            <a:schemeClr val="dk1"/>
                          </a:solidFill>
                          <a:latin typeface="Microsoft JhengHei"/>
                          <a:ea typeface="Microsoft JhengHei"/>
                          <a:cs typeface="Microsoft JhengHei"/>
                          <a:sym typeface="Microsoft JhengHei"/>
                        </a:rPr>
                        <a:t> </a:t>
                      </a:r>
                      <a:endParaRPr sz="1800" b="1" u="none" strike="noStrike" cap="none">
                        <a:solidFill>
                          <a:schemeClr val="dk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FCECE8"/>
                    </a:solidFill>
                  </a:tcPr>
                </a:tc>
                <a:extLst>
                  <a:ext uri="{0D108BD9-81ED-4DB2-BD59-A6C34878D82A}">
                    <a16:rowId xmlns:a16="http://schemas.microsoft.com/office/drawing/2014/main" xmlns="" val="10000"/>
                  </a:ext>
                </a:extLst>
              </a:tr>
            </a:tbl>
          </a:graphicData>
        </a:graphic>
      </p:graphicFrame>
      <p:graphicFrame>
        <p:nvGraphicFramePr>
          <p:cNvPr id="193" name="Google Shape;193;p2"/>
          <p:cNvGraphicFramePr/>
          <p:nvPr>
            <p:extLst>
              <p:ext uri="{D42A27DB-BD31-4B8C-83A1-F6EECF244321}">
                <p14:modId xmlns:p14="http://schemas.microsoft.com/office/powerpoint/2010/main" xmlns="" val="2533766799"/>
              </p:ext>
            </p:extLst>
          </p:nvPr>
        </p:nvGraphicFramePr>
        <p:xfrm>
          <a:off x="366270" y="6835335"/>
          <a:ext cx="17518773" cy="3024000"/>
        </p:xfrm>
        <a:graphic>
          <a:graphicData uri="http://schemas.openxmlformats.org/drawingml/2006/table">
            <a:tbl>
              <a:tblPr>
                <a:noFill/>
              </a:tblPr>
              <a:tblGrid>
                <a:gridCol w="2045751">
                  <a:extLst>
                    <a:ext uri="{9D8B030D-6E8A-4147-A177-3AD203B41FA5}">
                      <a16:colId xmlns:a16="http://schemas.microsoft.com/office/drawing/2014/main" xmlns="" val="1293584311"/>
                    </a:ext>
                  </a:extLst>
                </a:gridCol>
                <a:gridCol w="2066989">
                  <a:extLst>
                    <a:ext uri="{9D8B030D-6E8A-4147-A177-3AD203B41FA5}">
                      <a16:colId xmlns:a16="http://schemas.microsoft.com/office/drawing/2014/main" xmlns="" val="20000"/>
                    </a:ext>
                  </a:extLst>
                </a:gridCol>
                <a:gridCol w="8024943">
                  <a:extLst>
                    <a:ext uri="{9D8B030D-6E8A-4147-A177-3AD203B41FA5}">
                      <a16:colId xmlns:a16="http://schemas.microsoft.com/office/drawing/2014/main" xmlns="" val="20001"/>
                    </a:ext>
                  </a:extLst>
                </a:gridCol>
                <a:gridCol w="2861625">
                  <a:extLst>
                    <a:ext uri="{9D8B030D-6E8A-4147-A177-3AD203B41FA5}">
                      <a16:colId xmlns:a16="http://schemas.microsoft.com/office/drawing/2014/main" xmlns="" val="20002"/>
                    </a:ext>
                  </a:extLst>
                </a:gridCol>
                <a:gridCol w="2519465">
                  <a:extLst>
                    <a:ext uri="{9D8B030D-6E8A-4147-A177-3AD203B41FA5}">
                      <a16:colId xmlns:a16="http://schemas.microsoft.com/office/drawing/2014/main" xmlns="" val="20003"/>
                    </a:ext>
                  </a:extLst>
                </a:gridCol>
              </a:tblGrid>
              <a:tr h="504000">
                <a:tc rowSpan="6">
                  <a:txBody>
                    <a:bodyPr/>
                    <a:lstStyle/>
                    <a:p>
                      <a:pPr marL="0" marR="0" lvl="0" indent="0" algn="l" rtl="0">
                        <a:lnSpc>
                          <a:spcPct val="166666"/>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審批</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角色</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姓名 與 職稱</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簽名</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日期</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ED7D31"/>
                    </a:solidFill>
                  </a:tcPr>
                </a:tc>
                <a:extLst>
                  <a:ext uri="{0D108BD9-81ED-4DB2-BD59-A6C34878D82A}">
                    <a16:rowId xmlns:a16="http://schemas.microsoft.com/office/drawing/2014/main" xmlns="" val="10000"/>
                  </a:ext>
                </a:extLst>
              </a:tr>
              <a:tr h="504000">
                <a:tc vMerge="1">
                  <a:txBody>
                    <a:bodyPr/>
                    <a:lstStyle/>
                    <a:p>
                      <a:pPr marL="0" marR="0" lvl="0" indent="0" algn="l" rtl="0">
                        <a:lnSpc>
                          <a:spcPct val="166666"/>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66666"/>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專案顧問</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lgn="ctr">
                      <a:solidFill>
                        <a:schemeClr val="bg1"/>
                      </a:solidFill>
                      <a:prstDash val="solid"/>
                      <a:round/>
                      <a:headEnd type="none" w="med" len="med"/>
                      <a:tailEnd type="none" w="med" len="med"/>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en-US" altLang="zh-TW" sz="1800" b="0" strike="noStrike" spc="-1" dirty="0" smtClean="0">
                          <a:solidFill>
                            <a:schemeClr val="dk1"/>
                          </a:solidFill>
                          <a:latin typeface="Microsoft JhengHei"/>
                          <a:ea typeface="Microsoft JhengHei"/>
                        </a:rPr>
                        <a:t>Robert</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0" algn="ctr" rtl="0">
                        <a:lnSpc>
                          <a:spcPct val="166666"/>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1"/>
                  </a:ext>
                </a:extLst>
              </a:tr>
              <a:tr h="504000">
                <a:tc vMerge="1">
                  <a:txBody>
                    <a:bodyPr/>
                    <a:lstStyle/>
                    <a:p>
                      <a:endParaRPr lang="zh-TW" altLang="en-US"/>
                    </a:p>
                  </a:txBody>
                  <a:tcPr>
                    <a:lnT w="12700" cap="flat" cmpd="sng" algn="ctr">
                      <a:solidFill>
                        <a:srgbClr val="FFFFFF"/>
                      </a:solidFill>
                      <a:prstDash val="solid"/>
                      <a:round/>
                      <a:headEnd type="none" w="sm" len="sm"/>
                      <a:tailEnd type="none" w="sm" len="sm"/>
                    </a:lnT>
                  </a:tcPr>
                </a:tc>
                <a:tc>
                  <a:txBody>
                    <a:bodyPr/>
                    <a:lstStyle/>
                    <a:p>
                      <a:pPr marL="0" marR="0" lvl="0" indent="0" algn="ctr" rtl="0">
                        <a:lnSpc>
                          <a:spcPct val="100000"/>
                        </a:lnSpc>
                        <a:spcBef>
                          <a:spcPts val="0"/>
                        </a:spcBef>
                        <a:spcAft>
                          <a:spcPts val="0"/>
                        </a:spcAft>
                        <a:buNone/>
                      </a:pPr>
                      <a:r>
                        <a:rPr lang="x-none" sz="1800" b="1" u="none" strike="noStrike" cap="none" dirty="0">
                          <a:solidFill>
                            <a:schemeClr val="lt1"/>
                          </a:solidFill>
                          <a:latin typeface="Microsoft JhengHei"/>
                          <a:ea typeface="Microsoft JhengHei"/>
                          <a:cs typeface="Microsoft JhengHei"/>
                          <a:sym typeface="Microsoft JhengHei"/>
                        </a:rPr>
                        <a:t>關鍵使用者</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i="0"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lgn="ctr">
                      <a:solidFill>
                        <a:schemeClr val="bg1"/>
                      </a:solidFill>
                      <a:prstDash val="solid"/>
                      <a:round/>
                      <a:headEnd type="none" w="med" len="med"/>
                      <a:tailEnd type="none" w="med" len="med"/>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2466057711"/>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流程負責人</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chemeClr val="bg1"/>
                      </a:solidFill>
                      <a:prstDash val="solid"/>
                      <a:round/>
                      <a:headEnd type="none" w="med" len="med"/>
                      <a:tailEnd type="none" w="med" len="med"/>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endParaRPr lang="en-US" altLang="zh-TW" sz="1800" b="1" i="0" u="none" strike="noStrike" cap="none" dirty="0">
                        <a:solidFill>
                          <a:schemeClr val="dk1"/>
                        </a:solidFill>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3"/>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dirty="0" err="1">
                          <a:solidFill>
                            <a:schemeClr val="lt1"/>
                          </a:solidFill>
                          <a:latin typeface="Microsoft JhengHei"/>
                          <a:ea typeface="Microsoft JhengHei"/>
                          <a:cs typeface="Microsoft JhengHei"/>
                          <a:sym typeface="Microsoft JhengHei"/>
                        </a:rPr>
                        <a:t>資訊單位</a:t>
                      </a:r>
                      <a:endParaRPr sz="1800" b="1" u="none" strike="noStrike" cap="none" dirty="0">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tc>
                  <a:txBody>
                    <a:bodyPr/>
                    <a:lstStyle/>
                    <a:p>
                      <a:pPr marL="0" marR="0" lvl="0" indent="279400" algn="ctr" rtl="0">
                        <a:lnSpc>
                          <a:spcPct val="100000"/>
                        </a:lnSpc>
                        <a:spcBef>
                          <a:spcPts val="0"/>
                        </a:spcBef>
                        <a:spcAft>
                          <a:spcPts val="0"/>
                        </a:spcAft>
                        <a:buNone/>
                      </a:pPr>
                      <a:endParaRPr sz="1800" u="none" strike="noStrike" cap="none">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CECE7"/>
                    </a:solidFill>
                  </a:tcPr>
                </a:tc>
                <a:extLst>
                  <a:ext uri="{0D108BD9-81ED-4DB2-BD59-A6C34878D82A}">
                    <a16:rowId xmlns:a16="http://schemas.microsoft.com/office/drawing/2014/main" xmlns="" val="10004"/>
                  </a:ext>
                </a:extLst>
              </a:tr>
              <a:tr h="504000">
                <a:tc vMerge="1">
                  <a:txBody>
                    <a:bodyPr/>
                    <a:lstStyle/>
                    <a:p>
                      <a:pPr marL="0" marR="0" lvl="0" indent="0" algn="l" rtl="0">
                        <a:lnSpc>
                          <a:spcPct val="100000"/>
                        </a:lnSpc>
                        <a:spcBef>
                          <a:spcPts val="0"/>
                        </a:spcBef>
                        <a:spcAft>
                          <a:spcPts val="0"/>
                        </a:spcAft>
                        <a:buNone/>
                      </a:pPr>
                      <a:endParaRPr sz="1800"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ctr" rtl="0">
                        <a:lnSpc>
                          <a:spcPct val="100000"/>
                        </a:lnSpc>
                        <a:spcBef>
                          <a:spcPts val="0"/>
                        </a:spcBef>
                        <a:spcAft>
                          <a:spcPts val="0"/>
                        </a:spcAft>
                        <a:buNone/>
                      </a:pPr>
                      <a:r>
                        <a:rPr lang="en-US" sz="1800" b="1" u="none" strike="noStrike" cap="none">
                          <a:solidFill>
                            <a:schemeClr val="lt1"/>
                          </a:solidFill>
                          <a:latin typeface="Microsoft JhengHei"/>
                          <a:ea typeface="Microsoft JhengHei"/>
                          <a:cs typeface="Microsoft JhengHei"/>
                          <a:sym typeface="Microsoft JhengHei"/>
                        </a:rPr>
                        <a:t>專案經理</a:t>
                      </a:r>
                      <a:endParaRPr sz="1800" b="1" u="none" strike="noStrike" cap="none">
                        <a:solidFill>
                          <a:schemeClr val="lt1"/>
                        </a:solidFill>
                        <a:latin typeface="Microsoft JhengHei"/>
                        <a:ea typeface="Microsoft JhengHei"/>
                        <a:cs typeface="Microsoft JhengHei"/>
                        <a:sym typeface="Microsoft JhengHei"/>
                      </a:endParaRPr>
                    </a:p>
                  </a:txBody>
                  <a:tcPr marL="102863" marR="102863" marT="0" marB="0" anchor="ctr">
                    <a:lnL w="12700" cap="flat" cmpd="sng" algn="ctr">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D7D31"/>
                    </a:solidFill>
                  </a:tcPr>
                </a:tc>
                <a:tc>
                  <a:txBody>
                    <a:bodyPr/>
                    <a:lstStyle/>
                    <a:p>
                      <a:pPr marL="0" marR="0" lvl="0" indent="0" algn="l" defTabSz="914400" rtl="0" eaLnBrk="1" fontAlgn="auto" latinLnBrk="0" hangingPunct="1">
                        <a:lnSpc>
                          <a:spcPct val="166666"/>
                        </a:lnSpc>
                        <a:spcBef>
                          <a:spcPts val="0"/>
                        </a:spcBef>
                        <a:spcAft>
                          <a:spcPts val="0"/>
                        </a:spcAft>
                        <a:buClr>
                          <a:srgbClr val="000000"/>
                        </a:buClr>
                        <a:buSzTx/>
                        <a:buFont typeface="Arial"/>
                        <a:buNone/>
                        <a:tabLst/>
                        <a:defRPr/>
                      </a:pPr>
                      <a:r>
                        <a:rPr lang="zh-TW" altLang="en-US" sz="1800" b="1" i="0" u="none" strike="noStrike" cap="none" dirty="0">
                          <a:solidFill>
                            <a:schemeClr val="dk1"/>
                          </a:solidFill>
                          <a:latin typeface="Microsoft JhengHei"/>
                          <a:ea typeface="Microsoft JhengHei"/>
                          <a:cs typeface="Arial"/>
                          <a:sym typeface="Arial"/>
                        </a:rPr>
                        <a:t>蘇靖之 </a:t>
                      </a:r>
                      <a:r>
                        <a:rPr lang="en-US" altLang="zh-TW" sz="1800" b="1" i="0" u="none" strike="noStrike" cap="none" dirty="0" err="1">
                          <a:solidFill>
                            <a:schemeClr val="dk1"/>
                          </a:solidFill>
                          <a:latin typeface="Microsoft JhengHei"/>
                          <a:ea typeface="Microsoft JhengHei"/>
                          <a:cs typeface="Arial"/>
                          <a:sym typeface="Arial"/>
                        </a:rPr>
                        <a:t>Giovenni</a:t>
                      </a:r>
                      <a:r>
                        <a:rPr lang="en-US" altLang="zh-TW" sz="1800" b="1" i="0" u="none" strike="noStrike" cap="none" dirty="0">
                          <a:solidFill>
                            <a:schemeClr val="dk1"/>
                          </a:solidFill>
                          <a:latin typeface="Microsoft JhengHei"/>
                          <a:ea typeface="Microsoft JhengHei"/>
                          <a:cs typeface="Arial"/>
                          <a:sym typeface="Arial"/>
                        </a:rPr>
                        <a:t> </a:t>
                      </a:r>
                      <a:r>
                        <a:rPr lang="en-US" altLang="zh-TW" sz="1800" b="1" i="0" u="none" strike="noStrike" cap="none" dirty="0" err="1">
                          <a:solidFill>
                            <a:schemeClr val="dk1"/>
                          </a:solidFill>
                          <a:latin typeface="Microsoft JhengHei"/>
                          <a:ea typeface="Microsoft JhengHei"/>
                          <a:cs typeface="Arial"/>
                          <a:sym typeface="Arial"/>
                        </a:rPr>
                        <a:t>Su</a:t>
                      </a:r>
                      <a:r>
                        <a:rPr lang="en-US" sz="1800" b="1" i="0" u="none" strike="noStrike" cap="none" dirty="0">
                          <a:solidFill>
                            <a:schemeClr val="dk1"/>
                          </a:solidFill>
                          <a:latin typeface="Microsoft JhengHei"/>
                          <a:ea typeface="Microsoft JhengHei"/>
                          <a:cs typeface="Arial"/>
                          <a:sym typeface="Microsoft JhengHei"/>
                        </a:rPr>
                        <a:t> </a:t>
                      </a:r>
                      <a:endParaRPr sz="1800" b="1" i="0" u="none" strike="noStrike" cap="none" dirty="0">
                        <a:solidFill>
                          <a:schemeClr val="dk1"/>
                        </a:solidFill>
                        <a:latin typeface="Microsoft JhengHei"/>
                        <a:ea typeface="Microsoft JhengHei"/>
                        <a:cs typeface="Arial"/>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a:latin typeface="Microsoft JhengHei"/>
                          <a:ea typeface="Microsoft JhengHei"/>
                          <a:cs typeface="Microsoft JhengHei"/>
                          <a:sym typeface="Microsoft JhengHei"/>
                        </a:rPr>
                        <a:t> </a:t>
                      </a:r>
                      <a:endParaRPr sz="1800" u="none" strike="noStrike" cap="none">
                        <a:latin typeface="Microsoft JhengHei"/>
                        <a:ea typeface="Microsoft JhengHei"/>
                        <a:cs typeface="Microsoft JhengHei"/>
                        <a:sym typeface="Microsoft JhengHei"/>
                      </a:endParaRPr>
                    </a:p>
                  </a:txBody>
                  <a:tcPr marL="102863" marR="102863" marT="0" marB="0">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tc>
                  <a:txBody>
                    <a:bodyPr/>
                    <a:lstStyle/>
                    <a:p>
                      <a:pPr marL="0" marR="0" lvl="0" indent="279400" algn="ctr" rtl="0">
                        <a:lnSpc>
                          <a:spcPct val="100000"/>
                        </a:lnSpc>
                        <a:spcBef>
                          <a:spcPts val="0"/>
                        </a:spcBef>
                        <a:spcAft>
                          <a:spcPts val="0"/>
                        </a:spcAft>
                        <a:buNone/>
                      </a:pPr>
                      <a:r>
                        <a:rPr lang="en-US" sz="1800" u="none" strike="noStrike" cap="none" dirty="0">
                          <a:latin typeface="Microsoft JhengHei"/>
                          <a:ea typeface="Microsoft JhengHei"/>
                          <a:cs typeface="Microsoft JhengHei"/>
                          <a:sym typeface="Microsoft JhengHei"/>
                        </a:rPr>
                        <a:t> </a:t>
                      </a:r>
                      <a:endParaRPr sz="1800" u="none" strike="noStrike" cap="none" dirty="0">
                        <a:latin typeface="Microsoft JhengHei"/>
                        <a:ea typeface="Microsoft JhengHei"/>
                        <a:cs typeface="Microsoft JhengHei"/>
                        <a:sym typeface="Microsoft JhengHei"/>
                      </a:endParaRPr>
                    </a:p>
                  </a:txBody>
                  <a:tcPr marL="102863" marR="102863"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D6CC"/>
                    </a:solidFill>
                  </a:tcPr>
                </a:tc>
                <a:extLst>
                  <a:ext uri="{0D108BD9-81ED-4DB2-BD59-A6C34878D82A}">
                    <a16:rowId xmlns:a16="http://schemas.microsoft.com/office/drawing/2014/main" xmlns="" val="10005"/>
                  </a:ext>
                </a:extLst>
              </a:tr>
            </a:tbl>
          </a:graphicData>
        </a:graphic>
      </p:graphicFrame>
      <p:sp>
        <p:nvSpPr>
          <p:cNvPr id="2" name="TextBox 1">
            <a:extLst>
              <a:ext uri="{FF2B5EF4-FFF2-40B4-BE49-F238E27FC236}">
                <a16:creationId xmlns:a16="http://schemas.microsoft.com/office/drawing/2014/main" xmlns="" id="{632BD657-D42C-B5C5-74AF-5218C346A770}"/>
              </a:ext>
            </a:extLst>
          </p:cNvPr>
          <p:cNvSpPr txBox="1"/>
          <p:nvPr/>
        </p:nvSpPr>
        <p:spPr>
          <a:xfrm>
            <a:off x="2445230" y="662810"/>
            <a:ext cx="8244896" cy="625620"/>
          </a:xfrm>
          <a:prstGeom prst="rect">
            <a:avLst/>
          </a:prstGeom>
          <a:noFill/>
        </p:spPr>
        <p:txBody>
          <a:bodyPr wrap="square" rtlCol="0" anchor="ctr">
            <a:spAutoFit/>
          </a:bodyPr>
          <a:lstStyle>
            <a:defPPr>
              <a:defRPr lang="en-US"/>
            </a:defPPr>
            <a:lvl1pPr>
              <a:lnSpc>
                <a:spcPct val="166666"/>
              </a:lnSpc>
              <a:defRPr sz="2000" b="1">
                <a:solidFill>
                  <a:schemeClr val="dk1"/>
                </a:solidFill>
                <a:latin typeface="Microsoft JhengHei"/>
                <a:ea typeface="Microsoft JhengHei"/>
                <a:cs typeface="Microsoft JhengHei"/>
              </a:defRPr>
            </a:lvl1pPr>
          </a:lstStyle>
          <a:p>
            <a:r>
              <a:rPr lang="en-US" altLang="zh-TW" sz="2400" dirty="0"/>
              <a:t>MM-PU-0030</a:t>
            </a:r>
            <a:r>
              <a:rPr lang="zh-TW" altLang="en-US" sz="2400" dirty="0"/>
              <a:t>庫存類請採流程</a:t>
            </a:r>
            <a:endParaRPr lang="zh-TW" altLang="en-US" dirty="0"/>
          </a:p>
        </p:txBody>
      </p:sp>
      <p:sp>
        <p:nvSpPr>
          <p:cNvPr id="3" name="TextBox 2">
            <a:extLst>
              <a:ext uri="{FF2B5EF4-FFF2-40B4-BE49-F238E27FC236}">
                <a16:creationId xmlns:a16="http://schemas.microsoft.com/office/drawing/2014/main" xmlns="" id="{6B09882B-C884-419E-9EB0-7F4E083F29C0}"/>
              </a:ext>
            </a:extLst>
          </p:cNvPr>
          <p:cNvSpPr txBox="1"/>
          <p:nvPr/>
        </p:nvSpPr>
        <p:spPr>
          <a:xfrm>
            <a:off x="15598384" y="419496"/>
            <a:ext cx="551112" cy="346249"/>
          </a:xfrm>
          <a:prstGeom prst="rect">
            <a:avLst/>
          </a:prstGeom>
          <a:noFill/>
        </p:spPr>
        <p:txBody>
          <a:bodyPr wrap="square" rtlCol="0">
            <a:spAutoFit/>
          </a:bodyPr>
          <a:lstStyle/>
          <a:p>
            <a:r>
              <a:rPr lang="en-US" altLang="zh-TW" sz="1600" dirty="0">
                <a:latin typeface="微軟正黑體" panose="020B0604030504040204" pitchFamily="34" charset="-120"/>
                <a:ea typeface="微軟正黑體" panose="020B0604030504040204" pitchFamily="34" charset="-120"/>
              </a:rPr>
              <a:t>0</a:t>
            </a:r>
            <a:endParaRPr lang="zh-TW" altLang="en-US" sz="1600" dirty="0">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MM-PU-0030</a:t>
            </a:r>
            <a:r>
              <a:rPr lang="zh-TW" altLang="en-US"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庫存</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類採購流程</a:t>
            </a:r>
          </a:p>
        </p:txBody>
      </p:sp>
      <p:sp>
        <p:nvSpPr>
          <p:cNvPr id="25" name="流程圖: 結束點 8">
            <a:extLst>
              <a:ext uri="{FF2B5EF4-FFF2-40B4-BE49-F238E27FC236}">
                <a16:creationId xmlns:a16="http://schemas.microsoft.com/office/drawing/2014/main" xmlns="" id="{1FB9514E-6261-C7AC-D58E-6A5F2E6F81FD}"/>
              </a:ext>
            </a:extLst>
          </p:cNvPr>
          <p:cNvSpPr/>
          <p:nvPr/>
        </p:nvSpPr>
        <p:spPr bwMode="auto">
          <a:xfrm>
            <a:off x="12301221" y="896365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結束</a:t>
            </a:r>
          </a:p>
        </p:txBody>
      </p:sp>
      <p:sp>
        <p:nvSpPr>
          <p:cNvPr id="34" name="文字方塊 17">
            <a:extLst>
              <a:ext uri="{FF2B5EF4-FFF2-40B4-BE49-F238E27FC236}">
                <a16:creationId xmlns:a16="http://schemas.microsoft.com/office/drawing/2014/main" xmlns="" id="{DE52170D-3194-E094-D743-3842F95326FE}"/>
              </a:ext>
            </a:extLst>
          </p:cNvPr>
          <p:cNvSpPr txBox="1"/>
          <p:nvPr/>
        </p:nvSpPr>
        <p:spPr>
          <a:xfrm>
            <a:off x="6511771" y="1379656"/>
            <a:ext cx="5020322"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67310" y="1957293"/>
            <a:ext cx="3594197" cy="7017306"/>
          </a:xfrm>
          <a:prstGeom prst="rect">
            <a:avLst/>
          </a:prstGeom>
          <a:noFill/>
        </p:spPr>
        <p:txBody>
          <a:bodyPr wrap="square" rtlCol="0">
            <a:spAutoFit/>
          </a:bodyPr>
          <a:lstStyle/>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非</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MRP</a:t>
            </a: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計算出的需求用量，手動建立</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預補</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預買請購單</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將請購單利用</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ZMM017</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匯入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發起簽核流程</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主管進行</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BPM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本簽核請購單</a:t>
            </a: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完成簽核請購單先使用</a:t>
            </a:r>
            <a:r>
              <a:rPr lang="en-US" altLang="zh-TW" kern="0" dirty="0" smtClean="0">
                <a:solidFill>
                  <a:srgbClr val="000000"/>
                </a:solidFill>
                <a:latin typeface="微軟正黑體" panose="020B0604030504040204" pitchFamily="34" charset="-120"/>
                <a:ea typeface="微軟正黑體" panose="020B0604030504040204" pitchFamily="34" charset="-120"/>
                <a:cs typeface="Arial"/>
                <a:sym typeface="Arial"/>
              </a:rPr>
              <a:t>ME59N/ME57</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處理已指派請購單或可指派請購單，建立採購單</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再使用</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ME21N</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 處理上一步驟無法自動轉單的請購單，如果沒有帶入有效價格，可以暫存採購單並得採購編號</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並且使用暫存採購單進行詢價流程</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在詢報價流程建立最新價格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更新採購單讀取最新廠商價格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使用</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ZMM003</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將採購單資料匯入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未使用</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平台廠商寄發採購單檔案或紙本採購單</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將</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平台確認交期，利用程式</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ZMM011</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匯回</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SAP</a:t>
            </a:r>
          </a:p>
          <a:p>
            <a:pPr marL="342900" indent="-342900" defTabSz="1371600">
              <a:buClr>
                <a:srgbClr val="000000"/>
              </a:buClr>
              <a:buFont typeface="+mj-lt"/>
              <a:buAutoNum type="arabicPeriod"/>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需要訂金的採購單，由採購在預付款流程中完成訂金申請</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endParaRPr lang="en-US" altLang="zh-TW" kern="0" dirty="0">
              <a:solidFill>
                <a:srgbClr val="000000"/>
              </a:solidFill>
              <a:latin typeface="Arial"/>
              <a:cs typeface="Arial"/>
              <a:sym typeface="Arial"/>
            </a:endParaRPr>
          </a:p>
        </p:txBody>
      </p:sp>
      <p:graphicFrame>
        <p:nvGraphicFramePr>
          <p:cNvPr id="231" name="表格 30">
            <a:extLst>
              <a:ext uri="{FF2B5EF4-FFF2-40B4-BE49-F238E27FC236}">
                <a16:creationId xmlns:a16="http://schemas.microsoft.com/office/drawing/2014/main" xmlns="" id="{E2D1DE07-F765-0D8A-0A3C-D52A5A690ECB}"/>
              </a:ext>
            </a:extLst>
          </p:cNvPr>
          <p:cNvGraphicFramePr>
            <a:graphicFrameLocks noGrp="1"/>
          </p:cNvGraphicFramePr>
          <p:nvPr/>
        </p:nvGraphicFramePr>
        <p:xfrm>
          <a:off x="6751989" y="1936789"/>
          <a:ext cx="1797832" cy="1350016"/>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0432">
                <a:tc gridSpan="2">
                  <a:txBody>
                    <a:bodyPr/>
                    <a:lstStyle/>
                    <a:p>
                      <a:pPr algn="ctr"/>
                      <a:r>
                        <a:rPr lang="en-GB" sz="1400" b="1" dirty="0" smtClean="0">
                          <a:solidFill>
                            <a:schemeClr val="tx1"/>
                          </a:solidFill>
                          <a:latin typeface="微軟正黑體" panose="020B0604030504040204" pitchFamily="34" charset="-120"/>
                          <a:ea typeface="微軟正黑體" panose="020B0604030504040204" pitchFamily="34" charset="-120"/>
                        </a:rPr>
                        <a:t>ME59N/ME57</a:t>
                      </a:r>
                      <a:endParaRPr lang="en-GB" sz="1400" b="1" dirty="0">
                        <a:solidFill>
                          <a:schemeClr val="tx1"/>
                        </a:solidFill>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70042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自動建立採購單</a:t>
                      </a:r>
                      <a:r>
                        <a:rPr kumimoji="0" lang="en-US" altLang="zh-TW" sz="1400" dirty="0">
                          <a:latin typeface="微軟正黑體" panose="020B0604030504040204" pitchFamily="34" charset="-120"/>
                          <a:ea typeface="微軟正黑體" panose="020B0604030504040204" pitchFamily="34" charset="-120"/>
                        </a:rPr>
                        <a:t>/</a:t>
                      </a:r>
                      <a:r>
                        <a:rPr kumimoji="0" lang="zh-TW" altLang="en-US" sz="1400" dirty="0">
                          <a:latin typeface="微軟正黑體" panose="020B0604030504040204" pitchFamily="34" charset="-120"/>
                          <a:ea typeface="微軟正黑體" panose="020B0604030504040204" pitchFamily="34" charset="-120"/>
                        </a:rPr>
                        <a:t>請購轉採購單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39" name="肘形接點 68">
            <a:extLst>
              <a:ext uri="{FF2B5EF4-FFF2-40B4-BE49-F238E27FC236}">
                <a16:creationId xmlns:a16="http://schemas.microsoft.com/office/drawing/2014/main" xmlns="" id="{6710C215-D2A9-AE8A-C825-CAB394FDF69B}"/>
              </a:ext>
            </a:extLst>
          </p:cNvPr>
          <p:cNvCxnSpPr>
            <a:cxnSpLocks/>
            <a:stCxn id="231" idx="2"/>
            <a:endCxn id="10" idx="0"/>
          </p:cNvCxnSpPr>
          <p:nvPr/>
        </p:nvCxnSpPr>
        <p:spPr>
          <a:xfrm rot="16200000" flipH="1">
            <a:off x="7527833" y="3409876"/>
            <a:ext cx="246399" cy="255"/>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3" name="肘形接點 68">
            <a:extLst>
              <a:ext uri="{FF2B5EF4-FFF2-40B4-BE49-F238E27FC236}">
                <a16:creationId xmlns:a16="http://schemas.microsoft.com/office/drawing/2014/main" xmlns="" id="{4A3048A1-DF9E-B19F-4A1B-A34D05AE9CF9}"/>
              </a:ext>
            </a:extLst>
          </p:cNvPr>
          <p:cNvCxnSpPr>
            <a:cxnSpLocks/>
            <a:stCxn id="27" idx="3"/>
            <a:endCxn id="93" idx="2"/>
          </p:cNvCxnSpPr>
          <p:nvPr/>
        </p:nvCxnSpPr>
        <p:spPr>
          <a:xfrm>
            <a:off x="8565879" y="9212284"/>
            <a:ext cx="1382010" cy="50671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25" name="肘形接點 68">
            <a:extLst>
              <a:ext uri="{FF2B5EF4-FFF2-40B4-BE49-F238E27FC236}">
                <a16:creationId xmlns:a16="http://schemas.microsoft.com/office/drawing/2014/main" xmlns="" id="{7E95FEFF-2879-FA3D-28B5-98E64655FC5E}"/>
              </a:ext>
            </a:extLst>
          </p:cNvPr>
          <p:cNvCxnSpPr>
            <a:cxnSpLocks/>
            <a:stCxn id="7" idx="2"/>
            <a:endCxn id="27" idx="0"/>
          </p:cNvCxnSpPr>
          <p:nvPr/>
        </p:nvCxnSpPr>
        <p:spPr>
          <a:xfrm rot="5400000">
            <a:off x="7379218" y="8316304"/>
            <a:ext cx="535430" cy="3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 name="流程圖: 預設處理作業 21">
            <a:extLst>
              <a:ext uri="{FF2B5EF4-FFF2-40B4-BE49-F238E27FC236}">
                <a16:creationId xmlns:a16="http://schemas.microsoft.com/office/drawing/2014/main" xmlns="" id="{061751AD-3FB9-5673-91AF-11A4012F1D93}"/>
              </a:ext>
            </a:extLst>
          </p:cNvPr>
          <p:cNvSpPr/>
          <p:nvPr/>
        </p:nvSpPr>
        <p:spPr bwMode="auto">
          <a:xfrm>
            <a:off x="6763970" y="6810205"/>
            <a:ext cx="1765953"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defTabSz="1371600" eaLnBrk="0" hangingPunct="0">
              <a:buClr>
                <a:srgbClr val="000000"/>
              </a:buClr>
            </a:pPr>
            <a:r>
              <a:rPr lang="en-US" altLang="zh-TW" sz="1500" kern="0" dirty="0">
                <a:solidFill>
                  <a:srgbClr val="000000"/>
                </a:solidFill>
                <a:latin typeface="Microsoft JhengHei" panose="020B0604030504040204" pitchFamily="34" charset="-120"/>
                <a:ea typeface="Microsoft JhengHei" panose="020B0604030504040204" pitchFamily="34" charset="-120"/>
                <a:cs typeface="Arial"/>
                <a:sym typeface="Arial"/>
              </a:rPr>
              <a:t>MM-PU-0010</a:t>
            </a:r>
          </a:p>
          <a:p>
            <a:pPr algn="ctr" defTabSz="1371600" eaLnBrk="0" hangingPunct="0">
              <a:buClr>
                <a:srgbClr val="000000"/>
              </a:buClr>
            </a:pPr>
            <a:r>
              <a:rPr lang="zh-TW" altLang="en-US" sz="1500" kern="0" dirty="0">
                <a:solidFill>
                  <a:srgbClr val="000000"/>
                </a:solidFill>
                <a:latin typeface="Microsoft JhengHei" panose="020B0604030504040204" pitchFamily="34" charset="-120"/>
                <a:ea typeface="Microsoft JhengHei" panose="020B0604030504040204" pitchFamily="34" charset="-120"/>
                <a:cs typeface="Arial"/>
                <a:sym typeface="Arial"/>
              </a:rPr>
              <a:t>詢報價更新價格主檔</a:t>
            </a:r>
            <a:r>
              <a:rPr lang="zh-TW" altLang="en-US" sz="1500" kern="0" dirty="0">
                <a:solidFill>
                  <a:srgbClr val="000000"/>
                </a:solidFill>
                <a:latin typeface="Arial"/>
                <a:cs typeface="Arial"/>
                <a:sym typeface="Arial"/>
              </a:rPr>
              <a:t> </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aphicFrame>
        <p:nvGraphicFramePr>
          <p:cNvPr id="27" name="表格 30">
            <a:extLst>
              <a:ext uri="{FF2B5EF4-FFF2-40B4-BE49-F238E27FC236}">
                <a16:creationId xmlns:a16="http://schemas.microsoft.com/office/drawing/2014/main" xmlns="" id="{9C687E39-0506-351B-945F-6294FDE25E24}"/>
              </a:ext>
            </a:extLst>
          </p:cNvPr>
          <p:cNvGraphicFramePr>
            <a:graphicFrameLocks noGrp="1"/>
          </p:cNvGraphicFramePr>
          <p:nvPr/>
        </p:nvGraphicFramePr>
        <p:xfrm>
          <a:off x="6727955" y="8584034"/>
          <a:ext cx="1837925" cy="1256499"/>
        </p:xfrm>
        <a:graphic>
          <a:graphicData uri="http://schemas.openxmlformats.org/drawingml/2006/table">
            <a:tbl>
              <a:tblPr>
                <a:tableStyleId>{5940675A-B579-460E-94D1-54222C63F5DA}</a:tableStyleId>
              </a:tblPr>
              <a:tblGrid>
                <a:gridCol w="924605">
                  <a:extLst>
                    <a:ext uri="{9D8B030D-6E8A-4147-A177-3AD203B41FA5}">
                      <a16:colId xmlns:a16="http://schemas.microsoft.com/office/drawing/2014/main" xmlns="" val="3433979995"/>
                    </a:ext>
                  </a:extLst>
                </a:gridCol>
                <a:gridCol w="913320">
                  <a:extLst>
                    <a:ext uri="{9D8B030D-6E8A-4147-A177-3AD203B41FA5}">
                      <a16:colId xmlns:a16="http://schemas.microsoft.com/office/drawing/2014/main" xmlns="" val="3727974752"/>
                    </a:ext>
                  </a:extLst>
                </a:gridCol>
              </a:tblGrid>
              <a:tr h="342330">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ME22N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9930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更新採購單，讀取價格</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14865">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10" name="表格 30">
            <a:extLst>
              <a:ext uri="{FF2B5EF4-FFF2-40B4-BE49-F238E27FC236}">
                <a16:creationId xmlns:a16="http://schemas.microsoft.com/office/drawing/2014/main" xmlns="" id="{FDBFCAF5-D715-D627-A435-0949CBDC2137}"/>
              </a:ext>
            </a:extLst>
          </p:cNvPr>
          <p:cNvGraphicFramePr>
            <a:graphicFrameLocks noGrp="1"/>
          </p:cNvGraphicFramePr>
          <p:nvPr/>
        </p:nvGraphicFramePr>
        <p:xfrm>
          <a:off x="6752244" y="3533204"/>
          <a:ext cx="1797832" cy="1228069"/>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ME21N</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78475">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參照請購單建立採購單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29" name="肘形接點 68">
            <a:extLst>
              <a:ext uri="{FF2B5EF4-FFF2-40B4-BE49-F238E27FC236}">
                <a16:creationId xmlns:a16="http://schemas.microsoft.com/office/drawing/2014/main" xmlns="" id="{8DFF4E62-5ECC-A259-B197-AF40294A22FF}"/>
              </a:ext>
            </a:extLst>
          </p:cNvPr>
          <p:cNvCxnSpPr>
            <a:cxnSpLocks/>
            <a:stCxn id="10" idx="2"/>
            <a:endCxn id="240" idx="0"/>
          </p:cNvCxnSpPr>
          <p:nvPr/>
        </p:nvCxnSpPr>
        <p:spPr>
          <a:xfrm rot="5400000">
            <a:off x="7505146" y="4903909"/>
            <a:ext cx="288650" cy="337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235" name="表格 30">
            <a:extLst>
              <a:ext uri="{FF2B5EF4-FFF2-40B4-BE49-F238E27FC236}">
                <a16:creationId xmlns:a16="http://schemas.microsoft.com/office/drawing/2014/main" xmlns="" id="{2B1994A3-CE57-3A30-00D9-874680A69B02}"/>
              </a:ext>
            </a:extLst>
          </p:cNvPr>
          <p:cNvGraphicFramePr>
            <a:graphicFrameLocks noGrp="1"/>
          </p:cNvGraphicFramePr>
          <p:nvPr/>
        </p:nvGraphicFramePr>
        <p:xfrm>
          <a:off x="9861126" y="1984052"/>
          <a:ext cx="1803510" cy="1201006"/>
        </p:xfrm>
        <a:graphic>
          <a:graphicData uri="http://schemas.openxmlformats.org/drawingml/2006/table">
            <a:tbl>
              <a:tblPr>
                <a:tableStyleId>{5940675A-B579-460E-94D1-54222C63F5DA}</a:tableStyleId>
              </a:tblPr>
              <a:tblGrid>
                <a:gridCol w="901755">
                  <a:extLst>
                    <a:ext uri="{9D8B030D-6E8A-4147-A177-3AD203B41FA5}">
                      <a16:colId xmlns:a16="http://schemas.microsoft.com/office/drawing/2014/main" xmlns="" val="3433979995"/>
                    </a:ext>
                  </a:extLst>
                </a:gridCol>
                <a:gridCol w="901755">
                  <a:extLst>
                    <a:ext uri="{9D8B030D-6E8A-4147-A177-3AD203B41FA5}">
                      <a16:colId xmlns:a16="http://schemas.microsoft.com/office/drawing/2014/main" xmlns="" val="3727974752"/>
                    </a:ext>
                  </a:extLst>
                </a:gridCol>
              </a:tblGrid>
              <a:tr h="330432">
                <a:tc gridSpan="2">
                  <a:txBody>
                    <a:bodyPr/>
                    <a:lstStyle/>
                    <a:p>
                      <a:pPr marR="0" algn="ctr" rtl="0">
                        <a:lnSpc>
                          <a:spcPct val="100000"/>
                        </a:lnSpc>
                        <a:spcBef>
                          <a:spcPts val="0"/>
                        </a:spcBef>
                        <a:spcAft>
                          <a:spcPts val="0"/>
                        </a:spcAft>
                        <a:buClr>
                          <a:srgbClr val="000000"/>
                        </a:buClr>
                        <a:buFont typeface="Arial"/>
                      </a:pPr>
                      <a:r>
                        <a:rPr lang="en-GB"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ZMM003</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36172">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採購單資料匯入</a:t>
                      </a:r>
                      <a:r>
                        <a:rPr kumimoji="0" lang="en-US" altLang="zh-TW" sz="1400" dirty="0">
                          <a:latin typeface="微軟正黑體" panose="020B0604030504040204" pitchFamily="34" charset="-120"/>
                          <a:ea typeface="微軟正黑體" panose="020B0604030504040204" pitchFamily="34" charset="-120"/>
                        </a:rPr>
                        <a:t>DS B2B</a:t>
                      </a:r>
                      <a:r>
                        <a:rPr kumimoji="0" lang="zh-TW" altLang="en-US" sz="1400" dirty="0">
                          <a:latin typeface="微軟正黑體" panose="020B0604030504040204" pitchFamily="34" charset="-120"/>
                          <a:ea typeface="微軟正黑體" panose="020B0604030504040204" pitchFamily="34" charset="-120"/>
                        </a:rPr>
                        <a:t>平台</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240" name="流程圖: 決策 50">
            <a:extLst>
              <a:ext uri="{FF2B5EF4-FFF2-40B4-BE49-F238E27FC236}">
                <a16:creationId xmlns:a16="http://schemas.microsoft.com/office/drawing/2014/main" xmlns="" id="{527C4236-AC24-9665-999E-BCB38749D459}"/>
              </a:ext>
            </a:extLst>
          </p:cNvPr>
          <p:cNvSpPr/>
          <p:nvPr/>
        </p:nvSpPr>
        <p:spPr bwMode="auto">
          <a:xfrm>
            <a:off x="6726806" y="5049923"/>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採購單自動帶入價格</a:t>
            </a:r>
          </a:p>
        </p:txBody>
      </p:sp>
      <p:sp>
        <p:nvSpPr>
          <p:cNvPr id="241" name="文字方塊 240">
            <a:extLst>
              <a:ext uri="{FF2B5EF4-FFF2-40B4-BE49-F238E27FC236}">
                <a16:creationId xmlns:a16="http://schemas.microsoft.com/office/drawing/2014/main" xmlns="" id="{C1F79803-CD2F-DCBE-0376-1A2E7AAE8BD3}"/>
              </a:ext>
            </a:extLst>
          </p:cNvPr>
          <p:cNvSpPr txBox="1"/>
          <p:nvPr/>
        </p:nvSpPr>
        <p:spPr>
          <a:xfrm>
            <a:off x="8511204" y="5007598"/>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sp>
        <p:nvSpPr>
          <p:cNvPr id="242" name="文字方塊 241">
            <a:extLst>
              <a:ext uri="{FF2B5EF4-FFF2-40B4-BE49-F238E27FC236}">
                <a16:creationId xmlns:a16="http://schemas.microsoft.com/office/drawing/2014/main" xmlns="" id="{118E9DFC-AE14-CF90-1E50-B05094B07A0E}"/>
              </a:ext>
            </a:extLst>
          </p:cNvPr>
          <p:cNvSpPr txBox="1"/>
          <p:nvPr/>
        </p:nvSpPr>
        <p:spPr>
          <a:xfrm>
            <a:off x="3843425" y="6953711"/>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cxnSp>
        <p:nvCxnSpPr>
          <p:cNvPr id="250" name="肘形接點 68">
            <a:extLst>
              <a:ext uri="{FF2B5EF4-FFF2-40B4-BE49-F238E27FC236}">
                <a16:creationId xmlns:a16="http://schemas.microsoft.com/office/drawing/2014/main" xmlns="" id="{1342C1CD-0CFF-F5F7-DF8F-8FD8733ED079}"/>
              </a:ext>
            </a:extLst>
          </p:cNvPr>
          <p:cNvCxnSpPr>
            <a:cxnSpLocks/>
            <a:stCxn id="240" idx="3"/>
            <a:endCxn id="235" idx="1"/>
          </p:cNvCxnSpPr>
          <p:nvPr/>
        </p:nvCxnSpPr>
        <p:spPr>
          <a:xfrm flipV="1">
            <a:off x="8568755" y="2584555"/>
            <a:ext cx="1292371" cy="282146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55" name="肘形接點 68">
            <a:extLst>
              <a:ext uri="{FF2B5EF4-FFF2-40B4-BE49-F238E27FC236}">
                <a16:creationId xmlns:a16="http://schemas.microsoft.com/office/drawing/2014/main" xmlns="" id="{6822E07E-AECF-9AB1-F51A-9AC881E39209}"/>
              </a:ext>
            </a:extLst>
          </p:cNvPr>
          <p:cNvCxnSpPr>
            <a:cxnSpLocks/>
            <a:stCxn id="240" idx="2"/>
            <a:endCxn id="7" idx="0"/>
          </p:cNvCxnSpPr>
          <p:nvPr/>
        </p:nvCxnSpPr>
        <p:spPr>
          <a:xfrm rot="5400000">
            <a:off x="7123324" y="6285746"/>
            <a:ext cx="1048082" cy="834"/>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39" name="流程圖: 決策 50">
            <a:extLst>
              <a:ext uri="{FF2B5EF4-FFF2-40B4-BE49-F238E27FC236}">
                <a16:creationId xmlns:a16="http://schemas.microsoft.com/office/drawing/2014/main" xmlns="" id="{703EA7D4-6DB0-4B74-3F70-D0D1D8EC4C08}"/>
              </a:ext>
            </a:extLst>
          </p:cNvPr>
          <p:cNvSpPr/>
          <p:nvPr/>
        </p:nvSpPr>
        <p:spPr bwMode="auto">
          <a:xfrm>
            <a:off x="9833337" y="5429512"/>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平台廠商</a:t>
            </a:r>
          </a:p>
        </p:txBody>
      </p:sp>
      <p:cxnSp>
        <p:nvCxnSpPr>
          <p:cNvPr id="40" name="肘形接點 68">
            <a:extLst>
              <a:ext uri="{FF2B5EF4-FFF2-40B4-BE49-F238E27FC236}">
                <a16:creationId xmlns:a16="http://schemas.microsoft.com/office/drawing/2014/main" xmlns="" id="{A957937C-FE30-D469-C866-46C872CC0A81}"/>
              </a:ext>
            </a:extLst>
          </p:cNvPr>
          <p:cNvCxnSpPr>
            <a:cxnSpLocks/>
            <a:stCxn id="235" idx="2"/>
            <a:endCxn id="102" idx="0"/>
          </p:cNvCxnSpPr>
          <p:nvPr/>
        </p:nvCxnSpPr>
        <p:spPr>
          <a:xfrm rot="5400000">
            <a:off x="10325831" y="3620558"/>
            <a:ext cx="872551" cy="155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46" name="表格 30">
            <a:extLst>
              <a:ext uri="{FF2B5EF4-FFF2-40B4-BE49-F238E27FC236}">
                <a16:creationId xmlns:a16="http://schemas.microsoft.com/office/drawing/2014/main" xmlns="" id="{88E90B4F-5609-AB9E-7943-82300FD37412}"/>
              </a:ext>
            </a:extLst>
          </p:cNvPr>
          <p:cNvGraphicFramePr>
            <a:graphicFrameLocks noGrp="1"/>
          </p:cNvGraphicFramePr>
          <p:nvPr/>
        </p:nvGraphicFramePr>
        <p:xfrm>
          <a:off x="8671182" y="6811029"/>
          <a:ext cx="1809772" cy="1230030"/>
        </p:xfrm>
        <a:graphic>
          <a:graphicData uri="http://schemas.openxmlformats.org/drawingml/2006/table">
            <a:tbl>
              <a:tblPr>
                <a:tableStyleId>{5940675A-B579-460E-94D1-54222C63F5DA}</a:tableStyleId>
              </a:tblPr>
              <a:tblGrid>
                <a:gridCol w="904886">
                  <a:extLst>
                    <a:ext uri="{9D8B030D-6E8A-4147-A177-3AD203B41FA5}">
                      <a16:colId xmlns:a16="http://schemas.microsoft.com/office/drawing/2014/main" xmlns="" val="3433979995"/>
                    </a:ext>
                  </a:extLst>
                </a:gridCol>
                <a:gridCol w="904886">
                  <a:extLst>
                    <a:ext uri="{9D8B030D-6E8A-4147-A177-3AD203B41FA5}">
                      <a16:colId xmlns:a16="http://schemas.microsoft.com/office/drawing/2014/main" xmlns="" val="3727974752"/>
                    </a:ext>
                  </a:extLst>
                </a:gridCol>
              </a:tblGrid>
              <a:tr h="353397">
                <a:tc gridSpan="2">
                  <a:txBody>
                    <a:bodyPr/>
                    <a:lstStyle/>
                    <a:p>
                      <a:pPr marR="0" algn="ctr" rtl="0">
                        <a:lnSpc>
                          <a:spcPct val="100000"/>
                        </a:lnSpc>
                        <a:spcBef>
                          <a:spcPts val="0"/>
                        </a:spcBef>
                        <a:spcAft>
                          <a:spcPts val="0"/>
                        </a:spcAft>
                        <a:buClr>
                          <a:srgbClr val="000000"/>
                        </a:buClr>
                        <a:buFont typeface="Arial"/>
                      </a:pPr>
                      <a:r>
                        <a:rPr lang="zh-TW" altLang="en-US"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　</a:t>
                      </a:r>
                      <a:endParaRPr lang="en-GB"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74195">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寄發採購單予供應商</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25221">
                <a:tc>
                  <a:txBody>
                    <a:bodyPr/>
                    <a:lstStyle/>
                    <a:p>
                      <a:pPr algn="ctr"/>
                      <a:r>
                        <a:rPr lang="zh-TW" altLang="en-US" sz="1400" dirty="0">
                          <a:latin typeface="微軟正黑體" panose="020B0604030504040204" pitchFamily="34" charset="-120"/>
                          <a:ea typeface="微軟正黑體" panose="020B0604030504040204" pitchFamily="34" charset="-120"/>
                        </a:rPr>
                        <a:t>　</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47" name="肘形接點 68">
            <a:extLst>
              <a:ext uri="{FF2B5EF4-FFF2-40B4-BE49-F238E27FC236}">
                <a16:creationId xmlns:a16="http://schemas.microsoft.com/office/drawing/2014/main" xmlns="" id="{B19C4DF8-CA1D-E071-0C54-268098876D68}"/>
              </a:ext>
            </a:extLst>
          </p:cNvPr>
          <p:cNvCxnSpPr>
            <a:cxnSpLocks/>
            <a:stCxn id="39" idx="2"/>
            <a:endCxn id="236" idx="0"/>
          </p:cNvCxnSpPr>
          <p:nvPr/>
        </p:nvCxnSpPr>
        <p:spPr>
          <a:xfrm rot="5400000">
            <a:off x="9755418" y="7138898"/>
            <a:ext cx="1996081" cy="170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51" name="肘形接點 68">
            <a:extLst>
              <a:ext uri="{FF2B5EF4-FFF2-40B4-BE49-F238E27FC236}">
                <a16:creationId xmlns:a16="http://schemas.microsoft.com/office/drawing/2014/main" xmlns="" id="{51EC1F94-8566-9FD6-D184-8F4502480F61}"/>
              </a:ext>
            </a:extLst>
          </p:cNvPr>
          <p:cNvCxnSpPr>
            <a:cxnSpLocks/>
            <a:stCxn id="39" idx="1"/>
            <a:endCxn id="46" idx="0"/>
          </p:cNvCxnSpPr>
          <p:nvPr/>
        </p:nvCxnSpPr>
        <p:spPr>
          <a:xfrm rot="10800000" flipV="1">
            <a:off x="9576069" y="5785611"/>
            <a:ext cx="257269" cy="102541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6" name="肘形接點 68">
            <a:extLst>
              <a:ext uri="{FF2B5EF4-FFF2-40B4-BE49-F238E27FC236}">
                <a16:creationId xmlns:a16="http://schemas.microsoft.com/office/drawing/2014/main" xmlns="" id="{687579D6-58A9-FB92-A800-B068D391BDFE}"/>
              </a:ext>
            </a:extLst>
          </p:cNvPr>
          <p:cNvCxnSpPr>
            <a:cxnSpLocks/>
            <a:stCxn id="46" idx="2"/>
            <a:endCxn id="25" idx="1"/>
          </p:cNvCxnSpPr>
          <p:nvPr/>
        </p:nvCxnSpPr>
        <p:spPr>
          <a:xfrm rot="16200000" flipH="1">
            <a:off x="10281736" y="7335390"/>
            <a:ext cx="1313816" cy="272515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grpSp>
        <p:nvGrpSpPr>
          <p:cNvPr id="12" name="Group 220">
            <a:extLst>
              <a:ext uri="{FF2B5EF4-FFF2-40B4-BE49-F238E27FC236}">
                <a16:creationId xmlns:a16="http://schemas.microsoft.com/office/drawing/2014/main" xmlns="" id="{E4097B06-13F3-2749-08CA-2BDE198E16D2}"/>
              </a:ext>
            </a:extLst>
          </p:cNvPr>
          <p:cNvGrpSpPr/>
          <p:nvPr/>
        </p:nvGrpSpPr>
        <p:grpSpPr>
          <a:xfrm>
            <a:off x="11376887" y="1779311"/>
            <a:ext cx="560127" cy="415761"/>
            <a:chOff x="5906472" y="1486857"/>
            <a:chExt cx="373418" cy="272361"/>
          </a:xfrm>
        </p:grpSpPr>
        <p:sp>
          <p:nvSpPr>
            <p:cNvPr id="14" name="Oval 221">
              <a:extLst>
                <a:ext uri="{FF2B5EF4-FFF2-40B4-BE49-F238E27FC236}">
                  <a16:creationId xmlns:a16="http://schemas.microsoft.com/office/drawing/2014/main" xmlns="" id="{45164164-3455-C6A7-D2F5-B811505E936C}"/>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5" name="TextBox 222">
              <a:extLst>
                <a:ext uri="{FF2B5EF4-FFF2-40B4-BE49-F238E27FC236}">
                  <a16:creationId xmlns:a16="http://schemas.microsoft.com/office/drawing/2014/main" xmlns="" id="{07660215-3777-8046-0166-A6729ACC2A3E}"/>
                </a:ext>
              </a:extLst>
            </p:cNvPr>
            <p:cNvSpPr txBox="1"/>
            <p:nvPr/>
          </p:nvSpPr>
          <p:spPr>
            <a:xfrm>
              <a:off x="5924290"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8</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16" name="Group 220">
            <a:extLst>
              <a:ext uri="{FF2B5EF4-FFF2-40B4-BE49-F238E27FC236}">
                <a16:creationId xmlns:a16="http://schemas.microsoft.com/office/drawing/2014/main" xmlns="" id="{652C5679-F461-7787-64DD-E121678854D6}"/>
              </a:ext>
            </a:extLst>
          </p:cNvPr>
          <p:cNvGrpSpPr/>
          <p:nvPr/>
        </p:nvGrpSpPr>
        <p:grpSpPr>
          <a:xfrm>
            <a:off x="10247646" y="6546721"/>
            <a:ext cx="557361" cy="415761"/>
            <a:chOff x="5906472" y="1486857"/>
            <a:chExt cx="371574" cy="272361"/>
          </a:xfrm>
        </p:grpSpPr>
        <p:sp>
          <p:nvSpPr>
            <p:cNvPr id="23" name="Oval 221">
              <a:extLst>
                <a:ext uri="{FF2B5EF4-FFF2-40B4-BE49-F238E27FC236}">
                  <a16:creationId xmlns:a16="http://schemas.microsoft.com/office/drawing/2014/main" xmlns="" id="{368F72B4-8C9B-F35C-FA71-74194D15001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8" name="TextBox 222">
              <a:extLst>
                <a:ext uri="{FF2B5EF4-FFF2-40B4-BE49-F238E27FC236}">
                  <a16:creationId xmlns:a16="http://schemas.microsoft.com/office/drawing/2014/main" xmlns="" id="{1357130C-FDAF-3D81-C7A6-896650CD176B}"/>
                </a:ext>
              </a:extLst>
            </p:cNvPr>
            <p:cNvSpPr txBox="1"/>
            <p:nvPr/>
          </p:nvSpPr>
          <p:spPr>
            <a:xfrm>
              <a:off x="5922446" y="1507251"/>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9</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
        <p:nvSpPr>
          <p:cNvPr id="30" name="文字方塊 29">
            <a:extLst>
              <a:ext uri="{FF2B5EF4-FFF2-40B4-BE49-F238E27FC236}">
                <a16:creationId xmlns:a16="http://schemas.microsoft.com/office/drawing/2014/main" xmlns="" id="{D357011A-2F1E-F314-8D89-06D1641129D2}"/>
              </a:ext>
            </a:extLst>
          </p:cNvPr>
          <p:cNvSpPr txBox="1"/>
          <p:nvPr/>
        </p:nvSpPr>
        <p:spPr>
          <a:xfrm>
            <a:off x="9453821" y="5968588"/>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sp>
        <p:nvSpPr>
          <p:cNvPr id="31" name="文字方塊 30">
            <a:extLst>
              <a:ext uri="{FF2B5EF4-FFF2-40B4-BE49-F238E27FC236}">
                <a16:creationId xmlns:a16="http://schemas.microsoft.com/office/drawing/2014/main" xmlns="" id="{F979629B-6998-BD03-3D95-85DED52118DB}"/>
              </a:ext>
            </a:extLst>
          </p:cNvPr>
          <p:cNvSpPr txBox="1"/>
          <p:nvPr/>
        </p:nvSpPr>
        <p:spPr>
          <a:xfrm>
            <a:off x="10773092" y="6311840"/>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graphicFrame>
        <p:nvGraphicFramePr>
          <p:cNvPr id="236" name="表格 30">
            <a:extLst>
              <a:ext uri="{FF2B5EF4-FFF2-40B4-BE49-F238E27FC236}">
                <a16:creationId xmlns:a16="http://schemas.microsoft.com/office/drawing/2014/main" xmlns="" id="{FA013A34-2A21-5043-F54F-E3A61A950B39}"/>
              </a:ext>
            </a:extLst>
          </p:cNvPr>
          <p:cNvGraphicFramePr>
            <a:graphicFrameLocks noGrp="1"/>
          </p:cNvGraphicFramePr>
          <p:nvPr/>
        </p:nvGraphicFramePr>
        <p:xfrm>
          <a:off x="9851306" y="8137793"/>
          <a:ext cx="1802596" cy="1006128"/>
        </p:xfrm>
        <a:graphic>
          <a:graphicData uri="http://schemas.openxmlformats.org/drawingml/2006/table">
            <a:tbl>
              <a:tblPr>
                <a:tableStyleId>{5940675A-B579-460E-94D1-54222C63F5DA}</a:tableStyleId>
              </a:tblPr>
              <a:tblGrid>
                <a:gridCol w="901298">
                  <a:extLst>
                    <a:ext uri="{9D8B030D-6E8A-4147-A177-3AD203B41FA5}">
                      <a16:colId xmlns:a16="http://schemas.microsoft.com/office/drawing/2014/main" xmlns="" val="3433979995"/>
                    </a:ext>
                  </a:extLst>
                </a:gridCol>
                <a:gridCol w="901298">
                  <a:extLst>
                    <a:ext uri="{9D8B030D-6E8A-4147-A177-3AD203B41FA5}">
                      <a16:colId xmlns:a16="http://schemas.microsoft.com/office/drawing/2014/main" xmlns="" val="3727974752"/>
                    </a:ext>
                  </a:extLst>
                </a:gridCol>
              </a:tblGrid>
              <a:tr h="332409">
                <a:tc gridSpan="2">
                  <a:txBody>
                    <a:bodyPr/>
                    <a:lstStyle/>
                    <a:p>
                      <a:pPr marR="0" algn="ctr" rtl="0">
                        <a:lnSpc>
                          <a:spcPct val="100000"/>
                        </a:lnSpc>
                        <a:spcBef>
                          <a:spcPts val="0"/>
                        </a:spcBef>
                        <a:spcAft>
                          <a:spcPts val="0"/>
                        </a:spcAft>
                        <a:buClr>
                          <a:srgbClr val="000000"/>
                        </a:buClr>
                        <a:buFont typeface="Arial"/>
                      </a:pPr>
                      <a:r>
                        <a:rPr lang="en-US" altLang="zh-TW"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ZMM011</a:t>
                      </a:r>
                      <a:r>
                        <a:rPr lang="zh-TW" altLang="en-US"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　</a:t>
                      </a:r>
                      <a:endParaRPr lang="en-GB" sz="1400" b="1"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35653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交期回傳</a:t>
                      </a:r>
                      <a:r>
                        <a:rPr kumimoji="0" lang="en-US" altLang="zh-TW" sz="1400" dirty="0">
                          <a:latin typeface="微軟正黑體" panose="020B0604030504040204" pitchFamily="34" charset="-120"/>
                          <a:ea typeface="微軟正黑體" panose="020B0604030504040204" pitchFamily="34" charset="-120"/>
                        </a:rPr>
                        <a:t>SAP</a:t>
                      </a:r>
                      <a:endParaRPr kumimoji="0" lang="zh-TW" altLang="en-US" sz="1400" dirty="0">
                        <a:latin typeface="微軟正黑體" panose="020B0604030504040204" pitchFamily="34" charset="-120"/>
                        <a:ea typeface="微軟正黑體" panose="020B0604030504040204" pitchFamily="34" charset="-120"/>
                      </a:endParaRP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5741">
                <a:tc>
                  <a:txBody>
                    <a:bodyPr/>
                    <a:lstStyle/>
                    <a:p>
                      <a:pPr algn="ctr"/>
                      <a:r>
                        <a:rPr lang="en-US" altLang="zh-TW" sz="1400" dirty="0">
                          <a:latin typeface="微軟正黑體" panose="020B0604030504040204" pitchFamily="34" charset="-120"/>
                          <a:ea typeface="微軟正黑體" panose="020B0604030504040204" pitchFamily="34" charset="-120"/>
                        </a:rPr>
                        <a:t>SAP</a:t>
                      </a:r>
                      <a:r>
                        <a:rPr lang="zh-TW" altLang="en-US" sz="1400" dirty="0">
                          <a:latin typeface="微軟正黑體" panose="020B0604030504040204" pitchFamily="34" charset="-120"/>
                          <a:ea typeface="微軟正黑體" panose="020B0604030504040204" pitchFamily="34" charset="-120"/>
                        </a:rPr>
                        <a:t>　</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37" name="Group 220">
            <a:extLst>
              <a:ext uri="{FF2B5EF4-FFF2-40B4-BE49-F238E27FC236}">
                <a16:creationId xmlns:a16="http://schemas.microsoft.com/office/drawing/2014/main" xmlns="" id="{A53521E6-999C-CEDD-2E3E-0BF055765160}"/>
              </a:ext>
            </a:extLst>
          </p:cNvPr>
          <p:cNvGrpSpPr/>
          <p:nvPr/>
        </p:nvGrpSpPr>
        <p:grpSpPr>
          <a:xfrm>
            <a:off x="11407253" y="7929912"/>
            <a:ext cx="533400" cy="415761"/>
            <a:chOff x="5879200" y="1486857"/>
            <a:chExt cx="355600" cy="272361"/>
          </a:xfrm>
        </p:grpSpPr>
        <p:sp>
          <p:nvSpPr>
            <p:cNvPr id="238" name="Oval 221">
              <a:extLst>
                <a:ext uri="{FF2B5EF4-FFF2-40B4-BE49-F238E27FC236}">
                  <a16:creationId xmlns:a16="http://schemas.microsoft.com/office/drawing/2014/main" xmlns="" id="{F4403E38-F2EF-020C-40F0-B66C7A6924D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43" name="TextBox 222">
              <a:extLst>
                <a:ext uri="{FF2B5EF4-FFF2-40B4-BE49-F238E27FC236}">
                  <a16:creationId xmlns:a16="http://schemas.microsoft.com/office/drawing/2014/main" xmlns="" id="{89B8ABC6-60AD-A72B-5859-F86F25C8D390}"/>
                </a:ext>
              </a:extLst>
            </p:cNvPr>
            <p:cNvSpPr txBox="1"/>
            <p:nvPr/>
          </p:nvSpPr>
          <p:spPr>
            <a:xfrm>
              <a:off x="5879200" y="1498355"/>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10</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246" name="肘形接點 68">
            <a:extLst>
              <a:ext uri="{FF2B5EF4-FFF2-40B4-BE49-F238E27FC236}">
                <a16:creationId xmlns:a16="http://schemas.microsoft.com/office/drawing/2014/main" xmlns="" id="{9255B57B-13B4-43A3-35F5-BFF49B400040}"/>
              </a:ext>
            </a:extLst>
          </p:cNvPr>
          <p:cNvCxnSpPr>
            <a:cxnSpLocks/>
            <a:stCxn id="236" idx="2"/>
            <a:endCxn id="25" idx="1"/>
          </p:cNvCxnSpPr>
          <p:nvPr/>
        </p:nvCxnSpPr>
        <p:spPr>
          <a:xfrm rot="16200000" flipH="1">
            <a:off x="11421435" y="8475089"/>
            <a:ext cx="210954" cy="1548617"/>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2" name="流程圖: 預設處理作業 21">
            <a:extLst>
              <a:ext uri="{FF2B5EF4-FFF2-40B4-BE49-F238E27FC236}">
                <a16:creationId xmlns:a16="http://schemas.microsoft.com/office/drawing/2014/main" xmlns="" id="{73F2CC1F-3093-040B-EA10-C82E363A19BA}"/>
              </a:ext>
            </a:extLst>
          </p:cNvPr>
          <p:cNvSpPr/>
          <p:nvPr/>
        </p:nvSpPr>
        <p:spPr bwMode="auto">
          <a:xfrm>
            <a:off x="468451" y="1977740"/>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defTabSz="1371600" eaLnBrk="0" hangingPunct="0">
              <a:buClr>
                <a:srgbClr val="000000"/>
              </a:buClr>
            </a:pPr>
            <a:r>
              <a:rPr lang="en-US" altLang="zh-TW" sz="1500" kern="0" dirty="0">
                <a:solidFill>
                  <a:srgbClr val="000000"/>
                </a:solidFill>
                <a:latin typeface="Microsoft JhengHei" panose="020B0604030504040204" pitchFamily="34" charset="-120"/>
                <a:ea typeface="Microsoft JhengHei" panose="020B0604030504040204" pitchFamily="34" charset="-120"/>
                <a:cs typeface="Arial"/>
                <a:sym typeface="Arial"/>
              </a:rPr>
              <a:t>PP-PP-0030</a:t>
            </a:r>
          </a:p>
          <a:p>
            <a:pPr algn="ctr" defTabSz="1371600" eaLnBrk="0" hangingPunct="0">
              <a:buClr>
                <a:srgbClr val="000000"/>
              </a:buClr>
            </a:pPr>
            <a:r>
              <a:rPr lang="en-US" altLang="zh-TW" sz="1500" kern="0" dirty="0">
                <a:solidFill>
                  <a:srgbClr val="000000"/>
                </a:solidFill>
                <a:latin typeface="Microsoft JhengHei" panose="020B0604030504040204" pitchFamily="34" charset="-120"/>
                <a:ea typeface="Microsoft JhengHei" panose="020B0604030504040204" pitchFamily="34" charset="-120"/>
                <a:cs typeface="Arial"/>
                <a:sym typeface="Arial"/>
              </a:rPr>
              <a:t>MRP</a:t>
            </a:r>
            <a:r>
              <a:rPr lang="zh-TW" altLang="en-US" sz="1500" kern="0" dirty="0">
                <a:solidFill>
                  <a:srgbClr val="000000"/>
                </a:solidFill>
                <a:latin typeface="Microsoft JhengHei" panose="020B0604030504040204" pitchFamily="34" charset="-120"/>
                <a:ea typeface="Microsoft JhengHei" panose="020B0604030504040204" pitchFamily="34" charset="-120"/>
                <a:cs typeface="Arial"/>
                <a:sym typeface="Arial"/>
              </a:rPr>
              <a:t>物料需求計畫維護作業</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35" name="Straight Connector 284">
            <a:extLst>
              <a:ext uri="{FF2B5EF4-FFF2-40B4-BE49-F238E27FC236}">
                <a16:creationId xmlns:a16="http://schemas.microsoft.com/office/drawing/2014/main" xmlns="" id="{7A26E515-DBDF-0B46-731B-B3784E2FEC22}"/>
              </a:ext>
            </a:extLst>
          </p:cNvPr>
          <p:cNvCxnSpPr>
            <a:cxnSpLocks/>
          </p:cNvCxnSpPr>
          <p:nvPr/>
        </p:nvCxnSpPr>
        <p:spPr>
          <a:xfrm>
            <a:off x="6671903" y="1433808"/>
            <a:ext cx="0" cy="8615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284">
            <a:extLst>
              <a:ext uri="{FF2B5EF4-FFF2-40B4-BE49-F238E27FC236}">
                <a16:creationId xmlns:a16="http://schemas.microsoft.com/office/drawing/2014/main" xmlns="" id="{2979419E-50C3-BD01-16B4-A07008F5123F}"/>
              </a:ext>
            </a:extLst>
          </p:cNvPr>
          <p:cNvCxnSpPr>
            <a:cxnSpLocks/>
          </p:cNvCxnSpPr>
          <p:nvPr/>
        </p:nvCxnSpPr>
        <p:spPr>
          <a:xfrm>
            <a:off x="4483620" y="1435765"/>
            <a:ext cx="0" cy="8615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8" name="表格 30">
            <a:extLst>
              <a:ext uri="{FF2B5EF4-FFF2-40B4-BE49-F238E27FC236}">
                <a16:creationId xmlns:a16="http://schemas.microsoft.com/office/drawing/2014/main" xmlns="" id="{44D22179-15F8-9D25-9821-58107D828DEF}"/>
              </a:ext>
            </a:extLst>
          </p:cNvPr>
          <p:cNvGraphicFramePr>
            <a:graphicFrameLocks noGrp="1"/>
          </p:cNvGraphicFramePr>
          <p:nvPr/>
        </p:nvGraphicFramePr>
        <p:xfrm>
          <a:off x="4696233" y="4420404"/>
          <a:ext cx="1730715" cy="1051998"/>
        </p:xfrm>
        <a:graphic>
          <a:graphicData uri="http://schemas.openxmlformats.org/drawingml/2006/table">
            <a:tbl>
              <a:tblPr>
                <a:tableStyleId>{5940675A-B579-460E-94D1-54222C63F5DA}</a:tableStyleId>
              </a:tblPr>
              <a:tblGrid>
                <a:gridCol w="865575">
                  <a:extLst>
                    <a:ext uri="{9D8B030D-6E8A-4147-A177-3AD203B41FA5}">
                      <a16:colId xmlns:a16="http://schemas.microsoft.com/office/drawing/2014/main" xmlns="" val="3433979995"/>
                    </a:ext>
                  </a:extLst>
                </a:gridCol>
                <a:gridCol w="865140">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 </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0240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主管進行簽核</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sz="1400" dirty="0">
                          <a:latin typeface="微軟正黑體" panose="020B0604030504040204" pitchFamily="34" charset="-120"/>
                          <a:ea typeface="微軟正黑體" panose="020B0604030504040204" pitchFamily="34" charset="-120"/>
                        </a:rPr>
                        <a:t>BPM</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手動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44" name="文字方塊 17">
            <a:extLst>
              <a:ext uri="{FF2B5EF4-FFF2-40B4-BE49-F238E27FC236}">
                <a16:creationId xmlns:a16="http://schemas.microsoft.com/office/drawing/2014/main" xmlns="" id="{F5E99B2B-1B29-6107-C066-DE2CC04228BB}"/>
              </a:ext>
            </a:extLst>
          </p:cNvPr>
          <p:cNvSpPr txBox="1"/>
          <p:nvPr/>
        </p:nvSpPr>
        <p:spPr>
          <a:xfrm>
            <a:off x="2289512" y="1381874"/>
            <a:ext cx="2209097"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生管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倉庫</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業務</a:t>
            </a:r>
          </a:p>
        </p:txBody>
      </p:sp>
      <p:sp>
        <p:nvSpPr>
          <p:cNvPr id="45" name="文字方塊 17">
            <a:extLst>
              <a:ext uri="{FF2B5EF4-FFF2-40B4-BE49-F238E27FC236}">
                <a16:creationId xmlns:a16="http://schemas.microsoft.com/office/drawing/2014/main" xmlns="" id="{6DC2AA73-7823-FFEF-8D00-4A526AA88757}"/>
              </a:ext>
            </a:extLst>
          </p:cNvPr>
          <p:cNvSpPr txBox="1"/>
          <p:nvPr/>
        </p:nvSpPr>
        <p:spPr>
          <a:xfrm>
            <a:off x="4225727" y="1384094"/>
            <a:ext cx="2796465"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生管</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倉庫</a:t>
            </a:r>
            <a:r>
              <a:rPr lang="en-US" altLang="zh-TW" sz="1650" kern="0" dirty="0">
                <a:solidFill>
                  <a:srgbClr val="000000"/>
                </a:solidFill>
                <a:latin typeface="Arial"/>
                <a:cs typeface="Arial"/>
                <a:sym typeface="Arial"/>
              </a:rPr>
              <a:t>/</a:t>
            </a:r>
            <a:r>
              <a:rPr lang="zh-TW" altLang="en-US" sz="1650" kern="0" dirty="0">
                <a:solidFill>
                  <a:srgbClr val="000000"/>
                </a:solidFill>
                <a:latin typeface="Arial"/>
                <a:cs typeface="Arial"/>
                <a:sym typeface="Arial"/>
              </a:rPr>
              <a:t>廠務主管</a:t>
            </a:r>
          </a:p>
        </p:txBody>
      </p:sp>
      <p:cxnSp>
        <p:nvCxnSpPr>
          <p:cNvPr id="48" name="肘形接點 68">
            <a:extLst>
              <a:ext uri="{FF2B5EF4-FFF2-40B4-BE49-F238E27FC236}">
                <a16:creationId xmlns:a16="http://schemas.microsoft.com/office/drawing/2014/main" xmlns="" id="{DAAE349D-299B-5524-6438-FD7970E57D64}"/>
              </a:ext>
            </a:extLst>
          </p:cNvPr>
          <p:cNvCxnSpPr>
            <a:cxnSpLocks/>
            <a:stCxn id="91" idx="1"/>
            <a:endCxn id="100" idx="0"/>
          </p:cNvCxnSpPr>
          <p:nvPr/>
        </p:nvCxnSpPr>
        <p:spPr>
          <a:xfrm rot="10800000" flipV="1">
            <a:off x="3512845" y="6912970"/>
            <a:ext cx="1123757" cy="97762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57" name="流程圖: 接點 51">
            <a:extLst>
              <a:ext uri="{FF2B5EF4-FFF2-40B4-BE49-F238E27FC236}">
                <a16:creationId xmlns:a16="http://schemas.microsoft.com/office/drawing/2014/main" xmlns="" id="{6F5EBA91-1D38-9CBF-6A6D-C89D48819A19}"/>
              </a:ext>
            </a:extLst>
          </p:cNvPr>
          <p:cNvSpPr/>
          <p:nvPr/>
        </p:nvSpPr>
        <p:spPr bwMode="auto">
          <a:xfrm>
            <a:off x="5284903" y="942038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59" name="肘形接點 68">
            <a:extLst>
              <a:ext uri="{FF2B5EF4-FFF2-40B4-BE49-F238E27FC236}">
                <a16:creationId xmlns:a16="http://schemas.microsoft.com/office/drawing/2014/main" xmlns="" id="{572207AE-5E42-7ED1-8116-3A4A641EAA2C}"/>
              </a:ext>
            </a:extLst>
          </p:cNvPr>
          <p:cNvCxnSpPr>
            <a:cxnSpLocks/>
            <a:stCxn id="60" idx="6"/>
            <a:endCxn id="231" idx="1"/>
          </p:cNvCxnSpPr>
          <p:nvPr/>
        </p:nvCxnSpPr>
        <p:spPr>
          <a:xfrm flipV="1">
            <a:off x="5687800" y="2611797"/>
            <a:ext cx="1064189" cy="937852"/>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0" name="流程圖: 接點 51">
            <a:extLst>
              <a:ext uri="{FF2B5EF4-FFF2-40B4-BE49-F238E27FC236}">
                <a16:creationId xmlns:a16="http://schemas.microsoft.com/office/drawing/2014/main" xmlns="" id="{BA8288B0-3477-586C-B816-9A2E25533DCC}"/>
              </a:ext>
            </a:extLst>
          </p:cNvPr>
          <p:cNvSpPr/>
          <p:nvPr/>
        </p:nvSpPr>
        <p:spPr bwMode="auto">
          <a:xfrm>
            <a:off x="5142455" y="3315997"/>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nvGrpSpPr>
          <p:cNvPr id="192" name="Group 220">
            <a:extLst>
              <a:ext uri="{FF2B5EF4-FFF2-40B4-BE49-F238E27FC236}">
                <a16:creationId xmlns:a16="http://schemas.microsoft.com/office/drawing/2014/main" xmlns="" id="{A5C6BE7C-1A16-3E41-1F08-29D056B63D37}"/>
              </a:ext>
            </a:extLst>
          </p:cNvPr>
          <p:cNvGrpSpPr/>
          <p:nvPr/>
        </p:nvGrpSpPr>
        <p:grpSpPr>
          <a:xfrm>
            <a:off x="8328315" y="3307195"/>
            <a:ext cx="543519" cy="415761"/>
            <a:chOff x="5906472" y="1486857"/>
            <a:chExt cx="362346" cy="272361"/>
          </a:xfrm>
        </p:grpSpPr>
        <p:sp>
          <p:nvSpPr>
            <p:cNvPr id="193" name="Oval 221">
              <a:extLst>
                <a:ext uri="{FF2B5EF4-FFF2-40B4-BE49-F238E27FC236}">
                  <a16:creationId xmlns:a16="http://schemas.microsoft.com/office/drawing/2014/main" xmlns="" id="{5E06338E-D787-4EAE-D531-932AC650A123}"/>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94" name="TextBox 222">
              <a:extLst>
                <a:ext uri="{FF2B5EF4-FFF2-40B4-BE49-F238E27FC236}">
                  <a16:creationId xmlns:a16="http://schemas.microsoft.com/office/drawing/2014/main" xmlns="" id="{550D009A-2138-7CAB-407D-5B4D629A70E6}"/>
                </a:ext>
              </a:extLst>
            </p:cNvPr>
            <p:cNvSpPr txBox="1"/>
            <p:nvPr/>
          </p:nvSpPr>
          <p:spPr>
            <a:xfrm>
              <a:off x="5913218"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5</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8" name="肘形接點 68">
            <a:extLst>
              <a:ext uri="{FF2B5EF4-FFF2-40B4-BE49-F238E27FC236}">
                <a16:creationId xmlns:a16="http://schemas.microsoft.com/office/drawing/2014/main" xmlns="" id="{C0FAB20A-2A1C-A928-3780-5F8396E7A158}"/>
              </a:ext>
            </a:extLst>
          </p:cNvPr>
          <p:cNvCxnSpPr>
            <a:cxnSpLocks/>
            <a:stCxn id="9" idx="3"/>
            <a:endCxn id="11" idx="1"/>
          </p:cNvCxnSpPr>
          <p:nvPr/>
        </p:nvCxnSpPr>
        <p:spPr>
          <a:xfrm flipV="1">
            <a:off x="2062889" y="3748446"/>
            <a:ext cx="467734" cy="17885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 name="流程圖: 結束點 8">
            <a:extLst>
              <a:ext uri="{FF2B5EF4-FFF2-40B4-BE49-F238E27FC236}">
                <a16:creationId xmlns:a16="http://schemas.microsoft.com/office/drawing/2014/main" xmlns="" id="{BE2FC025-C717-CBB4-4427-169CCCE61102}"/>
              </a:ext>
            </a:extLst>
          </p:cNvPr>
          <p:cNvSpPr/>
          <p:nvPr/>
        </p:nvSpPr>
        <p:spPr bwMode="auto">
          <a:xfrm>
            <a:off x="265058" y="3536080"/>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開始</a:t>
            </a:r>
          </a:p>
        </p:txBody>
      </p:sp>
      <p:cxnSp>
        <p:nvCxnSpPr>
          <p:cNvPr id="234" name="肘形接點 68">
            <a:extLst>
              <a:ext uri="{FF2B5EF4-FFF2-40B4-BE49-F238E27FC236}">
                <a16:creationId xmlns:a16="http://schemas.microsoft.com/office/drawing/2014/main" xmlns="" id="{F8364B23-557A-EBCE-EF4E-8E13780CC045}"/>
              </a:ext>
            </a:extLst>
          </p:cNvPr>
          <p:cNvCxnSpPr>
            <a:cxnSpLocks/>
            <a:stCxn id="2" idx="3"/>
            <a:endCxn id="231" idx="1"/>
          </p:cNvCxnSpPr>
          <p:nvPr/>
        </p:nvCxnSpPr>
        <p:spPr>
          <a:xfrm>
            <a:off x="2281563" y="2596940"/>
            <a:ext cx="4470426" cy="1485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87"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2530622" y="5533196"/>
          <a:ext cx="1797832" cy="1324011"/>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42221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Z</a:t>
                      </a:r>
                      <a:r>
                        <a:rPr lang="en-US" altLang="zh-TW" sz="1500" b="1" dirty="0">
                          <a:solidFill>
                            <a:schemeClr val="tx1"/>
                          </a:solidFill>
                          <a:latin typeface="微軟正黑體" panose="020B0604030504040204" pitchFamily="34" charset="-120"/>
                          <a:ea typeface="微軟正黑體" panose="020B0604030504040204" pitchFamily="34" charset="-120"/>
                        </a:rPr>
                        <a:t>MM017</a:t>
                      </a:r>
                      <a:endParaRPr lang="en-GB" altLang="zh-TW" sz="1500" b="1" dirty="0">
                        <a:solidFill>
                          <a:schemeClr val="tx1"/>
                        </a:solidFill>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565200">
                <a:tc gridSpan="2">
                  <a:txBody>
                    <a:bodyPr/>
                    <a:lstStyle/>
                    <a:p>
                      <a:pPr algn="ctr"/>
                      <a:r>
                        <a:rPr lang="zh-TW" altLang="en-US" sz="1500" dirty="0">
                          <a:latin typeface="微軟正黑體" panose="020B0604030504040204" pitchFamily="34" charset="-120"/>
                          <a:ea typeface="微軟正黑體" panose="020B0604030504040204" pitchFamily="34" charset="-120"/>
                        </a:rPr>
                        <a:t>將請購單發起</a:t>
                      </a:r>
                      <a:r>
                        <a:rPr lang="en-US" altLang="zh-TW" sz="1500" dirty="0">
                          <a:latin typeface="微軟正黑體" panose="020B0604030504040204" pitchFamily="34" charset="-120"/>
                          <a:ea typeface="微軟正黑體" panose="020B0604030504040204" pitchFamily="34" charset="-120"/>
                        </a:rPr>
                        <a:t>BPM</a:t>
                      </a:r>
                      <a:r>
                        <a:rPr lang="zh-TW" altLang="en-US" sz="1500" dirty="0">
                          <a:latin typeface="微軟正黑體" panose="020B0604030504040204" pitchFamily="34" charset="-120"/>
                          <a:ea typeface="微軟正黑體" panose="020B0604030504040204" pitchFamily="34" charset="-120"/>
                        </a:rPr>
                        <a:t>簽核</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36600">
                <a:tc>
                  <a:txBody>
                    <a:bodyPr/>
                    <a:lstStyle/>
                    <a:p>
                      <a:pPr algn="ctr"/>
                      <a:r>
                        <a:rPr lang="en-US" altLang="zh-TW"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195" name="Group 220">
            <a:extLst>
              <a:ext uri="{FF2B5EF4-FFF2-40B4-BE49-F238E27FC236}">
                <a16:creationId xmlns:a16="http://schemas.microsoft.com/office/drawing/2014/main" xmlns="" id="{F06C1E01-1E50-31E0-B90E-A417B2F558D4}"/>
              </a:ext>
            </a:extLst>
          </p:cNvPr>
          <p:cNvGrpSpPr/>
          <p:nvPr/>
        </p:nvGrpSpPr>
        <p:grpSpPr>
          <a:xfrm>
            <a:off x="6128751" y="4211020"/>
            <a:ext cx="549576" cy="415761"/>
            <a:chOff x="5906472" y="1486857"/>
            <a:chExt cx="366384" cy="272361"/>
          </a:xfrm>
        </p:grpSpPr>
        <p:sp>
          <p:nvSpPr>
            <p:cNvPr id="196" name="Oval 221">
              <a:extLst>
                <a:ext uri="{FF2B5EF4-FFF2-40B4-BE49-F238E27FC236}">
                  <a16:creationId xmlns:a16="http://schemas.microsoft.com/office/drawing/2014/main" xmlns="" id="{47DB6AD9-1B12-F0F5-A5A9-A00C353E90F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97" name="TextBox 222">
              <a:extLst>
                <a:ext uri="{FF2B5EF4-FFF2-40B4-BE49-F238E27FC236}">
                  <a16:creationId xmlns:a16="http://schemas.microsoft.com/office/drawing/2014/main" xmlns="" id="{ABD438DB-1A5A-B791-C95C-0F54867C9DD3}"/>
                </a:ext>
              </a:extLst>
            </p:cNvPr>
            <p:cNvSpPr txBox="1"/>
            <p:nvPr/>
          </p:nvSpPr>
          <p:spPr>
            <a:xfrm>
              <a:off x="5917256" y="1500167"/>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3</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3" name="Group 220">
            <a:extLst>
              <a:ext uri="{FF2B5EF4-FFF2-40B4-BE49-F238E27FC236}">
                <a16:creationId xmlns:a16="http://schemas.microsoft.com/office/drawing/2014/main" xmlns="" id="{6BD4593D-7B62-69BC-EBA9-A0597D42211F}"/>
              </a:ext>
            </a:extLst>
          </p:cNvPr>
          <p:cNvGrpSpPr/>
          <p:nvPr/>
        </p:nvGrpSpPr>
        <p:grpSpPr>
          <a:xfrm>
            <a:off x="4032020" y="5340324"/>
            <a:ext cx="549576" cy="415762"/>
            <a:chOff x="5906472" y="1486857"/>
            <a:chExt cx="366384" cy="272361"/>
          </a:xfrm>
        </p:grpSpPr>
        <p:sp>
          <p:nvSpPr>
            <p:cNvPr id="5" name="Oval 221">
              <a:extLst>
                <a:ext uri="{FF2B5EF4-FFF2-40B4-BE49-F238E27FC236}">
                  <a16:creationId xmlns:a16="http://schemas.microsoft.com/office/drawing/2014/main" xmlns="" id="{43A01D02-9D73-CBE4-E38A-D129940CCF2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6" name="TextBox 222">
              <a:extLst>
                <a:ext uri="{FF2B5EF4-FFF2-40B4-BE49-F238E27FC236}">
                  <a16:creationId xmlns:a16="http://schemas.microsoft.com/office/drawing/2014/main" xmlns="" id="{070A876D-01DC-743B-6F25-63965C0F157C}"/>
                </a:ext>
              </a:extLst>
            </p:cNvPr>
            <p:cNvSpPr txBox="1"/>
            <p:nvPr/>
          </p:nvSpPr>
          <p:spPr>
            <a:xfrm>
              <a:off x="5917256" y="1498183"/>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2</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13" name="Group 220">
            <a:extLst>
              <a:ext uri="{FF2B5EF4-FFF2-40B4-BE49-F238E27FC236}">
                <a16:creationId xmlns:a16="http://schemas.microsoft.com/office/drawing/2014/main" xmlns="" id="{8F9100A8-C49B-4A69-8C8C-1F7583CA5532}"/>
              </a:ext>
            </a:extLst>
          </p:cNvPr>
          <p:cNvGrpSpPr/>
          <p:nvPr/>
        </p:nvGrpSpPr>
        <p:grpSpPr>
          <a:xfrm>
            <a:off x="8362705" y="1758643"/>
            <a:ext cx="546548" cy="415761"/>
            <a:chOff x="5906472" y="1486857"/>
            <a:chExt cx="364365" cy="272361"/>
          </a:xfrm>
        </p:grpSpPr>
        <p:sp>
          <p:nvSpPr>
            <p:cNvPr id="17" name="Oval 221">
              <a:extLst>
                <a:ext uri="{FF2B5EF4-FFF2-40B4-BE49-F238E27FC236}">
                  <a16:creationId xmlns:a16="http://schemas.microsoft.com/office/drawing/2014/main" xmlns="" id="{563A1C4E-D680-B5D1-5A89-9099D1F33AC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8" name="TextBox 222">
              <a:extLst>
                <a:ext uri="{FF2B5EF4-FFF2-40B4-BE49-F238E27FC236}">
                  <a16:creationId xmlns:a16="http://schemas.microsoft.com/office/drawing/2014/main" xmlns="" id="{60D91B19-79E7-F88F-B376-D3C257050AE7}"/>
                </a:ext>
              </a:extLst>
            </p:cNvPr>
            <p:cNvSpPr txBox="1"/>
            <p:nvPr/>
          </p:nvSpPr>
          <p:spPr>
            <a:xfrm>
              <a:off x="5915237"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4</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20" name="Group 220">
            <a:extLst>
              <a:ext uri="{FF2B5EF4-FFF2-40B4-BE49-F238E27FC236}">
                <a16:creationId xmlns:a16="http://schemas.microsoft.com/office/drawing/2014/main" xmlns="" id="{0B79EBBA-F242-48C7-ECC3-55BEDF3FDDA8}"/>
              </a:ext>
            </a:extLst>
          </p:cNvPr>
          <p:cNvGrpSpPr/>
          <p:nvPr/>
        </p:nvGrpSpPr>
        <p:grpSpPr>
          <a:xfrm>
            <a:off x="8255788" y="6540940"/>
            <a:ext cx="546548" cy="415761"/>
            <a:chOff x="5906472" y="1486857"/>
            <a:chExt cx="364365" cy="272361"/>
          </a:xfrm>
        </p:grpSpPr>
        <p:sp>
          <p:nvSpPr>
            <p:cNvPr id="21" name="Oval 221">
              <a:extLst>
                <a:ext uri="{FF2B5EF4-FFF2-40B4-BE49-F238E27FC236}">
                  <a16:creationId xmlns:a16="http://schemas.microsoft.com/office/drawing/2014/main" xmlns="" id="{43FEF97A-51DF-308E-5C1C-DC15C2D5D5F0}"/>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2" name="TextBox 222">
              <a:extLst>
                <a:ext uri="{FF2B5EF4-FFF2-40B4-BE49-F238E27FC236}">
                  <a16:creationId xmlns:a16="http://schemas.microsoft.com/office/drawing/2014/main" xmlns="" id="{7751ACA8-5935-4AA1-4521-923760069DB5}"/>
                </a:ext>
              </a:extLst>
            </p:cNvPr>
            <p:cNvSpPr txBox="1"/>
            <p:nvPr/>
          </p:nvSpPr>
          <p:spPr>
            <a:xfrm>
              <a:off x="5915237"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6</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pSp>
        <p:nvGrpSpPr>
          <p:cNvPr id="19" name="Group 220">
            <a:extLst>
              <a:ext uri="{FF2B5EF4-FFF2-40B4-BE49-F238E27FC236}">
                <a16:creationId xmlns:a16="http://schemas.microsoft.com/office/drawing/2014/main" xmlns="" id="{4E14DFAB-BAB4-2B1C-0CB9-8D9E2E80B3E2}"/>
              </a:ext>
            </a:extLst>
          </p:cNvPr>
          <p:cNvGrpSpPr/>
          <p:nvPr/>
        </p:nvGrpSpPr>
        <p:grpSpPr>
          <a:xfrm>
            <a:off x="8296305" y="8340320"/>
            <a:ext cx="560127" cy="415762"/>
            <a:chOff x="5906472" y="1486857"/>
            <a:chExt cx="373418" cy="272361"/>
          </a:xfrm>
        </p:grpSpPr>
        <p:sp>
          <p:nvSpPr>
            <p:cNvPr id="24" name="Oval 221">
              <a:extLst>
                <a:ext uri="{FF2B5EF4-FFF2-40B4-BE49-F238E27FC236}">
                  <a16:creationId xmlns:a16="http://schemas.microsoft.com/office/drawing/2014/main" xmlns="" id="{B4D83947-ADE4-D9EB-C567-97103E19ED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6" name="TextBox 222">
              <a:extLst>
                <a:ext uri="{FF2B5EF4-FFF2-40B4-BE49-F238E27FC236}">
                  <a16:creationId xmlns:a16="http://schemas.microsoft.com/office/drawing/2014/main" xmlns="" id="{1F949E86-EDBC-2EDC-DDA1-1192FC413FE6}"/>
                </a:ext>
              </a:extLst>
            </p:cNvPr>
            <p:cNvSpPr txBox="1"/>
            <p:nvPr/>
          </p:nvSpPr>
          <p:spPr>
            <a:xfrm>
              <a:off x="5924290" y="1515974"/>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7</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graphicFrame>
        <p:nvGraphicFramePr>
          <p:cNvPr id="11" name="表格 10"/>
          <p:cNvGraphicFramePr>
            <a:graphicFrameLocks noGrp="1"/>
          </p:cNvGraphicFramePr>
          <p:nvPr/>
        </p:nvGraphicFramePr>
        <p:xfrm>
          <a:off x="2530623" y="3116215"/>
          <a:ext cx="1797832" cy="1264463"/>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20000"/>
                    </a:ext>
                  </a:extLst>
                </a:gridCol>
                <a:gridCol w="898916">
                  <a:extLst>
                    <a:ext uri="{9D8B030D-6E8A-4147-A177-3AD203B41FA5}">
                      <a16:colId xmlns:a16="http://schemas.microsoft.com/office/drawing/2014/main" xmlns="" val="20001"/>
                    </a:ext>
                  </a:extLst>
                </a:gridCol>
              </a:tblGrid>
              <a:tr h="56520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altLang="zh-TW" sz="1500" dirty="0">
                        <a:latin typeface="微軟正黑體" panose="020B0604030504040204" pitchFamily="34" charset="-120"/>
                        <a:ea typeface="微軟正黑體" panose="020B0604030504040204" pitchFamily="34" charset="-12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GB" altLang="zh-TW" sz="1500" b="1" dirty="0">
                          <a:solidFill>
                            <a:schemeClr val="tx1"/>
                          </a:solidFill>
                          <a:latin typeface="微軟正黑體" panose="020B0604030504040204" pitchFamily="34" charset="-120"/>
                          <a:ea typeface="微軟正黑體" panose="020B0604030504040204" pitchFamily="34" charset="-120"/>
                        </a:rPr>
                        <a:t>ME51N</a:t>
                      </a: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0"/>
                  </a:ext>
                </a:extLst>
              </a:tr>
              <a:tr h="362663">
                <a:tc gridSpan="2">
                  <a:txBody>
                    <a:bodyPr/>
                    <a:lstStyle/>
                    <a:p>
                      <a:pPr algn="ctr"/>
                      <a:r>
                        <a:rPr kumimoji="0" lang="zh-TW" altLang="en-US" sz="1500" dirty="0">
                          <a:latin typeface="微軟正黑體" panose="020B0604030504040204" pitchFamily="34" charset="-120"/>
                          <a:ea typeface="微軟正黑體" panose="020B0604030504040204" pitchFamily="34" charset="-120"/>
                        </a:rPr>
                        <a:t>補單</a:t>
                      </a:r>
                      <a:r>
                        <a:rPr kumimoji="0" lang="en-US" altLang="zh-TW" sz="1500" dirty="0">
                          <a:latin typeface="微軟正黑體" panose="020B0604030504040204" pitchFamily="34" charset="-120"/>
                          <a:ea typeface="微軟正黑體" panose="020B0604030504040204" pitchFamily="34" charset="-120"/>
                        </a:rPr>
                        <a:t>/</a:t>
                      </a:r>
                      <a:r>
                        <a:rPr kumimoji="0" lang="zh-TW" altLang="en-US" sz="1500" dirty="0">
                          <a:latin typeface="微軟正黑體" panose="020B0604030504040204" pitchFamily="34" charset="-120"/>
                          <a:ea typeface="微軟正黑體" panose="020B0604030504040204" pitchFamily="34" charset="-120"/>
                        </a:rPr>
                        <a:t>預買申請</a:t>
                      </a:r>
                      <a:endParaRPr lang="en-US"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01"/>
                  </a:ext>
                </a:extLst>
              </a:tr>
              <a:tr h="336600">
                <a:tc>
                  <a:txBody>
                    <a:bodyPr/>
                    <a:lstStyle/>
                    <a:p>
                      <a:r>
                        <a:rPr kumimoji="0" lang="en-US" altLang="zh-TW" sz="1500" dirty="0">
                          <a:latin typeface="微軟正黑體" panose="020B0604030504040204" pitchFamily="34" charset="-120"/>
                          <a:ea typeface="微軟正黑體" panose="020B0604030504040204" pitchFamily="34" charset="-120"/>
                        </a:rPr>
                        <a:t>SAP</a:t>
                      </a:r>
                      <a:endParaRPr lang="zh-TW" altLang="en-US" sz="3200" dirty="0"/>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altLang="zh-TW" sz="1500" dirty="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bl>
          </a:graphicData>
        </a:graphic>
      </p:graphicFrame>
      <p:cxnSp>
        <p:nvCxnSpPr>
          <p:cNvPr id="88" name="肘形接點 68">
            <a:extLst>
              <a:ext uri="{FF2B5EF4-FFF2-40B4-BE49-F238E27FC236}">
                <a16:creationId xmlns:a16="http://schemas.microsoft.com/office/drawing/2014/main" xmlns="" id="{0E967392-24AF-D413-3D98-C025461A12C2}"/>
              </a:ext>
            </a:extLst>
          </p:cNvPr>
          <p:cNvCxnSpPr>
            <a:cxnSpLocks/>
            <a:stCxn id="87" idx="3"/>
            <a:endCxn id="38" idx="1"/>
          </p:cNvCxnSpPr>
          <p:nvPr/>
        </p:nvCxnSpPr>
        <p:spPr>
          <a:xfrm flipV="1">
            <a:off x="4328454" y="4946403"/>
            <a:ext cx="367779" cy="124879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91" name="流程圖: 決策 50">
            <a:extLst>
              <a:ext uri="{FF2B5EF4-FFF2-40B4-BE49-F238E27FC236}">
                <a16:creationId xmlns:a16="http://schemas.microsoft.com/office/drawing/2014/main" xmlns="" id="{527C4236-AC24-9665-999E-BCB38749D459}"/>
              </a:ext>
            </a:extLst>
          </p:cNvPr>
          <p:cNvSpPr/>
          <p:nvPr/>
        </p:nvSpPr>
        <p:spPr bwMode="auto">
          <a:xfrm>
            <a:off x="4636601" y="6556871"/>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是否核淮</a:t>
            </a:r>
          </a:p>
        </p:txBody>
      </p:sp>
      <p:sp>
        <p:nvSpPr>
          <p:cNvPr id="93" name="流程圖: 接點 51">
            <a:extLst>
              <a:ext uri="{FF2B5EF4-FFF2-40B4-BE49-F238E27FC236}">
                <a16:creationId xmlns:a16="http://schemas.microsoft.com/office/drawing/2014/main" xmlns="" id="{6F5EBA91-1D38-9CBF-6A6D-C89D48819A19}"/>
              </a:ext>
            </a:extLst>
          </p:cNvPr>
          <p:cNvSpPr/>
          <p:nvPr/>
        </p:nvSpPr>
        <p:spPr bwMode="auto">
          <a:xfrm>
            <a:off x="9947890" y="9485349"/>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94" name="流程圖: 接點 51">
            <a:extLst>
              <a:ext uri="{FF2B5EF4-FFF2-40B4-BE49-F238E27FC236}">
                <a16:creationId xmlns:a16="http://schemas.microsoft.com/office/drawing/2014/main" xmlns="" id="{6F5EBA91-1D38-9CBF-6A6D-C89D48819A19}"/>
              </a:ext>
            </a:extLst>
          </p:cNvPr>
          <p:cNvSpPr/>
          <p:nvPr/>
        </p:nvSpPr>
        <p:spPr bwMode="auto">
          <a:xfrm>
            <a:off x="13247843" y="254199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95" name="肘形接點 68">
            <a:extLst>
              <a:ext uri="{FF2B5EF4-FFF2-40B4-BE49-F238E27FC236}">
                <a16:creationId xmlns:a16="http://schemas.microsoft.com/office/drawing/2014/main" xmlns="" id="{A957937C-FE30-D469-C866-46C872CC0A81}"/>
              </a:ext>
            </a:extLst>
          </p:cNvPr>
          <p:cNvCxnSpPr>
            <a:cxnSpLocks/>
            <a:stCxn id="94" idx="4"/>
            <a:endCxn id="102" idx="0"/>
          </p:cNvCxnSpPr>
          <p:nvPr/>
        </p:nvCxnSpPr>
        <p:spPr>
          <a:xfrm rot="5400000">
            <a:off x="11616767" y="2153860"/>
            <a:ext cx="1048314" cy="2759186"/>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244" name="Group 220">
            <a:extLst>
              <a:ext uri="{FF2B5EF4-FFF2-40B4-BE49-F238E27FC236}">
                <a16:creationId xmlns:a16="http://schemas.microsoft.com/office/drawing/2014/main" xmlns="" id="{F4F96747-98B8-15CE-3B01-B9BC193ECFD4}"/>
              </a:ext>
            </a:extLst>
          </p:cNvPr>
          <p:cNvGrpSpPr/>
          <p:nvPr/>
        </p:nvGrpSpPr>
        <p:grpSpPr>
          <a:xfrm>
            <a:off x="4095326" y="2900407"/>
            <a:ext cx="549576" cy="415761"/>
            <a:chOff x="5906472" y="1486857"/>
            <a:chExt cx="366384" cy="272361"/>
          </a:xfrm>
        </p:grpSpPr>
        <p:sp>
          <p:nvSpPr>
            <p:cNvPr id="245" name="Oval 221">
              <a:extLst>
                <a:ext uri="{FF2B5EF4-FFF2-40B4-BE49-F238E27FC236}">
                  <a16:creationId xmlns:a16="http://schemas.microsoft.com/office/drawing/2014/main" xmlns="" id="{E3D6BBE9-8E14-1EFA-92FB-A9C2B272AB8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247" name="TextBox 222">
              <a:extLst>
                <a:ext uri="{FF2B5EF4-FFF2-40B4-BE49-F238E27FC236}">
                  <a16:creationId xmlns:a16="http://schemas.microsoft.com/office/drawing/2014/main" xmlns="" id="{F79BADE0-8F69-47CB-92FE-2F81AD0C3C5E}"/>
                </a:ext>
              </a:extLst>
            </p:cNvPr>
            <p:cNvSpPr txBox="1"/>
            <p:nvPr/>
          </p:nvSpPr>
          <p:spPr>
            <a:xfrm>
              <a:off x="5917256" y="1507079"/>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cxnSp>
        <p:nvCxnSpPr>
          <p:cNvPr id="228" name="直線單箭頭接點 227"/>
          <p:cNvCxnSpPr>
            <a:stCxn id="38" idx="2"/>
            <a:endCxn id="91" idx="0"/>
          </p:cNvCxnSpPr>
          <p:nvPr/>
        </p:nvCxnSpPr>
        <p:spPr>
          <a:xfrm flipH="1">
            <a:off x="5557576" y="5472402"/>
            <a:ext cx="4014" cy="10844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文字方塊 95">
            <a:extLst>
              <a:ext uri="{FF2B5EF4-FFF2-40B4-BE49-F238E27FC236}">
                <a16:creationId xmlns:a16="http://schemas.microsoft.com/office/drawing/2014/main" xmlns="" id="{118E9DFC-AE14-CF90-1E50-B05094B07A0E}"/>
              </a:ext>
            </a:extLst>
          </p:cNvPr>
          <p:cNvSpPr txBox="1"/>
          <p:nvPr/>
        </p:nvSpPr>
        <p:spPr>
          <a:xfrm>
            <a:off x="7124330" y="5991259"/>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sp>
        <p:nvSpPr>
          <p:cNvPr id="97" name="文字方塊 96">
            <a:extLst>
              <a:ext uri="{FF2B5EF4-FFF2-40B4-BE49-F238E27FC236}">
                <a16:creationId xmlns:a16="http://schemas.microsoft.com/office/drawing/2014/main" xmlns="" id="{F979629B-6998-BD03-3D95-85DED52118DB}"/>
              </a:ext>
            </a:extLst>
          </p:cNvPr>
          <p:cNvSpPr txBox="1"/>
          <p:nvPr/>
        </p:nvSpPr>
        <p:spPr>
          <a:xfrm>
            <a:off x="5464970" y="7269071"/>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cxnSp>
        <p:nvCxnSpPr>
          <p:cNvPr id="98" name="直線單箭頭接點 97"/>
          <p:cNvCxnSpPr>
            <a:stCxn id="91" idx="2"/>
            <a:endCxn id="99" idx="0"/>
          </p:cNvCxnSpPr>
          <p:nvPr/>
        </p:nvCxnSpPr>
        <p:spPr>
          <a:xfrm flipH="1">
            <a:off x="5555608" y="7269071"/>
            <a:ext cx="1968" cy="6215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99" name="表格 30">
            <a:extLst>
              <a:ext uri="{FF2B5EF4-FFF2-40B4-BE49-F238E27FC236}">
                <a16:creationId xmlns:a16="http://schemas.microsoft.com/office/drawing/2014/main" xmlns="" id="{44D22179-15F8-9D25-9821-58107D828DEF}"/>
              </a:ext>
            </a:extLst>
          </p:cNvPr>
          <p:cNvGraphicFramePr>
            <a:graphicFrameLocks noGrp="1"/>
          </p:cNvGraphicFramePr>
          <p:nvPr/>
        </p:nvGraphicFramePr>
        <p:xfrm>
          <a:off x="4690251" y="7890594"/>
          <a:ext cx="1730715" cy="1051998"/>
        </p:xfrm>
        <a:graphic>
          <a:graphicData uri="http://schemas.openxmlformats.org/drawingml/2006/table">
            <a:tbl>
              <a:tblPr>
                <a:tableStyleId>{5940675A-B579-460E-94D1-54222C63F5DA}</a:tableStyleId>
              </a:tblPr>
              <a:tblGrid>
                <a:gridCol w="865575">
                  <a:extLst>
                    <a:ext uri="{9D8B030D-6E8A-4147-A177-3AD203B41FA5}">
                      <a16:colId xmlns:a16="http://schemas.microsoft.com/office/drawing/2014/main" xmlns="" val="3433979995"/>
                    </a:ext>
                  </a:extLst>
                </a:gridCol>
                <a:gridCol w="865140">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ZMM018</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0240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核發請購單</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altLang="zh-TW"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aphicFrame>
        <p:nvGraphicFramePr>
          <p:cNvPr id="100" name="表格 30">
            <a:extLst>
              <a:ext uri="{FF2B5EF4-FFF2-40B4-BE49-F238E27FC236}">
                <a16:creationId xmlns:a16="http://schemas.microsoft.com/office/drawing/2014/main" xmlns="" id="{44D22179-15F8-9D25-9821-58107D828DEF}"/>
              </a:ext>
            </a:extLst>
          </p:cNvPr>
          <p:cNvGraphicFramePr>
            <a:graphicFrameLocks noGrp="1"/>
          </p:cNvGraphicFramePr>
          <p:nvPr/>
        </p:nvGraphicFramePr>
        <p:xfrm>
          <a:off x="2647487" y="7890594"/>
          <a:ext cx="1730715" cy="1051998"/>
        </p:xfrm>
        <a:graphic>
          <a:graphicData uri="http://schemas.openxmlformats.org/drawingml/2006/table">
            <a:tbl>
              <a:tblPr>
                <a:tableStyleId>{5940675A-B579-460E-94D1-54222C63F5DA}</a:tableStyleId>
              </a:tblPr>
              <a:tblGrid>
                <a:gridCol w="865575">
                  <a:extLst>
                    <a:ext uri="{9D8B030D-6E8A-4147-A177-3AD203B41FA5}">
                      <a16:colId xmlns:a16="http://schemas.microsoft.com/office/drawing/2014/main" xmlns="" val="3433979995"/>
                    </a:ext>
                  </a:extLst>
                </a:gridCol>
                <a:gridCol w="865140">
                  <a:extLst>
                    <a:ext uri="{9D8B030D-6E8A-4147-A177-3AD203B41FA5}">
                      <a16:colId xmlns:a16="http://schemas.microsoft.com/office/drawing/2014/main" xmlns="" val="3727974752"/>
                    </a:ext>
                  </a:extLst>
                </a:gridCol>
              </a:tblGrid>
              <a:tr h="330432">
                <a:tc gridSpan="2">
                  <a:txBody>
                    <a:bodyPr/>
                    <a:lstStyle/>
                    <a:p>
                      <a:pPr algn="ctr"/>
                      <a:r>
                        <a:rPr lang="en-GB" sz="1400" b="1" dirty="0">
                          <a:solidFill>
                            <a:schemeClr val="tx1"/>
                          </a:solidFill>
                          <a:latin typeface="微軟正黑體" panose="020B0604030504040204" pitchFamily="34" charset="-120"/>
                          <a:ea typeface="微軟正黑體" panose="020B0604030504040204" pitchFamily="34" charset="-120"/>
                        </a:rPr>
                        <a:t>ZMM018 </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3125084632"/>
                  </a:ext>
                </a:extLst>
              </a:tr>
              <a:tr h="402404">
                <a:tc gridSpan="2">
                  <a:txBody>
                    <a:bodyPr/>
                    <a:lstStyle/>
                    <a:p>
                      <a:pPr algn="ctr" eaLnBrk="0" hangingPunct="0"/>
                      <a:r>
                        <a:rPr kumimoji="0" lang="zh-TW" altLang="en-US" sz="1400" dirty="0">
                          <a:latin typeface="微軟正黑體" panose="020B0604030504040204" pitchFamily="34" charset="-120"/>
                          <a:ea typeface="微軟正黑體" panose="020B0604030504040204" pitchFamily="34" charset="-120"/>
                        </a:rPr>
                        <a:t>標記請購單為刪除</a:t>
                      </a:r>
                    </a:p>
                  </a:txBody>
                  <a:tcPr marL="124691" marR="124691" marT="62346" marB="62346">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a16="http://schemas.microsoft.com/office/drawing/2014/main" xmlns="" val="1006350340"/>
                  </a:ext>
                </a:extLst>
              </a:tr>
              <a:tr h="303921">
                <a:tc>
                  <a:txBody>
                    <a:bodyPr/>
                    <a:lstStyle/>
                    <a:p>
                      <a:pPr algn="ctr"/>
                      <a:r>
                        <a:rPr lang="en-US" altLang="zh-TW" sz="1400" dirty="0">
                          <a:latin typeface="微軟正黑體" panose="020B0604030504040204" pitchFamily="34" charset="-120"/>
                          <a:ea typeface="微軟正黑體" panose="020B0604030504040204" pitchFamily="34" charset="-120"/>
                        </a:rPr>
                        <a:t>SAP</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400" dirty="0">
                          <a:latin typeface="微軟正黑體" panose="020B0604030504040204" pitchFamily="34" charset="-120"/>
                          <a:ea typeface="微軟正黑體" panose="020B0604030504040204" pitchFamily="34" charset="-120"/>
                        </a:rPr>
                        <a:t>自動</a:t>
                      </a:r>
                      <a:endParaRPr lang="en-GB" sz="1400" dirty="0">
                        <a:latin typeface="微軟正黑體" panose="020B0604030504040204" pitchFamily="34" charset="-120"/>
                        <a:ea typeface="微軟正黑體" panose="020B0604030504040204" pitchFamily="34" charset="-120"/>
                      </a:endParaRPr>
                    </a:p>
                  </a:txBody>
                  <a:tcPr marL="54000" marR="54000" marT="49091" marB="4909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cxnSp>
        <p:nvCxnSpPr>
          <p:cNvPr id="103" name="直線單箭頭接點 102"/>
          <p:cNvCxnSpPr>
            <a:stCxn id="99" idx="2"/>
          </p:cNvCxnSpPr>
          <p:nvPr/>
        </p:nvCxnSpPr>
        <p:spPr>
          <a:xfrm>
            <a:off x="5555608" y="8942592"/>
            <a:ext cx="2010" cy="4875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5" name="流程圖: 接點 51">
            <a:extLst>
              <a:ext uri="{FF2B5EF4-FFF2-40B4-BE49-F238E27FC236}">
                <a16:creationId xmlns:a16="http://schemas.microsoft.com/office/drawing/2014/main" xmlns="" id="{6F5EBA91-1D38-9CBF-6A6D-C89D48819A19}"/>
              </a:ext>
            </a:extLst>
          </p:cNvPr>
          <p:cNvSpPr/>
          <p:nvPr/>
        </p:nvSpPr>
        <p:spPr bwMode="auto">
          <a:xfrm>
            <a:off x="3240170" y="9420381"/>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C</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106" name="直線單箭頭接點 105"/>
          <p:cNvCxnSpPr>
            <a:stCxn id="100" idx="2"/>
          </p:cNvCxnSpPr>
          <p:nvPr/>
        </p:nvCxnSpPr>
        <p:spPr>
          <a:xfrm>
            <a:off x="3512844" y="8942592"/>
            <a:ext cx="42" cy="4875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8" name="流程圖: 接點 51">
            <a:extLst>
              <a:ext uri="{FF2B5EF4-FFF2-40B4-BE49-F238E27FC236}">
                <a16:creationId xmlns:a16="http://schemas.microsoft.com/office/drawing/2014/main" xmlns="" id="{6F5EBA91-1D38-9CBF-6A6D-C89D48819A19}"/>
              </a:ext>
            </a:extLst>
          </p:cNvPr>
          <p:cNvSpPr/>
          <p:nvPr/>
        </p:nvSpPr>
        <p:spPr bwMode="auto">
          <a:xfrm>
            <a:off x="12917000" y="8045638"/>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C</a:t>
            </a:r>
            <a:endPar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cxnSp>
        <p:nvCxnSpPr>
          <p:cNvPr id="109" name="直線單箭頭接點 108"/>
          <p:cNvCxnSpPr>
            <a:stCxn id="108" idx="4"/>
            <a:endCxn id="25" idx="0"/>
          </p:cNvCxnSpPr>
          <p:nvPr/>
        </p:nvCxnSpPr>
        <p:spPr>
          <a:xfrm>
            <a:off x="13189673" y="8512941"/>
            <a:ext cx="10464" cy="45071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3" name="直線單箭頭接點 112"/>
          <p:cNvCxnSpPr>
            <a:stCxn id="11" idx="2"/>
            <a:endCxn id="87" idx="0"/>
          </p:cNvCxnSpPr>
          <p:nvPr/>
        </p:nvCxnSpPr>
        <p:spPr>
          <a:xfrm flipH="1">
            <a:off x="3429538" y="4380678"/>
            <a:ext cx="1" cy="11525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1" name="流程圖: 預設處理作業 21">
            <a:extLst>
              <a:ext uri="{FF2B5EF4-FFF2-40B4-BE49-F238E27FC236}">
                <a16:creationId xmlns:a16="http://schemas.microsoft.com/office/drawing/2014/main" xmlns="" id="{6AB8729A-A396-2BA6-E6B9-1B2A79082818}"/>
              </a:ext>
            </a:extLst>
          </p:cNvPr>
          <p:cNvSpPr/>
          <p:nvPr/>
        </p:nvSpPr>
        <p:spPr bwMode="auto">
          <a:xfrm>
            <a:off x="12253433" y="3997265"/>
            <a:ext cx="1813112" cy="823545"/>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defTabSz="1371600" eaLnBrk="0" hangingPunct="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FI-AP-0040</a:t>
            </a:r>
          </a:p>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預付款作業流程</a:t>
            </a:r>
          </a:p>
        </p:txBody>
      </p:sp>
      <p:sp>
        <p:nvSpPr>
          <p:cNvPr id="102" name="流程圖: 決策 50">
            <a:extLst>
              <a:ext uri="{FF2B5EF4-FFF2-40B4-BE49-F238E27FC236}">
                <a16:creationId xmlns:a16="http://schemas.microsoft.com/office/drawing/2014/main" xmlns="" id="{703EA7D4-6DB0-4B74-3F70-D0D1D8EC4C08}"/>
              </a:ext>
            </a:extLst>
          </p:cNvPr>
          <p:cNvSpPr/>
          <p:nvPr/>
        </p:nvSpPr>
        <p:spPr bwMode="auto">
          <a:xfrm>
            <a:off x="9840356" y="4057609"/>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需預付</a:t>
            </a:r>
          </a:p>
        </p:txBody>
      </p:sp>
      <p:cxnSp>
        <p:nvCxnSpPr>
          <p:cNvPr id="104" name="肘形接點 68">
            <a:extLst>
              <a:ext uri="{FF2B5EF4-FFF2-40B4-BE49-F238E27FC236}">
                <a16:creationId xmlns:a16="http://schemas.microsoft.com/office/drawing/2014/main" xmlns="" id="{A957937C-FE30-D469-C866-46C872CC0A81}"/>
              </a:ext>
            </a:extLst>
          </p:cNvPr>
          <p:cNvCxnSpPr>
            <a:cxnSpLocks/>
            <a:stCxn id="102" idx="3"/>
            <a:endCxn id="101" idx="1"/>
          </p:cNvCxnSpPr>
          <p:nvPr/>
        </p:nvCxnSpPr>
        <p:spPr>
          <a:xfrm flipV="1">
            <a:off x="11682305" y="4409038"/>
            <a:ext cx="571128" cy="467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07" name="肘形接點 68">
            <a:extLst>
              <a:ext uri="{FF2B5EF4-FFF2-40B4-BE49-F238E27FC236}">
                <a16:creationId xmlns:a16="http://schemas.microsoft.com/office/drawing/2014/main" xmlns="" id="{A957937C-FE30-D469-C866-46C872CC0A81}"/>
              </a:ext>
            </a:extLst>
          </p:cNvPr>
          <p:cNvCxnSpPr>
            <a:cxnSpLocks/>
            <a:stCxn id="102" idx="2"/>
            <a:endCxn id="39" idx="0"/>
          </p:cNvCxnSpPr>
          <p:nvPr/>
        </p:nvCxnSpPr>
        <p:spPr>
          <a:xfrm rot="5400000">
            <a:off x="10427970" y="5096152"/>
            <a:ext cx="659703" cy="701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114" name="文字方塊 113">
            <a:extLst>
              <a:ext uri="{FF2B5EF4-FFF2-40B4-BE49-F238E27FC236}">
                <a16:creationId xmlns:a16="http://schemas.microsoft.com/office/drawing/2014/main" xmlns="" id="{F979629B-6998-BD03-3D95-85DED52118DB}"/>
              </a:ext>
            </a:extLst>
          </p:cNvPr>
          <p:cNvSpPr txBox="1"/>
          <p:nvPr/>
        </p:nvSpPr>
        <p:spPr>
          <a:xfrm>
            <a:off x="11653901" y="4088854"/>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sp>
        <p:nvSpPr>
          <p:cNvPr id="115" name="文字方塊 114">
            <a:extLst>
              <a:ext uri="{FF2B5EF4-FFF2-40B4-BE49-F238E27FC236}">
                <a16:creationId xmlns:a16="http://schemas.microsoft.com/office/drawing/2014/main" xmlns="" id="{D357011A-2F1E-F314-8D89-06D1641129D2}"/>
              </a:ext>
            </a:extLst>
          </p:cNvPr>
          <p:cNvSpPr txBox="1"/>
          <p:nvPr/>
        </p:nvSpPr>
        <p:spPr>
          <a:xfrm>
            <a:off x="10273998" y="4820810"/>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cxnSp>
        <p:nvCxnSpPr>
          <p:cNvPr id="118" name="肘形接點 68">
            <a:extLst>
              <a:ext uri="{FF2B5EF4-FFF2-40B4-BE49-F238E27FC236}">
                <a16:creationId xmlns:a16="http://schemas.microsoft.com/office/drawing/2014/main" xmlns="" id="{A957937C-FE30-D469-C866-46C872CC0A81}"/>
              </a:ext>
            </a:extLst>
          </p:cNvPr>
          <p:cNvCxnSpPr>
            <a:cxnSpLocks/>
            <a:stCxn id="101" idx="2"/>
            <a:endCxn id="39" idx="0"/>
          </p:cNvCxnSpPr>
          <p:nvPr/>
        </p:nvCxnSpPr>
        <p:spPr>
          <a:xfrm rot="5400000">
            <a:off x="11652802" y="3922323"/>
            <a:ext cx="608702" cy="240567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122" name="Group 220">
            <a:extLst>
              <a:ext uri="{FF2B5EF4-FFF2-40B4-BE49-F238E27FC236}">
                <a16:creationId xmlns:a16="http://schemas.microsoft.com/office/drawing/2014/main" xmlns="" id="{A53521E6-999C-CEDD-2E3E-0BF055765160}"/>
              </a:ext>
            </a:extLst>
          </p:cNvPr>
          <p:cNvGrpSpPr/>
          <p:nvPr/>
        </p:nvGrpSpPr>
        <p:grpSpPr>
          <a:xfrm>
            <a:off x="13783269" y="3796445"/>
            <a:ext cx="533400" cy="415761"/>
            <a:chOff x="5879200" y="1486857"/>
            <a:chExt cx="355600" cy="272361"/>
          </a:xfrm>
        </p:grpSpPr>
        <p:sp>
          <p:nvSpPr>
            <p:cNvPr id="123" name="Oval 221">
              <a:extLst>
                <a:ext uri="{FF2B5EF4-FFF2-40B4-BE49-F238E27FC236}">
                  <a16:creationId xmlns:a16="http://schemas.microsoft.com/office/drawing/2014/main" xmlns="" id="{F4403E38-F2EF-020C-40F0-B66C7A6924D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371600">
                <a:buClr>
                  <a:srgbClr val="000000"/>
                </a:buClr>
              </a:pPr>
              <a:endParaRPr lang="zh-TW" altLang="en-US" sz="1500" kern="0" dirty="0">
                <a:solidFill>
                  <a:srgbClr val="FFFFFF"/>
                </a:solidFill>
                <a:latin typeface="Arial"/>
                <a:ea typeface="新細明體" panose="02020500000000000000" pitchFamily="18" charset="-120"/>
                <a:sym typeface="Arial"/>
              </a:endParaRPr>
            </a:p>
          </p:txBody>
        </p:sp>
        <p:sp>
          <p:nvSpPr>
            <p:cNvPr id="124" name="TextBox 222">
              <a:extLst>
                <a:ext uri="{FF2B5EF4-FFF2-40B4-BE49-F238E27FC236}">
                  <a16:creationId xmlns:a16="http://schemas.microsoft.com/office/drawing/2014/main" xmlns="" id="{89B8ABC6-60AD-A72B-5859-F86F25C8D390}"/>
                </a:ext>
              </a:extLst>
            </p:cNvPr>
            <p:cNvSpPr txBox="1"/>
            <p:nvPr/>
          </p:nvSpPr>
          <p:spPr>
            <a:xfrm>
              <a:off x="5879200" y="1498355"/>
              <a:ext cx="355600" cy="211702"/>
            </a:xfrm>
            <a:prstGeom prst="rect">
              <a:avLst/>
            </a:prstGeom>
            <a:noFill/>
          </p:spPr>
          <p:txBody>
            <a:bodyPr wrap="square" rtlCol="0">
              <a:spAutoFit/>
            </a:bodyPr>
            <a:lstStyle/>
            <a:p>
              <a:pPr defTabSz="1371600">
                <a:buClr>
                  <a:srgbClr val="000000"/>
                </a:buClr>
              </a:pPr>
              <a:r>
                <a:rPr lang="en-US" altLang="zh-TW" sz="1500" kern="0" dirty="0">
                  <a:solidFill>
                    <a:srgbClr val="000000"/>
                  </a:solidFill>
                  <a:latin typeface="微軟正黑體" panose="020B0604030504040204" pitchFamily="34" charset="-120"/>
                  <a:ea typeface="微軟正黑體" panose="020B0604030504040204" pitchFamily="34" charset="-120"/>
                  <a:cs typeface="Arial"/>
                  <a:sym typeface="Arial"/>
                </a:rPr>
                <a:t>11</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grpSp>
      <p:sp>
        <p:nvSpPr>
          <p:cNvPr id="132"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Tree>
    <p:extLst>
      <p:ext uri="{BB962C8B-B14F-4D97-AF65-F5344CB8AC3E}">
        <p14:creationId xmlns:p14="http://schemas.microsoft.com/office/powerpoint/2010/main" xmlns="" val="34631778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文字方塊 3">
            <a:extLst>
              <a:ext uri="{FF2B5EF4-FFF2-40B4-BE49-F238E27FC236}">
                <a16:creationId xmlns:a16="http://schemas.microsoft.com/office/drawing/2014/main" xmlns="" id="{83E6F622-2FBE-CC67-50FE-4ABD7D8B9696}"/>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MM-PU-0030-01</a:t>
            </a:r>
            <a:r>
              <a:rPr lang="zh-TW" altLang="en-US"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庫存</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類採購</a:t>
            </a:r>
            <a:r>
              <a:rPr lang="zh-TW" altLang="en-US"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流程</a:t>
            </a:r>
            <a:r>
              <a:rPr lang="en-US" altLang="zh-TW"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借料</a:t>
            </a:r>
            <a:r>
              <a:rPr lang="en-US" altLang="zh-TW" sz="2100" b="1" kern="0" dirty="0" smtClean="0">
                <a:solidFill>
                  <a:srgbClr val="000000"/>
                </a:solidFill>
                <a:latin typeface="微軟正黑體" panose="020B0604030504040204" pitchFamily="34" charset="-120"/>
                <a:ea typeface="微軟正黑體" panose="020B0604030504040204" pitchFamily="34" charset="-120"/>
                <a:cs typeface="Arial"/>
                <a:sym typeface="Arial"/>
              </a:rPr>
              <a:t>)</a:t>
            </a:r>
            <a:endPar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34" name="文字方塊 17">
            <a:extLst>
              <a:ext uri="{FF2B5EF4-FFF2-40B4-BE49-F238E27FC236}">
                <a16:creationId xmlns:a16="http://schemas.microsoft.com/office/drawing/2014/main" xmlns="" id="{DE52170D-3194-E094-D743-3842F95326FE}"/>
              </a:ext>
            </a:extLst>
          </p:cNvPr>
          <p:cNvSpPr txBox="1"/>
          <p:nvPr/>
        </p:nvSpPr>
        <p:spPr>
          <a:xfrm>
            <a:off x="3987800" y="1379656"/>
            <a:ext cx="7544293" cy="346249"/>
          </a:xfrm>
          <a:prstGeom prst="rect">
            <a:avLst/>
          </a:prstGeom>
          <a:noFill/>
        </p:spPr>
        <p:txBody>
          <a:bodyPr wrap="square" rtlCol="0">
            <a:spAutoFit/>
          </a:bodyPr>
          <a:lstStyle/>
          <a:p>
            <a:pPr algn="ctr" defTabSz="1371600">
              <a:buClr>
                <a:srgbClr val="000000"/>
              </a:buClr>
            </a:pPr>
            <a:r>
              <a:rPr lang="zh-TW" altLang="en-US" sz="1650" kern="0" dirty="0">
                <a:solidFill>
                  <a:srgbClr val="000000"/>
                </a:solidFill>
                <a:latin typeface="Arial"/>
                <a:cs typeface="Arial"/>
                <a:sym typeface="Arial"/>
              </a:rPr>
              <a:t>採購</a:t>
            </a:r>
          </a:p>
        </p:txBody>
      </p:sp>
      <p:sp>
        <p:nvSpPr>
          <p:cNvPr id="227" name="TextBox 53">
            <a:extLst>
              <a:ext uri="{FF2B5EF4-FFF2-40B4-BE49-F238E27FC236}">
                <a16:creationId xmlns:a16="http://schemas.microsoft.com/office/drawing/2014/main" xmlns="" id="{DF940026-96D7-3867-6425-C228DF3D29BF}"/>
              </a:ext>
            </a:extLst>
          </p:cNvPr>
          <p:cNvSpPr txBox="1"/>
          <p:nvPr/>
        </p:nvSpPr>
        <p:spPr>
          <a:xfrm>
            <a:off x="14367310" y="1957293"/>
            <a:ext cx="3755590" cy="646331"/>
          </a:xfrm>
          <a:prstGeom prst="rect">
            <a:avLst/>
          </a:prstGeom>
          <a:noFill/>
        </p:spPr>
        <p:txBody>
          <a:bodyPr wrap="square" rtlCol="0">
            <a:spAutoFit/>
          </a:bodyPr>
          <a:lstStyle/>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手動建立借料採購單勾免費項目</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marL="342900" indent="-342900" defTabSz="1371600">
              <a:buClr>
                <a:srgbClr val="000000"/>
              </a:buClr>
              <a:buFont typeface="+mj-lt"/>
              <a:buAutoNum type="arabicPeriod"/>
            </a:pPr>
            <a:r>
              <a:rPr lang="zh-TW" altLang="en-US" kern="0" dirty="0" smtClean="0">
                <a:solidFill>
                  <a:srgbClr val="000000"/>
                </a:solidFill>
                <a:latin typeface="微軟正黑體" panose="020B0604030504040204" pitchFamily="34" charset="-120"/>
                <a:ea typeface="微軟正黑體" panose="020B0604030504040204" pitchFamily="34" charset="-120"/>
                <a:cs typeface="Arial"/>
                <a:sym typeface="Arial"/>
              </a:rPr>
              <a:t>借出方拒借時，要手動刪採購単</a:t>
            </a:r>
            <a:endParaRPr lang="en-US" altLang="zh-TW" kern="0" dirty="0">
              <a:solidFill>
                <a:srgbClr val="000000"/>
              </a:solidFill>
              <a:latin typeface="Arial"/>
              <a:cs typeface="Arial"/>
              <a:sym typeface="Arial"/>
            </a:endParaRPr>
          </a:p>
        </p:txBody>
      </p:sp>
      <p:cxnSp>
        <p:nvCxnSpPr>
          <p:cNvPr id="29" name="肘形接點 68">
            <a:extLst>
              <a:ext uri="{FF2B5EF4-FFF2-40B4-BE49-F238E27FC236}">
                <a16:creationId xmlns:a16="http://schemas.microsoft.com/office/drawing/2014/main" xmlns="" id="{8DFF4E62-5ECC-A259-B197-AF40294A22FF}"/>
              </a:ext>
            </a:extLst>
          </p:cNvPr>
          <p:cNvCxnSpPr>
            <a:cxnSpLocks/>
            <a:endCxn id="64" idx="0"/>
          </p:cNvCxnSpPr>
          <p:nvPr/>
        </p:nvCxnSpPr>
        <p:spPr>
          <a:xfrm>
            <a:off x="9169400" y="3848100"/>
            <a:ext cx="4042518" cy="912648"/>
          </a:xfrm>
          <a:prstGeom prst="bentConnector2">
            <a:avLst/>
          </a:prstGeom>
          <a:ln>
            <a:tailEnd type="triangle"/>
          </a:ln>
        </p:spPr>
        <p:style>
          <a:lnRef idx="1">
            <a:schemeClr val="dk1"/>
          </a:lnRef>
          <a:fillRef idx="0">
            <a:schemeClr val="dk1"/>
          </a:fillRef>
          <a:effectRef idx="0">
            <a:schemeClr val="dk1"/>
          </a:effectRef>
          <a:fontRef idx="minor">
            <a:schemeClr val="tx1"/>
          </a:fontRef>
        </p:style>
      </p:cxnSp>
      <p:sp>
        <p:nvSpPr>
          <p:cNvPr id="9" name="流程圖: 結束點 8">
            <a:extLst>
              <a:ext uri="{FF2B5EF4-FFF2-40B4-BE49-F238E27FC236}">
                <a16:creationId xmlns:a16="http://schemas.microsoft.com/office/drawing/2014/main" xmlns="" id="{BE2FC025-C717-CBB4-4427-169CCCE61102}"/>
              </a:ext>
            </a:extLst>
          </p:cNvPr>
          <p:cNvSpPr/>
          <p:nvPr/>
        </p:nvSpPr>
        <p:spPr bwMode="auto">
          <a:xfrm>
            <a:off x="328558" y="3523380"/>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開始</a:t>
            </a:r>
          </a:p>
        </p:txBody>
      </p:sp>
      <p:sp>
        <p:nvSpPr>
          <p:cNvPr id="132"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sp>
        <p:nvSpPr>
          <p:cNvPr id="110" name="TextBox 2"/>
          <p:cNvSpPr/>
          <p:nvPr/>
        </p:nvSpPr>
        <p:spPr>
          <a:xfrm>
            <a:off x="16779540" y="698800"/>
            <a:ext cx="2003760" cy="33710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en-US" sz="1600" spc="-1" dirty="0" smtClean="0">
                <a:solidFill>
                  <a:schemeClr val="dk1"/>
                </a:solidFill>
                <a:latin typeface="微軟正黑體"/>
                <a:ea typeface="微軟正黑體"/>
              </a:rPr>
              <a:t>2025/07/23</a:t>
            </a:r>
            <a:endParaRPr lang="en-US" sz="1600" b="0" strike="noStrike" spc="-1" dirty="0">
              <a:solidFill>
                <a:srgbClr val="000000"/>
              </a:solidFill>
              <a:latin typeface="Calibri"/>
            </a:endParaRPr>
          </a:p>
        </p:txBody>
      </p:sp>
      <p:grpSp>
        <p:nvGrpSpPr>
          <p:cNvPr id="155" name="群組 154"/>
          <p:cNvGrpSpPr/>
          <p:nvPr/>
        </p:nvGrpSpPr>
        <p:grpSpPr>
          <a:xfrm>
            <a:off x="7491386" y="3084504"/>
            <a:ext cx="2162966" cy="1424040"/>
            <a:chOff x="8715372" y="4366006"/>
            <a:chExt cx="2162966" cy="1424040"/>
          </a:xfrm>
        </p:grpSpPr>
        <p:grpSp>
          <p:nvGrpSpPr>
            <p:cNvPr id="156" name="群組 30"/>
            <p:cNvGrpSpPr/>
            <p:nvPr/>
          </p:nvGrpSpPr>
          <p:grpSpPr>
            <a:xfrm>
              <a:off x="8715372" y="4572790"/>
              <a:ext cx="1810800" cy="1217256"/>
              <a:chOff x="15073354" y="8308668"/>
              <a:chExt cx="1810800" cy="1217256"/>
            </a:xfrm>
          </p:grpSpPr>
          <p:sp>
            <p:nvSpPr>
              <p:cNvPr id="160" name="流程圖: 程序 159"/>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600" b="1" dirty="0" smtClean="0">
                    <a:latin typeface="微軟正黑體" panose="020B0604030504040204" pitchFamily="34" charset="-120"/>
                    <a:ea typeface="微軟正黑體" panose="020B0604030504040204" pitchFamily="34" charset="-120"/>
                  </a:rPr>
                  <a:t>ME21N</a:t>
                </a:r>
                <a:endParaRPr lang="en-GB" sz="1600" b="1" dirty="0">
                  <a:latin typeface="微軟正黑體" panose="020B0604030504040204" pitchFamily="34" charset="-120"/>
                  <a:ea typeface="微軟正黑體" panose="020B0604030504040204" pitchFamily="34" charset="-120"/>
                </a:endParaRPr>
              </a:p>
            </p:txBody>
          </p:sp>
          <p:sp>
            <p:nvSpPr>
              <p:cNvPr id="161" name="流程圖: 程序 160"/>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600" dirty="0" smtClean="0">
                    <a:latin typeface="微軟正黑體" panose="020B0604030504040204" pitchFamily="34" charset="-120"/>
                    <a:ea typeface="微軟正黑體" panose="020B0604030504040204" pitchFamily="34" charset="-120"/>
                  </a:rPr>
                  <a:t>建立採購單</a:t>
                </a:r>
                <a:endParaRPr lang="zh-TW" altLang="en-US" sz="1600" dirty="0">
                  <a:latin typeface="微軟正黑體" panose="020B0604030504040204" pitchFamily="34" charset="-120"/>
                  <a:ea typeface="微軟正黑體" panose="020B0604030504040204" pitchFamily="34" charset="-120"/>
                </a:endParaRPr>
              </a:p>
            </p:txBody>
          </p:sp>
          <p:sp>
            <p:nvSpPr>
              <p:cNvPr id="162" name="流程圖: 程序 161"/>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63" name="流程圖: 程序 162"/>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57"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58"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9"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smtClean="0">
                    <a:latin typeface="微軟正黑體" panose="020B0604030504040204" pitchFamily="34" charset="-120"/>
                    <a:ea typeface="微軟正黑體" panose="020B0604030504040204" pitchFamily="34" charset="-120"/>
                  </a:rPr>
                  <a:t>１</a:t>
                </a:r>
                <a:endParaRPr lang="zh-TW" altLang="en-US" sz="1500" dirty="0">
                  <a:latin typeface="微軟正黑體" panose="020B0604030504040204" pitchFamily="34" charset="-120"/>
                  <a:ea typeface="微軟正黑體" panose="020B0604030504040204" pitchFamily="34" charset="-120"/>
                </a:endParaRPr>
              </a:p>
            </p:txBody>
          </p:sp>
        </p:grpSp>
      </p:grpSp>
      <p:cxnSp>
        <p:nvCxnSpPr>
          <p:cNvPr id="164" name="肘形接點 68">
            <a:extLst>
              <a:ext uri="{FF2B5EF4-FFF2-40B4-BE49-F238E27FC236}">
                <a16:creationId xmlns:a16="http://schemas.microsoft.com/office/drawing/2014/main" xmlns="" id="{572207AE-5E42-7ED1-8116-3A4A641EAA2C}"/>
              </a:ext>
            </a:extLst>
          </p:cNvPr>
          <p:cNvCxnSpPr>
            <a:cxnSpLocks/>
            <a:stCxn id="9" idx="3"/>
            <a:endCxn id="161" idx="1"/>
          </p:cNvCxnSpPr>
          <p:nvPr/>
        </p:nvCxnSpPr>
        <p:spPr>
          <a:xfrm flipV="1">
            <a:off x="2126389" y="3898511"/>
            <a:ext cx="5364997" cy="16091"/>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64" name="流程圖: 預設處理作業 21">
            <a:extLst>
              <a:ext uri="{FF2B5EF4-FFF2-40B4-BE49-F238E27FC236}">
                <a16:creationId xmlns="" xmlns:a16="http://schemas.microsoft.com/office/drawing/2014/main" id="{CA6DB04D-30B6-A903-A3EC-371FF3153FCD}"/>
              </a:ext>
            </a:extLst>
          </p:cNvPr>
          <p:cNvSpPr/>
          <p:nvPr/>
        </p:nvSpPr>
        <p:spPr bwMode="auto">
          <a:xfrm>
            <a:off x="12305362" y="4760748"/>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eaLnBrk="0" hangingPunct="0"/>
            <a:r>
              <a:rPr lang="en-US" altLang="zh-TW" sz="1600" dirty="0" smtClean="0">
                <a:latin typeface="微軟正黑體" panose="020B0604030504040204" pitchFamily="34" charset="-120"/>
                <a:ea typeface="微軟正黑體" panose="020B0604030504040204" pitchFamily="34" charset="-120"/>
              </a:rPr>
              <a:t>MM-IM-0060-01</a:t>
            </a:r>
          </a:p>
          <a:p>
            <a:pPr eaLnBrk="0" hangingPunct="0"/>
            <a:r>
              <a:rPr lang="zh-TW" altLang="en-US" sz="1600" dirty="0" smtClean="0">
                <a:latin typeface="微軟正黑體" panose="020B0604030504040204" pitchFamily="34" charset="-120"/>
                <a:ea typeface="微軟正黑體" panose="020B0604030504040204" pitchFamily="34" charset="-120"/>
              </a:rPr>
              <a:t>原物料借料作業流程</a:t>
            </a:r>
            <a:r>
              <a:rPr lang="en-US" altLang="zh-TW" sz="1600" dirty="0" smtClean="0">
                <a:latin typeface="微軟正黑體" panose="020B0604030504040204" pitchFamily="34" charset="-120"/>
                <a:ea typeface="微軟正黑體" panose="020B0604030504040204" pitchFamily="34" charset="-120"/>
              </a:rPr>
              <a:t>(</a:t>
            </a:r>
            <a:r>
              <a:rPr lang="zh-TW" altLang="en-US" sz="1600" dirty="0" smtClean="0">
                <a:latin typeface="微軟正黑體" panose="020B0604030504040204" pitchFamily="34" charset="-120"/>
                <a:ea typeface="微軟正黑體" panose="020B0604030504040204" pitchFamily="34" charset="-120"/>
              </a:rPr>
              <a:t>借出</a:t>
            </a:r>
            <a:r>
              <a:rPr lang="en-US" altLang="zh-TW" sz="1600" dirty="0" smtClean="0">
                <a:latin typeface="微軟正黑體" panose="020B0604030504040204" pitchFamily="34" charset="-120"/>
                <a:ea typeface="微軟正黑體" panose="020B0604030504040204" pitchFamily="34" charset="-120"/>
              </a:rPr>
              <a:t>)</a:t>
            </a:r>
            <a:endParaRPr lang="zh-TW" altLang="en-US" sz="1600" dirty="0" smtClean="0">
              <a:latin typeface="微軟正黑體" panose="020B0604030504040204" pitchFamily="34" charset="-120"/>
              <a:ea typeface="微軟正黑體" panose="020B0604030504040204" pitchFamily="34" charset="-120"/>
            </a:endParaRP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sp>
        <p:nvSpPr>
          <p:cNvPr id="69" name="流程圖: 決策 50">
            <a:extLst>
              <a:ext uri="{FF2B5EF4-FFF2-40B4-BE49-F238E27FC236}">
                <a16:creationId xmlns:a16="http://schemas.microsoft.com/office/drawing/2014/main" xmlns="" id="{527C4236-AC24-9665-999E-BCB38749D459}"/>
              </a:ext>
            </a:extLst>
          </p:cNvPr>
          <p:cNvSpPr/>
          <p:nvPr/>
        </p:nvSpPr>
        <p:spPr bwMode="auto">
          <a:xfrm>
            <a:off x="12289406" y="6497723"/>
            <a:ext cx="1841949" cy="712200"/>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smtClean="0">
                <a:solidFill>
                  <a:srgbClr val="000000"/>
                </a:solidFill>
                <a:latin typeface="微軟正黑體" panose="020B0604030504040204" pitchFamily="34" charset="-120"/>
                <a:ea typeface="微軟正黑體" panose="020B0604030504040204" pitchFamily="34" charset="-120"/>
                <a:cs typeface="Arial"/>
                <a:sym typeface="Arial"/>
              </a:rPr>
              <a:t>同意借料</a:t>
            </a:r>
            <a:endPar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endParaRPr>
          </a:p>
        </p:txBody>
      </p:sp>
      <p:sp>
        <p:nvSpPr>
          <p:cNvPr id="70" name="文字方塊 69">
            <a:extLst>
              <a:ext uri="{FF2B5EF4-FFF2-40B4-BE49-F238E27FC236}">
                <a16:creationId xmlns:a16="http://schemas.microsoft.com/office/drawing/2014/main" xmlns="" id="{C1F79803-CD2F-DCBE-0376-1A2E7AAE8BD3}"/>
              </a:ext>
            </a:extLst>
          </p:cNvPr>
          <p:cNvSpPr txBox="1"/>
          <p:nvPr/>
        </p:nvSpPr>
        <p:spPr>
          <a:xfrm>
            <a:off x="13591204" y="7357098"/>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是</a:t>
            </a:r>
            <a:endParaRPr lang="zh-TW" altLang="en-US" sz="1350" kern="0" dirty="0">
              <a:solidFill>
                <a:srgbClr val="000000"/>
              </a:solidFill>
              <a:latin typeface="Arial"/>
              <a:cs typeface="Arial"/>
              <a:sym typeface="Arial"/>
            </a:endParaRPr>
          </a:p>
        </p:txBody>
      </p:sp>
      <p:sp>
        <p:nvSpPr>
          <p:cNvPr id="71" name="文字方塊 70">
            <a:extLst>
              <a:ext uri="{FF2B5EF4-FFF2-40B4-BE49-F238E27FC236}">
                <a16:creationId xmlns:a16="http://schemas.microsoft.com/office/drawing/2014/main" xmlns="" id="{118E9DFC-AE14-CF90-1E50-B05094B07A0E}"/>
              </a:ext>
            </a:extLst>
          </p:cNvPr>
          <p:cNvSpPr txBox="1"/>
          <p:nvPr/>
        </p:nvSpPr>
        <p:spPr>
          <a:xfrm>
            <a:off x="11086730" y="6499259"/>
            <a:ext cx="788670" cy="300082"/>
          </a:xfrm>
          <a:prstGeom prst="rect">
            <a:avLst/>
          </a:prstGeom>
          <a:noFill/>
        </p:spPr>
        <p:txBody>
          <a:bodyPr wrap="square">
            <a:spAutoFit/>
          </a:bodyPr>
          <a:lstStyle/>
          <a:p>
            <a:pPr defTabSz="1371600">
              <a:buClr>
                <a:srgbClr val="000000"/>
              </a:buClr>
            </a:pPr>
            <a:r>
              <a:rPr lang="zh-TW" altLang="en-US" sz="1350" kern="0" dirty="0">
                <a:solidFill>
                  <a:srgbClr val="000000"/>
                </a:solidFill>
                <a:latin typeface="微軟正黑體" panose="020B0604030504040204" pitchFamily="34" charset="-120"/>
                <a:ea typeface="微軟正黑體" panose="020B0604030504040204" pitchFamily="34" charset="-120"/>
                <a:cs typeface="Arial"/>
                <a:sym typeface="Arial"/>
              </a:rPr>
              <a:t>否</a:t>
            </a:r>
            <a:endParaRPr lang="zh-TW" altLang="en-US" sz="1350" kern="0" dirty="0">
              <a:solidFill>
                <a:srgbClr val="000000"/>
              </a:solidFill>
              <a:latin typeface="Arial"/>
              <a:cs typeface="Arial"/>
              <a:sym typeface="Arial"/>
            </a:endParaRPr>
          </a:p>
        </p:txBody>
      </p:sp>
      <p:cxnSp>
        <p:nvCxnSpPr>
          <p:cNvPr id="74" name="肘形接點 68">
            <a:extLst>
              <a:ext uri="{FF2B5EF4-FFF2-40B4-BE49-F238E27FC236}">
                <a16:creationId xmlns:a16="http://schemas.microsoft.com/office/drawing/2014/main" xmlns="" id="{1342C1CD-0CFF-F5F7-DF8F-8FD8733ED079}"/>
              </a:ext>
            </a:extLst>
          </p:cNvPr>
          <p:cNvCxnSpPr>
            <a:cxnSpLocks/>
            <a:stCxn id="64" idx="2"/>
            <a:endCxn id="69" idx="0"/>
          </p:cNvCxnSpPr>
          <p:nvPr/>
        </p:nvCxnSpPr>
        <p:spPr>
          <a:xfrm rot="5400000">
            <a:off x="12961958" y="6247763"/>
            <a:ext cx="498384" cy="153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
        <p:nvSpPr>
          <p:cNvPr id="79" name="流程圖: 預設處理作業 21">
            <a:extLst>
              <a:ext uri="{FF2B5EF4-FFF2-40B4-BE49-F238E27FC236}">
                <a16:creationId xmlns="" xmlns:a16="http://schemas.microsoft.com/office/drawing/2014/main" id="{CA6DB04D-30B6-A903-A3EC-371FF3153FCD}"/>
              </a:ext>
            </a:extLst>
          </p:cNvPr>
          <p:cNvSpPr/>
          <p:nvPr/>
        </p:nvSpPr>
        <p:spPr bwMode="auto">
          <a:xfrm>
            <a:off x="12305362" y="7770648"/>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600" dirty="0" smtClean="0">
                <a:latin typeface="微軟正黑體" panose="020B0604030504040204" pitchFamily="34" charset="-120"/>
                <a:ea typeface="微軟正黑體" panose="020B0604030504040204" pitchFamily="34" charset="-120"/>
              </a:rPr>
              <a:t>MM-IM-0010</a:t>
            </a:r>
          </a:p>
          <a:p>
            <a:pPr algn="ctr" eaLnBrk="0" hangingPunct="0"/>
            <a:r>
              <a:rPr lang="zh-TW" altLang="en-US" sz="1600" dirty="0" smtClean="0">
                <a:latin typeface="微軟正黑體" panose="020B0604030504040204" pitchFamily="34" charset="-120"/>
                <a:ea typeface="微軟正黑體" panose="020B0604030504040204" pitchFamily="34" charset="-120"/>
              </a:rPr>
              <a:t>採購單收貨流程圖</a:t>
            </a:r>
          </a:p>
          <a:p>
            <a:pPr algn="ctr" eaLnBrk="0" hangingPunct="0"/>
            <a:endParaRPr lang="zh-TW" altLang="en-US" sz="1500" dirty="0">
              <a:latin typeface="微軟正黑體" panose="020B0604030504040204" pitchFamily="34" charset="-120"/>
              <a:ea typeface="微軟正黑體" panose="020B0604030504040204" pitchFamily="34" charset="-120"/>
            </a:endParaRPr>
          </a:p>
        </p:txBody>
      </p:sp>
      <p:cxnSp>
        <p:nvCxnSpPr>
          <p:cNvPr id="81" name="肘形接點 68">
            <a:extLst>
              <a:ext uri="{FF2B5EF4-FFF2-40B4-BE49-F238E27FC236}">
                <a16:creationId xmlns:a16="http://schemas.microsoft.com/office/drawing/2014/main" xmlns="" id="{1342C1CD-0CFF-F5F7-DF8F-8FD8733ED079}"/>
              </a:ext>
            </a:extLst>
          </p:cNvPr>
          <p:cNvCxnSpPr>
            <a:cxnSpLocks/>
            <a:stCxn id="69" idx="2"/>
            <a:endCxn id="79" idx="0"/>
          </p:cNvCxnSpPr>
          <p:nvPr/>
        </p:nvCxnSpPr>
        <p:spPr>
          <a:xfrm rot="16200000" flipH="1">
            <a:off x="12930787" y="7489516"/>
            <a:ext cx="560725" cy="1537"/>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86" name="肘形接點 68">
            <a:extLst>
              <a:ext uri="{FF2B5EF4-FFF2-40B4-BE49-F238E27FC236}">
                <a16:creationId xmlns:a16="http://schemas.microsoft.com/office/drawing/2014/main" xmlns="" id="{687579D6-58A9-FB92-A800-B068D391BDFE}"/>
              </a:ext>
            </a:extLst>
          </p:cNvPr>
          <p:cNvCxnSpPr>
            <a:cxnSpLocks/>
            <a:stCxn id="69" idx="1"/>
            <a:endCxn id="102" idx="3"/>
          </p:cNvCxnSpPr>
          <p:nvPr/>
        </p:nvCxnSpPr>
        <p:spPr>
          <a:xfrm rot="10800000" flipV="1">
            <a:off x="9403786" y="6853823"/>
            <a:ext cx="2885620" cy="378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95" name="群組 94"/>
          <p:cNvGrpSpPr/>
          <p:nvPr/>
        </p:nvGrpSpPr>
        <p:grpSpPr>
          <a:xfrm>
            <a:off x="7592986" y="6043604"/>
            <a:ext cx="2162966" cy="1424040"/>
            <a:chOff x="8715372" y="4366006"/>
            <a:chExt cx="2162966" cy="1424040"/>
          </a:xfrm>
        </p:grpSpPr>
        <p:grpSp>
          <p:nvGrpSpPr>
            <p:cNvPr id="97" name="群組 30"/>
            <p:cNvGrpSpPr/>
            <p:nvPr/>
          </p:nvGrpSpPr>
          <p:grpSpPr>
            <a:xfrm>
              <a:off x="8715372" y="4572790"/>
              <a:ext cx="1810800" cy="1217256"/>
              <a:chOff x="15073354" y="8308668"/>
              <a:chExt cx="1810800" cy="1217256"/>
            </a:xfrm>
          </p:grpSpPr>
          <p:sp>
            <p:nvSpPr>
              <p:cNvPr id="101" name="流程圖: 程序 10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600" b="1" dirty="0" smtClean="0">
                    <a:latin typeface="微軟正黑體" panose="020B0604030504040204" pitchFamily="34" charset="-120"/>
                    <a:ea typeface="微軟正黑體" panose="020B0604030504040204" pitchFamily="34" charset="-120"/>
                  </a:rPr>
                  <a:t>ME22N</a:t>
                </a:r>
                <a:endParaRPr lang="en-GB" sz="1600" b="1" dirty="0">
                  <a:latin typeface="微軟正黑體" panose="020B0604030504040204" pitchFamily="34" charset="-120"/>
                  <a:ea typeface="微軟正黑體" panose="020B0604030504040204" pitchFamily="34" charset="-120"/>
                </a:endParaRPr>
              </a:p>
            </p:txBody>
          </p:sp>
          <p:sp>
            <p:nvSpPr>
              <p:cNvPr id="102" name="流程圖: 程序 10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600" dirty="0" smtClean="0">
                    <a:latin typeface="微軟正黑體" panose="020B0604030504040204" pitchFamily="34" charset="-120"/>
                    <a:ea typeface="微軟正黑體" panose="020B0604030504040204" pitchFamily="34" charset="-120"/>
                  </a:rPr>
                  <a:t>刪除借料採購單</a:t>
                </a:r>
                <a:endParaRPr lang="zh-TW" altLang="en-US" sz="1600" dirty="0">
                  <a:latin typeface="微軟正黑體" panose="020B0604030504040204" pitchFamily="34" charset="-120"/>
                  <a:ea typeface="微軟正黑體" panose="020B0604030504040204" pitchFamily="34" charset="-120"/>
                </a:endParaRPr>
              </a:p>
            </p:txBody>
          </p:sp>
          <p:sp>
            <p:nvSpPr>
              <p:cNvPr id="103" name="流程圖: 程序 10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04" name="流程圖: 程序 103"/>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98"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99"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00"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zh-TW" altLang="en-US" sz="1500" dirty="0" smtClean="0">
                    <a:latin typeface="微軟正黑體" panose="020B0604030504040204" pitchFamily="34" charset="-120"/>
                    <a:ea typeface="微軟正黑體" panose="020B0604030504040204" pitchFamily="34" charset="-120"/>
                  </a:rPr>
                  <a:t>２</a:t>
                </a:r>
                <a:endParaRPr lang="zh-TW" altLang="en-US" sz="1500" dirty="0">
                  <a:latin typeface="微軟正黑體" panose="020B0604030504040204" pitchFamily="34" charset="-120"/>
                  <a:ea typeface="微軟正黑體" panose="020B0604030504040204" pitchFamily="34" charset="-120"/>
                </a:endParaRPr>
              </a:p>
            </p:txBody>
          </p:sp>
        </p:grpSp>
      </p:grpSp>
      <p:sp>
        <p:nvSpPr>
          <p:cNvPr id="143" name="流程圖: 結束點 8">
            <a:extLst>
              <a:ext uri="{FF2B5EF4-FFF2-40B4-BE49-F238E27FC236}">
                <a16:creationId xmlns:a16="http://schemas.microsoft.com/office/drawing/2014/main" xmlns="" id="{1FB9514E-6261-C7AC-D58E-6A5F2E6F81FD}"/>
              </a:ext>
            </a:extLst>
          </p:cNvPr>
          <p:cNvSpPr/>
          <p:nvPr/>
        </p:nvSpPr>
        <p:spPr bwMode="auto">
          <a:xfrm>
            <a:off x="12225021" y="9255753"/>
            <a:ext cx="1797831" cy="78244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defTabSz="1371600" eaLnBrk="0" hangingPunct="0">
              <a:buClr>
                <a:srgbClr val="000000"/>
              </a:buClr>
            </a:pPr>
            <a:r>
              <a:rPr lang="zh-TW" altLang="en-US" sz="1500" kern="0" dirty="0">
                <a:solidFill>
                  <a:srgbClr val="000000"/>
                </a:solidFill>
                <a:latin typeface="微軟正黑體" panose="020B0604030504040204" pitchFamily="34" charset="-120"/>
                <a:ea typeface="微軟正黑體" panose="020B0604030504040204" pitchFamily="34" charset="-120"/>
                <a:cs typeface="Arial"/>
                <a:sym typeface="Arial"/>
              </a:rPr>
              <a:t>結束</a:t>
            </a:r>
          </a:p>
        </p:txBody>
      </p:sp>
      <p:cxnSp>
        <p:nvCxnSpPr>
          <p:cNvPr id="166" name="肘形接點 68">
            <a:extLst>
              <a:ext uri="{FF2B5EF4-FFF2-40B4-BE49-F238E27FC236}">
                <a16:creationId xmlns:a16="http://schemas.microsoft.com/office/drawing/2014/main" xmlns="" id="{687579D6-58A9-FB92-A800-B068D391BDFE}"/>
              </a:ext>
            </a:extLst>
          </p:cNvPr>
          <p:cNvCxnSpPr>
            <a:cxnSpLocks/>
            <a:endCxn id="143" idx="1"/>
          </p:cNvCxnSpPr>
          <p:nvPr/>
        </p:nvCxnSpPr>
        <p:spPr>
          <a:xfrm>
            <a:off x="8496300" y="7086600"/>
            <a:ext cx="3728721" cy="2560375"/>
          </a:xfrm>
          <a:prstGeom prst="bentConnector3">
            <a:avLst>
              <a:gd name="adj1" fmla="val 27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xmlns="" val="34631778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pPr defTabSz="1371600">
              <a:buClr>
                <a:srgbClr val="000000"/>
              </a:buClr>
            </a:pPr>
            <a:r>
              <a:rPr lang="en-US" sz="2400" kern="0" dirty="0" err="1">
                <a:solidFill>
                  <a:srgbClr val="000000"/>
                </a:solidFill>
                <a:latin typeface="Arial"/>
                <a:ea typeface="Arial"/>
                <a:cs typeface="Arial"/>
                <a:sym typeface="Arial"/>
              </a:rPr>
              <a:t>流程補充說明</a:t>
            </a:r>
            <a:r>
              <a:rPr lang="en-US" sz="2400" kern="0" dirty="0">
                <a:solidFill>
                  <a:srgbClr val="000000"/>
                </a:solidFill>
                <a:latin typeface="Arial"/>
                <a:ea typeface="Arial"/>
                <a:cs typeface="Arial"/>
                <a:sym typeface="Arial"/>
              </a:rPr>
              <a:t>: </a:t>
            </a:r>
            <a:endParaRPr sz="2100" kern="0" dirty="0">
              <a:solidFill>
                <a:srgbClr val="000000"/>
              </a:solidFill>
              <a:latin typeface="Arial"/>
              <a:cs typeface="Arial"/>
              <a:sym typeface="Arial"/>
            </a:endParaRPr>
          </a:p>
          <a:p>
            <a:pPr defTabSz="1371600">
              <a:buClr>
                <a:srgbClr val="000000"/>
              </a:buClr>
            </a:pPr>
            <a:endParaRPr kern="0" dirty="0">
              <a:solidFill>
                <a:srgbClr val="000000"/>
              </a:solidFill>
              <a:latin typeface="Arial"/>
              <a:ea typeface="Arial"/>
              <a:cs typeface="Arial"/>
              <a:sym typeface="Arial"/>
            </a:endParaRPr>
          </a:p>
        </p:txBody>
      </p:sp>
      <p:sp>
        <p:nvSpPr>
          <p:cNvPr id="4" name="TextBox 53">
            <a:extLst>
              <a:ext uri="{FF2B5EF4-FFF2-40B4-BE49-F238E27FC236}">
                <a16:creationId xmlns:a16="http://schemas.microsoft.com/office/drawing/2014/main" xmlns="" id="{DF940026-96D7-3867-6425-C228DF3D29BF}"/>
              </a:ext>
            </a:extLst>
          </p:cNvPr>
          <p:cNvSpPr txBox="1"/>
          <p:nvPr/>
        </p:nvSpPr>
        <p:spPr>
          <a:xfrm>
            <a:off x="369737" y="2243536"/>
            <a:ext cx="17378475" cy="4524315"/>
          </a:xfrm>
          <a:prstGeom prst="rect">
            <a:avLst/>
          </a:prstGeom>
          <a:noFill/>
        </p:spPr>
        <p:txBody>
          <a:bodyPr wrap="square" rtlCol="0">
            <a:spAutoFit/>
          </a:bodyPr>
          <a:lstStyle/>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1</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、加入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平台作交期</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價格回覆的廠商，採購單資料會透過</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INTERFACE</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傳入平台。有使用</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DS B2B</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平台的廠商採購單，將不會列印採購單</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或產生檔案</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a:t>
            </a:r>
          </a:p>
          <a:p>
            <a:pPr defTabSz="1371600">
              <a:buClr>
                <a:srgbClr val="000000"/>
              </a:buClr>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2</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、預買</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鞋材</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由業務</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生管發起長交期物料預買請購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      底化工材</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廠區業務、廠區開發</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化工依據確認配方入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BOM</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展開至訂購管制表，並檢附展開雙數及計畫生產雙數分析。</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3</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、預補</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業務生管按同型體</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配色建立預補請購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倉庫按實際需求補預托外加工請購</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4</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、供應商在平台上回覆的交期需要回傳</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SAP</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更新數量</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交期確認。</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5</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、各品牌各類採購單格式需逐一討論格式內容。</a:t>
            </a: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endPar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endParaRPr>
          </a:p>
          <a:p>
            <a:pPr defTabSz="1371600">
              <a:buClr>
                <a:srgbClr val="000000"/>
              </a:buClr>
            </a:pP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6</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、未來</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Nike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的採購單給</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 OIA </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廠商時，需要把採購單先傳入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DEECO</a:t>
            </a:r>
            <a:r>
              <a:rPr lang="zh-TW" altLang="en-US" kern="0" dirty="0">
                <a:solidFill>
                  <a:srgbClr val="000000"/>
                </a:solidFill>
                <a:latin typeface="微軟正黑體" panose="020B0604030504040204" pitchFamily="34" charset="-120"/>
                <a:ea typeface="微軟正黑體" panose="020B0604030504040204" pitchFamily="34" charset="-120"/>
                <a:cs typeface="Arial"/>
                <a:sym typeface="Arial"/>
              </a:rPr>
              <a:t>，再利用現有介面傳入</a:t>
            </a:r>
            <a:r>
              <a:rPr lang="en-US" altLang="zh-TW" kern="0" dirty="0">
                <a:solidFill>
                  <a:srgbClr val="000000"/>
                </a:solidFill>
                <a:latin typeface="微軟正黑體" panose="020B0604030504040204" pitchFamily="34" charset="-120"/>
                <a:ea typeface="微軟正黑體" panose="020B0604030504040204" pitchFamily="34" charset="-120"/>
                <a:cs typeface="Arial"/>
                <a:sym typeface="Arial"/>
              </a:rPr>
              <a:t>OIA</a:t>
            </a:r>
          </a:p>
          <a:p>
            <a:pPr defTabSz="1371600">
              <a:buClr>
                <a:srgbClr val="000000"/>
              </a:buClr>
            </a:pPr>
            <a:endParaRPr lang="en-US" altLang="zh-TW" kern="0" dirty="0">
              <a:solidFill>
                <a:srgbClr val="000000"/>
              </a:solidFill>
              <a:latin typeface="Arial"/>
              <a:cs typeface="Arial"/>
              <a:sym typeface="Arial"/>
            </a:endParaRPr>
          </a:p>
          <a:p>
            <a:pPr defTabSz="1371600">
              <a:buClr>
                <a:srgbClr val="000000"/>
              </a:buClr>
            </a:pPr>
            <a:endParaRPr lang="en-US" altLang="zh-TW" kern="0" dirty="0">
              <a:solidFill>
                <a:srgbClr val="000000"/>
              </a:solidFill>
              <a:latin typeface="Arial"/>
              <a:cs typeface="Arial"/>
              <a:sym typeface="Arial"/>
            </a:endParaRPr>
          </a:p>
          <a:p>
            <a:pPr defTabSz="1371600">
              <a:buClr>
                <a:srgbClr val="000000"/>
              </a:buClr>
            </a:pPr>
            <a:endParaRPr lang="en-US" altLang="zh-TW" kern="0" dirty="0">
              <a:solidFill>
                <a:srgbClr val="000000"/>
              </a:solidFill>
              <a:latin typeface="Arial"/>
              <a:cs typeface="Arial"/>
              <a:sym typeface="Arial"/>
            </a:endParaRPr>
          </a:p>
          <a:p>
            <a:pPr defTabSz="1371600">
              <a:buClr>
                <a:srgbClr val="000000"/>
              </a:buClr>
            </a:pPr>
            <a:endParaRPr lang="zh-TW" altLang="en-US" kern="0" dirty="0">
              <a:solidFill>
                <a:srgbClr val="000000"/>
              </a:solidFill>
              <a:latin typeface="Arial"/>
              <a:cs typeface="Arial"/>
              <a:sym typeface="Arial"/>
            </a:endParaRPr>
          </a:p>
        </p:txBody>
      </p:sp>
      <p:sp>
        <p:nvSpPr>
          <p:cNvPr id="5" name="Google Shape;198;p3"/>
          <p:cNvSpPr txBox="1">
            <a:spLocks/>
          </p:cNvSpPr>
          <p:nvPr/>
        </p:nvSpPr>
        <p:spPr>
          <a:xfrm>
            <a:off x="15588398" y="535076"/>
            <a:ext cx="1282282" cy="17358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a:solidFill>
                  <a:srgbClr val="000000"/>
                </a:solidFill>
              </a:rPr>
              <a:t>2</a:t>
            </a:r>
          </a:p>
        </p:txBody>
      </p:sp>
      <p:sp>
        <p:nvSpPr>
          <p:cNvPr id="6" name="文字方塊 5">
            <a:extLst>
              <a:ext uri="{FF2B5EF4-FFF2-40B4-BE49-F238E27FC236}">
                <a16:creationId xmlns:a16="http://schemas.microsoft.com/office/drawing/2014/main" xmlns="" id="{83E6F622-2FBE-CC67-50FE-4ABD7D8B9696}"/>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MM-PU-0030</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p>
        </p:txBody>
      </p:sp>
    </p:spTree>
    <p:extLst>
      <p:ext uri="{BB962C8B-B14F-4D97-AF65-F5344CB8AC3E}">
        <p14:creationId xmlns:p14="http://schemas.microsoft.com/office/powerpoint/2010/main" xmlns="" val="30857571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xmlns="" id="{2EC544C6-97CB-07C1-8F88-5F6D48BB198E}"/>
            </a:ext>
          </a:extLst>
        </p:cNvPr>
        <p:cNvGrpSpPr/>
        <p:nvPr/>
      </p:nvGrpSpPr>
      <p:grpSpPr>
        <a:xfrm>
          <a:off x="0" y="0"/>
          <a:ext cx="0" cy="0"/>
          <a:chOff x="0" y="0"/>
          <a:chExt cx="0" cy="0"/>
        </a:xfrm>
      </p:grpSpPr>
      <p:sp>
        <p:nvSpPr>
          <p:cNvPr id="204" name="Google Shape;204;p4">
            <a:extLst>
              <a:ext uri="{FF2B5EF4-FFF2-40B4-BE49-F238E27FC236}">
                <a16:creationId xmlns:a16="http://schemas.microsoft.com/office/drawing/2014/main" xmlns="" id="{C633067C-65EC-D8C3-6DC4-F3D5AF2A0863}"/>
              </a:ext>
            </a:extLst>
          </p:cNvPr>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pPr defTabSz="1371600">
              <a:buClr>
                <a:srgbClr val="000000"/>
              </a:buClr>
            </a:pPr>
            <a:r>
              <a:rPr lang="en-US" sz="2400" kern="0" dirty="0">
                <a:solidFill>
                  <a:srgbClr val="000000"/>
                </a:solidFill>
                <a:latin typeface="Arial"/>
                <a:ea typeface="Arial"/>
                <a:cs typeface="Arial"/>
                <a:sym typeface="Arial"/>
              </a:rPr>
              <a:t> </a:t>
            </a:r>
            <a:endParaRPr sz="2100" kern="0" dirty="0">
              <a:solidFill>
                <a:srgbClr val="000000"/>
              </a:solidFill>
              <a:latin typeface="Arial"/>
              <a:cs typeface="Arial"/>
              <a:sym typeface="Arial"/>
            </a:endParaRPr>
          </a:p>
          <a:p>
            <a:pPr defTabSz="1371600">
              <a:buClr>
                <a:srgbClr val="000000"/>
              </a:buClr>
            </a:pPr>
            <a:endParaRPr kern="0" dirty="0">
              <a:solidFill>
                <a:srgbClr val="000000"/>
              </a:solidFill>
              <a:latin typeface="Arial"/>
              <a:ea typeface="Arial"/>
              <a:cs typeface="Arial"/>
              <a:sym typeface="Arial"/>
            </a:endParaRPr>
          </a:p>
        </p:txBody>
      </p:sp>
      <p:sp>
        <p:nvSpPr>
          <p:cNvPr id="5" name="Google Shape;198;p3">
            <a:extLst>
              <a:ext uri="{FF2B5EF4-FFF2-40B4-BE49-F238E27FC236}">
                <a16:creationId xmlns:a16="http://schemas.microsoft.com/office/drawing/2014/main" xmlns="" id="{B0E09180-C80C-36D3-AC80-A85DCEC6E4AF}"/>
              </a:ext>
            </a:extLst>
          </p:cNvPr>
          <p:cNvSpPr txBox="1">
            <a:spLocks/>
          </p:cNvSpPr>
          <p:nvPr/>
        </p:nvSpPr>
        <p:spPr>
          <a:xfrm>
            <a:off x="15588398" y="535076"/>
            <a:ext cx="1282282" cy="17358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smtClean="0">
                <a:solidFill>
                  <a:srgbClr val="000000"/>
                </a:solidFill>
              </a:rPr>
              <a:t>3</a:t>
            </a:r>
            <a:endParaRPr lang="en-US" sz="1500" kern="0" dirty="0">
              <a:solidFill>
                <a:srgbClr val="000000"/>
              </a:solidFill>
            </a:endParaRPr>
          </a:p>
        </p:txBody>
      </p:sp>
      <p:sp>
        <p:nvSpPr>
          <p:cNvPr id="6" name="文字方塊 5">
            <a:extLst>
              <a:ext uri="{FF2B5EF4-FFF2-40B4-BE49-F238E27FC236}">
                <a16:creationId xmlns:a16="http://schemas.microsoft.com/office/drawing/2014/main" xmlns="" id="{5E265891-3B19-0539-9B03-75A61BEF1E20}"/>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MM-PU-0030</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p>
        </p:txBody>
      </p:sp>
      <p:graphicFrame>
        <p:nvGraphicFramePr>
          <p:cNvPr id="2" name="表格 1">
            <a:extLst>
              <a:ext uri="{FF2B5EF4-FFF2-40B4-BE49-F238E27FC236}">
                <a16:creationId xmlns:a16="http://schemas.microsoft.com/office/drawing/2014/main" xmlns="" id="{689F961B-FB5D-EBBA-F875-85F41B70849B}"/>
              </a:ext>
            </a:extLst>
          </p:cNvPr>
          <p:cNvGraphicFramePr>
            <a:graphicFrameLocks noGrp="1"/>
          </p:cNvGraphicFramePr>
          <p:nvPr>
            <p:extLst>
              <p:ext uri="{D42A27DB-BD31-4B8C-83A1-F6EECF244321}">
                <p14:modId xmlns:p14="http://schemas.microsoft.com/office/powerpoint/2010/main" xmlns="" val="1350969474"/>
              </p:ext>
            </p:extLst>
          </p:nvPr>
        </p:nvGraphicFramePr>
        <p:xfrm>
          <a:off x="1565910" y="2411730"/>
          <a:ext cx="14950440" cy="5770032"/>
        </p:xfrm>
        <a:graphic>
          <a:graphicData uri="http://schemas.openxmlformats.org/drawingml/2006/table">
            <a:tbl>
              <a:tblPr/>
              <a:tblGrid>
                <a:gridCol w="1204640">
                  <a:extLst>
                    <a:ext uri="{9D8B030D-6E8A-4147-A177-3AD203B41FA5}">
                      <a16:colId xmlns:a16="http://schemas.microsoft.com/office/drawing/2014/main" xmlns="" val="399061059"/>
                    </a:ext>
                  </a:extLst>
                </a:gridCol>
                <a:gridCol w="2538348">
                  <a:extLst>
                    <a:ext uri="{9D8B030D-6E8A-4147-A177-3AD203B41FA5}">
                      <a16:colId xmlns:a16="http://schemas.microsoft.com/office/drawing/2014/main" xmlns="" val="1600104557"/>
                    </a:ext>
                  </a:extLst>
                </a:gridCol>
                <a:gridCol w="1720914">
                  <a:extLst>
                    <a:ext uri="{9D8B030D-6E8A-4147-A177-3AD203B41FA5}">
                      <a16:colId xmlns:a16="http://schemas.microsoft.com/office/drawing/2014/main" xmlns="" val="557855018"/>
                    </a:ext>
                  </a:extLst>
                </a:gridCol>
                <a:gridCol w="1634869">
                  <a:extLst>
                    <a:ext uri="{9D8B030D-6E8A-4147-A177-3AD203B41FA5}">
                      <a16:colId xmlns:a16="http://schemas.microsoft.com/office/drawing/2014/main" xmlns="" val="1522395892"/>
                    </a:ext>
                  </a:extLst>
                </a:gridCol>
                <a:gridCol w="3764499">
                  <a:extLst>
                    <a:ext uri="{9D8B030D-6E8A-4147-A177-3AD203B41FA5}">
                      <a16:colId xmlns:a16="http://schemas.microsoft.com/office/drawing/2014/main" xmlns="" val="1394952361"/>
                    </a:ext>
                  </a:extLst>
                </a:gridCol>
                <a:gridCol w="1742426">
                  <a:extLst>
                    <a:ext uri="{9D8B030D-6E8A-4147-A177-3AD203B41FA5}">
                      <a16:colId xmlns:a16="http://schemas.microsoft.com/office/drawing/2014/main" xmlns="" val="347328860"/>
                    </a:ext>
                  </a:extLst>
                </a:gridCol>
                <a:gridCol w="1118593">
                  <a:extLst>
                    <a:ext uri="{9D8B030D-6E8A-4147-A177-3AD203B41FA5}">
                      <a16:colId xmlns:a16="http://schemas.microsoft.com/office/drawing/2014/main" xmlns="" val="1992984873"/>
                    </a:ext>
                  </a:extLst>
                </a:gridCol>
                <a:gridCol w="1226151">
                  <a:extLst>
                    <a:ext uri="{9D8B030D-6E8A-4147-A177-3AD203B41FA5}">
                      <a16:colId xmlns:a16="http://schemas.microsoft.com/office/drawing/2014/main" xmlns="" val="2462477422"/>
                    </a:ext>
                  </a:extLst>
                </a:gridCol>
              </a:tblGrid>
              <a:tr h="651681">
                <a:tc>
                  <a:txBody>
                    <a:bodyPr/>
                    <a:lstStyle/>
                    <a:p>
                      <a:pPr algn="ctr" rtl="0" fontAlgn="ctr"/>
                      <a:r>
                        <a:rPr lang="zh-TW" altLang="en-US" sz="1800" b="1" i="0" u="none" strike="noStrike" dirty="0">
                          <a:solidFill>
                            <a:srgbClr val="FFFFFF"/>
                          </a:solidFill>
                          <a:effectLst/>
                          <a:latin typeface="微軟正黑體" panose="020B0604030504040204" pitchFamily="34" charset="-120"/>
                          <a:ea typeface="微軟正黑體" panose="020B0604030504040204" pitchFamily="34" charset="-120"/>
                        </a:rPr>
                        <a:t>請購單類型</a:t>
                      </a:r>
                      <a:endParaRPr lang="en-US" altLang="zh-TW" sz="1800" b="1" i="0" u="none" strike="noStrike" dirty="0">
                        <a:solidFill>
                          <a:srgbClr val="FFFFFF"/>
                        </a:solidFill>
                        <a:effectLst/>
                        <a:latin typeface="微軟正黑體" panose="020B0604030504040204" pitchFamily="34" charset="-120"/>
                        <a:ea typeface="微軟正黑體" panose="020B0604030504040204" pitchFamily="34" charset="-120"/>
                      </a:endParaRPr>
                    </a:p>
                    <a:p>
                      <a:pPr algn="ctr" rtl="0" fontAlgn="ctr"/>
                      <a:r>
                        <a:rPr lang="en-US" altLang="zh-TW" sz="1800" b="1" i="0" u="none" strike="noStrike" dirty="0">
                          <a:solidFill>
                            <a:srgbClr val="FFFFFF"/>
                          </a:solidFill>
                          <a:effectLst/>
                          <a:latin typeface="微軟正黑體" panose="020B0604030504040204" pitchFamily="34" charset="-120"/>
                          <a:ea typeface="微軟正黑體" panose="020B0604030504040204" pitchFamily="34" charset="-120"/>
                        </a:rPr>
                        <a:t>(4</a:t>
                      </a:r>
                      <a:r>
                        <a:rPr lang="zh-TW" altLang="en-US" sz="1800" b="1" i="0" u="none" strike="noStrike" dirty="0">
                          <a:solidFill>
                            <a:srgbClr val="FFFFFF"/>
                          </a:solidFill>
                          <a:effectLst/>
                          <a:latin typeface="微軟正黑體" panose="020B0604030504040204" pitchFamily="34" charset="-120"/>
                          <a:ea typeface="微軟正黑體" panose="020B0604030504040204" pitchFamily="34" charset="-120"/>
                        </a:rPr>
                        <a:t>碼</a:t>
                      </a:r>
                      <a:r>
                        <a:rPr lang="en-US" altLang="zh-TW" sz="1800" b="1" i="0" u="none" strike="noStrike" dirty="0">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請購單類型說明</a:t>
                      </a:r>
                      <a:b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b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(20</a:t>
                      </a: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碼</a:t>
                      </a: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From</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To</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資料來源</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簽核</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科目指派</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庫存管理</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xmlns="" val="2225878389"/>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開發請購單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63810198"/>
                  </a:ext>
                </a:extLst>
              </a:tr>
              <a:tr h="339394">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MRP</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No</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895787810"/>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EB</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量產補單請購單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生管</a:t>
                      </a: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倉庫 手動建立</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372391673"/>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SC</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製程委外請購單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工單建立核發</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913223432"/>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FA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預買請購單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609894769"/>
                  </a:ext>
                </a:extLst>
              </a:tr>
              <a:tr h="339394">
                <a:tc>
                  <a:txBody>
                    <a:bodyPr/>
                    <a:lstStyle/>
                    <a:p>
                      <a:pPr algn="l"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FB</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預補請購單</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生管</a:t>
                      </a:r>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a:t>
                      </a: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廠務助理手動建立</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54431294"/>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楦頭請購單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949205051"/>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製工具請購單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K</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有料號</a:t>
                      </a:r>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222089142"/>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模具請購單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A-&gt;K</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443313993"/>
                  </a:ext>
                </a:extLst>
              </a:tr>
              <a:tr h="326382">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M1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機器設備請購單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85227585"/>
                  </a:ext>
                </a:extLst>
              </a:tr>
              <a:tr h="339394">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A1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固定資產請購單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4400000000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4499999999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A</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有料號</a:t>
                      </a:r>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183504821"/>
                  </a:ext>
                </a:extLst>
              </a:tr>
              <a:tr h="567104">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X1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庶務庫存品請購單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已簽，</a:t>
                      </a: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SAP</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免簽</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空白</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706121414"/>
                  </a:ext>
                </a:extLst>
              </a:tr>
              <a:tr h="425057">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X2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費用類請購單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BPM</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已簽，</a:t>
                      </a: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SAP</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免簽</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a:solidFill>
                            <a:srgbClr val="000000"/>
                          </a:solidFill>
                          <a:effectLst/>
                          <a:latin typeface="微軟正黑體" panose="020B0604030504040204" pitchFamily="34" charset="-120"/>
                          <a:ea typeface="微軟正黑體" panose="020B0604030504040204" pitchFamily="34" charset="-120"/>
                        </a:rPr>
                        <a:t>K</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729139042"/>
                  </a:ext>
                </a:extLst>
              </a:tr>
              <a:tr h="326382">
                <a:tc>
                  <a:txBody>
                    <a:bodyPr/>
                    <a:lstStyle/>
                    <a:p>
                      <a:pPr algn="l"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TR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調料請購單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2200000000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2299999999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生管</a:t>
                      </a:r>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a:t>
                      </a: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倉庫 手動建立</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No</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6492600"/>
                  </a:ext>
                </a:extLst>
              </a:tr>
            </a:tbl>
          </a:graphicData>
        </a:graphic>
      </p:graphicFrame>
    </p:spTree>
    <p:extLst>
      <p:ext uri="{BB962C8B-B14F-4D97-AF65-F5344CB8AC3E}">
        <p14:creationId xmlns:p14="http://schemas.microsoft.com/office/powerpoint/2010/main" xmlns="" val="94481853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a:extLst>
            <a:ext uri="{FF2B5EF4-FFF2-40B4-BE49-F238E27FC236}">
              <a16:creationId xmlns:a16="http://schemas.microsoft.com/office/drawing/2014/main" xmlns="" id="{7C1625B5-16EC-7B8E-C0F2-76BEFAC2CB97}"/>
            </a:ext>
          </a:extLst>
        </p:cNvPr>
        <p:cNvGrpSpPr/>
        <p:nvPr/>
      </p:nvGrpSpPr>
      <p:grpSpPr>
        <a:xfrm>
          <a:off x="0" y="0"/>
          <a:ext cx="0" cy="0"/>
          <a:chOff x="0" y="0"/>
          <a:chExt cx="0" cy="0"/>
        </a:xfrm>
      </p:grpSpPr>
      <p:sp>
        <p:nvSpPr>
          <p:cNvPr id="204" name="Google Shape;204;p4">
            <a:extLst>
              <a:ext uri="{FF2B5EF4-FFF2-40B4-BE49-F238E27FC236}">
                <a16:creationId xmlns:a16="http://schemas.microsoft.com/office/drawing/2014/main" xmlns="" id="{F788C2DB-1D42-ABDF-E91E-B74659427087}"/>
              </a:ext>
            </a:extLst>
          </p:cNvPr>
          <p:cNvSpPr/>
          <p:nvPr/>
        </p:nvSpPr>
        <p:spPr>
          <a:xfrm>
            <a:off x="197114" y="1595423"/>
            <a:ext cx="17911883" cy="8399412"/>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pPr defTabSz="1371600">
              <a:buClr>
                <a:srgbClr val="000000"/>
              </a:buClr>
            </a:pPr>
            <a:r>
              <a:rPr lang="en-US" sz="2400" kern="0" dirty="0">
                <a:solidFill>
                  <a:srgbClr val="000000"/>
                </a:solidFill>
                <a:latin typeface="Arial"/>
                <a:ea typeface="Arial"/>
                <a:cs typeface="Arial"/>
                <a:sym typeface="Arial"/>
              </a:rPr>
              <a:t> </a:t>
            </a:r>
            <a:endParaRPr sz="2100" kern="0" dirty="0">
              <a:solidFill>
                <a:srgbClr val="000000"/>
              </a:solidFill>
              <a:latin typeface="Arial"/>
              <a:cs typeface="Arial"/>
              <a:sym typeface="Arial"/>
            </a:endParaRPr>
          </a:p>
          <a:p>
            <a:pPr defTabSz="1371600">
              <a:buClr>
                <a:srgbClr val="000000"/>
              </a:buClr>
            </a:pPr>
            <a:endParaRPr kern="0" dirty="0">
              <a:solidFill>
                <a:srgbClr val="000000"/>
              </a:solidFill>
              <a:latin typeface="Arial"/>
              <a:ea typeface="Arial"/>
              <a:cs typeface="Arial"/>
              <a:sym typeface="Arial"/>
            </a:endParaRPr>
          </a:p>
        </p:txBody>
      </p:sp>
      <p:sp>
        <p:nvSpPr>
          <p:cNvPr id="5" name="Google Shape;198;p3">
            <a:extLst>
              <a:ext uri="{FF2B5EF4-FFF2-40B4-BE49-F238E27FC236}">
                <a16:creationId xmlns:a16="http://schemas.microsoft.com/office/drawing/2014/main" xmlns="" id="{594FB4A8-F9DC-9B88-DCF4-5B714A71857C}"/>
              </a:ext>
            </a:extLst>
          </p:cNvPr>
          <p:cNvSpPr txBox="1">
            <a:spLocks/>
          </p:cNvSpPr>
          <p:nvPr/>
        </p:nvSpPr>
        <p:spPr>
          <a:xfrm>
            <a:off x="15588398" y="535076"/>
            <a:ext cx="1282282" cy="173584"/>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Font typeface="Arial"/>
              <a:buNone/>
              <a:defRPr sz="750" b="0" i="0" u="none" strike="noStrike" cap="none">
                <a:solidFill>
                  <a:schemeClr val="dk1"/>
                </a:solidFill>
                <a:latin typeface="Arial"/>
                <a:ea typeface="Arial"/>
                <a:cs typeface="Arial"/>
                <a:sym typeface="Arial"/>
              </a:defRPr>
            </a:lvl9pPr>
          </a:lstStyle>
          <a:p>
            <a:pPr algn="l" defTabSz="1371600"/>
            <a:r>
              <a:rPr lang="en-US" sz="1500" kern="0" dirty="0" smtClean="0">
                <a:solidFill>
                  <a:srgbClr val="000000"/>
                </a:solidFill>
              </a:rPr>
              <a:t>4</a:t>
            </a:r>
            <a:endParaRPr lang="en-US" sz="1500" kern="0" dirty="0">
              <a:solidFill>
                <a:srgbClr val="000000"/>
              </a:solidFill>
            </a:endParaRPr>
          </a:p>
        </p:txBody>
      </p:sp>
      <p:sp>
        <p:nvSpPr>
          <p:cNvPr id="6" name="文字方塊 5">
            <a:extLst>
              <a:ext uri="{FF2B5EF4-FFF2-40B4-BE49-F238E27FC236}">
                <a16:creationId xmlns:a16="http://schemas.microsoft.com/office/drawing/2014/main" xmlns="" id="{B737C195-AD85-5933-DBAC-AFCAA001F73A}"/>
              </a:ext>
            </a:extLst>
          </p:cNvPr>
          <p:cNvSpPr txBox="1"/>
          <p:nvPr/>
        </p:nvSpPr>
        <p:spPr>
          <a:xfrm>
            <a:off x="2431326" y="820877"/>
            <a:ext cx="7218711" cy="415498"/>
          </a:xfrm>
          <a:prstGeom prst="rect">
            <a:avLst/>
          </a:prstGeom>
          <a:noFill/>
        </p:spPr>
        <p:txBody>
          <a:bodyPr wrap="square">
            <a:spAutoFit/>
          </a:bodyPr>
          <a:lstStyle/>
          <a:p>
            <a:pPr defTabSz="1371600" eaLnBrk="0" hangingPunct="0">
              <a:buClr>
                <a:srgbClr val="000000"/>
              </a:buClr>
            </a:pPr>
            <a:r>
              <a:rPr lang="en-US" altLang="zh-TW" sz="2100" b="1" kern="0" dirty="0">
                <a:solidFill>
                  <a:srgbClr val="000000"/>
                </a:solidFill>
                <a:latin typeface="微軟正黑體" panose="020B0604030504040204" pitchFamily="34" charset="-120"/>
                <a:ea typeface="微軟正黑體" panose="020B0604030504040204" pitchFamily="34" charset="-120"/>
                <a:cs typeface="Arial"/>
                <a:sym typeface="Arial"/>
              </a:rPr>
              <a:t>MM-PU-0030</a:t>
            </a:r>
            <a:r>
              <a:rPr lang="zh-TW" altLang="en-US" sz="2100" b="1" kern="0" dirty="0">
                <a:solidFill>
                  <a:srgbClr val="000000"/>
                </a:solidFill>
                <a:latin typeface="微軟正黑體" panose="020B0604030504040204" pitchFamily="34" charset="-120"/>
                <a:ea typeface="微軟正黑體" panose="020B0604030504040204" pitchFamily="34" charset="-120"/>
                <a:cs typeface="Arial"/>
                <a:sym typeface="Arial"/>
              </a:rPr>
              <a:t>庫存類採購流程</a:t>
            </a:r>
          </a:p>
        </p:txBody>
      </p:sp>
      <p:graphicFrame>
        <p:nvGraphicFramePr>
          <p:cNvPr id="3" name="表格 2">
            <a:extLst>
              <a:ext uri="{FF2B5EF4-FFF2-40B4-BE49-F238E27FC236}">
                <a16:creationId xmlns:a16="http://schemas.microsoft.com/office/drawing/2014/main" xmlns="" id="{787787F2-7C88-FED7-A55A-6BC2DAB9F34A}"/>
              </a:ext>
            </a:extLst>
          </p:cNvPr>
          <p:cNvGraphicFramePr>
            <a:graphicFrameLocks noGrp="1"/>
          </p:cNvGraphicFramePr>
          <p:nvPr>
            <p:extLst>
              <p:ext uri="{D42A27DB-BD31-4B8C-83A1-F6EECF244321}">
                <p14:modId xmlns:p14="http://schemas.microsoft.com/office/powerpoint/2010/main" xmlns="" val="1335963184"/>
              </p:ext>
            </p:extLst>
          </p:nvPr>
        </p:nvGraphicFramePr>
        <p:xfrm>
          <a:off x="1703070" y="1906892"/>
          <a:ext cx="14436091" cy="7180341"/>
        </p:xfrm>
        <a:graphic>
          <a:graphicData uri="http://schemas.openxmlformats.org/drawingml/2006/table">
            <a:tbl>
              <a:tblPr/>
              <a:tblGrid>
                <a:gridCol w="2093973">
                  <a:extLst>
                    <a:ext uri="{9D8B030D-6E8A-4147-A177-3AD203B41FA5}">
                      <a16:colId xmlns:a16="http://schemas.microsoft.com/office/drawing/2014/main" xmlns="" val="729383419"/>
                    </a:ext>
                  </a:extLst>
                </a:gridCol>
                <a:gridCol w="2956197">
                  <a:extLst>
                    <a:ext uri="{9D8B030D-6E8A-4147-A177-3AD203B41FA5}">
                      <a16:colId xmlns:a16="http://schemas.microsoft.com/office/drawing/2014/main" xmlns="" val="1371184551"/>
                    </a:ext>
                  </a:extLst>
                </a:gridCol>
                <a:gridCol w="640509">
                  <a:extLst>
                    <a:ext uri="{9D8B030D-6E8A-4147-A177-3AD203B41FA5}">
                      <a16:colId xmlns:a16="http://schemas.microsoft.com/office/drawing/2014/main" xmlns="" val="3664930694"/>
                    </a:ext>
                  </a:extLst>
                </a:gridCol>
                <a:gridCol w="960763">
                  <a:extLst>
                    <a:ext uri="{9D8B030D-6E8A-4147-A177-3AD203B41FA5}">
                      <a16:colId xmlns:a16="http://schemas.microsoft.com/office/drawing/2014/main" xmlns="" val="1922819320"/>
                    </a:ext>
                  </a:extLst>
                </a:gridCol>
                <a:gridCol w="960763">
                  <a:extLst>
                    <a:ext uri="{9D8B030D-6E8A-4147-A177-3AD203B41FA5}">
                      <a16:colId xmlns:a16="http://schemas.microsoft.com/office/drawing/2014/main" xmlns="" val="1937013076"/>
                    </a:ext>
                  </a:extLst>
                </a:gridCol>
                <a:gridCol w="2143242">
                  <a:extLst>
                    <a:ext uri="{9D8B030D-6E8A-4147-A177-3AD203B41FA5}">
                      <a16:colId xmlns:a16="http://schemas.microsoft.com/office/drawing/2014/main" xmlns="" val="126740988"/>
                    </a:ext>
                  </a:extLst>
                </a:gridCol>
                <a:gridCol w="2093973">
                  <a:extLst>
                    <a:ext uri="{9D8B030D-6E8A-4147-A177-3AD203B41FA5}">
                      <a16:colId xmlns:a16="http://schemas.microsoft.com/office/drawing/2014/main" xmlns="" val="244192527"/>
                    </a:ext>
                  </a:extLst>
                </a:gridCol>
                <a:gridCol w="1404192">
                  <a:extLst>
                    <a:ext uri="{9D8B030D-6E8A-4147-A177-3AD203B41FA5}">
                      <a16:colId xmlns:a16="http://schemas.microsoft.com/office/drawing/2014/main" xmlns="" val="4187206233"/>
                    </a:ext>
                  </a:extLst>
                </a:gridCol>
                <a:gridCol w="1182479">
                  <a:extLst>
                    <a:ext uri="{9D8B030D-6E8A-4147-A177-3AD203B41FA5}">
                      <a16:colId xmlns:a16="http://schemas.microsoft.com/office/drawing/2014/main" xmlns="" val="2770877279"/>
                    </a:ext>
                  </a:extLst>
                </a:gridCol>
              </a:tblGrid>
              <a:tr h="688108">
                <a:tc>
                  <a:txBody>
                    <a:bodyPr/>
                    <a:lstStyle/>
                    <a:p>
                      <a:pPr algn="ctr" rtl="0" fontAlgn="ctr"/>
                      <a:r>
                        <a:rPr lang="zh-TW" altLang="en-US" sz="1800" b="1" i="0" u="none" strike="noStrike" dirty="0">
                          <a:solidFill>
                            <a:srgbClr val="FFFFFF"/>
                          </a:solidFill>
                          <a:effectLst/>
                          <a:latin typeface="微軟正黑體" panose="020B0604030504040204" pitchFamily="34" charset="-120"/>
                          <a:ea typeface="微軟正黑體" panose="020B0604030504040204" pitchFamily="34" charset="-120"/>
                        </a:rPr>
                        <a:t>採購單類型</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採購單類型說明</a:t>
                      </a:r>
                      <a:b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b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(20</a:t>
                      </a: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碼</a:t>
                      </a: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NoRgeInt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　</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From</a:t>
                      </a:r>
                      <a:br>
                        <a:rPr lang="en-US" sz="1800" b="1" i="0" u="none" strike="noStrike">
                          <a:solidFill>
                            <a:srgbClr val="FFFFFF"/>
                          </a:solidFill>
                          <a:effectLst/>
                          <a:latin typeface="微軟正黑體" panose="020B0604030504040204" pitchFamily="34" charset="-120"/>
                          <a:ea typeface="微軟正黑體" panose="020B0604030504040204" pitchFamily="34" charset="-120"/>
                        </a:rPr>
                      </a:br>
                      <a:endParaRPr lang="en-US" sz="1800" b="1" i="0" u="none" strike="noStrike">
                        <a:solidFill>
                          <a:srgbClr val="FFFFFF"/>
                        </a:solidFill>
                        <a:effectLst/>
                        <a:latin typeface="微軟正黑體" panose="020B0604030504040204" pitchFamily="34" charset="-120"/>
                        <a:ea typeface="微軟正黑體" panose="020B0604030504040204" pitchFamily="34" charset="-120"/>
                      </a:endParaRP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en-US" sz="1800" b="1" i="0" u="none" strike="noStrike">
                          <a:solidFill>
                            <a:srgbClr val="FFFFFF"/>
                          </a:solidFill>
                          <a:effectLst/>
                          <a:latin typeface="微軟正黑體" panose="020B0604030504040204" pitchFamily="34" charset="-120"/>
                          <a:ea typeface="微軟正黑體" panose="020B0604030504040204" pitchFamily="34" charset="-120"/>
                        </a:rPr>
                        <a:t>To</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請購單類型</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tc>
                  <a:txBody>
                    <a:bodyPr/>
                    <a:lstStyle/>
                    <a:p>
                      <a:pPr algn="ctr" rtl="0" fontAlgn="ctr"/>
                      <a:r>
                        <a:rPr lang="zh-TW" altLang="en-US" sz="1800" b="1" i="0" u="none" strike="noStrike">
                          <a:solidFill>
                            <a:srgbClr val="FFFFFF"/>
                          </a:solidFill>
                          <a:effectLst/>
                          <a:latin typeface="微軟正黑體" panose="020B0604030504040204" pitchFamily="34" charset="-120"/>
                          <a:ea typeface="微軟正黑體" panose="020B0604030504040204" pitchFamily="34" charset="-120"/>
                        </a:rPr>
                        <a:t>是否簽核</a:t>
                      </a:r>
                      <a:r>
                        <a:rPr lang="en-US" altLang="zh-TW" sz="1800" b="1" i="0" u="none" strike="noStrike">
                          <a:solidFill>
                            <a:srgbClr val="FFFFFF"/>
                          </a:solidFill>
                          <a:effectLst/>
                          <a:latin typeface="微軟正黑體" panose="020B0604030504040204" pitchFamily="34" charset="-120"/>
                          <a:ea typeface="微軟正黑體" panose="020B0604030504040204" pitchFamily="34" charset="-120"/>
                        </a:rPr>
                        <a:t>?</a:t>
                      </a:r>
                    </a:p>
                  </a:txBody>
                  <a:tcPr marL="7951" marR="7951" marT="795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F81BD"/>
                    </a:solidFill>
                  </a:tcPr>
                </a:tc>
                <a:extLst>
                  <a:ext uri="{0D108BD9-81ED-4DB2-BD59-A6C34878D82A}">
                    <a16:rowId xmlns:a16="http://schemas.microsoft.com/office/drawing/2014/main" xmlns="" val="2813841900"/>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PDUR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開發面材採購單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01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039361304"/>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PDSR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開發底原料採購單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02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931059953"/>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PDSS</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開發底台採購單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03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0399999999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DB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042188619"/>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POUR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面材採購單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807109624"/>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PEUR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面材補單採購單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17</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1700000000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1799999999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EB/FB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555577951"/>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POSS</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底台採購單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18</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1800000000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1899999999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296841068"/>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PESS</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底台補單採購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1900000000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EB/FB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283584338"/>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POSR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底原料</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30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232500125"/>
                  </a:ext>
                </a:extLst>
              </a:tr>
              <a:tr h="229623">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593440662"/>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POBR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借料採購單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chemeClr val="tx1"/>
                          </a:solidFill>
                          <a:effectLst/>
                          <a:latin typeface="微軟正黑體" panose="020B0604030504040204" pitchFamily="34" charset="-120"/>
                          <a:ea typeface="微軟正黑體" panose="020B0604030504040204" pitchFamily="34" charset="-120"/>
                        </a:rPr>
                        <a:t>38</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3800000000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3899999999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193905999"/>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POTR</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調料採購單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39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3900000000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3999999999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N</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035658341"/>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PSUW</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面倉委外採購單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40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紙本</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398642853"/>
                  </a:ext>
                </a:extLst>
              </a:tr>
              <a:tr h="229623">
                <a:tc>
                  <a:txBody>
                    <a:bodyPr/>
                    <a:lstStyle/>
                    <a:p>
                      <a:pPr algn="l" fontAlgn="b"/>
                      <a:r>
                        <a:rPr lang="en-US" sz="1800" b="0" i="0" u="none" strike="noStrike" dirty="0">
                          <a:solidFill>
                            <a:schemeClr val="tx1"/>
                          </a:solidFill>
                          <a:effectLst/>
                          <a:latin typeface="微軟正黑體" panose="020B0604030504040204" pitchFamily="34" charset="-120"/>
                          <a:ea typeface="微軟正黑體" panose="020B0604030504040204" pitchFamily="34" charset="-120"/>
                        </a:rPr>
                        <a:t>PSWO</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製程外包採購單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42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紙本</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427533982"/>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PSSF</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成半品委外採購單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43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4300000000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4399999999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NB</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162320674"/>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POTL</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楦頭採購單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5000000000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5099999999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431854740"/>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POTJ</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製工具採購單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5100000000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5199999999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702802407"/>
                  </a:ext>
                </a:extLst>
              </a:tr>
              <a:tr h="229623">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POTM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模具採購單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5200000000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5299999999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T3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06570796"/>
                  </a:ext>
                </a:extLst>
              </a:tr>
              <a:tr h="250984">
                <a:tc>
                  <a:txBody>
                    <a:bodyPr/>
                    <a:lstStyle/>
                    <a:p>
                      <a:pPr algn="l" fontAlgn="b"/>
                      <a:r>
                        <a:rPr lang="en-US" sz="1800" b="0" i="0" u="none" strike="noStrike">
                          <a:solidFill>
                            <a:schemeClr val="tx1"/>
                          </a:solidFill>
                          <a:effectLst/>
                          <a:latin typeface="微軟正黑體" panose="020B0604030504040204" pitchFamily="34" charset="-120"/>
                          <a:ea typeface="微軟正黑體" panose="020B0604030504040204" pitchFamily="34" charset="-120"/>
                        </a:rPr>
                        <a:t>POMA</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chemeClr val="tx1"/>
                          </a:solidFill>
                          <a:effectLst/>
                          <a:latin typeface="微軟正黑體" panose="020B0604030504040204" pitchFamily="34" charset="-120"/>
                          <a:ea typeface="微軟正黑體" panose="020B0604030504040204" pitchFamily="34" charset="-120"/>
                        </a:rPr>
                        <a:t>機器設備採購單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chemeClr val="tx1"/>
                          </a:solidFill>
                          <a:effectLst/>
                          <a:latin typeface="微軟正黑體" panose="020B0604030504040204" pitchFamily="34" charset="-120"/>
                          <a:ea typeface="微軟正黑體" panose="020B0604030504040204" pitchFamily="34" charset="-120"/>
                        </a:rPr>
                        <a:t>53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chemeClr val="tx1"/>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5300000000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5399999999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M1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4061136229"/>
                  </a:ext>
                </a:extLst>
              </a:tr>
              <a:tr h="229623">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POFA</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固定資產採購單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55</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5500000000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dirty="0">
                          <a:solidFill>
                            <a:srgbClr val="000000"/>
                          </a:solidFill>
                          <a:effectLst/>
                          <a:latin typeface="微軟正黑體" panose="020B0604030504040204" pitchFamily="34" charset="-120"/>
                          <a:ea typeface="微軟正黑體" panose="020B0604030504040204" pitchFamily="34" charset="-120"/>
                        </a:rPr>
                        <a:t>5599999999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A1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1627540061"/>
                  </a:ext>
                </a:extLst>
              </a:tr>
              <a:tr h="210950">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POX1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庶務庫存品採購單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56</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5600000000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5699999999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X1</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93372579"/>
                  </a:ext>
                </a:extLst>
              </a:tr>
              <a:tr h="210950">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POX2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費用類採購單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57</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5700000000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5799999999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X2</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3833634435"/>
                  </a:ext>
                </a:extLst>
              </a:tr>
              <a:tr h="229623">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POX3</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生質燃料採購單</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58</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5800000000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5899999999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1800" b="0" i="0" u="none" strike="noStrike" dirty="0">
                          <a:solidFill>
                            <a:srgbClr val="000000"/>
                          </a:solidFill>
                          <a:effectLst/>
                          <a:latin typeface="微軟正黑體" panose="020B0604030504040204" pitchFamily="34" charset="-120"/>
                          <a:ea typeface="微軟正黑體" panose="020B0604030504040204" pitchFamily="34" charset="-120"/>
                        </a:rPr>
                        <a:t>Y(BPM)</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842625290"/>
                  </a:ext>
                </a:extLst>
              </a:tr>
              <a:tr h="229623">
                <a:tc>
                  <a:txBody>
                    <a:bodyPr/>
                    <a:lstStyle/>
                    <a:p>
                      <a:pPr algn="l" fontAlgn="b"/>
                      <a:r>
                        <a:rPr lang="en-US" sz="1800" b="0" i="0" u="none" strike="noStrike">
                          <a:solidFill>
                            <a:srgbClr val="000000"/>
                          </a:solidFill>
                          <a:effectLst/>
                          <a:latin typeface="微軟正黑體" panose="020B0604030504040204" pitchFamily="34" charset="-120"/>
                          <a:ea typeface="微軟正黑體" panose="020B0604030504040204" pitchFamily="34" charset="-120"/>
                        </a:rPr>
                        <a:t>PCTC</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公司間交易</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10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85</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8500000000</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altLang="zh-TW" sz="1800" b="0" i="0" u="none" strike="noStrike">
                          <a:solidFill>
                            <a:srgbClr val="000000"/>
                          </a:solidFill>
                          <a:effectLst/>
                          <a:latin typeface="微軟正黑體" panose="020B0604030504040204" pitchFamily="34" charset="-120"/>
                          <a:ea typeface="微軟正黑體" panose="020B0604030504040204" pitchFamily="34" charset="-120"/>
                        </a:rPr>
                        <a:t>8599999999</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zh-TW" altLang="en-US" sz="1800" b="0" i="0" u="none" strike="noStrike" dirty="0">
                          <a:solidFill>
                            <a:srgbClr val="000000"/>
                          </a:solidFill>
                          <a:effectLst/>
                          <a:latin typeface="微軟正黑體" panose="020B0604030504040204" pitchFamily="34" charset="-120"/>
                          <a:ea typeface="微軟正黑體" panose="020B0604030504040204" pitchFamily="34" charset="-120"/>
                        </a:rPr>
                        <a:t>　</a:t>
                      </a:r>
                    </a:p>
                  </a:txBody>
                  <a:tcPr marL="7951" marR="7951" marT="795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xmlns="" val="2004788046"/>
                  </a:ext>
                </a:extLst>
              </a:tr>
            </a:tbl>
          </a:graphicData>
        </a:graphic>
      </p:graphicFrame>
    </p:spTree>
    <p:extLst>
      <p:ext uri="{BB962C8B-B14F-4D97-AF65-F5344CB8AC3E}">
        <p14:creationId xmlns:p14="http://schemas.microsoft.com/office/powerpoint/2010/main" xmlns="" val="42766827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1673018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8">
            <a:extLst>
              <a:ext uri="{FF2B5EF4-FFF2-40B4-BE49-F238E27FC236}">
                <a16:creationId xmlns:a16="http://schemas.microsoft.com/office/drawing/2014/main" xmlns="" id="{6FA1EB1C-0C56-468D-DD3A-1AFF772D5B49}"/>
              </a:ext>
            </a:extLst>
          </p:cNvPr>
          <p:cNvSpPr/>
          <p:nvPr/>
        </p:nvSpPr>
        <p:spPr bwMode="auto">
          <a:xfrm>
            <a:off x="3242505" y="2150354"/>
            <a:ext cx="1797831" cy="519585"/>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流程</a:t>
            </a:r>
          </a:p>
          <a:p>
            <a:pPr algn="ctr" eaLnBrk="0" hangingPunct="0"/>
            <a:r>
              <a:rPr lang="zh-TW" altLang="en-US" sz="1500">
                <a:latin typeface="微軟正黑體" panose="020B0604030504040204" pitchFamily="34" charset="-120"/>
                <a:ea typeface="微軟正黑體" panose="020B0604030504040204" pitchFamily="34" charset="-120"/>
              </a:rPr>
              <a:t>開始或結束點</a:t>
            </a:r>
          </a:p>
        </p:txBody>
      </p:sp>
      <p:sp>
        <p:nvSpPr>
          <p:cNvPr id="3" name="文字方塊 12">
            <a:extLst>
              <a:ext uri="{FF2B5EF4-FFF2-40B4-BE49-F238E27FC236}">
                <a16:creationId xmlns:a16="http://schemas.microsoft.com/office/drawing/2014/main" xmlns="" id="{C3ACBE9D-2638-0AA4-2866-6D3A3BDB15CB}"/>
              </a:ext>
            </a:extLst>
          </p:cNvPr>
          <p:cNvSpPr txBox="1"/>
          <p:nvPr/>
        </p:nvSpPr>
        <p:spPr>
          <a:xfrm>
            <a:off x="5511013" y="2833662"/>
            <a:ext cx="6013292" cy="1661993"/>
          </a:xfrm>
          <a:prstGeom prst="rect">
            <a:avLst/>
          </a:prstGeom>
          <a:noFill/>
          <a:ln>
            <a:noFill/>
          </a:ln>
        </p:spPr>
        <p:txBody>
          <a:bodyPr wrap="square" lIns="0" tIns="0" rIns="0" bIns="0" rtlCol="0">
            <a:spAutoFit/>
          </a:bodyPr>
          <a:lstStyle/>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上方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若本作業為系統交易請輸入該系統的交易代碼</a:t>
            </a:r>
            <a:endParaRPr lang="en-US" altLang="zh-TW" sz="1800">
              <a:solidFill>
                <a:srgbClr val="C00000"/>
              </a:solidFill>
              <a:latin typeface="微軟正黑體" panose="020B0604030504040204" pitchFamily="34" charset="-120"/>
              <a:ea typeface="微軟正黑體" panose="020B0604030504040204" pitchFamily="34" charset="-120"/>
            </a:endParaRP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中間區塊</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b="1">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動作</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作業</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系統交易 的名稱</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左下方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此處請輸入系統名稱</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若非系統交易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請留空白</a:t>
            </a:r>
          </a:p>
          <a:p>
            <a:pPr marL="257202" indent="-257202">
              <a:buFont typeface="Arial" panose="020B0604020202020204" pitchFamily="34" charset="0"/>
              <a:buChar char="•"/>
            </a:pPr>
            <a:r>
              <a:rPr lang="zh-TW" altLang="en-US" sz="1800" b="1">
                <a:solidFill>
                  <a:srgbClr val="C00000"/>
                </a:solidFill>
                <a:latin typeface="微軟正黑體" panose="020B0604030504040204" pitchFamily="34" charset="-120"/>
                <a:ea typeface="微軟正黑體" panose="020B0604030504040204" pitchFamily="34" charset="-120"/>
              </a:rPr>
              <a:t>右下方</a:t>
            </a:r>
            <a:r>
              <a:rPr lang="en-US" altLang="zh-TW" sz="1800" b="1">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 若本作業為系統交易</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有自動化程序</a:t>
            </a:r>
            <a:r>
              <a:rPr lang="en-US" altLang="zh-TW" sz="1800">
                <a:solidFill>
                  <a:srgbClr val="C00000"/>
                </a:solidFill>
                <a:latin typeface="微軟正黑體" panose="020B0604030504040204" pitchFamily="34" charset="-120"/>
                <a:ea typeface="微軟正黑體" panose="020B0604030504040204" pitchFamily="34" charset="-120"/>
              </a:rPr>
              <a:t>, </a:t>
            </a:r>
            <a:r>
              <a:rPr lang="zh-TW" altLang="en-US" sz="1800">
                <a:solidFill>
                  <a:srgbClr val="C00000"/>
                </a:solidFill>
                <a:latin typeface="微軟正黑體" panose="020B0604030504040204" pitchFamily="34" charset="-120"/>
                <a:ea typeface="微軟正黑體" panose="020B0604030504040204" pitchFamily="34" charset="-120"/>
              </a:rPr>
              <a:t>請輸入自動</a:t>
            </a:r>
          </a:p>
          <a:p>
            <a:pPr marL="257202" indent="-257202">
              <a:buFont typeface="Arial" panose="020B0604020202020204" pitchFamily="34" charset="0"/>
              <a:buChar char="•"/>
            </a:pPr>
            <a:endParaRPr lang="zh-TW" altLang="en-US" sz="1800">
              <a:solidFill>
                <a:srgbClr val="C00000"/>
              </a:solidFill>
              <a:latin typeface="微軟正黑體" panose="020B0604030504040204" pitchFamily="34" charset="-120"/>
              <a:ea typeface="微軟正黑體" panose="020B0604030504040204" pitchFamily="34" charset="-120"/>
            </a:endParaRPr>
          </a:p>
        </p:txBody>
      </p:sp>
      <p:sp>
        <p:nvSpPr>
          <p:cNvPr id="4" name="文字方塊 15">
            <a:extLst>
              <a:ext uri="{FF2B5EF4-FFF2-40B4-BE49-F238E27FC236}">
                <a16:creationId xmlns:a16="http://schemas.microsoft.com/office/drawing/2014/main" xmlns="" id="{F1992E37-FBF2-71FC-3355-A44CD54F666E}"/>
              </a:ext>
            </a:extLst>
          </p:cNvPr>
          <p:cNvSpPr txBox="1"/>
          <p:nvPr/>
        </p:nvSpPr>
        <p:spPr>
          <a:xfrm>
            <a:off x="5511009" y="2296591"/>
            <a:ext cx="338991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流程起始點或結束點</a:t>
            </a:r>
          </a:p>
        </p:txBody>
      </p:sp>
      <p:sp>
        <p:nvSpPr>
          <p:cNvPr id="7" name="文字方塊 24">
            <a:extLst>
              <a:ext uri="{FF2B5EF4-FFF2-40B4-BE49-F238E27FC236}">
                <a16:creationId xmlns:a16="http://schemas.microsoft.com/office/drawing/2014/main" xmlns="" id="{D18486DA-E03C-9AF3-9A27-7A647D6A1B82}"/>
              </a:ext>
            </a:extLst>
          </p:cNvPr>
          <p:cNvSpPr txBox="1"/>
          <p:nvPr/>
        </p:nvSpPr>
        <p:spPr>
          <a:xfrm>
            <a:off x="2548723" y="1451160"/>
            <a:ext cx="5505642" cy="507831"/>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本區域請輸入部門或是工作職掌</a:t>
            </a:r>
            <a:r>
              <a:rPr lang="en-US" altLang="zh-TW" sz="1600">
                <a:latin typeface="微軟正黑體" panose="020B0604030504040204" pitchFamily="34" charset="-120"/>
                <a:ea typeface="微軟正黑體" panose="020B0604030504040204" pitchFamily="34" charset="-120"/>
              </a:rPr>
              <a:t>. </a:t>
            </a:r>
          </a:p>
          <a:p>
            <a:r>
              <a:rPr lang="zh-TW" altLang="en-US" sz="1600">
                <a:latin typeface="微軟正黑體" panose="020B0604030504040204" pitchFamily="34" charset="-120"/>
                <a:ea typeface="微軟正黑體" panose="020B0604030504040204" pitchFamily="34" charset="-120"/>
              </a:rPr>
              <a:t>例如</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業務處 或 業務處</a:t>
            </a:r>
            <a:r>
              <a:rPr lang="en-US" altLang="zh-TW" sz="1600">
                <a:latin typeface="微軟正黑體" panose="020B0604030504040204" pitchFamily="34" charset="-120"/>
                <a:ea typeface="微軟正黑體" panose="020B0604030504040204" pitchFamily="34" charset="-120"/>
              </a:rPr>
              <a:t>/</a:t>
            </a:r>
            <a:r>
              <a:rPr lang="zh-TW" altLang="en-US" sz="1600">
                <a:latin typeface="微軟正黑體" panose="020B0604030504040204" pitchFamily="34" charset="-120"/>
                <a:ea typeface="微軟正黑體" panose="020B0604030504040204" pitchFamily="34" charset="-120"/>
              </a:rPr>
              <a:t>業務經理 或 業務人員</a:t>
            </a:r>
          </a:p>
        </p:txBody>
      </p:sp>
      <p:sp>
        <p:nvSpPr>
          <p:cNvPr id="8" name="文字方塊 25">
            <a:extLst>
              <a:ext uri="{FF2B5EF4-FFF2-40B4-BE49-F238E27FC236}">
                <a16:creationId xmlns:a16="http://schemas.microsoft.com/office/drawing/2014/main" xmlns="" id="{3582A9EB-A5A2-F0E1-F6A8-1152902964CF}"/>
              </a:ext>
            </a:extLst>
          </p:cNvPr>
          <p:cNvSpPr txBox="1"/>
          <p:nvPr/>
        </p:nvSpPr>
        <p:spPr>
          <a:xfrm>
            <a:off x="240594" y="1840650"/>
            <a:ext cx="2069194"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本區塊用來說明本流程動作所需要的資料來源</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包含前置作業流程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sp>
        <p:nvSpPr>
          <p:cNvPr id="9" name="文字方塊 26">
            <a:extLst>
              <a:ext uri="{FF2B5EF4-FFF2-40B4-BE49-F238E27FC236}">
                <a16:creationId xmlns:a16="http://schemas.microsoft.com/office/drawing/2014/main" xmlns="" id="{56CB2E28-F31D-1D89-A5FB-F878E9724B60}"/>
              </a:ext>
            </a:extLst>
          </p:cNvPr>
          <p:cNvSpPr txBox="1"/>
          <p:nvPr/>
        </p:nvSpPr>
        <p:spPr>
          <a:xfrm>
            <a:off x="12055646" y="1856148"/>
            <a:ext cx="2086520"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本區塊用來說明本流程動作所會產出的結果</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包含後續作業流程</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文件等</a:t>
            </a:r>
          </a:p>
        </p:txBody>
      </p:sp>
      <p:graphicFrame>
        <p:nvGraphicFramePr>
          <p:cNvPr id="10" name="表格 30">
            <a:extLst>
              <a:ext uri="{FF2B5EF4-FFF2-40B4-BE49-F238E27FC236}">
                <a16:creationId xmlns:a16="http://schemas.microsoft.com/office/drawing/2014/main" xmlns="" id="{94474DA2-C417-6AE7-95EE-50C9649AB985}"/>
              </a:ext>
            </a:extLst>
          </p:cNvPr>
          <p:cNvGraphicFramePr>
            <a:graphicFrameLocks noGrp="1"/>
          </p:cNvGraphicFramePr>
          <p:nvPr/>
        </p:nvGraphicFramePr>
        <p:xfrm>
          <a:off x="3242505" y="3002420"/>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sp>
        <p:nvSpPr>
          <p:cNvPr id="11" name="流程圖: 預設處理作業 21">
            <a:extLst>
              <a:ext uri="{FF2B5EF4-FFF2-40B4-BE49-F238E27FC236}">
                <a16:creationId xmlns:a16="http://schemas.microsoft.com/office/drawing/2014/main" xmlns="" id="{6AB8729A-A396-2BA6-E6B9-1B2A79082818}"/>
              </a:ext>
            </a:extLst>
          </p:cNvPr>
          <p:cNvSpPr/>
          <p:nvPr/>
        </p:nvSpPr>
        <p:spPr bwMode="auto">
          <a:xfrm>
            <a:off x="3242509" y="4808819"/>
            <a:ext cx="1813112" cy="1238400"/>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a:latin typeface="微軟正黑體" panose="020B0604030504040204" pitchFamily="34" charset="-120"/>
                <a:ea typeface="微軟正黑體" panose="020B0604030504040204" pitchFamily="34" charset="-120"/>
              </a:rPr>
              <a:t>XXX-001-02</a:t>
            </a:r>
          </a:p>
          <a:p>
            <a:pPr algn="ctr" eaLnBrk="0" hangingPunct="0"/>
            <a:r>
              <a:rPr lang="en-US" altLang="zh-TW" sz="1500">
                <a:latin typeface="微軟正黑體" panose="020B0604030504040204" pitchFamily="34" charset="-120"/>
                <a:ea typeface="微軟正黑體" panose="020B0604030504040204" pitchFamily="34" charset="-120"/>
              </a:rPr>
              <a:t>XXX</a:t>
            </a:r>
            <a:r>
              <a:rPr lang="zh-TW" altLang="en-US" sz="1500">
                <a:latin typeface="微軟正黑體" panose="020B0604030504040204" pitchFamily="34" charset="-120"/>
                <a:ea typeface="微軟正黑體" panose="020B0604030504040204" pitchFamily="34" charset="-120"/>
              </a:rPr>
              <a:t>作業流程</a:t>
            </a:r>
          </a:p>
        </p:txBody>
      </p:sp>
      <p:sp>
        <p:nvSpPr>
          <p:cNvPr id="12" name="流程圖: 文件 42">
            <a:extLst>
              <a:ext uri="{FF2B5EF4-FFF2-40B4-BE49-F238E27FC236}">
                <a16:creationId xmlns:a16="http://schemas.microsoft.com/office/drawing/2014/main" xmlns="" id="{91F9B27C-7F80-2BDA-7707-DDBD4E112805}"/>
              </a:ext>
            </a:extLst>
          </p:cNvPr>
          <p:cNvSpPr/>
          <p:nvPr/>
        </p:nvSpPr>
        <p:spPr bwMode="auto">
          <a:xfrm>
            <a:off x="3242505" y="6336001"/>
            <a:ext cx="1841949" cy="1238400"/>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產出或投入</a:t>
            </a:r>
          </a:p>
          <a:p>
            <a:pPr algn="ctr" eaLnBrk="0" hangingPunct="0"/>
            <a:r>
              <a:rPr lang="zh-TW" altLang="en-US" sz="1500">
                <a:latin typeface="微軟正黑體" panose="020B0604030504040204" pitchFamily="34" charset="-120"/>
                <a:ea typeface="微軟正黑體" panose="020B0604030504040204" pitchFamily="34" charset="-120"/>
              </a:rPr>
              <a:t>文件</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報表</a:t>
            </a:r>
            <a:r>
              <a:rPr lang="en-US" altLang="zh-TW" sz="1500">
                <a:latin typeface="微軟正黑體" panose="020B0604030504040204" pitchFamily="34" charset="-120"/>
                <a:ea typeface="微軟正黑體" panose="020B0604030504040204" pitchFamily="34" charset="-120"/>
              </a:rPr>
              <a:t>/</a:t>
            </a:r>
            <a:r>
              <a:rPr lang="zh-TW" altLang="en-US" sz="1500">
                <a:latin typeface="微軟正黑體" panose="020B0604030504040204" pitchFamily="34" charset="-120"/>
                <a:ea typeface="微軟正黑體" panose="020B0604030504040204" pitchFamily="34" charset="-120"/>
              </a:rPr>
              <a:t>表單</a:t>
            </a:r>
          </a:p>
        </p:txBody>
      </p:sp>
      <p:sp>
        <p:nvSpPr>
          <p:cNvPr id="13" name="文字方塊 46">
            <a:extLst>
              <a:ext uri="{FF2B5EF4-FFF2-40B4-BE49-F238E27FC236}">
                <a16:creationId xmlns:a16="http://schemas.microsoft.com/office/drawing/2014/main" xmlns="" id="{8E21E1D9-DCFA-D067-33E8-546CC2C7A8A1}"/>
              </a:ext>
            </a:extLst>
          </p:cNvPr>
          <p:cNvSpPr txBox="1"/>
          <p:nvPr/>
        </p:nvSpPr>
        <p:spPr>
          <a:xfrm>
            <a:off x="5568741" y="5289520"/>
            <a:ext cx="4104456"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於本流程中有關聯的流程編號與名稱</a:t>
            </a:r>
          </a:p>
        </p:txBody>
      </p:sp>
      <p:sp>
        <p:nvSpPr>
          <p:cNvPr id="14" name="文字方塊 47">
            <a:extLst>
              <a:ext uri="{FF2B5EF4-FFF2-40B4-BE49-F238E27FC236}">
                <a16:creationId xmlns:a16="http://schemas.microsoft.com/office/drawing/2014/main" xmlns="" id="{5B7CE1DA-2D6E-F4C0-11C8-08795CA4563E}"/>
              </a:ext>
            </a:extLst>
          </p:cNvPr>
          <p:cNvSpPr txBox="1"/>
          <p:nvPr/>
        </p:nvSpPr>
        <p:spPr>
          <a:xfrm>
            <a:off x="5568743" y="6418310"/>
            <a:ext cx="5313821"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於本流程中投入或是產出的文件</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報表</a:t>
            </a:r>
            <a:r>
              <a:rPr lang="en-US" altLang="zh-TW" sz="1800">
                <a:solidFill>
                  <a:srgbClr val="C00000"/>
                </a:solidFill>
                <a:latin typeface="微軟正黑體" panose="020B0604030504040204" pitchFamily="34" charset="-120"/>
                <a:ea typeface="微軟正黑體" panose="020B0604030504040204" pitchFamily="34" charset="-120"/>
              </a:rPr>
              <a:t>/</a:t>
            </a:r>
            <a:r>
              <a:rPr lang="zh-TW" altLang="en-US" sz="1800">
                <a:solidFill>
                  <a:srgbClr val="C00000"/>
                </a:solidFill>
                <a:latin typeface="微軟正黑體" panose="020B0604030504040204" pitchFamily="34" charset="-120"/>
                <a:ea typeface="微軟正黑體" panose="020B0604030504040204" pitchFamily="34" charset="-120"/>
              </a:rPr>
              <a:t>表單名稱</a:t>
            </a:r>
          </a:p>
        </p:txBody>
      </p:sp>
      <p:sp>
        <p:nvSpPr>
          <p:cNvPr id="15" name="流程圖: 決策 50">
            <a:extLst>
              <a:ext uri="{FF2B5EF4-FFF2-40B4-BE49-F238E27FC236}">
                <a16:creationId xmlns:a16="http://schemas.microsoft.com/office/drawing/2014/main" xmlns="" id="{845AA0C2-CB36-2792-A054-5B69382FBD2D}"/>
              </a:ext>
            </a:extLst>
          </p:cNvPr>
          <p:cNvSpPr/>
          <p:nvPr/>
        </p:nvSpPr>
        <p:spPr bwMode="auto">
          <a:xfrm>
            <a:off x="7393953" y="7226480"/>
            <a:ext cx="1841949" cy="117794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a:latin typeface="微軟正黑體" panose="020B0604030504040204" pitchFamily="34" charset="-120"/>
                <a:ea typeface="微軟正黑體" panose="020B0604030504040204" pitchFamily="34" charset="-120"/>
              </a:rPr>
              <a:t>決策或判斷點</a:t>
            </a:r>
          </a:p>
        </p:txBody>
      </p:sp>
      <p:sp>
        <p:nvSpPr>
          <p:cNvPr id="16" name="流程圖: 接點 51">
            <a:extLst>
              <a:ext uri="{FF2B5EF4-FFF2-40B4-BE49-F238E27FC236}">
                <a16:creationId xmlns:a16="http://schemas.microsoft.com/office/drawing/2014/main" xmlns="" id="{1E4DE6F3-3BB0-2B05-BD87-45921D4C3C01}"/>
              </a:ext>
            </a:extLst>
          </p:cNvPr>
          <p:cNvSpPr/>
          <p:nvPr/>
        </p:nvSpPr>
        <p:spPr bwMode="auto">
          <a:xfrm>
            <a:off x="7989971" y="8646043"/>
            <a:ext cx="545345" cy="467303"/>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A</a:t>
            </a:r>
            <a:endParaRPr lang="zh-TW" altLang="en-US" sz="1800">
              <a:latin typeface="微軟正黑體" panose="020B0604030504040204" pitchFamily="34" charset="-120"/>
              <a:ea typeface="微軟正黑體" panose="020B0604030504040204" pitchFamily="34" charset="-120"/>
            </a:endParaRPr>
          </a:p>
        </p:txBody>
      </p:sp>
      <p:sp>
        <p:nvSpPr>
          <p:cNvPr id="17" name="流程圖: 換頁接點 52">
            <a:extLst>
              <a:ext uri="{FF2B5EF4-FFF2-40B4-BE49-F238E27FC236}">
                <a16:creationId xmlns:a16="http://schemas.microsoft.com/office/drawing/2014/main" xmlns="" id="{AC58EE03-29AB-852C-B954-3F203C7F24CB}"/>
              </a:ext>
            </a:extLst>
          </p:cNvPr>
          <p:cNvSpPr/>
          <p:nvPr/>
        </p:nvSpPr>
        <p:spPr bwMode="auto">
          <a:xfrm>
            <a:off x="8002556" y="9410574"/>
            <a:ext cx="560627" cy="467303"/>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800">
                <a:latin typeface="微軟正黑體" panose="020B0604030504040204" pitchFamily="34" charset="-120"/>
                <a:ea typeface="微軟正黑體" panose="020B0604030504040204" pitchFamily="34" charset="-120"/>
              </a:rPr>
              <a:t>P2</a:t>
            </a:r>
            <a:endParaRPr lang="zh-TW" altLang="en-US" sz="1800">
              <a:latin typeface="微軟正黑體" panose="020B0604030504040204" pitchFamily="34" charset="-120"/>
              <a:ea typeface="微軟正黑體" panose="020B0604030504040204" pitchFamily="34" charset="-120"/>
            </a:endParaRPr>
          </a:p>
        </p:txBody>
      </p:sp>
      <p:sp>
        <p:nvSpPr>
          <p:cNvPr id="18" name="文字方塊 53">
            <a:extLst>
              <a:ext uri="{FF2B5EF4-FFF2-40B4-BE49-F238E27FC236}">
                <a16:creationId xmlns:a16="http://schemas.microsoft.com/office/drawing/2014/main" xmlns="" id="{3456038A-55BE-0A34-609A-F6B4AC23D1F1}"/>
              </a:ext>
            </a:extLst>
          </p:cNvPr>
          <p:cNvSpPr txBox="1"/>
          <p:nvPr/>
        </p:nvSpPr>
        <p:spPr>
          <a:xfrm>
            <a:off x="9526622" y="7716344"/>
            <a:ext cx="1856630"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決策或是判斷點</a:t>
            </a:r>
          </a:p>
        </p:txBody>
      </p:sp>
      <p:sp>
        <p:nvSpPr>
          <p:cNvPr id="19" name="文字方塊 54">
            <a:extLst>
              <a:ext uri="{FF2B5EF4-FFF2-40B4-BE49-F238E27FC236}">
                <a16:creationId xmlns:a16="http://schemas.microsoft.com/office/drawing/2014/main" xmlns="" id="{517E2A64-47A3-A953-7789-D0C0B645C2F1}"/>
              </a:ext>
            </a:extLst>
          </p:cNvPr>
          <p:cNvSpPr txBox="1"/>
          <p:nvPr/>
        </p:nvSpPr>
        <p:spPr>
          <a:xfrm>
            <a:off x="9571162" y="8696687"/>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同一頁面上的連結點</a:t>
            </a:r>
          </a:p>
        </p:txBody>
      </p:sp>
      <p:sp>
        <p:nvSpPr>
          <p:cNvPr id="20" name="文字方塊 55">
            <a:extLst>
              <a:ext uri="{FF2B5EF4-FFF2-40B4-BE49-F238E27FC236}">
                <a16:creationId xmlns:a16="http://schemas.microsoft.com/office/drawing/2014/main" xmlns="" id="{938B72A0-C4AB-D17D-D8C7-F599440CF29D}"/>
              </a:ext>
            </a:extLst>
          </p:cNvPr>
          <p:cNvSpPr txBox="1"/>
          <p:nvPr/>
        </p:nvSpPr>
        <p:spPr>
          <a:xfrm>
            <a:off x="9571162" y="9410572"/>
            <a:ext cx="2068019" cy="276999"/>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換頁之連接點</a:t>
            </a:r>
          </a:p>
        </p:txBody>
      </p:sp>
      <p:sp>
        <p:nvSpPr>
          <p:cNvPr id="21" name="文字方塊 21">
            <a:extLst>
              <a:ext uri="{FF2B5EF4-FFF2-40B4-BE49-F238E27FC236}">
                <a16:creationId xmlns:a16="http://schemas.microsoft.com/office/drawing/2014/main" xmlns="" id="{1F153670-BE85-306D-6126-9994ACD9935F}"/>
              </a:ext>
            </a:extLst>
          </p:cNvPr>
          <p:cNvSpPr txBox="1"/>
          <p:nvPr/>
        </p:nvSpPr>
        <p:spPr>
          <a:xfrm>
            <a:off x="16660678" y="226579"/>
            <a:ext cx="1392048" cy="984885"/>
          </a:xfrm>
          <a:prstGeom prst="rect">
            <a:avLst/>
          </a:prstGeom>
          <a:solidFill>
            <a:srgbClr val="FFC000"/>
          </a:solidFill>
          <a:ln>
            <a:noFill/>
          </a:ln>
        </p:spPr>
        <p:txBody>
          <a:bodyPr wrap="square" lIns="0" tIns="0" rIns="0" bIns="0" rtlCol="0">
            <a:spAutoFit/>
          </a:bodyPr>
          <a:lstStyle/>
          <a:p>
            <a:r>
              <a:rPr lang="zh-TW" altLang="en-US" sz="1600">
                <a:latin typeface="微軟正黑體" panose="020B0604030504040204" pitchFamily="34" charset="-120"/>
                <a:ea typeface="微軟正黑體" panose="020B0604030504040204" pitchFamily="34" charset="-120"/>
              </a:rPr>
              <a:t>本區塊之頁次</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日期會自動更新</a:t>
            </a:r>
            <a:r>
              <a:rPr lang="en-US" altLang="zh-TW" sz="1600">
                <a:latin typeface="微軟正黑體" panose="020B0604030504040204" pitchFamily="34" charset="-120"/>
                <a:ea typeface="微軟正黑體" panose="020B0604030504040204" pitchFamily="34" charset="-120"/>
              </a:rPr>
              <a:t>. </a:t>
            </a:r>
            <a:r>
              <a:rPr lang="zh-TW" altLang="en-US" sz="1600">
                <a:latin typeface="微軟正黑體" panose="020B0604030504040204" pitchFamily="34" charset="-120"/>
                <a:ea typeface="微軟正黑體" panose="020B0604030504040204" pitchFamily="34" charset="-120"/>
              </a:rPr>
              <a:t>日期為最後一次更新日</a:t>
            </a:r>
          </a:p>
        </p:txBody>
      </p:sp>
      <p:sp>
        <p:nvSpPr>
          <p:cNvPr id="30" name="文字方塊 53">
            <a:extLst>
              <a:ext uri="{FF2B5EF4-FFF2-40B4-BE49-F238E27FC236}">
                <a16:creationId xmlns:a16="http://schemas.microsoft.com/office/drawing/2014/main" xmlns="" id="{7EE68195-4036-2753-C702-EBF7E6CFA458}"/>
              </a:ext>
            </a:extLst>
          </p:cNvPr>
          <p:cNvSpPr txBox="1"/>
          <p:nvPr/>
        </p:nvSpPr>
        <p:spPr>
          <a:xfrm>
            <a:off x="5545788" y="8023216"/>
            <a:ext cx="1557447" cy="553998"/>
          </a:xfrm>
          <a:prstGeom prst="rect">
            <a:avLst/>
          </a:prstGeom>
          <a:noFill/>
          <a:ln>
            <a:noFill/>
          </a:ln>
        </p:spPr>
        <p:txBody>
          <a:bodyPr wrap="square" lIns="0" tIns="0" rIns="0" bIns="0" rtlCol="0">
            <a:spAutoFit/>
          </a:bodyPr>
          <a:lstStyle/>
          <a:p>
            <a:r>
              <a:rPr lang="zh-TW" altLang="en-US" sz="1800">
                <a:solidFill>
                  <a:srgbClr val="C00000"/>
                </a:solidFill>
                <a:latin typeface="微軟正黑體" panose="020B0604030504040204" pitchFamily="34" charset="-120"/>
                <a:ea typeface="微軟正黑體" panose="020B0604030504040204" pitchFamily="34" charset="-120"/>
              </a:rPr>
              <a:t>說明號碼，位於右上角</a:t>
            </a:r>
          </a:p>
        </p:txBody>
      </p:sp>
      <p:graphicFrame>
        <p:nvGraphicFramePr>
          <p:cNvPr id="31" name="表格 30">
            <a:extLst>
              <a:ext uri="{FF2B5EF4-FFF2-40B4-BE49-F238E27FC236}">
                <a16:creationId xmlns:a16="http://schemas.microsoft.com/office/drawing/2014/main" xmlns="" id="{22A069D3-CB36-DA21-0023-3C294211F2A1}"/>
              </a:ext>
            </a:extLst>
          </p:cNvPr>
          <p:cNvGraphicFramePr>
            <a:graphicFrameLocks noGrp="1"/>
          </p:cNvGraphicFramePr>
          <p:nvPr/>
        </p:nvGraphicFramePr>
        <p:xfrm>
          <a:off x="3242505" y="8119564"/>
          <a:ext cx="1797832" cy="1238400"/>
        </p:xfrm>
        <a:graphic>
          <a:graphicData uri="http://schemas.openxmlformats.org/drawingml/2006/table">
            <a:tbl>
              <a:tblPr>
                <a:tableStyleId>{5940675A-B579-460E-94D1-54222C63F5DA}</a:tableStyleId>
              </a:tblPr>
              <a:tblGrid>
                <a:gridCol w="898916">
                  <a:extLst>
                    <a:ext uri="{9D8B030D-6E8A-4147-A177-3AD203B41FA5}">
                      <a16:colId xmlns:a16="http://schemas.microsoft.com/office/drawing/2014/main" xmlns="" val="3433979995"/>
                    </a:ext>
                  </a:extLst>
                </a:gridCol>
                <a:gridCol w="898916">
                  <a:extLst>
                    <a:ext uri="{9D8B030D-6E8A-4147-A177-3AD203B41FA5}">
                      <a16:colId xmlns:a16="http://schemas.microsoft.com/office/drawing/2014/main" xmlns="" val="3727974752"/>
                    </a:ext>
                  </a:extLst>
                </a:gridCol>
              </a:tblGrid>
              <a:tr h="336600">
                <a:tc gridSpan="2">
                  <a:txBody>
                    <a:bodyPr/>
                    <a:lstStyle/>
                    <a:p>
                      <a:pPr algn="ctr"/>
                      <a:r>
                        <a:rPr lang="en-US" altLang="zh-TW" sz="1500"/>
                        <a:t>BP</a:t>
                      </a:r>
                      <a:endParaRPr lang="en-GB" sz="1500" b="1">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3125084632"/>
                  </a:ext>
                </a:extLst>
              </a:tr>
              <a:tr h="565200">
                <a:tc gridSpan="2">
                  <a:txBody>
                    <a:bodyPr/>
                    <a:lstStyle/>
                    <a:p>
                      <a:pPr algn="ctr"/>
                      <a:r>
                        <a:rPr lang="zh-TW" altLang="en-US" sz="1500"/>
                        <a:t>交易名稱</a:t>
                      </a:r>
                      <a:endParaRPr lang="en-US" altLang="zh-TW" sz="1500"/>
                    </a:p>
                    <a:p>
                      <a:pPr algn="ctr"/>
                      <a:r>
                        <a:rPr lang="zh-TW" altLang="en-US" sz="1500"/>
                        <a:t>作業</a:t>
                      </a:r>
                      <a:r>
                        <a:rPr lang="en-US" altLang="zh-TW" sz="1500"/>
                        <a:t>/</a:t>
                      </a:r>
                      <a:r>
                        <a:rPr lang="zh-TW" altLang="en-US" sz="1500"/>
                        <a:t>動作</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a:p>
                  </a:txBody>
                  <a:tcPr/>
                </a:tc>
                <a:extLst>
                  <a:ext uri="{0D108BD9-81ED-4DB2-BD59-A6C34878D82A}">
                    <a16:rowId xmlns:a16="http://schemas.microsoft.com/office/drawing/2014/main" xmlns="" val="1006350340"/>
                  </a:ext>
                </a:extLst>
              </a:tr>
              <a:tr h="336600">
                <a:tc>
                  <a:txBody>
                    <a:bodyPr/>
                    <a:lstStyle/>
                    <a:p>
                      <a:pPr algn="ctr"/>
                      <a:r>
                        <a:rPr lang="en-US" sz="1500"/>
                        <a:t>SAP</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a:t>自動</a:t>
                      </a:r>
                      <a:endParaRPr lang="en-GB" sz="1500">
                        <a:latin typeface="微軟正黑體" panose="020B0604030504040204" pitchFamily="34" charset="-120"/>
                        <a:ea typeface="微軟正黑體" panose="020B0604030504040204" pitchFamily="34" charset="-120"/>
                      </a:endParaRPr>
                    </a:p>
                  </a:txBody>
                  <a:tcPr marL="54000" marR="54000" marT="54000" marB="5400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2053335046"/>
                  </a:ext>
                </a:extLst>
              </a:tr>
            </a:tbl>
          </a:graphicData>
        </a:graphic>
      </p:graphicFrame>
      <p:grpSp>
        <p:nvGrpSpPr>
          <p:cNvPr id="27" name="Group 232">
            <a:extLst>
              <a:ext uri="{FF2B5EF4-FFF2-40B4-BE49-F238E27FC236}">
                <a16:creationId xmlns:a16="http://schemas.microsoft.com/office/drawing/2014/main" xmlns="" id="{34DCA6AC-E460-4F91-E17A-E4D1D9383A32}"/>
              </a:ext>
            </a:extLst>
          </p:cNvPr>
          <p:cNvGrpSpPr/>
          <p:nvPr/>
        </p:nvGrpSpPr>
        <p:grpSpPr>
          <a:xfrm>
            <a:off x="4888172" y="7911842"/>
            <a:ext cx="557700" cy="408542"/>
            <a:chOff x="5906472" y="1486857"/>
            <a:chExt cx="371800" cy="272361"/>
          </a:xfrm>
        </p:grpSpPr>
        <p:sp>
          <p:nvSpPr>
            <p:cNvPr id="28" name="Oval 233">
              <a:extLst>
                <a:ext uri="{FF2B5EF4-FFF2-40B4-BE49-F238E27FC236}">
                  <a16:creationId xmlns:a16="http://schemas.microsoft.com/office/drawing/2014/main" xmlns="" id="{1D00AAC5-112F-5543-0045-71081BC39687}"/>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sz="4050"/>
            </a:p>
          </p:txBody>
        </p:sp>
        <p:sp>
          <p:nvSpPr>
            <p:cNvPr id="29" name="TextBox 234">
              <a:extLst>
                <a:ext uri="{FF2B5EF4-FFF2-40B4-BE49-F238E27FC236}">
                  <a16:creationId xmlns:a16="http://schemas.microsoft.com/office/drawing/2014/main" xmlns="" id="{DBDC368A-8CA7-E876-12C5-B3B6A71623C0}"/>
                </a:ext>
              </a:extLst>
            </p:cNvPr>
            <p:cNvSpPr txBox="1"/>
            <p:nvPr/>
          </p:nvSpPr>
          <p:spPr>
            <a:xfrm>
              <a:off x="5922672" y="1499926"/>
              <a:ext cx="355600" cy="215443"/>
            </a:xfrm>
            <a:prstGeom prst="rect">
              <a:avLst/>
            </a:prstGeom>
            <a:noFill/>
          </p:spPr>
          <p:txBody>
            <a:bodyPr wrap="square" rtlCol="0">
              <a:spAutoFit/>
            </a:bodyPr>
            <a:lstStyle/>
            <a:p>
              <a:r>
                <a:rPr lang="en-US" altLang="zh-TW" sz="1500">
                  <a:latin typeface="微軟正黑體" panose="020B0604030504040204" pitchFamily="34" charset="-120"/>
                  <a:ea typeface="微軟正黑體" panose="020B0604030504040204" pitchFamily="34" charset="-120"/>
                </a:rPr>
                <a:t>1</a:t>
              </a:r>
              <a:endParaRPr lang="zh-TW" altLang="en-US" sz="1500">
                <a:latin typeface="微軟正黑體" panose="020B0604030504040204" pitchFamily="34" charset="-120"/>
                <a:ea typeface="微軟正黑體" panose="020B0604030504040204" pitchFamily="34" charset="-120"/>
              </a:endParaRPr>
            </a:p>
          </p:txBody>
        </p:sp>
      </p:grpSp>
      <p:grpSp>
        <p:nvGrpSpPr>
          <p:cNvPr id="5" name="Group 4">
            <a:extLst>
              <a:ext uri="{FF2B5EF4-FFF2-40B4-BE49-F238E27FC236}">
                <a16:creationId xmlns:a16="http://schemas.microsoft.com/office/drawing/2014/main" xmlns="" id="{C1E1D283-1843-CF62-4209-C268980982AA}"/>
              </a:ext>
            </a:extLst>
          </p:cNvPr>
          <p:cNvGrpSpPr/>
          <p:nvPr/>
        </p:nvGrpSpPr>
        <p:grpSpPr>
          <a:xfrm>
            <a:off x="10685297" y="835773"/>
            <a:ext cx="3401998" cy="423412"/>
            <a:chOff x="10685297" y="851013"/>
            <a:chExt cx="3401998" cy="423412"/>
          </a:xfrm>
        </p:grpSpPr>
        <p:grpSp>
          <p:nvGrpSpPr>
            <p:cNvPr id="25" name="Group 24">
              <a:extLst>
                <a:ext uri="{FF2B5EF4-FFF2-40B4-BE49-F238E27FC236}">
                  <a16:creationId xmlns:a16="http://schemas.microsoft.com/office/drawing/2014/main" xmlns="" id="{5A9886C6-C17B-051D-323D-045D45D51D03}"/>
                </a:ext>
              </a:extLst>
            </p:cNvPr>
            <p:cNvGrpSpPr/>
            <p:nvPr/>
          </p:nvGrpSpPr>
          <p:grpSpPr>
            <a:xfrm>
              <a:off x="10685297" y="851013"/>
              <a:ext cx="1291656" cy="423194"/>
              <a:chOff x="7091257" y="609842"/>
              <a:chExt cx="861104" cy="282129"/>
            </a:xfrm>
          </p:grpSpPr>
          <p:sp>
            <p:nvSpPr>
              <p:cNvPr id="35" name="文字方塊 21">
                <a:extLst>
                  <a:ext uri="{FF2B5EF4-FFF2-40B4-BE49-F238E27FC236}">
                    <a16:creationId xmlns:a16="http://schemas.microsoft.com/office/drawing/2014/main" xmlns="" id="{432DD89F-2DAD-3A56-1346-B1AF7181E7DD}"/>
                  </a:ext>
                </a:extLst>
              </p:cNvPr>
              <p:cNvSpPr txBox="1"/>
              <p:nvPr/>
            </p:nvSpPr>
            <p:spPr>
              <a:xfrm>
                <a:off x="7091257" y="609842"/>
                <a:ext cx="283411" cy="276998"/>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sp>
            <p:nvSpPr>
              <p:cNvPr id="36" name="文字方塊 22">
                <a:extLst>
                  <a:ext uri="{FF2B5EF4-FFF2-40B4-BE49-F238E27FC236}">
                    <a16:creationId xmlns:a16="http://schemas.microsoft.com/office/drawing/2014/main" xmlns="" id="{C6804075-CD1F-688A-16E7-A5FA26AA9965}"/>
                  </a:ext>
                </a:extLst>
              </p:cNvPr>
              <p:cNvSpPr txBox="1"/>
              <p:nvPr/>
            </p:nvSpPr>
            <p:spPr>
              <a:xfrm>
                <a:off x="7316290" y="625231"/>
                <a:ext cx="636071"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新流程</a:t>
                </a:r>
              </a:p>
            </p:txBody>
          </p:sp>
        </p:grpSp>
        <p:grpSp>
          <p:nvGrpSpPr>
            <p:cNvPr id="32" name="Group 31">
              <a:extLst>
                <a:ext uri="{FF2B5EF4-FFF2-40B4-BE49-F238E27FC236}">
                  <a16:creationId xmlns:a16="http://schemas.microsoft.com/office/drawing/2014/main" xmlns="" id="{9C909DE7-364E-C051-81B7-A9B0395CA373}"/>
                </a:ext>
              </a:extLst>
            </p:cNvPr>
            <p:cNvGrpSpPr/>
            <p:nvPr/>
          </p:nvGrpSpPr>
          <p:grpSpPr>
            <a:xfrm>
              <a:off x="11993820" y="858926"/>
              <a:ext cx="2093475" cy="415499"/>
              <a:chOff x="8168002" y="615119"/>
              <a:chExt cx="1395650" cy="276999"/>
            </a:xfrm>
          </p:grpSpPr>
          <p:sp>
            <p:nvSpPr>
              <p:cNvPr id="33" name="文字方塊 23">
                <a:extLst>
                  <a:ext uri="{FF2B5EF4-FFF2-40B4-BE49-F238E27FC236}">
                    <a16:creationId xmlns:a16="http://schemas.microsoft.com/office/drawing/2014/main" xmlns="" id="{B4233160-88DF-D04A-FED9-08D0065AAB4F}"/>
                  </a:ext>
                </a:extLst>
              </p:cNvPr>
              <p:cNvSpPr txBox="1"/>
              <p:nvPr/>
            </p:nvSpPr>
            <p:spPr>
              <a:xfrm>
                <a:off x="8414619" y="625231"/>
                <a:ext cx="1149033" cy="266740"/>
              </a:xfrm>
              <a:prstGeom prst="rect">
                <a:avLst/>
              </a:prstGeom>
              <a:noFill/>
            </p:spPr>
            <p:txBody>
              <a:bodyPr wrap="none" rtlCol="0">
                <a:spAutoFit/>
              </a:bodyPr>
              <a:lstStyle/>
              <a:p>
                <a:r>
                  <a:rPr lang="zh-TW" altLang="en-US" sz="2000">
                    <a:latin typeface="Microsoft JhengHei" panose="020B0604030504040204" pitchFamily="34" charset="-120"/>
                    <a:ea typeface="Microsoft JhengHei" panose="020B0604030504040204" pitchFamily="34" charset="-120"/>
                  </a:rPr>
                  <a:t>權責單位改變</a:t>
                </a:r>
              </a:p>
            </p:txBody>
          </p:sp>
          <p:sp>
            <p:nvSpPr>
              <p:cNvPr id="34" name="文字方塊 21">
                <a:extLst>
                  <a:ext uri="{FF2B5EF4-FFF2-40B4-BE49-F238E27FC236}">
                    <a16:creationId xmlns:a16="http://schemas.microsoft.com/office/drawing/2014/main" xmlns="" id="{2E1125B2-CD41-1A49-12C1-2EB4AF0DAA7F}"/>
                  </a:ext>
                </a:extLst>
              </p:cNvPr>
              <p:cNvSpPr txBox="1"/>
              <p:nvPr/>
            </p:nvSpPr>
            <p:spPr>
              <a:xfrm>
                <a:off x="8168002" y="615119"/>
                <a:ext cx="283411" cy="276999"/>
              </a:xfrm>
              <a:prstGeom prst="rect">
                <a:avLst/>
              </a:prstGeom>
              <a:noFill/>
            </p:spPr>
            <p:txBody>
              <a:bodyPr wrap="none" rtlCol="0">
                <a:spAutoFit/>
              </a:bodyPr>
              <a:lstStyle/>
              <a:p>
                <a:r>
                  <a:rPr lang="zh-TW" altLang="en-US" sz="2100">
                    <a:latin typeface="Microsoft JhengHei" panose="020B0604030504040204" pitchFamily="34" charset="-120"/>
                    <a:ea typeface="Microsoft JhengHei" panose="020B0604030504040204" pitchFamily="34" charset="-120"/>
                    <a:sym typeface="Wingdings" panose="05000000000000000000" pitchFamily="2" charset="2"/>
                  </a:rPr>
                  <a:t></a:t>
                </a:r>
                <a:endParaRPr lang="zh-TW" altLang="en-US" sz="2100">
                  <a:latin typeface="Microsoft JhengHei" panose="020B0604030504040204" pitchFamily="34" charset="-120"/>
                  <a:ea typeface="Microsoft JhengHei" panose="020B0604030504040204" pitchFamily="34" charset="-120"/>
                </a:endParaRPr>
              </a:p>
            </p:txBody>
          </p:sp>
        </p:grpSp>
      </p:grpSp>
      <p:sp>
        <p:nvSpPr>
          <p:cNvPr id="37" name="TextBox 36">
            <a:extLst>
              <a:ext uri="{FF2B5EF4-FFF2-40B4-BE49-F238E27FC236}">
                <a16:creationId xmlns:a16="http://schemas.microsoft.com/office/drawing/2014/main" xmlns="" id="{D272B6E5-7242-B301-AF12-5963B687CE8C}"/>
              </a:ext>
            </a:extLst>
          </p:cNvPr>
          <p:cNvSpPr txBox="1"/>
          <p:nvPr/>
        </p:nvSpPr>
        <p:spPr>
          <a:xfrm>
            <a:off x="2521976" y="811465"/>
            <a:ext cx="8244896" cy="461665"/>
          </a:xfrm>
          <a:prstGeom prst="rect">
            <a:avLst/>
          </a:prstGeom>
          <a:solidFill>
            <a:srgbClr val="FFC000"/>
          </a:solidFill>
        </p:spPr>
        <p:txBody>
          <a:bodyPr wrap="square" rtlCol="0">
            <a:spAutoFit/>
          </a:bodyPr>
          <a:lstStyle/>
          <a:p>
            <a:r>
              <a:rPr lang="zh-TW" altLang="en-US" sz="2400" b="1" dirty="0">
                <a:latin typeface="Microsoft JhengHei" panose="020B0604030504040204" pitchFamily="34" charset="-120"/>
                <a:ea typeface="Microsoft JhengHei" panose="020B0604030504040204" pitchFamily="34" charset="-120"/>
              </a:rPr>
              <a:t>本區域請輸入”流程編碼”與 “流程名稱”</a:t>
            </a:r>
          </a:p>
        </p:txBody>
      </p:sp>
    </p:spTree>
    <p:extLst>
      <p:ext uri="{BB962C8B-B14F-4D97-AF65-F5344CB8AC3E}">
        <p14:creationId xmlns:p14="http://schemas.microsoft.com/office/powerpoint/2010/main" xmlns="" val="172713427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15955</TotalTime>
  <Words>1486</Words>
  <Application>Microsoft Office PowerPoint</Application>
  <PresentationFormat>自訂</PresentationFormat>
  <Paragraphs>580</Paragraphs>
  <Slides>10</Slides>
  <Notes>8</Notes>
  <HiddenSlides>0</HiddenSlides>
  <MMClips>0</MMClips>
  <ScaleCrop>false</ScaleCrop>
  <HeadingPairs>
    <vt:vector size="4" baseType="variant">
      <vt:variant>
        <vt:lpstr>佈景主題</vt:lpstr>
      </vt:variant>
      <vt:variant>
        <vt:i4>1</vt:i4>
      </vt:variant>
      <vt:variant>
        <vt:lpstr>投影片標題</vt:lpstr>
      </vt:variant>
      <vt:variant>
        <vt:i4>10</vt:i4>
      </vt:variant>
    </vt:vector>
  </HeadingPairs>
  <TitlesOfParts>
    <vt:vector size="11" baseType="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lpstr>投影片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169</cp:revision>
  <dcterms:created xsi:type="dcterms:W3CDTF">2023-05-31T01:27:04Z</dcterms:created>
  <dcterms:modified xsi:type="dcterms:W3CDTF">2025-07-28T04:51:52Z</dcterms:modified>
</cp:coreProperties>
</file>