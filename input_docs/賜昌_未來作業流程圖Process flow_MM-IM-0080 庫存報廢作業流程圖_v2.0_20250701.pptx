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3"/>
  </p:notesMasterIdLst>
  <p:sldIdLst>
    <p:sldId id="256" r:id="rId6"/>
    <p:sldId id="257" r:id="rId7"/>
    <p:sldId id="258" r:id="rId8"/>
    <p:sldId id="274" r:id="rId9"/>
    <p:sldId id="275" r:id="rId10"/>
    <p:sldId id="263" r:id="rId11"/>
    <p:sldId id="264" r:id="rId12"/>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3" autoAdjust="0"/>
    <p:restoredTop sz="94688" autoAdjust="0"/>
  </p:normalViewPr>
  <p:slideViewPr>
    <p:cSldViewPr>
      <p:cViewPr>
        <p:scale>
          <a:sx n="50" d="100"/>
          <a:sy n="50" d="100"/>
        </p:scale>
        <p:origin x="-228" y="-8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0"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MM-IM-0080</a:t>
            </a:r>
            <a:endParaRPr lang="en-US" sz="3600" b="0" strike="noStrike" spc="-1" dirty="0">
              <a:solidFill>
                <a:srgbClr val="000000"/>
              </a:solidFill>
              <a:latin typeface="Calibri"/>
            </a:endParaRPr>
          </a:p>
        </p:txBody>
      </p:sp>
      <p:sp>
        <p:nvSpPr>
          <p:cNvPr id="2859" name="矩形 1"/>
          <p:cNvSpPr/>
          <p:nvPr/>
        </p:nvSpPr>
        <p:spPr>
          <a:xfrm>
            <a:off x="843480" y="717912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庫存報廢作業流程 </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altLang="zh-TW" sz="2400" spc="-1" dirty="0" smtClean="0">
                <a:solidFill>
                  <a:schemeClr val="dk1"/>
                </a:solidFill>
                <a:latin typeface="Microsoft JhengHei"/>
                <a:ea typeface="Microsoft JhengHei"/>
              </a:rPr>
              <a:t>MM-MA-0080</a:t>
            </a:r>
            <a:r>
              <a:rPr lang="zh-TW" altLang="en-US" sz="2400" spc="-1" dirty="0" smtClean="0">
                <a:solidFill>
                  <a:schemeClr val="dk1"/>
                </a:solidFill>
                <a:latin typeface="Microsoft JhengHei"/>
                <a:ea typeface="Microsoft JhengHei"/>
              </a:rPr>
              <a:t>庫存報廢作業流程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 xmlns:a16="http://schemas.microsoft.com/office/drawing/2014/main" id="{1FB9514E-6261-C7AC-D58E-6A5F2E6F81FD}"/>
              </a:ext>
            </a:extLst>
          </p:cNvPr>
          <p:cNvSpPr/>
          <p:nvPr/>
        </p:nvSpPr>
        <p:spPr bwMode="auto">
          <a:xfrm>
            <a:off x="277454" y="2023108"/>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grpSp>
        <p:nvGrpSpPr>
          <p:cNvPr id="3" name="Group 220">
            <a:extLst>
              <a:ext uri="{FF2B5EF4-FFF2-40B4-BE49-F238E27FC236}">
                <a16:creationId xmlns="" xmlns:a16="http://schemas.microsoft.com/office/drawing/2014/main" id="{A9B401BC-DE49-5FC0-6565-D216316A23DA}"/>
              </a:ext>
            </a:extLst>
          </p:cNvPr>
          <p:cNvGrpSpPr/>
          <p:nvPr/>
        </p:nvGrpSpPr>
        <p:grpSpPr>
          <a:xfrm>
            <a:off x="1706477" y="1736496"/>
            <a:ext cx="533400" cy="408605"/>
            <a:chOff x="5906184" y="1486857"/>
            <a:chExt cx="355600" cy="272361"/>
          </a:xfrm>
        </p:grpSpPr>
        <p:sp>
          <p:nvSpPr>
            <p:cNvPr id="4"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6" name="Straight Connector 284">
            <a:extLst>
              <a:ext uri="{FF2B5EF4-FFF2-40B4-BE49-F238E27FC236}">
                <a16:creationId xmlns="" xmlns:a16="http://schemas.microsoft.com/office/drawing/2014/main" id="{9B19B4BF-9599-B835-12D9-B67512228A7B}"/>
              </a:ext>
            </a:extLst>
          </p:cNvPr>
          <p:cNvCxnSpPr>
            <a:cxnSpLocks/>
          </p:cNvCxnSpPr>
          <p:nvPr/>
        </p:nvCxnSpPr>
        <p:spPr>
          <a:xfrm>
            <a:off x="7731326" y="1418524"/>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 xmlns:a16="http://schemas.microsoft.com/office/drawing/2014/main" id="{30381EE2-3320-4812-6081-3A15B03E8B32}"/>
              </a:ext>
            </a:extLst>
          </p:cNvPr>
          <p:cNvSpPr txBox="1"/>
          <p:nvPr/>
        </p:nvSpPr>
        <p:spPr>
          <a:xfrm>
            <a:off x="14280556" y="1901294"/>
            <a:ext cx="3594197" cy="7986802"/>
          </a:xfrm>
          <a:prstGeom prst="rect">
            <a:avLst/>
          </a:prstGeom>
          <a:noFill/>
        </p:spPr>
        <p:txBody>
          <a:bodyPr wrap="square" lIns="137160" tIns="68580" rIns="137160" bIns="68580" rtlCol="0">
            <a:spAutoFit/>
          </a:bodyPr>
          <a:lstStyle/>
          <a:p>
            <a:pPr marL="342900" indent="-342900">
              <a:buFont typeface="+mj-lt"/>
              <a:buAutoNum type="arabicPeriod"/>
            </a:pPr>
            <a:r>
              <a:rPr lang="zh-TW" altLang="en-US" sz="1500" dirty="0"/>
              <a:t>各單位定期</a:t>
            </a:r>
            <a:r>
              <a:rPr lang="en-US" altLang="zh-TW" sz="1500" dirty="0"/>
              <a:t>(</a:t>
            </a:r>
            <a:r>
              <a:rPr lang="zh-TW" altLang="en-US" sz="1500" dirty="0"/>
              <a:t>每季</a:t>
            </a:r>
            <a:r>
              <a:rPr lang="en-US" altLang="zh-TW" sz="1500" dirty="0"/>
              <a:t>/</a:t>
            </a:r>
            <a:r>
              <a:rPr lang="zh-TW" altLang="en-US" sz="1500" dirty="0"/>
              <a:t>半年</a:t>
            </a:r>
            <a:r>
              <a:rPr lang="en-US" altLang="zh-TW" sz="1500" dirty="0"/>
              <a:t>)</a:t>
            </a:r>
            <a:r>
              <a:rPr lang="zh-TW" altLang="en-US" sz="1500" dirty="0"/>
              <a:t>提出報廢需求申請作業。</a:t>
            </a:r>
            <a:endParaRPr lang="en-US" altLang="zh-TW" sz="1500" dirty="0"/>
          </a:p>
          <a:p>
            <a:pPr marL="342900" indent="-342900">
              <a:buFont typeface="+mj-lt"/>
              <a:buAutoNum type="arabicPeriod"/>
            </a:pPr>
            <a:r>
              <a:rPr lang="zh-TW" altLang="en-US" sz="1500" dirty="0"/>
              <a:t>倉管人員</a:t>
            </a:r>
            <a:r>
              <a:rPr lang="en-US" altLang="zh-TW" sz="1500" dirty="0"/>
              <a:t>/</a:t>
            </a:r>
            <a:r>
              <a:rPr lang="zh-TW" altLang="en-US" sz="1500" dirty="0"/>
              <a:t>模具課</a:t>
            </a:r>
            <a:r>
              <a:rPr lang="en-US" altLang="zh-TW" sz="1500" dirty="0"/>
              <a:t>/</a:t>
            </a:r>
            <a:r>
              <a:rPr lang="zh-TW" altLang="en-US" sz="1500" dirty="0"/>
              <a:t>生管單位整理庫存明細清單。</a:t>
            </a:r>
            <a:endParaRPr lang="en-US" altLang="zh-TW" sz="1500" dirty="0"/>
          </a:p>
          <a:p>
            <a:pPr marL="342900" indent="-342900">
              <a:buFont typeface="+mj-lt"/>
              <a:buAutoNum type="arabicPeriod"/>
            </a:pPr>
            <a:r>
              <a:rPr lang="zh-TW" altLang="en-US" sz="1500" dirty="0"/>
              <a:t>客供料部分會請客戶確認後續訂單狀況，是否同意報廢，客戶取消</a:t>
            </a:r>
            <a:r>
              <a:rPr lang="en-US" altLang="zh-TW" sz="1500" dirty="0"/>
              <a:t>/</a:t>
            </a:r>
            <a:r>
              <a:rPr lang="zh-TW" altLang="en-US" sz="1500" dirty="0"/>
              <a:t>變更</a:t>
            </a:r>
            <a:r>
              <a:rPr lang="en-US" altLang="zh-TW" sz="1500" dirty="0"/>
              <a:t>/MOQ</a:t>
            </a:r>
            <a:r>
              <a:rPr lang="zh-TW" altLang="en-US" sz="1500" dirty="0"/>
              <a:t>所剩下的殘材，到消化截止月份工廠提出與客人清算，經客人確認同意付款後，工廠再提出報廢申請。</a:t>
            </a:r>
            <a:endParaRPr lang="en-US" altLang="zh-TW" sz="1500" dirty="0"/>
          </a:p>
          <a:p>
            <a:pPr marL="342900" indent="-342900">
              <a:buFont typeface="+mj-lt"/>
              <a:buAutoNum type="arabicPeriod"/>
            </a:pPr>
            <a:r>
              <a:rPr lang="zh-TW" altLang="en-US" sz="1500" dirty="0"/>
              <a:t>倉倉管人員</a:t>
            </a:r>
            <a:r>
              <a:rPr lang="en-US" altLang="zh-TW" sz="1500" dirty="0"/>
              <a:t>/</a:t>
            </a:r>
            <a:r>
              <a:rPr lang="zh-TW" altLang="en-US" sz="1500" dirty="0"/>
              <a:t>模具課</a:t>
            </a:r>
            <a:r>
              <a:rPr lang="en-US" altLang="zh-TW" sz="1500" dirty="0"/>
              <a:t>/</a:t>
            </a:r>
            <a:r>
              <a:rPr lang="zh-TW" altLang="en-US" sz="1500" dirty="0"/>
              <a:t>生管單位整理待報廢清單，上</a:t>
            </a:r>
            <a:r>
              <a:rPr lang="en-US" altLang="zh-TW" sz="1500" dirty="0"/>
              <a:t>BPM</a:t>
            </a:r>
            <a:r>
              <a:rPr lang="zh-TW" altLang="en-US" sz="1500" dirty="0"/>
              <a:t>系統申請上級主管核准，</a:t>
            </a:r>
            <a:r>
              <a:rPr lang="zh-TW" altLang="en-US" sz="1500" dirty="0">
                <a:solidFill>
                  <a:srgbClr val="FF0000"/>
                </a:solidFill>
              </a:rPr>
              <a:t>原物料必須通知採購人員</a:t>
            </a:r>
            <a:r>
              <a:rPr lang="zh-TW" altLang="en-US" sz="1500" dirty="0"/>
              <a:t>，並附上待報廢清單檔案。</a:t>
            </a:r>
            <a:endParaRPr lang="en-US" altLang="zh-TW" sz="1500" dirty="0"/>
          </a:p>
          <a:p>
            <a:pPr marL="342900" indent="-342900">
              <a:buFont typeface="+mj-lt"/>
              <a:buAutoNum type="arabicPeriod"/>
            </a:pPr>
            <a:r>
              <a:rPr lang="zh-TW" altLang="en-US" sz="1500" dirty="0"/>
              <a:t>倉管人員</a:t>
            </a:r>
            <a:r>
              <a:rPr lang="en-US" altLang="zh-TW" sz="1500" dirty="0"/>
              <a:t>/</a:t>
            </a:r>
            <a:r>
              <a:rPr lang="zh-TW" altLang="en-US" sz="1500" dirty="0"/>
              <a:t>模具課</a:t>
            </a:r>
            <a:r>
              <a:rPr lang="en-US" altLang="zh-TW" sz="1500" dirty="0"/>
              <a:t>/</a:t>
            </a:r>
            <a:r>
              <a:rPr lang="zh-TW" altLang="en-US" sz="1500" dirty="0"/>
              <a:t>生管單位待上級主管審核通過後，把待報廢品建立調撥到待報廢倉的預留單，並維護填上報廢原因。</a:t>
            </a:r>
            <a:endParaRPr lang="en-US" altLang="zh-TW" sz="1500" dirty="0"/>
          </a:p>
          <a:p>
            <a:pPr marL="342900" indent="-342900">
              <a:buFont typeface="+mj-lt"/>
              <a:buAutoNum type="arabicPeriod"/>
            </a:pPr>
            <a:r>
              <a:rPr lang="zh-TW" altLang="en-US" sz="1500" dirty="0"/>
              <a:t>倉管人員</a:t>
            </a:r>
            <a:r>
              <a:rPr lang="en-US" altLang="zh-TW" sz="1500" dirty="0"/>
              <a:t>/</a:t>
            </a:r>
            <a:r>
              <a:rPr lang="zh-TW" altLang="en-US" sz="1500" dirty="0"/>
              <a:t>模具課</a:t>
            </a:r>
            <a:r>
              <a:rPr lang="en-US" altLang="zh-TW" sz="1500" dirty="0"/>
              <a:t>/</a:t>
            </a:r>
            <a:r>
              <a:rPr lang="zh-TW" altLang="en-US" sz="1500" dirty="0"/>
              <a:t>生管單位送待報廢清單給會計單位審核並確認報廢金額。</a:t>
            </a:r>
            <a:endParaRPr lang="en-US" altLang="zh-TW" sz="1500" dirty="0"/>
          </a:p>
          <a:p>
            <a:pPr marL="342900" indent="-342900">
              <a:buFont typeface="+mj-lt"/>
              <a:buAutoNum type="arabicPeriod"/>
            </a:pPr>
            <a:r>
              <a:rPr lang="zh-TW" altLang="en-US" sz="1500" dirty="0"/>
              <a:t>通知各廠區報關單位，處理關務事務，並提報當地的稅務海關進行會勘，當地稅務局或海關會勘後，取得主管機關核准函或拍照存證。</a:t>
            </a:r>
            <a:endParaRPr lang="en-US" altLang="zh-TW" sz="1500" dirty="0"/>
          </a:p>
          <a:p>
            <a:pPr marL="342900" indent="-342900">
              <a:buFont typeface="+mj-lt"/>
              <a:buAutoNum type="arabicPeriod"/>
            </a:pPr>
            <a:r>
              <a:rPr lang="zh-TW" altLang="en-US" sz="1500" dirty="0"/>
              <a:t>當有啟用</a:t>
            </a:r>
            <a:r>
              <a:rPr lang="en-US" altLang="zh-TW" sz="1500" dirty="0"/>
              <a:t>WMS</a:t>
            </a:r>
            <a:r>
              <a:rPr lang="zh-TW" altLang="en-US" sz="1500" dirty="0"/>
              <a:t>，則由</a:t>
            </a:r>
            <a:r>
              <a:rPr lang="en-US" altLang="zh-TW" sz="1500" dirty="0"/>
              <a:t>WMS</a:t>
            </a:r>
            <a:r>
              <a:rPr lang="zh-TW" altLang="en-US" sz="1500" dirty="0"/>
              <a:t>回傳執行待報廢倉的調倉。</a:t>
            </a:r>
            <a:endParaRPr lang="en-US" altLang="zh-TW" sz="1500" dirty="0"/>
          </a:p>
          <a:p>
            <a:pPr marL="342900" indent="-342900">
              <a:buFont typeface="+mj-lt"/>
              <a:buAutoNum type="arabicPeriod"/>
            </a:pPr>
            <a:r>
              <a:rPr lang="zh-TW" altLang="en-US" sz="1500" dirty="0"/>
              <a:t>報廢品處理須整理報廢文件作為內部</a:t>
            </a:r>
            <a:r>
              <a:rPr lang="en-US" altLang="zh-TW" sz="1500" dirty="0"/>
              <a:t>/</a:t>
            </a:r>
            <a:r>
              <a:rPr lang="zh-TW" altLang="en-US" sz="1500" dirty="0"/>
              <a:t>稅務機關審查依據，並交由客戶簽名留底。</a:t>
            </a:r>
            <a:endParaRPr lang="en-US" altLang="zh-TW" sz="1500" dirty="0"/>
          </a:p>
          <a:p>
            <a:pPr marL="342900" indent="-342900">
              <a:buFont typeface="+mj-lt"/>
              <a:buAutoNum type="arabicPeriod"/>
            </a:pPr>
            <a:r>
              <a:rPr lang="zh-TW" altLang="en-US" sz="1500" dirty="0"/>
              <a:t>依據待報廢倉清單執行報廢除帳作業。</a:t>
            </a:r>
            <a:endParaRPr lang="en-US" altLang="zh-TW" sz="1500" dirty="0"/>
          </a:p>
          <a:p>
            <a:pPr marL="342900" indent="-342900">
              <a:buFont typeface="+mj-lt"/>
              <a:buAutoNum type="arabicPeriod"/>
            </a:pPr>
            <a:r>
              <a:rPr lang="zh-TW" altLang="en-US" sz="1500" dirty="0"/>
              <a:t>當有剩餘的資產價值</a:t>
            </a:r>
            <a:r>
              <a:rPr lang="en-US" altLang="zh-TW" sz="1500" dirty="0"/>
              <a:t>(</a:t>
            </a:r>
            <a:r>
              <a:rPr lang="zh-TW" altLang="en-US" sz="1500" dirty="0"/>
              <a:t>例如</a:t>
            </a:r>
            <a:r>
              <a:rPr lang="en-US" altLang="zh-TW" sz="1500" dirty="0"/>
              <a:t>:</a:t>
            </a:r>
            <a:r>
              <a:rPr lang="zh-TW" altLang="en-US" sz="1500" dirty="0"/>
              <a:t>楦頭</a:t>
            </a:r>
            <a:r>
              <a:rPr lang="en-US" altLang="zh-TW" sz="1500" dirty="0"/>
              <a:t>)</a:t>
            </a:r>
            <a:r>
              <a:rPr lang="zh-TW" altLang="en-US" sz="1500" dirty="0"/>
              <a:t>，則需轉到固定資產報廢。</a:t>
            </a:r>
            <a:endParaRPr lang="en-US" altLang="zh-TW" sz="1500"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3390806" y="1335395"/>
            <a:ext cx="3752930" cy="400110"/>
          </a:xfrm>
          <a:prstGeom prst="rect">
            <a:avLst/>
          </a:prstGeom>
          <a:noFill/>
        </p:spPr>
        <p:txBody>
          <a:bodyPr wrap="square" lIns="137160" tIns="68580" rIns="137160" bIns="68580" rtlCol="0">
            <a:spAutoFit/>
          </a:bodyPr>
          <a:lstStyle/>
          <a:p>
            <a:pPr algn="ctr"/>
            <a:r>
              <a:rPr lang="zh-TW" altLang="en-US" sz="1700" dirty="0"/>
              <a:t>倉管人員</a:t>
            </a:r>
            <a:r>
              <a:rPr lang="en-US" altLang="zh-TW" sz="1700" dirty="0"/>
              <a:t>/</a:t>
            </a:r>
            <a:r>
              <a:rPr lang="zh-TW" altLang="en-US" sz="1700" dirty="0"/>
              <a:t>模具課</a:t>
            </a:r>
            <a:r>
              <a:rPr lang="en-US" altLang="zh-TW" sz="1700" dirty="0"/>
              <a:t>/</a:t>
            </a:r>
            <a:r>
              <a:rPr lang="zh-TW" altLang="en-US" sz="1700" dirty="0"/>
              <a:t>生管單位</a:t>
            </a:r>
          </a:p>
        </p:txBody>
      </p:sp>
      <p:graphicFrame>
        <p:nvGraphicFramePr>
          <p:cNvPr id="10" name="表格 30">
            <a:extLst>
              <a:ext uri="{FF2B5EF4-FFF2-40B4-BE49-F238E27FC236}">
                <a16:creationId xmlns="" xmlns:a16="http://schemas.microsoft.com/office/drawing/2014/main" id="{560E075C-2049-BB70-8393-BAD2317E0F8A}"/>
              </a:ext>
            </a:extLst>
          </p:cNvPr>
          <p:cNvGraphicFramePr>
            <a:graphicFrameLocks noGrp="1"/>
          </p:cNvGraphicFramePr>
          <p:nvPr>
            <p:extLst>
              <p:ext uri="{D42A27DB-BD31-4B8C-83A1-F6EECF244321}">
                <p14:modId xmlns="" xmlns:p14="http://schemas.microsoft.com/office/powerpoint/2010/main" val="592443117"/>
              </p:ext>
            </p:extLst>
          </p:nvPr>
        </p:nvGraphicFramePr>
        <p:xfrm>
          <a:off x="2547515" y="1906260"/>
          <a:ext cx="1797832" cy="1009956"/>
        </p:xfrm>
        <a:graphic>
          <a:graphicData uri="http://schemas.openxmlformats.org/drawingml/2006/table">
            <a:tbl>
              <a:tblPr>
                <a:tableStyleId>{5940675A-B579-460E-94D1-54222C63F5DA}</a:tableStyleId>
              </a:tblPr>
              <a:tblGrid>
                <a:gridCol w="898916">
                  <a:extLst>
                    <a:ext uri="{9D8B030D-6E8A-4147-A177-3AD203B41FA5}">
                      <a16:colId xmlns="" xmlns:a16="http://schemas.microsoft.com/office/drawing/2014/main" val="3433979995"/>
                    </a:ext>
                  </a:extLst>
                </a:gridCol>
                <a:gridCol w="898916">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MB52</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查詢庫存報表</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11" name="肘形接點 68">
            <a:extLst>
              <a:ext uri="{FF2B5EF4-FFF2-40B4-BE49-F238E27FC236}">
                <a16:creationId xmlns="" xmlns:a16="http://schemas.microsoft.com/office/drawing/2014/main" id="{24024915-9D25-B9A4-2836-72F0277283A4}"/>
              </a:ext>
            </a:extLst>
          </p:cNvPr>
          <p:cNvCxnSpPr>
            <a:cxnSpLocks/>
            <a:stCxn id="2" idx="3"/>
            <a:endCxn id="10" idx="1"/>
          </p:cNvCxnSpPr>
          <p:nvPr/>
        </p:nvCxnSpPr>
        <p:spPr>
          <a:xfrm flipV="1">
            <a:off x="2075285" y="2411239"/>
            <a:ext cx="472230" cy="31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 xmlns:a16="http://schemas.microsoft.com/office/drawing/2014/main" id="{0F2761B4-5F29-64DD-1721-5831D073894C}"/>
              </a:ext>
            </a:extLst>
          </p:cNvPr>
          <p:cNvSpPr txBox="1"/>
          <p:nvPr/>
        </p:nvSpPr>
        <p:spPr>
          <a:xfrm>
            <a:off x="9673486" y="1358476"/>
            <a:ext cx="2319653" cy="400110"/>
          </a:xfrm>
          <a:prstGeom prst="rect">
            <a:avLst/>
          </a:prstGeom>
          <a:noFill/>
        </p:spPr>
        <p:txBody>
          <a:bodyPr wrap="square" lIns="137160" tIns="68580" rIns="137160" bIns="68580" rtlCol="0">
            <a:spAutoFit/>
          </a:bodyPr>
          <a:lstStyle/>
          <a:p>
            <a:pPr algn="ctr"/>
            <a:r>
              <a:rPr lang="zh-TW" altLang="en-US" sz="1700" dirty="0"/>
              <a:t>各廠區關務單位</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a:t>
            </a:r>
            <a:r>
              <a:rPr lang="en-US" altLang="zh-TW" b="1" dirty="0">
                <a:latin typeface="微軟正黑體" panose="020B0604030504040204" pitchFamily="34" charset="-120"/>
                <a:ea typeface="微軟正黑體" panose="020B0604030504040204" pitchFamily="34" charset="-120"/>
              </a:rPr>
              <a:t>8</a:t>
            </a:r>
            <a:r>
              <a:rPr kumimoji="0" lang="en-US" altLang="zh-TW" b="1" dirty="0">
                <a:latin typeface="微軟正黑體" panose="020B0604030504040204" pitchFamily="34" charset="-120"/>
                <a:ea typeface="微軟正黑體" panose="020B0604030504040204" pitchFamily="34" charset="-120"/>
              </a:rPr>
              <a:t>0</a:t>
            </a:r>
            <a:r>
              <a:rPr kumimoji="0" lang="zh-TW" altLang="en-US" b="1" dirty="0">
                <a:latin typeface="微軟正黑體" panose="020B0604030504040204" pitchFamily="34" charset="-120"/>
                <a:ea typeface="微軟正黑體" panose="020B0604030504040204" pitchFamily="34" charset="-120"/>
              </a:rPr>
              <a:t>庫存報廢作業流程</a:t>
            </a:r>
          </a:p>
        </p:txBody>
      </p:sp>
      <p:grpSp>
        <p:nvGrpSpPr>
          <p:cNvPr id="13" name="Group 220">
            <a:extLst>
              <a:ext uri="{FF2B5EF4-FFF2-40B4-BE49-F238E27FC236}">
                <a16:creationId xmlns="" xmlns:a16="http://schemas.microsoft.com/office/drawing/2014/main" id="{AD2FB0C7-15BF-116F-2999-F5E87FA69A6A}"/>
              </a:ext>
            </a:extLst>
          </p:cNvPr>
          <p:cNvGrpSpPr/>
          <p:nvPr/>
        </p:nvGrpSpPr>
        <p:grpSpPr>
          <a:xfrm>
            <a:off x="4071233" y="1739256"/>
            <a:ext cx="533400" cy="408605"/>
            <a:chOff x="5906184" y="1486857"/>
            <a:chExt cx="355600" cy="272361"/>
          </a:xfrm>
        </p:grpSpPr>
        <p:sp>
          <p:nvSpPr>
            <p:cNvPr id="201" name="Oval 221">
              <a:extLst>
                <a:ext uri="{FF2B5EF4-FFF2-40B4-BE49-F238E27FC236}">
                  <a16:creationId xmlns="" xmlns:a16="http://schemas.microsoft.com/office/drawing/2014/main" id="{8B1186DF-BEFD-FB5C-1AEF-1CFFBEF8123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2" name="TextBox 222">
              <a:extLst>
                <a:ext uri="{FF2B5EF4-FFF2-40B4-BE49-F238E27FC236}">
                  <a16:creationId xmlns="" xmlns:a16="http://schemas.microsoft.com/office/drawing/2014/main" id="{83892820-3993-4C09-6D6E-4C64B4846F9E}"/>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05" name="流程圖: 結束點 204">
            <a:extLst>
              <a:ext uri="{FF2B5EF4-FFF2-40B4-BE49-F238E27FC236}">
                <a16:creationId xmlns="" xmlns:a16="http://schemas.microsoft.com/office/drawing/2014/main" id="{AF6DEB4F-42E0-79A4-1C86-971AEA2097AF}"/>
              </a:ext>
            </a:extLst>
          </p:cNvPr>
          <p:cNvSpPr/>
          <p:nvPr/>
        </p:nvSpPr>
        <p:spPr bwMode="auto">
          <a:xfrm>
            <a:off x="12206430" y="883796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graphicFrame>
        <p:nvGraphicFramePr>
          <p:cNvPr id="220" name="表格 30">
            <a:extLst>
              <a:ext uri="{FF2B5EF4-FFF2-40B4-BE49-F238E27FC236}">
                <a16:creationId xmlns="" xmlns:a16="http://schemas.microsoft.com/office/drawing/2014/main" id="{4CD2F84C-8FB8-7372-57FB-47584CBD5231}"/>
              </a:ext>
            </a:extLst>
          </p:cNvPr>
          <p:cNvGraphicFramePr>
            <a:graphicFrameLocks noGrp="1"/>
          </p:cNvGraphicFramePr>
          <p:nvPr>
            <p:extLst>
              <p:ext uri="{D42A27DB-BD31-4B8C-83A1-F6EECF244321}">
                <p14:modId xmlns="" xmlns:p14="http://schemas.microsoft.com/office/powerpoint/2010/main" val="3128320713"/>
              </p:ext>
            </p:extLst>
          </p:nvPr>
        </p:nvGraphicFramePr>
        <p:xfrm>
          <a:off x="7911708" y="2015821"/>
          <a:ext cx="1797828" cy="1238591"/>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會計</a:t>
                      </a:r>
                      <a:r>
                        <a:rPr kumimoji="0" lang="en-US" altLang="zh-TW" sz="1500" dirty="0">
                          <a:latin typeface="微軟正黑體" panose="020B0604030504040204" pitchFamily="34" charset="-120"/>
                          <a:ea typeface="微軟正黑體" panose="020B0604030504040204" pitchFamily="34" charset="-120"/>
                        </a:rPr>
                        <a:t>/</a:t>
                      </a:r>
                      <a:r>
                        <a:rPr kumimoji="0" lang="zh-TW" altLang="en-US" sz="1500" dirty="0">
                          <a:latin typeface="微軟正黑體" panose="020B0604030504040204" pitchFamily="34" charset="-120"/>
                          <a:ea typeface="微軟正黑體" panose="020B0604030504040204" pitchFamily="34" charset="-120"/>
                        </a:rPr>
                        <a:t>單位主管審核</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18" name="Group 220">
            <a:extLst>
              <a:ext uri="{FF2B5EF4-FFF2-40B4-BE49-F238E27FC236}">
                <a16:creationId xmlns="" xmlns:a16="http://schemas.microsoft.com/office/drawing/2014/main" id="{EE2EFB62-64E8-A5E0-F94F-0FA2D59292D5}"/>
              </a:ext>
            </a:extLst>
          </p:cNvPr>
          <p:cNvGrpSpPr/>
          <p:nvPr/>
        </p:nvGrpSpPr>
        <p:grpSpPr>
          <a:xfrm>
            <a:off x="9393182" y="1870956"/>
            <a:ext cx="533400" cy="408605"/>
            <a:chOff x="5906184" y="1486857"/>
            <a:chExt cx="355600" cy="272361"/>
          </a:xfrm>
        </p:grpSpPr>
        <p:sp>
          <p:nvSpPr>
            <p:cNvPr id="226" name="Oval 221">
              <a:extLst>
                <a:ext uri="{FF2B5EF4-FFF2-40B4-BE49-F238E27FC236}">
                  <a16:creationId xmlns="" xmlns:a16="http://schemas.microsoft.com/office/drawing/2014/main" id="{8314359D-F7EC-220F-4E02-CFE83EF3BA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7" name="TextBox 222">
              <a:extLst>
                <a:ext uri="{FF2B5EF4-FFF2-40B4-BE49-F238E27FC236}">
                  <a16:creationId xmlns="" xmlns:a16="http://schemas.microsoft.com/office/drawing/2014/main" id="{E2E4EE6E-B2D9-3A04-9C48-E30B3CE8C8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255" name="表格 30">
            <a:extLst>
              <a:ext uri="{FF2B5EF4-FFF2-40B4-BE49-F238E27FC236}">
                <a16:creationId xmlns="" xmlns:a16="http://schemas.microsoft.com/office/drawing/2014/main" id="{F09FCB7C-D385-8396-3A72-46FBD73AC0AB}"/>
              </a:ext>
            </a:extLst>
          </p:cNvPr>
          <p:cNvGraphicFramePr>
            <a:graphicFrameLocks noGrp="1"/>
          </p:cNvGraphicFramePr>
          <p:nvPr>
            <p:extLst>
              <p:ext uri="{D42A27DB-BD31-4B8C-83A1-F6EECF244321}">
                <p14:modId xmlns="" xmlns:p14="http://schemas.microsoft.com/office/powerpoint/2010/main" val="1655733289"/>
              </p:ext>
            </p:extLst>
          </p:nvPr>
        </p:nvGraphicFramePr>
        <p:xfrm>
          <a:off x="2528631" y="8619953"/>
          <a:ext cx="1821250" cy="1238591"/>
        </p:xfrm>
        <a:graphic>
          <a:graphicData uri="http://schemas.openxmlformats.org/drawingml/2006/table">
            <a:tbl>
              <a:tblPr>
                <a:tableStyleId>{5940675A-B579-460E-94D1-54222C63F5DA}</a:tableStyleId>
              </a:tblPr>
              <a:tblGrid>
                <a:gridCol w="910625">
                  <a:extLst>
                    <a:ext uri="{9D8B030D-6E8A-4147-A177-3AD203B41FA5}">
                      <a16:colId xmlns="" xmlns:a16="http://schemas.microsoft.com/office/drawing/2014/main" val="3433979995"/>
                    </a:ext>
                  </a:extLst>
                </a:gridCol>
                <a:gridCol w="910625">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調倉</a:t>
                      </a:r>
                      <a:endPar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(Mvt.311)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300" name="肘形接點 68">
            <a:extLst>
              <a:ext uri="{FF2B5EF4-FFF2-40B4-BE49-F238E27FC236}">
                <a16:creationId xmlns="" xmlns:a16="http://schemas.microsoft.com/office/drawing/2014/main" id="{4A4BF398-DB44-F166-D9E3-2412F110238F}"/>
              </a:ext>
            </a:extLst>
          </p:cNvPr>
          <p:cNvCxnSpPr>
            <a:cxnSpLocks/>
            <a:endCxn id="56" idx="0"/>
          </p:cNvCxnSpPr>
          <p:nvPr/>
        </p:nvCxnSpPr>
        <p:spPr>
          <a:xfrm rot="16200000" flipH="1">
            <a:off x="10773924" y="4800254"/>
            <a:ext cx="175567" cy="639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 name="肘形接點 68">
            <a:extLst>
              <a:ext uri="{FF2B5EF4-FFF2-40B4-BE49-F238E27FC236}">
                <a16:creationId xmlns="" xmlns:a16="http://schemas.microsoft.com/office/drawing/2014/main" id="{FB3108EF-1840-385B-3627-5E9D3180C762}"/>
              </a:ext>
            </a:extLst>
          </p:cNvPr>
          <p:cNvCxnSpPr>
            <a:cxnSpLocks/>
            <a:stCxn id="228" idx="1"/>
            <a:endCxn id="239" idx="6"/>
          </p:cNvCxnSpPr>
          <p:nvPr/>
        </p:nvCxnSpPr>
        <p:spPr>
          <a:xfrm rot="10800000">
            <a:off x="2176379" y="3654650"/>
            <a:ext cx="481460" cy="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4" name="TextBox 46">
            <a:extLst>
              <a:ext uri="{FF2B5EF4-FFF2-40B4-BE49-F238E27FC236}">
                <a16:creationId xmlns="" xmlns:a16="http://schemas.microsoft.com/office/drawing/2014/main" id="{0497950F-113F-5E76-1425-A53965741E4E}"/>
              </a:ext>
            </a:extLst>
          </p:cNvPr>
          <p:cNvSpPr txBox="1"/>
          <p:nvPr/>
        </p:nvSpPr>
        <p:spPr>
          <a:xfrm>
            <a:off x="3499158" y="4184466"/>
            <a:ext cx="404262" cy="369389"/>
          </a:xfrm>
          <a:prstGeom prst="rect">
            <a:avLst/>
          </a:prstGeom>
          <a:noFill/>
        </p:spPr>
        <p:txBody>
          <a:bodyPr wrap="square" lIns="137160" tIns="68580" rIns="137160" bIns="68580" rtlCol="0">
            <a:spAutoFit/>
          </a:bodyPr>
          <a:lstStyle/>
          <a:p>
            <a:r>
              <a:rPr lang="zh-TW" altLang="en-US" sz="1500" dirty="0"/>
              <a:t>是</a:t>
            </a:r>
          </a:p>
        </p:txBody>
      </p:sp>
      <p:sp>
        <p:nvSpPr>
          <p:cNvPr id="9" name="流程圖: 預設處理作業 21">
            <a:extLst>
              <a:ext uri="{FF2B5EF4-FFF2-40B4-BE49-F238E27FC236}">
                <a16:creationId xmlns="" xmlns:a16="http://schemas.microsoft.com/office/drawing/2014/main" id="{A3A91006-A303-41AF-BF01-BD0140660F8B}"/>
              </a:ext>
            </a:extLst>
          </p:cNvPr>
          <p:cNvSpPr/>
          <p:nvPr/>
        </p:nvSpPr>
        <p:spPr bwMode="auto">
          <a:xfrm>
            <a:off x="7906915" y="4922347"/>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FI-AA-0040</a:t>
            </a:r>
          </a:p>
          <a:p>
            <a:pPr algn="ctr" eaLnBrk="0" hangingPunct="0"/>
            <a:r>
              <a:rPr lang="zh-TW" altLang="en-US" sz="1500" dirty="0">
                <a:latin typeface="微軟正黑體" panose="020B0604030504040204" pitchFamily="34" charset="-120"/>
                <a:ea typeface="微軟正黑體" panose="020B0604030504040204" pitchFamily="34" charset="-120"/>
              </a:rPr>
              <a:t>固定資產報廢</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作業流程</a:t>
            </a:r>
          </a:p>
        </p:txBody>
      </p:sp>
      <p:sp>
        <p:nvSpPr>
          <p:cNvPr id="228" name="流程圖: 決策 50">
            <a:extLst>
              <a:ext uri="{FF2B5EF4-FFF2-40B4-BE49-F238E27FC236}">
                <a16:creationId xmlns="" xmlns:a16="http://schemas.microsoft.com/office/drawing/2014/main" id="{21291035-CE12-C5DC-F5AD-16BBD29C14BD}"/>
              </a:ext>
            </a:extLst>
          </p:cNvPr>
          <p:cNvSpPr/>
          <p:nvPr/>
        </p:nvSpPr>
        <p:spPr bwMode="auto">
          <a:xfrm>
            <a:off x="2657837" y="3223613"/>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經由客戶同意</a:t>
            </a:r>
            <a:endParaRPr lang="en-US" altLang="zh-TW" sz="1500" dirty="0">
              <a:latin typeface="微軟正黑體" panose="020B0604030504040204" pitchFamily="34" charset="-120"/>
              <a:ea typeface="微軟正黑體" panose="020B0604030504040204" pitchFamily="34" charset="-120"/>
            </a:endParaRPr>
          </a:p>
        </p:txBody>
      </p:sp>
      <p:cxnSp>
        <p:nvCxnSpPr>
          <p:cNvPr id="229" name="肘形接點 68">
            <a:extLst>
              <a:ext uri="{FF2B5EF4-FFF2-40B4-BE49-F238E27FC236}">
                <a16:creationId xmlns="" xmlns:a16="http://schemas.microsoft.com/office/drawing/2014/main" id="{0EC9E165-72BB-F91F-ED3B-16FEF2CAC5E1}"/>
              </a:ext>
            </a:extLst>
          </p:cNvPr>
          <p:cNvCxnSpPr>
            <a:cxnSpLocks/>
            <a:stCxn id="10" idx="2"/>
            <a:endCxn id="228" idx="0"/>
          </p:cNvCxnSpPr>
          <p:nvPr/>
        </p:nvCxnSpPr>
        <p:spPr>
          <a:xfrm rot="5400000">
            <a:off x="3291270" y="3068449"/>
            <a:ext cx="307396" cy="292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4" name="Group 220">
            <a:extLst>
              <a:ext uri="{FF2B5EF4-FFF2-40B4-BE49-F238E27FC236}">
                <a16:creationId xmlns="" xmlns:a16="http://schemas.microsoft.com/office/drawing/2014/main" id="{8E3BC493-2DA4-3B9D-5842-821B312198A9}"/>
              </a:ext>
            </a:extLst>
          </p:cNvPr>
          <p:cNvGrpSpPr/>
          <p:nvPr/>
        </p:nvGrpSpPr>
        <p:grpSpPr>
          <a:xfrm>
            <a:off x="3655581" y="3034127"/>
            <a:ext cx="533400" cy="408605"/>
            <a:chOff x="5906184" y="1486857"/>
            <a:chExt cx="355600" cy="272361"/>
          </a:xfrm>
        </p:grpSpPr>
        <p:sp>
          <p:nvSpPr>
            <p:cNvPr id="234" name="Oval 221">
              <a:extLst>
                <a:ext uri="{FF2B5EF4-FFF2-40B4-BE49-F238E27FC236}">
                  <a16:creationId xmlns="" xmlns:a16="http://schemas.microsoft.com/office/drawing/2014/main" id="{CF36C68E-FD3A-BAEA-A752-9B82AF71E94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6" name="TextBox 222">
              <a:extLst>
                <a:ext uri="{FF2B5EF4-FFF2-40B4-BE49-F238E27FC236}">
                  <a16:creationId xmlns="" xmlns:a16="http://schemas.microsoft.com/office/drawing/2014/main" id="{60A6D458-740A-10FF-DF91-69FD3178E925}"/>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239" name="流程圖: 接點 51">
            <a:extLst>
              <a:ext uri="{FF2B5EF4-FFF2-40B4-BE49-F238E27FC236}">
                <a16:creationId xmlns="" xmlns:a16="http://schemas.microsoft.com/office/drawing/2014/main" id="{B5762D2D-4046-B6F2-16D6-BC595E583D92}"/>
              </a:ext>
            </a:extLst>
          </p:cNvPr>
          <p:cNvSpPr/>
          <p:nvPr/>
        </p:nvSpPr>
        <p:spPr bwMode="auto">
          <a:xfrm>
            <a:off x="1631033" y="3420961"/>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242" name="TextBox 46">
            <a:extLst>
              <a:ext uri="{FF2B5EF4-FFF2-40B4-BE49-F238E27FC236}">
                <a16:creationId xmlns="" xmlns:a16="http://schemas.microsoft.com/office/drawing/2014/main" id="{FD5C610C-9629-4172-DCE5-B86FDAE70AB3}"/>
              </a:ext>
            </a:extLst>
          </p:cNvPr>
          <p:cNvSpPr txBox="1"/>
          <p:nvPr/>
        </p:nvSpPr>
        <p:spPr>
          <a:xfrm>
            <a:off x="2498346" y="3299278"/>
            <a:ext cx="318977" cy="369389"/>
          </a:xfrm>
          <a:prstGeom prst="rect">
            <a:avLst/>
          </a:prstGeom>
          <a:noFill/>
        </p:spPr>
        <p:txBody>
          <a:bodyPr wrap="square" lIns="137160" tIns="68580" rIns="137160" bIns="68580" rtlCol="0">
            <a:spAutoFit/>
          </a:bodyPr>
          <a:lstStyle/>
          <a:p>
            <a:r>
              <a:rPr lang="zh-TW" altLang="en-US" sz="1500" dirty="0"/>
              <a:t>否</a:t>
            </a:r>
          </a:p>
        </p:txBody>
      </p:sp>
      <p:sp>
        <p:nvSpPr>
          <p:cNvPr id="245" name="流程圖: 接點 51">
            <a:extLst>
              <a:ext uri="{FF2B5EF4-FFF2-40B4-BE49-F238E27FC236}">
                <a16:creationId xmlns="" xmlns:a16="http://schemas.microsoft.com/office/drawing/2014/main" id="{1E65D766-920C-29EE-03B0-4249F1975C22}"/>
              </a:ext>
            </a:extLst>
          </p:cNvPr>
          <p:cNvSpPr/>
          <p:nvPr/>
        </p:nvSpPr>
        <p:spPr bwMode="auto">
          <a:xfrm>
            <a:off x="12826873" y="7485487"/>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48" name="肘形接點 68">
            <a:extLst>
              <a:ext uri="{FF2B5EF4-FFF2-40B4-BE49-F238E27FC236}">
                <a16:creationId xmlns="" xmlns:a16="http://schemas.microsoft.com/office/drawing/2014/main" id="{637D4B01-1834-04B6-4A43-5DBCD0A2F772}"/>
              </a:ext>
            </a:extLst>
          </p:cNvPr>
          <p:cNvCxnSpPr>
            <a:cxnSpLocks/>
            <a:stCxn id="228" idx="2"/>
            <a:endCxn id="22" idx="0"/>
          </p:cNvCxnSpPr>
          <p:nvPr/>
        </p:nvCxnSpPr>
        <p:spPr>
          <a:xfrm rot="5400000">
            <a:off x="3192078" y="4331786"/>
            <a:ext cx="497526" cy="532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4" name="Straight Connector 284">
            <a:extLst>
              <a:ext uri="{FF2B5EF4-FFF2-40B4-BE49-F238E27FC236}">
                <a16:creationId xmlns="" xmlns:a16="http://schemas.microsoft.com/office/drawing/2014/main" id="{1442D200-FD4D-CF8D-4172-EC162212AEF1}"/>
              </a:ext>
            </a:extLst>
          </p:cNvPr>
          <p:cNvCxnSpPr>
            <a:cxnSpLocks/>
          </p:cNvCxnSpPr>
          <p:nvPr/>
        </p:nvCxnSpPr>
        <p:spPr>
          <a:xfrm>
            <a:off x="9817641" y="1370095"/>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5" name="文字方塊 17">
            <a:extLst>
              <a:ext uri="{FF2B5EF4-FFF2-40B4-BE49-F238E27FC236}">
                <a16:creationId xmlns="" xmlns:a16="http://schemas.microsoft.com/office/drawing/2014/main" id="{3CF332D1-E7A7-F530-5ABE-3541AEFAEFFD}"/>
              </a:ext>
            </a:extLst>
          </p:cNvPr>
          <p:cNvSpPr txBox="1"/>
          <p:nvPr/>
        </p:nvSpPr>
        <p:spPr>
          <a:xfrm>
            <a:off x="7548080" y="1375778"/>
            <a:ext cx="2319653" cy="400110"/>
          </a:xfrm>
          <a:prstGeom prst="rect">
            <a:avLst/>
          </a:prstGeom>
          <a:noFill/>
        </p:spPr>
        <p:txBody>
          <a:bodyPr wrap="square" lIns="137160" tIns="68580" rIns="137160" bIns="68580" rtlCol="0">
            <a:spAutoFit/>
          </a:bodyPr>
          <a:lstStyle/>
          <a:p>
            <a:pPr algn="ctr"/>
            <a:r>
              <a:rPr lang="zh-TW" altLang="en-US" sz="1700" dirty="0"/>
              <a:t>會計單位</a:t>
            </a:r>
          </a:p>
        </p:txBody>
      </p:sp>
      <p:cxnSp>
        <p:nvCxnSpPr>
          <p:cNvPr id="12" name="肘形接點 68">
            <a:extLst>
              <a:ext uri="{FF2B5EF4-FFF2-40B4-BE49-F238E27FC236}">
                <a16:creationId xmlns="" xmlns:a16="http://schemas.microsoft.com/office/drawing/2014/main" id="{D970E7C2-0561-9C18-E160-77BB4D851786}"/>
              </a:ext>
            </a:extLst>
          </p:cNvPr>
          <p:cNvCxnSpPr>
            <a:cxnSpLocks/>
            <a:stCxn id="22" idx="2"/>
            <a:endCxn id="197" idx="0"/>
          </p:cNvCxnSpPr>
          <p:nvPr/>
        </p:nvCxnSpPr>
        <p:spPr>
          <a:xfrm rot="16200000" flipH="1">
            <a:off x="3275691" y="5755654"/>
            <a:ext cx="328489" cy="351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2" name="TextBox 46">
            <a:extLst>
              <a:ext uri="{FF2B5EF4-FFF2-40B4-BE49-F238E27FC236}">
                <a16:creationId xmlns="" xmlns:a16="http://schemas.microsoft.com/office/drawing/2014/main" id="{BE222A17-7615-3F47-B207-BC6B361F0D2F}"/>
              </a:ext>
            </a:extLst>
          </p:cNvPr>
          <p:cNvSpPr txBox="1"/>
          <p:nvPr/>
        </p:nvSpPr>
        <p:spPr>
          <a:xfrm>
            <a:off x="8941890" y="4528688"/>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54" name="肘形接點 68">
            <a:extLst>
              <a:ext uri="{FF2B5EF4-FFF2-40B4-BE49-F238E27FC236}">
                <a16:creationId xmlns="" xmlns:a16="http://schemas.microsoft.com/office/drawing/2014/main" id="{732F5297-607A-7EF1-6C04-9859F54D526D}"/>
              </a:ext>
            </a:extLst>
          </p:cNvPr>
          <p:cNvCxnSpPr>
            <a:cxnSpLocks/>
            <a:stCxn id="213" idx="2"/>
            <a:endCxn id="9" idx="0"/>
          </p:cNvCxnSpPr>
          <p:nvPr/>
        </p:nvCxnSpPr>
        <p:spPr>
          <a:xfrm rot="5400000">
            <a:off x="8571904" y="4678968"/>
            <a:ext cx="484948" cy="181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3" name="肘形接點 68">
            <a:extLst>
              <a:ext uri="{FF2B5EF4-FFF2-40B4-BE49-F238E27FC236}">
                <a16:creationId xmlns="" xmlns:a16="http://schemas.microsoft.com/office/drawing/2014/main" id="{7CFC6EF6-876B-D37E-E355-C3FD96CF3C09}"/>
              </a:ext>
            </a:extLst>
          </p:cNvPr>
          <p:cNvCxnSpPr>
            <a:cxnSpLocks/>
            <a:stCxn id="245" idx="4"/>
            <a:endCxn id="205" idx="0"/>
          </p:cNvCxnSpPr>
          <p:nvPr/>
        </p:nvCxnSpPr>
        <p:spPr>
          <a:xfrm rot="16200000" flipH="1">
            <a:off x="12659894" y="8392511"/>
            <a:ext cx="885101" cy="580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3" name="流程圖: 決策 50">
            <a:extLst>
              <a:ext uri="{FF2B5EF4-FFF2-40B4-BE49-F238E27FC236}">
                <a16:creationId xmlns="" xmlns:a16="http://schemas.microsoft.com/office/drawing/2014/main" id="{1F7F1C55-762B-09BE-F6F7-B9FD79717694}"/>
              </a:ext>
            </a:extLst>
          </p:cNvPr>
          <p:cNvSpPr/>
          <p:nvPr/>
        </p:nvSpPr>
        <p:spPr bwMode="auto">
          <a:xfrm>
            <a:off x="7972991" y="3575325"/>
            <a:ext cx="168458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是否有資產價值</a:t>
            </a:r>
            <a:endParaRPr lang="en-US" altLang="zh-TW" sz="1500" dirty="0">
              <a:latin typeface="微軟正黑體" panose="020B0604030504040204" pitchFamily="34" charset="-120"/>
              <a:ea typeface="微軟正黑體" panose="020B0604030504040204" pitchFamily="34" charset="-120"/>
            </a:endParaRPr>
          </a:p>
        </p:txBody>
      </p:sp>
      <p:cxnSp>
        <p:nvCxnSpPr>
          <p:cNvPr id="230" name="肘形接點 68">
            <a:extLst>
              <a:ext uri="{FF2B5EF4-FFF2-40B4-BE49-F238E27FC236}">
                <a16:creationId xmlns="" xmlns:a16="http://schemas.microsoft.com/office/drawing/2014/main" id="{08474FBA-C64F-E45A-DC4C-52C0A06BE8A6}"/>
              </a:ext>
            </a:extLst>
          </p:cNvPr>
          <p:cNvCxnSpPr>
            <a:cxnSpLocks/>
            <a:stCxn id="287" idx="3"/>
            <a:endCxn id="207" idx="1"/>
          </p:cNvCxnSpPr>
          <p:nvPr/>
        </p:nvCxnSpPr>
        <p:spPr>
          <a:xfrm flipV="1">
            <a:off x="6534891" y="9237726"/>
            <a:ext cx="1365327" cy="283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35" name="TextBox 46">
            <a:extLst>
              <a:ext uri="{FF2B5EF4-FFF2-40B4-BE49-F238E27FC236}">
                <a16:creationId xmlns="" xmlns:a16="http://schemas.microsoft.com/office/drawing/2014/main" id="{0D326190-2C3F-23A3-2D65-190194C78079}"/>
              </a:ext>
            </a:extLst>
          </p:cNvPr>
          <p:cNvSpPr txBox="1"/>
          <p:nvPr/>
        </p:nvSpPr>
        <p:spPr>
          <a:xfrm>
            <a:off x="7429488" y="3644096"/>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54" name="肘形接點 68">
            <a:extLst>
              <a:ext uri="{FF2B5EF4-FFF2-40B4-BE49-F238E27FC236}">
                <a16:creationId xmlns="" xmlns:a16="http://schemas.microsoft.com/office/drawing/2014/main" id="{AF486113-E948-FD0D-C817-2D5B9F0C414C}"/>
              </a:ext>
            </a:extLst>
          </p:cNvPr>
          <p:cNvCxnSpPr>
            <a:cxnSpLocks/>
            <a:stCxn id="220" idx="2"/>
            <a:endCxn id="213" idx="0"/>
          </p:cNvCxnSpPr>
          <p:nvPr/>
        </p:nvCxnSpPr>
        <p:spPr>
          <a:xfrm rot="16200000" flipH="1">
            <a:off x="8652497" y="3412538"/>
            <a:ext cx="320913" cy="465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63" name="肘形接點 68">
            <a:extLst>
              <a:ext uri="{FF2B5EF4-FFF2-40B4-BE49-F238E27FC236}">
                <a16:creationId xmlns="" xmlns:a16="http://schemas.microsoft.com/office/drawing/2014/main" id="{A53A5D57-A13C-E6F9-98C8-858A1AAFF338}"/>
              </a:ext>
            </a:extLst>
          </p:cNvPr>
          <p:cNvCxnSpPr>
            <a:cxnSpLocks/>
            <a:stCxn id="213" idx="1"/>
          </p:cNvCxnSpPr>
          <p:nvPr/>
        </p:nvCxnSpPr>
        <p:spPr>
          <a:xfrm rot="10800000">
            <a:off x="7286613" y="4001286"/>
            <a:ext cx="686379" cy="507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87" name="表格 30">
            <a:extLst>
              <a:ext uri="{FF2B5EF4-FFF2-40B4-BE49-F238E27FC236}">
                <a16:creationId xmlns="" xmlns:a16="http://schemas.microsoft.com/office/drawing/2014/main" id="{1AAE5486-F4FF-32A7-31BD-5035D07CD29B}"/>
              </a:ext>
            </a:extLst>
          </p:cNvPr>
          <p:cNvGraphicFramePr>
            <a:graphicFrameLocks noGrp="1"/>
          </p:cNvGraphicFramePr>
          <p:nvPr>
            <p:extLst>
              <p:ext uri="{D42A27DB-BD31-4B8C-83A1-F6EECF244321}">
                <p14:modId xmlns="" xmlns:p14="http://schemas.microsoft.com/office/powerpoint/2010/main" val="228349606"/>
              </p:ext>
            </p:extLst>
          </p:nvPr>
        </p:nvGraphicFramePr>
        <p:xfrm>
          <a:off x="4716267" y="8735581"/>
          <a:ext cx="1818624" cy="1009956"/>
        </p:xfrm>
        <a:graphic>
          <a:graphicData uri="http://schemas.openxmlformats.org/drawingml/2006/table">
            <a:tbl>
              <a:tblPr>
                <a:tableStyleId>{5940675A-B579-460E-94D1-54222C63F5DA}</a:tableStyleId>
              </a:tblPr>
              <a:tblGrid>
                <a:gridCol w="909312">
                  <a:extLst>
                    <a:ext uri="{9D8B030D-6E8A-4147-A177-3AD203B41FA5}">
                      <a16:colId xmlns="" xmlns:a16="http://schemas.microsoft.com/office/drawing/2014/main" val="3433979995"/>
                    </a:ext>
                  </a:extLst>
                </a:gridCol>
                <a:gridCol w="909312">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報廢品處理</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6" name="Group 220">
            <a:extLst>
              <a:ext uri="{FF2B5EF4-FFF2-40B4-BE49-F238E27FC236}">
                <a16:creationId xmlns="" xmlns:a16="http://schemas.microsoft.com/office/drawing/2014/main" id="{A3C59674-55E4-7A6C-8BEB-EDC57B26837F}"/>
              </a:ext>
            </a:extLst>
          </p:cNvPr>
          <p:cNvGrpSpPr/>
          <p:nvPr/>
        </p:nvGrpSpPr>
        <p:grpSpPr>
          <a:xfrm>
            <a:off x="6236726" y="8509126"/>
            <a:ext cx="533400" cy="408605"/>
            <a:chOff x="5906184" y="1486857"/>
            <a:chExt cx="355600" cy="272361"/>
          </a:xfrm>
        </p:grpSpPr>
        <p:sp>
          <p:nvSpPr>
            <p:cNvPr id="276" name="Oval 221">
              <a:extLst>
                <a:ext uri="{FF2B5EF4-FFF2-40B4-BE49-F238E27FC236}">
                  <a16:creationId xmlns="" xmlns:a16="http://schemas.microsoft.com/office/drawing/2014/main" id="{B37CA098-7C8E-41D7-0093-9C7F64FE5D9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8" name="TextBox 222">
              <a:extLst>
                <a:ext uri="{FF2B5EF4-FFF2-40B4-BE49-F238E27FC236}">
                  <a16:creationId xmlns="" xmlns:a16="http://schemas.microsoft.com/office/drawing/2014/main" id="{84B6B08E-5AED-FBC4-8FEE-2E402C13CFCC}"/>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9</a:t>
              </a:r>
              <a:endParaRPr lang="zh-TW" altLang="en-US" sz="1500" dirty="0">
                <a:latin typeface="微軟正黑體" panose="020B0604030504040204" pitchFamily="34" charset="-120"/>
                <a:ea typeface="微軟正黑體" panose="020B0604030504040204" pitchFamily="34" charset="-120"/>
              </a:endParaRPr>
            </a:p>
          </p:txBody>
        </p:sp>
      </p:grpSp>
      <p:grpSp>
        <p:nvGrpSpPr>
          <p:cNvPr id="27" name="Group 220">
            <a:extLst>
              <a:ext uri="{FF2B5EF4-FFF2-40B4-BE49-F238E27FC236}">
                <a16:creationId xmlns="" xmlns:a16="http://schemas.microsoft.com/office/drawing/2014/main" id="{2CE43854-D73D-46D5-A659-D46BB2EBDD55}"/>
              </a:ext>
            </a:extLst>
          </p:cNvPr>
          <p:cNvGrpSpPr/>
          <p:nvPr/>
        </p:nvGrpSpPr>
        <p:grpSpPr>
          <a:xfrm>
            <a:off x="9169908" y="4738599"/>
            <a:ext cx="533400" cy="408605"/>
            <a:chOff x="5906184" y="1486857"/>
            <a:chExt cx="355600" cy="272361"/>
          </a:xfrm>
        </p:grpSpPr>
        <p:sp>
          <p:nvSpPr>
            <p:cNvPr id="291" name="Oval 221">
              <a:extLst>
                <a:ext uri="{FF2B5EF4-FFF2-40B4-BE49-F238E27FC236}">
                  <a16:creationId xmlns="" xmlns:a16="http://schemas.microsoft.com/office/drawing/2014/main" id="{27B53124-8841-6A13-5C07-EC299095114F}"/>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92" name="TextBox 222">
              <a:extLst>
                <a:ext uri="{FF2B5EF4-FFF2-40B4-BE49-F238E27FC236}">
                  <a16:creationId xmlns="" xmlns:a16="http://schemas.microsoft.com/office/drawing/2014/main" id="{F7936F99-CBBE-B8C0-7F83-088411ED6E7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22" name="表格 30">
            <a:extLst>
              <a:ext uri="{FF2B5EF4-FFF2-40B4-BE49-F238E27FC236}">
                <a16:creationId xmlns="" xmlns:a16="http://schemas.microsoft.com/office/drawing/2014/main" id="{99018916-1AC8-7522-F569-BBA9E9BE9D52}"/>
              </a:ext>
            </a:extLst>
          </p:cNvPr>
          <p:cNvGraphicFramePr>
            <a:graphicFrameLocks noGrp="1"/>
          </p:cNvGraphicFramePr>
          <p:nvPr>
            <p:extLst>
              <p:ext uri="{D42A27DB-BD31-4B8C-83A1-F6EECF244321}">
                <p14:modId xmlns="" xmlns:p14="http://schemas.microsoft.com/office/powerpoint/2010/main" val="3076547186"/>
              </p:ext>
            </p:extLst>
          </p:nvPr>
        </p:nvGraphicFramePr>
        <p:xfrm>
          <a:off x="2539263" y="4583212"/>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主管審核</a:t>
                      </a:r>
                      <a:endParaRPr kumimoji="0" lang="en-US" altLang="zh-TW"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GB" sz="1500" dirty="0">
                          <a:latin typeface="微軟正黑體" panose="020B0604030504040204" pitchFamily="34" charset="-120"/>
                          <a:ea typeface="微軟正黑體" panose="020B0604030504040204" pitchFamily="34" charset="-120"/>
                        </a:rPr>
                        <a:t>BPM</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8" name="Group 220">
            <a:extLst>
              <a:ext uri="{FF2B5EF4-FFF2-40B4-BE49-F238E27FC236}">
                <a16:creationId xmlns="" xmlns:a16="http://schemas.microsoft.com/office/drawing/2014/main" id="{67E8FE9F-CEA5-7FBF-0857-A8BC03C53F91}"/>
              </a:ext>
            </a:extLst>
          </p:cNvPr>
          <p:cNvGrpSpPr/>
          <p:nvPr/>
        </p:nvGrpSpPr>
        <p:grpSpPr>
          <a:xfrm>
            <a:off x="4067493" y="4437397"/>
            <a:ext cx="533400" cy="408605"/>
            <a:chOff x="5906184" y="1486857"/>
            <a:chExt cx="355600" cy="272361"/>
          </a:xfrm>
        </p:grpSpPr>
        <p:sp>
          <p:nvSpPr>
            <p:cNvPr id="42" name="Oval 221">
              <a:extLst>
                <a:ext uri="{FF2B5EF4-FFF2-40B4-BE49-F238E27FC236}">
                  <a16:creationId xmlns="" xmlns:a16="http://schemas.microsoft.com/office/drawing/2014/main" id="{3B0CD804-330E-78D5-68E0-373554AA8A1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5" name="TextBox 222">
              <a:extLst>
                <a:ext uri="{FF2B5EF4-FFF2-40B4-BE49-F238E27FC236}">
                  <a16:creationId xmlns="" xmlns:a16="http://schemas.microsoft.com/office/drawing/2014/main" id="{D3E96ADF-F9F5-3E72-28FD-E33D998DD751}"/>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207" name="表格 30">
            <a:extLst>
              <a:ext uri="{FF2B5EF4-FFF2-40B4-BE49-F238E27FC236}">
                <a16:creationId xmlns="" xmlns:a16="http://schemas.microsoft.com/office/drawing/2014/main" id="{979264AD-271E-24B5-CEED-875D0665257E}"/>
              </a:ext>
            </a:extLst>
          </p:cNvPr>
          <p:cNvGraphicFramePr>
            <a:graphicFrameLocks noGrp="1"/>
          </p:cNvGraphicFramePr>
          <p:nvPr>
            <p:extLst>
              <p:ext uri="{D42A27DB-BD31-4B8C-83A1-F6EECF244321}">
                <p14:modId xmlns="" xmlns:p14="http://schemas.microsoft.com/office/powerpoint/2010/main" val="3149208056"/>
              </p:ext>
            </p:extLst>
          </p:nvPr>
        </p:nvGraphicFramePr>
        <p:xfrm>
          <a:off x="7900218" y="8618430"/>
          <a:ext cx="1821250" cy="1238591"/>
        </p:xfrm>
        <a:graphic>
          <a:graphicData uri="http://schemas.openxmlformats.org/drawingml/2006/table">
            <a:tbl>
              <a:tblPr>
                <a:tableStyleId>{5940675A-B579-460E-94D1-54222C63F5DA}</a:tableStyleId>
              </a:tblPr>
              <a:tblGrid>
                <a:gridCol w="910625">
                  <a:extLst>
                    <a:ext uri="{9D8B030D-6E8A-4147-A177-3AD203B41FA5}">
                      <a16:colId xmlns="" xmlns:a16="http://schemas.microsoft.com/office/drawing/2014/main" val="3433979995"/>
                    </a:ext>
                  </a:extLst>
                </a:gridCol>
                <a:gridCol w="910625">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報廢除帳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(Mvt.551)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9" name="Group 220">
            <a:extLst>
              <a:ext uri="{FF2B5EF4-FFF2-40B4-BE49-F238E27FC236}">
                <a16:creationId xmlns="" xmlns:a16="http://schemas.microsoft.com/office/drawing/2014/main" id="{FE2ABD5E-3515-821B-5B60-36FBACBE8BFD}"/>
              </a:ext>
            </a:extLst>
          </p:cNvPr>
          <p:cNvGrpSpPr/>
          <p:nvPr/>
        </p:nvGrpSpPr>
        <p:grpSpPr>
          <a:xfrm>
            <a:off x="9262680" y="8293833"/>
            <a:ext cx="533400" cy="408605"/>
            <a:chOff x="5906184" y="1486857"/>
            <a:chExt cx="355600" cy="272361"/>
          </a:xfrm>
        </p:grpSpPr>
        <p:sp>
          <p:nvSpPr>
            <p:cNvPr id="209" name="Oval 221">
              <a:extLst>
                <a:ext uri="{FF2B5EF4-FFF2-40B4-BE49-F238E27FC236}">
                  <a16:creationId xmlns="" xmlns:a16="http://schemas.microsoft.com/office/drawing/2014/main" id="{69209A54-47A5-BB96-C3F7-0888D06377D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0" name="TextBox 222">
              <a:extLst>
                <a:ext uri="{FF2B5EF4-FFF2-40B4-BE49-F238E27FC236}">
                  <a16:creationId xmlns="" xmlns:a16="http://schemas.microsoft.com/office/drawing/2014/main" id="{4A63D11E-7705-9534-2728-40E2EA7CD5F5}"/>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10</a:t>
              </a:r>
              <a:endParaRPr lang="zh-TW" altLang="en-US" sz="1500" dirty="0">
                <a:latin typeface="微軟正黑體" panose="020B0604030504040204" pitchFamily="34" charset="-120"/>
                <a:ea typeface="微軟正黑體" panose="020B0604030504040204" pitchFamily="34" charset="-120"/>
              </a:endParaRPr>
            </a:p>
          </p:txBody>
        </p:sp>
      </p:grpSp>
      <p:cxnSp>
        <p:nvCxnSpPr>
          <p:cNvPr id="212" name="肘形接點 68">
            <a:extLst>
              <a:ext uri="{FF2B5EF4-FFF2-40B4-BE49-F238E27FC236}">
                <a16:creationId xmlns="" xmlns:a16="http://schemas.microsoft.com/office/drawing/2014/main" id="{B6C774A2-93F2-E443-2E87-7E48B932B7CC}"/>
              </a:ext>
            </a:extLst>
          </p:cNvPr>
          <p:cNvCxnSpPr>
            <a:cxnSpLocks/>
            <a:stCxn id="207" idx="3"/>
            <a:endCxn id="205" idx="1"/>
          </p:cNvCxnSpPr>
          <p:nvPr/>
        </p:nvCxnSpPr>
        <p:spPr>
          <a:xfrm flipV="1">
            <a:off x="9721467" y="9229245"/>
            <a:ext cx="2484963" cy="848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6" name="流程圖: 接點 51">
            <a:extLst>
              <a:ext uri="{FF2B5EF4-FFF2-40B4-BE49-F238E27FC236}">
                <a16:creationId xmlns="" xmlns:a16="http://schemas.microsoft.com/office/drawing/2014/main" id="{D967927B-3C86-B513-B387-94246E7A3824}"/>
              </a:ext>
            </a:extLst>
          </p:cNvPr>
          <p:cNvSpPr/>
          <p:nvPr/>
        </p:nvSpPr>
        <p:spPr bwMode="auto">
          <a:xfrm>
            <a:off x="10592229" y="4891233"/>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C</a:t>
            </a:r>
            <a:endParaRPr lang="zh-TW" altLang="en-US" dirty="0">
              <a:latin typeface="微軟正黑體" panose="020B0604030504040204" pitchFamily="34" charset="-120"/>
              <a:ea typeface="微軟正黑體" panose="020B0604030504040204" pitchFamily="34" charset="-120"/>
            </a:endParaRPr>
          </a:p>
        </p:txBody>
      </p:sp>
      <p:cxnSp>
        <p:nvCxnSpPr>
          <p:cNvPr id="62" name="肘形接點 68">
            <a:extLst>
              <a:ext uri="{FF2B5EF4-FFF2-40B4-BE49-F238E27FC236}">
                <a16:creationId xmlns="" xmlns:a16="http://schemas.microsoft.com/office/drawing/2014/main" id="{3B1D3152-A086-98A0-55D8-BCBABE21A937}"/>
              </a:ext>
            </a:extLst>
          </p:cNvPr>
          <p:cNvCxnSpPr>
            <a:cxnSpLocks/>
            <a:stCxn id="255" idx="3"/>
            <a:endCxn id="287" idx="1"/>
          </p:cNvCxnSpPr>
          <p:nvPr/>
        </p:nvCxnSpPr>
        <p:spPr>
          <a:xfrm>
            <a:off x="4349880" y="9239248"/>
            <a:ext cx="366387" cy="131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4" name="肘形接點 68">
            <a:extLst>
              <a:ext uri="{FF2B5EF4-FFF2-40B4-BE49-F238E27FC236}">
                <a16:creationId xmlns="" xmlns:a16="http://schemas.microsoft.com/office/drawing/2014/main" id="{3C4022BA-8145-634B-106D-E72D94AAEC09}"/>
              </a:ext>
            </a:extLst>
          </p:cNvPr>
          <p:cNvCxnSpPr>
            <a:cxnSpLocks/>
            <a:stCxn id="9" idx="3"/>
            <a:endCxn id="95" idx="2"/>
          </p:cNvCxnSpPr>
          <p:nvPr/>
        </p:nvCxnSpPr>
        <p:spPr>
          <a:xfrm>
            <a:off x="9720027" y="5541643"/>
            <a:ext cx="373305" cy="302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197" name="表格 30">
            <a:extLst>
              <a:ext uri="{FF2B5EF4-FFF2-40B4-BE49-F238E27FC236}">
                <a16:creationId xmlns="" xmlns:a16="http://schemas.microsoft.com/office/drawing/2014/main" id="{FA7DD13E-98FE-D42B-5C64-5CDDB206C899}"/>
              </a:ext>
            </a:extLst>
          </p:cNvPr>
          <p:cNvGraphicFramePr>
            <a:graphicFrameLocks noGrp="1"/>
          </p:cNvGraphicFramePr>
          <p:nvPr>
            <p:extLst>
              <p:ext uri="{D42A27DB-BD31-4B8C-83A1-F6EECF244321}">
                <p14:modId xmlns="" xmlns:p14="http://schemas.microsoft.com/office/powerpoint/2010/main" val="2767484482"/>
              </p:ext>
            </p:extLst>
          </p:nvPr>
        </p:nvGraphicFramePr>
        <p:xfrm>
          <a:off x="2531067" y="5921657"/>
          <a:ext cx="1821250" cy="1238591"/>
        </p:xfrm>
        <a:graphic>
          <a:graphicData uri="http://schemas.openxmlformats.org/drawingml/2006/table">
            <a:tbl>
              <a:tblPr>
                <a:tableStyleId>{5940675A-B579-460E-94D1-54222C63F5DA}</a:tableStyleId>
              </a:tblPr>
              <a:tblGrid>
                <a:gridCol w="910625">
                  <a:extLst>
                    <a:ext uri="{9D8B030D-6E8A-4147-A177-3AD203B41FA5}">
                      <a16:colId xmlns="" xmlns:a16="http://schemas.microsoft.com/office/drawing/2014/main" val="3433979995"/>
                    </a:ext>
                  </a:extLst>
                </a:gridCol>
                <a:gridCol w="910625">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MB21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algn="ctr" eaLnBrk="0" hangingPunct="0"/>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預留單移到待報廢</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(Mvt.311)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223" name="流程圖: 決策 50">
            <a:extLst>
              <a:ext uri="{FF2B5EF4-FFF2-40B4-BE49-F238E27FC236}">
                <a16:creationId xmlns="" xmlns:a16="http://schemas.microsoft.com/office/drawing/2014/main" id="{B9BE796D-1903-6D11-E19A-02E28AF29906}"/>
              </a:ext>
            </a:extLst>
          </p:cNvPr>
          <p:cNvSpPr/>
          <p:nvPr/>
        </p:nvSpPr>
        <p:spPr bwMode="auto">
          <a:xfrm>
            <a:off x="2590262" y="7394104"/>
            <a:ext cx="1688501" cy="878201"/>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sp>
        <p:nvSpPr>
          <p:cNvPr id="224" name="流程圖: 預設處理作業 21">
            <a:extLst>
              <a:ext uri="{FF2B5EF4-FFF2-40B4-BE49-F238E27FC236}">
                <a16:creationId xmlns="" xmlns:a16="http://schemas.microsoft.com/office/drawing/2014/main" id="{2FE46B99-0BA0-53E8-D9CF-67BD3489FE09}"/>
              </a:ext>
            </a:extLst>
          </p:cNvPr>
          <p:cNvSpPr/>
          <p:nvPr/>
        </p:nvSpPr>
        <p:spPr bwMode="auto">
          <a:xfrm>
            <a:off x="12206431" y="569607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cxnSp>
        <p:nvCxnSpPr>
          <p:cNvPr id="232" name="肘形接點 68">
            <a:extLst>
              <a:ext uri="{FF2B5EF4-FFF2-40B4-BE49-F238E27FC236}">
                <a16:creationId xmlns="" xmlns:a16="http://schemas.microsoft.com/office/drawing/2014/main" id="{74CF36C5-E146-B58D-E5A4-A7C120486F7A}"/>
              </a:ext>
            </a:extLst>
          </p:cNvPr>
          <p:cNvCxnSpPr>
            <a:cxnSpLocks/>
            <a:stCxn id="197" idx="3"/>
            <a:endCxn id="220" idx="1"/>
          </p:cNvCxnSpPr>
          <p:nvPr/>
        </p:nvCxnSpPr>
        <p:spPr>
          <a:xfrm flipV="1">
            <a:off x="4352316" y="2635117"/>
            <a:ext cx="3559392" cy="3905836"/>
          </a:xfrm>
          <a:prstGeom prst="bentConnector3">
            <a:avLst>
              <a:gd name="adj1" fmla="val 33975"/>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69" name="肘形接點 68">
            <a:extLst>
              <a:ext uri="{FF2B5EF4-FFF2-40B4-BE49-F238E27FC236}">
                <a16:creationId xmlns="" xmlns:a16="http://schemas.microsoft.com/office/drawing/2014/main" id="{E837F693-9DFD-A4F9-0C27-74F4E3CC6FC0}"/>
              </a:ext>
            </a:extLst>
          </p:cNvPr>
          <p:cNvCxnSpPr>
            <a:cxnSpLocks/>
            <a:stCxn id="223" idx="3"/>
            <a:endCxn id="19" idx="1"/>
          </p:cNvCxnSpPr>
          <p:nvPr/>
        </p:nvCxnSpPr>
        <p:spPr>
          <a:xfrm flipV="1">
            <a:off x="4278763" y="5265585"/>
            <a:ext cx="1518233" cy="2567619"/>
          </a:xfrm>
          <a:prstGeom prst="bentConnector3">
            <a:avLst>
              <a:gd name="adj1" fmla="val 4195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72" name="TextBox 46">
            <a:extLst>
              <a:ext uri="{FF2B5EF4-FFF2-40B4-BE49-F238E27FC236}">
                <a16:creationId xmlns="" xmlns:a16="http://schemas.microsoft.com/office/drawing/2014/main" id="{18D59892-0D16-909C-5351-33D4044F3D17}"/>
              </a:ext>
            </a:extLst>
          </p:cNvPr>
          <p:cNvSpPr txBox="1"/>
          <p:nvPr/>
        </p:nvSpPr>
        <p:spPr>
          <a:xfrm>
            <a:off x="4263445" y="7520711"/>
            <a:ext cx="318977" cy="369389"/>
          </a:xfrm>
          <a:prstGeom prst="rect">
            <a:avLst/>
          </a:prstGeom>
          <a:noFill/>
        </p:spPr>
        <p:txBody>
          <a:bodyPr wrap="square" lIns="137160" tIns="68580" rIns="137160" bIns="68580" rtlCol="0">
            <a:spAutoFit/>
          </a:bodyPr>
          <a:lstStyle/>
          <a:p>
            <a:r>
              <a:rPr lang="zh-TW" altLang="en-US" sz="1500" dirty="0"/>
              <a:t>是</a:t>
            </a:r>
          </a:p>
        </p:txBody>
      </p:sp>
      <p:cxnSp>
        <p:nvCxnSpPr>
          <p:cNvPr id="273" name="肘形接點 68">
            <a:extLst>
              <a:ext uri="{FF2B5EF4-FFF2-40B4-BE49-F238E27FC236}">
                <a16:creationId xmlns="" xmlns:a16="http://schemas.microsoft.com/office/drawing/2014/main" id="{E5A90999-F3D6-72B8-115D-A453CEEAFAB3}"/>
              </a:ext>
            </a:extLst>
          </p:cNvPr>
          <p:cNvCxnSpPr>
            <a:cxnSpLocks/>
            <a:stCxn id="197" idx="2"/>
            <a:endCxn id="223" idx="0"/>
          </p:cNvCxnSpPr>
          <p:nvPr/>
        </p:nvCxnSpPr>
        <p:spPr>
          <a:xfrm rot="5400000">
            <a:off x="3321176" y="7273585"/>
            <a:ext cx="233855" cy="717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0" name="肘形接點 68">
            <a:extLst>
              <a:ext uri="{FF2B5EF4-FFF2-40B4-BE49-F238E27FC236}">
                <a16:creationId xmlns="" xmlns:a16="http://schemas.microsoft.com/office/drawing/2014/main" id="{E6849675-3C70-08F4-F858-254B41848252}"/>
              </a:ext>
            </a:extLst>
          </p:cNvPr>
          <p:cNvCxnSpPr>
            <a:cxnSpLocks/>
            <a:stCxn id="223" idx="2"/>
            <a:endCxn id="255" idx="0"/>
          </p:cNvCxnSpPr>
          <p:nvPr/>
        </p:nvCxnSpPr>
        <p:spPr>
          <a:xfrm rot="16200000" flipH="1">
            <a:off x="3263060" y="8443757"/>
            <a:ext cx="347649" cy="474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06" name="流程圖: 文件 42">
            <a:extLst>
              <a:ext uri="{FF2B5EF4-FFF2-40B4-BE49-F238E27FC236}">
                <a16:creationId xmlns="" xmlns:a16="http://schemas.microsoft.com/office/drawing/2014/main" id="{7EBEBB2A-3A79-F399-EE22-45BB57662A7E}"/>
              </a:ext>
            </a:extLst>
          </p:cNvPr>
          <p:cNvSpPr/>
          <p:nvPr/>
        </p:nvSpPr>
        <p:spPr bwMode="auto">
          <a:xfrm>
            <a:off x="4135499" y="2421749"/>
            <a:ext cx="1350560"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r>
              <a:rPr lang="zh-TW" altLang="en-US" sz="1500" dirty="0">
                <a:latin typeface="微軟正黑體" panose="020B0604030504040204" pitchFamily="34" charset="-120"/>
                <a:ea typeface="微軟正黑體" panose="020B0604030504040204" pitchFamily="34" charset="-120"/>
              </a:rPr>
              <a:t>待報廢清單</a:t>
            </a:r>
          </a:p>
        </p:txBody>
      </p:sp>
      <p:grpSp>
        <p:nvGrpSpPr>
          <p:cNvPr id="30" name="Group 220">
            <a:extLst>
              <a:ext uri="{FF2B5EF4-FFF2-40B4-BE49-F238E27FC236}">
                <a16:creationId xmlns="" xmlns:a16="http://schemas.microsoft.com/office/drawing/2014/main" id="{72E78344-9C45-9BFD-BEDB-878F6830C1B9}"/>
              </a:ext>
            </a:extLst>
          </p:cNvPr>
          <p:cNvGrpSpPr/>
          <p:nvPr/>
        </p:nvGrpSpPr>
        <p:grpSpPr>
          <a:xfrm>
            <a:off x="4100841" y="5790410"/>
            <a:ext cx="533400" cy="408605"/>
            <a:chOff x="5906184" y="1486857"/>
            <a:chExt cx="355600" cy="272361"/>
          </a:xfrm>
        </p:grpSpPr>
        <p:sp>
          <p:nvSpPr>
            <p:cNvPr id="37" name="Oval 221">
              <a:extLst>
                <a:ext uri="{FF2B5EF4-FFF2-40B4-BE49-F238E27FC236}">
                  <a16:creationId xmlns="" xmlns:a16="http://schemas.microsoft.com/office/drawing/2014/main" id="{FD76D20E-6B54-FBEA-C28C-FAF2DA835A2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TextBox 222">
              <a:extLst>
                <a:ext uri="{FF2B5EF4-FFF2-40B4-BE49-F238E27FC236}">
                  <a16:creationId xmlns="" xmlns:a16="http://schemas.microsoft.com/office/drawing/2014/main" id="{FE178AA4-CA6B-D4A7-0593-266CB61650A6}"/>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333" name="TextBox 46">
            <a:extLst>
              <a:ext uri="{FF2B5EF4-FFF2-40B4-BE49-F238E27FC236}">
                <a16:creationId xmlns="" xmlns:a16="http://schemas.microsoft.com/office/drawing/2014/main" id="{7F539AA4-D36C-4683-D936-808F9B441445}"/>
              </a:ext>
            </a:extLst>
          </p:cNvPr>
          <p:cNvSpPr txBox="1"/>
          <p:nvPr/>
        </p:nvSpPr>
        <p:spPr>
          <a:xfrm>
            <a:off x="3434813" y="8214458"/>
            <a:ext cx="318977" cy="369389"/>
          </a:xfrm>
          <a:prstGeom prst="rect">
            <a:avLst/>
          </a:prstGeom>
          <a:noFill/>
        </p:spPr>
        <p:txBody>
          <a:bodyPr wrap="square" lIns="137160" tIns="68580" rIns="137160" bIns="68580" rtlCol="0">
            <a:spAutoFit/>
          </a:bodyPr>
          <a:lstStyle/>
          <a:p>
            <a:r>
              <a:rPr lang="zh-TW" altLang="en-US" sz="1500" dirty="0"/>
              <a:t>否</a:t>
            </a:r>
          </a:p>
        </p:txBody>
      </p:sp>
      <p:sp>
        <p:nvSpPr>
          <p:cNvPr id="336" name="流程圖: 接點 51">
            <a:extLst>
              <a:ext uri="{FF2B5EF4-FFF2-40B4-BE49-F238E27FC236}">
                <a16:creationId xmlns="" xmlns:a16="http://schemas.microsoft.com/office/drawing/2014/main" id="{DDAC0434-963C-52DC-F3A9-43AE2743EB35}"/>
              </a:ext>
            </a:extLst>
          </p:cNvPr>
          <p:cNvSpPr/>
          <p:nvPr/>
        </p:nvSpPr>
        <p:spPr bwMode="auto">
          <a:xfrm>
            <a:off x="4985732" y="7787424"/>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C</a:t>
            </a:r>
            <a:endParaRPr lang="zh-TW" altLang="en-US" dirty="0">
              <a:latin typeface="微軟正黑體" panose="020B0604030504040204" pitchFamily="34" charset="-120"/>
              <a:ea typeface="微軟正黑體" panose="020B0604030504040204" pitchFamily="34" charset="-120"/>
            </a:endParaRPr>
          </a:p>
        </p:txBody>
      </p:sp>
      <p:cxnSp>
        <p:nvCxnSpPr>
          <p:cNvPr id="337" name="肘形接點 68">
            <a:extLst>
              <a:ext uri="{FF2B5EF4-FFF2-40B4-BE49-F238E27FC236}">
                <a16:creationId xmlns="" xmlns:a16="http://schemas.microsoft.com/office/drawing/2014/main" id="{2EF23430-4A55-55F0-9E34-8BBF16E712A3}"/>
              </a:ext>
            </a:extLst>
          </p:cNvPr>
          <p:cNvCxnSpPr>
            <a:cxnSpLocks/>
            <a:stCxn id="336" idx="4"/>
            <a:endCxn id="287" idx="0"/>
          </p:cNvCxnSpPr>
          <p:nvPr/>
        </p:nvCxnSpPr>
        <p:spPr>
          <a:xfrm rot="16200000" flipH="1">
            <a:off x="5201601" y="8311601"/>
            <a:ext cx="480784" cy="36717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1" name="Group 220">
            <a:extLst>
              <a:ext uri="{FF2B5EF4-FFF2-40B4-BE49-F238E27FC236}">
                <a16:creationId xmlns="" xmlns:a16="http://schemas.microsoft.com/office/drawing/2014/main" id="{043AA238-3396-C4BA-2C3C-699643921086}"/>
              </a:ext>
            </a:extLst>
          </p:cNvPr>
          <p:cNvGrpSpPr/>
          <p:nvPr/>
        </p:nvGrpSpPr>
        <p:grpSpPr>
          <a:xfrm>
            <a:off x="3980312" y="8446129"/>
            <a:ext cx="533400" cy="408605"/>
            <a:chOff x="5906184" y="1486857"/>
            <a:chExt cx="355600" cy="272361"/>
          </a:xfrm>
        </p:grpSpPr>
        <p:sp>
          <p:nvSpPr>
            <p:cNvPr id="342" name="Oval 221">
              <a:extLst>
                <a:ext uri="{FF2B5EF4-FFF2-40B4-BE49-F238E27FC236}">
                  <a16:creationId xmlns="" xmlns:a16="http://schemas.microsoft.com/office/drawing/2014/main" id="{322DDD56-4BB9-C82F-FD61-C03F9387C0A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43" name="TextBox 222">
              <a:extLst>
                <a:ext uri="{FF2B5EF4-FFF2-40B4-BE49-F238E27FC236}">
                  <a16:creationId xmlns="" xmlns:a16="http://schemas.microsoft.com/office/drawing/2014/main" id="{311FA237-A809-951D-C99A-40494BEA9BA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19" name="表格 30">
            <a:extLst>
              <a:ext uri="{FF2B5EF4-FFF2-40B4-BE49-F238E27FC236}">
                <a16:creationId xmlns="" xmlns:a16="http://schemas.microsoft.com/office/drawing/2014/main" id="{5AF74806-5BBD-2C58-F111-F47AE3B89902}"/>
              </a:ext>
            </a:extLst>
          </p:cNvPr>
          <p:cNvGraphicFramePr>
            <a:graphicFrameLocks noGrp="1"/>
          </p:cNvGraphicFramePr>
          <p:nvPr>
            <p:extLst>
              <p:ext uri="{D42A27DB-BD31-4B8C-83A1-F6EECF244321}">
                <p14:modId xmlns="" xmlns:p14="http://schemas.microsoft.com/office/powerpoint/2010/main" val="2337581266"/>
              </p:ext>
            </p:extLst>
          </p:nvPr>
        </p:nvGraphicFramePr>
        <p:xfrm>
          <a:off x="5796995" y="4760607"/>
          <a:ext cx="1860324" cy="1009956"/>
        </p:xfrm>
        <a:graphic>
          <a:graphicData uri="http://schemas.openxmlformats.org/drawingml/2006/table">
            <a:tbl>
              <a:tblPr>
                <a:tableStyleId>{5940675A-B579-460E-94D1-54222C63F5DA}</a:tableStyleId>
              </a:tblPr>
              <a:tblGrid>
                <a:gridCol w="930162">
                  <a:extLst>
                    <a:ext uri="{9D8B030D-6E8A-4147-A177-3AD203B41FA5}">
                      <a16:colId xmlns="" xmlns:a16="http://schemas.microsoft.com/office/drawing/2014/main" val="3433979995"/>
                    </a:ext>
                  </a:extLst>
                </a:gridCol>
                <a:gridCol w="930162">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ZMM087</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拋預留單至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aphicFrame>
        <p:nvGraphicFramePr>
          <p:cNvPr id="20" name="表格 30">
            <a:extLst>
              <a:ext uri="{FF2B5EF4-FFF2-40B4-BE49-F238E27FC236}">
                <a16:creationId xmlns="" xmlns:a16="http://schemas.microsoft.com/office/drawing/2014/main" id="{42183012-7054-C4F1-6FD5-4E326DD123DB}"/>
              </a:ext>
            </a:extLst>
          </p:cNvPr>
          <p:cNvGraphicFramePr>
            <a:graphicFrameLocks noGrp="1"/>
          </p:cNvGraphicFramePr>
          <p:nvPr>
            <p:extLst>
              <p:ext uri="{D42A27DB-BD31-4B8C-83A1-F6EECF244321}">
                <p14:modId xmlns="" xmlns:p14="http://schemas.microsoft.com/office/powerpoint/2010/main" val="4109212733"/>
              </p:ext>
            </p:extLst>
          </p:nvPr>
        </p:nvGraphicFramePr>
        <p:xfrm>
          <a:off x="5649359" y="6548833"/>
          <a:ext cx="1860324" cy="1238591"/>
        </p:xfrm>
        <a:graphic>
          <a:graphicData uri="http://schemas.openxmlformats.org/drawingml/2006/table">
            <a:tbl>
              <a:tblPr>
                <a:tableStyleId>{5940675A-B579-460E-94D1-54222C63F5DA}</a:tableStyleId>
              </a:tblPr>
              <a:tblGrid>
                <a:gridCol w="930162">
                  <a:extLst>
                    <a:ext uri="{9D8B030D-6E8A-4147-A177-3AD203B41FA5}">
                      <a16:colId xmlns="" xmlns:a16="http://schemas.microsoft.com/office/drawing/2014/main" val="3433979995"/>
                    </a:ext>
                  </a:extLst>
                </a:gridCol>
                <a:gridCol w="930162">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ZMM088</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回傳預留單過帳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5" name="肘形接點 68">
            <a:extLst>
              <a:ext uri="{FF2B5EF4-FFF2-40B4-BE49-F238E27FC236}">
                <a16:creationId xmlns="" xmlns:a16="http://schemas.microsoft.com/office/drawing/2014/main" id="{A62A90AE-693F-CCD1-BACE-FF6B47828CB0}"/>
              </a:ext>
            </a:extLst>
          </p:cNvPr>
          <p:cNvCxnSpPr>
            <a:cxnSpLocks/>
            <a:stCxn id="19" idx="3"/>
            <a:endCxn id="224" idx="1"/>
          </p:cNvCxnSpPr>
          <p:nvPr/>
        </p:nvCxnSpPr>
        <p:spPr>
          <a:xfrm>
            <a:off x="7657319" y="5265585"/>
            <a:ext cx="4549112" cy="1049787"/>
          </a:xfrm>
          <a:prstGeom prst="bentConnector3">
            <a:avLst>
              <a:gd name="adj1" fmla="val 343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99" name="肘形接點 68">
            <a:extLst>
              <a:ext uri="{FF2B5EF4-FFF2-40B4-BE49-F238E27FC236}">
                <a16:creationId xmlns="" xmlns:a16="http://schemas.microsoft.com/office/drawing/2014/main" id="{188EAE58-FBD5-1294-5327-2E715B922BEE}"/>
              </a:ext>
            </a:extLst>
          </p:cNvPr>
          <p:cNvCxnSpPr>
            <a:cxnSpLocks/>
            <a:stCxn id="224" idx="2"/>
            <a:endCxn id="20" idx="3"/>
          </p:cNvCxnSpPr>
          <p:nvPr/>
        </p:nvCxnSpPr>
        <p:spPr>
          <a:xfrm rot="5400000">
            <a:off x="10194605" y="4249745"/>
            <a:ext cx="233462" cy="5603304"/>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6" name="肘形接點 68">
            <a:extLst>
              <a:ext uri="{FF2B5EF4-FFF2-40B4-BE49-F238E27FC236}">
                <a16:creationId xmlns="" xmlns:a16="http://schemas.microsoft.com/office/drawing/2014/main" id="{EDB68655-64F8-9EFA-ED09-09D9434B746B}"/>
              </a:ext>
            </a:extLst>
          </p:cNvPr>
          <p:cNvCxnSpPr>
            <a:cxnSpLocks/>
            <a:stCxn id="20" idx="2"/>
            <a:endCxn id="287" idx="0"/>
          </p:cNvCxnSpPr>
          <p:nvPr/>
        </p:nvCxnSpPr>
        <p:spPr>
          <a:xfrm rot="5400000">
            <a:off x="5628474" y="7784533"/>
            <a:ext cx="948157" cy="95394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5"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
        <p:nvSpPr>
          <p:cNvPr id="95" name="流程圖: 接點 51">
            <a:extLst>
              <a:ext uri="{FF2B5EF4-FFF2-40B4-BE49-F238E27FC236}">
                <a16:creationId xmlns="" xmlns:a16="http://schemas.microsoft.com/office/drawing/2014/main" id="{D967927B-3C86-B513-B387-94246E7A3824}"/>
              </a:ext>
            </a:extLst>
          </p:cNvPr>
          <p:cNvSpPr/>
          <p:nvPr/>
        </p:nvSpPr>
        <p:spPr bwMode="auto">
          <a:xfrm>
            <a:off x="10093332" y="5310984"/>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D</a:t>
            </a:r>
            <a:endParaRPr lang="zh-TW" altLang="en-US" dirty="0">
              <a:latin typeface="微軟正黑體" panose="020B0604030504040204" pitchFamily="34" charset="-120"/>
              <a:ea typeface="微軟正黑體" panose="020B0604030504040204" pitchFamily="34" charset="-120"/>
            </a:endParaRPr>
          </a:p>
        </p:txBody>
      </p:sp>
      <p:sp>
        <p:nvSpPr>
          <p:cNvPr id="97" name="流程圖: 接點 51">
            <a:extLst>
              <a:ext uri="{FF2B5EF4-FFF2-40B4-BE49-F238E27FC236}">
                <a16:creationId xmlns="" xmlns:a16="http://schemas.microsoft.com/office/drawing/2014/main" id="{D967927B-3C86-B513-B387-94246E7A3824}"/>
              </a:ext>
            </a:extLst>
          </p:cNvPr>
          <p:cNvSpPr/>
          <p:nvPr/>
        </p:nvSpPr>
        <p:spPr bwMode="auto">
          <a:xfrm>
            <a:off x="10539422" y="1676523"/>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D</a:t>
            </a:r>
            <a:endParaRPr lang="zh-TW" altLang="en-US" dirty="0">
              <a:latin typeface="微軟正黑體" panose="020B0604030504040204" pitchFamily="34" charset="-120"/>
              <a:ea typeface="微軟正黑體" panose="020B0604030504040204" pitchFamily="34" charset="-120"/>
            </a:endParaRPr>
          </a:p>
        </p:txBody>
      </p:sp>
      <p:sp>
        <p:nvSpPr>
          <p:cNvPr id="98" name="流程圖: 決策 50">
            <a:extLst>
              <a:ext uri="{FF2B5EF4-FFF2-40B4-BE49-F238E27FC236}">
                <a16:creationId xmlns="" xmlns:a16="http://schemas.microsoft.com/office/drawing/2014/main" id="{1F7F1C55-762B-09BE-F6F7-B9FD79717694}"/>
              </a:ext>
            </a:extLst>
          </p:cNvPr>
          <p:cNvSpPr/>
          <p:nvPr/>
        </p:nvSpPr>
        <p:spPr bwMode="auto">
          <a:xfrm>
            <a:off x="9967918" y="2353394"/>
            <a:ext cx="168458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受海關監管</a:t>
            </a:r>
            <a:endParaRPr lang="en-US" altLang="zh-TW" sz="1500" dirty="0">
              <a:latin typeface="微軟正黑體" panose="020B0604030504040204" pitchFamily="34" charset="-120"/>
              <a:ea typeface="微軟正黑體" panose="020B0604030504040204" pitchFamily="34" charset="-120"/>
            </a:endParaRPr>
          </a:p>
        </p:txBody>
      </p:sp>
      <p:cxnSp>
        <p:nvCxnSpPr>
          <p:cNvPr id="99" name="肘形接點 68">
            <a:extLst>
              <a:ext uri="{FF2B5EF4-FFF2-40B4-BE49-F238E27FC236}">
                <a16:creationId xmlns="" xmlns:a16="http://schemas.microsoft.com/office/drawing/2014/main" id="{A53A5D57-A13C-E6F9-98C8-858A1AAFF338}"/>
              </a:ext>
            </a:extLst>
          </p:cNvPr>
          <p:cNvCxnSpPr>
            <a:cxnSpLocks/>
            <a:stCxn id="97" idx="4"/>
            <a:endCxn id="98" idx="0"/>
          </p:cNvCxnSpPr>
          <p:nvPr/>
        </p:nvCxnSpPr>
        <p:spPr>
          <a:xfrm rot="5400000">
            <a:off x="10706404" y="2247703"/>
            <a:ext cx="209496" cy="188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2" name="肘形接點 68">
            <a:extLst>
              <a:ext uri="{FF2B5EF4-FFF2-40B4-BE49-F238E27FC236}">
                <a16:creationId xmlns="" xmlns:a16="http://schemas.microsoft.com/office/drawing/2014/main" id="{A53A5D57-A13C-E6F9-98C8-858A1AAFF338}"/>
              </a:ext>
            </a:extLst>
          </p:cNvPr>
          <p:cNvCxnSpPr>
            <a:cxnSpLocks/>
            <a:stCxn id="98" idx="2"/>
            <a:endCxn id="117" idx="0"/>
          </p:cNvCxnSpPr>
          <p:nvPr/>
        </p:nvCxnSpPr>
        <p:spPr>
          <a:xfrm rot="16200000" flipH="1">
            <a:off x="10679837" y="3345839"/>
            <a:ext cx="285752" cy="2500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6" name="肘形接點 68">
            <a:extLst>
              <a:ext uri="{FF2B5EF4-FFF2-40B4-BE49-F238E27FC236}">
                <a16:creationId xmlns="" xmlns:a16="http://schemas.microsoft.com/office/drawing/2014/main" id="{4A4BF398-DB44-F166-D9E3-2412F110238F}"/>
              </a:ext>
            </a:extLst>
          </p:cNvPr>
          <p:cNvCxnSpPr>
            <a:cxnSpLocks/>
            <a:stCxn id="98" idx="3"/>
            <a:endCxn id="109" idx="2"/>
          </p:cNvCxnSpPr>
          <p:nvPr/>
        </p:nvCxnSpPr>
        <p:spPr>
          <a:xfrm>
            <a:off x="11652499" y="2784431"/>
            <a:ext cx="815749" cy="114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9" name="流程圖: 接點 51">
            <a:extLst>
              <a:ext uri="{FF2B5EF4-FFF2-40B4-BE49-F238E27FC236}">
                <a16:creationId xmlns="" xmlns:a16="http://schemas.microsoft.com/office/drawing/2014/main" id="{D967927B-3C86-B513-B387-94246E7A3824}"/>
              </a:ext>
            </a:extLst>
          </p:cNvPr>
          <p:cNvSpPr/>
          <p:nvPr/>
        </p:nvSpPr>
        <p:spPr bwMode="auto">
          <a:xfrm>
            <a:off x="12468248" y="2551888"/>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C</a:t>
            </a:r>
            <a:endParaRPr lang="zh-TW" altLang="en-US" dirty="0">
              <a:latin typeface="微軟正黑體" panose="020B0604030504040204" pitchFamily="34" charset="-120"/>
              <a:ea typeface="微軟正黑體" panose="020B0604030504040204" pitchFamily="34" charset="-120"/>
            </a:endParaRPr>
          </a:p>
        </p:txBody>
      </p:sp>
      <p:sp>
        <p:nvSpPr>
          <p:cNvPr id="112" name="流程圖: 接點 51">
            <a:extLst>
              <a:ext uri="{FF2B5EF4-FFF2-40B4-BE49-F238E27FC236}">
                <a16:creationId xmlns="" xmlns:a16="http://schemas.microsoft.com/office/drawing/2014/main" id="{D967927B-3C86-B513-B387-94246E7A3824}"/>
              </a:ext>
            </a:extLst>
          </p:cNvPr>
          <p:cNvSpPr/>
          <p:nvPr/>
        </p:nvSpPr>
        <p:spPr bwMode="auto">
          <a:xfrm>
            <a:off x="6786546" y="3786972"/>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D</a:t>
            </a:r>
            <a:endParaRPr lang="zh-TW" altLang="en-US" dirty="0">
              <a:latin typeface="微軟正黑體" panose="020B0604030504040204" pitchFamily="34" charset="-120"/>
              <a:ea typeface="微軟正黑體" panose="020B0604030504040204" pitchFamily="34" charset="-120"/>
            </a:endParaRPr>
          </a:p>
        </p:txBody>
      </p:sp>
      <p:sp>
        <p:nvSpPr>
          <p:cNvPr id="113" name="TextBox 46">
            <a:extLst>
              <a:ext uri="{FF2B5EF4-FFF2-40B4-BE49-F238E27FC236}">
                <a16:creationId xmlns="" xmlns:a16="http://schemas.microsoft.com/office/drawing/2014/main" id="{BE222A17-7615-3F47-B207-BC6B361F0D2F}"/>
              </a:ext>
            </a:extLst>
          </p:cNvPr>
          <p:cNvSpPr txBox="1"/>
          <p:nvPr/>
        </p:nvSpPr>
        <p:spPr>
          <a:xfrm>
            <a:off x="10968050" y="3072592"/>
            <a:ext cx="404262" cy="369389"/>
          </a:xfrm>
          <a:prstGeom prst="rect">
            <a:avLst/>
          </a:prstGeom>
          <a:noFill/>
        </p:spPr>
        <p:txBody>
          <a:bodyPr wrap="square" lIns="137160" tIns="68580" rIns="137160" bIns="68580" rtlCol="0">
            <a:spAutoFit/>
          </a:bodyPr>
          <a:lstStyle/>
          <a:p>
            <a:r>
              <a:rPr lang="zh-TW" altLang="en-US" sz="1500" dirty="0"/>
              <a:t>是</a:t>
            </a:r>
          </a:p>
        </p:txBody>
      </p:sp>
      <p:sp>
        <p:nvSpPr>
          <p:cNvPr id="114" name="TextBox 46">
            <a:extLst>
              <a:ext uri="{FF2B5EF4-FFF2-40B4-BE49-F238E27FC236}">
                <a16:creationId xmlns="" xmlns:a16="http://schemas.microsoft.com/office/drawing/2014/main" id="{0D326190-2C3F-23A3-2D65-190194C78079}"/>
              </a:ext>
            </a:extLst>
          </p:cNvPr>
          <p:cNvSpPr txBox="1"/>
          <p:nvPr/>
        </p:nvSpPr>
        <p:spPr>
          <a:xfrm>
            <a:off x="11539554" y="2358212"/>
            <a:ext cx="404262" cy="369389"/>
          </a:xfrm>
          <a:prstGeom prst="rect">
            <a:avLst/>
          </a:prstGeom>
          <a:noFill/>
        </p:spPr>
        <p:txBody>
          <a:bodyPr wrap="square" lIns="137160" tIns="68580" rIns="137160" bIns="68580" rtlCol="0">
            <a:spAutoFit/>
          </a:bodyPr>
          <a:lstStyle/>
          <a:p>
            <a:r>
              <a:rPr lang="zh-TW" altLang="en-US" sz="1500" dirty="0"/>
              <a:t>否</a:t>
            </a:r>
          </a:p>
        </p:txBody>
      </p:sp>
      <p:grpSp>
        <p:nvGrpSpPr>
          <p:cNvPr id="116" name="群組 115"/>
          <p:cNvGrpSpPr/>
          <p:nvPr/>
        </p:nvGrpSpPr>
        <p:grpSpPr>
          <a:xfrm>
            <a:off x="9929818" y="3501220"/>
            <a:ext cx="1810800" cy="1217256"/>
            <a:chOff x="15073354" y="8308668"/>
            <a:chExt cx="1810800" cy="1217256"/>
          </a:xfrm>
        </p:grpSpPr>
        <p:sp>
          <p:nvSpPr>
            <p:cNvPr id="117" name="流程圖: 程序 11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18" name="流程圖: 程序 11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處理關務，並</a:t>
              </a:r>
              <a:r>
                <a:rPr lang="zh-TW" altLang="en-US" sz="1500" dirty="0" smtClean="0">
                  <a:latin typeface="微軟正黑體" panose="020B0604030504040204" pitchFamily="34" charset="-120"/>
                  <a:ea typeface="微軟正黑體" panose="020B0604030504040204" pitchFamily="34" charset="-120"/>
                </a:rPr>
                <a:t>提報</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zh-TW" altLang="en-US" sz="1500" dirty="0" smtClean="0">
                  <a:latin typeface="微軟正黑體" panose="020B0604030504040204" pitchFamily="34" charset="-120"/>
                  <a:ea typeface="微軟正黑體" panose="020B0604030504040204" pitchFamily="34" charset="-120"/>
                </a:rPr>
                <a:t>稅務</a:t>
              </a:r>
              <a:r>
                <a:rPr lang="zh-TW" altLang="en-US" sz="1500" dirty="0" smtClean="0">
                  <a:latin typeface="微軟正黑體" panose="020B0604030504040204" pitchFamily="34" charset="-120"/>
                  <a:ea typeface="微軟正黑體" panose="020B0604030504040204" pitchFamily="34" charset="-120"/>
                </a:rPr>
                <a:t>海關會勘</a:t>
              </a:r>
              <a:endParaRPr lang="en-US" altLang="zh-TW" sz="1500" dirty="0">
                <a:latin typeface="微軟正黑體" panose="020B0604030504040204" pitchFamily="34" charset="-120"/>
                <a:ea typeface="微軟正黑體" panose="020B0604030504040204" pitchFamily="34" charset="-120"/>
              </a:endParaRPr>
            </a:p>
          </p:txBody>
        </p:sp>
        <p:sp>
          <p:nvSpPr>
            <p:cNvPr id="119" name="流程圖: 程序 11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20" name="流程圖: 程序 119"/>
            <p:cNvSpPr/>
            <p:nvPr/>
          </p:nvSpPr>
          <p:spPr>
            <a:xfrm>
              <a:off x="15996112"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zh-TW" altLang="en-US" sz="1500" spc="-1" dirty="0" smtClean="0">
                  <a:solidFill>
                    <a:schemeClr val="dk1"/>
                  </a:solidFill>
                  <a:latin typeface="微軟正黑體"/>
                  <a:ea typeface="微軟正黑體"/>
                </a:rPr>
                <a:t>手動</a:t>
              </a:r>
              <a:endParaRPr lang="zh-TW" altLang="en-US" sz="1500" spc="-1" dirty="0">
                <a:solidFill>
                  <a:schemeClr val="dk1"/>
                </a:solidFill>
                <a:latin typeface="微軟正黑體"/>
                <a:ea typeface="微軟正黑體"/>
              </a:endParaRPr>
            </a:p>
          </p:txBody>
        </p:sp>
      </p:grpSp>
      <p:grpSp>
        <p:nvGrpSpPr>
          <p:cNvPr id="121" name="Group 220">
            <a:extLst>
              <a:ext uri="{FF2B5EF4-FFF2-40B4-BE49-F238E27FC236}">
                <a16:creationId xmlns:a16="http://schemas.microsoft.com/office/drawing/2014/main" xmlns="" id="{A9B401BC-DE49-5FC0-6565-D216316A23DA}"/>
              </a:ext>
            </a:extLst>
          </p:cNvPr>
          <p:cNvGrpSpPr/>
          <p:nvPr/>
        </p:nvGrpSpPr>
        <p:grpSpPr>
          <a:xfrm>
            <a:off x="11501454" y="3286906"/>
            <a:ext cx="533400" cy="408605"/>
            <a:chOff x="5906184" y="1486857"/>
            <a:chExt cx="355600" cy="272361"/>
          </a:xfrm>
        </p:grpSpPr>
        <p:sp>
          <p:nvSpPr>
            <p:cNvPr id="122"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23"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zh-TW" altLang="en-US" sz="2400" dirty="0">
                <a:solidFill>
                  <a:schemeClr val="dk1"/>
                </a:solidFill>
                <a:latin typeface="Arial"/>
                <a:ea typeface="Arial"/>
                <a:cs typeface="Arial"/>
                <a:sym typeface="Arial"/>
              </a:rPr>
              <a:t>與</a:t>
            </a:r>
            <a:r>
              <a:rPr lang="en-US" altLang="zh-TW" sz="2400" dirty="0">
                <a:solidFill>
                  <a:schemeClr val="dk1"/>
                </a:solidFill>
                <a:latin typeface="Arial"/>
                <a:ea typeface="Arial"/>
                <a:cs typeface="Arial"/>
                <a:sym typeface="Arial"/>
              </a:rPr>
              <a:t>WMS</a:t>
            </a:r>
            <a:r>
              <a:rPr lang="zh-TW" altLang="en-US" sz="2400" dirty="0">
                <a:solidFill>
                  <a:schemeClr val="dk1"/>
                </a:solidFill>
                <a:latin typeface="Arial"/>
                <a:ea typeface="Arial"/>
                <a:cs typeface="Arial"/>
                <a:sym typeface="Arial"/>
              </a:rPr>
              <a:t>介接說明補充</a:t>
            </a:r>
            <a:endParaRPr lang="en-US" altLang="zh-TW" sz="2400" dirty="0">
              <a:solidFill>
                <a:schemeClr val="dk1"/>
              </a:solidFill>
              <a:latin typeface="Arial"/>
              <a:ea typeface="Arial"/>
              <a:cs typeface="Arial"/>
              <a:sym typeface="Arial"/>
            </a:endParaRPr>
          </a:p>
          <a:p>
            <a:endParaRPr lang="en-US" altLang="zh-TW" sz="2400" dirty="0">
              <a:solidFill>
                <a:schemeClr val="dk1"/>
              </a:solidFill>
              <a:latin typeface="Arial"/>
              <a:ea typeface="Arial"/>
              <a:cs typeface="Arial"/>
              <a:sym typeface="Arial"/>
            </a:endParaRPr>
          </a:p>
          <a:p>
            <a:endParaRPr lang="en-US" sz="2400" dirty="0">
              <a:solidFill>
                <a:schemeClr val="dk1"/>
              </a:solidFill>
            </a:endParaRPr>
          </a:p>
          <a:p>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sp>
        <p:nvSpPr>
          <p:cNvPr id="3" name="圓角矩形 28">
            <a:extLst>
              <a:ext uri="{FF2B5EF4-FFF2-40B4-BE49-F238E27FC236}">
                <a16:creationId xmlns="" xmlns:a16="http://schemas.microsoft.com/office/drawing/2014/main" id="{B881ECDB-09BE-F035-210F-3BBF0CE73E8B}"/>
              </a:ext>
            </a:extLst>
          </p:cNvPr>
          <p:cNvSpPr/>
          <p:nvPr/>
        </p:nvSpPr>
        <p:spPr>
          <a:xfrm>
            <a:off x="1534155" y="3695016"/>
            <a:ext cx="2126940" cy="869012"/>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sp>
        <p:nvSpPr>
          <p:cNvPr id="4" name="圓角矩形 40">
            <a:extLst>
              <a:ext uri="{FF2B5EF4-FFF2-40B4-BE49-F238E27FC236}">
                <a16:creationId xmlns="" xmlns:a16="http://schemas.microsoft.com/office/drawing/2014/main" id="{E2F6EBA1-833B-6EDC-5D01-270A3CC7D137}"/>
              </a:ext>
            </a:extLst>
          </p:cNvPr>
          <p:cNvSpPr/>
          <p:nvPr/>
        </p:nvSpPr>
        <p:spPr>
          <a:xfrm>
            <a:off x="4635501" y="3681298"/>
            <a:ext cx="2135580" cy="869012"/>
          </a:xfrm>
          <a:prstGeom prst="roundRect">
            <a:avLst/>
          </a:prstGeom>
          <a:solidFill>
            <a:schemeClr val="accent1">
              <a:lumMod val="75000"/>
            </a:schemeClr>
          </a:solidFill>
          <a:ln>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下架移倉</a:t>
            </a:r>
          </a:p>
        </p:txBody>
      </p:sp>
      <p:sp>
        <p:nvSpPr>
          <p:cNvPr id="5" name="圓角矩形 28">
            <a:extLst>
              <a:ext uri="{FF2B5EF4-FFF2-40B4-BE49-F238E27FC236}">
                <a16:creationId xmlns="" xmlns:a16="http://schemas.microsoft.com/office/drawing/2014/main" id="{7198FDBD-A622-8EE5-9645-4F3CED2FFF40}"/>
              </a:ext>
            </a:extLst>
          </p:cNvPr>
          <p:cNvSpPr/>
          <p:nvPr/>
        </p:nvSpPr>
        <p:spPr>
          <a:xfrm>
            <a:off x="7924481" y="3695016"/>
            <a:ext cx="2126940" cy="869012"/>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調倉</a:t>
            </a:r>
          </a:p>
        </p:txBody>
      </p:sp>
      <p:cxnSp>
        <p:nvCxnSpPr>
          <p:cNvPr id="6" name="接點: 肘形 5">
            <a:extLst>
              <a:ext uri="{FF2B5EF4-FFF2-40B4-BE49-F238E27FC236}">
                <a16:creationId xmlns="" xmlns:a16="http://schemas.microsoft.com/office/drawing/2014/main" id="{1BCFE2D5-B8B9-1765-F56D-288BF6E8B72F}"/>
              </a:ext>
            </a:extLst>
          </p:cNvPr>
          <p:cNvCxnSpPr>
            <a:cxnSpLocks/>
            <a:stCxn id="3" idx="3"/>
            <a:endCxn id="4" idx="1"/>
          </p:cNvCxnSpPr>
          <p:nvPr/>
        </p:nvCxnSpPr>
        <p:spPr>
          <a:xfrm flipV="1">
            <a:off x="3661095" y="4115804"/>
            <a:ext cx="97440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7" name="Group 220">
            <a:extLst>
              <a:ext uri="{FF2B5EF4-FFF2-40B4-BE49-F238E27FC236}">
                <a16:creationId xmlns="" xmlns:a16="http://schemas.microsoft.com/office/drawing/2014/main" id="{9DAF0712-03C1-1583-2521-EEE2CBBBC2F0}"/>
              </a:ext>
            </a:extLst>
          </p:cNvPr>
          <p:cNvGrpSpPr/>
          <p:nvPr/>
        </p:nvGrpSpPr>
        <p:grpSpPr>
          <a:xfrm>
            <a:off x="3971094" y="3476996"/>
            <a:ext cx="533400" cy="408605"/>
            <a:chOff x="5906184" y="1486857"/>
            <a:chExt cx="355600" cy="272361"/>
          </a:xfrm>
        </p:grpSpPr>
        <p:sp>
          <p:nvSpPr>
            <p:cNvPr id="8" name="Oval 221">
              <a:extLst>
                <a:ext uri="{FF2B5EF4-FFF2-40B4-BE49-F238E27FC236}">
                  <a16:creationId xmlns="" xmlns:a16="http://schemas.microsoft.com/office/drawing/2014/main" id="{EF9673EA-71BC-9C65-6D5C-C6C26862DEA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TextBox 222">
              <a:extLst>
                <a:ext uri="{FF2B5EF4-FFF2-40B4-BE49-F238E27FC236}">
                  <a16:creationId xmlns="" xmlns:a16="http://schemas.microsoft.com/office/drawing/2014/main" id="{BA769483-551C-964E-D6F1-D2DFBBA04ED0}"/>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0" name="接點: 肘形 9">
            <a:extLst>
              <a:ext uri="{FF2B5EF4-FFF2-40B4-BE49-F238E27FC236}">
                <a16:creationId xmlns="" xmlns:a16="http://schemas.microsoft.com/office/drawing/2014/main" id="{9DF4551E-ED2E-F10C-84EB-D677EBF3F3F1}"/>
              </a:ext>
            </a:extLst>
          </p:cNvPr>
          <p:cNvCxnSpPr>
            <a:cxnSpLocks/>
            <a:stCxn id="4" idx="3"/>
            <a:endCxn id="5" idx="1"/>
          </p:cNvCxnSpPr>
          <p:nvPr/>
        </p:nvCxnSpPr>
        <p:spPr>
          <a:xfrm>
            <a:off x="6771082" y="4115804"/>
            <a:ext cx="1153400"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1" name="Group 220">
            <a:extLst>
              <a:ext uri="{FF2B5EF4-FFF2-40B4-BE49-F238E27FC236}">
                <a16:creationId xmlns="" xmlns:a16="http://schemas.microsoft.com/office/drawing/2014/main" id="{AD35FDB9-4F6A-1783-CE9D-D9D9CC7B9FBE}"/>
              </a:ext>
            </a:extLst>
          </p:cNvPr>
          <p:cNvGrpSpPr/>
          <p:nvPr/>
        </p:nvGrpSpPr>
        <p:grpSpPr>
          <a:xfrm>
            <a:off x="7156482" y="3504729"/>
            <a:ext cx="533400" cy="408605"/>
            <a:chOff x="5906184" y="1486857"/>
            <a:chExt cx="355600" cy="272361"/>
          </a:xfrm>
        </p:grpSpPr>
        <p:sp>
          <p:nvSpPr>
            <p:cNvPr id="12" name="Oval 221">
              <a:extLst>
                <a:ext uri="{FF2B5EF4-FFF2-40B4-BE49-F238E27FC236}">
                  <a16:creationId xmlns="" xmlns:a16="http://schemas.microsoft.com/office/drawing/2014/main" id="{DB07E332-F8C7-7C0C-B7ED-60CD5DE6B62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TextBox 222">
              <a:extLst>
                <a:ext uri="{FF2B5EF4-FFF2-40B4-BE49-F238E27FC236}">
                  <a16:creationId xmlns="" xmlns:a16="http://schemas.microsoft.com/office/drawing/2014/main" id="{1EA55FE7-113E-7767-BA14-AB2A264D847A}"/>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14" name="圓角矩形 28">
            <a:extLst>
              <a:ext uri="{FF2B5EF4-FFF2-40B4-BE49-F238E27FC236}">
                <a16:creationId xmlns="" xmlns:a16="http://schemas.microsoft.com/office/drawing/2014/main" id="{88CC8C38-47AC-E8FD-94AB-E1C8AA386C7D}"/>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15" name="圓角矩形 40">
            <a:extLst>
              <a:ext uri="{FF2B5EF4-FFF2-40B4-BE49-F238E27FC236}">
                <a16:creationId xmlns="" xmlns:a16="http://schemas.microsoft.com/office/drawing/2014/main" id="{180F8E93-23A4-F2CC-09CD-20CBE10D809D}"/>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graphicFrame>
        <p:nvGraphicFramePr>
          <p:cNvPr id="16" name="表格 15">
            <a:extLst>
              <a:ext uri="{FF2B5EF4-FFF2-40B4-BE49-F238E27FC236}">
                <a16:creationId xmlns="" xmlns:a16="http://schemas.microsoft.com/office/drawing/2014/main" id="{6758A2A1-DAFE-5E64-FBA0-8E39C2AC2E50}"/>
              </a:ext>
            </a:extLst>
          </p:cNvPr>
          <p:cNvGraphicFramePr>
            <a:graphicFrameLocks noGrp="1"/>
          </p:cNvGraphicFramePr>
          <p:nvPr>
            <p:extLst>
              <p:ext uri="{D42A27DB-BD31-4B8C-83A1-F6EECF244321}">
                <p14:modId xmlns="" xmlns:p14="http://schemas.microsoft.com/office/powerpoint/2010/main" val="4231685366"/>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 xmlns:a16="http://schemas.microsoft.com/office/drawing/2014/main" val="4193373909"/>
                    </a:ext>
                  </a:extLst>
                </a:gridCol>
                <a:gridCol w="12809888">
                  <a:extLst>
                    <a:ext uri="{9D8B030D-6E8A-4147-A177-3AD203B41FA5}">
                      <a16:colId xmlns="" xmlns:a16="http://schemas.microsoft.com/office/drawing/2014/main"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a:t>
                      </a:r>
                      <a:r>
                        <a:rPr lang="zh-TW" altLang="en-US" sz="2700" dirty="0"/>
                        <a:t> 待報廢調撥單</a:t>
                      </a:r>
                      <a:r>
                        <a:rPr lang="en-US" altLang="zh-TW" sz="2700" dirty="0"/>
                        <a:t>(</a:t>
                      </a:r>
                      <a:r>
                        <a:rPr lang="zh-TW" altLang="en-US" sz="2700" dirty="0"/>
                        <a:t>預留單</a:t>
                      </a:r>
                      <a:r>
                        <a:rPr lang="en-US" altLang="zh-TW" sz="2700" dirty="0"/>
                        <a:t>)</a:t>
                      </a:r>
                      <a:r>
                        <a:rPr lang="zh-TW" altLang="en-US" sz="2700" dirty="0"/>
                        <a:t>拋給</a:t>
                      </a:r>
                      <a:r>
                        <a:rPr lang="en-US" altLang="zh-TW" sz="2700" dirty="0"/>
                        <a:t>WMS</a:t>
                      </a:r>
                    </a:p>
                  </a:txBody>
                  <a:tcPr marL="137160" marR="137160" marT="68591" marB="68591"/>
                </a:tc>
                <a:extLst>
                  <a:ext uri="{0D108BD9-81ED-4DB2-BD59-A6C34878D82A}">
                    <a16:rowId xmlns="" xmlns:a16="http://schemas.microsoft.com/office/drawing/2014/main"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下架調倉拋給</a:t>
                      </a:r>
                      <a:r>
                        <a:rPr lang="en-US" altLang="zh-TW" sz="2700" dirty="0"/>
                        <a:t>SAP</a:t>
                      </a:r>
                      <a:r>
                        <a:rPr lang="zh-TW" altLang="en-US" sz="2700" dirty="0"/>
                        <a:t>執行預留單過帳作業</a:t>
                      </a:r>
                    </a:p>
                  </a:txBody>
                  <a:tcPr marL="137160" marR="137160" marT="68591" marB="68591"/>
                </a:tc>
                <a:extLst>
                  <a:ext uri="{0D108BD9-81ED-4DB2-BD59-A6C34878D82A}">
                    <a16:rowId xmlns="" xmlns:a16="http://schemas.microsoft.com/office/drawing/2014/main" val="2767441219"/>
                  </a:ext>
                </a:extLst>
              </a:tr>
            </a:tbl>
          </a:graphicData>
        </a:graphic>
      </p:graphicFrame>
      <p:sp>
        <p:nvSpPr>
          <p:cNvPr id="20"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
        <p:nvSpPr>
          <p:cNvPr id="22" name="文字方塊 21">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a:t>
            </a:r>
            <a:r>
              <a:rPr lang="en-US" altLang="zh-TW" b="1" dirty="0">
                <a:latin typeface="微軟正黑體" panose="020B0604030504040204" pitchFamily="34" charset="-120"/>
                <a:ea typeface="微軟正黑體" panose="020B0604030504040204" pitchFamily="34" charset="-120"/>
              </a:rPr>
              <a:t>8</a:t>
            </a:r>
            <a:r>
              <a:rPr kumimoji="0" lang="en-US" altLang="zh-TW" b="1" dirty="0">
                <a:latin typeface="微軟正黑體" panose="020B0604030504040204" pitchFamily="34" charset="-120"/>
                <a:ea typeface="微軟正黑體" panose="020B0604030504040204" pitchFamily="34" charset="-120"/>
              </a:rPr>
              <a:t>0</a:t>
            </a:r>
            <a:r>
              <a:rPr kumimoji="0" lang="zh-TW" altLang="en-US" b="1" dirty="0">
                <a:latin typeface="微軟正黑體" panose="020B0604030504040204" pitchFamily="34" charset="-120"/>
                <a:ea typeface="微軟正黑體" panose="020B0604030504040204" pitchFamily="34" charset="-120"/>
              </a:rPr>
              <a:t>庫存報廢作業流程</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15879</TotalTime>
  <Words>847</Words>
  <Application>Collabora_Office/23.05.5.4$Linux_X86_64 LibreOffice_project/1681200a96e5ffa1bee996c23ec760042f91abfa</Application>
  <PresentationFormat>自訂</PresentationFormat>
  <Paragraphs>203</Paragraphs>
  <Slides>7</Slides>
  <Notes>3</Notes>
  <HiddenSlides>0</HiddenSlides>
  <MMClips>0</MMClips>
  <ScaleCrop>false</ScaleCrop>
  <HeadingPairs>
    <vt:vector size="4" baseType="variant">
      <vt:variant>
        <vt:lpstr>佈景主題</vt:lpstr>
      </vt:variant>
      <vt:variant>
        <vt:i4>5</vt:i4>
      </vt:variant>
      <vt:variant>
        <vt:lpstr>投影片標題</vt:lpstr>
      </vt:variant>
      <vt:variant>
        <vt:i4>7</vt:i4>
      </vt:variant>
    </vt:vector>
  </HeadingPairs>
  <TitlesOfParts>
    <vt:vector size="12"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121</cp:revision>
  <dcterms:created xsi:type="dcterms:W3CDTF">2023-05-31T01:27:04Z</dcterms:created>
  <dcterms:modified xsi:type="dcterms:W3CDTF">2025-07-10T05:35:58Z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