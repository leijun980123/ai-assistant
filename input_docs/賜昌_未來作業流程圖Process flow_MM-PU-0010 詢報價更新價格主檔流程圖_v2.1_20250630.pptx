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3"/>
  </p:notesMasterIdLst>
  <p:sldIdLst>
    <p:sldId id="261" r:id="rId2"/>
    <p:sldId id="2147472997" r:id="rId3"/>
    <p:sldId id="257" r:id="rId4"/>
    <p:sldId id="2147375395" r:id="rId5"/>
    <p:sldId id="2147375391" r:id="rId6"/>
    <p:sldId id="2147375394" r:id="rId7"/>
    <p:sldId id="2147375398" r:id="rId8"/>
    <p:sldId id="2147375401" r:id="rId9"/>
    <p:sldId id="2147375400" r:id="rId10"/>
    <p:sldId id="2147473000" r:id="rId11"/>
    <p:sldId id="2147375389" r:id="rId12"/>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818" autoAdjust="0"/>
    <p:restoredTop sz="94142"/>
  </p:normalViewPr>
  <p:slideViewPr>
    <p:cSldViewPr snapToGrid="0">
      <p:cViewPr>
        <p:scale>
          <a:sx n="40" d="100"/>
          <a:sy n="40" d="100"/>
        </p:scale>
        <p:origin x="-1008" y="-308"/>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2025/7/6</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p14="http://schemas.microsoft.com/office/powerpoint/2010/main" xmlns=""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p14="http://schemas.microsoft.com/office/powerpoint/2010/main" xmlns=""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xmlns="" id="{90DD5036-8B7E-AD1F-FB66-F98DC416EE5D}"/>
            </a:ext>
          </a:extLst>
        </p:cNvPr>
        <p:cNvGrpSpPr/>
        <p:nvPr/>
      </p:nvGrpSpPr>
      <p:grpSpPr>
        <a:xfrm>
          <a:off x="0" y="0"/>
          <a:ext cx="0" cy="0"/>
          <a:chOff x="0" y="0"/>
          <a:chExt cx="0" cy="0"/>
        </a:xfrm>
      </p:grpSpPr>
      <p:sp>
        <p:nvSpPr>
          <p:cNvPr id="195" name="Google Shape;195;p3:notes">
            <a:extLst>
              <a:ext uri="{FF2B5EF4-FFF2-40B4-BE49-F238E27FC236}">
                <a16:creationId xmlns:a16="http://schemas.microsoft.com/office/drawing/2014/main" xmlns="" id="{5C020905-508D-28D8-A3FA-D37395DCDFE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a:extLst>
              <a:ext uri="{FF2B5EF4-FFF2-40B4-BE49-F238E27FC236}">
                <a16:creationId xmlns:a16="http://schemas.microsoft.com/office/drawing/2014/main" xmlns="" id="{682C617E-A8A6-E277-B9DB-8CB49C7AC6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24957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90209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971791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005789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24463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xmlns=""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0"/>
            <a:ext cx="18288000" cy="10288588"/>
          </a:xfrm>
          <a:prstGeom prst="rect">
            <a:avLst/>
          </a:prstGeom>
        </p:spPr>
      </p:pic>
    </p:spTree>
    <p:extLst>
      <p:ext uri="{BB962C8B-B14F-4D97-AF65-F5344CB8AC3E}">
        <p14:creationId xmlns:p14="http://schemas.microsoft.com/office/powerpoint/2010/main" xmlns=""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xmlns=""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xmlns=""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xmlns=""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xmlns=""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xmlns=""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xmlns=""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xmlns=""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xmlns=""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p14="http://schemas.microsoft.com/office/powerpoint/2010/main" xmlns=""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xmlns=""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11889371">
                  <a:extLst>
                    <a:ext uri="{9D8B030D-6E8A-4147-A177-3AD203B41FA5}">
                      <a16:colId xmlns:a16="http://schemas.microsoft.com/office/drawing/2014/main" xmlns="" val="20001"/>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xmlns=""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xmlns=""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xmlns=""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9468940">
                  <a:extLst>
                    <a:ext uri="{9D8B030D-6E8A-4147-A177-3AD203B41FA5}">
                      <a16:colId xmlns:a16="http://schemas.microsoft.com/office/drawing/2014/main" xmlns="" val="20001"/>
                    </a:ext>
                  </a:extLst>
                </a:gridCol>
                <a:gridCol w="2420431">
                  <a:extLst>
                    <a:ext uri="{9D8B030D-6E8A-4147-A177-3AD203B41FA5}">
                      <a16:colId xmlns:a16="http://schemas.microsoft.com/office/drawing/2014/main" xmlns="" val="697488759"/>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a16="http://schemas.microsoft.com/office/drawing/2014/main" xmlns=""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3940032794"/>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a16="http://schemas.microsoft.com/office/drawing/2014/main" xmlns=""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xmlns=""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xmlns=""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0"/>
            <a:ext cx="18288000" cy="10288588"/>
          </a:xfrm>
          <a:prstGeom prst="rect">
            <a:avLst/>
          </a:prstGeom>
        </p:spPr>
      </p:pic>
    </p:spTree>
    <p:extLst>
      <p:ext uri="{BB962C8B-B14F-4D97-AF65-F5344CB8AC3E}">
        <p14:creationId xmlns:p14="http://schemas.microsoft.com/office/powerpoint/2010/main" xmlns=""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7/6/2025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xmlns=""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xmlns=""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smtClean="0">
                <a:latin typeface="Microsoft JhengHei" panose="020B0604030504040204" pitchFamily="34" charset="-120"/>
                <a:ea typeface="Microsoft JhengHei" panose="020B0604030504040204" pitchFamily="34" charset="-120"/>
              </a:rPr>
              <a:t>2025/06/30</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a16="http://schemas.microsoft.com/office/drawing/2014/main" xmlns=""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MM-PU-0010</a:t>
            </a:r>
            <a:endParaRPr lang="zh-TW" altLang="en-US" sz="3600" b="0" dirty="0">
              <a:ea typeface="新細明體" panose="02020500000000000000" pitchFamily="18" charset="-120"/>
            </a:endParaRPr>
          </a:p>
        </p:txBody>
      </p:sp>
      <p:sp>
        <p:nvSpPr>
          <p:cNvPr id="5" name="矩形 1">
            <a:extLst>
              <a:ext uri="{FF2B5EF4-FFF2-40B4-BE49-F238E27FC236}">
                <a16:creationId xmlns:a16="http://schemas.microsoft.com/office/drawing/2014/main" xmlns=""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trike="noStrike" spc="-1" dirty="0">
                <a:solidFill>
                  <a:schemeClr val="dk1"/>
                </a:solidFill>
                <a:latin typeface="Microsoft JhengHei"/>
                <a:ea typeface="Microsoft JhengHei"/>
              </a:rPr>
              <a:t>詢報價更新價格</a:t>
            </a:r>
            <a:r>
              <a:rPr lang="zh-TW" altLang="en-US" sz="3600" b="0" strike="noStrike" spc="-1">
                <a:solidFill>
                  <a:schemeClr val="dk1"/>
                </a:solidFill>
                <a:latin typeface="Microsoft JhengHei"/>
                <a:ea typeface="Microsoft JhengHei"/>
              </a:rPr>
              <a:t>主</a:t>
            </a:r>
            <a:r>
              <a:rPr lang="zh-TW" altLang="en-US" sz="3600" b="0" strike="noStrike" spc="-1" smtClean="0">
                <a:solidFill>
                  <a:schemeClr val="dk1"/>
                </a:solidFill>
                <a:latin typeface="Microsoft JhengHei"/>
                <a:ea typeface="Microsoft JhengHei"/>
              </a:rPr>
              <a:t>檔流程</a:t>
            </a:r>
            <a:endParaRPr lang="zh-TW" altLang="en-US" sz="3600" b="0" dirty="0">
              <a:ea typeface="新細明體" panose="02020500000000000000" pitchFamily="18" charset="-120"/>
            </a:endParaRPr>
          </a:p>
        </p:txBody>
      </p:sp>
    </p:spTree>
    <p:extLst>
      <p:ext uri="{BB962C8B-B14F-4D97-AF65-F5344CB8AC3E}">
        <p14:creationId xmlns:p14="http://schemas.microsoft.com/office/powerpoint/2010/main" xmlns=""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p14="http://schemas.microsoft.com/office/powerpoint/2010/main" xmlns="" val="3494239872"/>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a16="http://schemas.microsoft.com/office/drawing/2014/main" xmlns="" val="1034483988"/>
                    </a:ext>
                  </a:extLst>
                </a:gridCol>
                <a:gridCol w="2061420">
                  <a:extLst>
                    <a:ext uri="{9D8B030D-6E8A-4147-A177-3AD203B41FA5}">
                      <a16:colId xmlns:a16="http://schemas.microsoft.com/office/drawing/2014/main" xmlns="" val="20000"/>
                    </a:ext>
                  </a:extLst>
                </a:gridCol>
                <a:gridCol w="8327926">
                  <a:extLst>
                    <a:ext uri="{9D8B030D-6E8A-4147-A177-3AD203B41FA5}">
                      <a16:colId xmlns:a16="http://schemas.microsoft.com/office/drawing/2014/main" xmlns="" val="20001"/>
                    </a:ext>
                  </a:extLst>
                </a:gridCol>
                <a:gridCol w="1423236">
                  <a:extLst>
                    <a:ext uri="{9D8B030D-6E8A-4147-A177-3AD203B41FA5}">
                      <a16:colId xmlns:a16="http://schemas.microsoft.com/office/drawing/2014/main" xmlns="" val="20002"/>
                    </a:ext>
                  </a:extLst>
                </a:gridCol>
                <a:gridCol w="634687">
                  <a:extLst>
                    <a:ext uri="{9D8B030D-6E8A-4147-A177-3AD203B41FA5}">
                      <a16:colId xmlns:a16="http://schemas.microsoft.com/office/drawing/2014/main" xmlns="" val="20003"/>
                    </a:ext>
                  </a:extLst>
                </a:gridCol>
                <a:gridCol w="1192442">
                  <a:extLst>
                    <a:ext uri="{9D8B030D-6E8A-4147-A177-3AD203B41FA5}">
                      <a16:colId xmlns:a16="http://schemas.microsoft.com/office/drawing/2014/main" xmlns="" val="2445255174"/>
                    </a:ext>
                  </a:extLst>
                </a:gridCol>
                <a:gridCol w="576988">
                  <a:extLst>
                    <a:ext uri="{9D8B030D-6E8A-4147-A177-3AD203B41FA5}">
                      <a16:colId xmlns:a16="http://schemas.microsoft.com/office/drawing/2014/main" xmlns="" val="3610384773"/>
                    </a:ext>
                  </a:extLst>
                </a:gridCol>
                <a:gridCol w="1240658">
                  <a:extLst>
                    <a:ext uri="{9D8B030D-6E8A-4147-A177-3AD203B41FA5}">
                      <a16:colId xmlns:a16="http://schemas.microsoft.com/office/drawing/2014/main" xmlns=""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smtClean="0">
                          <a:solidFill>
                            <a:schemeClr val="lt1"/>
                          </a:solidFill>
                          <a:latin typeface="Microsoft JhengHei"/>
                          <a:ea typeface="Microsoft JhengHei"/>
                          <a:cs typeface="Microsoft JhengHei"/>
                          <a:sym typeface="Microsoft JhengHei"/>
                        </a:rPr>
                        <a:t> </a:t>
                      </a:r>
                      <a:r>
                        <a:rPr lang="en-US" altLang="zh-TW" sz="1800" b="1" u="none" strike="noStrike" cap="none" dirty="0" smtClean="0">
                          <a:solidFill>
                            <a:schemeClr val="lt1"/>
                          </a:solidFill>
                          <a:latin typeface="Microsoft JhengHei"/>
                          <a:ea typeface="Microsoft JhengHei"/>
                          <a:cs typeface="Microsoft JhengHei"/>
                          <a:sym typeface="Microsoft JhengHei"/>
                        </a:rPr>
                        <a:t>2025/06/30</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666"/>
                        </a:lnSpc>
                        <a:spcBef>
                          <a:spcPts val="0"/>
                        </a:spcBef>
                        <a:spcAft>
                          <a:spcPts val="0"/>
                        </a:spcAft>
                        <a:buClr>
                          <a:schemeClr val="dk1"/>
                        </a:buClr>
                        <a:buSzPts val="1200"/>
                        <a:buFont typeface="Arimo"/>
                        <a:buNone/>
                        <a:tabLst/>
                        <a:defRPr/>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666"/>
                        </a:lnSpc>
                        <a:spcBef>
                          <a:spcPts val="0"/>
                        </a:spcBef>
                        <a:spcAft>
                          <a:spcPts val="0"/>
                        </a:spcAft>
                        <a:buClr>
                          <a:schemeClr val="dk1"/>
                        </a:buClr>
                        <a:buSzPts val="1200"/>
                        <a:buFont typeface="Arimo"/>
                        <a:buNone/>
                        <a:tabLst/>
                        <a:defRPr/>
                      </a:pPr>
                      <a:r>
                        <a:rPr lang="en-US" altLang="zh-TW" sz="1800" b="1" u="none" strike="noStrike" cap="none" dirty="0" smtClean="0">
                          <a:solidFill>
                            <a:schemeClr val="dk1"/>
                          </a:solidFill>
                          <a:latin typeface="Microsoft JhengHei"/>
                          <a:ea typeface="Microsoft JhengHei"/>
                          <a:cs typeface="Microsoft JhengHei"/>
                          <a:sym typeface="Microsoft JhengHei"/>
                        </a:rPr>
                        <a:t>V</a:t>
                      </a:r>
                      <a:endParaRPr lang="en-US" sz="1800" b="1" u="none" strike="noStrike" cap="none" dirty="0" smtClean="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a:t>
                      </a:r>
                      <a:r>
                        <a:rPr lang="en-US" sz="1800" b="1" u="none" strike="noStrike" cap="none" dirty="0" smtClean="0">
                          <a:solidFill>
                            <a:schemeClr val="dk1"/>
                          </a:solidFill>
                          <a:latin typeface="Microsoft JhengHei"/>
                          <a:ea typeface="Microsoft JhengHei"/>
                          <a:cs typeface="Microsoft JhengHei"/>
                          <a:sym typeface="Microsoft JhengHei"/>
                        </a:rPr>
                        <a:t>v2.1</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2"/>
                  </a:ext>
                </a:extLst>
              </a:tr>
            </a:tbl>
          </a:graphicData>
        </a:graphic>
      </p:graphicFrame>
      <p:graphicFrame>
        <p:nvGraphicFramePr>
          <p:cNvPr id="191" name="Google Shape;191;p2"/>
          <p:cNvGraphicFramePr/>
          <p:nvPr>
            <p:extLst>
              <p:ext uri="{D42A27DB-BD31-4B8C-83A1-F6EECF244321}">
                <p14:modId xmlns:p14="http://schemas.microsoft.com/office/powerpoint/2010/main" xmlns="" val="3337037798"/>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a16="http://schemas.microsoft.com/office/drawing/2014/main" xmlns="" val="2419195791"/>
                    </a:ext>
                  </a:extLst>
                </a:gridCol>
                <a:gridCol w="2061420">
                  <a:extLst>
                    <a:ext uri="{9D8B030D-6E8A-4147-A177-3AD203B41FA5}">
                      <a16:colId xmlns:a16="http://schemas.microsoft.com/office/drawing/2014/main" xmlns="" val="20000"/>
                    </a:ext>
                  </a:extLst>
                </a:gridCol>
                <a:gridCol w="8327988">
                  <a:extLst>
                    <a:ext uri="{9D8B030D-6E8A-4147-A177-3AD203B41FA5}">
                      <a16:colId xmlns:a16="http://schemas.microsoft.com/office/drawing/2014/main" xmlns="" val="20001"/>
                    </a:ext>
                  </a:extLst>
                </a:gridCol>
                <a:gridCol w="3270143">
                  <a:extLst>
                    <a:ext uri="{9D8B030D-6E8A-4147-A177-3AD203B41FA5}">
                      <a16:colId xmlns:a16="http://schemas.microsoft.com/office/drawing/2014/main" xmlns="" val="20002"/>
                    </a:ext>
                  </a:extLst>
                </a:gridCol>
                <a:gridCol w="1797804">
                  <a:extLst>
                    <a:ext uri="{9D8B030D-6E8A-4147-A177-3AD203B41FA5}">
                      <a16:colId xmlns:a16="http://schemas.microsoft.com/office/drawing/2014/main" xmlns=""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V2.1</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r>
                        <a:rPr lang="zh-TW" altLang="en-US" sz="1800" dirty="0">
                          <a:latin typeface="微軟正黑體" panose="020B0604030504040204" pitchFamily="34" charset="-120"/>
                          <a:ea typeface="微軟正黑體" panose="020B0604030504040204" pitchFamily="34" charset="-120"/>
                        </a:rPr>
                        <a:t>匯集詢價單資料，匯入</a:t>
                      </a:r>
                      <a:r>
                        <a:rPr lang="en-US" altLang="zh-TW" sz="1800" dirty="0">
                          <a:latin typeface="微軟正黑體" panose="020B0604030504040204" pitchFamily="34" charset="-120"/>
                          <a:ea typeface="微軟正黑體" panose="020B0604030504040204" pitchFamily="34" charset="-120"/>
                        </a:rPr>
                        <a:t>DS B2B</a:t>
                      </a:r>
                      <a:r>
                        <a:rPr lang="zh-TW" altLang="en-US" sz="1800" dirty="0">
                          <a:latin typeface="微軟正黑體" panose="020B0604030504040204" pitchFamily="34" charset="-120"/>
                          <a:ea typeface="微軟正黑體" panose="020B0604030504040204" pitchFamily="34" charset="-120"/>
                        </a:rPr>
                        <a:t>平台</a:t>
                      </a: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a:solidFill>
                            <a:schemeClr val="dk1"/>
                          </a:solidFill>
                          <a:latin typeface="Microsoft JhengHei"/>
                          <a:ea typeface="Microsoft JhengHei"/>
                        </a:rPr>
                        <a:t>Robert</a:t>
                      </a: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r>
                        <a:rPr lang="en-US" sz="1800" b="1" strike="noStrike" spc="-1" smtClean="0">
                          <a:solidFill>
                            <a:srgbClr val="000000"/>
                          </a:solidFill>
                          <a:latin typeface="Microsoft JhengHei" panose="020B0604030504040204" pitchFamily="34" charset="-120"/>
                          <a:ea typeface="Microsoft JhengHei" panose="020B0604030504040204" pitchFamily="34" charset="-120"/>
                        </a:rPr>
                        <a:t>2025/06/30</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a16="http://schemas.microsoft.com/office/drawing/2014/main" xmlns="" val="1342071289"/>
                  </a:ext>
                </a:extLst>
              </a:tr>
            </a:tbl>
          </a:graphicData>
        </a:graphic>
      </p:graphicFrame>
      <p:graphicFrame>
        <p:nvGraphicFramePr>
          <p:cNvPr id="192" name="Google Shape;192;p2"/>
          <p:cNvGraphicFramePr/>
          <p:nvPr>
            <p:extLst>
              <p:ext uri="{D42A27DB-BD31-4B8C-83A1-F6EECF244321}">
                <p14:modId xmlns:p14="http://schemas.microsoft.com/office/powerpoint/2010/main" xmlns=""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a16="http://schemas.microsoft.com/office/drawing/2014/main" xmlns="" val="2993713426"/>
                    </a:ext>
                  </a:extLst>
                </a:gridCol>
                <a:gridCol w="2066819">
                  <a:extLst>
                    <a:ext uri="{9D8B030D-6E8A-4147-A177-3AD203B41FA5}">
                      <a16:colId xmlns:a16="http://schemas.microsoft.com/office/drawing/2014/main" xmlns="" val="20000"/>
                    </a:ext>
                  </a:extLst>
                </a:gridCol>
                <a:gridCol w="1797521">
                  <a:extLst>
                    <a:ext uri="{9D8B030D-6E8A-4147-A177-3AD203B41FA5}">
                      <a16:colId xmlns:a16="http://schemas.microsoft.com/office/drawing/2014/main" xmlns="" val="20001"/>
                    </a:ext>
                  </a:extLst>
                </a:gridCol>
                <a:gridCol w="1932170">
                  <a:extLst>
                    <a:ext uri="{9D8B030D-6E8A-4147-A177-3AD203B41FA5}">
                      <a16:colId xmlns:a16="http://schemas.microsoft.com/office/drawing/2014/main" xmlns="" val="20002"/>
                    </a:ext>
                  </a:extLst>
                </a:gridCol>
                <a:gridCol w="1932170">
                  <a:extLst>
                    <a:ext uri="{9D8B030D-6E8A-4147-A177-3AD203B41FA5}">
                      <a16:colId xmlns:a16="http://schemas.microsoft.com/office/drawing/2014/main" xmlns="" val="20003"/>
                    </a:ext>
                  </a:extLst>
                </a:gridCol>
                <a:gridCol w="1932170">
                  <a:extLst>
                    <a:ext uri="{9D8B030D-6E8A-4147-A177-3AD203B41FA5}">
                      <a16:colId xmlns:a16="http://schemas.microsoft.com/office/drawing/2014/main" xmlns="" val="20004"/>
                    </a:ext>
                  </a:extLst>
                </a:gridCol>
                <a:gridCol w="1932170">
                  <a:extLst>
                    <a:ext uri="{9D8B030D-6E8A-4147-A177-3AD203B41FA5}">
                      <a16:colId xmlns:a16="http://schemas.microsoft.com/office/drawing/2014/main" xmlns="" val="20005"/>
                    </a:ext>
                  </a:extLst>
                </a:gridCol>
                <a:gridCol w="1932170">
                  <a:extLst>
                    <a:ext uri="{9D8B030D-6E8A-4147-A177-3AD203B41FA5}">
                      <a16:colId xmlns:a16="http://schemas.microsoft.com/office/drawing/2014/main" xmlns="" val="20006"/>
                    </a:ext>
                  </a:extLst>
                </a:gridCol>
                <a:gridCol w="1932170">
                  <a:extLst>
                    <a:ext uri="{9D8B030D-6E8A-4147-A177-3AD203B41FA5}">
                      <a16:colId xmlns:a16="http://schemas.microsoft.com/office/drawing/2014/main" xmlns=""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a16="http://schemas.microsoft.com/office/drawing/2014/main" xmlns="" val="10000"/>
                  </a:ext>
                </a:extLst>
              </a:tr>
            </a:tbl>
          </a:graphicData>
        </a:graphic>
      </p:graphicFrame>
      <p:graphicFrame>
        <p:nvGraphicFramePr>
          <p:cNvPr id="193" name="Google Shape;193;p2"/>
          <p:cNvGraphicFramePr/>
          <p:nvPr>
            <p:extLst>
              <p:ext uri="{D42A27DB-BD31-4B8C-83A1-F6EECF244321}">
                <p14:modId xmlns:p14="http://schemas.microsoft.com/office/powerpoint/2010/main" xmlns="" val="2533766799"/>
              </p:ext>
            </p:extLst>
          </p:nvPr>
        </p:nvGraphicFramePr>
        <p:xfrm>
          <a:off x="366270" y="6835335"/>
          <a:ext cx="17518773" cy="3024000"/>
        </p:xfrm>
        <a:graphic>
          <a:graphicData uri="http://schemas.openxmlformats.org/drawingml/2006/table">
            <a:tbl>
              <a:tblPr>
                <a:noFill/>
              </a:tblPr>
              <a:tblGrid>
                <a:gridCol w="2045751">
                  <a:extLst>
                    <a:ext uri="{9D8B030D-6E8A-4147-A177-3AD203B41FA5}">
                      <a16:colId xmlns:a16="http://schemas.microsoft.com/office/drawing/2014/main" xmlns="" val="1293584311"/>
                    </a:ext>
                  </a:extLst>
                </a:gridCol>
                <a:gridCol w="2066989">
                  <a:extLst>
                    <a:ext uri="{9D8B030D-6E8A-4147-A177-3AD203B41FA5}">
                      <a16:colId xmlns:a16="http://schemas.microsoft.com/office/drawing/2014/main" xmlns="" val="20000"/>
                    </a:ext>
                  </a:extLst>
                </a:gridCol>
                <a:gridCol w="8024943">
                  <a:extLst>
                    <a:ext uri="{9D8B030D-6E8A-4147-A177-3AD203B41FA5}">
                      <a16:colId xmlns:a16="http://schemas.microsoft.com/office/drawing/2014/main" xmlns="" val="20001"/>
                    </a:ext>
                  </a:extLst>
                </a:gridCol>
                <a:gridCol w="2861625">
                  <a:extLst>
                    <a:ext uri="{9D8B030D-6E8A-4147-A177-3AD203B41FA5}">
                      <a16:colId xmlns:a16="http://schemas.microsoft.com/office/drawing/2014/main" xmlns="" val="20002"/>
                    </a:ext>
                  </a:extLst>
                </a:gridCol>
                <a:gridCol w="2519465">
                  <a:extLst>
                    <a:ext uri="{9D8B030D-6E8A-4147-A177-3AD203B41FA5}">
                      <a16:colId xmlns:a16="http://schemas.microsoft.com/office/drawing/2014/main" xmlns=""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en-US" altLang="zh-TW" sz="1800" b="0" strike="noStrike" spc="-1" smtClean="0">
                          <a:solidFill>
                            <a:schemeClr val="dk1"/>
                          </a:solidFill>
                          <a:latin typeface="Microsoft JhengHei"/>
                          <a:ea typeface="Microsoft JhengHei"/>
                        </a:rPr>
                        <a:t>Robert/Vincent Yeh</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i="0"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i="0"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zh-TW" altLang="en-US" sz="1800" b="1" i="0" u="none" strike="noStrike" cap="none" dirty="0">
                          <a:solidFill>
                            <a:schemeClr val="dk1"/>
                          </a:solidFill>
                          <a:latin typeface="Microsoft JhengHei"/>
                          <a:ea typeface="Microsoft JhengHei"/>
                          <a:cs typeface="Arial"/>
                          <a:sym typeface="Arial"/>
                        </a:rPr>
                        <a:t>蘇靖之 </a:t>
                      </a:r>
                      <a:r>
                        <a:rPr lang="en-US" altLang="zh-TW" sz="1800" b="1" i="0" u="none" strike="noStrike" cap="none" dirty="0" err="1">
                          <a:solidFill>
                            <a:schemeClr val="dk1"/>
                          </a:solidFill>
                          <a:latin typeface="Microsoft JhengHei"/>
                          <a:ea typeface="Microsoft JhengHei"/>
                          <a:cs typeface="Arial"/>
                          <a:sym typeface="Arial"/>
                        </a:rPr>
                        <a:t>Giovenni</a:t>
                      </a:r>
                      <a:r>
                        <a:rPr lang="en-US" altLang="zh-TW" sz="1800" b="1" i="0" u="none" strike="noStrike" cap="none" dirty="0">
                          <a:solidFill>
                            <a:schemeClr val="dk1"/>
                          </a:solidFill>
                          <a:latin typeface="Microsoft JhengHei"/>
                          <a:ea typeface="Microsoft JhengHei"/>
                          <a:cs typeface="Arial"/>
                          <a:sym typeface="Arial"/>
                        </a:rPr>
                        <a:t> </a:t>
                      </a:r>
                      <a:r>
                        <a:rPr lang="en-US" altLang="zh-TW" sz="1800" b="1" i="0" u="none" strike="noStrike" cap="none" dirty="0" err="1">
                          <a:solidFill>
                            <a:schemeClr val="dk1"/>
                          </a:solidFill>
                          <a:latin typeface="Microsoft JhengHei"/>
                          <a:ea typeface="Microsoft JhengHei"/>
                          <a:cs typeface="Arial"/>
                          <a:sym typeface="Arial"/>
                        </a:rPr>
                        <a:t>Su</a:t>
                      </a:r>
                      <a:r>
                        <a:rPr lang="en-US" sz="1800" b="1" i="0" u="none" strike="noStrike" cap="none" dirty="0">
                          <a:solidFill>
                            <a:schemeClr val="dk1"/>
                          </a:solidFill>
                          <a:latin typeface="Microsoft JhengHei"/>
                          <a:ea typeface="Microsoft JhengHei"/>
                          <a:cs typeface="Arial"/>
                          <a:sym typeface="Microsoft JhengHei"/>
                        </a:rPr>
                        <a:t> </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5"/>
                  </a:ext>
                </a:extLst>
              </a:tr>
            </a:tbl>
          </a:graphicData>
        </a:graphic>
      </p:graphicFrame>
      <p:sp>
        <p:nvSpPr>
          <p:cNvPr id="2" name="TextBox 1">
            <a:extLst>
              <a:ext uri="{FF2B5EF4-FFF2-40B4-BE49-F238E27FC236}">
                <a16:creationId xmlns:a16="http://schemas.microsoft.com/office/drawing/2014/main" xmlns="" id="{632BD657-D42C-B5C5-74AF-5218C346A770}"/>
              </a:ext>
            </a:extLst>
          </p:cNvPr>
          <p:cNvSpPr txBox="1"/>
          <p:nvPr/>
        </p:nvSpPr>
        <p:spPr>
          <a:xfrm>
            <a:off x="2456660" y="762478"/>
            <a:ext cx="8244896" cy="709105"/>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kern="0" dirty="0" smtClean="0">
                <a:solidFill>
                  <a:srgbClr val="000000"/>
                </a:solidFill>
                <a:latin typeface="微軟正黑體" panose="020B0604030504040204" pitchFamily="34" charset="-120"/>
                <a:ea typeface="微軟正黑體" panose="020B0604030504040204" pitchFamily="34" charset="-120"/>
                <a:cs typeface="Arial"/>
                <a:sym typeface="Arial"/>
              </a:rPr>
              <a:t>MM-PU-0010</a:t>
            </a:r>
            <a:r>
              <a:rPr lang="zh-TW" altLang="en-US" sz="2400" kern="0" dirty="0" smtClean="0">
                <a:solidFill>
                  <a:srgbClr val="000000"/>
                </a:solidFill>
                <a:latin typeface="微軟正黑體" panose="020B0604030504040204" pitchFamily="34" charset="-120"/>
                <a:ea typeface="微軟正黑體" panose="020B0604030504040204" pitchFamily="34" charset="-120"/>
                <a:cs typeface="Arial"/>
                <a:sym typeface="Arial"/>
              </a:rPr>
              <a:t>詢報價更新價格主檔</a:t>
            </a:r>
            <a:r>
              <a:rPr lang="zh-TW" altLang="en-US" sz="2400" dirty="0" smtClean="0"/>
              <a:t>流程</a:t>
            </a:r>
            <a:r>
              <a:rPr lang="en-US" altLang="zh-TW" dirty="0"/>
              <a:t>		</a:t>
            </a:r>
            <a:endParaRPr lang="zh-TW" altLang="en-US" dirty="0"/>
          </a:p>
        </p:txBody>
      </p:sp>
      <p:sp>
        <p:nvSpPr>
          <p:cNvPr id="3" name="TextBox 2">
            <a:extLst>
              <a:ext uri="{FF2B5EF4-FFF2-40B4-BE49-F238E27FC236}">
                <a16:creationId xmlns:a16="http://schemas.microsoft.com/office/drawing/2014/main" xmlns=""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sp>
        <p:nvSpPr>
          <p:cNvPr id="8" name="TextBox 2">
            <a:extLst>
              <a:ext uri="{FF2B5EF4-FFF2-40B4-BE49-F238E27FC236}">
                <a16:creationId xmlns:a16="http://schemas.microsoft.com/office/drawing/2014/main" xmlns="" id="{6B09882B-C884-419E-9EB0-7F4E083F29C0}"/>
              </a:ext>
            </a:extLst>
          </p:cNvPr>
          <p:cNvSpPr txBox="1"/>
          <p:nvPr/>
        </p:nvSpPr>
        <p:spPr>
          <a:xfrm>
            <a:off x="16791308" y="713786"/>
            <a:ext cx="1496692" cy="338554"/>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2025/06/30</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xmlns="" id="{1D918780-95DB-C0E1-B826-22910E400757}"/>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xmlns="" id="{28451EF3-26A0-9ADF-F8B4-F3BFFB99807C}"/>
              </a:ext>
            </a:extLst>
          </p:cNvPr>
          <p:cNvSpPr txBox="1"/>
          <p:nvPr/>
        </p:nvSpPr>
        <p:spPr>
          <a:xfrm>
            <a:off x="2440961" y="820877"/>
            <a:ext cx="11133149" cy="507831"/>
          </a:xfrm>
          <a:prstGeom prst="rect">
            <a:avLst/>
          </a:prstGeom>
          <a:noFill/>
        </p:spPr>
        <p:txBody>
          <a:bodyPr wrap="square">
            <a:spAutoFit/>
          </a:bodyPr>
          <a:lstStyle/>
          <a:p>
            <a:pPr eaLnBrk="0" hangingPunct="0"/>
            <a:r>
              <a:rPr lang="en-US" altLang="zh-TW" sz="2700" b="1" dirty="0">
                <a:latin typeface="微軟正黑體" panose="020B0604030504040204" pitchFamily="34" charset="-120"/>
                <a:ea typeface="微軟正黑體" panose="020B0604030504040204" pitchFamily="34" charset="-120"/>
              </a:rPr>
              <a:t>MM-PU-0010</a:t>
            </a:r>
            <a:r>
              <a:rPr lang="zh-TW" altLang="en-US" sz="2700" b="1" dirty="0">
                <a:latin typeface="微軟正黑體" panose="020B0604030504040204" pitchFamily="34" charset="-120"/>
                <a:ea typeface="微軟正黑體" panose="020B0604030504040204" pitchFamily="34" charset="-120"/>
              </a:rPr>
              <a:t>詢報價更新價格主</a:t>
            </a:r>
            <a:r>
              <a:rPr lang="zh-TW" altLang="en-US" sz="2700" b="1" dirty="0" smtClean="0">
                <a:latin typeface="微軟正黑體" panose="020B0604030504040204" pitchFamily="34" charset="-120"/>
                <a:ea typeface="微軟正黑體" panose="020B0604030504040204" pitchFamily="34" charset="-120"/>
              </a:rPr>
              <a:t>檔流程</a:t>
            </a:r>
            <a:r>
              <a:rPr lang="en-US" altLang="zh-TW" sz="2700" b="1" dirty="0" smtClean="0">
                <a:latin typeface="微軟正黑體" panose="020B0604030504040204" pitchFamily="34" charset="-120"/>
                <a:ea typeface="微軟正黑體" panose="020B0604030504040204" pitchFamily="34" charset="-120"/>
              </a:rPr>
              <a:t> (</a:t>
            </a:r>
            <a:r>
              <a:rPr lang="zh-TW" altLang="en-US" sz="2700" b="1" dirty="0">
                <a:latin typeface="微軟正黑體" panose="020B0604030504040204" pitchFamily="34" charset="-120"/>
                <a:ea typeface="微軟正黑體" panose="020B0604030504040204" pitchFamily="34" charset="-120"/>
              </a:rPr>
              <a:t>使用</a:t>
            </a:r>
            <a:r>
              <a:rPr lang="en-US" altLang="zh-TW" sz="2700" b="1" dirty="0">
                <a:latin typeface="微軟正黑體" panose="020B0604030504040204" pitchFamily="34" charset="-120"/>
                <a:ea typeface="微軟正黑體" panose="020B0604030504040204" pitchFamily="34" charset="-120"/>
              </a:rPr>
              <a:t>DS B2B</a:t>
            </a:r>
            <a:r>
              <a:rPr lang="zh-TW" altLang="en-US" sz="2700" b="1" dirty="0">
                <a:latin typeface="微軟正黑體" panose="020B0604030504040204" pitchFamily="34" charset="-120"/>
                <a:ea typeface="微軟正黑體" panose="020B0604030504040204" pitchFamily="34" charset="-120"/>
              </a:rPr>
              <a:t>平台廠商</a:t>
            </a:r>
            <a:r>
              <a:rPr lang="en-US" altLang="zh-TW" sz="2700" b="1" dirty="0">
                <a:latin typeface="微軟正黑體" panose="020B0604030504040204" pitchFamily="34" charset="-120"/>
                <a:ea typeface="微軟正黑體" panose="020B0604030504040204" pitchFamily="34" charset="-120"/>
              </a:rPr>
              <a:t>)</a:t>
            </a:r>
            <a:endParaRPr lang="zh-TW" altLang="en-US" sz="27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924C17F7-5F9E-70EC-4207-5193BAED8EB8}"/>
              </a:ext>
            </a:extLst>
          </p:cNvPr>
          <p:cNvSpPr txBox="1"/>
          <p:nvPr/>
        </p:nvSpPr>
        <p:spPr>
          <a:xfrm>
            <a:off x="2493949" y="1368580"/>
            <a:ext cx="481425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p>
        </p:txBody>
      </p:sp>
      <p:sp>
        <p:nvSpPr>
          <p:cNvPr id="25" name="流程圖: 結束點 8">
            <a:extLst>
              <a:ext uri="{FF2B5EF4-FFF2-40B4-BE49-F238E27FC236}">
                <a16:creationId xmlns:a16="http://schemas.microsoft.com/office/drawing/2014/main" xmlns="" id="{C3CDB032-2251-16CA-89C7-25B6742159E8}"/>
              </a:ext>
            </a:extLst>
          </p:cNvPr>
          <p:cNvSpPr/>
          <p:nvPr/>
        </p:nvSpPr>
        <p:spPr bwMode="auto">
          <a:xfrm>
            <a:off x="12142197" y="9007150"/>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16" name="Straight Connector 284">
            <a:extLst>
              <a:ext uri="{FF2B5EF4-FFF2-40B4-BE49-F238E27FC236}">
                <a16:creationId xmlns:a16="http://schemas.microsoft.com/office/drawing/2014/main" xmlns="" id="{D5900460-BDC6-1256-B9A9-97B6D28974A2}"/>
              </a:ext>
            </a:extLst>
          </p:cNvPr>
          <p:cNvCxnSpPr>
            <a:cxnSpLocks/>
          </p:cNvCxnSpPr>
          <p:nvPr/>
        </p:nvCxnSpPr>
        <p:spPr>
          <a:xfrm>
            <a:off x="9693596" y="1379638"/>
            <a:ext cx="0" cy="8684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a16="http://schemas.microsoft.com/office/drawing/2014/main" xmlns="" id="{C6B37393-AAC3-EAF8-135E-443D25D9EE7C}"/>
              </a:ext>
            </a:extLst>
          </p:cNvPr>
          <p:cNvSpPr txBox="1"/>
          <p:nvPr/>
        </p:nvSpPr>
        <p:spPr>
          <a:xfrm>
            <a:off x="9693596" y="1356778"/>
            <a:ext cx="222009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廠商</a:t>
            </a:r>
          </a:p>
        </p:txBody>
      </p:sp>
      <p:graphicFrame>
        <p:nvGraphicFramePr>
          <p:cNvPr id="19" name="表格 30">
            <a:extLst>
              <a:ext uri="{FF2B5EF4-FFF2-40B4-BE49-F238E27FC236}">
                <a16:creationId xmlns:a16="http://schemas.microsoft.com/office/drawing/2014/main" xmlns="" id="{8D66624C-EB22-2D3C-CEA8-852B49E56118}"/>
              </a:ext>
            </a:extLst>
          </p:cNvPr>
          <p:cNvGraphicFramePr>
            <a:graphicFrameLocks noGrp="1"/>
          </p:cNvGraphicFramePr>
          <p:nvPr/>
        </p:nvGraphicFramePr>
        <p:xfrm>
          <a:off x="3142530" y="2039754"/>
          <a:ext cx="1797832" cy="1100927"/>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ME41</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42967">
                <a:tc gridSpan="2">
                  <a:txBody>
                    <a:bodyPr/>
                    <a:lstStyle/>
                    <a:p>
                      <a:pPr algn="ctr"/>
                      <a:r>
                        <a:rPr lang="zh-TW" altLang="en-US" sz="1500" dirty="0">
                          <a:latin typeface="微軟正黑體" panose="020B0604030504040204" pitchFamily="34" charset="-120"/>
                          <a:ea typeface="微軟正黑體" panose="020B0604030504040204" pitchFamily="34" charset="-120"/>
                        </a:rPr>
                        <a:t>建立詢價單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3" name="肘形接點 68">
            <a:extLst>
              <a:ext uri="{FF2B5EF4-FFF2-40B4-BE49-F238E27FC236}">
                <a16:creationId xmlns:a16="http://schemas.microsoft.com/office/drawing/2014/main" xmlns="" id="{66F57DD9-98EE-5C84-8504-A488A41385EC}"/>
              </a:ext>
            </a:extLst>
          </p:cNvPr>
          <p:cNvCxnSpPr>
            <a:cxnSpLocks/>
            <a:stCxn id="19" idx="3"/>
            <a:endCxn id="2" idx="0"/>
          </p:cNvCxnSpPr>
          <p:nvPr/>
        </p:nvCxnSpPr>
        <p:spPr>
          <a:xfrm>
            <a:off x="4940362" y="2590217"/>
            <a:ext cx="1097377" cy="109007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Connector 284">
            <a:extLst>
              <a:ext uri="{FF2B5EF4-FFF2-40B4-BE49-F238E27FC236}">
                <a16:creationId xmlns:a16="http://schemas.microsoft.com/office/drawing/2014/main" xmlns="" id="{6C7C5757-CD4F-6F85-0A29-DD98BA6FEF1B}"/>
              </a:ext>
            </a:extLst>
          </p:cNvPr>
          <p:cNvCxnSpPr>
            <a:cxnSpLocks/>
          </p:cNvCxnSpPr>
          <p:nvPr/>
        </p:nvCxnSpPr>
        <p:spPr>
          <a:xfrm>
            <a:off x="7308207" y="1391440"/>
            <a:ext cx="0" cy="8641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a16="http://schemas.microsoft.com/office/drawing/2014/main" xmlns="" id="{14125B38-54D7-2A84-E1D8-966519B21355}"/>
              </a:ext>
            </a:extLst>
          </p:cNvPr>
          <p:cNvSpPr txBox="1"/>
          <p:nvPr/>
        </p:nvSpPr>
        <p:spPr>
          <a:xfrm>
            <a:off x="7308206" y="1357149"/>
            <a:ext cx="238538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報價主管</a:t>
            </a:r>
          </a:p>
        </p:txBody>
      </p:sp>
      <p:sp>
        <p:nvSpPr>
          <p:cNvPr id="227" name="TextBox 53">
            <a:extLst>
              <a:ext uri="{FF2B5EF4-FFF2-40B4-BE49-F238E27FC236}">
                <a16:creationId xmlns:a16="http://schemas.microsoft.com/office/drawing/2014/main" xmlns="" id="{B4B96B21-85B8-A924-1797-60F96A362687}"/>
              </a:ext>
            </a:extLst>
          </p:cNvPr>
          <p:cNvSpPr txBox="1"/>
          <p:nvPr/>
        </p:nvSpPr>
        <p:spPr>
          <a:xfrm>
            <a:off x="14380627" y="1787683"/>
            <a:ext cx="3594197" cy="3970318"/>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可參考請購單或自行建立詢價單。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利用客制程式</a:t>
            </a:r>
            <a:r>
              <a:rPr lang="en-US" altLang="zh-TW" dirty="0" smtClean="0">
                <a:solidFill>
                  <a:srgbClr val="FF0000"/>
                </a:solidFill>
                <a:latin typeface="微軟正黑體" panose="020B0604030504040204" pitchFamily="34" charset="-120"/>
                <a:ea typeface="微軟正黑體" panose="020B0604030504040204" pitchFamily="34" charset="-120"/>
              </a:rPr>
              <a:t>ZMM003_A</a:t>
            </a:r>
            <a:r>
              <a:rPr lang="zh-TW" altLang="en-US" dirty="0" smtClean="0">
                <a:latin typeface="微軟正黑體" panose="020B0604030504040204" pitchFamily="34" charset="-120"/>
                <a:ea typeface="微軟正黑體" panose="020B0604030504040204" pitchFamily="34" charset="-120"/>
              </a:rPr>
              <a:t>將</a:t>
            </a:r>
            <a:r>
              <a:rPr lang="zh-TW" altLang="en-US" dirty="0">
                <a:latin typeface="微軟正黑體" panose="020B0604030504040204" pitchFamily="34" charset="-120"/>
                <a:ea typeface="微軟正黑體" panose="020B0604030504040204" pitchFamily="34" charset="-120"/>
              </a:rPr>
              <a:t>詢價單資料匯出送入</a:t>
            </a:r>
            <a:r>
              <a:rPr lang="en-US" altLang="zh-TW" dirty="0">
                <a:latin typeface="微軟正黑體" panose="020B0604030504040204" pitchFamily="34" charset="-120"/>
                <a:ea typeface="微軟正黑體" panose="020B0604030504040204" pitchFamily="34" charset="-120"/>
              </a:rPr>
              <a:t>DS B2B</a:t>
            </a:r>
            <a:r>
              <a:rPr lang="zh-TW" altLang="en-US" dirty="0">
                <a:latin typeface="微軟正黑體" panose="020B0604030504040204" pitchFamily="34" charset="-120"/>
                <a:ea typeface="微軟正黑體" panose="020B0604030504040204" pitchFamily="34" charset="-120"/>
              </a:rPr>
              <a:t>平台進行報價。</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通知廠商登入</a:t>
            </a:r>
            <a:r>
              <a:rPr lang="en-US" altLang="zh-TW" dirty="0">
                <a:latin typeface="微軟正黑體" panose="020B0604030504040204" pitchFamily="34" charset="-120"/>
                <a:ea typeface="微軟正黑體" panose="020B0604030504040204" pitchFamily="34" charset="-120"/>
              </a:rPr>
              <a:t>DS B2B</a:t>
            </a:r>
            <a:r>
              <a:rPr lang="zh-TW" altLang="en-US" dirty="0">
                <a:latin typeface="微軟正黑體" panose="020B0604030504040204" pitchFamily="34" charset="-120"/>
                <a:ea typeface="微軟正黑體" panose="020B0604030504040204" pitchFamily="34" charset="-120"/>
              </a:rPr>
              <a:t>平台 回覆價格。</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相關主管於</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簽核報價單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利用客制程式</a:t>
            </a:r>
            <a:r>
              <a:rPr lang="en-US" altLang="zh-TW" dirty="0" smtClean="0">
                <a:solidFill>
                  <a:srgbClr val="FF0000"/>
                </a:solidFill>
                <a:latin typeface="微軟正黑體" panose="020B0604030504040204" pitchFamily="34" charset="-120"/>
                <a:ea typeface="微軟正黑體" panose="020B0604030504040204" pitchFamily="34" charset="-120"/>
              </a:rPr>
              <a:t>ZMM004_A </a:t>
            </a:r>
            <a:r>
              <a:rPr lang="zh-TW" altLang="en-US" dirty="0" smtClean="0">
                <a:latin typeface="微軟正黑體" panose="020B0604030504040204" pitchFamily="34" charset="-120"/>
                <a:ea typeface="微軟正黑體" panose="020B0604030504040204" pitchFamily="34" charset="-120"/>
              </a:rPr>
              <a:t>將簽核後的價格</a:t>
            </a:r>
            <a:r>
              <a:rPr lang="zh-TW" altLang="en-US" dirty="0">
                <a:latin typeface="微軟正黑體" panose="020B0604030504040204" pitchFamily="34" charset="-120"/>
                <a:ea typeface="微軟正黑體" panose="020B0604030504040204" pitchFamily="34" charset="-120"/>
              </a:rPr>
              <a:t>產生資訊紀錄，並核發報價單，執行核發代碼</a:t>
            </a:r>
            <a:r>
              <a:rPr lang="en-US" altLang="zh-TW" dirty="0">
                <a:latin typeface="微軟正黑體" panose="020B0604030504040204" pitchFamily="34" charset="-120"/>
                <a:ea typeface="微軟正黑體" panose="020B0604030504040204" pitchFamily="34" charset="-120"/>
              </a:rPr>
              <a:t>R1/R2</a:t>
            </a:r>
          </a:p>
          <a:p>
            <a:pPr marL="342900" indent="-342900">
              <a:buFont typeface="+mj-lt"/>
              <a:buAutoNum type="arabicPeriod"/>
            </a:pPr>
            <a:endParaRPr lang="en-US" altLang="zh-TW" dirty="0"/>
          </a:p>
          <a:p>
            <a:endParaRPr lang="zh-TW" altLang="en-US" dirty="0"/>
          </a:p>
        </p:txBody>
      </p:sp>
      <p:cxnSp>
        <p:nvCxnSpPr>
          <p:cNvPr id="26" name="肘形接點 68">
            <a:extLst>
              <a:ext uri="{FF2B5EF4-FFF2-40B4-BE49-F238E27FC236}">
                <a16:creationId xmlns:a16="http://schemas.microsoft.com/office/drawing/2014/main" xmlns="" id="{8C752E35-1CB0-DC6A-01F2-62C5A908D3EB}"/>
              </a:ext>
            </a:extLst>
          </p:cNvPr>
          <p:cNvCxnSpPr>
            <a:cxnSpLocks/>
            <a:stCxn id="13" idx="3"/>
            <a:endCxn id="19" idx="1"/>
          </p:cNvCxnSpPr>
          <p:nvPr/>
        </p:nvCxnSpPr>
        <p:spPr>
          <a:xfrm>
            <a:off x="2236124" y="2584975"/>
            <a:ext cx="906406" cy="524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62" name="Group 220">
            <a:extLst>
              <a:ext uri="{FF2B5EF4-FFF2-40B4-BE49-F238E27FC236}">
                <a16:creationId xmlns:a16="http://schemas.microsoft.com/office/drawing/2014/main" xmlns="" id="{2E2E510D-8800-0647-7558-C18D1E357823}"/>
              </a:ext>
            </a:extLst>
          </p:cNvPr>
          <p:cNvGrpSpPr/>
          <p:nvPr/>
        </p:nvGrpSpPr>
        <p:grpSpPr>
          <a:xfrm>
            <a:off x="4686675" y="1821104"/>
            <a:ext cx="556821" cy="415762"/>
            <a:chOff x="5906472" y="1486857"/>
            <a:chExt cx="371214" cy="272361"/>
          </a:xfrm>
        </p:grpSpPr>
        <p:sp>
          <p:nvSpPr>
            <p:cNvPr id="63" name="Oval 221">
              <a:extLst>
                <a:ext uri="{FF2B5EF4-FFF2-40B4-BE49-F238E27FC236}">
                  <a16:creationId xmlns:a16="http://schemas.microsoft.com/office/drawing/2014/main" xmlns="" id="{5063DB23-802E-F8FE-8948-55FBFC5466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latin typeface="微軟正黑體" panose="020B0604030504040204" pitchFamily="34" charset="-120"/>
                <a:ea typeface="微軟正黑體" panose="020B0604030504040204" pitchFamily="34" charset="-120"/>
              </a:endParaRPr>
            </a:p>
          </p:txBody>
        </p:sp>
        <p:sp>
          <p:nvSpPr>
            <p:cNvPr id="192" name="TextBox 222">
              <a:extLst>
                <a:ext uri="{FF2B5EF4-FFF2-40B4-BE49-F238E27FC236}">
                  <a16:creationId xmlns:a16="http://schemas.microsoft.com/office/drawing/2014/main" xmlns="" id="{3AAC19C3-8527-A72E-AE9A-C3806F9D8556}"/>
                </a:ext>
              </a:extLst>
            </p:cNvPr>
            <p:cNvSpPr txBox="1"/>
            <p:nvPr/>
          </p:nvSpPr>
          <p:spPr>
            <a:xfrm>
              <a:off x="5922086"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74" name="Google Shape;198;p3">
            <a:extLst>
              <a:ext uri="{FF2B5EF4-FFF2-40B4-BE49-F238E27FC236}">
                <a16:creationId xmlns:a16="http://schemas.microsoft.com/office/drawing/2014/main" xmlns="" id="{EE8F6D4D-F46B-A280-36C3-681214280E8B}"/>
              </a:ext>
            </a:extLst>
          </p:cNvPr>
          <p:cNvSpPr txBox="1">
            <a:spLocks/>
          </p:cNvSpPr>
          <p:nvPr/>
        </p:nvSpPr>
        <p:spPr>
          <a:xfrm>
            <a:off x="15110460" y="529118"/>
            <a:ext cx="576236" cy="168112"/>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1</a:t>
            </a:r>
          </a:p>
        </p:txBody>
      </p:sp>
      <p:graphicFrame>
        <p:nvGraphicFramePr>
          <p:cNvPr id="2" name="表格 30">
            <a:extLst>
              <a:ext uri="{FF2B5EF4-FFF2-40B4-BE49-F238E27FC236}">
                <a16:creationId xmlns:a16="http://schemas.microsoft.com/office/drawing/2014/main" xmlns="" id="{1ADE7AF1-2AA9-AD1B-B41D-58056E1E568D}"/>
              </a:ext>
            </a:extLst>
          </p:cNvPr>
          <p:cNvGraphicFramePr>
            <a:graphicFrameLocks noGrp="1"/>
          </p:cNvGraphicFramePr>
          <p:nvPr>
            <p:extLst>
              <p:ext uri="{D42A27DB-BD31-4B8C-83A1-F6EECF244321}">
                <p14:modId xmlns:p14="http://schemas.microsoft.com/office/powerpoint/2010/main" xmlns="" val="3392294517"/>
              </p:ext>
            </p:extLst>
          </p:nvPr>
        </p:nvGraphicFramePr>
        <p:xfrm>
          <a:off x="5088112" y="3680288"/>
          <a:ext cx="1899254" cy="1399126"/>
        </p:xfrm>
        <a:graphic>
          <a:graphicData uri="http://schemas.openxmlformats.org/drawingml/2006/table">
            <a:tbl>
              <a:tblPr>
                <a:tableStyleId>{5940675A-B579-460E-94D1-54222C63F5DA}</a:tableStyleId>
              </a:tblPr>
              <a:tblGrid>
                <a:gridCol w="951312">
                  <a:extLst>
                    <a:ext uri="{9D8B030D-6E8A-4147-A177-3AD203B41FA5}">
                      <a16:colId xmlns:a16="http://schemas.microsoft.com/office/drawing/2014/main" xmlns="" val="3433979995"/>
                    </a:ext>
                  </a:extLst>
                </a:gridCol>
                <a:gridCol w="947942">
                  <a:extLst>
                    <a:ext uri="{9D8B030D-6E8A-4147-A177-3AD203B41FA5}">
                      <a16:colId xmlns:a16="http://schemas.microsoft.com/office/drawing/2014/main" xmlns="" val="3727974752"/>
                    </a:ext>
                  </a:extLst>
                </a:gridCol>
              </a:tblGrid>
              <a:tr h="536172">
                <a:tc gridSpan="2">
                  <a:txBody>
                    <a:bodyPr/>
                    <a:lstStyle/>
                    <a:p>
                      <a:pPr algn="ctr"/>
                      <a:r>
                        <a:rPr lang="en-US" altLang="zh-TW" sz="1400" b="1" dirty="0" smtClean="0">
                          <a:solidFill>
                            <a:srgbClr val="FF0000"/>
                          </a:solidFill>
                          <a:latin typeface="微軟正黑體" panose="020B0604030504040204" pitchFamily="34" charset="-120"/>
                          <a:ea typeface="微軟正黑體" panose="020B0604030504040204" pitchFamily="34" charset="-120"/>
                        </a:rPr>
                        <a:t>ZMM003_A</a:t>
                      </a:r>
                      <a:endParaRPr lang="en-GB" sz="1400" b="1" dirty="0">
                        <a:solidFill>
                          <a:srgbClr val="FF0000"/>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匯集詢價單資料，匯入</a:t>
                      </a:r>
                      <a:r>
                        <a:rPr kumimoji="0" lang="en-US" altLang="zh-TW" sz="1400" dirty="0">
                          <a:latin typeface="微軟正黑體" panose="020B0604030504040204" pitchFamily="34" charset="-120"/>
                          <a:ea typeface="微軟正黑體" panose="020B0604030504040204" pitchFamily="34" charset="-120"/>
                        </a:rPr>
                        <a:t>DS B2B</a:t>
                      </a:r>
                      <a:r>
                        <a:rPr kumimoji="0" lang="zh-TW" altLang="en-US" sz="1400" dirty="0">
                          <a:latin typeface="微軟正黑體" panose="020B0604030504040204" pitchFamily="34" charset="-120"/>
                          <a:ea typeface="微軟正黑體" panose="020B0604030504040204" pitchFamily="34" charset="-120"/>
                        </a:rPr>
                        <a:t>平台</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5" name="表格 30">
            <a:extLst>
              <a:ext uri="{FF2B5EF4-FFF2-40B4-BE49-F238E27FC236}">
                <a16:creationId xmlns:a16="http://schemas.microsoft.com/office/drawing/2014/main" xmlns="" id="{B7DE1199-12DB-C384-E07B-54FD8850C756}"/>
              </a:ext>
            </a:extLst>
          </p:cNvPr>
          <p:cNvGraphicFramePr>
            <a:graphicFrameLocks noGrp="1"/>
          </p:cNvGraphicFramePr>
          <p:nvPr>
            <p:extLst>
              <p:ext uri="{D42A27DB-BD31-4B8C-83A1-F6EECF244321}">
                <p14:modId xmlns:p14="http://schemas.microsoft.com/office/powerpoint/2010/main" xmlns="" val="177711734"/>
              </p:ext>
            </p:extLst>
          </p:nvPr>
        </p:nvGraphicFramePr>
        <p:xfrm>
          <a:off x="9890357" y="3656269"/>
          <a:ext cx="1797832" cy="14670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938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 </a:t>
                      </a:r>
                      <a:r>
                        <a:rPr kumimoji="0" lang="zh-TW" altLang="en-US" sz="1500" dirty="0">
                          <a:solidFill>
                            <a:srgbClr val="FF0000"/>
                          </a:solidFill>
                          <a:latin typeface="微軟正黑體" panose="020B0604030504040204" pitchFamily="34" charset="-120"/>
                          <a:ea typeface="微軟正黑體" panose="020B0604030504040204" pitchFamily="34" charset="-120"/>
                        </a:rPr>
                        <a:t>廠商登入</a:t>
                      </a:r>
                      <a:r>
                        <a:rPr kumimoji="0" lang="en-US" altLang="zh-TW" sz="1500" dirty="0">
                          <a:solidFill>
                            <a:srgbClr val="FF0000"/>
                          </a:solidFill>
                          <a:latin typeface="微軟正黑體" panose="020B0604030504040204" pitchFamily="34" charset="-120"/>
                          <a:ea typeface="微軟正黑體" panose="020B0604030504040204" pitchFamily="34" charset="-120"/>
                        </a:rPr>
                        <a:t>DS B2B</a:t>
                      </a:r>
                      <a:r>
                        <a:rPr kumimoji="0" lang="zh-TW" altLang="en-US" sz="1500" dirty="0">
                          <a:solidFill>
                            <a:srgbClr val="FF0000"/>
                          </a:solidFill>
                          <a:latin typeface="微軟正黑體" panose="020B0604030504040204" pitchFamily="34" charset="-120"/>
                          <a:ea typeface="微軟正黑體" panose="020B0604030504040204" pitchFamily="34" charset="-120"/>
                        </a:rPr>
                        <a:t>平台 回覆價格</a:t>
                      </a:r>
                    </a:p>
                    <a:p>
                      <a:pPr algn="ctr" eaLnBrk="0" hangingPunct="0"/>
                      <a:r>
                        <a:rPr kumimoji="0" lang="en-US" altLang="zh-TW" sz="1500" dirty="0">
                          <a:solidFill>
                            <a:srgbClr val="FF0000"/>
                          </a:solidFill>
                          <a:latin typeface="微軟正黑體" panose="020B0604030504040204" pitchFamily="34" charset="-120"/>
                          <a:ea typeface="微軟正黑體" panose="020B0604030504040204" pitchFamily="34" charset="-120"/>
                        </a:rPr>
                        <a:t>(</a:t>
                      </a:r>
                      <a:r>
                        <a:rPr kumimoji="0" lang="zh-TW" altLang="en-US" sz="1500" dirty="0">
                          <a:solidFill>
                            <a:srgbClr val="FF0000"/>
                          </a:solidFill>
                          <a:latin typeface="微軟正黑體" panose="020B0604030504040204" pitchFamily="34" charset="-120"/>
                          <a:ea typeface="微軟正黑體" panose="020B0604030504040204" pitchFamily="34" charset="-120"/>
                        </a:rPr>
                        <a:t>需修改程式</a:t>
                      </a:r>
                      <a:r>
                        <a:rPr kumimoji="0" lang="en-US" altLang="zh-TW" sz="1500" dirty="0">
                          <a:solidFill>
                            <a:srgbClr val="FF0000"/>
                          </a:solidFill>
                          <a:latin typeface="微軟正黑體" panose="020B0604030504040204" pitchFamily="34" charset="-120"/>
                          <a:ea typeface="微軟正黑體" panose="020B0604030504040204" pitchFamily="34" charset="-120"/>
                        </a:rPr>
                        <a:t>)</a:t>
                      </a:r>
                      <a:endParaRPr kumimoji="0" lang="zh-TW" altLang="en-US" sz="1500"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B2B</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03" name="Group 220">
            <a:extLst>
              <a:ext uri="{FF2B5EF4-FFF2-40B4-BE49-F238E27FC236}">
                <a16:creationId xmlns:a16="http://schemas.microsoft.com/office/drawing/2014/main" xmlns="" id="{E9C8DCB1-0F05-9542-EC1D-874B2B8D352E}"/>
              </a:ext>
            </a:extLst>
          </p:cNvPr>
          <p:cNvGrpSpPr/>
          <p:nvPr/>
        </p:nvGrpSpPr>
        <p:grpSpPr>
          <a:xfrm>
            <a:off x="11414588" y="3534359"/>
            <a:ext cx="547149" cy="415762"/>
            <a:chOff x="5906472" y="1486857"/>
            <a:chExt cx="364766" cy="272361"/>
          </a:xfrm>
        </p:grpSpPr>
        <p:sp>
          <p:nvSpPr>
            <p:cNvPr id="204" name="Oval 221">
              <a:extLst>
                <a:ext uri="{FF2B5EF4-FFF2-40B4-BE49-F238E27FC236}">
                  <a16:creationId xmlns:a16="http://schemas.microsoft.com/office/drawing/2014/main" xmlns="" id="{24643EFD-86A9-2384-24D5-15BF0D21DF9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05" name="TextBox 222">
              <a:extLst>
                <a:ext uri="{FF2B5EF4-FFF2-40B4-BE49-F238E27FC236}">
                  <a16:creationId xmlns:a16="http://schemas.microsoft.com/office/drawing/2014/main" xmlns="" id="{C06DB7C7-F3F6-1B94-0AAD-F200FDFA10F8}"/>
                </a:ext>
              </a:extLst>
            </p:cNvPr>
            <p:cNvSpPr txBox="1"/>
            <p:nvPr/>
          </p:nvSpPr>
          <p:spPr>
            <a:xfrm>
              <a:off x="5915638" y="1515414"/>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13" name="流程圖: 結束點 8">
            <a:extLst>
              <a:ext uri="{FF2B5EF4-FFF2-40B4-BE49-F238E27FC236}">
                <a16:creationId xmlns:a16="http://schemas.microsoft.com/office/drawing/2014/main" xmlns="" id="{FC36C425-9C26-739E-DF10-4CB6E303E040}"/>
              </a:ext>
            </a:extLst>
          </p:cNvPr>
          <p:cNvSpPr/>
          <p:nvPr/>
        </p:nvSpPr>
        <p:spPr bwMode="auto">
          <a:xfrm>
            <a:off x="438293" y="219375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grpSp>
        <p:nvGrpSpPr>
          <p:cNvPr id="196" name="Group 220">
            <a:extLst>
              <a:ext uri="{FF2B5EF4-FFF2-40B4-BE49-F238E27FC236}">
                <a16:creationId xmlns:a16="http://schemas.microsoft.com/office/drawing/2014/main" xmlns="" id="{19C00E72-C8D4-5A4C-82BB-CD31E2BC3C34}"/>
              </a:ext>
            </a:extLst>
          </p:cNvPr>
          <p:cNvGrpSpPr/>
          <p:nvPr/>
        </p:nvGrpSpPr>
        <p:grpSpPr>
          <a:xfrm>
            <a:off x="6735960" y="3485356"/>
            <a:ext cx="546270" cy="415761"/>
            <a:chOff x="5906472" y="1486857"/>
            <a:chExt cx="364180" cy="272361"/>
          </a:xfrm>
        </p:grpSpPr>
        <p:sp>
          <p:nvSpPr>
            <p:cNvPr id="197" name="Oval 221">
              <a:extLst>
                <a:ext uri="{FF2B5EF4-FFF2-40B4-BE49-F238E27FC236}">
                  <a16:creationId xmlns:a16="http://schemas.microsoft.com/office/drawing/2014/main" xmlns="" id="{FB7C10EA-3E8D-74AA-2F0E-B7EE15B30AD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99" name="TextBox 222">
              <a:extLst>
                <a:ext uri="{FF2B5EF4-FFF2-40B4-BE49-F238E27FC236}">
                  <a16:creationId xmlns:a16="http://schemas.microsoft.com/office/drawing/2014/main" xmlns="" id="{B757E3B0-98B0-9462-627C-43D6C4BBDDB3}"/>
                </a:ext>
              </a:extLst>
            </p:cNvPr>
            <p:cNvSpPr txBox="1"/>
            <p:nvPr/>
          </p:nvSpPr>
          <p:spPr>
            <a:xfrm>
              <a:off x="5915052" y="151571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43" name="肘形接點 68">
            <a:extLst>
              <a:ext uri="{FF2B5EF4-FFF2-40B4-BE49-F238E27FC236}">
                <a16:creationId xmlns:a16="http://schemas.microsoft.com/office/drawing/2014/main" xmlns="" id="{5D022F42-F076-7DE3-B16B-AAB32BD88C52}"/>
              </a:ext>
            </a:extLst>
          </p:cNvPr>
          <p:cNvCxnSpPr>
            <a:cxnSpLocks/>
            <a:stCxn id="2" idx="3"/>
            <a:endCxn id="5" idx="1"/>
          </p:cNvCxnSpPr>
          <p:nvPr/>
        </p:nvCxnSpPr>
        <p:spPr>
          <a:xfrm>
            <a:off x="6987366" y="4387471"/>
            <a:ext cx="2902991" cy="229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肘形接點 68">
            <a:extLst>
              <a:ext uri="{FF2B5EF4-FFF2-40B4-BE49-F238E27FC236}">
                <a16:creationId xmlns:a16="http://schemas.microsoft.com/office/drawing/2014/main" xmlns="" id="{780B3BE8-7118-A4E6-2C98-27442782F8ED}"/>
              </a:ext>
            </a:extLst>
          </p:cNvPr>
          <p:cNvCxnSpPr>
            <a:cxnSpLocks/>
            <a:stCxn id="5" idx="2"/>
            <a:endCxn id="39" idx="0"/>
          </p:cNvCxnSpPr>
          <p:nvPr/>
        </p:nvCxnSpPr>
        <p:spPr>
          <a:xfrm rot="5400000">
            <a:off x="9269969" y="4327305"/>
            <a:ext cx="723340" cy="231526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0" name="表格 30">
            <a:extLst>
              <a:ext uri="{FF2B5EF4-FFF2-40B4-BE49-F238E27FC236}">
                <a16:creationId xmlns:a16="http://schemas.microsoft.com/office/drawing/2014/main" xmlns="" id="{8F73BFE8-A8B5-CFBA-970C-02F2D3D059EE}"/>
              </a:ext>
            </a:extLst>
          </p:cNvPr>
          <p:cNvGraphicFramePr>
            <a:graphicFrameLocks noGrp="1"/>
          </p:cNvGraphicFramePr>
          <p:nvPr>
            <p:extLst>
              <p:ext uri="{D42A27DB-BD31-4B8C-83A1-F6EECF244321}">
                <p14:modId xmlns:p14="http://schemas.microsoft.com/office/powerpoint/2010/main" xmlns="" val="3629678388"/>
              </p:ext>
            </p:extLst>
          </p:nvPr>
        </p:nvGraphicFramePr>
        <p:xfrm>
          <a:off x="4998724" y="7950469"/>
          <a:ext cx="1899254" cy="1589626"/>
        </p:xfrm>
        <a:graphic>
          <a:graphicData uri="http://schemas.openxmlformats.org/drawingml/2006/table">
            <a:tbl>
              <a:tblPr>
                <a:tableStyleId>{5940675A-B579-460E-94D1-54222C63F5DA}</a:tableStyleId>
              </a:tblPr>
              <a:tblGrid>
                <a:gridCol w="949627">
                  <a:extLst>
                    <a:ext uri="{9D8B030D-6E8A-4147-A177-3AD203B41FA5}">
                      <a16:colId xmlns:a16="http://schemas.microsoft.com/office/drawing/2014/main" xmlns="" val="3433979995"/>
                    </a:ext>
                  </a:extLst>
                </a:gridCol>
                <a:gridCol w="949627">
                  <a:extLst>
                    <a:ext uri="{9D8B030D-6E8A-4147-A177-3AD203B41FA5}">
                      <a16:colId xmlns:a16="http://schemas.microsoft.com/office/drawing/2014/main" xmlns="" val="3727974752"/>
                    </a:ext>
                  </a:extLst>
                </a:gridCol>
              </a:tblGrid>
              <a:tr h="536172">
                <a:tc gridSpan="2">
                  <a:txBody>
                    <a:bodyPr/>
                    <a:lstStyle/>
                    <a:p>
                      <a:pPr algn="ctr"/>
                      <a:r>
                        <a:rPr lang="en-US" altLang="zh-TW" sz="1400" b="1" dirty="0" smtClean="0">
                          <a:solidFill>
                            <a:srgbClr val="FF0000"/>
                          </a:solidFill>
                          <a:latin typeface="微軟正黑體" panose="020B0604030504040204" pitchFamily="34" charset="-120"/>
                          <a:ea typeface="微軟正黑體" panose="020B0604030504040204" pitchFamily="34" charset="-120"/>
                        </a:rPr>
                        <a:t>ZMM004_A</a:t>
                      </a:r>
                      <a:endParaRPr lang="en-GB" sz="1400" b="1" dirty="0">
                        <a:solidFill>
                          <a:srgbClr val="FF0000"/>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4191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依</a:t>
                      </a:r>
                      <a:r>
                        <a:rPr kumimoji="0" lang="en-US" altLang="zh-TW" sz="1400" dirty="0">
                          <a:latin typeface="微軟正黑體" panose="020B0604030504040204" pitchFamily="34" charset="-120"/>
                          <a:ea typeface="微軟正黑體" panose="020B0604030504040204" pitchFamily="34" charset="-120"/>
                        </a:rPr>
                        <a:t>B2B</a:t>
                      </a:r>
                      <a:r>
                        <a:rPr kumimoji="0" lang="zh-TW" altLang="en-US" sz="1400" dirty="0">
                          <a:latin typeface="微軟正黑體" panose="020B0604030504040204" pitchFamily="34" charset="-120"/>
                          <a:ea typeface="微軟正黑體" panose="020B0604030504040204" pitchFamily="34" charset="-120"/>
                        </a:rPr>
                        <a:t>價格產生資訊紀錄及核發報價單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1" name="Group 220">
            <a:extLst>
              <a:ext uri="{FF2B5EF4-FFF2-40B4-BE49-F238E27FC236}">
                <a16:creationId xmlns:a16="http://schemas.microsoft.com/office/drawing/2014/main" xmlns="" id="{39A9A0A1-A0C3-AC21-E3FE-3057EF7AFC0A}"/>
              </a:ext>
            </a:extLst>
          </p:cNvPr>
          <p:cNvGrpSpPr/>
          <p:nvPr/>
        </p:nvGrpSpPr>
        <p:grpSpPr>
          <a:xfrm>
            <a:off x="6636319" y="7710852"/>
            <a:ext cx="546270" cy="415761"/>
            <a:chOff x="5906472" y="1486857"/>
            <a:chExt cx="364180" cy="272361"/>
          </a:xfrm>
        </p:grpSpPr>
        <p:sp>
          <p:nvSpPr>
            <p:cNvPr id="12" name="Oval 221">
              <a:extLst>
                <a:ext uri="{FF2B5EF4-FFF2-40B4-BE49-F238E27FC236}">
                  <a16:creationId xmlns:a16="http://schemas.microsoft.com/office/drawing/2014/main" xmlns="" id="{D7C9B7EB-9EB7-D3A4-F813-B065FCBD101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7" name="TextBox 222">
              <a:extLst>
                <a:ext uri="{FF2B5EF4-FFF2-40B4-BE49-F238E27FC236}">
                  <a16:creationId xmlns:a16="http://schemas.microsoft.com/office/drawing/2014/main" xmlns="" id="{896AE47D-C8D5-BF6B-C0A2-290D3F3957EF}"/>
                </a:ext>
              </a:extLst>
            </p:cNvPr>
            <p:cNvSpPr txBox="1"/>
            <p:nvPr/>
          </p:nvSpPr>
          <p:spPr>
            <a:xfrm>
              <a:off x="5915052" y="151571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36" name="肘形接點 68">
            <a:extLst>
              <a:ext uri="{FF2B5EF4-FFF2-40B4-BE49-F238E27FC236}">
                <a16:creationId xmlns:a16="http://schemas.microsoft.com/office/drawing/2014/main" xmlns="" id="{3EC05C7C-47C5-24EF-7102-C88C1C6A2F4C}"/>
              </a:ext>
            </a:extLst>
          </p:cNvPr>
          <p:cNvCxnSpPr>
            <a:cxnSpLocks/>
            <a:stCxn id="10" idx="3"/>
            <a:endCxn id="25" idx="0"/>
          </p:cNvCxnSpPr>
          <p:nvPr/>
        </p:nvCxnSpPr>
        <p:spPr>
          <a:xfrm>
            <a:off x="6897978" y="8752902"/>
            <a:ext cx="6143135" cy="25424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9" name="表格 30">
            <a:extLst>
              <a:ext uri="{FF2B5EF4-FFF2-40B4-BE49-F238E27FC236}">
                <a16:creationId xmlns:a16="http://schemas.microsoft.com/office/drawing/2014/main" xmlns="" id="{BA0446E6-BA7D-2F43-9C76-D04589FC0C90}"/>
              </a:ext>
            </a:extLst>
          </p:cNvPr>
          <p:cNvGraphicFramePr>
            <a:graphicFrameLocks noGrp="1"/>
          </p:cNvGraphicFramePr>
          <p:nvPr/>
        </p:nvGraphicFramePr>
        <p:xfrm>
          <a:off x="7575089" y="5846609"/>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在</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上簽核報價</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40" name="Group 232">
            <a:extLst>
              <a:ext uri="{FF2B5EF4-FFF2-40B4-BE49-F238E27FC236}">
                <a16:creationId xmlns:a16="http://schemas.microsoft.com/office/drawing/2014/main" xmlns="" id="{D678605C-DF61-4BA0-6136-D02598B5295A}"/>
              </a:ext>
            </a:extLst>
          </p:cNvPr>
          <p:cNvGrpSpPr/>
          <p:nvPr/>
        </p:nvGrpSpPr>
        <p:grpSpPr>
          <a:xfrm>
            <a:off x="9094337" y="5668708"/>
            <a:ext cx="557700" cy="408542"/>
            <a:chOff x="5906472" y="1486857"/>
            <a:chExt cx="371800" cy="272361"/>
          </a:xfrm>
        </p:grpSpPr>
        <p:sp>
          <p:nvSpPr>
            <p:cNvPr id="41" name="Oval 233">
              <a:extLst>
                <a:ext uri="{FF2B5EF4-FFF2-40B4-BE49-F238E27FC236}">
                  <a16:creationId xmlns:a16="http://schemas.microsoft.com/office/drawing/2014/main" xmlns="" id="{A6DE5A8A-DF99-106B-7464-978A59ADF67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42" name="TextBox 234">
              <a:extLst>
                <a:ext uri="{FF2B5EF4-FFF2-40B4-BE49-F238E27FC236}">
                  <a16:creationId xmlns:a16="http://schemas.microsoft.com/office/drawing/2014/main" xmlns="" id="{0C5F8D23-D21E-6796-C997-006C391D475A}"/>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50" name="肘形接點 68">
            <a:extLst>
              <a:ext uri="{FF2B5EF4-FFF2-40B4-BE49-F238E27FC236}">
                <a16:creationId xmlns:a16="http://schemas.microsoft.com/office/drawing/2014/main" xmlns="" id="{264A6BE8-B397-F44C-5744-75E477CA6F2C}"/>
              </a:ext>
            </a:extLst>
          </p:cNvPr>
          <p:cNvCxnSpPr>
            <a:cxnSpLocks/>
            <a:stCxn id="39" idx="2"/>
            <a:endCxn id="83" idx="0"/>
          </p:cNvCxnSpPr>
          <p:nvPr/>
        </p:nvCxnSpPr>
        <p:spPr>
          <a:xfrm rot="5400000">
            <a:off x="8341902" y="7160841"/>
            <a:ext cx="261897" cy="231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83" name="流程圖: 決策 50">
            <a:extLst>
              <a:ext uri="{FF2B5EF4-FFF2-40B4-BE49-F238E27FC236}">
                <a16:creationId xmlns:a16="http://schemas.microsoft.com/office/drawing/2014/main" xmlns="" id="{69830C1B-3CF8-C1BD-5611-BC55FBEB74C2}"/>
              </a:ext>
            </a:extLst>
          </p:cNvPr>
          <p:cNvSpPr/>
          <p:nvPr/>
        </p:nvSpPr>
        <p:spPr bwMode="auto">
          <a:xfrm>
            <a:off x="7550719" y="729294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核淮</a:t>
            </a:r>
          </a:p>
        </p:txBody>
      </p:sp>
      <p:sp>
        <p:nvSpPr>
          <p:cNvPr id="85" name="文字方塊 84">
            <a:extLst>
              <a:ext uri="{FF2B5EF4-FFF2-40B4-BE49-F238E27FC236}">
                <a16:creationId xmlns:a16="http://schemas.microsoft.com/office/drawing/2014/main" xmlns="" id="{92467F79-960D-075D-688C-1069F253A659}"/>
              </a:ext>
            </a:extLst>
          </p:cNvPr>
          <p:cNvSpPr txBox="1"/>
          <p:nvPr/>
        </p:nvSpPr>
        <p:spPr>
          <a:xfrm>
            <a:off x="8904925" y="796696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86" name="肘形接點 68">
            <a:extLst>
              <a:ext uri="{FF2B5EF4-FFF2-40B4-BE49-F238E27FC236}">
                <a16:creationId xmlns:a16="http://schemas.microsoft.com/office/drawing/2014/main" xmlns="" id="{71E9306E-C75B-3DCD-1412-A77EA1EBB293}"/>
              </a:ext>
            </a:extLst>
          </p:cNvPr>
          <p:cNvCxnSpPr>
            <a:cxnSpLocks/>
            <a:stCxn id="83" idx="2"/>
            <a:endCxn id="5" idx="3"/>
          </p:cNvCxnSpPr>
          <p:nvPr/>
        </p:nvCxnSpPr>
        <p:spPr>
          <a:xfrm rot="5400000" flipH="1" flipV="1">
            <a:off x="8272253" y="4589209"/>
            <a:ext cx="3615376" cy="3216495"/>
          </a:xfrm>
          <a:prstGeom prst="bentConnector4">
            <a:avLst>
              <a:gd name="adj1" fmla="val -6323"/>
              <a:gd name="adj2" fmla="val 116026"/>
            </a:avLst>
          </a:prstGeom>
          <a:ln>
            <a:tailEnd type="triangle"/>
          </a:ln>
        </p:spPr>
        <p:style>
          <a:lnRef idx="1">
            <a:schemeClr val="dk1"/>
          </a:lnRef>
          <a:fillRef idx="0">
            <a:schemeClr val="dk1"/>
          </a:fillRef>
          <a:effectRef idx="0">
            <a:schemeClr val="dk1"/>
          </a:effectRef>
          <a:fontRef idx="minor">
            <a:schemeClr val="tx1"/>
          </a:fontRef>
        </p:style>
      </p:cxnSp>
      <p:cxnSp>
        <p:nvCxnSpPr>
          <p:cNvPr id="89" name="肘形接點 68">
            <a:extLst>
              <a:ext uri="{FF2B5EF4-FFF2-40B4-BE49-F238E27FC236}">
                <a16:creationId xmlns:a16="http://schemas.microsoft.com/office/drawing/2014/main" xmlns="" id="{5D757918-2D8B-0E07-3AA6-2B01F970D76C}"/>
              </a:ext>
            </a:extLst>
          </p:cNvPr>
          <p:cNvCxnSpPr>
            <a:cxnSpLocks/>
            <a:stCxn id="83" idx="1"/>
            <a:endCxn id="10" idx="0"/>
          </p:cNvCxnSpPr>
          <p:nvPr/>
        </p:nvCxnSpPr>
        <p:spPr>
          <a:xfrm rot="10800000" flipV="1">
            <a:off x="5948351" y="7649045"/>
            <a:ext cx="1602368" cy="30142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90" name="文字方塊 89">
            <a:extLst>
              <a:ext uri="{FF2B5EF4-FFF2-40B4-BE49-F238E27FC236}">
                <a16:creationId xmlns:a16="http://schemas.microsoft.com/office/drawing/2014/main" xmlns="" id="{E4E84DBC-C39D-0504-2213-B8B95FAA60CF}"/>
              </a:ext>
            </a:extLst>
          </p:cNvPr>
          <p:cNvSpPr txBox="1"/>
          <p:nvPr/>
        </p:nvSpPr>
        <p:spPr>
          <a:xfrm>
            <a:off x="7349767" y="727537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Tree>
    <p:extLst>
      <p:ext uri="{BB962C8B-B14F-4D97-AF65-F5344CB8AC3E}">
        <p14:creationId xmlns:p14="http://schemas.microsoft.com/office/powerpoint/2010/main" xmlns="" val="21826792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a16="http://schemas.microsoft.com/office/drawing/2014/main" xmlns="" id="{580160BC-29D0-9D19-BFCE-78B7FC429FBC}"/>
              </a:ext>
            </a:extLst>
          </p:cNvPr>
          <p:cNvSpPr/>
          <p:nvPr/>
        </p:nvSpPr>
        <p:spPr bwMode="auto">
          <a:xfrm>
            <a:off x="3645132" y="3839040"/>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詢價單</a:t>
            </a:r>
          </a:p>
        </p:txBody>
      </p:sp>
      <p:sp>
        <p:nvSpPr>
          <p:cNvPr id="4" name="文字方塊 3">
            <a:extLst>
              <a:ext uri="{FF2B5EF4-FFF2-40B4-BE49-F238E27FC236}">
                <a16:creationId xmlns:a16="http://schemas.microsoft.com/office/drawing/2014/main" xmlns="" id="{83E6F622-2FBE-CC67-50FE-4ABD7D8B9696}"/>
              </a:ext>
            </a:extLst>
          </p:cNvPr>
          <p:cNvSpPr txBox="1"/>
          <p:nvPr/>
        </p:nvSpPr>
        <p:spPr>
          <a:xfrm>
            <a:off x="2449290" y="804548"/>
            <a:ext cx="8450034" cy="461665"/>
          </a:xfrm>
          <a:prstGeom prst="rect">
            <a:avLst/>
          </a:prstGeom>
          <a:noFill/>
        </p:spPr>
        <p:txBody>
          <a:bodyPr wrap="square">
            <a:spAutoFit/>
          </a:bodyPr>
          <a:lstStyle/>
          <a:p>
            <a:pPr defTabSz="1371600" eaLnBrk="0" hangingPunct="0">
              <a:buClr>
                <a:srgbClr val="000000"/>
              </a:buClr>
            </a:pP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MM-PU-0010</a:t>
            </a:r>
            <a:r>
              <a:rPr lang="zh-TW" altLang="en-US" sz="2400" b="1" dirty="0" smtClean="0">
                <a:latin typeface="微軟正黑體" panose="020B0604030504040204" pitchFamily="34" charset="-120"/>
                <a:ea typeface="微軟正黑體" panose="020B0604030504040204" pitchFamily="34" charset="-120"/>
              </a:rPr>
              <a:t>詢報價更新價格主檔流程 </a:t>
            </a: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使用紙本</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/Email )</a:t>
            </a:r>
            <a:endPar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93951" y="1391440"/>
            <a:ext cx="5142168"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a:t>
            </a:r>
          </a:p>
        </p:txBody>
      </p:sp>
      <p:cxnSp>
        <p:nvCxnSpPr>
          <p:cNvPr id="12" name="肘形接點 68">
            <a:extLst>
              <a:ext uri="{FF2B5EF4-FFF2-40B4-BE49-F238E27FC236}">
                <a16:creationId xmlns:a16="http://schemas.microsoft.com/office/drawing/2014/main" xmlns="" id="{FBF11958-7A91-079F-32FB-0858325AE319}"/>
              </a:ext>
            </a:extLst>
          </p:cNvPr>
          <p:cNvCxnSpPr>
            <a:cxnSpLocks/>
            <a:stCxn id="23" idx="2"/>
            <a:endCxn id="26" idx="3"/>
          </p:cNvCxnSpPr>
          <p:nvPr/>
        </p:nvCxnSpPr>
        <p:spPr>
          <a:xfrm rot="5400000">
            <a:off x="8629317" y="1939346"/>
            <a:ext cx="488796" cy="39015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142197" y="8797798"/>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結束</a:t>
            </a:r>
          </a:p>
        </p:txBody>
      </p:sp>
      <p:graphicFrame>
        <p:nvGraphicFramePr>
          <p:cNvPr id="30" name="表格 30">
            <a:extLst>
              <a:ext uri="{FF2B5EF4-FFF2-40B4-BE49-F238E27FC236}">
                <a16:creationId xmlns:a16="http://schemas.microsoft.com/office/drawing/2014/main" xmlns="" id="{18197701-0564-3E2B-648E-413A6C8BBE0A}"/>
              </a:ext>
            </a:extLst>
          </p:cNvPr>
          <p:cNvGraphicFramePr>
            <a:graphicFrameLocks noGrp="1" noChangeAspect="1"/>
          </p:cNvGraphicFramePr>
          <p:nvPr/>
        </p:nvGraphicFramePr>
        <p:xfrm>
          <a:off x="2844411" y="2108636"/>
          <a:ext cx="1795390" cy="1634959"/>
        </p:xfrm>
        <a:graphic>
          <a:graphicData uri="http://schemas.openxmlformats.org/drawingml/2006/table">
            <a:tbl>
              <a:tblPr>
                <a:tableStyleId>{5940675A-B579-460E-94D1-54222C63F5DA}</a:tableStyleId>
              </a:tblPr>
              <a:tblGrid>
                <a:gridCol w="897695">
                  <a:extLst>
                    <a:ext uri="{9D8B030D-6E8A-4147-A177-3AD203B41FA5}">
                      <a16:colId xmlns:a16="http://schemas.microsoft.com/office/drawing/2014/main" xmlns="" val="3433979995"/>
                    </a:ext>
                  </a:extLst>
                </a:gridCol>
                <a:gridCol w="897695">
                  <a:extLst>
                    <a:ext uri="{9D8B030D-6E8A-4147-A177-3AD203B41FA5}">
                      <a16:colId xmlns:a16="http://schemas.microsoft.com/office/drawing/2014/main" xmlns="" val="3727974752"/>
                    </a:ext>
                  </a:extLst>
                </a:gridCol>
              </a:tblGrid>
              <a:tr h="345285">
                <a:tc gridSpan="2">
                  <a:txBody>
                    <a:bodyPr/>
                    <a:lstStyle/>
                    <a:p>
                      <a:pPr marR="0" algn="ctr" rtl="0">
                        <a:lnSpc>
                          <a:spcPct val="100000"/>
                        </a:lnSpc>
                        <a:spcBef>
                          <a:spcPts val="0"/>
                        </a:spcBef>
                        <a:spcAft>
                          <a:spcPts val="0"/>
                        </a:spcAft>
                        <a:buClr>
                          <a:srgbClr val="000000"/>
                        </a:buClr>
                        <a:buFont typeface="Arial"/>
                      </a:pPr>
                      <a:r>
                        <a:rPr lang="en-GB"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ZMM013</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94765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匯集正式</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暫存採購單資料，匯入</a:t>
                      </a:r>
                      <a:r>
                        <a:rPr kumimoji="0" lang="en-US" altLang="zh-TW" sz="1400" dirty="0">
                          <a:latin typeface="微軟正黑體" panose="020B0604030504040204" pitchFamily="34" charset="-120"/>
                          <a:ea typeface="微軟正黑體" panose="020B0604030504040204" pitchFamily="34" charset="-120"/>
                        </a:rPr>
                        <a:t>DS B2B</a:t>
                      </a:r>
                      <a:r>
                        <a:rPr kumimoji="0" lang="zh-TW" altLang="en-US" sz="1400" dirty="0">
                          <a:latin typeface="微軟正黑體" panose="020B0604030504040204" pitchFamily="34" charset="-120"/>
                          <a:ea typeface="微軟正黑體" panose="020B0604030504040204" pitchFamily="34" charset="-120"/>
                        </a:rPr>
                        <a:t>平台，並輸出詢價單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1" name="Group 220">
            <a:extLst>
              <a:ext uri="{FF2B5EF4-FFF2-40B4-BE49-F238E27FC236}">
                <a16:creationId xmlns:a16="http://schemas.microsoft.com/office/drawing/2014/main" xmlns="" id="{A9B401BC-DE49-5FC0-6565-D216316A23DA}"/>
              </a:ext>
            </a:extLst>
          </p:cNvPr>
          <p:cNvGrpSpPr/>
          <p:nvPr/>
        </p:nvGrpSpPr>
        <p:grpSpPr>
          <a:xfrm>
            <a:off x="4448103" y="1831178"/>
            <a:ext cx="533400" cy="408542"/>
            <a:chOff x="5906184" y="1486857"/>
            <a:chExt cx="355600"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2100" kern="0" dirty="0">
                <a:solidFill>
                  <a:srgbClr val="FFFFFF"/>
                </a:solidFill>
                <a:latin typeface="Arial"/>
                <a:ea typeface="新細明體" panose="02020500000000000000" pitchFamily="18" charset="-120"/>
                <a:sym typeface="Arial"/>
              </a:endParaRPr>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06184" y="1507079"/>
              <a:ext cx="355600" cy="215443"/>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16" name="Straight Connector 284">
            <a:extLst>
              <a:ext uri="{FF2B5EF4-FFF2-40B4-BE49-F238E27FC236}">
                <a16:creationId xmlns:a16="http://schemas.microsoft.com/office/drawing/2014/main" xmlns="" id="{3343F13F-0020-F344-5B28-F9AEB09CA3FA}"/>
              </a:ext>
            </a:extLst>
          </p:cNvPr>
          <p:cNvCxnSpPr>
            <a:cxnSpLocks/>
          </p:cNvCxnSpPr>
          <p:nvPr/>
        </p:nvCxnSpPr>
        <p:spPr>
          <a:xfrm>
            <a:off x="9492200" y="1460755"/>
            <a:ext cx="0" cy="8559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a16="http://schemas.microsoft.com/office/drawing/2014/main" xmlns="" id="{DE52170D-3194-E094-D743-3842F95326FE}"/>
              </a:ext>
            </a:extLst>
          </p:cNvPr>
          <p:cNvSpPr txBox="1"/>
          <p:nvPr/>
        </p:nvSpPr>
        <p:spPr>
          <a:xfrm>
            <a:off x="9029700" y="1379658"/>
            <a:ext cx="2834640"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廠商</a:t>
            </a:r>
          </a:p>
        </p:txBody>
      </p:sp>
      <p:sp>
        <p:nvSpPr>
          <p:cNvPr id="2" name="流程圖: 預設處理作業 21">
            <a:extLst>
              <a:ext uri="{FF2B5EF4-FFF2-40B4-BE49-F238E27FC236}">
                <a16:creationId xmlns:a16="http://schemas.microsoft.com/office/drawing/2014/main" xmlns="" id="{05C0F933-9EE2-8F99-C7D5-38ABBE089DC5}"/>
              </a:ext>
            </a:extLst>
          </p:cNvPr>
          <p:cNvSpPr/>
          <p:nvPr/>
        </p:nvSpPr>
        <p:spPr bwMode="auto">
          <a:xfrm>
            <a:off x="417866" y="1955434"/>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defTabSz="1371600" eaLnBrk="0" hangingPunct="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MM-PU-0030</a:t>
            </a:r>
          </a:p>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p>
          <a:p>
            <a:pPr algn="ctr" defTabSz="1371600" eaLnBrk="0" hangingPunct="0">
              <a:buClr>
                <a:srgbClr val="000000"/>
              </a:buClr>
            </a:pP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6" name="肘形接點 68">
            <a:extLst>
              <a:ext uri="{FF2B5EF4-FFF2-40B4-BE49-F238E27FC236}">
                <a16:creationId xmlns:a16="http://schemas.microsoft.com/office/drawing/2014/main" xmlns="" id="{70F961FE-0AA7-D2B8-F257-ECB0C3D45D2D}"/>
              </a:ext>
            </a:extLst>
          </p:cNvPr>
          <p:cNvCxnSpPr>
            <a:cxnSpLocks/>
            <a:stCxn id="2" idx="3"/>
            <a:endCxn id="30" idx="1"/>
          </p:cNvCxnSpPr>
          <p:nvPr/>
        </p:nvCxnSpPr>
        <p:spPr>
          <a:xfrm>
            <a:off x="2230978" y="2574634"/>
            <a:ext cx="613433" cy="35148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 name="表格 30">
            <a:extLst>
              <a:ext uri="{FF2B5EF4-FFF2-40B4-BE49-F238E27FC236}">
                <a16:creationId xmlns:a16="http://schemas.microsoft.com/office/drawing/2014/main" xmlns="" id="{36F45BC6-97E0-5DAF-4CDF-28F120688387}"/>
              </a:ext>
            </a:extLst>
          </p:cNvPr>
          <p:cNvGraphicFramePr>
            <a:graphicFrameLocks noGrp="1"/>
          </p:cNvGraphicFramePr>
          <p:nvPr/>
        </p:nvGraphicFramePr>
        <p:xfrm>
          <a:off x="9925596" y="2178745"/>
          <a:ext cx="1797832" cy="14670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938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 廠商收</a:t>
                      </a:r>
                      <a:r>
                        <a:rPr kumimoji="0" lang="en-US" altLang="zh-TW" sz="1500" dirty="0">
                          <a:latin typeface="微軟正黑體" panose="020B0604030504040204" pitchFamily="34" charset="-120"/>
                          <a:ea typeface="微軟正黑體" panose="020B0604030504040204" pitchFamily="34" charset="-120"/>
                        </a:rPr>
                        <a:t>email/</a:t>
                      </a:r>
                      <a:r>
                        <a:rPr kumimoji="0" lang="zh-TW" altLang="en-US" sz="1500">
                          <a:latin typeface="微軟正黑體" panose="020B0604030504040204" pitchFamily="34" charset="-120"/>
                          <a:ea typeface="微軟正黑體" panose="020B0604030504040204" pitchFamily="34" charset="-120"/>
                        </a:rPr>
                        <a:t>紙本報價單回覆</a:t>
                      </a:r>
                      <a:r>
                        <a:rPr kumimoji="0" lang="zh-TW" altLang="en-US" sz="1500" dirty="0">
                          <a:latin typeface="微軟正黑體" panose="020B0604030504040204" pitchFamily="34" charset="-120"/>
                          <a:ea typeface="微軟正黑體" panose="020B0604030504040204" pitchFamily="34" charset="-120"/>
                        </a:rPr>
                        <a:t>價格</a:t>
                      </a:r>
                    </a:p>
                    <a:p>
                      <a:pPr algn="ctr" eaLnBrk="0" hangingPunct="0"/>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40" name="肘形接點 68">
            <a:extLst>
              <a:ext uri="{FF2B5EF4-FFF2-40B4-BE49-F238E27FC236}">
                <a16:creationId xmlns:a16="http://schemas.microsoft.com/office/drawing/2014/main" xmlns="" id="{1DF5F1F4-D706-20CD-2C91-619F7E00C1C5}"/>
              </a:ext>
            </a:extLst>
          </p:cNvPr>
          <p:cNvCxnSpPr>
            <a:cxnSpLocks/>
            <a:stCxn id="30" idx="3"/>
            <a:endCxn id="23" idx="1"/>
          </p:cNvCxnSpPr>
          <p:nvPr/>
        </p:nvCxnSpPr>
        <p:spPr>
          <a:xfrm flipV="1">
            <a:off x="4639801" y="2912245"/>
            <a:ext cx="5285795" cy="1387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Connector 284">
            <a:extLst>
              <a:ext uri="{FF2B5EF4-FFF2-40B4-BE49-F238E27FC236}">
                <a16:creationId xmlns:a16="http://schemas.microsoft.com/office/drawing/2014/main" xmlns="" id="{CCB3D035-826A-6F8E-1D15-1A3E96F62413}"/>
              </a:ext>
            </a:extLst>
          </p:cNvPr>
          <p:cNvCxnSpPr>
            <a:cxnSpLocks/>
          </p:cNvCxnSpPr>
          <p:nvPr/>
        </p:nvCxnSpPr>
        <p:spPr>
          <a:xfrm>
            <a:off x="7057733" y="1418054"/>
            <a:ext cx="0" cy="8559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a16="http://schemas.microsoft.com/office/drawing/2014/main" xmlns="" id="{306A0461-FB0A-6B8E-26F4-F4121B822258}"/>
              </a:ext>
            </a:extLst>
          </p:cNvPr>
          <p:cNvSpPr txBox="1"/>
          <p:nvPr/>
        </p:nvSpPr>
        <p:spPr>
          <a:xfrm>
            <a:off x="7201586" y="1380008"/>
            <a:ext cx="2337872"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採購主管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報價主管</a:t>
            </a:r>
          </a:p>
        </p:txBody>
      </p:sp>
      <p:graphicFrame>
        <p:nvGraphicFramePr>
          <p:cNvPr id="26" name="表格 30">
            <a:extLst>
              <a:ext uri="{FF2B5EF4-FFF2-40B4-BE49-F238E27FC236}">
                <a16:creationId xmlns:a16="http://schemas.microsoft.com/office/drawing/2014/main" xmlns="" id="{2883E09F-C5E0-941D-F725-823C9E266790}"/>
              </a:ext>
            </a:extLst>
          </p:cNvPr>
          <p:cNvGraphicFramePr>
            <a:graphicFrameLocks noGrp="1"/>
          </p:cNvGraphicFramePr>
          <p:nvPr/>
        </p:nvGraphicFramePr>
        <p:xfrm>
          <a:off x="5125085" y="3515341"/>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登入</a:t>
                      </a:r>
                      <a:r>
                        <a:rPr kumimoji="0" lang="en-US" altLang="zh-TW" sz="1500" dirty="0">
                          <a:latin typeface="微軟正黑體" panose="020B0604030504040204" pitchFamily="34" charset="-120"/>
                          <a:ea typeface="微軟正黑體" panose="020B0604030504040204" pitchFamily="34" charset="-120"/>
                        </a:rPr>
                        <a:t>DS B2B</a:t>
                      </a:r>
                      <a:r>
                        <a:rPr kumimoji="0" lang="zh-TW" altLang="en-US" sz="1500" dirty="0">
                          <a:latin typeface="微軟正黑體" panose="020B0604030504040204" pitchFamily="34" charset="-120"/>
                          <a:ea typeface="微軟正黑體" panose="020B0604030504040204" pitchFamily="34" charset="-120"/>
                        </a:rPr>
                        <a:t>平台維護價格</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B2B</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52" name="肘形接點 68">
            <a:extLst>
              <a:ext uri="{FF2B5EF4-FFF2-40B4-BE49-F238E27FC236}">
                <a16:creationId xmlns:a16="http://schemas.microsoft.com/office/drawing/2014/main" xmlns="" id="{C4282324-F903-2036-F36D-6DA1B97AD71E}"/>
              </a:ext>
            </a:extLst>
          </p:cNvPr>
          <p:cNvCxnSpPr>
            <a:cxnSpLocks/>
            <a:stCxn id="26" idx="2"/>
            <a:endCxn id="71" idx="0"/>
          </p:cNvCxnSpPr>
          <p:nvPr/>
        </p:nvCxnSpPr>
        <p:spPr>
          <a:xfrm rot="16200000" flipH="1">
            <a:off x="6696283" y="4081459"/>
            <a:ext cx="876883" cy="222144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1" name="TextBox 53">
            <a:extLst>
              <a:ext uri="{FF2B5EF4-FFF2-40B4-BE49-F238E27FC236}">
                <a16:creationId xmlns:a16="http://schemas.microsoft.com/office/drawing/2014/main" xmlns="" id="{2DE69ECC-E293-FAA8-6082-E6D2F887DBFF}"/>
              </a:ext>
            </a:extLst>
          </p:cNvPr>
          <p:cNvSpPr txBox="1"/>
          <p:nvPr/>
        </p:nvSpPr>
        <p:spPr>
          <a:xfrm>
            <a:off x="14380627" y="1787683"/>
            <a:ext cx="3594197" cy="4801314"/>
          </a:xfrm>
          <a:prstGeom prst="rect">
            <a:avLst/>
          </a:prstGeom>
          <a:noFill/>
        </p:spPr>
        <p:txBody>
          <a:bodyPr wrap="square" rtlCol="0">
            <a:spAutoFit/>
          </a:bodyPr>
          <a:lstStyle/>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在採購單建立後，利用客制程式</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ZMM013</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將採購單資料製作出報價單</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紙本或檔案</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，寄送給廠商作報價，同時也將資料匯入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平台進行詢價</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廠商收到</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email/</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紙本報價單回覆價格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採購人員收取廠商回覆價格後，採購登入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平台將價格填好。</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平台將已完成報價的採購單回傳</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發起簽核，採購主管進</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系統進行價格簽核</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經主管簽核的報價單，透過界面程式</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ZMM004</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產生價格主檔</a:t>
            </a:r>
            <a:r>
              <a:rPr lang="zh-TW" altLang="en-US" kern="0" dirty="0">
                <a:solidFill>
                  <a:srgbClr val="000000"/>
                </a:solidFill>
                <a:latin typeface="Arial"/>
                <a:cs typeface="Arial"/>
                <a:sym typeface="Arial"/>
              </a:rPr>
              <a:t>。</a:t>
            </a:r>
            <a:endParaRPr lang="en-US" altLang="zh-TW" kern="0" dirty="0">
              <a:solidFill>
                <a:srgbClr val="000000"/>
              </a:solidFill>
              <a:latin typeface="Arial"/>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Arial"/>
              <a:cs typeface="Arial"/>
              <a:sym typeface="Arial"/>
            </a:endParaRPr>
          </a:p>
          <a:p>
            <a:pPr defTabSz="1371600">
              <a:buClr>
                <a:srgbClr val="000000"/>
              </a:buClr>
            </a:pPr>
            <a:endParaRPr lang="zh-TW" altLang="en-US" kern="0" dirty="0">
              <a:solidFill>
                <a:srgbClr val="000000"/>
              </a:solidFill>
              <a:latin typeface="Arial"/>
              <a:cs typeface="Arial"/>
              <a:sym typeface="Arial"/>
            </a:endParaRPr>
          </a:p>
        </p:txBody>
      </p:sp>
      <p:cxnSp>
        <p:nvCxnSpPr>
          <p:cNvPr id="7" name="肘形接點 68">
            <a:extLst>
              <a:ext uri="{FF2B5EF4-FFF2-40B4-BE49-F238E27FC236}">
                <a16:creationId xmlns:a16="http://schemas.microsoft.com/office/drawing/2014/main" xmlns="" id="{E45D6578-4C3E-5B78-9264-E70AA90E455C}"/>
              </a:ext>
            </a:extLst>
          </p:cNvPr>
          <p:cNvCxnSpPr>
            <a:cxnSpLocks/>
            <a:stCxn id="95" idx="3"/>
            <a:endCxn id="25" idx="0"/>
          </p:cNvCxnSpPr>
          <p:nvPr/>
        </p:nvCxnSpPr>
        <p:spPr>
          <a:xfrm>
            <a:off x="9242334" y="8112194"/>
            <a:ext cx="3798779" cy="68560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7" name="Google Shape;198;p3"/>
          <p:cNvSpPr txBox="1">
            <a:spLocks/>
          </p:cNvSpPr>
          <p:nvPr/>
        </p:nvSpPr>
        <p:spPr>
          <a:xfrm>
            <a:off x="15573702" y="465770"/>
            <a:ext cx="607912" cy="249376"/>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2</a:t>
            </a:r>
          </a:p>
        </p:txBody>
      </p:sp>
      <p:graphicFrame>
        <p:nvGraphicFramePr>
          <p:cNvPr id="71" name="表格 30">
            <a:extLst>
              <a:ext uri="{FF2B5EF4-FFF2-40B4-BE49-F238E27FC236}">
                <a16:creationId xmlns:a16="http://schemas.microsoft.com/office/drawing/2014/main" xmlns="" id="{DD4D6B14-D3B2-B7AE-AA9C-20D4B4848A80}"/>
              </a:ext>
            </a:extLst>
          </p:cNvPr>
          <p:cNvGraphicFramePr>
            <a:graphicFrameLocks noGrp="1"/>
          </p:cNvGraphicFramePr>
          <p:nvPr/>
        </p:nvGraphicFramePr>
        <p:xfrm>
          <a:off x="7346531" y="5630624"/>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在</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上簽核報價</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90" name="肘形接點 68">
            <a:extLst>
              <a:ext uri="{FF2B5EF4-FFF2-40B4-BE49-F238E27FC236}">
                <a16:creationId xmlns:a16="http://schemas.microsoft.com/office/drawing/2014/main" xmlns="" id="{4D315B82-E1CA-313C-D4BB-3BBD9FD7F973}"/>
              </a:ext>
            </a:extLst>
          </p:cNvPr>
          <p:cNvCxnSpPr>
            <a:cxnSpLocks/>
            <a:stCxn id="71" idx="2"/>
            <a:endCxn id="91" idx="0"/>
          </p:cNvCxnSpPr>
          <p:nvPr/>
        </p:nvCxnSpPr>
        <p:spPr>
          <a:xfrm rot="5400000">
            <a:off x="6557714" y="6063566"/>
            <a:ext cx="936236" cy="24392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1" name="流程圖: 決策 50">
            <a:extLst>
              <a:ext uri="{FF2B5EF4-FFF2-40B4-BE49-F238E27FC236}">
                <a16:creationId xmlns:a16="http://schemas.microsoft.com/office/drawing/2014/main" xmlns="" id="{8037CA89-DBE3-1441-8E4C-7EA04E993D61}"/>
              </a:ext>
            </a:extLst>
          </p:cNvPr>
          <p:cNvSpPr/>
          <p:nvPr/>
        </p:nvSpPr>
        <p:spPr bwMode="auto">
          <a:xfrm>
            <a:off x="4885241" y="7751299"/>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核淮</a:t>
            </a:r>
          </a:p>
        </p:txBody>
      </p:sp>
      <p:cxnSp>
        <p:nvCxnSpPr>
          <p:cNvPr id="92" name="肘形接點 68">
            <a:extLst>
              <a:ext uri="{FF2B5EF4-FFF2-40B4-BE49-F238E27FC236}">
                <a16:creationId xmlns:a16="http://schemas.microsoft.com/office/drawing/2014/main" xmlns="" id="{2AC129F8-586D-89C1-4F65-FC6AD0B816BA}"/>
              </a:ext>
            </a:extLst>
          </p:cNvPr>
          <p:cNvCxnSpPr>
            <a:cxnSpLocks/>
            <a:stCxn id="91" idx="2"/>
            <a:endCxn id="25" idx="1"/>
          </p:cNvCxnSpPr>
          <p:nvPr/>
        </p:nvCxnSpPr>
        <p:spPr>
          <a:xfrm rot="16200000" flipH="1">
            <a:off x="8611447" y="5658268"/>
            <a:ext cx="725522" cy="633598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93" name="文字方塊 92">
            <a:extLst>
              <a:ext uri="{FF2B5EF4-FFF2-40B4-BE49-F238E27FC236}">
                <a16:creationId xmlns:a16="http://schemas.microsoft.com/office/drawing/2014/main" xmlns="" id="{7BDD8B3B-9FC5-B431-B92A-CADEB291222C}"/>
              </a:ext>
            </a:extLst>
          </p:cNvPr>
          <p:cNvSpPr txBox="1"/>
          <p:nvPr/>
        </p:nvSpPr>
        <p:spPr>
          <a:xfrm>
            <a:off x="5806215" y="8762921"/>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cxnSp>
        <p:nvCxnSpPr>
          <p:cNvPr id="94" name="肘形接點 93">
            <a:extLst>
              <a:ext uri="{FF2B5EF4-FFF2-40B4-BE49-F238E27FC236}">
                <a16:creationId xmlns:a16="http://schemas.microsoft.com/office/drawing/2014/main" xmlns="" id="{3C63507D-83FD-0025-3EF4-B6F87A20780B}"/>
              </a:ext>
            </a:extLst>
          </p:cNvPr>
          <p:cNvCxnSpPr>
            <a:cxnSpLocks/>
            <a:stCxn id="91" idx="3"/>
            <a:endCxn id="95" idx="1"/>
          </p:cNvCxnSpPr>
          <p:nvPr/>
        </p:nvCxnSpPr>
        <p:spPr>
          <a:xfrm>
            <a:off x="6727190" y="8107399"/>
            <a:ext cx="717310" cy="479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95" name="表格 94">
            <a:extLst>
              <a:ext uri="{FF2B5EF4-FFF2-40B4-BE49-F238E27FC236}">
                <a16:creationId xmlns:a16="http://schemas.microsoft.com/office/drawing/2014/main" xmlns="" id="{A9916CAA-93B0-6FE4-E43A-A62C5E0108B3}"/>
              </a:ext>
            </a:extLst>
          </p:cNvPr>
          <p:cNvGraphicFramePr>
            <a:graphicFrameLocks noGrp="1"/>
          </p:cNvGraphicFramePr>
          <p:nvPr/>
        </p:nvGraphicFramePr>
        <p:xfrm>
          <a:off x="7444500" y="7614914"/>
          <a:ext cx="1797834" cy="994560"/>
        </p:xfrm>
        <a:graphic>
          <a:graphicData uri="http://schemas.openxmlformats.org/drawingml/2006/table">
            <a:tbl>
              <a:tblPr>
                <a:tableStyleId>{5940675A-B579-460E-94D1-54222C63F5DA}</a:tableStyleId>
              </a:tblPr>
              <a:tblGrid>
                <a:gridCol w="898917">
                  <a:extLst>
                    <a:ext uri="{9D8B030D-6E8A-4147-A177-3AD203B41FA5}">
                      <a16:colId xmlns:a16="http://schemas.microsoft.com/office/drawing/2014/main" xmlns="" val="3433979995"/>
                    </a:ext>
                  </a:extLst>
                </a:gridCol>
                <a:gridCol w="898917">
                  <a:extLst>
                    <a:ext uri="{9D8B030D-6E8A-4147-A177-3AD203B41FA5}">
                      <a16:colId xmlns:a16="http://schemas.microsoft.com/office/drawing/2014/main" xmlns="" val="3727974752"/>
                    </a:ext>
                  </a:extLst>
                </a:gridCol>
              </a:tblGrid>
              <a:tr h="313740">
                <a:tc gridSpan="2">
                  <a:txBody>
                    <a:bodyPr/>
                    <a:lstStyle/>
                    <a:p>
                      <a:pPr marR="0" algn="ctr" rtl="0">
                        <a:lnSpc>
                          <a:spcPct val="100000"/>
                        </a:lnSpc>
                        <a:spcBef>
                          <a:spcPts val="0"/>
                        </a:spcBef>
                        <a:spcAft>
                          <a:spcPts val="0"/>
                        </a:spcAft>
                        <a:buClr>
                          <a:srgbClr val="000000"/>
                        </a:buClr>
                        <a:buFont typeface="Arial"/>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ZMM004</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產生價格主檔</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99" name="文字方塊 98">
            <a:extLst>
              <a:ext uri="{FF2B5EF4-FFF2-40B4-BE49-F238E27FC236}">
                <a16:creationId xmlns:a16="http://schemas.microsoft.com/office/drawing/2014/main" xmlns="" id="{B106DB5A-3C2B-C42B-E706-9F53E0CA364F}"/>
              </a:ext>
            </a:extLst>
          </p:cNvPr>
          <p:cNvSpPr txBox="1"/>
          <p:nvPr/>
        </p:nvSpPr>
        <p:spPr>
          <a:xfrm>
            <a:off x="6693449" y="7751299"/>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grpSp>
        <p:nvGrpSpPr>
          <p:cNvPr id="110" name="Group 220">
            <a:extLst>
              <a:ext uri="{FF2B5EF4-FFF2-40B4-BE49-F238E27FC236}">
                <a16:creationId xmlns:a16="http://schemas.microsoft.com/office/drawing/2014/main" xmlns="" id="{8F9100A8-C49B-4A69-8C8C-1F7583CA5532}"/>
              </a:ext>
            </a:extLst>
          </p:cNvPr>
          <p:cNvGrpSpPr/>
          <p:nvPr/>
        </p:nvGrpSpPr>
        <p:grpSpPr>
          <a:xfrm>
            <a:off x="6750861" y="3278876"/>
            <a:ext cx="533400" cy="415761"/>
            <a:chOff x="5906184" y="1486857"/>
            <a:chExt cx="355600" cy="272361"/>
          </a:xfrm>
        </p:grpSpPr>
        <p:sp>
          <p:nvSpPr>
            <p:cNvPr id="112"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13" name="TextBox 222">
              <a:extLst>
                <a:ext uri="{FF2B5EF4-FFF2-40B4-BE49-F238E27FC236}">
                  <a16:creationId xmlns:a16="http://schemas.microsoft.com/office/drawing/2014/main" xmlns="" id="{60D91B19-79E7-F88F-B376-D3C257050AE7}"/>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3</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68" name="Group 220">
            <a:extLst>
              <a:ext uri="{FF2B5EF4-FFF2-40B4-BE49-F238E27FC236}">
                <a16:creationId xmlns:a16="http://schemas.microsoft.com/office/drawing/2014/main" xmlns="" id="{ADD1546F-75A2-0E22-F66E-32DFDB0DE746}"/>
              </a:ext>
            </a:extLst>
          </p:cNvPr>
          <p:cNvGrpSpPr/>
          <p:nvPr/>
        </p:nvGrpSpPr>
        <p:grpSpPr>
          <a:xfrm>
            <a:off x="8961515" y="5471650"/>
            <a:ext cx="554070" cy="415761"/>
            <a:chOff x="5906472" y="1486857"/>
            <a:chExt cx="369380" cy="272361"/>
          </a:xfrm>
        </p:grpSpPr>
        <p:sp>
          <p:nvSpPr>
            <p:cNvPr id="69"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70" name="TextBox 222">
              <a:extLst>
                <a:ext uri="{FF2B5EF4-FFF2-40B4-BE49-F238E27FC236}">
                  <a16:creationId xmlns:a16="http://schemas.microsoft.com/office/drawing/2014/main" xmlns="" id="{454E1CB9-6ED4-AD5A-39EC-6D1B324BA26E}"/>
                </a:ext>
              </a:extLst>
            </p:cNvPr>
            <p:cNvSpPr txBox="1"/>
            <p:nvPr/>
          </p:nvSpPr>
          <p:spPr>
            <a:xfrm>
              <a:off x="5920252"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4</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87" name="Group 220">
            <a:extLst>
              <a:ext uri="{FF2B5EF4-FFF2-40B4-BE49-F238E27FC236}">
                <a16:creationId xmlns:a16="http://schemas.microsoft.com/office/drawing/2014/main" xmlns="" id="{4D95C288-6714-454D-9546-9695181783C4}"/>
              </a:ext>
            </a:extLst>
          </p:cNvPr>
          <p:cNvGrpSpPr/>
          <p:nvPr/>
        </p:nvGrpSpPr>
        <p:grpSpPr>
          <a:xfrm>
            <a:off x="9032126" y="7409263"/>
            <a:ext cx="598686" cy="415761"/>
            <a:chOff x="5906472" y="1486857"/>
            <a:chExt cx="399124" cy="272361"/>
          </a:xfrm>
        </p:grpSpPr>
        <p:sp>
          <p:nvSpPr>
            <p:cNvPr id="88" name="Oval 221">
              <a:extLst>
                <a:ext uri="{FF2B5EF4-FFF2-40B4-BE49-F238E27FC236}">
                  <a16:creationId xmlns:a16="http://schemas.microsoft.com/office/drawing/2014/main" xmlns="" id="{72A2B63D-65EC-C074-FCB6-69461905F4E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89" name="TextBox 222">
              <a:extLst>
                <a:ext uri="{FF2B5EF4-FFF2-40B4-BE49-F238E27FC236}">
                  <a16:creationId xmlns:a16="http://schemas.microsoft.com/office/drawing/2014/main" xmlns="" id="{2AF4E12C-BB56-86F1-9004-5DA2FF03B867}"/>
                </a:ext>
              </a:extLst>
            </p:cNvPr>
            <p:cNvSpPr txBox="1"/>
            <p:nvPr/>
          </p:nvSpPr>
          <p:spPr>
            <a:xfrm>
              <a:off x="5920251" y="1507079"/>
              <a:ext cx="385345"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5</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36" name="Group 220">
            <a:extLst>
              <a:ext uri="{FF2B5EF4-FFF2-40B4-BE49-F238E27FC236}">
                <a16:creationId xmlns:a16="http://schemas.microsoft.com/office/drawing/2014/main" xmlns="" id="{49B965EA-5488-20F5-FB4A-DE694754D613}"/>
              </a:ext>
            </a:extLst>
          </p:cNvPr>
          <p:cNvGrpSpPr/>
          <p:nvPr/>
        </p:nvGrpSpPr>
        <p:grpSpPr>
          <a:xfrm>
            <a:off x="11569464" y="1962578"/>
            <a:ext cx="533400" cy="408542"/>
            <a:chOff x="5906184" y="1486857"/>
            <a:chExt cx="355600" cy="272361"/>
          </a:xfrm>
        </p:grpSpPr>
        <p:sp>
          <p:nvSpPr>
            <p:cNvPr id="37" name="Oval 221">
              <a:extLst>
                <a:ext uri="{FF2B5EF4-FFF2-40B4-BE49-F238E27FC236}">
                  <a16:creationId xmlns:a16="http://schemas.microsoft.com/office/drawing/2014/main" xmlns=""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38" name="TextBox 222">
              <a:extLst>
                <a:ext uri="{FF2B5EF4-FFF2-40B4-BE49-F238E27FC236}">
                  <a16:creationId xmlns:a16="http://schemas.microsoft.com/office/drawing/2014/main" xmlns="" id="{AA6B41EE-F383-4448-3FC3-5177F4E9C325}"/>
                </a:ext>
              </a:extLst>
            </p:cNvPr>
            <p:cNvSpPr txBox="1"/>
            <p:nvPr/>
          </p:nvSpPr>
          <p:spPr>
            <a:xfrm>
              <a:off x="5906184" y="1507079"/>
              <a:ext cx="355600" cy="215443"/>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2</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Tree>
    <p:extLst>
      <p:ext uri="{BB962C8B-B14F-4D97-AF65-F5344CB8AC3E}">
        <p14:creationId xmlns:p14="http://schemas.microsoft.com/office/powerpoint/2010/main" xmlns="" val="42840725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9290" y="804548"/>
            <a:ext cx="10699151" cy="461665"/>
          </a:xfrm>
          <a:prstGeom prst="rect">
            <a:avLst/>
          </a:prstGeom>
          <a:noFill/>
        </p:spPr>
        <p:txBody>
          <a:bodyPr wrap="square">
            <a:spAutoFit/>
          </a:bodyPr>
          <a:lstStyle/>
          <a:p>
            <a:pPr defTabSz="1371600" eaLnBrk="0" hangingPunct="0">
              <a:buClr>
                <a:srgbClr val="000000"/>
              </a:buClr>
            </a:pP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MM-PU-0010</a:t>
            </a:r>
            <a:r>
              <a:rPr lang="zh-TW" altLang="en-US" sz="2400" b="1" dirty="0" smtClean="0">
                <a:latin typeface="微軟正黑體" panose="020B0604030504040204" pitchFamily="34" charset="-120"/>
                <a:ea typeface="微軟正黑體" panose="020B0604030504040204" pitchFamily="34" charset="-120"/>
              </a:rPr>
              <a:t>詢報價更新價格主檔流程</a:t>
            </a:r>
            <a:r>
              <a:rPr lang="zh-TW" altLang="en-US"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檔 </a:t>
            </a: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化工</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底廠</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庶務</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楦頭</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endPar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93950" y="1391440"/>
            <a:ext cx="4233512"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a:t>
            </a: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142197" y="8435597"/>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結束</a:t>
            </a:r>
          </a:p>
        </p:txBody>
      </p:sp>
      <p:graphicFrame>
        <p:nvGraphicFramePr>
          <p:cNvPr id="44" name="表格 43">
            <a:extLst>
              <a:ext uri="{FF2B5EF4-FFF2-40B4-BE49-F238E27FC236}">
                <a16:creationId xmlns:a16="http://schemas.microsoft.com/office/drawing/2014/main" xmlns="" id="{13454BCB-1542-CF07-920F-DC42796850B5}"/>
              </a:ext>
            </a:extLst>
          </p:cNvPr>
          <p:cNvGraphicFramePr>
            <a:graphicFrameLocks noGrp="1"/>
          </p:cNvGraphicFramePr>
          <p:nvPr/>
        </p:nvGraphicFramePr>
        <p:xfrm>
          <a:off x="2537310" y="8905130"/>
          <a:ext cx="1797832" cy="99456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R="0" algn="ctr" rtl="0">
                        <a:lnSpc>
                          <a:spcPct val="100000"/>
                        </a:lnSpc>
                        <a:spcBef>
                          <a:spcPts val="0"/>
                        </a:spcBef>
                        <a:spcAft>
                          <a:spcPts val="0"/>
                        </a:spcAft>
                        <a:buClr>
                          <a:srgbClr val="000000"/>
                        </a:buClr>
                        <a:buFont typeface="Arial"/>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ZMM006</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更新價格主檔</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49" name="肘形接點 68">
            <a:extLst>
              <a:ext uri="{FF2B5EF4-FFF2-40B4-BE49-F238E27FC236}">
                <a16:creationId xmlns:a16="http://schemas.microsoft.com/office/drawing/2014/main" xmlns="" id="{8DD1663D-3235-8D1E-F1BD-80C90EB0F8CB}"/>
              </a:ext>
            </a:extLst>
          </p:cNvPr>
          <p:cNvCxnSpPr>
            <a:cxnSpLocks/>
          </p:cNvCxnSpPr>
          <p:nvPr/>
        </p:nvCxnSpPr>
        <p:spPr>
          <a:xfrm rot="10800000" flipV="1">
            <a:off x="1418493" y="9448800"/>
            <a:ext cx="1113693" cy="2344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5" name="表格 30">
            <a:extLst>
              <a:ext uri="{FF2B5EF4-FFF2-40B4-BE49-F238E27FC236}">
                <a16:creationId xmlns:a16="http://schemas.microsoft.com/office/drawing/2014/main" xmlns="" id="{DD4D6B14-D3B2-B7AE-AA9C-20D4B4848A80}"/>
              </a:ext>
            </a:extLst>
          </p:cNvPr>
          <p:cNvGraphicFramePr>
            <a:graphicFrameLocks noGrp="1"/>
          </p:cNvGraphicFramePr>
          <p:nvPr/>
        </p:nvGraphicFramePr>
        <p:xfrm>
          <a:off x="7518882" y="6353866"/>
          <a:ext cx="1797832" cy="1080072"/>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06872">
                <a:tc gridSpan="2">
                  <a:txBody>
                    <a:bodyPr/>
                    <a:lstStyle/>
                    <a:p>
                      <a:pPr algn="ctr"/>
                      <a:r>
                        <a:rPr lang="zh-TW" altLang="en-US" sz="1500" dirty="0">
                          <a:latin typeface="微軟正黑體" panose="020B0604030504040204" pitchFamily="34" charset="-120"/>
                          <a:ea typeface="微軟正黑體" panose="020B0604030504040204" pitchFamily="34" charset="-120"/>
                        </a:rPr>
                        <a:t>在</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上簽核報價</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6" name="Straight Connector 284">
            <a:extLst>
              <a:ext uri="{FF2B5EF4-FFF2-40B4-BE49-F238E27FC236}">
                <a16:creationId xmlns:a16="http://schemas.microsoft.com/office/drawing/2014/main" xmlns="" id="{3343F13F-0020-F344-5B28-F9AEB09CA3FA}"/>
              </a:ext>
            </a:extLst>
          </p:cNvPr>
          <p:cNvCxnSpPr>
            <a:cxnSpLocks/>
          </p:cNvCxnSpPr>
          <p:nvPr/>
        </p:nvCxnSpPr>
        <p:spPr>
          <a:xfrm>
            <a:off x="9693596" y="1448829"/>
            <a:ext cx="0" cy="8615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a16="http://schemas.microsoft.com/office/drawing/2014/main" xmlns="" id="{DE52170D-3194-E094-D743-3842F95326FE}"/>
              </a:ext>
            </a:extLst>
          </p:cNvPr>
          <p:cNvSpPr txBox="1"/>
          <p:nvPr/>
        </p:nvSpPr>
        <p:spPr>
          <a:xfrm>
            <a:off x="9029700" y="1379658"/>
            <a:ext cx="2834640"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廠商</a:t>
            </a:r>
          </a:p>
        </p:txBody>
      </p:sp>
      <p:cxnSp>
        <p:nvCxnSpPr>
          <p:cNvPr id="57" name="肘形接點 68">
            <a:extLst>
              <a:ext uri="{FF2B5EF4-FFF2-40B4-BE49-F238E27FC236}">
                <a16:creationId xmlns:a16="http://schemas.microsoft.com/office/drawing/2014/main" xmlns="" id="{8E184E7B-49D4-0B0F-DFF1-32CCB2A9AB0C}"/>
              </a:ext>
            </a:extLst>
          </p:cNvPr>
          <p:cNvCxnSpPr>
            <a:cxnSpLocks/>
            <a:stCxn id="15" idx="2"/>
            <a:endCxn id="35" idx="0"/>
          </p:cNvCxnSpPr>
          <p:nvPr/>
        </p:nvCxnSpPr>
        <p:spPr>
          <a:xfrm rot="5400000">
            <a:off x="6315956" y="5647358"/>
            <a:ext cx="315262" cy="388842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 name="肘形接點 68">
            <a:extLst>
              <a:ext uri="{FF2B5EF4-FFF2-40B4-BE49-F238E27FC236}">
                <a16:creationId xmlns:a16="http://schemas.microsoft.com/office/drawing/2014/main" xmlns="" id="{70F961FE-0AA7-D2B8-F257-ECB0C3D45D2D}"/>
              </a:ext>
            </a:extLst>
          </p:cNvPr>
          <p:cNvCxnSpPr>
            <a:cxnSpLocks/>
          </p:cNvCxnSpPr>
          <p:nvPr/>
        </p:nvCxnSpPr>
        <p:spPr>
          <a:xfrm>
            <a:off x="4953000" y="2400300"/>
            <a:ext cx="4927600" cy="4445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a16="http://schemas.microsoft.com/office/drawing/2014/main" xmlns="" id="{323DEA68-B2E9-C177-AF6C-305B02CA9243}"/>
              </a:ext>
            </a:extLst>
          </p:cNvPr>
          <p:cNvGraphicFramePr>
            <a:graphicFrameLocks noGrp="1"/>
          </p:cNvGraphicFramePr>
          <p:nvPr/>
        </p:nvGraphicFramePr>
        <p:xfrm>
          <a:off x="3142530" y="1956268"/>
          <a:ext cx="1797832" cy="1100927"/>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ME41</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42967">
                <a:tc gridSpan="2">
                  <a:txBody>
                    <a:bodyPr/>
                    <a:lstStyle/>
                    <a:p>
                      <a:pPr algn="ctr"/>
                      <a:r>
                        <a:rPr lang="zh-TW" altLang="en-US" sz="1500" dirty="0">
                          <a:latin typeface="微軟正黑體" panose="020B0604030504040204" pitchFamily="34" charset="-120"/>
                          <a:ea typeface="微軟正黑體" panose="020B0604030504040204" pitchFamily="34" charset="-120"/>
                        </a:rPr>
                        <a:t>建立詢價單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24"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2842304" y="5523785"/>
          <a:ext cx="1797832" cy="122316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ZMM005</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將報價發起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7" name="肘形接點 68">
            <a:extLst>
              <a:ext uri="{FF2B5EF4-FFF2-40B4-BE49-F238E27FC236}">
                <a16:creationId xmlns:a16="http://schemas.microsoft.com/office/drawing/2014/main" xmlns="" id="{4D315B82-E1CA-313C-D4BB-3BBD9FD7F973}"/>
              </a:ext>
            </a:extLst>
          </p:cNvPr>
          <p:cNvCxnSpPr>
            <a:cxnSpLocks/>
            <a:stCxn id="24" idx="2"/>
            <a:endCxn id="15" idx="1"/>
          </p:cNvCxnSpPr>
          <p:nvPr/>
        </p:nvCxnSpPr>
        <p:spPr>
          <a:xfrm rot="16200000" flipH="1">
            <a:off x="5556573" y="4931592"/>
            <a:ext cx="146957" cy="377766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xmlns="" id="{8037CA89-DBE3-1441-8E4C-7EA04E993D61}"/>
              </a:ext>
            </a:extLst>
          </p:cNvPr>
          <p:cNvSpPr/>
          <p:nvPr/>
        </p:nvSpPr>
        <p:spPr bwMode="auto">
          <a:xfrm>
            <a:off x="3608400" y="7749200"/>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核淮</a:t>
            </a:r>
          </a:p>
        </p:txBody>
      </p:sp>
      <p:cxnSp>
        <p:nvCxnSpPr>
          <p:cNvPr id="51" name="肘形接點 68">
            <a:extLst>
              <a:ext uri="{FF2B5EF4-FFF2-40B4-BE49-F238E27FC236}">
                <a16:creationId xmlns:a16="http://schemas.microsoft.com/office/drawing/2014/main" xmlns="" id="{2AA47122-2BF1-7633-656B-9B6710026CD9}"/>
              </a:ext>
            </a:extLst>
          </p:cNvPr>
          <p:cNvCxnSpPr>
            <a:cxnSpLocks/>
            <a:stCxn id="35" idx="3"/>
            <a:endCxn id="7" idx="0"/>
          </p:cNvCxnSpPr>
          <p:nvPr/>
        </p:nvCxnSpPr>
        <p:spPr>
          <a:xfrm>
            <a:off x="5450349" y="8105300"/>
            <a:ext cx="877783" cy="23021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a16="http://schemas.microsoft.com/office/drawing/2014/main" xmlns="" id="{B106DB5A-3C2B-C42B-E706-9F53E0CA364F}"/>
              </a:ext>
            </a:extLst>
          </p:cNvPr>
          <p:cNvSpPr txBox="1"/>
          <p:nvPr/>
        </p:nvSpPr>
        <p:spPr>
          <a:xfrm>
            <a:off x="2733644" y="8348855"/>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sp>
        <p:nvSpPr>
          <p:cNvPr id="56" name="文字方塊 55">
            <a:extLst>
              <a:ext uri="{FF2B5EF4-FFF2-40B4-BE49-F238E27FC236}">
                <a16:creationId xmlns:a16="http://schemas.microsoft.com/office/drawing/2014/main" xmlns="" id="{7BDD8B3B-9FC5-B431-B92A-CADEB291222C}"/>
              </a:ext>
            </a:extLst>
          </p:cNvPr>
          <p:cNvSpPr txBox="1"/>
          <p:nvPr/>
        </p:nvSpPr>
        <p:spPr>
          <a:xfrm>
            <a:off x="5938793" y="7733365"/>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grpSp>
        <p:nvGrpSpPr>
          <p:cNvPr id="206" name="Group 220">
            <a:extLst>
              <a:ext uri="{FF2B5EF4-FFF2-40B4-BE49-F238E27FC236}">
                <a16:creationId xmlns:a16="http://schemas.microsoft.com/office/drawing/2014/main" xmlns="" id="{702B54F9-F874-D716-A8BD-24F6E527E949}"/>
              </a:ext>
            </a:extLst>
          </p:cNvPr>
          <p:cNvGrpSpPr/>
          <p:nvPr/>
        </p:nvGrpSpPr>
        <p:grpSpPr>
          <a:xfrm>
            <a:off x="4098401" y="8653433"/>
            <a:ext cx="589511" cy="415761"/>
            <a:chOff x="5906472" y="1486857"/>
            <a:chExt cx="393007" cy="272361"/>
          </a:xfrm>
        </p:grpSpPr>
        <p:sp>
          <p:nvSpPr>
            <p:cNvPr id="207" name="Oval 221">
              <a:extLst>
                <a:ext uri="{FF2B5EF4-FFF2-40B4-BE49-F238E27FC236}">
                  <a16:creationId xmlns:a16="http://schemas.microsoft.com/office/drawing/2014/main" xmlns="" id="{E21F96BD-5F64-3551-3780-660884FBA41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08" name="TextBox 222">
              <a:extLst>
                <a:ext uri="{FF2B5EF4-FFF2-40B4-BE49-F238E27FC236}">
                  <a16:creationId xmlns:a16="http://schemas.microsoft.com/office/drawing/2014/main" xmlns="" id="{C57E2463-7C52-8272-BCC7-A417DDCEBBDE}"/>
                </a:ext>
              </a:extLst>
            </p:cNvPr>
            <p:cNvSpPr txBox="1"/>
            <p:nvPr/>
          </p:nvSpPr>
          <p:spPr>
            <a:xfrm>
              <a:off x="5914134" y="1507080"/>
              <a:ext cx="385345"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11</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209" name="Straight Connector 284">
            <a:extLst>
              <a:ext uri="{FF2B5EF4-FFF2-40B4-BE49-F238E27FC236}">
                <a16:creationId xmlns:a16="http://schemas.microsoft.com/office/drawing/2014/main" xmlns="" id="{CCB3D035-826A-6F8E-1D15-1A3E96F62413}"/>
              </a:ext>
            </a:extLst>
          </p:cNvPr>
          <p:cNvCxnSpPr>
            <a:cxnSpLocks/>
          </p:cNvCxnSpPr>
          <p:nvPr/>
        </p:nvCxnSpPr>
        <p:spPr>
          <a:xfrm>
            <a:off x="7308207" y="1418055"/>
            <a:ext cx="0" cy="8615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a16="http://schemas.microsoft.com/office/drawing/2014/main" xmlns="" id="{306A0461-FB0A-6B8E-26F4-F4121B822258}"/>
              </a:ext>
            </a:extLst>
          </p:cNvPr>
          <p:cNvSpPr txBox="1"/>
          <p:nvPr/>
        </p:nvSpPr>
        <p:spPr>
          <a:xfrm>
            <a:off x="6914318" y="1380009"/>
            <a:ext cx="3219762"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採購主管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報價主管</a:t>
            </a:r>
          </a:p>
        </p:txBody>
      </p:sp>
      <p:cxnSp>
        <p:nvCxnSpPr>
          <p:cNvPr id="217" name="肘形接點 68">
            <a:extLst>
              <a:ext uri="{FF2B5EF4-FFF2-40B4-BE49-F238E27FC236}">
                <a16:creationId xmlns:a16="http://schemas.microsoft.com/office/drawing/2014/main" xmlns="" id="{3C63507D-83FD-0025-3EF4-B6F87A20780B}"/>
              </a:ext>
            </a:extLst>
          </p:cNvPr>
          <p:cNvCxnSpPr>
            <a:cxnSpLocks/>
            <a:stCxn id="35" idx="1"/>
            <a:endCxn id="44" idx="0"/>
          </p:cNvCxnSpPr>
          <p:nvPr/>
        </p:nvCxnSpPr>
        <p:spPr>
          <a:xfrm rot="10800000" flipV="1">
            <a:off x="3436226" y="8105300"/>
            <a:ext cx="172174" cy="79983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27" name="TextBox 53">
            <a:extLst>
              <a:ext uri="{FF2B5EF4-FFF2-40B4-BE49-F238E27FC236}">
                <a16:creationId xmlns:a16="http://schemas.microsoft.com/office/drawing/2014/main" xmlns="" id="{DF940026-96D7-3867-6425-C228DF3D29BF}"/>
              </a:ext>
            </a:extLst>
          </p:cNvPr>
          <p:cNvSpPr txBox="1"/>
          <p:nvPr/>
        </p:nvSpPr>
        <p:spPr>
          <a:xfrm>
            <a:off x="14380627" y="1787683"/>
            <a:ext cx="3594197" cy="8887048"/>
          </a:xfrm>
          <a:prstGeom prst="rect">
            <a:avLst/>
          </a:prstGeom>
          <a:noFill/>
        </p:spPr>
        <p:txBody>
          <a:bodyPr wrap="square" rtlCol="0">
            <a:spAutoFit/>
          </a:bodyPr>
          <a:lstStyle/>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參考請購單建立詢價單</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將詢</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價</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單文件</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寄發予廠商</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廠商收取詢價單進行價格回覆</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維護</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報價內容並作二次議價</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需要產出原 物 料 單 價 異 動 表 ，連同中選的廠商所提供的報價單作為</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的附件</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sz="135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廠商提供最終報價單</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用</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ME45</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功能作詢價單核發至送簽狀態</a:t>
            </a:r>
            <a:endPar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採購</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將未簽核完成的報價單利用程式</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ZMM005</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拋入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發起簽核</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採購主管進</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系統進行價格簽核</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主管簽核不通過，透過介面程式</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ZMM006</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更新報價單</a:t>
            </a:r>
            <a:r>
              <a:rPr lang="zh-TW" altLang="en-US" dirty="0" smtClean="0">
                <a:latin typeface="微軟正黑體" panose="020B0604030504040204" pitchFamily="34" charset="-120"/>
                <a:ea typeface="微軟正黑體" panose="020B0604030504040204" pitchFamily="34" charset="-120"/>
              </a:rPr>
              <a:t>刪除旗標。採購</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可以再修正報價內容，重新送簽</a:t>
            </a:r>
            <a:endPar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經</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主管簽核的價格傳入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SAP</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，產生價格主檔。</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Arial"/>
              <a:cs typeface="Arial"/>
              <a:sym typeface="Arial"/>
            </a:endParaRPr>
          </a:p>
          <a:p>
            <a:pPr marL="342900" indent="-342900" defTabSz="1371600">
              <a:buClr>
                <a:srgbClr val="000000"/>
              </a:buClr>
              <a:buFont typeface="+mj-lt"/>
              <a:buAutoNum type="arabicPeriod"/>
            </a:pPr>
            <a:endParaRPr lang="en-US" altLang="zh-TW" kern="0" dirty="0">
              <a:solidFill>
                <a:srgbClr val="000000"/>
              </a:solidFill>
              <a:latin typeface="Arial"/>
              <a:cs typeface="Arial"/>
              <a:sym typeface="Arial"/>
            </a:endParaRPr>
          </a:p>
          <a:p>
            <a:pPr defTabSz="1371600">
              <a:buClr>
                <a:srgbClr val="000000"/>
              </a:buClr>
            </a:pPr>
            <a:endParaRPr lang="zh-TW" altLang="en-US" kern="0" dirty="0">
              <a:solidFill>
                <a:srgbClr val="000000"/>
              </a:solidFill>
              <a:latin typeface="Arial"/>
              <a:cs typeface="Arial"/>
              <a:sym typeface="Arial"/>
            </a:endParaRPr>
          </a:p>
        </p:txBody>
      </p:sp>
      <p:graphicFrame>
        <p:nvGraphicFramePr>
          <p:cNvPr id="9" name="表格 30">
            <a:extLst>
              <a:ext uri="{FF2B5EF4-FFF2-40B4-BE49-F238E27FC236}">
                <a16:creationId xmlns:a16="http://schemas.microsoft.com/office/drawing/2014/main" xmlns="" id="{B170150C-8B19-3A81-F73A-3BD17FC81099}"/>
              </a:ext>
            </a:extLst>
          </p:cNvPr>
          <p:cNvGraphicFramePr>
            <a:graphicFrameLocks noGrp="1"/>
          </p:cNvGraphicFramePr>
          <p:nvPr/>
        </p:nvGraphicFramePr>
        <p:xfrm>
          <a:off x="9903903" y="2021174"/>
          <a:ext cx="1797832" cy="16956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10224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 廠商收</a:t>
                      </a:r>
                      <a:r>
                        <a:rPr kumimoji="0" lang="en-US" altLang="zh-TW" sz="1500" dirty="0">
                          <a:latin typeface="微軟正黑體" panose="020B0604030504040204" pitchFamily="34" charset="-120"/>
                          <a:ea typeface="微軟正黑體" panose="020B0604030504040204" pitchFamily="34" charset="-120"/>
                        </a:rPr>
                        <a:t>email/</a:t>
                      </a:r>
                      <a:r>
                        <a:rPr kumimoji="0" lang="zh-TW" altLang="en-US" sz="1500" dirty="0">
                          <a:latin typeface="微軟正黑體" panose="020B0604030504040204" pitchFamily="34" charset="-120"/>
                          <a:ea typeface="微軟正黑體" panose="020B0604030504040204" pitchFamily="34" charset="-120"/>
                        </a:rPr>
                        <a:t>紙本報價單</a:t>
                      </a:r>
                      <a:endParaRPr kumimoji="0" lang="en-US" altLang="zh-TW" sz="1500" dirty="0">
                        <a:latin typeface="微軟正黑體" panose="020B0604030504040204" pitchFamily="34" charset="-120"/>
                        <a:ea typeface="微軟正黑體" panose="020B0604030504040204" pitchFamily="34" charset="-120"/>
                      </a:endParaRPr>
                    </a:p>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回覆價格</a:t>
                      </a:r>
                    </a:p>
                    <a:p>
                      <a:pPr algn="ctr" eaLnBrk="0" hangingPunct="0"/>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6" name="肘形接點 68">
            <a:extLst>
              <a:ext uri="{FF2B5EF4-FFF2-40B4-BE49-F238E27FC236}">
                <a16:creationId xmlns:a16="http://schemas.microsoft.com/office/drawing/2014/main" xmlns="" id="{1F269962-9872-BEFF-C024-06082A04A1FB}"/>
              </a:ext>
            </a:extLst>
          </p:cNvPr>
          <p:cNvCxnSpPr>
            <a:cxnSpLocks/>
            <a:stCxn id="78" idx="3"/>
            <a:endCxn id="19" idx="1"/>
          </p:cNvCxnSpPr>
          <p:nvPr/>
        </p:nvCxnSpPr>
        <p:spPr>
          <a:xfrm>
            <a:off x="2281563" y="2501528"/>
            <a:ext cx="860967" cy="52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24" name="肘形接點 68">
            <a:extLst>
              <a:ext uri="{FF2B5EF4-FFF2-40B4-BE49-F238E27FC236}">
                <a16:creationId xmlns:a16="http://schemas.microsoft.com/office/drawing/2014/main" xmlns="" id="{A262E954-7F44-0F5C-7EEB-08A42427FE73}"/>
              </a:ext>
            </a:extLst>
          </p:cNvPr>
          <p:cNvCxnSpPr>
            <a:cxnSpLocks/>
            <a:stCxn id="9" idx="2"/>
            <a:endCxn id="231" idx="3"/>
          </p:cNvCxnSpPr>
          <p:nvPr/>
        </p:nvCxnSpPr>
        <p:spPr>
          <a:xfrm rot="5400000">
            <a:off x="8679320" y="2173249"/>
            <a:ext cx="579974" cy="366702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1" name="表格 30">
            <a:extLst>
              <a:ext uri="{FF2B5EF4-FFF2-40B4-BE49-F238E27FC236}">
                <a16:creationId xmlns:a16="http://schemas.microsoft.com/office/drawing/2014/main" xmlns="" id="{CA6893B2-3C62-01F7-76E1-D937857FD0FF}"/>
              </a:ext>
            </a:extLst>
          </p:cNvPr>
          <p:cNvGraphicFramePr>
            <a:graphicFrameLocks noGrp="1"/>
          </p:cNvGraphicFramePr>
          <p:nvPr/>
        </p:nvGraphicFramePr>
        <p:xfrm>
          <a:off x="5337962" y="3685168"/>
          <a:ext cx="1797832" cy="122316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ME47</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維護報價內容和作二次議價</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35" name="肘形接點 68">
            <a:extLst>
              <a:ext uri="{FF2B5EF4-FFF2-40B4-BE49-F238E27FC236}">
                <a16:creationId xmlns:a16="http://schemas.microsoft.com/office/drawing/2014/main" xmlns="" id="{6BB72FE2-1711-6132-C6C1-315A9C283865}"/>
              </a:ext>
            </a:extLst>
          </p:cNvPr>
          <p:cNvCxnSpPr>
            <a:cxnSpLocks/>
            <a:stCxn id="231" idx="1"/>
            <a:endCxn id="238" idx="3"/>
          </p:cNvCxnSpPr>
          <p:nvPr/>
        </p:nvCxnSpPr>
        <p:spPr>
          <a:xfrm rot="10800000" flipV="1">
            <a:off x="4767646" y="4296747"/>
            <a:ext cx="570317" cy="662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8" name="表格 30">
            <a:extLst>
              <a:ext uri="{FF2B5EF4-FFF2-40B4-BE49-F238E27FC236}">
                <a16:creationId xmlns:a16="http://schemas.microsoft.com/office/drawing/2014/main" xmlns="" id="{CFB528F5-23EA-8786-7B63-2FE73789008A}"/>
              </a:ext>
            </a:extLst>
          </p:cNvPr>
          <p:cNvGraphicFramePr>
            <a:graphicFrameLocks noGrp="1"/>
          </p:cNvGraphicFramePr>
          <p:nvPr/>
        </p:nvGraphicFramePr>
        <p:xfrm>
          <a:off x="2969813" y="3684173"/>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rgbClr val="FF0000"/>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通知中選的廠商作正式報價單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241" name="表格 30">
            <a:extLst>
              <a:ext uri="{FF2B5EF4-FFF2-40B4-BE49-F238E27FC236}">
                <a16:creationId xmlns:a16="http://schemas.microsoft.com/office/drawing/2014/main" xmlns="" id="{FD80E5BE-A948-3494-C1BE-7ECADECADD9B}"/>
              </a:ext>
            </a:extLst>
          </p:cNvPr>
          <p:cNvGraphicFramePr>
            <a:graphicFrameLocks noGrp="1"/>
          </p:cNvGraphicFramePr>
          <p:nvPr/>
        </p:nvGraphicFramePr>
        <p:xfrm>
          <a:off x="9974864" y="553033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 廠商提供最終報價單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42" name="肘形接點 68">
            <a:extLst>
              <a:ext uri="{FF2B5EF4-FFF2-40B4-BE49-F238E27FC236}">
                <a16:creationId xmlns:a16="http://schemas.microsoft.com/office/drawing/2014/main" xmlns="" id="{21417CCF-4B9C-9EFE-05C5-218F27CB6464}"/>
              </a:ext>
            </a:extLst>
          </p:cNvPr>
          <p:cNvCxnSpPr>
            <a:cxnSpLocks/>
            <a:stCxn id="238" idx="2"/>
            <a:endCxn id="241" idx="0"/>
          </p:cNvCxnSpPr>
          <p:nvPr/>
        </p:nvCxnSpPr>
        <p:spPr>
          <a:xfrm rot="16200000" flipH="1">
            <a:off x="7067376" y="1723925"/>
            <a:ext cx="607757" cy="700505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8" name="肘形接點 68">
            <a:extLst>
              <a:ext uri="{FF2B5EF4-FFF2-40B4-BE49-F238E27FC236}">
                <a16:creationId xmlns:a16="http://schemas.microsoft.com/office/drawing/2014/main" xmlns="" id="{6E464E6C-8B68-2235-105F-3F23DB6FFA74}"/>
              </a:ext>
            </a:extLst>
          </p:cNvPr>
          <p:cNvCxnSpPr>
            <a:cxnSpLocks/>
          </p:cNvCxnSpPr>
          <p:nvPr/>
        </p:nvCxnSpPr>
        <p:spPr>
          <a:xfrm rot="10800000" flipV="1">
            <a:off x="6858001" y="6107722"/>
            <a:ext cx="3106615" cy="4689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53" name="Group 220">
            <a:extLst>
              <a:ext uri="{FF2B5EF4-FFF2-40B4-BE49-F238E27FC236}">
                <a16:creationId xmlns:a16="http://schemas.microsoft.com/office/drawing/2014/main" xmlns="" id="{2EC44778-F9AC-8DA3-8B0E-C0499E4AF2AE}"/>
              </a:ext>
            </a:extLst>
          </p:cNvPr>
          <p:cNvGrpSpPr/>
          <p:nvPr/>
        </p:nvGrpSpPr>
        <p:grpSpPr>
          <a:xfrm>
            <a:off x="11515625" y="5314224"/>
            <a:ext cx="552561" cy="415761"/>
            <a:chOff x="5906472" y="1486857"/>
            <a:chExt cx="368374" cy="272361"/>
          </a:xfrm>
        </p:grpSpPr>
        <p:sp>
          <p:nvSpPr>
            <p:cNvPr id="54" name="Oval 221">
              <a:extLst>
                <a:ext uri="{FF2B5EF4-FFF2-40B4-BE49-F238E27FC236}">
                  <a16:creationId xmlns:a16="http://schemas.microsoft.com/office/drawing/2014/main" xmlns="" id="{BD5BA801-A163-10E2-3FB9-4CC86E35661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58" name="TextBox 222">
              <a:extLst>
                <a:ext uri="{FF2B5EF4-FFF2-40B4-BE49-F238E27FC236}">
                  <a16:creationId xmlns:a16="http://schemas.microsoft.com/office/drawing/2014/main" xmlns="" id="{328C34D4-8A57-372B-B009-B36B2AA43AEB}"/>
                </a:ext>
              </a:extLst>
            </p:cNvPr>
            <p:cNvSpPr txBox="1"/>
            <p:nvPr/>
          </p:nvSpPr>
          <p:spPr>
            <a:xfrm>
              <a:off x="5919246" y="1500167"/>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6</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62" name="Group 220">
            <a:extLst>
              <a:ext uri="{FF2B5EF4-FFF2-40B4-BE49-F238E27FC236}">
                <a16:creationId xmlns:a16="http://schemas.microsoft.com/office/drawing/2014/main" xmlns="" id="{E9670FBB-51A0-C3AE-9B20-1A307EFBEDAE}"/>
              </a:ext>
            </a:extLst>
          </p:cNvPr>
          <p:cNvGrpSpPr/>
          <p:nvPr/>
        </p:nvGrpSpPr>
        <p:grpSpPr>
          <a:xfrm>
            <a:off x="4686675" y="1760478"/>
            <a:ext cx="556821" cy="415762"/>
            <a:chOff x="5906472" y="1486857"/>
            <a:chExt cx="371214" cy="272361"/>
          </a:xfrm>
        </p:grpSpPr>
        <p:sp>
          <p:nvSpPr>
            <p:cNvPr id="63" name="Oval 221">
              <a:extLst>
                <a:ext uri="{FF2B5EF4-FFF2-40B4-BE49-F238E27FC236}">
                  <a16:creationId xmlns:a16="http://schemas.microsoft.com/office/drawing/2014/main" xmlns="" id="{C7EE0DCE-A060-B81F-4C08-7B308C96DD1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92" name="TextBox 222">
              <a:extLst>
                <a:ext uri="{FF2B5EF4-FFF2-40B4-BE49-F238E27FC236}">
                  <a16:creationId xmlns:a16="http://schemas.microsoft.com/office/drawing/2014/main" xmlns="" id="{8513423E-3F5F-E379-63DB-F79C8B8F9935}"/>
                </a:ext>
              </a:extLst>
            </p:cNvPr>
            <p:cNvSpPr txBox="1"/>
            <p:nvPr/>
          </p:nvSpPr>
          <p:spPr>
            <a:xfrm>
              <a:off x="5922086" y="1499266"/>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196" name="Group 220">
            <a:extLst>
              <a:ext uri="{FF2B5EF4-FFF2-40B4-BE49-F238E27FC236}">
                <a16:creationId xmlns:a16="http://schemas.microsoft.com/office/drawing/2014/main" xmlns="" id="{2CE5E1E5-9C9F-7BAB-86CC-2C4863BAD87E}"/>
              </a:ext>
            </a:extLst>
          </p:cNvPr>
          <p:cNvGrpSpPr/>
          <p:nvPr/>
        </p:nvGrpSpPr>
        <p:grpSpPr>
          <a:xfrm>
            <a:off x="11438823" y="1811166"/>
            <a:ext cx="546270" cy="415761"/>
            <a:chOff x="5906472" y="1486857"/>
            <a:chExt cx="364180" cy="272361"/>
          </a:xfrm>
        </p:grpSpPr>
        <p:sp>
          <p:nvSpPr>
            <p:cNvPr id="197" name="Oval 221">
              <a:extLst>
                <a:ext uri="{FF2B5EF4-FFF2-40B4-BE49-F238E27FC236}">
                  <a16:creationId xmlns:a16="http://schemas.microsoft.com/office/drawing/2014/main" xmlns="" id="{35F30483-1697-3276-F2A0-A7A3D1EEA05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99" name="TextBox 222">
              <a:extLst>
                <a:ext uri="{FF2B5EF4-FFF2-40B4-BE49-F238E27FC236}">
                  <a16:creationId xmlns:a16="http://schemas.microsoft.com/office/drawing/2014/main" xmlns="" id="{E462588F-210F-703E-FD79-63681E684E55}"/>
                </a:ext>
              </a:extLst>
            </p:cNvPr>
            <p:cNvSpPr txBox="1"/>
            <p:nvPr/>
          </p:nvSpPr>
          <p:spPr>
            <a:xfrm>
              <a:off x="5915052" y="1515718"/>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2</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200" name="Group 220">
            <a:extLst>
              <a:ext uri="{FF2B5EF4-FFF2-40B4-BE49-F238E27FC236}">
                <a16:creationId xmlns:a16="http://schemas.microsoft.com/office/drawing/2014/main" xmlns="" id="{788CB17F-8FDA-16A2-93B8-DEAE21727050}"/>
              </a:ext>
            </a:extLst>
          </p:cNvPr>
          <p:cNvGrpSpPr/>
          <p:nvPr/>
        </p:nvGrpSpPr>
        <p:grpSpPr>
          <a:xfrm>
            <a:off x="4533701" y="3510412"/>
            <a:ext cx="533400" cy="415761"/>
            <a:chOff x="5906184" y="1486857"/>
            <a:chExt cx="355600" cy="272361"/>
          </a:xfrm>
        </p:grpSpPr>
        <p:sp>
          <p:nvSpPr>
            <p:cNvPr id="201" name="Oval 221">
              <a:extLst>
                <a:ext uri="{FF2B5EF4-FFF2-40B4-BE49-F238E27FC236}">
                  <a16:creationId xmlns:a16="http://schemas.microsoft.com/office/drawing/2014/main" xmlns="" id="{BEF75F28-F6EB-D5BB-37D7-5956C2B7CC8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02" name="TextBox 222">
              <a:extLst>
                <a:ext uri="{FF2B5EF4-FFF2-40B4-BE49-F238E27FC236}">
                  <a16:creationId xmlns:a16="http://schemas.microsoft.com/office/drawing/2014/main" xmlns="" id="{6F6CDBD1-8797-FC02-642E-3345FDB64E83}"/>
                </a:ext>
              </a:extLst>
            </p:cNvPr>
            <p:cNvSpPr txBox="1"/>
            <p:nvPr/>
          </p:nvSpPr>
          <p:spPr>
            <a:xfrm>
              <a:off x="5906184" y="1500114"/>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4</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203" name="Group 220">
            <a:extLst>
              <a:ext uri="{FF2B5EF4-FFF2-40B4-BE49-F238E27FC236}">
                <a16:creationId xmlns:a16="http://schemas.microsoft.com/office/drawing/2014/main" xmlns="" id="{96AB4B09-D46F-E47F-358C-48D63022BC59}"/>
              </a:ext>
            </a:extLst>
          </p:cNvPr>
          <p:cNvGrpSpPr/>
          <p:nvPr/>
        </p:nvGrpSpPr>
        <p:grpSpPr>
          <a:xfrm>
            <a:off x="6914316" y="3470336"/>
            <a:ext cx="547149" cy="415762"/>
            <a:chOff x="5906472" y="1486857"/>
            <a:chExt cx="364766" cy="272361"/>
          </a:xfrm>
        </p:grpSpPr>
        <p:sp>
          <p:nvSpPr>
            <p:cNvPr id="204" name="Oval 221">
              <a:extLst>
                <a:ext uri="{FF2B5EF4-FFF2-40B4-BE49-F238E27FC236}">
                  <a16:creationId xmlns:a16="http://schemas.microsoft.com/office/drawing/2014/main" xmlns="" id="{A2259CB9-9A21-2C51-0BB2-75CBFF614E5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05" name="TextBox 222">
              <a:extLst>
                <a:ext uri="{FF2B5EF4-FFF2-40B4-BE49-F238E27FC236}">
                  <a16:creationId xmlns:a16="http://schemas.microsoft.com/office/drawing/2014/main" xmlns="" id="{4867D221-E3EB-20C8-2CDD-287CCF58AD6A}"/>
                </a:ext>
              </a:extLst>
            </p:cNvPr>
            <p:cNvSpPr txBox="1"/>
            <p:nvPr/>
          </p:nvSpPr>
          <p:spPr>
            <a:xfrm>
              <a:off x="5915638" y="1515414"/>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3</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aphicFrame>
        <p:nvGraphicFramePr>
          <p:cNvPr id="7" name="表格 6">
            <a:extLst>
              <a:ext uri="{FF2B5EF4-FFF2-40B4-BE49-F238E27FC236}">
                <a16:creationId xmlns:a16="http://schemas.microsoft.com/office/drawing/2014/main" xmlns="" id="{E134054D-64CC-2263-82E2-E8288B9C52F1}"/>
              </a:ext>
            </a:extLst>
          </p:cNvPr>
          <p:cNvGraphicFramePr>
            <a:graphicFrameLocks noGrp="1"/>
          </p:cNvGraphicFramePr>
          <p:nvPr/>
        </p:nvGraphicFramePr>
        <p:xfrm>
          <a:off x="5429216" y="8335511"/>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R="0" algn="ctr" rtl="0">
                        <a:lnSpc>
                          <a:spcPct val="100000"/>
                        </a:lnSpc>
                        <a:spcBef>
                          <a:spcPts val="0"/>
                        </a:spcBef>
                        <a:spcAft>
                          <a:spcPts val="0"/>
                        </a:spcAft>
                        <a:buClr>
                          <a:srgbClr val="000000"/>
                        </a:buClr>
                        <a:buFont typeface="Arial"/>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ZMM006</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smtClean="0">
                          <a:latin typeface="微軟正黑體" panose="020B0604030504040204" pitchFamily="34" charset="-120"/>
                          <a:ea typeface="微軟正黑體" panose="020B0604030504040204" pitchFamily="34" charset="-120"/>
                        </a:rPr>
                        <a:t>設報價單</a:t>
                      </a:r>
                      <a:r>
                        <a:rPr lang="zh-TW" altLang="en-US" sz="1600" dirty="0" smtClean="0">
                          <a:latin typeface="微軟正黑體" panose="020B0604030504040204" pitchFamily="34" charset="-120"/>
                          <a:ea typeface="微軟正黑體" panose="020B0604030504040204" pitchFamily="34" charset="-120"/>
                        </a:rPr>
                        <a:t>刪除旗標</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0" name="肘形接點 68">
            <a:extLst>
              <a:ext uri="{FF2B5EF4-FFF2-40B4-BE49-F238E27FC236}">
                <a16:creationId xmlns:a16="http://schemas.microsoft.com/office/drawing/2014/main" xmlns="" id="{D3906B51-01D6-4EA7-73CD-5FF73F90E0CC}"/>
              </a:ext>
            </a:extLst>
          </p:cNvPr>
          <p:cNvCxnSpPr>
            <a:cxnSpLocks/>
            <a:endCxn id="77" idx="1"/>
          </p:cNvCxnSpPr>
          <p:nvPr/>
        </p:nvCxnSpPr>
        <p:spPr>
          <a:xfrm>
            <a:off x="7221415" y="8815754"/>
            <a:ext cx="605867" cy="848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31" name="Group 220">
            <a:extLst>
              <a:ext uri="{FF2B5EF4-FFF2-40B4-BE49-F238E27FC236}">
                <a16:creationId xmlns:a16="http://schemas.microsoft.com/office/drawing/2014/main" xmlns="" id="{0E8F93DF-03DE-23E9-128A-F48ECCFA55F4}"/>
              </a:ext>
            </a:extLst>
          </p:cNvPr>
          <p:cNvGrpSpPr/>
          <p:nvPr/>
        </p:nvGrpSpPr>
        <p:grpSpPr>
          <a:xfrm>
            <a:off x="6984602" y="8109678"/>
            <a:ext cx="578018" cy="415761"/>
            <a:chOff x="5876039" y="1486857"/>
            <a:chExt cx="385345" cy="272361"/>
          </a:xfrm>
        </p:grpSpPr>
        <p:sp>
          <p:nvSpPr>
            <p:cNvPr id="225" name="Oval 221">
              <a:extLst>
                <a:ext uri="{FF2B5EF4-FFF2-40B4-BE49-F238E27FC236}">
                  <a16:creationId xmlns:a16="http://schemas.microsoft.com/office/drawing/2014/main" xmlns="" id="{9905FC53-60BA-BDE6-4656-CDE679E8511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26" name="TextBox 222">
              <a:extLst>
                <a:ext uri="{FF2B5EF4-FFF2-40B4-BE49-F238E27FC236}">
                  <a16:creationId xmlns:a16="http://schemas.microsoft.com/office/drawing/2014/main" xmlns="" id="{792867D8-4677-045F-E961-110AB56E05E3}"/>
                </a:ext>
              </a:extLst>
            </p:cNvPr>
            <p:cNvSpPr txBox="1"/>
            <p:nvPr/>
          </p:nvSpPr>
          <p:spPr>
            <a:xfrm>
              <a:off x="5876039" y="1507079"/>
              <a:ext cx="385345"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10</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
        <p:nvSpPr>
          <p:cNvPr id="74" name="Google Shape;198;p3"/>
          <p:cNvSpPr txBox="1">
            <a:spLocks/>
          </p:cNvSpPr>
          <p:nvPr/>
        </p:nvSpPr>
        <p:spPr>
          <a:xfrm>
            <a:off x="15573702" y="514425"/>
            <a:ext cx="689556" cy="20403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3</a:t>
            </a:r>
          </a:p>
        </p:txBody>
      </p:sp>
      <p:grpSp>
        <p:nvGrpSpPr>
          <p:cNvPr id="20" name="Group 220">
            <a:extLst>
              <a:ext uri="{FF2B5EF4-FFF2-40B4-BE49-F238E27FC236}">
                <a16:creationId xmlns:a16="http://schemas.microsoft.com/office/drawing/2014/main" xmlns="" id="{0B79EBBA-F242-48C7-ECC3-55BEDF3FDDA8}"/>
              </a:ext>
            </a:extLst>
          </p:cNvPr>
          <p:cNvGrpSpPr/>
          <p:nvPr/>
        </p:nvGrpSpPr>
        <p:grpSpPr>
          <a:xfrm>
            <a:off x="4467804" y="5285543"/>
            <a:ext cx="552561" cy="415761"/>
            <a:chOff x="5906472" y="1486857"/>
            <a:chExt cx="368374" cy="272361"/>
          </a:xfrm>
        </p:grpSpPr>
        <p:sp>
          <p:nvSpPr>
            <p:cNvPr id="21"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2" name="TextBox 222">
              <a:extLst>
                <a:ext uri="{FF2B5EF4-FFF2-40B4-BE49-F238E27FC236}">
                  <a16:creationId xmlns:a16="http://schemas.microsoft.com/office/drawing/2014/main" xmlns="" id="{7751ACA8-5935-4AA1-4521-923760069DB5}"/>
                </a:ext>
              </a:extLst>
            </p:cNvPr>
            <p:cNvSpPr txBox="1"/>
            <p:nvPr/>
          </p:nvSpPr>
          <p:spPr>
            <a:xfrm>
              <a:off x="5919246" y="1502087"/>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8</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45" name="Group 220">
            <a:extLst>
              <a:ext uri="{FF2B5EF4-FFF2-40B4-BE49-F238E27FC236}">
                <a16:creationId xmlns:a16="http://schemas.microsoft.com/office/drawing/2014/main" xmlns="" id="{ADD1546F-75A2-0E22-F66E-32DFDB0DE746}"/>
              </a:ext>
            </a:extLst>
          </p:cNvPr>
          <p:cNvGrpSpPr/>
          <p:nvPr/>
        </p:nvGrpSpPr>
        <p:grpSpPr>
          <a:xfrm>
            <a:off x="9125921" y="6111682"/>
            <a:ext cx="533400" cy="415761"/>
            <a:chOff x="5906184" y="1486857"/>
            <a:chExt cx="355600" cy="272361"/>
          </a:xfrm>
        </p:grpSpPr>
        <p:sp>
          <p:nvSpPr>
            <p:cNvPr id="46"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48" name="TextBox 222">
              <a:extLst>
                <a:ext uri="{FF2B5EF4-FFF2-40B4-BE49-F238E27FC236}">
                  <a16:creationId xmlns:a16="http://schemas.microsoft.com/office/drawing/2014/main" xmlns="" id="{454E1CB9-6ED4-AD5A-39EC-6D1B324BA26E}"/>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9</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
        <p:nvSpPr>
          <p:cNvPr id="78" name="流程圖: 預設處理作業 21">
            <a:extLst>
              <a:ext uri="{FF2B5EF4-FFF2-40B4-BE49-F238E27FC236}">
                <a16:creationId xmlns:a16="http://schemas.microsoft.com/office/drawing/2014/main" xmlns="" id="{73F2CC1F-3093-040B-EA10-C82E363A19BA}"/>
              </a:ext>
            </a:extLst>
          </p:cNvPr>
          <p:cNvSpPr/>
          <p:nvPr/>
        </p:nvSpPr>
        <p:spPr bwMode="auto">
          <a:xfrm>
            <a:off x="468451" y="1882328"/>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defTabSz="1371600" eaLnBrk="0" hangingPunct="0">
              <a:buClr>
                <a:srgbClr val="000000"/>
              </a:buClr>
            </a:pPr>
            <a:r>
              <a:rPr lang="en-US" altLang="zh-TW" sz="1500" kern="0" dirty="0">
                <a:solidFill>
                  <a:srgbClr val="000000"/>
                </a:solidFill>
                <a:latin typeface="Microsoft JhengHei" panose="020B0604030504040204" pitchFamily="34" charset="-120"/>
                <a:ea typeface="Microsoft JhengHei" panose="020B0604030504040204" pitchFamily="34" charset="-120"/>
                <a:cs typeface="Arial"/>
                <a:sym typeface="Arial"/>
              </a:rPr>
              <a:t>PP-PP-0030</a:t>
            </a:r>
          </a:p>
          <a:p>
            <a:pPr algn="ctr" defTabSz="1371600" eaLnBrk="0" hangingPunct="0">
              <a:buClr>
                <a:srgbClr val="000000"/>
              </a:buClr>
            </a:pPr>
            <a:r>
              <a:rPr lang="en-US" altLang="zh-TW" sz="1500" kern="0" dirty="0">
                <a:solidFill>
                  <a:srgbClr val="000000"/>
                </a:solidFill>
                <a:latin typeface="Microsoft JhengHei" panose="020B0604030504040204" pitchFamily="34" charset="-120"/>
                <a:ea typeface="Microsoft JhengHei" panose="020B0604030504040204" pitchFamily="34" charset="-120"/>
                <a:cs typeface="Arial"/>
                <a:sym typeface="Arial"/>
              </a:rPr>
              <a:t>MRP</a:t>
            </a:r>
            <a:r>
              <a:rPr lang="zh-TW" altLang="en-US" sz="1500" kern="0" dirty="0">
                <a:solidFill>
                  <a:srgbClr val="000000"/>
                </a:solidFill>
                <a:latin typeface="Microsoft JhengHei" panose="020B0604030504040204" pitchFamily="34" charset="-120"/>
                <a:ea typeface="Microsoft JhengHei" panose="020B0604030504040204" pitchFamily="34" charset="-120"/>
                <a:cs typeface="Arial"/>
                <a:sym typeface="Arial"/>
              </a:rPr>
              <a:t>物料需求</a:t>
            </a:r>
            <a:endParaRPr lang="en-US" altLang="zh-TW" sz="1500" kern="0" dirty="0">
              <a:solidFill>
                <a:srgbClr val="000000"/>
              </a:solidFill>
              <a:latin typeface="Microsoft JhengHei" panose="020B0604030504040204" pitchFamily="34" charset="-120"/>
              <a:ea typeface="Microsoft JhengHei" panose="020B0604030504040204" pitchFamily="34" charset="-120"/>
              <a:cs typeface="Arial"/>
              <a:sym typeface="Arial"/>
            </a:endParaRPr>
          </a:p>
          <a:p>
            <a:pPr algn="ctr" defTabSz="1371600" eaLnBrk="0" hangingPunct="0">
              <a:buClr>
                <a:srgbClr val="000000"/>
              </a:buClr>
            </a:pPr>
            <a:r>
              <a:rPr lang="zh-TW" altLang="en-US" sz="1500" kern="0" dirty="0">
                <a:solidFill>
                  <a:srgbClr val="000000"/>
                </a:solidFill>
                <a:latin typeface="Microsoft JhengHei" panose="020B0604030504040204" pitchFamily="34" charset="-120"/>
                <a:ea typeface="Microsoft JhengHei" panose="020B0604030504040204" pitchFamily="34" charset="-120"/>
                <a:cs typeface="Arial"/>
                <a:sym typeface="Arial"/>
              </a:rPr>
              <a:t>計畫維護作業</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80" name="流程圖: 預設處理作業 21">
            <a:extLst>
              <a:ext uri="{FF2B5EF4-FFF2-40B4-BE49-F238E27FC236}">
                <a16:creationId xmlns:a16="http://schemas.microsoft.com/office/drawing/2014/main" xmlns="" id="{73F2CC1F-3093-040B-EA10-C82E363A19BA}"/>
              </a:ext>
            </a:extLst>
          </p:cNvPr>
          <p:cNvSpPr/>
          <p:nvPr/>
        </p:nvSpPr>
        <p:spPr bwMode="auto">
          <a:xfrm>
            <a:off x="468451" y="3673736"/>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defTabSz="1371600" eaLnBrk="0" hangingPunct="0">
              <a:buClr>
                <a:srgbClr val="000000"/>
              </a:buClr>
            </a:pPr>
            <a:r>
              <a:rPr lang="en-US" altLang="zh-TW" sz="1500" kern="0" dirty="0">
                <a:solidFill>
                  <a:srgbClr val="000000"/>
                </a:solidFill>
                <a:latin typeface="Microsoft JhengHei" panose="020B0604030504040204" pitchFamily="34" charset="-120"/>
                <a:ea typeface="Microsoft JhengHei" panose="020B0604030504040204" pitchFamily="34" charset="-120"/>
                <a:cs typeface="Arial"/>
                <a:sym typeface="Arial"/>
              </a:rPr>
              <a:t>MM-PU-0090-02 </a:t>
            </a:r>
          </a:p>
          <a:p>
            <a:pPr algn="ctr" defTabSz="1371600" eaLnBrk="0" hangingPunct="0">
              <a:buClr>
                <a:srgbClr val="000000"/>
              </a:buClr>
            </a:pPr>
            <a:r>
              <a:rPr lang="zh-TW" altLang="en-US" sz="1500" kern="0" dirty="0">
                <a:solidFill>
                  <a:srgbClr val="000000"/>
                </a:solidFill>
                <a:latin typeface="Microsoft JhengHei" panose="020B0604030504040204" pitchFamily="34" charset="-120"/>
                <a:ea typeface="Microsoft JhengHei" panose="020B0604030504040204" pitchFamily="34" charset="-120"/>
                <a:cs typeface="Arial"/>
                <a:sym typeface="Arial"/>
              </a:rPr>
              <a:t>固定資產請採驗流程 </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81" name="肘形接點 68">
            <a:extLst>
              <a:ext uri="{FF2B5EF4-FFF2-40B4-BE49-F238E27FC236}">
                <a16:creationId xmlns:a16="http://schemas.microsoft.com/office/drawing/2014/main" xmlns="" id="{1F269962-9872-BEFF-C024-06082A04A1FB}"/>
              </a:ext>
            </a:extLst>
          </p:cNvPr>
          <p:cNvCxnSpPr>
            <a:cxnSpLocks/>
            <a:stCxn id="80" idx="3"/>
            <a:endCxn id="19" idx="1"/>
          </p:cNvCxnSpPr>
          <p:nvPr/>
        </p:nvCxnSpPr>
        <p:spPr>
          <a:xfrm flipV="1">
            <a:off x="2281563" y="2506731"/>
            <a:ext cx="860967" cy="178620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9" name="流程圖: 接點 51">
            <a:extLst>
              <a:ext uri="{FF2B5EF4-FFF2-40B4-BE49-F238E27FC236}">
                <a16:creationId xmlns:a16="http://schemas.microsoft.com/office/drawing/2014/main" xmlns="" id="{AC20B4C4-BFBC-7794-5F72-8FEC733B624F}"/>
              </a:ext>
            </a:extLst>
          </p:cNvPr>
          <p:cNvSpPr/>
          <p:nvPr/>
        </p:nvSpPr>
        <p:spPr bwMode="auto">
          <a:xfrm>
            <a:off x="8289299" y="3522208"/>
            <a:ext cx="46980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82" name="肘形接點 68">
            <a:extLst>
              <a:ext uri="{FF2B5EF4-FFF2-40B4-BE49-F238E27FC236}">
                <a16:creationId xmlns:a16="http://schemas.microsoft.com/office/drawing/2014/main" xmlns="" id="{A262E954-7F44-0F5C-7EEB-08A42427FE73}"/>
              </a:ext>
            </a:extLst>
          </p:cNvPr>
          <p:cNvCxnSpPr>
            <a:cxnSpLocks/>
            <a:stCxn id="79" idx="4"/>
            <a:endCxn id="231" idx="3"/>
          </p:cNvCxnSpPr>
          <p:nvPr/>
        </p:nvCxnSpPr>
        <p:spPr>
          <a:xfrm rot="5400000">
            <a:off x="7676379" y="3448927"/>
            <a:ext cx="307237" cy="13884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6" name="肘形接點 68">
            <a:extLst>
              <a:ext uri="{FF2B5EF4-FFF2-40B4-BE49-F238E27FC236}">
                <a16:creationId xmlns:a16="http://schemas.microsoft.com/office/drawing/2014/main" xmlns="" id="{C281F9E5-062E-6CF7-3B9B-4BE895A2802B}"/>
              </a:ext>
            </a:extLst>
          </p:cNvPr>
          <p:cNvCxnSpPr>
            <a:cxnSpLocks/>
            <a:stCxn id="77" idx="2"/>
            <a:endCxn id="84" idx="0"/>
          </p:cNvCxnSpPr>
          <p:nvPr/>
        </p:nvCxnSpPr>
        <p:spPr>
          <a:xfrm rot="16200000" flipH="1">
            <a:off x="8584772" y="9343823"/>
            <a:ext cx="331173" cy="420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7" name="流程圖: 決策 50">
            <a:extLst>
              <a:ext uri="{FF2B5EF4-FFF2-40B4-BE49-F238E27FC236}">
                <a16:creationId xmlns:a16="http://schemas.microsoft.com/office/drawing/2014/main" xmlns="" id="{8037CA89-DBE3-1441-8E4C-7EA04E993D61}"/>
              </a:ext>
            </a:extLst>
          </p:cNvPr>
          <p:cNvSpPr/>
          <p:nvPr/>
        </p:nvSpPr>
        <p:spPr bwMode="auto">
          <a:xfrm>
            <a:off x="7827282" y="8468138"/>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smtClean="0">
                <a:solidFill>
                  <a:srgbClr val="000000"/>
                </a:solidFill>
                <a:latin typeface="微軟正黑體" panose="020B0604030504040204" pitchFamily="34" charset="-120"/>
                <a:ea typeface="微軟正黑體" panose="020B0604030504040204" pitchFamily="34" charset="-120"/>
                <a:cs typeface="Arial"/>
                <a:sym typeface="Arial"/>
              </a:rPr>
              <a:t>原單修改重送</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83" name="肘形接點 68">
            <a:extLst>
              <a:ext uri="{FF2B5EF4-FFF2-40B4-BE49-F238E27FC236}">
                <a16:creationId xmlns:a16="http://schemas.microsoft.com/office/drawing/2014/main" xmlns="" id="{C281F9E5-062E-6CF7-3B9B-4BE895A2802B}"/>
              </a:ext>
            </a:extLst>
          </p:cNvPr>
          <p:cNvCxnSpPr>
            <a:cxnSpLocks/>
            <a:stCxn id="77" idx="3"/>
            <a:endCxn id="25" idx="1"/>
          </p:cNvCxnSpPr>
          <p:nvPr/>
        </p:nvCxnSpPr>
        <p:spPr>
          <a:xfrm>
            <a:off x="9669231" y="8824238"/>
            <a:ext cx="2472966" cy="258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84" name="流程圖: 接點 51">
            <a:extLst>
              <a:ext uri="{FF2B5EF4-FFF2-40B4-BE49-F238E27FC236}">
                <a16:creationId xmlns:a16="http://schemas.microsoft.com/office/drawing/2014/main" xmlns="" id="{1E4DE6F3-3BB0-2B05-BD87-45921D4C3C01}"/>
              </a:ext>
            </a:extLst>
          </p:cNvPr>
          <p:cNvSpPr/>
          <p:nvPr/>
        </p:nvSpPr>
        <p:spPr bwMode="auto">
          <a:xfrm>
            <a:off x="8479786" y="951151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dirty="0">
                <a:latin typeface="微軟正黑體" panose="020B0604030504040204" pitchFamily="34" charset="-120"/>
                <a:ea typeface="微軟正黑體" panose="020B0604030504040204" pitchFamily="34" charset="-120"/>
              </a:rPr>
              <a:t>A</a:t>
            </a:r>
            <a:endParaRPr lang="zh-TW" altLang="en-US" sz="1800" dirty="0">
              <a:latin typeface="微軟正黑體" panose="020B0604030504040204" pitchFamily="34" charset="-120"/>
              <a:ea typeface="微軟正黑體" panose="020B0604030504040204" pitchFamily="34" charset="-120"/>
            </a:endParaRPr>
          </a:p>
        </p:txBody>
      </p:sp>
      <p:sp>
        <p:nvSpPr>
          <p:cNvPr id="85" name="矩形 84"/>
          <p:cNvSpPr/>
          <p:nvPr/>
        </p:nvSpPr>
        <p:spPr>
          <a:xfrm>
            <a:off x="8879509" y="9201800"/>
            <a:ext cx="357790" cy="300082"/>
          </a:xfrm>
          <a:prstGeom prst="rect">
            <a:avLst/>
          </a:prstGeom>
        </p:spPr>
        <p:txBody>
          <a:bodyPr wrap="none">
            <a:spAutoFit/>
          </a:bodyPr>
          <a:lstStyle/>
          <a:p>
            <a:pPr lvl="0" defTabSz="1371600">
              <a:buClr>
                <a:srgbClr val="000000"/>
              </a:buClr>
            </a:pPr>
            <a:r>
              <a:rPr lang="zh-TW" altLang="en-US" sz="1350" kern="0" dirty="0" smtClean="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sp>
        <p:nvSpPr>
          <p:cNvPr id="86" name="矩形 85"/>
          <p:cNvSpPr/>
          <p:nvPr/>
        </p:nvSpPr>
        <p:spPr>
          <a:xfrm>
            <a:off x="9536002" y="8381185"/>
            <a:ext cx="357790" cy="300082"/>
          </a:xfrm>
          <a:prstGeom prst="rect">
            <a:avLst/>
          </a:prstGeom>
        </p:spPr>
        <p:txBody>
          <a:bodyPr wrap="none">
            <a:spAutoFit/>
          </a:bodyPr>
          <a:lstStyle/>
          <a:p>
            <a:pPr lvl="0" defTabSz="1371600">
              <a:buClr>
                <a:srgbClr val="000000"/>
              </a:buClr>
            </a:pPr>
            <a:r>
              <a:rPr lang="zh-TW" altLang="en-US" sz="1350" kern="0" dirty="0" smtClean="0">
                <a:solidFill>
                  <a:srgbClr val="000000"/>
                </a:solidFill>
                <a:latin typeface="Arial"/>
                <a:cs typeface="Arial"/>
                <a:sym typeface="Arial"/>
              </a:rPr>
              <a:t>否</a:t>
            </a:r>
            <a:endParaRPr lang="zh-TW" altLang="en-US" sz="1350" kern="0" dirty="0">
              <a:solidFill>
                <a:srgbClr val="000000"/>
              </a:solidFill>
              <a:latin typeface="Arial"/>
              <a:cs typeface="Arial"/>
              <a:sym typeface="Arial"/>
            </a:endParaRPr>
          </a:p>
        </p:txBody>
      </p:sp>
      <p:sp>
        <p:nvSpPr>
          <p:cNvPr id="89" name="流程圖: 接點 51">
            <a:extLst>
              <a:ext uri="{FF2B5EF4-FFF2-40B4-BE49-F238E27FC236}">
                <a16:creationId xmlns:a16="http://schemas.microsoft.com/office/drawing/2014/main" xmlns="" id="{AC20B4C4-BFBC-7794-5F72-8FEC733B624F}"/>
              </a:ext>
            </a:extLst>
          </p:cNvPr>
          <p:cNvSpPr/>
          <p:nvPr/>
        </p:nvSpPr>
        <p:spPr bwMode="auto">
          <a:xfrm>
            <a:off x="974575" y="9227066"/>
            <a:ext cx="46980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B</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90" name="流程圖: 接點 51">
            <a:extLst>
              <a:ext uri="{FF2B5EF4-FFF2-40B4-BE49-F238E27FC236}">
                <a16:creationId xmlns:a16="http://schemas.microsoft.com/office/drawing/2014/main" xmlns="" id="{AC20B4C4-BFBC-7794-5F72-8FEC733B624F}"/>
              </a:ext>
            </a:extLst>
          </p:cNvPr>
          <p:cNvSpPr/>
          <p:nvPr/>
        </p:nvSpPr>
        <p:spPr bwMode="auto">
          <a:xfrm>
            <a:off x="12767990" y="7621009"/>
            <a:ext cx="46980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B</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91" name="肘形接點 68">
            <a:extLst>
              <a:ext uri="{FF2B5EF4-FFF2-40B4-BE49-F238E27FC236}">
                <a16:creationId xmlns:a16="http://schemas.microsoft.com/office/drawing/2014/main" xmlns="" id="{C281F9E5-062E-6CF7-3B9B-4BE895A2802B}"/>
              </a:ext>
            </a:extLst>
          </p:cNvPr>
          <p:cNvCxnSpPr>
            <a:cxnSpLocks/>
            <a:stCxn id="90" idx="4"/>
            <a:endCxn id="25" idx="0"/>
          </p:cNvCxnSpPr>
          <p:nvPr/>
        </p:nvCxnSpPr>
        <p:spPr>
          <a:xfrm rot="16200000" flipH="1">
            <a:off x="12848359" y="8242842"/>
            <a:ext cx="347285" cy="3822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04"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5217095" y="5536671"/>
          <a:ext cx="1650258" cy="1223160"/>
        </p:xfrm>
        <a:graphic>
          <a:graphicData uri="http://schemas.openxmlformats.org/drawingml/2006/table">
            <a:tbl>
              <a:tblPr>
                <a:tableStyleId>{5940675A-B579-460E-94D1-54222C63F5DA}</a:tableStyleId>
              </a:tblPr>
              <a:tblGrid>
                <a:gridCol w="825129">
                  <a:extLst>
                    <a:ext uri="{9D8B030D-6E8A-4147-A177-3AD203B41FA5}">
                      <a16:colId xmlns:a16="http://schemas.microsoft.com/office/drawing/2014/main" xmlns="" val="3433979995"/>
                    </a:ext>
                  </a:extLst>
                </a:gridCol>
                <a:gridCol w="825129">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smtClean="0">
                          <a:solidFill>
                            <a:schemeClr val="tx1"/>
                          </a:solidFill>
                          <a:latin typeface="微軟正黑體" panose="020B0604030504040204" pitchFamily="34" charset="-120"/>
                          <a:ea typeface="微軟正黑體" panose="020B0604030504040204" pitchFamily="34" charset="-120"/>
                          <a:cs typeface="+mn-cs"/>
                          <a:sym typeface="Arial"/>
                        </a:rPr>
                        <a:t>ME45</a:t>
                      </a:r>
                      <a:endPar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smtClean="0">
                          <a:latin typeface="微軟正黑體" panose="020B0604030504040204" pitchFamily="34" charset="-120"/>
                          <a:ea typeface="微軟正黑體" panose="020B0604030504040204" pitchFamily="34" charset="-120"/>
                        </a:rPr>
                        <a:t>簽核詢價單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05" name="Group 220">
            <a:extLst>
              <a:ext uri="{FF2B5EF4-FFF2-40B4-BE49-F238E27FC236}">
                <a16:creationId xmlns:a16="http://schemas.microsoft.com/office/drawing/2014/main" xmlns="" id="{0B79EBBA-F242-48C7-ECC3-55BEDF3FDDA8}"/>
              </a:ext>
            </a:extLst>
          </p:cNvPr>
          <p:cNvGrpSpPr/>
          <p:nvPr/>
        </p:nvGrpSpPr>
        <p:grpSpPr>
          <a:xfrm>
            <a:off x="6746496" y="5236171"/>
            <a:ext cx="533400" cy="415761"/>
            <a:chOff x="5906184" y="1486857"/>
            <a:chExt cx="355600" cy="272361"/>
          </a:xfrm>
        </p:grpSpPr>
        <p:sp>
          <p:nvSpPr>
            <p:cNvPr id="106"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107" name="TextBox 222">
              <a:extLst>
                <a:ext uri="{FF2B5EF4-FFF2-40B4-BE49-F238E27FC236}">
                  <a16:creationId xmlns:a16="http://schemas.microsoft.com/office/drawing/2014/main" xmlns="" id="{7751ACA8-5935-4AA1-4521-923760069DB5}"/>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7</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110" name="肘形接點 68">
            <a:extLst>
              <a:ext uri="{FF2B5EF4-FFF2-40B4-BE49-F238E27FC236}">
                <a16:creationId xmlns:a16="http://schemas.microsoft.com/office/drawing/2014/main" xmlns="" id="{6E464E6C-8B68-2235-105F-3F23DB6FFA74}"/>
              </a:ext>
            </a:extLst>
          </p:cNvPr>
          <p:cNvCxnSpPr>
            <a:cxnSpLocks/>
          </p:cNvCxnSpPr>
          <p:nvPr/>
        </p:nvCxnSpPr>
        <p:spPr>
          <a:xfrm rot="10800000">
            <a:off x="4630615" y="6084279"/>
            <a:ext cx="609600" cy="2344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8610791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9290" y="820877"/>
            <a:ext cx="10005469" cy="461665"/>
          </a:xfrm>
          <a:prstGeom prst="rect">
            <a:avLst/>
          </a:prstGeom>
          <a:noFill/>
        </p:spPr>
        <p:txBody>
          <a:bodyPr wrap="square">
            <a:spAutoFit/>
          </a:bodyPr>
          <a:lstStyle/>
          <a:p>
            <a:pPr defTabSz="1371600" eaLnBrk="0" hangingPunct="0">
              <a:buClr>
                <a:srgbClr val="000000"/>
              </a:buClr>
            </a:pP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MM-PU-0010</a:t>
            </a:r>
            <a:r>
              <a:rPr lang="zh-TW" altLang="en-US" sz="2400" b="1" dirty="0" smtClean="0">
                <a:latin typeface="微軟正黑體" panose="020B0604030504040204" pitchFamily="34" charset="-120"/>
                <a:ea typeface="微軟正黑體" panose="020B0604030504040204" pitchFamily="34" charset="-120"/>
              </a:rPr>
              <a:t>詢報價更新價格主檔流程</a:t>
            </a: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 </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手動建立詢價</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endPar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93951" y="1391440"/>
            <a:ext cx="3289395"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a:t>
            </a: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142197" y="862274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結束</a:t>
            </a:r>
          </a:p>
        </p:txBody>
      </p:sp>
      <p:cxnSp>
        <p:nvCxnSpPr>
          <p:cNvPr id="16" name="Straight Connector 284">
            <a:extLst>
              <a:ext uri="{FF2B5EF4-FFF2-40B4-BE49-F238E27FC236}">
                <a16:creationId xmlns:a16="http://schemas.microsoft.com/office/drawing/2014/main" xmlns="" id="{3343F13F-0020-F344-5B28-F9AEB09CA3FA}"/>
              </a:ext>
            </a:extLst>
          </p:cNvPr>
          <p:cNvCxnSpPr>
            <a:cxnSpLocks/>
          </p:cNvCxnSpPr>
          <p:nvPr/>
        </p:nvCxnSpPr>
        <p:spPr>
          <a:xfrm rot="16200000" flipH="1">
            <a:off x="5374214" y="5758527"/>
            <a:ext cx="8645758" cy="69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a16="http://schemas.microsoft.com/office/drawing/2014/main" xmlns="" id="{DE52170D-3194-E094-D743-3842F95326FE}"/>
              </a:ext>
            </a:extLst>
          </p:cNvPr>
          <p:cNvSpPr txBox="1"/>
          <p:nvPr/>
        </p:nvSpPr>
        <p:spPr>
          <a:xfrm>
            <a:off x="9029700" y="1379658"/>
            <a:ext cx="2834640"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廠商</a:t>
            </a:r>
          </a:p>
        </p:txBody>
      </p:sp>
      <p:graphicFrame>
        <p:nvGraphicFramePr>
          <p:cNvPr id="19" name="表格 30">
            <a:extLst>
              <a:ext uri="{FF2B5EF4-FFF2-40B4-BE49-F238E27FC236}">
                <a16:creationId xmlns:a16="http://schemas.microsoft.com/office/drawing/2014/main" xmlns="" id="{323DEA68-B2E9-C177-AF6C-305B02CA9243}"/>
              </a:ext>
            </a:extLst>
          </p:cNvPr>
          <p:cNvGraphicFramePr>
            <a:graphicFrameLocks noGrp="1"/>
          </p:cNvGraphicFramePr>
          <p:nvPr/>
        </p:nvGraphicFramePr>
        <p:xfrm>
          <a:off x="2905320" y="1944342"/>
          <a:ext cx="1797832" cy="1100927"/>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ME41</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42967">
                <a:tc gridSpan="2">
                  <a:txBody>
                    <a:bodyPr/>
                    <a:lstStyle/>
                    <a:p>
                      <a:pPr algn="ctr"/>
                      <a:r>
                        <a:rPr lang="zh-TW" altLang="en-US" sz="1500" dirty="0">
                          <a:latin typeface="微軟正黑體" panose="020B0604030504040204" pitchFamily="34" charset="-120"/>
                          <a:ea typeface="微軟正黑體" panose="020B0604030504040204" pitchFamily="34" charset="-120"/>
                        </a:rPr>
                        <a:t>建立詢價單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3" name="肘形接點 68">
            <a:extLst>
              <a:ext uri="{FF2B5EF4-FFF2-40B4-BE49-F238E27FC236}">
                <a16:creationId xmlns:a16="http://schemas.microsoft.com/office/drawing/2014/main" xmlns="" id="{5D236408-3F02-99D0-9ECC-DC4D4E746909}"/>
              </a:ext>
            </a:extLst>
          </p:cNvPr>
          <p:cNvCxnSpPr>
            <a:cxnSpLocks/>
          </p:cNvCxnSpPr>
          <p:nvPr/>
        </p:nvCxnSpPr>
        <p:spPr>
          <a:xfrm>
            <a:off x="4717777" y="2478160"/>
            <a:ext cx="5213623" cy="2015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Connector 284">
            <a:extLst>
              <a:ext uri="{FF2B5EF4-FFF2-40B4-BE49-F238E27FC236}">
                <a16:creationId xmlns:a16="http://schemas.microsoft.com/office/drawing/2014/main" xmlns="" id="{CCB3D035-826A-6F8E-1D15-1A3E96F62413}"/>
              </a:ext>
            </a:extLst>
          </p:cNvPr>
          <p:cNvCxnSpPr>
            <a:cxnSpLocks/>
          </p:cNvCxnSpPr>
          <p:nvPr/>
        </p:nvCxnSpPr>
        <p:spPr>
          <a:xfrm rot="5400000">
            <a:off x="2934238" y="5750692"/>
            <a:ext cx="8728428" cy="195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a16="http://schemas.microsoft.com/office/drawing/2014/main" xmlns="" id="{306A0461-FB0A-6B8E-26F4-F4121B822258}"/>
              </a:ext>
            </a:extLst>
          </p:cNvPr>
          <p:cNvSpPr txBox="1"/>
          <p:nvPr/>
        </p:nvSpPr>
        <p:spPr>
          <a:xfrm>
            <a:off x="7115280" y="1380008"/>
            <a:ext cx="2788623"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採購主管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報價主管</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80627" y="1787683"/>
            <a:ext cx="3594197" cy="6186309"/>
          </a:xfrm>
          <a:prstGeom prst="rect">
            <a:avLst/>
          </a:prstGeom>
          <a:noFill/>
        </p:spPr>
        <p:txBody>
          <a:bodyPr wrap="square" rtlCol="0">
            <a:spAutoFit/>
          </a:bodyPr>
          <a:lstStyle/>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手動建立詢價單，適用於機器設備</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製工具</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外包或鞋廠向底廠詢價</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將詢價單文件寄發予廠商，廠商收取詢價單進行價格回覆</a:t>
            </a:r>
            <a:endPar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採購</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進行議價且將最後報價內容維護至原報價單內，或是修正被主管退件的內容</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用</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ME45</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功能作詢價單核發至送簽狀態</a:t>
            </a:r>
            <a:endPar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採購</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將未簽核完成的報價單利用程式</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ZMM005</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拋入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發起簽核</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採購主管進</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系統進行價格簽核</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經主管簽核的報價單，透過介面程式</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ZMM006</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更新報價單狀態，並產生價格主檔。</a:t>
            </a:r>
            <a:endParaRPr lang="en-US" altLang="zh-TW" kern="0" dirty="0" smtClean="0">
              <a:solidFill>
                <a:srgbClr val="000000"/>
              </a:solidFill>
              <a:latin typeface="Arial"/>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主管</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簽核不通過，透過界面程式更新報價單</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狀態，標記</a:t>
            </a:r>
            <a:r>
              <a:rPr lang="zh-TW" altLang="en-US" dirty="0" smtClean="0">
                <a:latin typeface="微軟正黑體" panose="020B0604030504040204" pitchFamily="34" charset="-120"/>
                <a:ea typeface="微軟正黑體" panose="020B0604030504040204" pitchFamily="34" charset="-120"/>
              </a:rPr>
              <a:t>刪除旗標</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。採購員</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能再次修正詢價</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內容進行重新重簽</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aphicFrame>
        <p:nvGraphicFramePr>
          <p:cNvPr id="9" name="表格 30">
            <a:extLst>
              <a:ext uri="{FF2B5EF4-FFF2-40B4-BE49-F238E27FC236}">
                <a16:creationId xmlns:a16="http://schemas.microsoft.com/office/drawing/2014/main" xmlns="" id="{B170150C-8B19-3A81-F73A-3BD17FC81099}"/>
              </a:ext>
            </a:extLst>
          </p:cNvPr>
          <p:cNvGraphicFramePr>
            <a:graphicFrameLocks noGrp="1"/>
          </p:cNvGraphicFramePr>
          <p:nvPr/>
        </p:nvGraphicFramePr>
        <p:xfrm>
          <a:off x="9903903" y="2021175"/>
          <a:ext cx="1797832" cy="148879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815591">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 廠商收</a:t>
                      </a:r>
                      <a:r>
                        <a:rPr kumimoji="0" lang="en-US" altLang="zh-TW" sz="1500" dirty="0">
                          <a:latin typeface="微軟正黑體" panose="020B0604030504040204" pitchFamily="34" charset="-120"/>
                          <a:ea typeface="微軟正黑體" panose="020B0604030504040204" pitchFamily="34" charset="-120"/>
                        </a:rPr>
                        <a:t>email/</a:t>
                      </a:r>
                      <a:r>
                        <a:rPr kumimoji="0" lang="zh-TW" altLang="en-US" sz="1500" dirty="0">
                          <a:latin typeface="微軟正黑體" panose="020B0604030504040204" pitchFamily="34" charset="-120"/>
                          <a:ea typeface="微軟正黑體" panose="020B0604030504040204" pitchFamily="34" charset="-120"/>
                        </a:rPr>
                        <a:t>紙本報價單</a:t>
                      </a:r>
                      <a:endParaRPr kumimoji="0" lang="en-US" altLang="zh-TW" sz="1500" dirty="0">
                        <a:latin typeface="微軟正黑體" panose="020B0604030504040204" pitchFamily="34" charset="-120"/>
                        <a:ea typeface="微軟正黑體" panose="020B0604030504040204" pitchFamily="34" charset="-120"/>
                      </a:endParaRPr>
                    </a:p>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回覆價格</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6" name="肘形接點 68">
            <a:extLst>
              <a:ext uri="{FF2B5EF4-FFF2-40B4-BE49-F238E27FC236}">
                <a16:creationId xmlns:a16="http://schemas.microsoft.com/office/drawing/2014/main" xmlns="" id="{1F269962-9872-BEFF-C024-06082A04A1FB}"/>
              </a:ext>
            </a:extLst>
          </p:cNvPr>
          <p:cNvCxnSpPr>
            <a:cxnSpLocks/>
            <a:stCxn id="7" idx="3"/>
          </p:cNvCxnSpPr>
          <p:nvPr/>
        </p:nvCxnSpPr>
        <p:spPr>
          <a:xfrm>
            <a:off x="2098550" y="2494889"/>
            <a:ext cx="816928" cy="3627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24" name="肘形接點 68">
            <a:extLst>
              <a:ext uri="{FF2B5EF4-FFF2-40B4-BE49-F238E27FC236}">
                <a16:creationId xmlns:a16="http://schemas.microsoft.com/office/drawing/2014/main" xmlns="" id="{A262E954-7F44-0F5C-7EEB-08A42427FE73}"/>
              </a:ext>
            </a:extLst>
          </p:cNvPr>
          <p:cNvCxnSpPr>
            <a:cxnSpLocks/>
          </p:cNvCxnSpPr>
          <p:nvPr/>
        </p:nvCxnSpPr>
        <p:spPr>
          <a:xfrm rot="5400000">
            <a:off x="10356573" y="3902765"/>
            <a:ext cx="834888" cy="15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1" name="表格 30">
            <a:extLst>
              <a:ext uri="{FF2B5EF4-FFF2-40B4-BE49-F238E27FC236}">
                <a16:creationId xmlns:a16="http://schemas.microsoft.com/office/drawing/2014/main" xmlns="" id="{CA6893B2-3C62-01F7-76E1-D937857FD0FF}"/>
              </a:ext>
            </a:extLst>
          </p:cNvPr>
          <p:cNvGraphicFramePr>
            <a:graphicFrameLocks noGrp="1"/>
          </p:cNvGraphicFramePr>
          <p:nvPr/>
        </p:nvGraphicFramePr>
        <p:xfrm>
          <a:off x="2953981" y="3662325"/>
          <a:ext cx="1797832" cy="1124697"/>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ME47</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66737">
                <a:tc gridSpan="2">
                  <a:txBody>
                    <a:bodyPr/>
                    <a:lstStyle/>
                    <a:p>
                      <a:pPr algn="ctr"/>
                      <a:r>
                        <a:rPr lang="zh-TW" altLang="en-US" sz="1500" dirty="0">
                          <a:latin typeface="微軟正黑體" panose="020B0604030504040204" pitchFamily="34" charset="-120"/>
                          <a:ea typeface="微軟正黑體" panose="020B0604030504040204" pitchFamily="34" charset="-120"/>
                        </a:rPr>
                        <a:t>維護報價內容</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62" name="Group 220">
            <a:extLst>
              <a:ext uri="{FF2B5EF4-FFF2-40B4-BE49-F238E27FC236}">
                <a16:creationId xmlns:a16="http://schemas.microsoft.com/office/drawing/2014/main" xmlns="" id="{E9670FBB-51A0-C3AE-9B20-1A307EFBEDAE}"/>
              </a:ext>
            </a:extLst>
          </p:cNvPr>
          <p:cNvGrpSpPr/>
          <p:nvPr/>
        </p:nvGrpSpPr>
        <p:grpSpPr>
          <a:xfrm>
            <a:off x="4460959" y="1784329"/>
            <a:ext cx="533400" cy="415761"/>
            <a:chOff x="5906184" y="1486857"/>
            <a:chExt cx="355600" cy="272361"/>
          </a:xfrm>
        </p:grpSpPr>
        <p:sp>
          <p:nvSpPr>
            <p:cNvPr id="63" name="Oval 221">
              <a:extLst>
                <a:ext uri="{FF2B5EF4-FFF2-40B4-BE49-F238E27FC236}">
                  <a16:creationId xmlns:a16="http://schemas.microsoft.com/office/drawing/2014/main" xmlns="" id="{C7EE0DCE-A060-B81F-4C08-7B308C96DD1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92" name="TextBox 222">
              <a:extLst>
                <a:ext uri="{FF2B5EF4-FFF2-40B4-BE49-F238E27FC236}">
                  <a16:creationId xmlns:a16="http://schemas.microsoft.com/office/drawing/2014/main" xmlns="" id="{8513423E-3F5F-E379-63DB-F79C8B8F9935}"/>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196" name="Group 220">
            <a:extLst>
              <a:ext uri="{FF2B5EF4-FFF2-40B4-BE49-F238E27FC236}">
                <a16:creationId xmlns:a16="http://schemas.microsoft.com/office/drawing/2014/main" xmlns="" id="{2CE5E1E5-9C9F-7BAB-86CC-2C4863BAD87E}"/>
              </a:ext>
            </a:extLst>
          </p:cNvPr>
          <p:cNvGrpSpPr/>
          <p:nvPr/>
        </p:nvGrpSpPr>
        <p:grpSpPr>
          <a:xfrm>
            <a:off x="11472681" y="1789313"/>
            <a:ext cx="533400" cy="415761"/>
            <a:chOff x="5906184" y="1486857"/>
            <a:chExt cx="355600" cy="272361"/>
          </a:xfrm>
        </p:grpSpPr>
        <p:sp>
          <p:nvSpPr>
            <p:cNvPr id="197" name="Oval 221">
              <a:extLst>
                <a:ext uri="{FF2B5EF4-FFF2-40B4-BE49-F238E27FC236}">
                  <a16:creationId xmlns:a16="http://schemas.microsoft.com/office/drawing/2014/main" xmlns="" id="{35F30483-1697-3276-F2A0-A7A3D1EEA05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99" name="TextBox 222">
              <a:extLst>
                <a:ext uri="{FF2B5EF4-FFF2-40B4-BE49-F238E27FC236}">
                  <a16:creationId xmlns:a16="http://schemas.microsoft.com/office/drawing/2014/main" xmlns="" id="{E462588F-210F-703E-FD79-63681E684E55}"/>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2</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203" name="Group 220">
            <a:extLst>
              <a:ext uri="{FF2B5EF4-FFF2-40B4-BE49-F238E27FC236}">
                <a16:creationId xmlns:a16="http://schemas.microsoft.com/office/drawing/2014/main" xmlns="" id="{96AB4B09-D46F-E47F-358C-48D63022BC59}"/>
              </a:ext>
            </a:extLst>
          </p:cNvPr>
          <p:cNvGrpSpPr/>
          <p:nvPr/>
        </p:nvGrpSpPr>
        <p:grpSpPr>
          <a:xfrm>
            <a:off x="4557990" y="3442172"/>
            <a:ext cx="563112" cy="415760"/>
            <a:chOff x="5906472" y="1486857"/>
            <a:chExt cx="375408" cy="272361"/>
          </a:xfrm>
        </p:grpSpPr>
        <p:sp>
          <p:nvSpPr>
            <p:cNvPr id="204" name="Oval 221">
              <a:extLst>
                <a:ext uri="{FF2B5EF4-FFF2-40B4-BE49-F238E27FC236}">
                  <a16:creationId xmlns:a16="http://schemas.microsoft.com/office/drawing/2014/main" xmlns="" id="{A2259CB9-9A21-2C51-0BB2-75CBFF614E5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05" name="TextBox 222">
              <a:extLst>
                <a:ext uri="{FF2B5EF4-FFF2-40B4-BE49-F238E27FC236}">
                  <a16:creationId xmlns:a16="http://schemas.microsoft.com/office/drawing/2014/main" xmlns="" id="{4867D221-E3EB-20C8-2CDD-287CCF58AD6A}"/>
                </a:ext>
              </a:extLst>
            </p:cNvPr>
            <p:cNvSpPr txBox="1"/>
            <p:nvPr/>
          </p:nvSpPr>
          <p:spPr>
            <a:xfrm>
              <a:off x="5926280" y="1519861"/>
              <a:ext cx="355600" cy="211703"/>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3</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
        <p:nvSpPr>
          <p:cNvPr id="7" name="流程圖: 結束點 8">
            <a:extLst>
              <a:ext uri="{FF2B5EF4-FFF2-40B4-BE49-F238E27FC236}">
                <a16:creationId xmlns:a16="http://schemas.microsoft.com/office/drawing/2014/main" xmlns="" id="{D2E12955-560A-7F56-9F37-CD0BB6F49967}"/>
              </a:ext>
            </a:extLst>
          </p:cNvPr>
          <p:cNvSpPr/>
          <p:nvPr/>
        </p:nvSpPr>
        <p:spPr bwMode="auto">
          <a:xfrm>
            <a:off x="300719" y="2103667"/>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開始</a:t>
            </a:r>
          </a:p>
        </p:txBody>
      </p:sp>
      <p:cxnSp>
        <p:nvCxnSpPr>
          <p:cNvPr id="22" name="肘形接點 68">
            <a:extLst>
              <a:ext uri="{FF2B5EF4-FFF2-40B4-BE49-F238E27FC236}">
                <a16:creationId xmlns:a16="http://schemas.microsoft.com/office/drawing/2014/main" xmlns="" id="{C281F9E5-062E-6CF7-3B9B-4BE895A2802B}"/>
              </a:ext>
            </a:extLst>
          </p:cNvPr>
          <p:cNvCxnSpPr>
            <a:cxnSpLocks/>
            <a:endCxn id="173" idx="0"/>
          </p:cNvCxnSpPr>
          <p:nvPr/>
        </p:nvCxnSpPr>
        <p:spPr>
          <a:xfrm rot="16200000" flipH="1">
            <a:off x="8197269" y="9112904"/>
            <a:ext cx="301016" cy="379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8" name="Google Shape;198;p3"/>
          <p:cNvSpPr txBox="1">
            <a:spLocks/>
          </p:cNvSpPr>
          <p:nvPr/>
        </p:nvSpPr>
        <p:spPr>
          <a:xfrm>
            <a:off x="15591825" y="530751"/>
            <a:ext cx="655102" cy="171378"/>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4</a:t>
            </a:r>
          </a:p>
        </p:txBody>
      </p:sp>
      <p:graphicFrame>
        <p:nvGraphicFramePr>
          <p:cNvPr id="73" name="表格 30">
            <a:extLst>
              <a:ext uri="{FF2B5EF4-FFF2-40B4-BE49-F238E27FC236}">
                <a16:creationId xmlns:a16="http://schemas.microsoft.com/office/drawing/2014/main" xmlns="" id="{DD4D6B14-D3B2-B7AE-AA9C-20D4B4848A80}"/>
              </a:ext>
            </a:extLst>
          </p:cNvPr>
          <p:cNvGraphicFramePr>
            <a:graphicFrameLocks noGrp="1"/>
          </p:cNvGraphicFramePr>
          <p:nvPr/>
        </p:nvGraphicFramePr>
        <p:xfrm>
          <a:off x="7525428" y="3915942"/>
          <a:ext cx="1797832" cy="103586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62669">
                <a:tc gridSpan="2">
                  <a:txBody>
                    <a:bodyPr/>
                    <a:lstStyle/>
                    <a:p>
                      <a:pPr algn="ctr"/>
                      <a:r>
                        <a:rPr lang="zh-TW" altLang="en-US" sz="1500" dirty="0">
                          <a:latin typeface="微軟正黑體" panose="020B0604030504040204" pitchFamily="34" charset="-120"/>
                          <a:ea typeface="微軟正黑體" panose="020B0604030504040204" pitchFamily="34" charset="-120"/>
                        </a:rPr>
                        <a:t>在</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上簽核報價</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77"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3106473" y="7221179"/>
          <a:ext cx="1650258" cy="1223160"/>
        </p:xfrm>
        <a:graphic>
          <a:graphicData uri="http://schemas.openxmlformats.org/drawingml/2006/table">
            <a:tbl>
              <a:tblPr>
                <a:tableStyleId>{5940675A-B579-460E-94D1-54222C63F5DA}</a:tableStyleId>
              </a:tblPr>
              <a:tblGrid>
                <a:gridCol w="825129">
                  <a:extLst>
                    <a:ext uri="{9D8B030D-6E8A-4147-A177-3AD203B41FA5}">
                      <a16:colId xmlns:a16="http://schemas.microsoft.com/office/drawing/2014/main" xmlns="" val="3433979995"/>
                    </a:ext>
                  </a:extLst>
                </a:gridCol>
                <a:gridCol w="825129">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ZMM005</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將報價發起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78" name="肘形接點 68">
            <a:extLst>
              <a:ext uri="{FF2B5EF4-FFF2-40B4-BE49-F238E27FC236}">
                <a16:creationId xmlns:a16="http://schemas.microsoft.com/office/drawing/2014/main" xmlns="" id="{4D315B82-E1CA-313C-D4BB-3BBD9FD7F973}"/>
              </a:ext>
            </a:extLst>
          </p:cNvPr>
          <p:cNvCxnSpPr>
            <a:cxnSpLocks/>
          </p:cNvCxnSpPr>
          <p:nvPr/>
        </p:nvCxnSpPr>
        <p:spPr>
          <a:xfrm rot="5400000">
            <a:off x="3575603" y="6885885"/>
            <a:ext cx="630583" cy="1601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87" name="表格 86">
            <a:extLst>
              <a:ext uri="{FF2B5EF4-FFF2-40B4-BE49-F238E27FC236}">
                <a16:creationId xmlns:a16="http://schemas.microsoft.com/office/drawing/2014/main" xmlns="" id="{A9916CAA-93B0-6FE4-E43A-A62C5E0108B3}"/>
              </a:ext>
            </a:extLst>
          </p:cNvPr>
          <p:cNvGraphicFramePr>
            <a:graphicFrameLocks noGrp="1"/>
          </p:cNvGraphicFramePr>
          <p:nvPr/>
        </p:nvGraphicFramePr>
        <p:xfrm>
          <a:off x="7444502" y="7756633"/>
          <a:ext cx="1797832" cy="122316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13740">
                <a:tc gridSpan="2">
                  <a:txBody>
                    <a:bodyPr/>
                    <a:lstStyle/>
                    <a:p>
                      <a:pPr marR="0" algn="ctr" rtl="0">
                        <a:lnSpc>
                          <a:spcPct val="100000"/>
                        </a:lnSpc>
                        <a:spcBef>
                          <a:spcPts val="0"/>
                        </a:spcBef>
                        <a:spcAft>
                          <a:spcPts val="0"/>
                        </a:spcAft>
                        <a:buClr>
                          <a:srgbClr val="000000"/>
                        </a:buClr>
                        <a:buFont typeface="Arial"/>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ZMM006</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更新</a:t>
                      </a:r>
                      <a:r>
                        <a:rPr lang="zh-TW" altLang="en-US" sz="1500" dirty="0" smtClean="0">
                          <a:latin typeface="微軟正黑體" panose="020B0604030504040204" pitchFamily="34" charset="-120"/>
                          <a:ea typeface="微軟正黑體" panose="020B0604030504040204" pitchFamily="34" charset="-120"/>
                        </a:rPr>
                        <a:t>報價單刪除旗標</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91" name="肘形接點 68">
            <a:extLst>
              <a:ext uri="{FF2B5EF4-FFF2-40B4-BE49-F238E27FC236}">
                <a16:creationId xmlns:a16="http://schemas.microsoft.com/office/drawing/2014/main" xmlns="" id="{4D315B82-E1CA-313C-D4BB-3BBD9FD7F973}"/>
              </a:ext>
            </a:extLst>
          </p:cNvPr>
          <p:cNvCxnSpPr>
            <a:cxnSpLocks/>
            <a:endCxn id="92" idx="0"/>
          </p:cNvCxnSpPr>
          <p:nvPr/>
        </p:nvCxnSpPr>
        <p:spPr>
          <a:xfrm rot="5400000">
            <a:off x="8034002" y="4915152"/>
            <a:ext cx="750777" cy="1148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2" name="流程圖: 決策 50">
            <a:extLst>
              <a:ext uri="{FF2B5EF4-FFF2-40B4-BE49-F238E27FC236}">
                <a16:creationId xmlns:a16="http://schemas.microsoft.com/office/drawing/2014/main" xmlns="" id="{8037CA89-DBE3-1441-8E4C-7EA04E993D61}"/>
              </a:ext>
            </a:extLst>
          </p:cNvPr>
          <p:cNvSpPr/>
          <p:nvPr/>
        </p:nvSpPr>
        <p:spPr bwMode="auto">
          <a:xfrm>
            <a:off x="7482675" y="5296281"/>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核淮</a:t>
            </a:r>
          </a:p>
        </p:txBody>
      </p:sp>
      <p:cxnSp>
        <p:nvCxnSpPr>
          <p:cNvPr id="93" name="肘形接點 68">
            <a:extLst>
              <a:ext uri="{FF2B5EF4-FFF2-40B4-BE49-F238E27FC236}">
                <a16:creationId xmlns:a16="http://schemas.microsoft.com/office/drawing/2014/main" xmlns="" id="{2AC129F8-586D-89C1-4F65-FC6AD0B816BA}"/>
              </a:ext>
            </a:extLst>
          </p:cNvPr>
          <p:cNvCxnSpPr>
            <a:cxnSpLocks/>
            <a:stCxn id="92" idx="2"/>
          </p:cNvCxnSpPr>
          <p:nvPr/>
        </p:nvCxnSpPr>
        <p:spPr>
          <a:xfrm rot="5400000">
            <a:off x="8100584" y="6309775"/>
            <a:ext cx="604360" cy="177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5" name="肘形接點 94">
            <a:extLst>
              <a:ext uri="{FF2B5EF4-FFF2-40B4-BE49-F238E27FC236}">
                <a16:creationId xmlns:a16="http://schemas.microsoft.com/office/drawing/2014/main" xmlns="" id="{3C63507D-83FD-0025-3EF4-B6F87A20780B}"/>
              </a:ext>
            </a:extLst>
          </p:cNvPr>
          <p:cNvCxnSpPr>
            <a:cxnSpLocks/>
            <a:stCxn id="92" idx="1"/>
            <a:endCxn id="163" idx="6"/>
          </p:cNvCxnSpPr>
          <p:nvPr/>
        </p:nvCxnSpPr>
        <p:spPr>
          <a:xfrm rot="10800000" flipV="1">
            <a:off x="6613751" y="5652380"/>
            <a:ext cx="868924" cy="2029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96" name="表格 95">
            <a:extLst>
              <a:ext uri="{FF2B5EF4-FFF2-40B4-BE49-F238E27FC236}">
                <a16:creationId xmlns:a16="http://schemas.microsoft.com/office/drawing/2014/main" xmlns="" id="{A9916CAA-93B0-6FE4-E43A-A62C5E0108B3}"/>
              </a:ext>
            </a:extLst>
          </p:cNvPr>
          <p:cNvGraphicFramePr>
            <a:graphicFrameLocks noGrp="1"/>
          </p:cNvGraphicFramePr>
          <p:nvPr/>
        </p:nvGraphicFramePr>
        <p:xfrm>
          <a:off x="7444500" y="6379100"/>
          <a:ext cx="1797834" cy="994560"/>
        </p:xfrm>
        <a:graphic>
          <a:graphicData uri="http://schemas.openxmlformats.org/drawingml/2006/table">
            <a:tbl>
              <a:tblPr>
                <a:tableStyleId>{5940675A-B579-460E-94D1-54222C63F5DA}</a:tableStyleId>
              </a:tblPr>
              <a:tblGrid>
                <a:gridCol w="898917">
                  <a:extLst>
                    <a:ext uri="{9D8B030D-6E8A-4147-A177-3AD203B41FA5}">
                      <a16:colId xmlns:a16="http://schemas.microsoft.com/office/drawing/2014/main" xmlns="" val="3433979995"/>
                    </a:ext>
                  </a:extLst>
                </a:gridCol>
                <a:gridCol w="898917">
                  <a:extLst>
                    <a:ext uri="{9D8B030D-6E8A-4147-A177-3AD203B41FA5}">
                      <a16:colId xmlns:a16="http://schemas.microsoft.com/office/drawing/2014/main" xmlns="" val="3727974752"/>
                    </a:ext>
                  </a:extLst>
                </a:gridCol>
              </a:tblGrid>
              <a:tr h="313740">
                <a:tc gridSpan="2">
                  <a:txBody>
                    <a:bodyPr/>
                    <a:lstStyle/>
                    <a:p>
                      <a:pPr marR="0" algn="ctr" rtl="0">
                        <a:lnSpc>
                          <a:spcPct val="100000"/>
                        </a:lnSpc>
                        <a:spcBef>
                          <a:spcPts val="0"/>
                        </a:spcBef>
                        <a:spcAft>
                          <a:spcPts val="0"/>
                        </a:spcAft>
                        <a:buClr>
                          <a:srgbClr val="000000"/>
                        </a:buClr>
                        <a:buFont typeface="Arial"/>
                      </a:pPr>
                      <a:r>
                        <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ZMM006</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更新價格主檔</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97" name="Group 220">
            <a:extLst>
              <a:ext uri="{FF2B5EF4-FFF2-40B4-BE49-F238E27FC236}">
                <a16:creationId xmlns:a16="http://schemas.microsoft.com/office/drawing/2014/main" xmlns="" id="{4D95C288-6714-454D-9546-9695181783C4}"/>
              </a:ext>
            </a:extLst>
          </p:cNvPr>
          <p:cNvGrpSpPr/>
          <p:nvPr/>
        </p:nvGrpSpPr>
        <p:grpSpPr>
          <a:xfrm>
            <a:off x="9010721" y="7566846"/>
            <a:ext cx="578018" cy="415761"/>
            <a:chOff x="5906183" y="1486857"/>
            <a:chExt cx="385345" cy="272361"/>
          </a:xfrm>
        </p:grpSpPr>
        <p:sp>
          <p:nvSpPr>
            <p:cNvPr id="98" name="Oval 221">
              <a:extLst>
                <a:ext uri="{FF2B5EF4-FFF2-40B4-BE49-F238E27FC236}">
                  <a16:creationId xmlns:a16="http://schemas.microsoft.com/office/drawing/2014/main" xmlns="" id="{72A2B63D-65EC-C074-FCB6-69461905F4E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99" name="TextBox 222">
              <a:extLst>
                <a:ext uri="{FF2B5EF4-FFF2-40B4-BE49-F238E27FC236}">
                  <a16:creationId xmlns:a16="http://schemas.microsoft.com/office/drawing/2014/main" xmlns="" id="{2AF4E12C-BB56-86F1-9004-5DA2FF03B867}"/>
                </a:ext>
              </a:extLst>
            </p:cNvPr>
            <p:cNvSpPr txBox="1"/>
            <p:nvPr/>
          </p:nvSpPr>
          <p:spPr>
            <a:xfrm>
              <a:off x="5906183" y="1507079"/>
              <a:ext cx="385345"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8</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110" name="肘形接點 68">
            <a:extLst>
              <a:ext uri="{FF2B5EF4-FFF2-40B4-BE49-F238E27FC236}">
                <a16:creationId xmlns:a16="http://schemas.microsoft.com/office/drawing/2014/main" xmlns="" id="{C281F9E5-062E-6CF7-3B9B-4BE895A2802B}"/>
              </a:ext>
            </a:extLst>
          </p:cNvPr>
          <p:cNvCxnSpPr>
            <a:cxnSpLocks/>
            <a:endCxn id="25" idx="0"/>
          </p:cNvCxnSpPr>
          <p:nvPr/>
        </p:nvCxnSpPr>
        <p:spPr>
          <a:xfrm>
            <a:off x="9236765" y="6957391"/>
            <a:ext cx="3804348" cy="166535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70" name="Group 220">
            <a:extLst>
              <a:ext uri="{FF2B5EF4-FFF2-40B4-BE49-F238E27FC236}">
                <a16:creationId xmlns:a16="http://schemas.microsoft.com/office/drawing/2014/main" xmlns="" id="{ADD1546F-75A2-0E22-F66E-32DFDB0DE746}"/>
              </a:ext>
            </a:extLst>
          </p:cNvPr>
          <p:cNvGrpSpPr/>
          <p:nvPr/>
        </p:nvGrpSpPr>
        <p:grpSpPr>
          <a:xfrm>
            <a:off x="9139980" y="3696679"/>
            <a:ext cx="533400" cy="415761"/>
            <a:chOff x="5906184" y="1486857"/>
            <a:chExt cx="355600" cy="272361"/>
          </a:xfrm>
        </p:grpSpPr>
        <p:sp>
          <p:nvSpPr>
            <p:cNvPr id="71"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72" name="TextBox 222">
              <a:extLst>
                <a:ext uri="{FF2B5EF4-FFF2-40B4-BE49-F238E27FC236}">
                  <a16:creationId xmlns:a16="http://schemas.microsoft.com/office/drawing/2014/main" xmlns="" id="{454E1CB9-6ED4-AD5A-39EC-6D1B324BA26E}"/>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6</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74" name="Group 220">
            <a:extLst>
              <a:ext uri="{FF2B5EF4-FFF2-40B4-BE49-F238E27FC236}">
                <a16:creationId xmlns:a16="http://schemas.microsoft.com/office/drawing/2014/main" xmlns="" id="{0B79EBBA-F242-48C7-ECC3-55BEDF3FDDA8}"/>
              </a:ext>
            </a:extLst>
          </p:cNvPr>
          <p:cNvGrpSpPr/>
          <p:nvPr/>
        </p:nvGrpSpPr>
        <p:grpSpPr>
          <a:xfrm>
            <a:off x="4649126" y="6920679"/>
            <a:ext cx="533400" cy="415761"/>
            <a:chOff x="5906184" y="1486857"/>
            <a:chExt cx="355600" cy="272361"/>
          </a:xfrm>
        </p:grpSpPr>
        <p:sp>
          <p:nvSpPr>
            <p:cNvPr id="75"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76" name="TextBox 222">
              <a:extLst>
                <a:ext uri="{FF2B5EF4-FFF2-40B4-BE49-F238E27FC236}">
                  <a16:creationId xmlns:a16="http://schemas.microsoft.com/office/drawing/2014/main" xmlns="" id="{7751ACA8-5935-4AA1-4521-923760069DB5}"/>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5</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88" name="Group 220">
            <a:extLst>
              <a:ext uri="{FF2B5EF4-FFF2-40B4-BE49-F238E27FC236}">
                <a16:creationId xmlns:a16="http://schemas.microsoft.com/office/drawing/2014/main" xmlns="" id="{4D95C288-6714-454D-9546-9695181783C4}"/>
              </a:ext>
            </a:extLst>
          </p:cNvPr>
          <p:cNvGrpSpPr/>
          <p:nvPr/>
        </p:nvGrpSpPr>
        <p:grpSpPr>
          <a:xfrm>
            <a:off x="9016621" y="6143305"/>
            <a:ext cx="578018" cy="415761"/>
            <a:chOff x="5906183" y="1486857"/>
            <a:chExt cx="385345" cy="272361"/>
          </a:xfrm>
        </p:grpSpPr>
        <p:sp>
          <p:nvSpPr>
            <p:cNvPr id="89" name="Oval 221">
              <a:extLst>
                <a:ext uri="{FF2B5EF4-FFF2-40B4-BE49-F238E27FC236}">
                  <a16:creationId xmlns:a16="http://schemas.microsoft.com/office/drawing/2014/main" xmlns="" id="{72A2B63D-65EC-C074-FCB6-69461905F4E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90" name="TextBox 222">
              <a:extLst>
                <a:ext uri="{FF2B5EF4-FFF2-40B4-BE49-F238E27FC236}">
                  <a16:creationId xmlns:a16="http://schemas.microsoft.com/office/drawing/2014/main" xmlns="" id="{2AF4E12C-BB56-86F1-9004-5DA2FF03B867}"/>
                </a:ext>
              </a:extLst>
            </p:cNvPr>
            <p:cNvSpPr txBox="1"/>
            <p:nvPr/>
          </p:nvSpPr>
          <p:spPr>
            <a:xfrm>
              <a:off x="5906183" y="1507079"/>
              <a:ext cx="385345"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7</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
        <p:nvSpPr>
          <p:cNvPr id="82" name="矩形 81"/>
          <p:cNvSpPr/>
          <p:nvPr/>
        </p:nvSpPr>
        <p:spPr>
          <a:xfrm>
            <a:off x="8691941" y="6013122"/>
            <a:ext cx="357790" cy="300082"/>
          </a:xfrm>
          <a:prstGeom prst="rect">
            <a:avLst/>
          </a:prstGeom>
        </p:spPr>
        <p:txBody>
          <a:bodyPr wrap="none">
            <a:spAutoFit/>
          </a:bodyPr>
          <a:lstStyle/>
          <a:p>
            <a:pPr lvl="0" defTabSz="1371600">
              <a:buClr>
                <a:srgbClr val="000000"/>
              </a:buClr>
            </a:pPr>
            <a:r>
              <a:rPr lang="zh-TW" altLang="en-US" sz="1350" kern="0" dirty="0" smtClean="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graphicFrame>
        <p:nvGraphicFramePr>
          <p:cNvPr id="103"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3060049" y="5372548"/>
          <a:ext cx="1650258" cy="1223160"/>
        </p:xfrm>
        <a:graphic>
          <a:graphicData uri="http://schemas.openxmlformats.org/drawingml/2006/table">
            <a:tbl>
              <a:tblPr>
                <a:tableStyleId>{5940675A-B579-460E-94D1-54222C63F5DA}</a:tableStyleId>
              </a:tblPr>
              <a:tblGrid>
                <a:gridCol w="825129">
                  <a:extLst>
                    <a:ext uri="{9D8B030D-6E8A-4147-A177-3AD203B41FA5}">
                      <a16:colId xmlns:a16="http://schemas.microsoft.com/office/drawing/2014/main" xmlns="" val="3433979995"/>
                    </a:ext>
                  </a:extLst>
                </a:gridCol>
                <a:gridCol w="825129">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400" b="1" i="0" u="none" strike="noStrike" cap="none" dirty="0" smtClean="0">
                          <a:solidFill>
                            <a:schemeClr val="tx1"/>
                          </a:solidFill>
                          <a:latin typeface="微軟正黑體" panose="020B0604030504040204" pitchFamily="34" charset="-120"/>
                          <a:ea typeface="微軟正黑體" panose="020B0604030504040204" pitchFamily="34" charset="-120"/>
                          <a:cs typeface="+mn-cs"/>
                          <a:sym typeface="Arial"/>
                        </a:rPr>
                        <a:t>ME45</a:t>
                      </a:r>
                      <a:endPar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smtClean="0">
                          <a:latin typeface="微軟正黑體" panose="020B0604030504040204" pitchFamily="34" charset="-120"/>
                          <a:ea typeface="微軟正黑體" panose="020B0604030504040204" pitchFamily="34" charset="-120"/>
                        </a:rPr>
                        <a:t>簽核詢價單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04" name="肘形接點 68">
            <a:extLst>
              <a:ext uri="{FF2B5EF4-FFF2-40B4-BE49-F238E27FC236}">
                <a16:creationId xmlns:a16="http://schemas.microsoft.com/office/drawing/2014/main" xmlns="" id="{8DD1663D-3235-8D1E-F1BD-80C90EB0F8CB}"/>
              </a:ext>
            </a:extLst>
          </p:cNvPr>
          <p:cNvCxnSpPr>
            <a:cxnSpLocks/>
          </p:cNvCxnSpPr>
          <p:nvPr/>
        </p:nvCxnSpPr>
        <p:spPr>
          <a:xfrm rot="5400000">
            <a:off x="3379307" y="4903307"/>
            <a:ext cx="954158" cy="15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105" name="Group 220">
            <a:extLst>
              <a:ext uri="{FF2B5EF4-FFF2-40B4-BE49-F238E27FC236}">
                <a16:creationId xmlns:a16="http://schemas.microsoft.com/office/drawing/2014/main" xmlns="" id="{0B79EBBA-F242-48C7-ECC3-55BEDF3FDDA8}"/>
              </a:ext>
            </a:extLst>
          </p:cNvPr>
          <p:cNvGrpSpPr/>
          <p:nvPr/>
        </p:nvGrpSpPr>
        <p:grpSpPr>
          <a:xfrm>
            <a:off x="4589450" y="5072048"/>
            <a:ext cx="533400" cy="415761"/>
            <a:chOff x="5906184" y="1486857"/>
            <a:chExt cx="355600" cy="272361"/>
          </a:xfrm>
        </p:grpSpPr>
        <p:sp>
          <p:nvSpPr>
            <p:cNvPr id="107"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108" name="TextBox 222">
              <a:extLst>
                <a:ext uri="{FF2B5EF4-FFF2-40B4-BE49-F238E27FC236}">
                  <a16:creationId xmlns:a16="http://schemas.microsoft.com/office/drawing/2014/main" xmlns="" id="{7751ACA8-5935-4AA1-4521-923760069DB5}"/>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smtClean="0">
                  <a:solidFill>
                    <a:srgbClr val="000000"/>
                  </a:solidFill>
                  <a:latin typeface="微軟正黑體" panose="020B0604030504040204" pitchFamily="34" charset="-120"/>
                  <a:ea typeface="微軟正黑體" panose="020B0604030504040204" pitchFamily="34" charset="-120"/>
                  <a:cs typeface="Arial"/>
                  <a:sym typeface="Arial"/>
                </a:rPr>
                <a:t>4</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117" name="肘形接點 68">
            <a:extLst>
              <a:ext uri="{FF2B5EF4-FFF2-40B4-BE49-F238E27FC236}">
                <a16:creationId xmlns:a16="http://schemas.microsoft.com/office/drawing/2014/main" xmlns="" id="{8DD1663D-3235-8D1E-F1BD-80C90EB0F8CB}"/>
              </a:ext>
            </a:extLst>
          </p:cNvPr>
          <p:cNvCxnSpPr>
            <a:cxnSpLocks/>
            <a:endCxn id="138" idx="0"/>
          </p:cNvCxnSpPr>
          <p:nvPr/>
        </p:nvCxnSpPr>
        <p:spPr>
          <a:xfrm rot="5400000">
            <a:off x="3697814" y="8600118"/>
            <a:ext cx="343556" cy="2659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26" name="流程圖: 接點 51">
            <a:extLst>
              <a:ext uri="{FF2B5EF4-FFF2-40B4-BE49-F238E27FC236}">
                <a16:creationId xmlns:a16="http://schemas.microsoft.com/office/drawing/2014/main" xmlns="" id="{1E4DE6F3-3BB0-2B05-BD87-45921D4C3C01}"/>
              </a:ext>
            </a:extLst>
          </p:cNvPr>
          <p:cNvSpPr/>
          <p:nvPr/>
        </p:nvSpPr>
        <p:spPr bwMode="auto">
          <a:xfrm>
            <a:off x="10507884" y="4283019"/>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dirty="0">
                <a:latin typeface="微軟正黑體" panose="020B0604030504040204" pitchFamily="34" charset="-120"/>
                <a:ea typeface="微軟正黑體" panose="020B0604030504040204" pitchFamily="34" charset="-120"/>
              </a:rPr>
              <a:t>A</a:t>
            </a:r>
            <a:endParaRPr lang="zh-TW" altLang="en-US" sz="1800" dirty="0">
              <a:latin typeface="微軟正黑體" panose="020B0604030504040204" pitchFamily="34" charset="-120"/>
              <a:ea typeface="微軟正黑體" panose="020B0604030504040204" pitchFamily="34" charset="-120"/>
            </a:endParaRPr>
          </a:p>
        </p:txBody>
      </p:sp>
      <p:sp>
        <p:nvSpPr>
          <p:cNvPr id="127" name="流程圖: 接點 51">
            <a:extLst>
              <a:ext uri="{FF2B5EF4-FFF2-40B4-BE49-F238E27FC236}">
                <a16:creationId xmlns:a16="http://schemas.microsoft.com/office/drawing/2014/main" xmlns="" id="{1E4DE6F3-3BB0-2B05-BD87-45921D4C3C01}"/>
              </a:ext>
            </a:extLst>
          </p:cNvPr>
          <p:cNvSpPr/>
          <p:nvPr/>
        </p:nvSpPr>
        <p:spPr bwMode="auto">
          <a:xfrm>
            <a:off x="1668684" y="400778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cxnSp>
        <p:nvCxnSpPr>
          <p:cNvPr id="128" name="肘形接點 68">
            <a:extLst>
              <a:ext uri="{FF2B5EF4-FFF2-40B4-BE49-F238E27FC236}">
                <a16:creationId xmlns:a16="http://schemas.microsoft.com/office/drawing/2014/main" xmlns="" id="{1F269962-9872-BEFF-C024-06082A04A1FB}"/>
              </a:ext>
            </a:extLst>
          </p:cNvPr>
          <p:cNvCxnSpPr>
            <a:cxnSpLocks/>
            <a:stCxn id="127" idx="6"/>
          </p:cNvCxnSpPr>
          <p:nvPr/>
        </p:nvCxnSpPr>
        <p:spPr>
          <a:xfrm flipV="1">
            <a:off x="2214029" y="4240696"/>
            <a:ext cx="727954" cy="73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38" name="流程圖: 接點 51">
            <a:extLst>
              <a:ext uri="{FF2B5EF4-FFF2-40B4-BE49-F238E27FC236}">
                <a16:creationId xmlns:a16="http://schemas.microsoft.com/office/drawing/2014/main" xmlns="" id="{1E4DE6F3-3BB0-2B05-BD87-45921D4C3C01}"/>
              </a:ext>
            </a:extLst>
          </p:cNvPr>
          <p:cNvSpPr/>
          <p:nvPr/>
        </p:nvSpPr>
        <p:spPr bwMode="auto">
          <a:xfrm>
            <a:off x="3583623" y="878519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dirty="0" smtClean="0">
                <a:latin typeface="微軟正黑體" panose="020B0604030504040204" pitchFamily="34" charset="-120"/>
                <a:ea typeface="微軟正黑體" panose="020B0604030504040204" pitchFamily="34" charset="-120"/>
              </a:rPr>
              <a:t>B</a:t>
            </a:r>
            <a:endParaRPr lang="zh-TW" altLang="en-US" sz="1800" dirty="0">
              <a:latin typeface="微軟正黑體" panose="020B0604030504040204" pitchFamily="34" charset="-120"/>
              <a:ea typeface="微軟正黑體" panose="020B0604030504040204" pitchFamily="34" charset="-120"/>
            </a:endParaRPr>
          </a:p>
        </p:txBody>
      </p:sp>
      <p:sp>
        <p:nvSpPr>
          <p:cNvPr id="141" name="流程圖: 接點 51">
            <a:extLst>
              <a:ext uri="{FF2B5EF4-FFF2-40B4-BE49-F238E27FC236}">
                <a16:creationId xmlns:a16="http://schemas.microsoft.com/office/drawing/2014/main" xmlns="" id="{1E4DE6F3-3BB0-2B05-BD87-45921D4C3C01}"/>
              </a:ext>
            </a:extLst>
          </p:cNvPr>
          <p:cNvSpPr/>
          <p:nvPr/>
        </p:nvSpPr>
        <p:spPr bwMode="auto">
          <a:xfrm>
            <a:off x="8089362" y="3139765"/>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dirty="0" smtClean="0">
                <a:latin typeface="微軟正黑體" panose="020B0604030504040204" pitchFamily="34" charset="-120"/>
                <a:ea typeface="微軟正黑體" panose="020B0604030504040204" pitchFamily="34" charset="-120"/>
              </a:rPr>
              <a:t>B</a:t>
            </a:r>
            <a:endParaRPr lang="zh-TW" altLang="en-US" sz="1800" dirty="0">
              <a:latin typeface="微軟正黑體" panose="020B0604030504040204" pitchFamily="34" charset="-120"/>
              <a:ea typeface="微軟正黑體" panose="020B0604030504040204" pitchFamily="34" charset="-120"/>
            </a:endParaRPr>
          </a:p>
        </p:txBody>
      </p:sp>
      <p:cxnSp>
        <p:nvCxnSpPr>
          <p:cNvPr id="142" name="肘形接點 68">
            <a:extLst>
              <a:ext uri="{FF2B5EF4-FFF2-40B4-BE49-F238E27FC236}">
                <a16:creationId xmlns:a16="http://schemas.microsoft.com/office/drawing/2014/main" xmlns="" id="{8DD1663D-3235-8D1E-F1BD-80C90EB0F8CB}"/>
              </a:ext>
            </a:extLst>
          </p:cNvPr>
          <p:cNvCxnSpPr>
            <a:cxnSpLocks/>
          </p:cNvCxnSpPr>
          <p:nvPr/>
        </p:nvCxnSpPr>
        <p:spPr>
          <a:xfrm rot="16200000" flipH="1">
            <a:off x="8290429" y="3824445"/>
            <a:ext cx="156550" cy="13339"/>
          </a:xfrm>
          <a:prstGeom prst="bentConnector3">
            <a:avLst>
              <a:gd name="adj1" fmla="val -102372"/>
            </a:avLst>
          </a:prstGeom>
          <a:ln>
            <a:tailEnd type="triangle"/>
          </a:ln>
        </p:spPr>
        <p:style>
          <a:lnRef idx="1">
            <a:schemeClr val="dk1"/>
          </a:lnRef>
          <a:fillRef idx="0">
            <a:schemeClr val="dk1"/>
          </a:fillRef>
          <a:effectRef idx="0">
            <a:schemeClr val="dk1"/>
          </a:effectRef>
          <a:fontRef idx="minor">
            <a:schemeClr val="tx1"/>
          </a:fontRef>
        </p:style>
      </p:cxnSp>
      <p:sp>
        <p:nvSpPr>
          <p:cNvPr id="163" name="流程圖: 接點 51">
            <a:extLst>
              <a:ext uri="{FF2B5EF4-FFF2-40B4-BE49-F238E27FC236}">
                <a16:creationId xmlns:a16="http://schemas.microsoft.com/office/drawing/2014/main" xmlns="" id="{1E4DE6F3-3BB0-2B05-BD87-45921D4C3C01}"/>
              </a:ext>
            </a:extLst>
          </p:cNvPr>
          <p:cNvSpPr/>
          <p:nvPr/>
        </p:nvSpPr>
        <p:spPr bwMode="auto">
          <a:xfrm>
            <a:off x="6068406" y="5439022"/>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dirty="0" smtClean="0">
                <a:latin typeface="微軟正黑體" panose="020B0604030504040204" pitchFamily="34" charset="-120"/>
                <a:ea typeface="微軟正黑體" panose="020B0604030504040204" pitchFamily="34" charset="-120"/>
              </a:rPr>
              <a:t>C</a:t>
            </a:r>
            <a:endParaRPr lang="zh-TW" altLang="en-US" sz="1800" dirty="0">
              <a:latin typeface="微軟正黑體" panose="020B0604030504040204" pitchFamily="34" charset="-120"/>
              <a:ea typeface="微軟正黑體" panose="020B0604030504040204" pitchFamily="34" charset="-120"/>
            </a:endParaRPr>
          </a:p>
        </p:txBody>
      </p:sp>
      <p:sp>
        <p:nvSpPr>
          <p:cNvPr id="165" name="流程圖: 接點 51">
            <a:extLst>
              <a:ext uri="{FF2B5EF4-FFF2-40B4-BE49-F238E27FC236}">
                <a16:creationId xmlns:a16="http://schemas.microsoft.com/office/drawing/2014/main" xmlns="" id="{1E4DE6F3-3BB0-2B05-BD87-45921D4C3C01}"/>
              </a:ext>
            </a:extLst>
          </p:cNvPr>
          <p:cNvSpPr/>
          <p:nvPr/>
        </p:nvSpPr>
        <p:spPr bwMode="auto">
          <a:xfrm>
            <a:off x="6181050" y="818885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dirty="0" smtClean="0">
                <a:latin typeface="微軟正黑體" panose="020B0604030504040204" pitchFamily="34" charset="-120"/>
                <a:ea typeface="微軟正黑體" panose="020B0604030504040204" pitchFamily="34" charset="-120"/>
              </a:rPr>
              <a:t>C</a:t>
            </a:r>
            <a:endParaRPr lang="zh-TW" altLang="en-US" sz="1800" dirty="0">
              <a:latin typeface="微軟正黑體" panose="020B0604030504040204" pitchFamily="34" charset="-120"/>
              <a:ea typeface="微軟正黑體" panose="020B0604030504040204" pitchFamily="34" charset="-120"/>
            </a:endParaRPr>
          </a:p>
        </p:txBody>
      </p:sp>
      <p:cxnSp>
        <p:nvCxnSpPr>
          <p:cNvPr id="166" name="肘形接點 68">
            <a:extLst>
              <a:ext uri="{FF2B5EF4-FFF2-40B4-BE49-F238E27FC236}">
                <a16:creationId xmlns:a16="http://schemas.microsoft.com/office/drawing/2014/main" xmlns="" id="{C281F9E5-062E-6CF7-3B9B-4BE895A2802B}"/>
              </a:ext>
            </a:extLst>
          </p:cNvPr>
          <p:cNvCxnSpPr>
            <a:cxnSpLocks/>
            <a:stCxn id="165" idx="6"/>
          </p:cNvCxnSpPr>
          <p:nvPr/>
        </p:nvCxnSpPr>
        <p:spPr>
          <a:xfrm flipV="1">
            <a:off x="6726395" y="8401886"/>
            <a:ext cx="747831" cy="2061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72" name="矩形 171"/>
          <p:cNvSpPr/>
          <p:nvPr/>
        </p:nvSpPr>
        <p:spPr>
          <a:xfrm>
            <a:off x="6816759" y="5304131"/>
            <a:ext cx="357790" cy="300082"/>
          </a:xfrm>
          <a:prstGeom prst="rect">
            <a:avLst/>
          </a:prstGeom>
        </p:spPr>
        <p:txBody>
          <a:bodyPr wrap="none">
            <a:spAutoFit/>
          </a:bodyPr>
          <a:lstStyle/>
          <a:p>
            <a:pPr lvl="0" defTabSz="1371600">
              <a:buClr>
                <a:srgbClr val="000000"/>
              </a:buClr>
            </a:pPr>
            <a:r>
              <a:rPr lang="zh-TW" altLang="en-US" sz="1350" kern="0" dirty="0" smtClean="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sp>
        <p:nvSpPr>
          <p:cNvPr id="173" name="流程圖: 決策 50">
            <a:extLst>
              <a:ext uri="{FF2B5EF4-FFF2-40B4-BE49-F238E27FC236}">
                <a16:creationId xmlns:a16="http://schemas.microsoft.com/office/drawing/2014/main" xmlns="" id="{8037CA89-DBE3-1441-8E4C-7EA04E993D61}"/>
              </a:ext>
            </a:extLst>
          </p:cNvPr>
          <p:cNvSpPr/>
          <p:nvPr/>
        </p:nvSpPr>
        <p:spPr bwMode="auto">
          <a:xfrm>
            <a:off x="7428697" y="9265307"/>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smtClean="0">
                <a:solidFill>
                  <a:srgbClr val="000000"/>
                </a:solidFill>
                <a:latin typeface="微軟正黑體" panose="020B0604030504040204" pitchFamily="34" charset="-120"/>
                <a:ea typeface="微軟正黑體" panose="020B0604030504040204" pitchFamily="34" charset="-120"/>
                <a:cs typeface="Arial"/>
                <a:sym typeface="Arial"/>
              </a:rPr>
              <a:t>原單修改重送</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179" name="肘形接點 68">
            <a:extLst>
              <a:ext uri="{FF2B5EF4-FFF2-40B4-BE49-F238E27FC236}">
                <a16:creationId xmlns:a16="http://schemas.microsoft.com/office/drawing/2014/main" xmlns="" id="{C281F9E5-062E-6CF7-3B9B-4BE895A2802B}"/>
              </a:ext>
            </a:extLst>
          </p:cNvPr>
          <p:cNvCxnSpPr>
            <a:cxnSpLocks/>
            <a:stCxn id="173" idx="1"/>
          </p:cNvCxnSpPr>
          <p:nvPr/>
        </p:nvCxnSpPr>
        <p:spPr>
          <a:xfrm rot="10800000" flipV="1">
            <a:off x="5990493" y="9621407"/>
            <a:ext cx="1438205" cy="1496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83" name="流程圖: 接點 51">
            <a:extLst>
              <a:ext uri="{FF2B5EF4-FFF2-40B4-BE49-F238E27FC236}">
                <a16:creationId xmlns:a16="http://schemas.microsoft.com/office/drawing/2014/main" xmlns="" id="{1E4DE6F3-3BB0-2B05-BD87-45921D4C3C01}"/>
              </a:ext>
            </a:extLst>
          </p:cNvPr>
          <p:cNvSpPr/>
          <p:nvPr/>
        </p:nvSpPr>
        <p:spPr bwMode="auto">
          <a:xfrm>
            <a:off x="5443509" y="9417726"/>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dirty="0">
                <a:latin typeface="微軟正黑體" panose="020B0604030504040204" pitchFamily="34" charset="-120"/>
                <a:ea typeface="微軟正黑體" panose="020B0604030504040204" pitchFamily="34" charset="-120"/>
              </a:rPr>
              <a:t>A</a:t>
            </a:r>
            <a:endParaRPr lang="zh-TW" altLang="en-US" sz="1800" dirty="0">
              <a:latin typeface="微軟正黑體" panose="020B0604030504040204" pitchFamily="34" charset="-120"/>
              <a:ea typeface="微軟正黑體" panose="020B0604030504040204" pitchFamily="34" charset="-120"/>
            </a:endParaRPr>
          </a:p>
        </p:txBody>
      </p:sp>
      <p:sp>
        <p:nvSpPr>
          <p:cNvPr id="184" name="矩形 183"/>
          <p:cNvSpPr/>
          <p:nvPr/>
        </p:nvSpPr>
        <p:spPr>
          <a:xfrm>
            <a:off x="6757633" y="9283861"/>
            <a:ext cx="357790" cy="300082"/>
          </a:xfrm>
          <a:prstGeom prst="rect">
            <a:avLst/>
          </a:prstGeom>
        </p:spPr>
        <p:txBody>
          <a:bodyPr wrap="none">
            <a:spAutoFit/>
          </a:bodyPr>
          <a:lstStyle/>
          <a:p>
            <a:pPr lvl="0" defTabSz="1371600">
              <a:buClr>
                <a:srgbClr val="000000"/>
              </a:buClr>
            </a:pPr>
            <a:r>
              <a:rPr lang="zh-TW" altLang="en-US" sz="1350" kern="0" dirty="0" smtClean="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sp>
        <p:nvSpPr>
          <p:cNvPr id="186" name="矩形 185"/>
          <p:cNvSpPr/>
          <p:nvPr/>
        </p:nvSpPr>
        <p:spPr>
          <a:xfrm>
            <a:off x="9137417" y="9178354"/>
            <a:ext cx="357790" cy="300082"/>
          </a:xfrm>
          <a:prstGeom prst="rect">
            <a:avLst/>
          </a:prstGeom>
        </p:spPr>
        <p:txBody>
          <a:bodyPr wrap="none">
            <a:spAutoFit/>
          </a:bodyPr>
          <a:lstStyle/>
          <a:p>
            <a:pPr lvl="0" defTabSz="1371600">
              <a:buClr>
                <a:srgbClr val="000000"/>
              </a:buClr>
            </a:pPr>
            <a:r>
              <a:rPr lang="zh-TW" altLang="en-US" sz="1350" kern="0" dirty="0" smtClean="0">
                <a:solidFill>
                  <a:srgbClr val="000000"/>
                </a:solidFill>
                <a:latin typeface="Arial"/>
                <a:cs typeface="Arial"/>
                <a:sym typeface="Arial"/>
              </a:rPr>
              <a:t>否</a:t>
            </a:r>
            <a:endParaRPr lang="zh-TW" altLang="en-US" sz="1350" kern="0" dirty="0">
              <a:solidFill>
                <a:srgbClr val="000000"/>
              </a:solidFill>
              <a:latin typeface="Arial"/>
              <a:cs typeface="Arial"/>
              <a:sym typeface="Arial"/>
            </a:endParaRPr>
          </a:p>
        </p:txBody>
      </p:sp>
      <p:cxnSp>
        <p:nvCxnSpPr>
          <p:cNvPr id="187" name="肘形接點 68">
            <a:extLst>
              <a:ext uri="{FF2B5EF4-FFF2-40B4-BE49-F238E27FC236}">
                <a16:creationId xmlns:a16="http://schemas.microsoft.com/office/drawing/2014/main" xmlns="" id="{C281F9E5-062E-6CF7-3B9B-4BE895A2802B}"/>
              </a:ext>
            </a:extLst>
          </p:cNvPr>
          <p:cNvCxnSpPr>
            <a:cxnSpLocks/>
            <a:stCxn id="173" idx="3"/>
            <a:endCxn id="25" idx="1"/>
          </p:cNvCxnSpPr>
          <p:nvPr/>
        </p:nvCxnSpPr>
        <p:spPr>
          <a:xfrm flipV="1">
            <a:off x="9270646" y="9013963"/>
            <a:ext cx="2871551" cy="60744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10253183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32960" y="820877"/>
            <a:ext cx="10920433" cy="461665"/>
          </a:xfrm>
          <a:prstGeom prst="rect">
            <a:avLst/>
          </a:prstGeom>
          <a:noFill/>
        </p:spPr>
        <p:txBody>
          <a:bodyPr wrap="square">
            <a:spAutoFit/>
          </a:bodyPr>
          <a:lstStyle/>
          <a:p>
            <a:pPr defTabSz="1371600" eaLnBrk="0" hangingPunct="0">
              <a:buClr>
                <a:srgbClr val="000000"/>
              </a:buClr>
            </a:pP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MM-PU-0010</a:t>
            </a:r>
            <a:r>
              <a:rPr lang="zh-TW" altLang="en-US" sz="2400" b="1" dirty="0" smtClean="0">
                <a:latin typeface="微軟正黑體" panose="020B0604030504040204" pitchFamily="34" charset="-120"/>
                <a:ea typeface="微軟正黑體" panose="020B0604030504040204" pitchFamily="34" charset="-120"/>
              </a:rPr>
              <a:t>詢報價更新價格主檔流程</a:t>
            </a: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 </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製程委外</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價格批量更改</a:t>
            </a:r>
            <a:r>
              <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rPr>
              <a:t>)</a:t>
            </a:r>
            <a:endPar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93950" y="1391440"/>
            <a:ext cx="3646598"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開發</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生管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各廠加工部門</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採購</a:t>
            </a:r>
          </a:p>
        </p:txBody>
      </p:sp>
      <p:cxnSp>
        <p:nvCxnSpPr>
          <p:cNvPr id="16" name="Straight Connector 284">
            <a:extLst>
              <a:ext uri="{FF2B5EF4-FFF2-40B4-BE49-F238E27FC236}">
                <a16:creationId xmlns:a16="http://schemas.microsoft.com/office/drawing/2014/main" xmlns="" id="{3343F13F-0020-F344-5B28-F9AEB09CA3FA}"/>
              </a:ext>
            </a:extLst>
          </p:cNvPr>
          <p:cNvCxnSpPr>
            <a:cxnSpLocks/>
          </p:cNvCxnSpPr>
          <p:nvPr/>
        </p:nvCxnSpPr>
        <p:spPr>
          <a:xfrm>
            <a:off x="9672494" y="1414425"/>
            <a:ext cx="0" cy="8615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a16="http://schemas.microsoft.com/office/drawing/2014/main" xmlns="" id="{DE52170D-3194-E094-D743-3842F95326FE}"/>
              </a:ext>
            </a:extLst>
          </p:cNvPr>
          <p:cNvSpPr txBox="1"/>
          <p:nvPr/>
        </p:nvSpPr>
        <p:spPr>
          <a:xfrm>
            <a:off x="9838644" y="1379658"/>
            <a:ext cx="2162859" cy="346249"/>
          </a:xfrm>
          <a:prstGeom prst="rect">
            <a:avLst/>
          </a:prstGeom>
          <a:noFill/>
        </p:spPr>
        <p:txBody>
          <a:bodyPr wrap="square" rtlCol="0">
            <a:spAutoFit/>
          </a:bodyPr>
          <a:lstStyle/>
          <a:p>
            <a:pPr algn="ctr" defTabSz="1371600">
              <a:buClr>
                <a:srgbClr val="000000"/>
              </a:buClr>
            </a:pPr>
            <a:r>
              <a:rPr lang="zh-TW" altLang="en-US" sz="1650" kern="0" dirty="0" smtClean="0">
                <a:solidFill>
                  <a:srgbClr val="000000"/>
                </a:solidFill>
                <a:latin typeface="Arial"/>
                <a:cs typeface="Arial"/>
                <a:sym typeface="Arial"/>
              </a:rPr>
              <a:t>主檔負責人</a:t>
            </a:r>
            <a:endParaRPr lang="zh-TW" altLang="en-US" sz="1650" kern="0" dirty="0">
              <a:solidFill>
                <a:srgbClr val="000000"/>
              </a:solidFill>
              <a:latin typeface="Arial"/>
              <a:cs typeface="Arial"/>
              <a:sym typeface="Arial"/>
            </a:endParaRPr>
          </a:p>
        </p:txBody>
      </p:sp>
      <p:cxnSp>
        <p:nvCxnSpPr>
          <p:cNvPr id="209" name="Straight Connector 284">
            <a:extLst>
              <a:ext uri="{FF2B5EF4-FFF2-40B4-BE49-F238E27FC236}">
                <a16:creationId xmlns:a16="http://schemas.microsoft.com/office/drawing/2014/main" xmlns="" id="{CCB3D035-826A-6F8E-1D15-1A3E96F62413}"/>
              </a:ext>
            </a:extLst>
          </p:cNvPr>
          <p:cNvCxnSpPr>
            <a:cxnSpLocks/>
          </p:cNvCxnSpPr>
          <p:nvPr/>
        </p:nvCxnSpPr>
        <p:spPr>
          <a:xfrm>
            <a:off x="5894373" y="1427230"/>
            <a:ext cx="0" cy="8615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a16="http://schemas.microsoft.com/office/drawing/2014/main" xmlns="" id="{306A0461-FB0A-6B8E-26F4-F4121B822258}"/>
              </a:ext>
            </a:extLst>
          </p:cNvPr>
          <p:cNvSpPr txBox="1"/>
          <p:nvPr/>
        </p:nvSpPr>
        <p:spPr>
          <a:xfrm>
            <a:off x="5581355" y="1380008"/>
            <a:ext cx="4489581" cy="346249"/>
          </a:xfrm>
          <a:prstGeom prst="rect">
            <a:avLst/>
          </a:prstGeom>
          <a:noFill/>
        </p:spPr>
        <p:txBody>
          <a:bodyPr wrap="square" rtlCol="0">
            <a:spAutoFit/>
          </a:bodyPr>
          <a:lstStyle/>
          <a:p>
            <a:pPr algn="ctr" defTabSz="1371600">
              <a:buClr>
                <a:srgbClr val="000000"/>
              </a:buClr>
            </a:pP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開發主管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報價主管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廠區主管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採購主管</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80627" y="1787683"/>
            <a:ext cx="3594197" cy="3139321"/>
          </a:xfrm>
          <a:prstGeom prst="rect">
            <a:avLst/>
          </a:prstGeom>
          <a:noFill/>
        </p:spPr>
        <p:txBody>
          <a:bodyPr wrap="square" rtlCol="0">
            <a:spAutoFit/>
          </a:bodyPr>
          <a:lstStyle/>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線外進行詢價，將取得的價格整理成轉檔可用的格式。</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在</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發起簽核，並且將</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EXCEL</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作為附件</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主管進</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系統進行價格簽核</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經主管簽核的價格</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，主檔負責人進行</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資料上載，產生</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更新價格主檔</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a:t>
            </a:r>
            <a:endPar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pP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各類價格主檔負責人</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a:t>
            </a:r>
          </a:p>
          <a:p>
            <a:pPr marL="342900" indent="-342900" defTabSz="1371600">
              <a:buClr>
                <a:srgbClr val="000000"/>
              </a:buClr>
            </a:pP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製程委外</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各廠開發</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生管 主管</a:t>
            </a:r>
            <a:endPar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pP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原物料</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各廠採購主管</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64" name="Google Shape;198;p3"/>
          <p:cNvSpPr txBox="1">
            <a:spLocks/>
          </p:cNvSpPr>
          <p:nvPr/>
        </p:nvSpPr>
        <p:spPr>
          <a:xfrm>
            <a:off x="15575496" y="514422"/>
            <a:ext cx="622445" cy="18770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5</a:t>
            </a:r>
          </a:p>
        </p:txBody>
      </p:sp>
      <p:sp>
        <p:nvSpPr>
          <p:cNvPr id="65" name="流程圖: 結束點 8">
            <a:extLst>
              <a:ext uri="{FF2B5EF4-FFF2-40B4-BE49-F238E27FC236}">
                <a16:creationId xmlns:a16="http://schemas.microsoft.com/office/drawing/2014/main" xmlns="" id="{1FB9514E-6261-C7AC-D58E-6A5F2E6F81FD}"/>
              </a:ext>
            </a:extLst>
          </p:cNvPr>
          <p:cNvSpPr/>
          <p:nvPr/>
        </p:nvSpPr>
        <p:spPr bwMode="auto">
          <a:xfrm>
            <a:off x="12142197" y="8258727"/>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結束</a:t>
            </a:r>
          </a:p>
        </p:txBody>
      </p:sp>
      <p:graphicFrame>
        <p:nvGraphicFramePr>
          <p:cNvPr id="70" name="表格 30">
            <a:extLst>
              <a:ext uri="{FF2B5EF4-FFF2-40B4-BE49-F238E27FC236}">
                <a16:creationId xmlns:a16="http://schemas.microsoft.com/office/drawing/2014/main" xmlns="" id="{B170150C-8B19-3A81-F73A-3BD17FC81099}"/>
              </a:ext>
            </a:extLst>
          </p:cNvPr>
          <p:cNvGraphicFramePr>
            <a:graphicFrameLocks noGrp="1"/>
          </p:cNvGraphicFramePr>
          <p:nvPr/>
        </p:nvGraphicFramePr>
        <p:xfrm>
          <a:off x="3242313" y="2186968"/>
          <a:ext cx="1797832" cy="1336712"/>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66351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整理價格成</a:t>
                      </a:r>
                      <a:r>
                        <a:rPr kumimoji="0" lang="en-US" altLang="zh-TW" sz="1500" dirty="0">
                          <a:latin typeface="微軟正黑體" panose="020B0604030504040204" pitchFamily="34" charset="-120"/>
                          <a:ea typeface="微軟正黑體" panose="020B0604030504040204" pitchFamily="34" charset="-120"/>
                        </a:rPr>
                        <a:t>EXCEL</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EXCEL</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71" name="肘形接點 68">
            <a:extLst>
              <a:ext uri="{FF2B5EF4-FFF2-40B4-BE49-F238E27FC236}">
                <a16:creationId xmlns:a16="http://schemas.microsoft.com/office/drawing/2014/main" xmlns="" id="{1F269962-9872-BEFF-C024-06082A04A1FB}"/>
              </a:ext>
            </a:extLst>
          </p:cNvPr>
          <p:cNvCxnSpPr>
            <a:cxnSpLocks/>
            <a:stCxn id="87" idx="3"/>
            <a:endCxn id="70" idx="1"/>
          </p:cNvCxnSpPr>
          <p:nvPr/>
        </p:nvCxnSpPr>
        <p:spPr>
          <a:xfrm>
            <a:off x="2098550" y="2853623"/>
            <a:ext cx="1143763" cy="170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81" name="Group 220">
            <a:extLst>
              <a:ext uri="{FF2B5EF4-FFF2-40B4-BE49-F238E27FC236}">
                <a16:creationId xmlns:a16="http://schemas.microsoft.com/office/drawing/2014/main" xmlns="" id="{2CE5E1E5-9C9F-7BAB-86CC-2C4863BAD87E}"/>
              </a:ext>
            </a:extLst>
          </p:cNvPr>
          <p:cNvGrpSpPr/>
          <p:nvPr/>
        </p:nvGrpSpPr>
        <p:grpSpPr>
          <a:xfrm>
            <a:off x="4773876" y="1979481"/>
            <a:ext cx="543519" cy="415761"/>
            <a:chOff x="5906472" y="1486857"/>
            <a:chExt cx="362346" cy="272361"/>
          </a:xfrm>
        </p:grpSpPr>
        <p:sp>
          <p:nvSpPr>
            <p:cNvPr id="82" name="Oval 221">
              <a:extLst>
                <a:ext uri="{FF2B5EF4-FFF2-40B4-BE49-F238E27FC236}">
                  <a16:creationId xmlns:a16="http://schemas.microsoft.com/office/drawing/2014/main" xmlns="" id="{35F30483-1697-3276-F2A0-A7A3D1EEA05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83" name="TextBox 222">
              <a:extLst>
                <a:ext uri="{FF2B5EF4-FFF2-40B4-BE49-F238E27FC236}">
                  <a16:creationId xmlns:a16="http://schemas.microsoft.com/office/drawing/2014/main" xmlns="" id="{E462588F-210F-703E-FD79-63681E684E55}"/>
                </a:ext>
              </a:extLst>
            </p:cNvPr>
            <p:cNvSpPr txBox="1"/>
            <p:nvPr/>
          </p:nvSpPr>
          <p:spPr>
            <a:xfrm>
              <a:off x="5913218" y="1500167"/>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
        <p:nvSpPr>
          <p:cNvPr id="87" name="流程圖: 結束點 8">
            <a:extLst>
              <a:ext uri="{FF2B5EF4-FFF2-40B4-BE49-F238E27FC236}">
                <a16:creationId xmlns:a16="http://schemas.microsoft.com/office/drawing/2014/main" xmlns="" id="{D2E12955-560A-7F56-9F37-CD0BB6F49967}"/>
              </a:ext>
            </a:extLst>
          </p:cNvPr>
          <p:cNvSpPr/>
          <p:nvPr/>
        </p:nvSpPr>
        <p:spPr bwMode="auto">
          <a:xfrm>
            <a:off x="300719" y="246240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開始</a:t>
            </a:r>
          </a:p>
        </p:txBody>
      </p:sp>
      <p:graphicFrame>
        <p:nvGraphicFramePr>
          <p:cNvPr id="93" name="表格 30">
            <a:extLst>
              <a:ext uri="{FF2B5EF4-FFF2-40B4-BE49-F238E27FC236}">
                <a16:creationId xmlns:a16="http://schemas.microsoft.com/office/drawing/2014/main" xmlns="" id="{DD4D6B14-D3B2-B7AE-AA9C-20D4B4848A80}"/>
              </a:ext>
            </a:extLst>
          </p:cNvPr>
          <p:cNvGraphicFramePr>
            <a:graphicFrameLocks noGrp="1"/>
          </p:cNvGraphicFramePr>
          <p:nvPr/>
        </p:nvGraphicFramePr>
        <p:xfrm>
          <a:off x="7198347" y="4539292"/>
          <a:ext cx="1797832" cy="103586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62669">
                <a:tc gridSpan="2">
                  <a:txBody>
                    <a:bodyPr/>
                    <a:lstStyle/>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98" name="肘形接點 68">
            <a:extLst>
              <a:ext uri="{FF2B5EF4-FFF2-40B4-BE49-F238E27FC236}">
                <a16:creationId xmlns:a16="http://schemas.microsoft.com/office/drawing/2014/main" xmlns="" id="{4D315B82-E1CA-313C-D4BB-3BBD9FD7F973}"/>
              </a:ext>
            </a:extLst>
          </p:cNvPr>
          <p:cNvCxnSpPr>
            <a:cxnSpLocks/>
            <a:stCxn id="70" idx="2"/>
            <a:endCxn id="102" idx="0"/>
          </p:cNvCxnSpPr>
          <p:nvPr/>
        </p:nvCxnSpPr>
        <p:spPr>
          <a:xfrm rot="16200000" flipH="1">
            <a:off x="3679379" y="3985530"/>
            <a:ext cx="923771" cy="7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11" name="肘形接點 68">
            <a:extLst>
              <a:ext uri="{FF2B5EF4-FFF2-40B4-BE49-F238E27FC236}">
                <a16:creationId xmlns:a16="http://schemas.microsoft.com/office/drawing/2014/main" xmlns="" id="{4D315B82-E1CA-313C-D4BB-3BBD9FD7F973}"/>
              </a:ext>
            </a:extLst>
          </p:cNvPr>
          <p:cNvCxnSpPr>
            <a:cxnSpLocks/>
            <a:stCxn id="93" idx="2"/>
            <a:endCxn id="112" idx="0"/>
          </p:cNvCxnSpPr>
          <p:nvPr/>
        </p:nvCxnSpPr>
        <p:spPr>
          <a:xfrm rot="5400000">
            <a:off x="7715371" y="5955573"/>
            <a:ext cx="762304" cy="148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2" name="流程圖: 決策 50">
            <a:extLst>
              <a:ext uri="{FF2B5EF4-FFF2-40B4-BE49-F238E27FC236}">
                <a16:creationId xmlns:a16="http://schemas.microsoft.com/office/drawing/2014/main" xmlns="" id="{8037CA89-DBE3-1441-8E4C-7EA04E993D61}"/>
              </a:ext>
            </a:extLst>
          </p:cNvPr>
          <p:cNvSpPr/>
          <p:nvPr/>
        </p:nvSpPr>
        <p:spPr bwMode="auto">
          <a:xfrm>
            <a:off x="7174808" y="633746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核淮</a:t>
            </a:r>
          </a:p>
        </p:txBody>
      </p:sp>
      <p:cxnSp>
        <p:nvCxnSpPr>
          <p:cNvPr id="113" name="肘形接點 68">
            <a:extLst>
              <a:ext uri="{FF2B5EF4-FFF2-40B4-BE49-F238E27FC236}">
                <a16:creationId xmlns:a16="http://schemas.microsoft.com/office/drawing/2014/main" xmlns="" id="{2AC129F8-586D-89C1-4F65-FC6AD0B816BA}"/>
              </a:ext>
            </a:extLst>
          </p:cNvPr>
          <p:cNvCxnSpPr>
            <a:cxnSpLocks/>
            <a:stCxn id="112" idx="2"/>
            <a:endCxn id="65" idx="1"/>
          </p:cNvCxnSpPr>
          <p:nvPr/>
        </p:nvCxnSpPr>
        <p:spPr>
          <a:xfrm rot="16200000" flipH="1">
            <a:off x="9318848" y="5826599"/>
            <a:ext cx="1600284" cy="404641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14" name="文字方塊 113">
            <a:extLst>
              <a:ext uri="{FF2B5EF4-FFF2-40B4-BE49-F238E27FC236}">
                <a16:creationId xmlns:a16="http://schemas.microsoft.com/office/drawing/2014/main" xmlns="" id="{7BDD8B3B-9FC5-B431-B92A-CADEB291222C}"/>
              </a:ext>
            </a:extLst>
          </p:cNvPr>
          <p:cNvSpPr txBox="1"/>
          <p:nvPr/>
        </p:nvSpPr>
        <p:spPr>
          <a:xfrm>
            <a:off x="8095782" y="7349087"/>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cxnSp>
        <p:nvCxnSpPr>
          <p:cNvPr id="115" name="肘形接點 114">
            <a:extLst>
              <a:ext uri="{FF2B5EF4-FFF2-40B4-BE49-F238E27FC236}">
                <a16:creationId xmlns:a16="http://schemas.microsoft.com/office/drawing/2014/main" xmlns="" id="{3C63507D-83FD-0025-3EF4-B6F87A20780B}"/>
              </a:ext>
            </a:extLst>
          </p:cNvPr>
          <p:cNvCxnSpPr>
            <a:cxnSpLocks/>
            <a:stCxn id="112" idx="3"/>
            <a:endCxn id="116" idx="1"/>
          </p:cNvCxnSpPr>
          <p:nvPr/>
        </p:nvCxnSpPr>
        <p:spPr>
          <a:xfrm flipV="1">
            <a:off x="9016757" y="6686357"/>
            <a:ext cx="888165" cy="72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16" name="表格 115">
            <a:extLst>
              <a:ext uri="{FF2B5EF4-FFF2-40B4-BE49-F238E27FC236}">
                <a16:creationId xmlns:a16="http://schemas.microsoft.com/office/drawing/2014/main" xmlns="" id="{A9916CAA-93B0-6FE4-E43A-A62C5E0108B3}"/>
              </a:ext>
            </a:extLst>
          </p:cNvPr>
          <p:cNvGraphicFramePr>
            <a:graphicFrameLocks noGrp="1"/>
          </p:cNvGraphicFramePr>
          <p:nvPr/>
        </p:nvGraphicFramePr>
        <p:xfrm>
          <a:off x="9904922" y="6189077"/>
          <a:ext cx="1797834" cy="1207920"/>
        </p:xfrm>
        <a:graphic>
          <a:graphicData uri="http://schemas.openxmlformats.org/drawingml/2006/table">
            <a:tbl>
              <a:tblPr>
                <a:tableStyleId>{5940675A-B579-460E-94D1-54222C63F5DA}</a:tableStyleId>
              </a:tblPr>
              <a:tblGrid>
                <a:gridCol w="898917">
                  <a:extLst>
                    <a:ext uri="{9D8B030D-6E8A-4147-A177-3AD203B41FA5}">
                      <a16:colId xmlns:a16="http://schemas.microsoft.com/office/drawing/2014/main" xmlns="" val="3433979995"/>
                    </a:ext>
                  </a:extLst>
                </a:gridCol>
                <a:gridCol w="898917">
                  <a:extLst>
                    <a:ext uri="{9D8B030D-6E8A-4147-A177-3AD203B41FA5}">
                      <a16:colId xmlns:a16="http://schemas.microsoft.com/office/drawing/2014/main" xmlns="" val="3727974752"/>
                    </a:ext>
                  </a:extLst>
                </a:gridCol>
              </a:tblGrid>
              <a:tr h="313740">
                <a:tc gridSpan="2">
                  <a:txBody>
                    <a:bodyPr/>
                    <a:lstStyle/>
                    <a:p>
                      <a:pPr marR="0" algn="ctr" rtl="0">
                        <a:lnSpc>
                          <a:spcPct val="100000"/>
                        </a:lnSpc>
                        <a:spcBef>
                          <a:spcPts val="0"/>
                        </a:spcBef>
                        <a:spcAft>
                          <a:spcPts val="0"/>
                        </a:spcAft>
                        <a:buClr>
                          <a:srgbClr val="000000"/>
                        </a:buClr>
                        <a:buFont typeface="Arial"/>
                      </a:pPr>
                      <a:r>
                        <a:rPr lang="en-GB" altLang="zh-TW" sz="1400" b="1" i="0" u="none" strike="noStrike" cap="none" dirty="0" smtClean="0">
                          <a:solidFill>
                            <a:schemeClr val="tx1"/>
                          </a:solidFill>
                          <a:latin typeface="微軟正黑體" panose="020B0604030504040204" pitchFamily="34" charset="-120"/>
                          <a:ea typeface="微軟正黑體" panose="020B0604030504040204" pitchFamily="34" charset="-120"/>
                          <a:cs typeface="+mn-cs"/>
                          <a:sym typeface="Arial"/>
                        </a:rPr>
                        <a:t>ZMM068/ZMM068A/ZMM_INFO_REC</a:t>
                      </a:r>
                      <a:endPar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更新價格主檔</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120" name="文字方塊 119">
            <a:extLst>
              <a:ext uri="{FF2B5EF4-FFF2-40B4-BE49-F238E27FC236}">
                <a16:creationId xmlns:a16="http://schemas.microsoft.com/office/drawing/2014/main" xmlns="" id="{B106DB5A-3C2B-C42B-E706-9F53E0CA364F}"/>
              </a:ext>
            </a:extLst>
          </p:cNvPr>
          <p:cNvSpPr txBox="1"/>
          <p:nvPr/>
        </p:nvSpPr>
        <p:spPr>
          <a:xfrm>
            <a:off x="9049974" y="6172741"/>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cxnSp>
        <p:nvCxnSpPr>
          <p:cNvPr id="123" name="肘形接點 68">
            <a:extLst>
              <a:ext uri="{FF2B5EF4-FFF2-40B4-BE49-F238E27FC236}">
                <a16:creationId xmlns:a16="http://schemas.microsoft.com/office/drawing/2014/main" xmlns="" id="{C281F9E5-062E-6CF7-3B9B-4BE895A2802B}"/>
              </a:ext>
            </a:extLst>
          </p:cNvPr>
          <p:cNvCxnSpPr>
            <a:cxnSpLocks/>
            <a:stCxn id="116" idx="3"/>
            <a:endCxn id="65" idx="0"/>
          </p:cNvCxnSpPr>
          <p:nvPr/>
        </p:nvCxnSpPr>
        <p:spPr>
          <a:xfrm>
            <a:off x="11702756" y="6686357"/>
            <a:ext cx="1338357" cy="157237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90" name="Group 220">
            <a:extLst>
              <a:ext uri="{FF2B5EF4-FFF2-40B4-BE49-F238E27FC236}">
                <a16:creationId xmlns:a16="http://schemas.microsoft.com/office/drawing/2014/main" xmlns="" id="{ADD1546F-75A2-0E22-F66E-32DFDB0DE746}"/>
              </a:ext>
            </a:extLst>
          </p:cNvPr>
          <p:cNvGrpSpPr/>
          <p:nvPr/>
        </p:nvGrpSpPr>
        <p:grpSpPr>
          <a:xfrm>
            <a:off x="8782755" y="4350173"/>
            <a:ext cx="533400" cy="415761"/>
            <a:chOff x="5906184" y="1486857"/>
            <a:chExt cx="355600" cy="272361"/>
          </a:xfrm>
        </p:grpSpPr>
        <p:sp>
          <p:nvSpPr>
            <p:cNvPr id="91"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92" name="TextBox 222">
              <a:extLst>
                <a:ext uri="{FF2B5EF4-FFF2-40B4-BE49-F238E27FC236}">
                  <a16:creationId xmlns:a16="http://schemas.microsoft.com/office/drawing/2014/main" xmlns="" id="{454E1CB9-6ED4-AD5A-39EC-6D1B324BA26E}"/>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3</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108" name="Group 220">
            <a:extLst>
              <a:ext uri="{FF2B5EF4-FFF2-40B4-BE49-F238E27FC236}">
                <a16:creationId xmlns:a16="http://schemas.microsoft.com/office/drawing/2014/main" xmlns="" id="{4D95C288-6714-454D-9546-9695181783C4}"/>
              </a:ext>
            </a:extLst>
          </p:cNvPr>
          <p:cNvGrpSpPr/>
          <p:nvPr/>
        </p:nvGrpSpPr>
        <p:grpSpPr>
          <a:xfrm>
            <a:off x="11450396" y="5926990"/>
            <a:ext cx="578018" cy="415761"/>
            <a:chOff x="5906183" y="1486857"/>
            <a:chExt cx="385345" cy="272361"/>
          </a:xfrm>
        </p:grpSpPr>
        <p:sp>
          <p:nvSpPr>
            <p:cNvPr id="109" name="Oval 221">
              <a:extLst>
                <a:ext uri="{FF2B5EF4-FFF2-40B4-BE49-F238E27FC236}">
                  <a16:creationId xmlns:a16="http://schemas.microsoft.com/office/drawing/2014/main" xmlns="" id="{72A2B63D-65EC-C074-FCB6-69461905F4E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110" name="TextBox 222">
              <a:extLst>
                <a:ext uri="{FF2B5EF4-FFF2-40B4-BE49-F238E27FC236}">
                  <a16:creationId xmlns:a16="http://schemas.microsoft.com/office/drawing/2014/main" xmlns="" id="{2AF4E12C-BB56-86F1-9004-5DA2FF03B867}"/>
                </a:ext>
              </a:extLst>
            </p:cNvPr>
            <p:cNvSpPr txBox="1"/>
            <p:nvPr/>
          </p:nvSpPr>
          <p:spPr>
            <a:xfrm>
              <a:off x="5906183" y="1507079"/>
              <a:ext cx="385345"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4</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aphicFrame>
        <p:nvGraphicFramePr>
          <p:cNvPr id="102"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3316170" y="4447451"/>
          <a:ext cx="1650258" cy="1223160"/>
        </p:xfrm>
        <a:graphic>
          <a:graphicData uri="http://schemas.openxmlformats.org/drawingml/2006/table">
            <a:tbl>
              <a:tblPr>
                <a:tableStyleId>{5940675A-B579-460E-94D1-54222C63F5DA}</a:tableStyleId>
              </a:tblPr>
              <a:tblGrid>
                <a:gridCol w="825129">
                  <a:extLst>
                    <a:ext uri="{9D8B030D-6E8A-4147-A177-3AD203B41FA5}">
                      <a16:colId xmlns:a16="http://schemas.microsoft.com/office/drawing/2014/main" xmlns="" val="3433979995"/>
                    </a:ext>
                  </a:extLst>
                </a:gridCol>
                <a:gridCol w="825129">
                  <a:extLst>
                    <a:ext uri="{9D8B030D-6E8A-4147-A177-3AD203B41FA5}">
                      <a16:colId xmlns:a16="http://schemas.microsoft.com/office/drawing/2014/main" xmlns="" val="3727974752"/>
                    </a:ext>
                  </a:extLst>
                </a:gridCol>
              </a:tblGrid>
              <a:tr h="313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在</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上發起簽核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03" name="Group 220">
            <a:extLst>
              <a:ext uri="{FF2B5EF4-FFF2-40B4-BE49-F238E27FC236}">
                <a16:creationId xmlns:a16="http://schemas.microsoft.com/office/drawing/2014/main" xmlns="" id="{0B79EBBA-F242-48C7-ECC3-55BEDF3FDDA8}"/>
              </a:ext>
            </a:extLst>
          </p:cNvPr>
          <p:cNvGrpSpPr/>
          <p:nvPr/>
        </p:nvGrpSpPr>
        <p:grpSpPr>
          <a:xfrm>
            <a:off x="4770212" y="4231360"/>
            <a:ext cx="533400" cy="415761"/>
            <a:chOff x="5906184" y="1486857"/>
            <a:chExt cx="355600" cy="272361"/>
          </a:xfrm>
        </p:grpSpPr>
        <p:sp>
          <p:nvSpPr>
            <p:cNvPr id="104"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000000"/>
                </a:solidFill>
                <a:latin typeface="Arial"/>
                <a:ea typeface="新細明體" panose="02020500000000000000" pitchFamily="18" charset="-120"/>
                <a:sym typeface="Arial"/>
              </a:endParaRPr>
            </a:p>
          </p:txBody>
        </p:sp>
        <p:sp>
          <p:nvSpPr>
            <p:cNvPr id="105" name="TextBox 222">
              <a:extLst>
                <a:ext uri="{FF2B5EF4-FFF2-40B4-BE49-F238E27FC236}">
                  <a16:creationId xmlns:a16="http://schemas.microsoft.com/office/drawing/2014/main" xmlns="" id="{7751ACA8-5935-4AA1-4521-923760069DB5}"/>
                </a:ext>
              </a:extLst>
            </p:cNvPr>
            <p:cNvSpPr txBox="1"/>
            <p:nvPr/>
          </p:nvSpPr>
          <p:spPr>
            <a:xfrm>
              <a:off x="5906184"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2</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106" name="肘形接點 68">
            <a:extLst>
              <a:ext uri="{FF2B5EF4-FFF2-40B4-BE49-F238E27FC236}">
                <a16:creationId xmlns:a16="http://schemas.microsoft.com/office/drawing/2014/main" xmlns="" id="{4D315B82-E1CA-313C-D4BB-3BBD9FD7F973}"/>
              </a:ext>
            </a:extLst>
          </p:cNvPr>
          <p:cNvCxnSpPr>
            <a:cxnSpLocks/>
            <a:stCxn id="102" idx="3"/>
            <a:endCxn id="93" idx="1"/>
          </p:cNvCxnSpPr>
          <p:nvPr/>
        </p:nvCxnSpPr>
        <p:spPr>
          <a:xfrm flipV="1">
            <a:off x="4966428" y="5057226"/>
            <a:ext cx="2231919" cy="180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40354445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pPr defTabSz="1371600">
              <a:buClr>
                <a:srgbClr val="000000"/>
              </a:buClr>
            </a:pPr>
            <a:r>
              <a:rPr lang="en-US" sz="2400" kern="0" dirty="0" err="1">
                <a:solidFill>
                  <a:srgbClr val="000000"/>
                </a:solidFill>
                <a:latin typeface="Arial"/>
                <a:ea typeface="Arial"/>
                <a:cs typeface="Arial"/>
                <a:sym typeface="Arial"/>
              </a:rPr>
              <a:t>流程補充說明</a:t>
            </a:r>
            <a:r>
              <a:rPr lang="en-US" sz="2400" kern="0" dirty="0">
                <a:solidFill>
                  <a:srgbClr val="000000"/>
                </a:solidFill>
                <a:latin typeface="Arial"/>
                <a:ea typeface="Arial"/>
                <a:cs typeface="Arial"/>
                <a:sym typeface="Arial"/>
              </a:rPr>
              <a:t>: </a:t>
            </a:r>
            <a:endParaRPr sz="2100" kern="0" dirty="0">
              <a:solidFill>
                <a:srgbClr val="000000"/>
              </a:solidFill>
              <a:latin typeface="Arial"/>
              <a:cs typeface="Arial"/>
              <a:sym typeface="Arial"/>
            </a:endParaRPr>
          </a:p>
          <a:p>
            <a:pPr defTabSz="1371600">
              <a:buClr>
                <a:srgbClr val="000000"/>
              </a:buClr>
            </a:pPr>
            <a:endParaRPr kern="0" dirty="0">
              <a:solidFill>
                <a:srgbClr val="000000"/>
              </a:solidFill>
              <a:latin typeface="Arial"/>
              <a:ea typeface="Arial"/>
              <a:cs typeface="Arial"/>
              <a:sym typeface="Arial"/>
            </a:endParaRPr>
          </a:p>
        </p:txBody>
      </p:sp>
      <p:sp>
        <p:nvSpPr>
          <p:cNvPr id="4" name="TextBox 53">
            <a:extLst>
              <a:ext uri="{FF2B5EF4-FFF2-40B4-BE49-F238E27FC236}">
                <a16:creationId xmlns:a16="http://schemas.microsoft.com/office/drawing/2014/main" xmlns="" id="{DF940026-96D7-3867-6425-C228DF3D29BF}"/>
              </a:ext>
            </a:extLst>
          </p:cNvPr>
          <p:cNvSpPr txBox="1"/>
          <p:nvPr/>
        </p:nvSpPr>
        <p:spPr>
          <a:xfrm>
            <a:off x="369737" y="2243536"/>
            <a:ext cx="17378475" cy="707886"/>
          </a:xfrm>
          <a:prstGeom prst="rect">
            <a:avLst/>
          </a:prstGeom>
          <a:noFill/>
        </p:spPr>
        <p:txBody>
          <a:bodyPr wrap="square" rtlCol="0">
            <a:spAutoFit/>
          </a:bodyPr>
          <a:lstStyle/>
          <a:p>
            <a:pPr defTabSz="1371600">
              <a:buClr>
                <a:srgbClr val="000000"/>
              </a:buClr>
            </a:pP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1</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、針對加入</a:t>
            </a: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平台作交期</a:t>
            </a: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價格回覆的廠商，在供應商主檔上作標示</a:t>
            </a: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輸入在「按供應商的訂單輸入」欄位</a:t>
            </a: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SAP</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到</a:t>
            </a: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DS B2B </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的界面程式將以此判斷是否還需要另外印出詢價單</a:t>
            </a:r>
            <a:r>
              <a:rPr lang="en-US" altLang="zh-TW" sz="2000"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000" kern="0" dirty="0">
                <a:solidFill>
                  <a:srgbClr val="000000"/>
                </a:solidFill>
                <a:latin typeface="微軟正黑體" panose="020B0604030504040204" pitchFamily="34" charset="-120"/>
                <a:ea typeface="微軟正黑體" panose="020B0604030504040204" pitchFamily="34" charset="-120"/>
                <a:cs typeface="Arial"/>
                <a:sym typeface="Arial"/>
              </a:rPr>
              <a:t>採購單文件給予廠商</a:t>
            </a:r>
          </a:p>
        </p:txBody>
      </p:sp>
      <p:sp>
        <p:nvSpPr>
          <p:cNvPr id="5" name="Google Shape;198;p3"/>
          <p:cNvSpPr txBox="1">
            <a:spLocks/>
          </p:cNvSpPr>
          <p:nvPr/>
        </p:nvSpPr>
        <p:spPr>
          <a:xfrm>
            <a:off x="15602577" y="548280"/>
            <a:ext cx="987251" cy="170178"/>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6</a:t>
            </a:r>
          </a:p>
        </p:txBody>
      </p:sp>
      <p:sp>
        <p:nvSpPr>
          <p:cNvPr id="6" name="文字方塊 5">
            <a:extLst>
              <a:ext uri="{FF2B5EF4-FFF2-40B4-BE49-F238E27FC236}">
                <a16:creationId xmlns:a16="http://schemas.microsoft.com/office/drawing/2014/main" xmlns="" id="{83E6F622-2FBE-CC67-50FE-4ABD7D8B9696}"/>
              </a:ext>
            </a:extLst>
          </p:cNvPr>
          <p:cNvSpPr txBox="1"/>
          <p:nvPr/>
        </p:nvSpPr>
        <p:spPr>
          <a:xfrm>
            <a:off x="2432960" y="820877"/>
            <a:ext cx="10920433" cy="461665"/>
          </a:xfrm>
          <a:prstGeom prst="rect">
            <a:avLst/>
          </a:prstGeom>
          <a:noFill/>
        </p:spPr>
        <p:txBody>
          <a:bodyPr wrap="square">
            <a:spAutoFit/>
          </a:bodyPr>
          <a:lstStyle/>
          <a:p>
            <a:pPr defTabSz="1371600" eaLnBrk="0" hangingPunct="0">
              <a:buClr>
                <a:srgbClr val="000000"/>
              </a:buClr>
            </a:pPr>
            <a:r>
              <a:rPr lang="en-US" altLang="zh-TW" sz="2400" b="1" kern="0" dirty="0" smtClean="0">
                <a:solidFill>
                  <a:srgbClr val="000000"/>
                </a:solidFill>
                <a:latin typeface="微軟正黑體" panose="020B0604030504040204" pitchFamily="34" charset="-120"/>
                <a:ea typeface="微軟正黑體" panose="020B0604030504040204" pitchFamily="34" charset="-120"/>
                <a:cs typeface="Arial"/>
                <a:sym typeface="Arial"/>
              </a:rPr>
              <a:t>MM-PU-0010</a:t>
            </a:r>
            <a:r>
              <a:rPr lang="zh-TW" altLang="en-US" sz="2400" b="1" dirty="0" smtClean="0">
                <a:latin typeface="微軟正黑體" panose="020B0604030504040204" pitchFamily="34" charset="-120"/>
                <a:ea typeface="微軟正黑體" panose="020B0604030504040204" pitchFamily="34" charset="-120"/>
              </a:rPr>
              <a:t>詢報價更新價格主檔流程</a:t>
            </a:r>
            <a:endPar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Tree>
    <p:extLst>
      <p:ext uri="{BB962C8B-B14F-4D97-AF65-F5344CB8AC3E}">
        <p14:creationId xmlns:p14="http://schemas.microsoft.com/office/powerpoint/2010/main" xmlns="" val="1932078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6730180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a16="http://schemas.microsoft.com/office/drawing/2014/main" xmlns=""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a16="http://schemas.microsoft.com/office/drawing/2014/main" xmlns=""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a16="http://schemas.microsoft.com/office/drawing/2014/main" xmlns=""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a16="http://schemas.microsoft.com/office/drawing/2014/main" xmlns=""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a16="http://schemas.microsoft.com/office/drawing/2014/main" xmlns=""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a16="http://schemas.microsoft.com/office/drawing/2014/main" xmlns=""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11" name="流程圖: 預設處理作業 21">
            <a:extLst>
              <a:ext uri="{FF2B5EF4-FFF2-40B4-BE49-F238E27FC236}">
                <a16:creationId xmlns:a16="http://schemas.microsoft.com/office/drawing/2014/main" xmlns=""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a16="http://schemas.microsoft.com/office/drawing/2014/main" xmlns=""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a16="http://schemas.microsoft.com/office/drawing/2014/main" xmlns=""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a16="http://schemas.microsoft.com/office/drawing/2014/main" xmlns=""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a16="http://schemas.microsoft.com/office/drawing/2014/main" xmlns=""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a16="http://schemas.microsoft.com/office/drawing/2014/main" xmlns=""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a16="http://schemas.microsoft.com/office/drawing/2014/main" xmlns=""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a16="http://schemas.microsoft.com/office/drawing/2014/main" xmlns=""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a16="http://schemas.microsoft.com/office/drawing/2014/main" xmlns=""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a16="http://schemas.microsoft.com/office/drawing/2014/main" xmlns=""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a16="http://schemas.microsoft.com/office/drawing/2014/main" xmlns=""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a16="http://schemas.microsoft.com/office/drawing/2014/main" xmlns=""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a16="http://schemas.microsoft.com/office/drawing/2014/main" xmlns=""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7" name="Group 232">
            <a:extLst>
              <a:ext uri="{FF2B5EF4-FFF2-40B4-BE49-F238E27FC236}">
                <a16:creationId xmlns:a16="http://schemas.microsoft.com/office/drawing/2014/main" xmlns=""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a16="http://schemas.microsoft.com/office/drawing/2014/main" xmlns=""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a16="http://schemas.microsoft.com/office/drawing/2014/main" xmlns=""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a16="http://schemas.microsoft.com/office/drawing/2014/main" xmlns=""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a16="http://schemas.microsoft.com/office/drawing/2014/main" xmlns=""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a16="http://schemas.microsoft.com/office/drawing/2014/main" xmlns=""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a16="http://schemas.microsoft.com/office/drawing/2014/main" xmlns=""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a16="http://schemas.microsoft.com/office/drawing/2014/main" xmlns=""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a16="http://schemas.microsoft.com/office/drawing/2014/main" xmlns=""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a16="http://schemas.microsoft.com/office/drawing/2014/main" xmlns=""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a16="http://schemas.microsoft.com/office/drawing/2014/main" xmlns=""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p14="http://schemas.microsoft.com/office/powerpoint/2010/main" xmlns=""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15992</TotalTime>
  <Words>1516</Words>
  <Application>Microsoft Office PowerPoint</Application>
  <PresentationFormat>自訂</PresentationFormat>
  <Paragraphs>368</Paragraphs>
  <Slides>11</Slides>
  <Notes>9</Notes>
  <HiddenSlides>0</HiddenSlides>
  <MMClips>0</MMClips>
  <ScaleCrop>false</ScaleCrop>
  <HeadingPairs>
    <vt:vector size="4" baseType="variant">
      <vt:variant>
        <vt:lpstr>佈景主題</vt:lpstr>
      </vt:variant>
      <vt:variant>
        <vt:i4>1</vt:i4>
      </vt:variant>
      <vt:variant>
        <vt:lpstr>投影片標題</vt:lpstr>
      </vt:variant>
      <vt:variant>
        <vt:i4>11</vt:i4>
      </vt:variant>
    </vt:vector>
  </HeadingPairs>
  <TitlesOfParts>
    <vt:vector size="12" baseType="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lpstr>投影片 10</vt:lpstr>
      <vt:lpstr>投影片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162</cp:revision>
  <dcterms:created xsi:type="dcterms:W3CDTF">2023-05-31T01:27:04Z</dcterms:created>
  <dcterms:modified xsi:type="dcterms:W3CDTF">2025-07-06T12:38:00Z</dcterms:modified>
</cp:coreProperties>
</file>