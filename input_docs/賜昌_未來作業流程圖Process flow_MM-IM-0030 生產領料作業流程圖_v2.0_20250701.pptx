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3"/>
  </p:notesMasterIdLst>
  <p:sldIdLst>
    <p:sldId id="256" r:id="rId6"/>
    <p:sldId id="257" r:id="rId7"/>
    <p:sldId id="258" r:id="rId8"/>
    <p:sldId id="282" r:id="rId9"/>
    <p:sldId id="284" r:id="rId10"/>
    <p:sldId id="263" r:id="rId11"/>
    <p:sldId id="264" r:id="rId12"/>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3" autoAdjust="0"/>
    <p:restoredTop sz="94688" autoAdjust="0"/>
  </p:normalViewPr>
  <p:slideViewPr>
    <p:cSldViewPr>
      <p:cViewPr>
        <p:scale>
          <a:sx n="60" d="100"/>
          <a:sy n="60" d="100"/>
        </p:scale>
        <p:origin x="-264" y="50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extLst>
      <p:ext uri="{BB962C8B-B14F-4D97-AF65-F5344CB8AC3E}">
        <p14:creationId xmlns="" xmlns:p14="http://schemas.microsoft.com/office/powerpoint/2010/main" val="4069551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3.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1"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MM-IM-0030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生產領料作業流程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smtClean="0">
                          <a:solidFill>
                            <a:schemeClr val="dk1"/>
                          </a:solidFill>
                          <a:latin typeface="Microsoft JhengHei"/>
                          <a:ea typeface="Microsoft JhengHei"/>
                        </a:rPr>
                        <a:t>DSIT</a:t>
                      </a: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smtClean="0">
                          <a:solidFill>
                            <a:schemeClr val="dk1"/>
                          </a:solidFill>
                          <a:latin typeface="Microsoft JhengHei"/>
                          <a:ea typeface="Microsoft JhengHei"/>
                        </a:rPr>
                        <a:t>Vincent</a:t>
                      </a:r>
                      <a:r>
                        <a:rPr lang="en-US" sz="1800" b="1" strike="noStrike" spc="-1" baseline="0" smtClean="0">
                          <a:solidFill>
                            <a:schemeClr val="dk1"/>
                          </a:solidFill>
                          <a:latin typeface="Microsoft JhengHei"/>
                          <a:ea typeface="Microsoft JhengHei"/>
                        </a:rPr>
                        <a:t> </a:t>
                      </a:r>
                      <a:r>
                        <a:rPr lang="en-US" sz="1800" b="1" strike="noStrike" spc="-1" baseline="0" dirty="0" smtClean="0">
                          <a:solidFill>
                            <a:schemeClr val="dk1"/>
                          </a:solidFill>
                          <a:latin typeface="Microsoft JhengHei"/>
                          <a:ea typeface="Microsoft JhengHei"/>
                        </a:rPr>
                        <a:t>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82954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spc="-1" dirty="0" smtClean="0">
                <a:solidFill>
                  <a:schemeClr val="dk1"/>
                </a:solidFill>
                <a:latin typeface="Microsoft JhengHei"/>
                <a:ea typeface="Microsoft JhengHei"/>
              </a:rPr>
              <a:t>MM-IM-0030 </a:t>
            </a:r>
            <a:r>
              <a:rPr lang="zh-TW" altLang="en-US" sz="2400" spc="-1" dirty="0" smtClean="0">
                <a:solidFill>
                  <a:schemeClr val="dk1"/>
                </a:solidFill>
                <a:latin typeface="Microsoft JhengHei"/>
                <a:ea typeface="Microsoft JhengHei"/>
              </a:rPr>
              <a:t>生產領料作業流程</a:t>
            </a:r>
            <a:endParaRPr lang="en-US" sz="2400" spc="-1" dirty="0" smtClean="0">
              <a:solidFill>
                <a:srgbClr val="000000"/>
              </a:solidFill>
            </a:endParaRPr>
          </a:p>
          <a:p>
            <a:pPr defTabSz="457200">
              <a:lnSpc>
                <a:spcPct val="100000"/>
              </a:lnSpc>
            </a:pP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a16="http://schemas.microsoft.com/office/drawing/2014/main" xmlns="" id="{1FB9514E-6261-C7AC-D58E-6A5F2E6F81FD}"/>
              </a:ext>
            </a:extLst>
          </p:cNvPr>
          <p:cNvSpPr/>
          <p:nvPr/>
        </p:nvSpPr>
        <p:spPr bwMode="auto">
          <a:xfrm>
            <a:off x="429585" y="1960200"/>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cxnSp>
        <p:nvCxnSpPr>
          <p:cNvPr id="6" name="Straight Connector 284">
            <a:extLst>
              <a:ext uri="{FF2B5EF4-FFF2-40B4-BE49-F238E27FC236}">
                <a16:creationId xmlns:a16="http://schemas.microsoft.com/office/drawing/2014/main" xmlns="" id="{9B19B4BF-9599-B835-12D9-B67512228A7B}"/>
              </a:ext>
            </a:extLst>
          </p:cNvPr>
          <p:cNvCxnSpPr>
            <a:cxnSpLocks/>
          </p:cNvCxnSpPr>
          <p:nvPr/>
        </p:nvCxnSpPr>
        <p:spPr>
          <a:xfrm>
            <a:off x="6873938" y="1375217"/>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a16="http://schemas.microsoft.com/office/drawing/2014/main" xmlns="" id="{30381EE2-3320-4812-6081-3A15B03E8B32}"/>
              </a:ext>
            </a:extLst>
          </p:cNvPr>
          <p:cNvSpPr txBox="1"/>
          <p:nvPr/>
        </p:nvSpPr>
        <p:spPr>
          <a:xfrm>
            <a:off x="14334707" y="1500956"/>
            <a:ext cx="3739043" cy="8171468"/>
          </a:xfrm>
          <a:prstGeom prst="rect">
            <a:avLst/>
          </a:prstGeom>
          <a:noFill/>
        </p:spPr>
        <p:txBody>
          <a:bodyPr wrap="square" lIns="137160" tIns="68580" rIns="137160" bIns="68580" rtlCol="0">
            <a:spAutoFit/>
          </a:bodyPr>
          <a:lstStyle/>
          <a:p>
            <a:endParaRPr lang="en-US" altLang="zh-TW" dirty="0"/>
          </a:p>
          <a:p>
            <a:pPr marL="342900" indent="-342900">
              <a:buFont typeface="+mj-lt"/>
              <a:buAutoNum type="arabicPeriod"/>
            </a:pPr>
            <a:r>
              <a:rPr lang="zh-TW" altLang="en-US" dirty="0"/>
              <a:t>生管單位依據週計畫表與實際產線完工</a:t>
            </a:r>
            <a:r>
              <a:rPr lang="zh-TW" altLang="en-US" dirty="0" smtClean="0"/>
              <a:t>情況</a:t>
            </a:r>
            <a:r>
              <a:rPr lang="en-US" altLang="zh-TW" dirty="0" smtClean="0"/>
              <a:t>, </a:t>
            </a:r>
            <a:r>
              <a:rPr lang="zh-TW" altLang="en-US" dirty="0" smtClean="0"/>
              <a:t>或補料工單需求，</a:t>
            </a:r>
            <a:r>
              <a:rPr lang="zh-TW" altLang="en-US" dirty="0"/>
              <a:t>建立分批領料單，並維護發貨時間，前</a:t>
            </a:r>
            <a:r>
              <a:rPr lang="en-US" altLang="zh-TW" dirty="0"/>
              <a:t>1~3</a:t>
            </a:r>
            <a:r>
              <a:rPr lang="zh-TW" altLang="en-US" dirty="0"/>
              <a:t>天通知倉管人員去檢貨備料</a:t>
            </a:r>
            <a:r>
              <a:rPr lang="zh-TW" altLang="en-US" dirty="0" smtClean="0"/>
              <a:t>。</a:t>
            </a:r>
            <a:endParaRPr lang="en-US" altLang="zh-TW" dirty="0"/>
          </a:p>
          <a:p>
            <a:pPr marL="342900" indent="-342900">
              <a:buFont typeface="+mj-lt"/>
              <a:buAutoNum type="arabicPeriod"/>
            </a:pPr>
            <a:r>
              <a:rPr lang="zh-TW" altLang="en-US" dirty="0"/>
              <a:t>倉庫合併領料單，集中檢貨備料，當線邊倉有庫存時須優先檢貨備料，不足時才取原料倉庫存。</a:t>
            </a:r>
            <a:endParaRPr lang="en-US" altLang="zh-TW" dirty="0"/>
          </a:p>
          <a:p>
            <a:pPr marL="342900" indent="-342900">
              <a:buFont typeface="+mj-lt"/>
              <a:buAutoNum type="arabicPeriod"/>
            </a:pPr>
            <a:r>
              <a:rPr lang="zh-TW" altLang="en-US" dirty="0" smtClean="0"/>
              <a:t>有使用</a:t>
            </a:r>
            <a:r>
              <a:rPr lang="en-US" altLang="zh-TW" dirty="0" smtClean="0"/>
              <a:t>WMS</a:t>
            </a:r>
            <a:r>
              <a:rPr lang="zh-TW" altLang="en-US" dirty="0" smtClean="0"/>
              <a:t>時，以背景程式</a:t>
            </a:r>
            <a:r>
              <a:rPr lang="en-US" altLang="zh-TW" dirty="0" smtClean="0"/>
              <a:t>ZMMI085</a:t>
            </a:r>
            <a:r>
              <a:rPr lang="zh-TW" altLang="en-US" dirty="0" smtClean="0"/>
              <a:t>把</a:t>
            </a:r>
            <a:r>
              <a:rPr lang="zh-TW" altLang="en-US" dirty="0"/>
              <a:t>檢貨備料單與生產領料資料拋給</a:t>
            </a:r>
            <a:r>
              <a:rPr lang="en-US" altLang="zh-TW" dirty="0"/>
              <a:t>WMS</a:t>
            </a:r>
            <a:r>
              <a:rPr lang="zh-TW" altLang="en-US" dirty="0" smtClean="0"/>
              <a:t>。</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以背景程式</a:t>
            </a:r>
            <a:r>
              <a:rPr lang="en-US" altLang="zh-TW" dirty="0" smtClean="0"/>
              <a:t>ZMMI086</a:t>
            </a:r>
            <a:r>
              <a:rPr lang="zh-TW" altLang="en-US" dirty="0" smtClean="0"/>
              <a:t>將</a:t>
            </a:r>
            <a:r>
              <a:rPr lang="en-US" altLang="zh-TW" dirty="0" smtClean="0"/>
              <a:t>WMS</a:t>
            </a:r>
            <a:r>
              <a:rPr lang="zh-TW" altLang="en-US" dirty="0" smtClean="0"/>
              <a:t>備料結果傳入</a:t>
            </a:r>
            <a:r>
              <a:rPr lang="en-US" altLang="zh-TW" dirty="0" smtClean="0"/>
              <a:t>SAP</a:t>
            </a:r>
            <a:r>
              <a:rPr lang="zh-TW" altLang="en-US" dirty="0" smtClean="0"/>
              <a:t>作發料過帳。</a:t>
            </a:r>
            <a:endParaRPr lang="en-US" altLang="zh-TW" dirty="0"/>
          </a:p>
          <a:p>
            <a:pPr marL="342900" indent="-342900">
              <a:buFont typeface="+mj-lt"/>
              <a:buAutoNum type="arabicPeriod"/>
            </a:pPr>
            <a:r>
              <a:rPr lang="zh-TW" altLang="en-US" dirty="0"/>
              <a:t>倉庫人員當發料需要整批</a:t>
            </a:r>
            <a:r>
              <a:rPr lang="en-US" altLang="zh-TW" dirty="0"/>
              <a:t>(</a:t>
            </a:r>
            <a:r>
              <a:rPr lang="zh-TW" altLang="en-US" dirty="0"/>
              <a:t>整桶</a:t>
            </a:r>
            <a:r>
              <a:rPr lang="en-US" altLang="zh-TW" dirty="0"/>
              <a:t>)</a:t>
            </a:r>
            <a:r>
              <a:rPr lang="zh-TW" altLang="en-US" dirty="0"/>
              <a:t>時，無法拆量時則需要把工單剩餘的餘量調撥到線邊</a:t>
            </a:r>
            <a:r>
              <a:rPr lang="zh-TW" altLang="en-US" dirty="0" smtClean="0"/>
              <a:t>倉</a:t>
            </a:r>
            <a:r>
              <a:rPr lang="en-US" altLang="zh-TW" dirty="0" smtClean="0"/>
              <a:t>;</a:t>
            </a:r>
            <a:r>
              <a:rPr lang="zh-TW" altLang="en-US" dirty="0" smtClean="0"/>
              <a:t>當</a:t>
            </a:r>
            <a:r>
              <a:rPr lang="zh-TW" altLang="en-US" dirty="0"/>
              <a:t>有啟用</a:t>
            </a:r>
            <a:r>
              <a:rPr lang="en-US" altLang="zh-TW" dirty="0"/>
              <a:t>WMS</a:t>
            </a:r>
            <a:r>
              <a:rPr lang="zh-TW" altLang="en-US" dirty="0"/>
              <a:t>系統自動計算轉到線邊倉。</a:t>
            </a:r>
            <a:endParaRPr lang="en-US" altLang="zh-TW" dirty="0"/>
          </a:p>
          <a:p>
            <a:pPr marL="342900" indent="-342900">
              <a:buFont typeface="+mj-lt"/>
              <a:buAutoNum type="arabicPeriod"/>
            </a:pPr>
            <a:r>
              <a:rPr lang="zh-TW" altLang="en-US" dirty="0"/>
              <a:t>倉庫人員依據生產領料單或</a:t>
            </a:r>
            <a:r>
              <a:rPr lang="zh-TW" altLang="en-US" dirty="0" smtClean="0"/>
              <a:t>生產補料</a:t>
            </a:r>
            <a:r>
              <a:rPr lang="zh-TW" altLang="en-US" dirty="0"/>
              <a:t>單把料件直接發到工單</a:t>
            </a:r>
            <a:r>
              <a:rPr lang="zh-TW" altLang="en-US" dirty="0" smtClean="0"/>
              <a:t>上</a:t>
            </a:r>
            <a:endParaRPr lang="en-US" altLang="zh-TW" dirty="0"/>
          </a:p>
          <a:p>
            <a:pPr marL="342900" indent="-342900">
              <a:buFont typeface="+mj-lt"/>
              <a:buAutoNum type="arabicPeriod"/>
            </a:pPr>
            <a:r>
              <a:rPr lang="en-US" altLang="zh-TW" dirty="0" smtClean="0"/>
              <a:t>ZMM046</a:t>
            </a:r>
            <a:r>
              <a:rPr lang="zh-TW" altLang="en-US" dirty="0" smtClean="0"/>
              <a:t>會自動將工單剩餘的餘量調撥到線邊倉。線邊倉需</a:t>
            </a:r>
            <a:r>
              <a:rPr lang="zh-TW" altLang="en-US" dirty="0"/>
              <a:t>定期每周或每月盤點，以確保實際庫存量與帳面量一致，差異數依據總公司規定做分攤</a:t>
            </a:r>
            <a:r>
              <a:rPr lang="zh-TW" altLang="en-US" dirty="0" smtClean="0"/>
              <a:t>。</a:t>
            </a:r>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3714382" y="1347949"/>
            <a:ext cx="1853246" cy="400110"/>
          </a:xfrm>
          <a:prstGeom prst="rect">
            <a:avLst/>
          </a:prstGeom>
          <a:noFill/>
        </p:spPr>
        <p:txBody>
          <a:bodyPr wrap="square" lIns="137160" tIns="68580" rIns="137160" bIns="68580" rtlCol="0">
            <a:spAutoFit/>
          </a:bodyPr>
          <a:lstStyle/>
          <a:p>
            <a:pPr algn="ctr"/>
            <a:r>
              <a:rPr lang="zh-TW" altLang="en-US" sz="1700" dirty="0"/>
              <a:t>生產單位</a:t>
            </a:r>
          </a:p>
        </p:txBody>
      </p:sp>
      <p:cxnSp>
        <p:nvCxnSpPr>
          <p:cNvPr id="11" name="肘形接點 68">
            <a:extLst>
              <a:ext uri="{FF2B5EF4-FFF2-40B4-BE49-F238E27FC236}">
                <a16:creationId xmlns:a16="http://schemas.microsoft.com/office/drawing/2014/main" xmlns="" id="{24024915-9D25-B9A4-2836-72F0277283A4}"/>
              </a:ext>
            </a:extLst>
          </p:cNvPr>
          <p:cNvCxnSpPr>
            <a:cxnSpLocks/>
            <a:stCxn id="2" idx="2"/>
            <a:endCxn id="14" idx="0"/>
          </p:cNvCxnSpPr>
          <p:nvPr/>
        </p:nvCxnSpPr>
        <p:spPr>
          <a:xfrm rot="5400000">
            <a:off x="1152335" y="2918417"/>
            <a:ext cx="351819" cy="51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8" name="文字方塊 17">
            <a:extLst>
              <a:ext uri="{FF2B5EF4-FFF2-40B4-BE49-F238E27FC236}">
                <a16:creationId xmlns:a16="http://schemas.microsoft.com/office/drawing/2014/main" xmlns="" id="{0F2761B4-5F29-64DD-1721-5831D073894C}"/>
              </a:ext>
            </a:extLst>
          </p:cNvPr>
          <p:cNvSpPr txBox="1"/>
          <p:nvPr/>
        </p:nvSpPr>
        <p:spPr>
          <a:xfrm>
            <a:off x="8618774" y="1384557"/>
            <a:ext cx="1853246" cy="400110"/>
          </a:xfrm>
          <a:prstGeom prst="rect">
            <a:avLst/>
          </a:prstGeom>
          <a:noFill/>
        </p:spPr>
        <p:txBody>
          <a:bodyPr wrap="square" lIns="137160" tIns="68580" rIns="137160" bIns="68580" rtlCol="0">
            <a:spAutoFit/>
          </a:bodyPr>
          <a:lstStyle/>
          <a:p>
            <a:pPr algn="ctr"/>
            <a:r>
              <a:rPr lang="zh-TW" altLang="en-US" sz="1700" dirty="0"/>
              <a:t>倉庫單位</a:t>
            </a:r>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MM-IM-0030 </a:t>
            </a:r>
            <a:r>
              <a:rPr kumimoji="0" lang="zh-TW" altLang="en-US" b="1" dirty="0" smtClean="0">
                <a:latin typeface="微軟正黑體" panose="020B0604030504040204" pitchFamily="34" charset="-120"/>
                <a:ea typeface="微軟正黑體" panose="020B0604030504040204" pitchFamily="34" charset="-120"/>
              </a:rPr>
              <a:t>生產</a:t>
            </a:r>
            <a:r>
              <a:rPr kumimoji="0" lang="zh-TW" altLang="en-US" b="1" dirty="0">
                <a:latin typeface="微軟正黑體" panose="020B0604030504040204" pitchFamily="34" charset="-120"/>
                <a:ea typeface="微軟正黑體" panose="020B0604030504040204" pitchFamily="34" charset="-120"/>
              </a:rPr>
              <a:t>領料作業流程</a:t>
            </a:r>
          </a:p>
        </p:txBody>
      </p:sp>
      <p:sp>
        <p:nvSpPr>
          <p:cNvPr id="205" name="流程圖: 結束點 204">
            <a:extLst>
              <a:ext uri="{FF2B5EF4-FFF2-40B4-BE49-F238E27FC236}">
                <a16:creationId xmlns:a16="http://schemas.microsoft.com/office/drawing/2014/main" xmlns="" id="{AF6DEB4F-42E0-79A4-1C86-971AEA2097AF}"/>
              </a:ext>
            </a:extLst>
          </p:cNvPr>
          <p:cNvSpPr/>
          <p:nvPr/>
        </p:nvSpPr>
        <p:spPr bwMode="auto">
          <a:xfrm>
            <a:off x="12149303" y="8464265"/>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56" name="肘形接點 68">
            <a:extLst>
              <a:ext uri="{FF2B5EF4-FFF2-40B4-BE49-F238E27FC236}">
                <a16:creationId xmlns:a16="http://schemas.microsoft.com/office/drawing/2014/main" xmlns="" id="{08873431-DD58-FF6E-BA86-6DE56A0E076B}"/>
              </a:ext>
            </a:extLst>
          </p:cNvPr>
          <p:cNvCxnSpPr>
            <a:cxnSpLocks/>
            <a:stCxn id="44" idx="3"/>
            <a:endCxn id="43" idx="1"/>
          </p:cNvCxnSpPr>
          <p:nvPr/>
        </p:nvCxnSpPr>
        <p:spPr>
          <a:xfrm flipV="1">
            <a:off x="5188144" y="2665422"/>
            <a:ext cx="2178359" cy="602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4" name="流程圖: 預設處理作業 21">
            <a:extLst>
              <a:ext uri="{FF2B5EF4-FFF2-40B4-BE49-F238E27FC236}">
                <a16:creationId xmlns:a16="http://schemas.microsoft.com/office/drawing/2014/main" xmlns="" id="{C263419B-5F97-C8B5-98DC-7439C1BCA752}"/>
              </a:ext>
            </a:extLst>
          </p:cNvPr>
          <p:cNvSpPr/>
          <p:nvPr/>
        </p:nvSpPr>
        <p:spPr bwMode="auto">
          <a:xfrm>
            <a:off x="421430" y="3094583"/>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PP-PC-0020</a:t>
            </a:r>
          </a:p>
          <a:p>
            <a:pPr algn="ctr" eaLnBrk="0" hangingPunct="0"/>
            <a:r>
              <a:rPr lang="zh-TW" altLang="en-US" sz="1500" dirty="0">
                <a:latin typeface="微軟正黑體" panose="020B0604030504040204" pitchFamily="34" charset="-120"/>
                <a:ea typeface="微軟正黑體" panose="020B0604030504040204" pitchFamily="34" charset="-120"/>
              </a:rPr>
              <a:t>試量工單維護作業</a:t>
            </a:r>
          </a:p>
        </p:txBody>
      </p:sp>
      <p:sp>
        <p:nvSpPr>
          <p:cNvPr id="17" name="流程圖: 預設處理作業 21">
            <a:extLst>
              <a:ext uri="{FF2B5EF4-FFF2-40B4-BE49-F238E27FC236}">
                <a16:creationId xmlns:a16="http://schemas.microsoft.com/office/drawing/2014/main" xmlns="" id="{D696D085-525E-6713-A338-0416B53CE951}"/>
              </a:ext>
            </a:extLst>
          </p:cNvPr>
          <p:cNvSpPr/>
          <p:nvPr/>
        </p:nvSpPr>
        <p:spPr bwMode="auto">
          <a:xfrm>
            <a:off x="421429" y="4565925"/>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PP-PC-0030</a:t>
            </a:r>
          </a:p>
          <a:p>
            <a:pPr algn="ctr" eaLnBrk="0" hangingPunct="0"/>
            <a:r>
              <a:rPr lang="zh-TW" altLang="en-US" sz="1500" dirty="0">
                <a:latin typeface="微軟正黑體" panose="020B0604030504040204" pitchFamily="34" charset="-120"/>
                <a:ea typeface="微軟正黑體" panose="020B0604030504040204" pitchFamily="34" charset="-120"/>
              </a:rPr>
              <a:t>量產工單維護作業</a:t>
            </a:r>
          </a:p>
        </p:txBody>
      </p:sp>
      <p:sp>
        <p:nvSpPr>
          <p:cNvPr id="18" name="流程圖: 預設處理作業 21">
            <a:extLst>
              <a:ext uri="{FF2B5EF4-FFF2-40B4-BE49-F238E27FC236}">
                <a16:creationId xmlns:a16="http://schemas.microsoft.com/office/drawing/2014/main" xmlns="" id="{5E7A5412-BC49-18D8-918B-B55E43F4D57D}"/>
              </a:ext>
            </a:extLst>
          </p:cNvPr>
          <p:cNvSpPr/>
          <p:nvPr/>
        </p:nvSpPr>
        <p:spPr bwMode="auto">
          <a:xfrm>
            <a:off x="421424" y="6042826"/>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PP-PC-0040</a:t>
            </a:r>
          </a:p>
          <a:p>
            <a:pPr algn="ctr" eaLnBrk="0" hangingPunct="0"/>
            <a:r>
              <a:rPr lang="zh-TW" altLang="en-US" sz="1500" dirty="0">
                <a:latin typeface="微軟正黑體" panose="020B0604030504040204" pitchFamily="34" charset="-120"/>
                <a:ea typeface="微軟正黑體" panose="020B0604030504040204" pitchFamily="34" charset="-120"/>
              </a:rPr>
              <a:t>重工工單維護作業</a:t>
            </a:r>
          </a:p>
        </p:txBody>
      </p:sp>
      <p:cxnSp>
        <p:nvCxnSpPr>
          <p:cNvPr id="20" name="肘形接點 68">
            <a:extLst>
              <a:ext uri="{FF2B5EF4-FFF2-40B4-BE49-F238E27FC236}">
                <a16:creationId xmlns:a16="http://schemas.microsoft.com/office/drawing/2014/main" xmlns="" id="{2A1A0D80-26F9-D6D8-B88A-7FE437438145}"/>
              </a:ext>
            </a:extLst>
          </p:cNvPr>
          <p:cNvCxnSpPr>
            <a:cxnSpLocks/>
            <a:stCxn id="14" idx="3"/>
            <a:endCxn id="44" idx="1"/>
          </p:cNvCxnSpPr>
          <p:nvPr/>
        </p:nvCxnSpPr>
        <p:spPr>
          <a:xfrm flipV="1">
            <a:off x="2234541" y="2671451"/>
            <a:ext cx="1155771" cy="104242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 name="肘形接點 68">
            <a:extLst>
              <a:ext uri="{FF2B5EF4-FFF2-40B4-BE49-F238E27FC236}">
                <a16:creationId xmlns:a16="http://schemas.microsoft.com/office/drawing/2014/main" xmlns="" id="{E6A929D4-78D8-D187-92CB-5A51BE82FD87}"/>
              </a:ext>
            </a:extLst>
          </p:cNvPr>
          <p:cNvCxnSpPr>
            <a:cxnSpLocks/>
            <a:stCxn id="17" idx="3"/>
            <a:endCxn id="44" idx="1"/>
          </p:cNvCxnSpPr>
          <p:nvPr/>
        </p:nvCxnSpPr>
        <p:spPr>
          <a:xfrm flipV="1">
            <a:off x="2234540" y="2671450"/>
            <a:ext cx="1155773" cy="251377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4" name="流程圖: 決策 50">
            <a:extLst>
              <a:ext uri="{FF2B5EF4-FFF2-40B4-BE49-F238E27FC236}">
                <a16:creationId xmlns:a16="http://schemas.microsoft.com/office/drawing/2014/main" xmlns="" id="{25100A5F-C37D-316E-216C-4D3AEA62642A}"/>
              </a:ext>
            </a:extLst>
          </p:cNvPr>
          <p:cNvSpPr/>
          <p:nvPr/>
        </p:nvSpPr>
        <p:spPr bwMode="auto">
          <a:xfrm>
            <a:off x="7342824" y="6583661"/>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有工單需求外餘</a:t>
            </a:r>
            <a:r>
              <a:rPr lang="zh-TW" altLang="en-US" sz="1500" dirty="0">
                <a:latin typeface="微軟正黑體" panose="020B0604030504040204" pitchFamily="34" charset="-120"/>
                <a:ea typeface="微軟正黑體" panose="020B0604030504040204" pitchFamily="34" charset="-120"/>
              </a:rPr>
              <a:t>料</a:t>
            </a:r>
            <a:endParaRPr lang="en-US" altLang="zh-TW" sz="1500" dirty="0">
              <a:latin typeface="微軟正黑體" panose="020B0604030504040204" pitchFamily="34" charset="-120"/>
              <a:ea typeface="微軟正黑體" panose="020B0604030504040204" pitchFamily="34" charset="-120"/>
            </a:endParaRPr>
          </a:p>
        </p:txBody>
      </p:sp>
      <p:sp>
        <p:nvSpPr>
          <p:cNvPr id="39" name="TextBox 46">
            <a:extLst>
              <a:ext uri="{FF2B5EF4-FFF2-40B4-BE49-F238E27FC236}">
                <a16:creationId xmlns:a16="http://schemas.microsoft.com/office/drawing/2014/main" xmlns="" id="{85CF88ED-3612-F6D5-5CD9-A15BE00C08A6}"/>
              </a:ext>
            </a:extLst>
          </p:cNvPr>
          <p:cNvSpPr txBox="1"/>
          <p:nvPr/>
        </p:nvSpPr>
        <p:spPr>
          <a:xfrm>
            <a:off x="6357918" y="6715930"/>
            <a:ext cx="404262" cy="369389"/>
          </a:xfrm>
          <a:prstGeom prst="rect">
            <a:avLst/>
          </a:prstGeom>
          <a:noFill/>
        </p:spPr>
        <p:txBody>
          <a:bodyPr wrap="square" lIns="137160" tIns="68580" rIns="137160" bIns="68580" rtlCol="0">
            <a:spAutoFit/>
          </a:bodyPr>
          <a:lstStyle/>
          <a:p>
            <a:r>
              <a:rPr lang="zh-TW" altLang="en-US" sz="1500" dirty="0"/>
              <a:t>是</a:t>
            </a:r>
          </a:p>
        </p:txBody>
      </p:sp>
      <p:graphicFrame>
        <p:nvGraphicFramePr>
          <p:cNvPr id="43" name="表格 30">
            <a:extLst>
              <a:ext uri="{FF2B5EF4-FFF2-40B4-BE49-F238E27FC236}">
                <a16:creationId xmlns:a16="http://schemas.microsoft.com/office/drawing/2014/main" xmlns="" id="{D30D3DE9-BB34-7FFF-ED61-4786E91E4BBC}"/>
              </a:ext>
            </a:extLst>
          </p:cNvPr>
          <p:cNvGraphicFramePr>
            <a:graphicFrameLocks noGrp="1"/>
          </p:cNvGraphicFramePr>
          <p:nvPr>
            <p:extLst>
              <p:ext uri="{D42A27DB-BD31-4B8C-83A1-F6EECF244321}">
                <p14:modId xmlns:p14="http://schemas.microsoft.com/office/powerpoint/2010/main" xmlns="" val="2788525503"/>
              </p:ext>
            </p:extLst>
          </p:nvPr>
        </p:nvGraphicFramePr>
        <p:xfrm>
          <a:off x="7366502" y="2160444"/>
          <a:ext cx="1797828" cy="1009956"/>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ZMM046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檢貨備料</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GB" sz="1500" dirty="0">
                          <a:latin typeface="微軟正黑體" panose="020B0604030504040204" pitchFamily="34" charset="-120"/>
                          <a:ea typeface="微軟正黑體" panose="020B0604030504040204" pitchFamily="34" charset="-120"/>
                        </a:rPr>
                        <a:t>SAP</a:t>
                      </a: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0" name="Group 220">
            <a:extLst>
              <a:ext uri="{FF2B5EF4-FFF2-40B4-BE49-F238E27FC236}">
                <a16:creationId xmlns:a16="http://schemas.microsoft.com/office/drawing/2014/main" xmlns="" id="{EE2EFB62-64E8-A5E0-F94F-0FA2D59292D5}"/>
              </a:ext>
            </a:extLst>
          </p:cNvPr>
          <p:cNvGrpSpPr/>
          <p:nvPr/>
        </p:nvGrpSpPr>
        <p:grpSpPr>
          <a:xfrm>
            <a:off x="8917268" y="1958260"/>
            <a:ext cx="533400" cy="408605"/>
            <a:chOff x="5906184" y="1486857"/>
            <a:chExt cx="355600" cy="272361"/>
          </a:xfrm>
        </p:grpSpPr>
        <p:sp>
          <p:nvSpPr>
            <p:cNvPr id="226" name="Oval 221">
              <a:extLst>
                <a:ext uri="{FF2B5EF4-FFF2-40B4-BE49-F238E27FC236}">
                  <a16:creationId xmlns:a16="http://schemas.microsoft.com/office/drawing/2014/main" xmlns="" id="{8314359D-F7EC-220F-4E02-CFE83EF3BA1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7" name="TextBox 222">
              <a:extLst>
                <a:ext uri="{FF2B5EF4-FFF2-40B4-BE49-F238E27FC236}">
                  <a16:creationId xmlns:a16="http://schemas.microsoft.com/office/drawing/2014/main" xmlns="" id="{E2E4EE6E-B2D9-3A04-9C48-E30B3CE8C8E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49" name="肘形接點 68">
            <a:extLst>
              <a:ext uri="{FF2B5EF4-FFF2-40B4-BE49-F238E27FC236}">
                <a16:creationId xmlns:a16="http://schemas.microsoft.com/office/drawing/2014/main" xmlns="" id="{6379C1AE-2048-5BF3-F3BE-ADFF4790FCF7}"/>
              </a:ext>
            </a:extLst>
          </p:cNvPr>
          <p:cNvCxnSpPr>
            <a:cxnSpLocks/>
            <a:stCxn id="34" idx="1"/>
            <a:endCxn id="87" idx="3"/>
          </p:cNvCxnSpPr>
          <p:nvPr/>
        </p:nvCxnSpPr>
        <p:spPr>
          <a:xfrm rot="10800000" flipV="1">
            <a:off x="5954140" y="7172724"/>
            <a:ext cx="1388684" cy="1220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3" name="肘形接點 68">
            <a:extLst>
              <a:ext uri="{FF2B5EF4-FFF2-40B4-BE49-F238E27FC236}">
                <a16:creationId xmlns:a16="http://schemas.microsoft.com/office/drawing/2014/main" xmlns="" id="{3ED44D61-8379-D9AF-8A76-04CA85A471FF}"/>
              </a:ext>
            </a:extLst>
          </p:cNvPr>
          <p:cNvCxnSpPr>
            <a:cxnSpLocks/>
            <a:stCxn id="43" idx="2"/>
            <a:endCxn id="214" idx="0"/>
          </p:cNvCxnSpPr>
          <p:nvPr/>
        </p:nvCxnSpPr>
        <p:spPr>
          <a:xfrm rot="5400000">
            <a:off x="7758106" y="3676278"/>
            <a:ext cx="1013189" cy="143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6" name="肘形接點 68">
            <a:extLst>
              <a:ext uri="{FF2B5EF4-FFF2-40B4-BE49-F238E27FC236}">
                <a16:creationId xmlns:a16="http://schemas.microsoft.com/office/drawing/2014/main" xmlns="" id="{50C34C9E-EF4E-243C-C991-50ACBEA358DE}"/>
              </a:ext>
            </a:extLst>
          </p:cNvPr>
          <p:cNvCxnSpPr>
            <a:cxnSpLocks/>
            <a:stCxn id="34" idx="3"/>
          </p:cNvCxnSpPr>
          <p:nvPr/>
        </p:nvCxnSpPr>
        <p:spPr>
          <a:xfrm flipV="1">
            <a:off x="9184773" y="7144558"/>
            <a:ext cx="602169" cy="2816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9" name="TextBox 46">
            <a:extLst>
              <a:ext uri="{FF2B5EF4-FFF2-40B4-BE49-F238E27FC236}">
                <a16:creationId xmlns:a16="http://schemas.microsoft.com/office/drawing/2014/main" xmlns="" id="{28C78E9A-15FC-7F8B-FE5A-3BCC1A3FAF12}"/>
              </a:ext>
            </a:extLst>
          </p:cNvPr>
          <p:cNvSpPr txBox="1"/>
          <p:nvPr/>
        </p:nvSpPr>
        <p:spPr>
          <a:xfrm>
            <a:off x="9001124" y="6573054"/>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212" name="肘形接點 68">
            <a:extLst>
              <a:ext uri="{FF2B5EF4-FFF2-40B4-BE49-F238E27FC236}">
                <a16:creationId xmlns:a16="http://schemas.microsoft.com/office/drawing/2014/main" xmlns="" id="{258B8062-A95E-2CA4-B804-E75885D4A88E}"/>
              </a:ext>
            </a:extLst>
          </p:cNvPr>
          <p:cNvCxnSpPr>
            <a:cxnSpLocks/>
            <a:endCxn id="205" idx="0"/>
          </p:cNvCxnSpPr>
          <p:nvPr/>
        </p:nvCxnSpPr>
        <p:spPr>
          <a:xfrm>
            <a:off x="11572892" y="7073120"/>
            <a:ext cx="1475327" cy="1391145"/>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222" name="表格 30">
            <a:extLst>
              <a:ext uri="{FF2B5EF4-FFF2-40B4-BE49-F238E27FC236}">
                <a16:creationId xmlns:a16="http://schemas.microsoft.com/office/drawing/2014/main" xmlns="" id="{2698C357-0F5C-F018-5348-8D06D0D3C516}"/>
              </a:ext>
            </a:extLst>
          </p:cNvPr>
          <p:cNvGraphicFramePr>
            <a:graphicFrameLocks noGrp="1"/>
          </p:cNvGraphicFramePr>
          <p:nvPr>
            <p:extLst>
              <p:ext uri="{D42A27DB-BD31-4B8C-83A1-F6EECF244321}">
                <p14:modId xmlns:p14="http://schemas.microsoft.com/office/powerpoint/2010/main" xmlns="" val="949258986"/>
              </p:ext>
            </p:extLst>
          </p:nvPr>
        </p:nvGraphicFramePr>
        <p:xfrm>
          <a:off x="9783987" y="6464344"/>
          <a:ext cx="1841950" cy="1238591"/>
        </p:xfrm>
        <a:graphic>
          <a:graphicData uri="http://schemas.openxmlformats.org/drawingml/2006/table">
            <a:tbl>
              <a:tblPr>
                <a:tableStyleId>{5940675A-B579-460E-94D1-54222C63F5DA}</a:tableStyleId>
              </a:tblPr>
              <a:tblGrid>
                <a:gridCol w="920975">
                  <a:extLst>
                    <a:ext uri="{9D8B030D-6E8A-4147-A177-3AD203B41FA5}">
                      <a16:colId xmlns:a16="http://schemas.microsoft.com/office/drawing/2014/main" xmlns="" val="3433979995"/>
                    </a:ext>
                  </a:extLst>
                </a:gridCol>
                <a:gridCol w="920975">
                  <a:extLst>
                    <a:ext uri="{9D8B030D-6E8A-4147-A177-3AD203B41FA5}">
                      <a16:colId xmlns:a16="http://schemas.microsoft.com/office/drawing/2014/main" xmlns="" val="3727974752"/>
                    </a:ext>
                  </a:extLst>
                </a:gridCol>
              </a:tblGrid>
              <a:tr h="336652">
                <a:tc gridSpan="2">
                  <a:txBody>
                    <a:bodyPr/>
                    <a:lstStyle/>
                    <a:p>
                      <a:pPr algn="ctr"/>
                      <a:r>
                        <a:rPr lang="en-GB" sz="1500" b="1" dirty="0" smtClean="0">
                          <a:solidFill>
                            <a:schemeClr val="tx1"/>
                          </a:solidFill>
                          <a:latin typeface="微軟正黑體" panose="020B0604030504040204" pitchFamily="34" charset="-120"/>
                          <a:ea typeface="微軟正黑體" panose="020B0604030504040204" pitchFamily="34" charset="-120"/>
                        </a:rPr>
                        <a:t>ZMM046</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發到工單上</a:t>
                      </a:r>
                      <a:endParaRPr lang="en-US" altLang="zh-TW" sz="1500" dirty="0">
                        <a:latin typeface="微軟正黑體" panose="020B0604030504040204" pitchFamily="34" charset="-120"/>
                        <a:ea typeface="微軟正黑體" panose="020B0604030504040204" pitchFamily="34" charset="-120"/>
                      </a:endParaRPr>
                    </a:p>
                    <a:p>
                      <a:pPr algn="ctr" eaLnBrk="0" hangingPunct="0"/>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(Mvt.261)</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30" name="肘形接點 68">
            <a:extLst>
              <a:ext uri="{FF2B5EF4-FFF2-40B4-BE49-F238E27FC236}">
                <a16:creationId xmlns:a16="http://schemas.microsoft.com/office/drawing/2014/main" xmlns="" id="{D6DDC060-067B-1B07-0195-F13705EFFF6A}"/>
              </a:ext>
            </a:extLst>
          </p:cNvPr>
          <p:cNvCxnSpPr>
            <a:cxnSpLocks/>
            <a:endCxn id="205" idx="1"/>
          </p:cNvCxnSpPr>
          <p:nvPr/>
        </p:nvCxnSpPr>
        <p:spPr>
          <a:xfrm>
            <a:off x="5072034" y="7930376"/>
            <a:ext cx="7077269" cy="925171"/>
          </a:xfrm>
          <a:prstGeom prst="bentConnector3">
            <a:avLst>
              <a:gd name="adj1" fmla="val -179"/>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44" name="表格 30">
            <a:extLst>
              <a:ext uri="{FF2B5EF4-FFF2-40B4-BE49-F238E27FC236}">
                <a16:creationId xmlns:a16="http://schemas.microsoft.com/office/drawing/2014/main" xmlns="" id="{C6124B5F-FD44-5AE9-1467-F2C73B6B7681}"/>
              </a:ext>
            </a:extLst>
          </p:cNvPr>
          <p:cNvGraphicFramePr>
            <a:graphicFrameLocks noGrp="1"/>
          </p:cNvGraphicFramePr>
          <p:nvPr>
            <p:extLst>
              <p:ext uri="{D42A27DB-BD31-4B8C-83A1-F6EECF244321}">
                <p14:modId xmlns:p14="http://schemas.microsoft.com/office/powerpoint/2010/main" xmlns="" val="3074504258"/>
              </p:ext>
            </p:extLst>
          </p:nvPr>
        </p:nvGraphicFramePr>
        <p:xfrm>
          <a:off x="3390312" y="2166472"/>
          <a:ext cx="1797832" cy="100995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r>
                        <a:rPr lang="en-GB" sz="1500" b="1" dirty="0" smtClean="0">
                          <a:solidFill>
                            <a:schemeClr val="tx1"/>
                          </a:solidFill>
                          <a:latin typeface="微軟正黑體" panose="020B0604030504040204" pitchFamily="34" charset="-120"/>
                          <a:ea typeface="微軟正黑體" panose="020B0604030504040204" pitchFamily="34" charset="-120"/>
                        </a:rPr>
                        <a:t>ZPP020</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分批領料產生作業</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9" name="流程圖: 文件 42">
            <a:extLst>
              <a:ext uri="{FF2B5EF4-FFF2-40B4-BE49-F238E27FC236}">
                <a16:creationId xmlns:a16="http://schemas.microsoft.com/office/drawing/2014/main" xmlns="" id="{08AE5DD3-368C-7E69-5B1E-D04DB6E5DF00}"/>
              </a:ext>
            </a:extLst>
          </p:cNvPr>
          <p:cNvSpPr/>
          <p:nvPr/>
        </p:nvSpPr>
        <p:spPr bwMode="auto">
          <a:xfrm>
            <a:off x="4863332" y="2992458"/>
            <a:ext cx="1841949" cy="882532"/>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生產領料單</a:t>
            </a:r>
          </a:p>
        </p:txBody>
      </p:sp>
      <p:grpSp>
        <p:nvGrpSpPr>
          <p:cNvPr id="15" name="Group 220">
            <a:extLst>
              <a:ext uri="{FF2B5EF4-FFF2-40B4-BE49-F238E27FC236}">
                <a16:creationId xmlns:a16="http://schemas.microsoft.com/office/drawing/2014/main" xmlns="" id="{21B72F8C-987E-597E-F5B6-CFE0CCADFA1B}"/>
              </a:ext>
            </a:extLst>
          </p:cNvPr>
          <p:cNvGrpSpPr/>
          <p:nvPr/>
        </p:nvGrpSpPr>
        <p:grpSpPr>
          <a:xfrm>
            <a:off x="4920723" y="1971240"/>
            <a:ext cx="533400" cy="408605"/>
            <a:chOff x="5906184" y="1486857"/>
            <a:chExt cx="355600" cy="272361"/>
          </a:xfrm>
        </p:grpSpPr>
        <p:sp>
          <p:nvSpPr>
            <p:cNvPr id="210" name="Oval 221">
              <a:extLst>
                <a:ext uri="{FF2B5EF4-FFF2-40B4-BE49-F238E27FC236}">
                  <a16:creationId xmlns:a16="http://schemas.microsoft.com/office/drawing/2014/main" xmlns="" id="{A92676E5-D0A0-456E-2F4E-688175BEDE6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211" name="TextBox 222">
              <a:extLst>
                <a:ext uri="{FF2B5EF4-FFF2-40B4-BE49-F238E27FC236}">
                  <a16:creationId xmlns:a16="http://schemas.microsoft.com/office/drawing/2014/main" xmlns="" id="{6575F265-AAC1-2E74-1DE7-CB872FF110DC}"/>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16" name="Group 220">
            <a:extLst>
              <a:ext uri="{FF2B5EF4-FFF2-40B4-BE49-F238E27FC236}">
                <a16:creationId xmlns:a16="http://schemas.microsoft.com/office/drawing/2014/main" xmlns="" id="{8BA0D9EE-0BD2-7E23-6C60-1366F126CEED}"/>
              </a:ext>
            </a:extLst>
          </p:cNvPr>
          <p:cNvGrpSpPr/>
          <p:nvPr/>
        </p:nvGrpSpPr>
        <p:grpSpPr>
          <a:xfrm>
            <a:off x="8445417" y="6477775"/>
            <a:ext cx="533400" cy="408605"/>
            <a:chOff x="5906184" y="1486857"/>
            <a:chExt cx="355600" cy="272361"/>
          </a:xfrm>
        </p:grpSpPr>
        <p:sp>
          <p:nvSpPr>
            <p:cNvPr id="30" name="Oval 221">
              <a:extLst>
                <a:ext uri="{FF2B5EF4-FFF2-40B4-BE49-F238E27FC236}">
                  <a16:creationId xmlns:a16="http://schemas.microsoft.com/office/drawing/2014/main" xmlns="" id="{1DEF85D5-67F2-6949-D161-191C973230C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 name="TextBox 222">
              <a:extLst>
                <a:ext uri="{FF2B5EF4-FFF2-40B4-BE49-F238E27FC236}">
                  <a16:creationId xmlns:a16="http://schemas.microsoft.com/office/drawing/2014/main" xmlns="" id="{865721D8-0DAF-EEEE-561D-1A0F275E934D}"/>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sp>
        <p:nvSpPr>
          <p:cNvPr id="50" name="流程圖: 預設處理作業 21">
            <a:extLst>
              <a:ext uri="{FF2B5EF4-FFF2-40B4-BE49-F238E27FC236}">
                <a16:creationId xmlns:a16="http://schemas.microsoft.com/office/drawing/2014/main" xmlns="" id="{A3F2E14C-54A1-44F5-6725-3CD39971B3F3}"/>
              </a:ext>
            </a:extLst>
          </p:cNvPr>
          <p:cNvSpPr/>
          <p:nvPr/>
        </p:nvSpPr>
        <p:spPr bwMode="auto">
          <a:xfrm>
            <a:off x="402590" y="7576975"/>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PP-PC-0050</a:t>
            </a:r>
          </a:p>
          <a:p>
            <a:pPr algn="ctr" eaLnBrk="0" hangingPunct="0"/>
            <a:r>
              <a:rPr lang="zh-TW" altLang="en-US" sz="1500" dirty="0">
                <a:latin typeface="微軟正黑體" panose="020B0604030504040204" pitchFamily="34" charset="-120"/>
                <a:ea typeface="微軟正黑體" panose="020B0604030504040204" pitchFamily="34" charset="-120"/>
              </a:rPr>
              <a:t>改包裝工單維護作業</a:t>
            </a:r>
          </a:p>
        </p:txBody>
      </p:sp>
      <p:cxnSp>
        <p:nvCxnSpPr>
          <p:cNvPr id="55" name="肘形接點 68">
            <a:extLst>
              <a:ext uri="{FF2B5EF4-FFF2-40B4-BE49-F238E27FC236}">
                <a16:creationId xmlns:a16="http://schemas.microsoft.com/office/drawing/2014/main" xmlns="" id="{E8BE6714-DBC4-FD6E-0E6F-9B2D65857A63}"/>
              </a:ext>
            </a:extLst>
          </p:cNvPr>
          <p:cNvCxnSpPr>
            <a:cxnSpLocks/>
            <a:stCxn id="18" idx="3"/>
            <a:endCxn id="44" idx="1"/>
          </p:cNvCxnSpPr>
          <p:nvPr/>
        </p:nvCxnSpPr>
        <p:spPr>
          <a:xfrm flipV="1">
            <a:off x="2234535" y="2671451"/>
            <a:ext cx="1155777" cy="399067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2" name="肘形接點 68">
            <a:extLst>
              <a:ext uri="{FF2B5EF4-FFF2-40B4-BE49-F238E27FC236}">
                <a16:creationId xmlns:a16="http://schemas.microsoft.com/office/drawing/2014/main" xmlns="" id="{48ADEA91-C72A-AC85-AE76-9A57F6B64F86}"/>
              </a:ext>
            </a:extLst>
          </p:cNvPr>
          <p:cNvCxnSpPr>
            <a:cxnSpLocks/>
            <a:stCxn id="50" idx="3"/>
            <a:endCxn id="44" idx="1"/>
          </p:cNvCxnSpPr>
          <p:nvPr/>
        </p:nvCxnSpPr>
        <p:spPr>
          <a:xfrm flipV="1">
            <a:off x="2215701" y="2671451"/>
            <a:ext cx="1174611" cy="552482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14" name="流程圖: 決策 50">
            <a:extLst>
              <a:ext uri="{FF2B5EF4-FFF2-40B4-BE49-F238E27FC236}">
                <a16:creationId xmlns:a16="http://schemas.microsoft.com/office/drawing/2014/main" xmlns="" id="{58519332-4C75-55C1-3929-FDFF4950407E}"/>
              </a:ext>
            </a:extLst>
          </p:cNvPr>
          <p:cNvSpPr/>
          <p:nvPr/>
        </p:nvSpPr>
        <p:spPr bwMode="auto">
          <a:xfrm>
            <a:off x="7343006" y="4183589"/>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cxnSp>
        <p:nvCxnSpPr>
          <p:cNvPr id="242" name="肘形接點 68">
            <a:extLst>
              <a:ext uri="{FF2B5EF4-FFF2-40B4-BE49-F238E27FC236}">
                <a16:creationId xmlns:a16="http://schemas.microsoft.com/office/drawing/2014/main" xmlns="" id="{D713B2EB-AB97-2187-97D8-1D86F5C5E4AD}"/>
              </a:ext>
            </a:extLst>
          </p:cNvPr>
          <p:cNvCxnSpPr>
            <a:cxnSpLocks/>
            <a:stCxn id="214" idx="3"/>
          </p:cNvCxnSpPr>
          <p:nvPr/>
        </p:nvCxnSpPr>
        <p:spPr>
          <a:xfrm flipV="1">
            <a:off x="9184955" y="4572790"/>
            <a:ext cx="530549" cy="19986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7" name="肘形接點 68">
            <a:extLst>
              <a:ext uri="{FF2B5EF4-FFF2-40B4-BE49-F238E27FC236}">
                <a16:creationId xmlns:a16="http://schemas.microsoft.com/office/drawing/2014/main" xmlns="" id="{CE7B7C73-B472-3733-3B4E-9173DD150D62}"/>
              </a:ext>
            </a:extLst>
          </p:cNvPr>
          <p:cNvCxnSpPr>
            <a:cxnSpLocks/>
            <a:stCxn id="214" idx="2"/>
            <a:endCxn id="34" idx="0"/>
          </p:cNvCxnSpPr>
          <p:nvPr/>
        </p:nvCxnSpPr>
        <p:spPr>
          <a:xfrm rot="5400000">
            <a:off x="7652919" y="5972598"/>
            <a:ext cx="1221946" cy="18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50" name="TextBox 46">
            <a:extLst>
              <a:ext uri="{FF2B5EF4-FFF2-40B4-BE49-F238E27FC236}">
                <a16:creationId xmlns:a16="http://schemas.microsoft.com/office/drawing/2014/main" xmlns="" id="{4568FB6A-371A-31F2-6C97-26D60C373090}"/>
              </a:ext>
            </a:extLst>
          </p:cNvPr>
          <p:cNvSpPr txBox="1"/>
          <p:nvPr/>
        </p:nvSpPr>
        <p:spPr>
          <a:xfrm>
            <a:off x="9157292" y="4374943"/>
            <a:ext cx="404262" cy="369389"/>
          </a:xfrm>
          <a:prstGeom prst="rect">
            <a:avLst/>
          </a:prstGeom>
          <a:noFill/>
        </p:spPr>
        <p:txBody>
          <a:bodyPr wrap="square" lIns="137160" tIns="68580" rIns="137160" bIns="68580" rtlCol="0">
            <a:spAutoFit/>
          </a:bodyPr>
          <a:lstStyle/>
          <a:p>
            <a:r>
              <a:rPr lang="zh-TW" altLang="en-US" sz="1500" dirty="0"/>
              <a:t>是</a:t>
            </a:r>
          </a:p>
        </p:txBody>
      </p:sp>
      <p:sp>
        <p:nvSpPr>
          <p:cNvPr id="251" name="TextBox 46">
            <a:extLst>
              <a:ext uri="{FF2B5EF4-FFF2-40B4-BE49-F238E27FC236}">
                <a16:creationId xmlns:a16="http://schemas.microsoft.com/office/drawing/2014/main" xmlns="" id="{4B4874C3-BAB0-11A7-2BE2-0730C9843C69}"/>
              </a:ext>
            </a:extLst>
          </p:cNvPr>
          <p:cNvSpPr txBox="1"/>
          <p:nvPr/>
        </p:nvSpPr>
        <p:spPr>
          <a:xfrm>
            <a:off x="8258921" y="5394734"/>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22" name="Group 220">
            <a:extLst>
              <a:ext uri="{FF2B5EF4-FFF2-40B4-BE49-F238E27FC236}">
                <a16:creationId xmlns:a16="http://schemas.microsoft.com/office/drawing/2014/main" xmlns="" id="{B1684C2D-4159-5193-3558-3A38C55AE1D4}"/>
              </a:ext>
            </a:extLst>
          </p:cNvPr>
          <p:cNvGrpSpPr/>
          <p:nvPr/>
        </p:nvGrpSpPr>
        <p:grpSpPr>
          <a:xfrm>
            <a:off x="11396682" y="6287302"/>
            <a:ext cx="533400" cy="408605"/>
            <a:chOff x="5906184" y="1486857"/>
            <a:chExt cx="355600" cy="272361"/>
          </a:xfrm>
        </p:grpSpPr>
        <p:sp>
          <p:nvSpPr>
            <p:cNvPr id="281" name="Oval 221">
              <a:extLst>
                <a:ext uri="{FF2B5EF4-FFF2-40B4-BE49-F238E27FC236}">
                  <a16:creationId xmlns:a16="http://schemas.microsoft.com/office/drawing/2014/main" xmlns="" id="{FC16B24A-2D18-4A84-10AB-AA0D75F0D2E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2" name="TextBox 222">
              <a:extLst>
                <a:ext uri="{FF2B5EF4-FFF2-40B4-BE49-F238E27FC236}">
                  <a16:creationId xmlns:a16="http://schemas.microsoft.com/office/drawing/2014/main" xmlns="" id="{6627DADA-0ABF-68DA-848D-29B3606831E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sp>
        <p:nvSpPr>
          <p:cNvPr id="3" name="流程圖: 預設處理作業 21">
            <a:extLst>
              <a:ext uri="{FF2B5EF4-FFF2-40B4-BE49-F238E27FC236}">
                <a16:creationId xmlns:a16="http://schemas.microsoft.com/office/drawing/2014/main" xmlns="" id="{2686CD65-D05D-7BC7-873F-8DA17FBDD46C}"/>
              </a:ext>
            </a:extLst>
          </p:cNvPr>
          <p:cNvSpPr/>
          <p:nvPr/>
        </p:nvSpPr>
        <p:spPr bwMode="auto">
          <a:xfrm>
            <a:off x="12257951" y="4150560"/>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cxnSp>
        <p:nvCxnSpPr>
          <p:cNvPr id="5" name="肘形接點 68">
            <a:extLst>
              <a:ext uri="{FF2B5EF4-FFF2-40B4-BE49-F238E27FC236}">
                <a16:creationId xmlns:a16="http://schemas.microsoft.com/office/drawing/2014/main" xmlns="" id="{A2F3F143-0E13-17B7-9AA4-3150DDA84CC5}"/>
              </a:ext>
            </a:extLst>
          </p:cNvPr>
          <p:cNvCxnSpPr>
            <a:cxnSpLocks/>
            <a:stCxn id="3" idx="2"/>
            <a:endCxn id="34" idx="0"/>
          </p:cNvCxnSpPr>
          <p:nvPr/>
        </p:nvCxnSpPr>
        <p:spPr>
          <a:xfrm rot="5400000">
            <a:off x="10116900" y="3536052"/>
            <a:ext cx="1194510" cy="490070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0"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graphicFrame>
        <p:nvGraphicFramePr>
          <p:cNvPr id="65" name="表格 30">
            <a:extLst>
              <a:ext uri="{FF2B5EF4-FFF2-40B4-BE49-F238E27FC236}">
                <a16:creationId xmlns:a16="http://schemas.microsoft.com/office/drawing/2014/main" xmlns="" id="{44BEA7C9-9198-844F-A29F-3166704266EE}"/>
              </a:ext>
            </a:extLst>
          </p:cNvPr>
          <p:cNvGraphicFramePr>
            <a:graphicFrameLocks noGrp="1"/>
          </p:cNvGraphicFramePr>
          <p:nvPr>
            <p:extLst>
              <p:ext uri="{D42A27DB-BD31-4B8C-83A1-F6EECF244321}">
                <p14:modId xmlns:p14="http://schemas.microsoft.com/office/powerpoint/2010/main" xmlns="" val="4140414609"/>
              </p:ext>
            </p:extLst>
          </p:nvPr>
        </p:nvGraphicFramePr>
        <p:xfrm>
          <a:off x="9715504" y="3929848"/>
          <a:ext cx="1860324" cy="1238591"/>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smtClean="0">
                          <a:solidFill>
                            <a:schemeClr val="tx1"/>
                          </a:solidFill>
                          <a:latin typeface="微軟正黑體" panose="020B0604030504040204" pitchFamily="34" charset="-120"/>
                          <a:ea typeface="微軟正黑體" panose="020B0604030504040204" pitchFamily="34" charset="-120"/>
                        </a:rPr>
                        <a:t>ZMM085</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smtClean="0">
                          <a:solidFill>
                            <a:schemeClr val="tx1"/>
                          </a:solidFill>
                          <a:latin typeface="微軟正黑體" panose="020B0604030504040204" pitchFamily="34" charset="-120"/>
                          <a:ea typeface="微軟正黑體" panose="020B0604030504040204" pitchFamily="34" charset="-120"/>
                          <a:cs typeface="+mn-cs"/>
                          <a:sym typeface="Arial"/>
                        </a:rPr>
                        <a:t>檢貨備料單</a:t>
                      </a: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至</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66" name="Group 220">
            <a:extLst>
              <a:ext uri="{FF2B5EF4-FFF2-40B4-BE49-F238E27FC236}">
                <a16:creationId xmlns:a16="http://schemas.microsoft.com/office/drawing/2014/main" xmlns="" id="{2D9D24A9-3257-3D1C-400D-8D57457C936F}"/>
              </a:ext>
            </a:extLst>
          </p:cNvPr>
          <p:cNvGrpSpPr/>
          <p:nvPr/>
        </p:nvGrpSpPr>
        <p:grpSpPr>
          <a:xfrm>
            <a:off x="11301806" y="3704683"/>
            <a:ext cx="533400" cy="408605"/>
            <a:chOff x="5906184" y="1486857"/>
            <a:chExt cx="355600" cy="272361"/>
          </a:xfrm>
        </p:grpSpPr>
        <p:sp>
          <p:nvSpPr>
            <p:cNvPr id="67"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8"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69" name="肘形接點 68">
            <a:extLst>
              <a:ext uri="{FF2B5EF4-FFF2-40B4-BE49-F238E27FC236}">
                <a16:creationId xmlns="" xmlns:a16="http://schemas.microsoft.com/office/drawing/2014/main" id="{F98C2978-4121-E957-CB07-E9B7E23A1E5E}"/>
              </a:ext>
            </a:extLst>
          </p:cNvPr>
          <p:cNvCxnSpPr>
            <a:cxnSpLocks/>
            <a:endCxn id="3" idx="1"/>
          </p:cNvCxnSpPr>
          <p:nvPr/>
        </p:nvCxnSpPr>
        <p:spPr>
          <a:xfrm>
            <a:off x="11572892" y="4490501"/>
            <a:ext cx="685059" cy="27935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71" name="表格 30">
            <a:extLst>
              <a:ext uri="{FF2B5EF4-FFF2-40B4-BE49-F238E27FC236}">
                <a16:creationId xmlns:a16="http://schemas.microsoft.com/office/drawing/2014/main" xmlns="" id="{44BEA7C9-9198-844F-A29F-3166704266EE}"/>
              </a:ext>
            </a:extLst>
          </p:cNvPr>
          <p:cNvGraphicFramePr>
            <a:graphicFrameLocks noGrp="1"/>
          </p:cNvGraphicFramePr>
          <p:nvPr>
            <p:extLst>
              <p:ext uri="{D42A27DB-BD31-4B8C-83A1-F6EECF244321}">
                <p14:modId xmlns:p14="http://schemas.microsoft.com/office/powerpoint/2010/main" xmlns="" val="4140414609"/>
              </p:ext>
            </p:extLst>
          </p:nvPr>
        </p:nvGraphicFramePr>
        <p:xfrm>
          <a:off x="12287272" y="5691653"/>
          <a:ext cx="1860324" cy="1238591"/>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smtClean="0">
                          <a:solidFill>
                            <a:schemeClr val="tx1"/>
                          </a:solidFill>
                          <a:latin typeface="微軟正黑體" panose="020B0604030504040204" pitchFamily="34" charset="-120"/>
                          <a:ea typeface="微軟正黑體" panose="020B0604030504040204" pitchFamily="34" charset="-120"/>
                        </a:rPr>
                        <a:t>ZMM086</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回</a:t>
                      </a:r>
                      <a:r>
                        <a:rPr kumimoji="0" lang="zh-TW" altLang="en-US" sz="1500" b="0" i="0" u="none" strike="noStrike" cap="none" dirty="0" smtClean="0">
                          <a:solidFill>
                            <a:schemeClr val="tx1"/>
                          </a:solidFill>
                          <a:latin typeface="微軟正黑體" panose="020B0604030504040204" pitchFamily="34" charset="-120"/>
                          <a:ea typeface="微軟正黑體" panose="020B0604030504040204" pitchFamily="34" charset="-120"/>
                          <a:cs typeface="+mn-cs"/>
                          <a:sym typeface="Arial"/>
                        </a:rPr>
                        <a:t>傳備料結果過帳</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72" name="Group 220">
            <a:extLst>
              <a:ext uri="{FF2B5EF4-FFF2-40B4-BE49-F238E27FC236}">
                <a16:creationId xmlns:a16="http://schemas.microsoft.com/office/drawing/2014/main" xmlns="" id="{2D9D24A9-3257-3D1C-400D-8D57457C936F}"/>
              </a:ext>
            </a:extLst>
          </p:cNvPr>
          <p:cNvGrpSpPr/>
          <p:nvPr/>
        </p:nvGrpSpPr>
        <p:grpSpPr>
          <a:xfrm>
            <a:off x="13873574" y="5419195"/>
            <a:ext cx="533400" cy="408605"/>
            <a:chOff x="5906184" y="1486857"/>
            <a:chExt cx="355600" cy="272361"/>
          </a:xfrm>
        </p:grpSpPr>
        <p:sp>
          <p:nvSpPr>
            <p:cNvPr id="73"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4"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76" name="肘形接點 75">
            <a:extLst>
              <a:ext uri="{FF2B5EF4-FFF2-40B4-BE49-F238E27FC236}">
                <a16:creationId xmlns="" xmlns:a16="http://schemas.microsoft.com/office/drawing/2014/main" id="{F98C2978-4121-E957-CB07-E9B7E23A1E5E}"/>
              </a:ext>
            </a:extLst>
          </p:cNvPr>
          <p:cNvCxnSpPr>
            <a:cxnSpLocks/>
          </p:cNvCxnSpPr>
          <p:nvPr/>
        </p:nvCxnSpPr>
        <p:spPr>
          <a:xfrm rot="5400000">
            <a:off x="13037371" y="5537203"/>
            <a:ext cx="357190" cy="158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85" name="群組 84"/>
          <p:cNvGrpSpPr/>
          <p:nvPr/>
        </p:nvGrpSpPr>
        <p:grpSpPr>
          <a:xfrm>
            <a:off x="4143340" y="6577701"/>
            <a:ext cx="1810800" cy="1217256"/>
            <a:chOff x="15073354" y="8308668"/>
            <a:chExt cx="1810800" cy="1217256"/>
          </a:xfrm>
        </p:grpSpPr>
        <p:sp>
          <p:nvSpPr>
            <p:cNvPr id="86" name="流程圖: 程序 85"/>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ZMM046</a:t>
              </a:r>
              <a:endParaRPr lang="en-GB" sz="1500" b="1" dirty="0">
                <a:latin typeface="微軟正黑體" panose="020B0604030504040204" pitchFamily="34" charset="-120"/>
                <a:ea typeface="微軟正黑體" panose="020B0604030504040204" pitchFamily="34" charset="-120"/>
              </a:endParaRPr>
            </a:p>
          </p:txBody>
        </p:sp>
        <p:sp>
          <p:nvSpPr>
            <p:cNvPr id="87" name="流程圖: 程序 86"/>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rPr>
                <a:t>轉到線邊倉</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en-US" altLang="zh-TW" sz="1500" dirty="0" smtClean="0">
                  <a:latin typeface="微軟正黑體" panose="020B0604030504040204" pitchFamily="34" charset="-120"/>
                  <a:ea typeface="微軟正黑體" panose="020B0604030504040204" pitchFamily="34" charset="-120"/>
                  <a:sym typeface="Arial"/>
                </a:rPr>
                <a:t>(Mvt.311)</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88" name="流程圖: 程序 87"/>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89" name="流程圖: 程序 88"/>
            <p:cNvSpPr/>
            <p:nvPr/>
          </p:nvSpPr>
          <p:spPr>
            <a:xfrm>
              <a:off x="160000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75" name="Group 220">
            <a:extLst>
              <a:ext uri="{FF2B5EF4-FFF2-40B4-BE49-F238E27FC236}">
                <a16:creationId xmlns:a16="http://schemas.microsoft.com/office/drawing/2014/main" xmlns="" id="{0C75984D-876F-5104-7AA0-5996E344A44D}"/>
              </a:ext>
            </a:extLst>
          </p:cNvPr>
          <p:cNvGrpSpPr/>
          <p:nvPr/>
        </p:nvGrpSpPr>
        <p:grpSpPr>
          <a:xfrm>
            <a:off x="5772906" y="6370917"/>
            <a:ext cx="533400" cy="408605"/>
            <a:chOff x="5906184" y="1486857"/>
            <a:chExt cx="355600" cy="272361"/>
          </a:xfrm>
        </p:grpSpPr>
        <p:sp>
          <p:nvSpPr>
            <p:cNvPr id="77"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8"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88059" y="1718338"/>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p>
          <a:p>
            <a:endParaRPr lang="en-US" sz="2400" dirty="0">
              <a:solidFill>
                <a:schemeClr val="dk1"/>
              </a:solidFill>
            </a:endParaRPr>
          </a:p>
          <a:p>
            <a:r>
              <a:rPr lang="zh-TW" altLang="en-US" sz="2400" dirty="0">
                <a:solidFill>
                  <a:schemeClr val="dk1"/>
                </a:solidFill>
              </a:rPr>
              <a:t>與</a:t>
            </a:r>
            <a:r>
              <a:rPr lang="en-US" altLang="zh-TW" sz="2400" dirty="0">
                <a:solidFill>
                  <a:schemeClr val="dk1"/>
                </a:solidFill>
              </a:rPr>
              <a:t>WMS</a:t>
            </a:r>
            <a:r>
              <a:rPr lang="zh-TW" altLang="en-US" sz="2400" dirty="0">
                <a:solidFill>
                  <a:schemeClr val="dk1"/>
                </a:solidFill>
              </a:rPr>
              <a:t>介接說明補充 </a:t>
            </a:r>
          </a:p>
          <a:p>
            <a:endParaRPr dirty="0"/>
          </a:p>
          <a:p>
            <a:endParaRPr dirty="0">
              <a:solidFill>
                <a:schemeClr val="dk1"/>
              </a:solidFill>
              <a:latin typeface="Arial"/>
              <a:ea typeface="Arial"/>
              <a:cs typeface="Arial"/>
              <a:sym typeface="Arial"/>
            </a:endParaRPr>
          </a:p>
        </p:txBody>
      </p:sp>
      <p:sp>
        <p:nvSpPr>
          <p:cNvPr id="3" name="圓角矩形 28">
            <a:extLst>
              <a:ext uri="{FF2B5EF4-FFF2-40B4-BE49-F238E27FC236}">
                <a16:creationId xmlns:a16="http://schemas.microsoft.com/office/drawing/2014/main" xmlns="" id="{8F1E078F-142F-695D-339F-5424070F4C18}"/>
              </a:ext>
            </a:extLst>
          </p:cNvPr>
          <p:cNvSpPr/>
          <p:nvPr/>
        </p:nvSpPr>
        <p:spPr>
          <a:xfrm>
            <a:off x="16766852" y="8897239"/>
            <a:ext cx="1188132" cy="432115"/>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SAP</a:t>
            </a:r>
            <a:endParaRPr lang="zh-TW" altLang="en-US" sz="2100" b="1" dirty="0">
              <a:latin typeface="微軟正黑體" pitchFamily="34" charset="-120"/>
              <a:ea typeface="微軟正黑體" pitchFamily="34" charset="-120"/>
            </a:endParaRPr>
          </a:p>
        </p:txBody>
      </p:sp>
      <p:sp>
        <p:nvSpPr>
          <p:cNvPr id="4" name="圓角矩形 40">
            <a:extLst>
              <a:ext uri="{FF2B5EF4-FFF2-40B4-BE49-F238E27FC236}">
                <a16:creationId xmlns:a16="http://schemas.microsoft.com/office/drawing/2014/main" xmlns="" id="{0CE865F7-D02F-F090-A6B5-4A0C3FCDECFC}"/>
              </a:ext>
            </a:extLst>
          </p:cNvPr>
          <p:cNvSpPr/>
          <p:nvPr/>
        </p:nvSpPr>
        <p:spPr>
          <a:xfrm>
            <a:off x="16766852" y="9401709"/>
            <a:ext cx="1188132" cy="432115"/>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WMS</a:t>
            </a:r>
            <a:endParaRPr lang="zh-TW" altLang="en-US" b="1" dirty="0">
              <a:latin typeface="微軟正黑體" pitchFamily="34" charset="-120"/>
              <a:ea typeface="微軟正黑體" pitchFamily="34" charset="-120"/>
            </a:endParaRPr>
          </a:p>
        </p:txBody>
      </p:sp>
      <p:sp>
        <p:nvSpPr>
          <p:cNvPr id="5" name="圓角矩形 28">
            <a:extLst>
              <a:ext uri="{FF2B5EF4-FFF2-40B4-BE49-F238E27FC236}">
                <a16:creationId xmlns:a16="http://schemas.microsoft.com/office/drawing/2014/main" xmlns="" id="{B94C8E16-A14F-65E4-4E69-DC0E615E6649}"/>
              </a:ext>
            </a:extLst>
          </p:cNvPr>
          <p:cNvSpPr/>
          <p:nvPr/>
        </p:nvSpPr>
        <p:spPr>
          <a:xfrm>
            <a:off x="3579359" y="3466000"/>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檢貨備料</a:t>
            </a:r>
          </a:p>
        </p:txBody>
      </p:sp>
      <p:sp>
        <p:nvSpPr>
          <p:cNvPr id="6" name="圓角矩形 28">
            <a:extLst>
              <a:ext uri="{FF2B5EF4-FFF2-40B4-BE49-F238E27FC236}">
                <a16:creationId xmlns:a16="http://schemas.microsoft.com/office/drawing/2014/main" xmlns="" id="{179D0896-DC4A-0580-78D8-2DAA6E566FB1}"/>
              </a:ext>
            </a:extLst>
          </p:cNvPr>
          <p:cNvSpPr/>
          <p:nvPr/>
        </p:nvSpPr>
        <p:spPr>
          <a:xfrm>
            <a:off x="670047" y="347552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生產領料</a:t>
            </a:r>
          </a:p>
        </p:txBody>
      </p:sp>
      <p:grpSp>
        <p:nvGrpSpPr>
          <p:cNvPr id="7" name="Group 220">
            <a:extLst>
              <a:ext uri="{FF2B5EF4-FFF2-40B4-BE49-F238E27FC236}">
                <a16:creationId xmlns:a16="http://schemas.microsoft.com/office/drawing/2014/main" xmlns="" id="{07E57900-E620-1562-3352-D8CF706FE0F2}"/>
              </a:ext>
            </a:extLst>
          </p:cNvPr>
          <p:cNvGrpSpPr/>
          <p:nvPr/>
        </p:nvGrpSpPr>
        <p:grpSpPr>
          <a:xfrm>
            <a:off x="5887410" y="3340485"/>
            <a:ext cx="533400" cy="408605"/>
            <a:chOff x="5906184" y="1486857"/>
            <a:chExt cx="355600" cy="272361"/>
          </a:xfrm>
        </p:grpSpPr>
        <p:sp>
          <p:nvSpPr>
            <p:cNvPr id="8" name="Oval 221">
              <a:extLst>
                <a:ext uri="{FF2B5EF4-FFF2-40B4-BE49-F238E27FC236}">
                  <a16:creationId xmlns:a16="http://schemas.microsoft.com/office/drawing/2014/main" xmlns="" id="{836CDC04-5D3D-8043-5B83-E832FEF521E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TextBox 222">
              <a:extLst>
                <a:ext uri="{FF2B5EF4-FFF2-40B4-BE49-F238E27FC236}">
                  <a16:creationId xmlns:a16="http://schemas.microsoft.com/office/drawing/2014/main" xmlns="" id="{30A9C1CF-95BF-BC01-A603-883B5E902C7E}"/>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10" name="接點: 肘形 9">
            <a:extLst>
              <a:ext uri="{FF2B5EF4-FFF2-40B4-BE49-F238E27FC236}">
                <a16:creationId xmlns:a16="http://schemas.microsoft.com/office/drawing/2014/main" xmlns="" id="{9E0C0E22-4523-FDD5-0645-3C8757C7E07C}"/>
              </a:ext>
            </a:extLst>
          </p:cNvPr>
          <p:cNvCxnSpPr>
            <a:cxnSpLocks/>
            <a:stCxn id="6" idx="3"/>
            <a:endCxn id="5" idx="1"/>
          </p:cNvCxnSpPr>
          <p:nvPr/>
        </p:nvCxnSpPr>
        <p:spPr>
          <a:xfrm flipV="1">
            <a:off x="2796988" y="3900506"/>
            <a:ext cx="782372" cy="9526"/>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圓角矩形 40">
            <a:extLst>
              <a:ext uri="{FF2B5EF4-FFF2-40B4-BE49-F238E27FC236}">
                <a16:creationId xmlns:a16="http://schemas.microsoft.com/office/drawing/2014/main" xmlns="" id="{C7721EF1-81D8-C72C-65C9-B37C5B0B481A}"/>
              </a:ext>
            </a:extLst>
          </p:cNvPr>
          <p:cNvSpPr/>
          <p:nvPr/>
        </p:nvSpPr>
        <p:spPr>
          <a:xfrm>
            <a:off x="6554591" y="3475526"/>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下架發料</a:t>
            </a:r>
          </a:p>
        </p:txBody>
      </p:sp>
      <p:cxnSp>
        <p:nvCxnSpPr>
          <p:cNvPr id="18" name="接點: 肘形 17">
            <a:extLst>
              <a:ext uri="{FF2B5EF4-FFF2-40B4-BE49-F238E27FC236}">
                <a16:creationId xmlns:a16="http://schemas.microsoft.com/office/drawing/2014/main" xmlns="" id="{0B1A44F7-134D-5AD9-C027-8122CA7B1DFB}"/>
              </a:ext>
            </a:extLst>
          </p:cNvPr>
          <p:cNvCxnSpPr>
            <a:cxnSpLocks/>
            <a:stCxn id="5" idx="3"/>
            <a:endCxn id="17" idx="1"/>
          </p:cNvCxnSpPr>
          <p:nvPr/>
        </p:nvCxnSpPr>
        <p:spPr>
          <a:xfrm>
            <a:off x="5706299" y="3900506"/>
            <a:ext cx="848292" cy="9526"/>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21" name="表格 20">
            <a:extLst>
              <a:ext uri="{FF2B5EF4-FFF2-40B4-BE49-F238E27FC236}">
                <a16:creationId xmlns:a16="http://schemas.microsoft.com/office/drawing/2014/main" xmlns="" id="{82DBD778-1838-1696-584D-9BDAD53DDB03}"/>
              </a:ext>
            </a:extLst>
          </p:cNvPr>
          <p:cNvGraphicFramePr>
            <a:graphicFrameLocks noGrp="1"/>
          </p:cNvGraphicFramePr>
          <p:nvPr>
            <p:extLst>
              <p:ext uri="{D42A27DB-BD31-4B8C-83A1-F6EECF244321}">
                <p14:modId xmlns:p14="http://schemas.microsoft.com/office/powerpoint/2010/main" xmlns="" val="3154865230"/>
              </p:ext>
            </p:extLst>
          </p:nvPr>
        </p:nvGraphicFramePr>
        <p:xfrm>
          <a:off x="1733517" y="8216662"/>
          <a:ext cx="13395961" cy="1112692"/>
        </p:xfrm>
        <a:graphic>
          <a:graphicData uri="http://schemas.openxmlformats.org/drawingml/2006/table">
            <a:tbl>
              <a:tblPr firstRow="1" bandRow="1"/>
              <a:tblGrid>
                <a:gridCol w="586073">
                  <a:extLst>
                    <a:ext uri="{9D8B030D-6E8A-4147-A177-3AD203B41FA5}">
                      <a16:colId xmlns:a16="http://schemas.microsoft.com/office/drawing/2014/main" xmlns="" val="4193373909"/>
                    </a:ext>
                  </a:extLst>
                </a:gridCol>
                <a:gridCol w="12809888">
                  <a:extLst>
                    <a:ext uri="{9D8B030D-6E8A-4147-A177-3AD203B41FA5}">
                      <a16:colId xmlns:a16="http://schemas.microsoft.com/office/drawing/2014/main" xmlns="" val="175700329"/>
                    </a:ext>
                  </a:extLst>
                </a:gridCol>
              </a:tblGrid>
              <a:tr h="556346">
                <a:tc>
                  <a:txBody>
                    <a:bodyPr/>
                    <a:lstStyle/>
                    <a:p>
                      <a:r>
                        <a:rPr lang="en-US" altLang="zh-TW" sz="2700" dirty="0"/>
                        <a:t>1</a:t>
                      </a:r>
                      <a:endParaRPr lang="zh-TW" altLang="en-US" sz="2700" dirty="0"/>
                    </a:p>
                  </a:txBody>
                  <a:tcPr marL="137160" marR="137160" marT="68591" marB="68591"/>
                </a:tc>
                <a:tc>
                  <a:txBody>
                    <a:bodyPr/>
                    <a:lstStyle/>
                    <a:p>
                      <a:r>
                        <a:rPr lang="en-US" altLang="zh-TW" sz="2700" dirty="0"/>
                        <a:t>SAP</a:t>
                      </a:r>
                      <a:r>
                        <a:rPr lang="zh-TW" altLang="en-US" sz="2700" dirty="0"/>
                        <a:t>檢貨備料資料包含分批領料單拋給</a:t>
                      </a:r>
                      <a:r>
                        <a:rPr lang="en-US" altLang="zh-TW" sz="2700" dirty="0"/>
                        <a:t>WMS</a:t>
                      </a:r>
                    </a:p>
                  </a:txBody>
                  <a:tcPr marL="137160" marR="137160" marT="68591" marB="68591"/>
                </a:tc>
                <a:extLst>
                  <a:ext uri="{0D108BD9-81ED-4DB2-BD59-A6C34878D82A}">
                    <a16:rowId xmlns:a16="http://schemas.microsoft.com/office/drawing/2014/main" xmlns="" val="388478257"/>
                  </a:ext>
                </a:extLst>
              </a:tr>
              <a:tr h="556346">
                <a:tc>
                  <a:txBody>
                    <a:bodyPr/>
                    <a:lstStyle/>
                    <a:p>
                      <a:r>
                        <a:rPr lang="en-US" altLang="zh-TW" sz="2700" dirty="0"/>
                        <a:t>2</a:t>
                      </a:r>
                      <a:endParaRPr lang="zh-TW" altLang="en-US" sz="2700" dirty="0"/>
                    </a:p>
                  </a:txBody>
                  <a:tcPr marL="137160" marR="137160" marT="68591" marB="68591"/>
                </a:tc>
                <a:tc>
                  <a:txBody>
                    <a:bodyPr/>
                    <a:lstStyle/>
                    <a:p>
                      <a:r>
                        <a:rPr lang="en-US" altLang="zh-TW" sz="2700" dirty="0"/>
                        <a:t>WMS</a:t>
                      </a:r>
                      <a:r>
                        <a:rPr lang="zh-TW" altLang="en-US" sz="2700" dirty="0"/>
                        <a:t>下架發料後拋給</a:t>
                      </a:r>
                      <a:r>
                        <a:rPr lang="en-US" altLang="zh-TW" sz="2700" dirty="0"/>
                        <a:t>SAP</a:t>
                      </a:r>
                      <a:r>
                        <a:rPr lang="zh-TW" altLang="en-US" sz="2700" dirty="0"/>
                        <a:t>執行工單發料，餘料則轉到線邊倉</a:t>
                      </a:r>
                    </a:p>
                  </a:txBody>
                  <a:tcPr marL="137160" marR="137160" marT="68591" marB="68591"/>
                </a:tc>
                <a:extLst>
                  <a:ext uri="{0D108BD9-81ED-4DB2-BD59-A6C34878D82A}">
                    <a16:rowId xmlns:a16="http://schemas.microsoft.com/office/drawing/2014/main" xmlns="" val="2767441219"/>
                  </a:ext>
                </a:extLst>
              </a:tr>
            </a:tbl>
          </a:graphicData>
        </a:graphic>
      </p:graphicFrame>
      <p:sp>
        <p:nvSpPr>
          <p:cNvPr id="22" name="圓角矩形 28">
            <a:extLst>
              <a:ext uri="{FF2B5EF4-FFF2-40B4-BE49-F238E27FC236}">
                <a16:creationId xmlns:a16="http://schemas.microsoft.com/office/drawing/2014/main" xmlns="" id="{2ADE7E69-4864-5416-F2CF-C30DA025ADD0}"/>
              </a:ext>
            </a:extLst>
          </p:cNvPr>
          <p:cNvSpPr/>
          <p:nvPr/>
        </p:nvSpPr>
        <p:spPr>
          <a:xfrm>
            <a:off x="9597833" y="3479718"/>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工單發料</a:t>
            </a:r>
          </a:p>
        </p:txBody>
      </p:sp>
      <p:cxnSp>
        <p:nvCxnSpPr>
          <p:cNvPr id="23" name="接點: 肘形 22">
            <a:extLst>
              <a:ext uri="{FF2B5EF4-FFF2-40B4-BE49-F238E27FC236}">
                <a16:creationId xmlns:a16="http://schemas.microsoft.com/office/drawing/2014/main" xmlns="" id="{5EB2006F-8130-CAA3-5DDC-D361E6E8BE69}"/>
              </a:ext>
            </a:extLst>
          </p:cNvPr>
          <p:cNvCxnSpPr>
            <a:cxnSpLocks/>
            <a:stCxn id="17" idx="3"/>
            <a:endCxn id="22" idx="1"/>
          </p:cNvCxnSpPr>
          <p:nvPr/>
        </p:nvCxnSpPr>
        <p:spPr>
          <a:xfrm>
            <a:off x="8690171" y="3910032"/>
            <a:ext cx="907662" cy="4192"/>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1" name="Group 220">
            <a:extLst>
              <a:ext uri="{FF2B5EF4-FFF2-40B4-BE49-F238E27FC236}">
                <a16:creationId xmlns:a16="http://schemas.microsoft.com/office/drawing/2014/main" xmlns="" id="{8FC6FCB2-4DBD-A6C0-F65D-3F63B4D5CFF1}"/>
              </a:ext>
            </a:extLst>
          </p:cNvPr>
          <p:cNvGrpSpPr/>
          <p:nvPr/>
        </p:nvGrpSpPr>
        <p:grpSpPr>
          <a:xfrm>
            <a:off x="8958033" y="3365977"/>
            <a:ext cx="533400" cy="408605"/>
            <a:chOff x="5906184" y="1486857"/>
            <a:chExt cx="355600" cy="272361"/>
          </a:xfrm>
        </p:grpSpPr>
        <p:sp>
          <p:nvSpPr>
            <p:cNvPr id="27" name="Oval 221">
              <a:extLst>
                <a:ext uri="{FF2B5EF4-FFF2-40B4-BE49-F238E27FC236}">
                  <a16:creationId xmlns:a16="http://schemas.microsoft.com/office/drawing/2014/main" xmlns="" id="{8A89300B-4478-E474-B1E5-D91D7CCCDFD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TextBox 222">
              <a:extLst>
                <a:ext uri="{FF2B5EF4-FFF2-40B4-BE49-F238E27FC236}">
                  <a16:creationId xmlns:a16="http://schemas.microsoft.com/office/drawing/2014/main" xmlns="" id="{1A880997-082D-8175-22A7-762D3422CB59}"/>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4" name="文字方塊 23">
            <a:extLst>
              <a:ext uri="{FF2B5EF4-FFF2-40B4-BE49-F238E27FC236}">
                <a16:creationId xmlns:a16="http://schemas.microsoft.com/office/drawing/2014/main" xmlns="" id="{8ECF4CE1-DDC2-62E8-3C4E-7ECD29FF75F3}"/>
              </a:ext>
            </a:extLst>
          </p:cNvPr>
          <p:cNvSpPr txBox="1"/>
          <p:nvPr/>
        </p:nvSpPr>
        <p:spPr>
          <a:xfrm>
            <a:off x="2428828" y="929452"/>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MM-IM-0030 </a:t>
            </a:r>
            <a:r>
              <a:rPr kumimoji="0" lang="zh-TW" altLang="en-US" b="1" dirty="0" smtClean="0">
                <a:latin typeface="微軟正黑體" panose="020B0604030504040204" pitchFamily="34" charset="-120"/>
                <a:ea typeface="微軟正黑體" panose="020B0604030504040204" pitchFamily="34" charset="-120"/>
              </a:rPr>
              <a:t>生產</a:t>
            </a:r>
            <a:r>
              <a:rPr kumimoji="0" lang="zh-TW" altLang="en-US" b="1" dirty="0">
                <a:latin typeface="微軟正黑體" panose="020B0604030504040204" pitchFamily="34" charset="-120"/>
                <a:ea typeface="微軟正黑體" panose="020B0604030504040204" pitchFamily="34" charset="-120"/>
              </a:rPr>
              <a:t>領料作業流程</a:t>
            </a:r>
          </a:p>
        </p:txBody>
      </p:sp>
      <p:sp>
        <p:nvSpPr>
          <p:cNvPr id="29"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15908</TotalTime>
  <Words>766</Words>
  <Application>Collabora_Office/23.05.5.4$Linux_X86_64 LibreOffice_project/1681200a96e5ffa1bee996c23ec760042f91abfa</Application>
  <PresentationFormat>自訂</PresentationFormat>
  <Paragraphs>172</Paragraphs>
  <Slides>7</Slides>
  <Notes>3</Notes>
  <HiddenSlides>0</HiddenSlides>
  <MMClips>0</MMClips>
  <ScaleCrop>false</ScaleCrop>
  <HeadingPairs>
    <vt:vector size="4" baseType="variant">
      <vt:variant>
        <vt:lpstr>佈景主題</vt:lpstr>
      </vt:variant>
      <vt:variant>
        <vt:i4>5</vt:i4>
      </vt:variant>
      <vt:variant>
        <vt:lpstr>投影片標題</vt:lpstr>
      </vt:variant>
      <vt:variant>
        <vt:i4>7</vt:i4>
      </vt:variant>
    </vt:vector>
  </HeadingPairs>
  <TitlesOfParts>
    <vt:vector size="12"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137</cp:revision>
  <dcterms:created xsi:type="dcterms:W3CDTF">2023-05-31T01:27:04Z</dcterms:created>
  <dcterms:modified xsi:type="dcterms:W3CDTF">2025-07-07T01:56:16Z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