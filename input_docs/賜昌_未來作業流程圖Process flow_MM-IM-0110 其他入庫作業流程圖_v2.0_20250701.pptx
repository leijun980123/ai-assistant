
<file path=[Content_Types].xml><?xml version="1.0" encoding="utf-8"?>
<Types xmlns="http://schemas.openxmlformats.org/package/2006/content-types">
  <Override PartName="/ppt/slideMasters/slideMaster3.xml" ContentType="application/vnd.openxmlformats-officedocument.presentationml.slideMaster+xml"/>
  <Override PartName="/ppt/slideLayouts/slideLayout39.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Override PartName="/ppt/slideLayouts/slideLayout53.xml" ContentType="application/vnd.openxmlformats-officedocument.presentationml.slideLayout+xml"/>
  <Override PartName="/ppt/slideLayouts/slideLayout62.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Layouts/slideLayout60.xml" ContentType="application/vnd.openxmlformats-officedocument.presentationml.slideLayout+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docProps/custom.xml" ContentType="application/vnd.openxmlformats-officedocument.custom-properties+xml"/>
  <Override PartName="/ppt/slideMasters/slideMaster4.xml" ContentType="application/vnd.openxmlformats-officedocument.presentationml.slideMaster+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8.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docProps/app.xml" ContentType="application/vnd.openxmlformats-officedocument.extended-properties+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5.xml" ContentType="application/vnd.openxmlformats-officedocument.presentationml.slideMaster+xml"/>
  <Override PartName="/ppt/slides/slide8.xml" ContentType="application/vnd.openxmlformats-officedocument.presentationml.slide+xml"/>
  <Override PartName="/ppt/slideLayouts/slideLayout5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9" r:id="rId1"/>
    <p:sldMasterId id="2147483921" r:id="rId2"/>
    <p:sldMasterId id="2147484103" r:id="rId3"/>
    <p:sldMasterId id="2147484285" r:id="rId4"/>
    <p:sldMasterId id="2147484467" r:id="rId5"/>
  </p:sldMasterIdLst>
  <p:notesMasterIdLst>
    <p:notesMasterId r:id="rId15"/>
  </p:notesMasterIdLst>
  <p:sldIdLst>
    <p:sldId id="256" r:id="rId6"/>
    <p:sldId id="257" r:id="rId7"/>
    <p:sldId id="258" r:id="rId8"/>
    <p:sldId id="290" r:id="rId9"/>
    <p:sldId id="294" r:id="rId10"/>
    <p:sldId id="291" r:id="rId11"/>
    <p:sldId id="293" r:id="rId12"/>
    <p:sldId id="263" r:id="rId13"/>
    <p:sldId id="264" r:id="rId14"/>
  </p:sldIdLst>
  <p:sldSz cx="18288000" cy="10288588"/>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7109" autoAdjust="0"/>
    <p:restoredTop sz="94688" autoAdjust="0"/>
  </p:normalViewPr>
  <p:slideViewPr>
    <p:cSldViewPr>
      <p:cViewPr>
        <p:scale>
          <a:sx n="60" d="100"/>
          <a:sy n="60" d="100"/>
        </p:scale>
        <p:origin x="8" y="220"/>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5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zh-TW" sz="4400" b="0" strike="noStrike" spc="-1">
                <a:solidFill>
                  <a:srgbClr val="000000"/>
                </a:solidFill>
                <a:latin typeface="Calibri"/>
              </a:rPr>
              <a:t>請按這裡移動投影片</a:t>
            </a:r>
            <a:endParaRPr lang="en-US" sz="4400" b="0" strike="noStrike" spc="-1">
              <a:solidFill>
                <a:srgbClr val="000000"/>
              </a:solidFill>
              <a:latin typeface="Calibri"/>
            </a:endParaRPr>
          </a:p>
        </p:txBody>
      </p:sp>
      <p:sp>
        <p:nvSpPr>
          <p:cNvPr id="285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zh-TW" sz="2000" b="0" strike="noStrike" spc="-1">
                <a:solidFill>
                  <a:srgbClr val="000000"/>
                </a:solidFill>
                <a:latin typeface="Calibri"/>
              </a:rPr>
              <a:t>請按這裡編輯備註格式</a:t>
            </a:r>
            <a:endParaRPr lang="en-US" sz="2000" b="0" strike="noStrike" spc="-1">
              <a:solidFill>
                <a:srgbClr val="000000"/>
              </a:solidFill>
              <a:latin typeface="Calibri"/>
            </a:endParaRPr>
          </a:p>
        </p:txBody>
      </p:sp>
      <p:sp>
        <p:nvSpPr>
          <p:cNvPr id="285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Calibri"/>
              </a:rPr>
              <a:t>&lt;頁首&gt;</a:t>
            </a:r>
          </a:p>
        </p:txBody>
      </p:sp>
      <p:sp>
        <p:nvSpPr>
          <p:cNvPr id="2853" name="PlaceHolder 4"/>
          <p:cNvSpPr>
            <a:spLocks noGrp="1"/>
          </p:cNvSpPr>
          <p:nvPr>
            <p:ph type="dt" idx="25"/>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Calibri"/>
              </a:defRPr>
            </a:lvl1pPr>
          </a:lstStyle>
          <a:p>
            <a:pPr indent="0" algn="r">
              <a:buNone/>
            </a:pPr>
            <a:r>
              <a:rPr lang="en-US" sz="1400" b="0" strike="noStrike" spc="-1">
                <a:solidFill>
                  <a:srgbClr val="000000"/>
                </a:solidFill>
                <a:latin typeface="Calibri"/>
              </a:rPr>
              <a:t>&lt;日期/時間&gt;</a:t>
            </a:r>
          </a:p>
        </p:txBody>
      </p:sp>
      <p:sp>
        <p:nvSpPr>
          <p:cNvPr id="2854" name="PlaceHolder 5"/>
          <p:cNvSpPr>
            <a:spLocks noGrp="1"/>
          </p:cNvSpPr>
          <p:nvPr>
            <p:ph type="ftr" idx="26"/>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&lt;頁尾&gt;</a:t>
            </a:r>
          </a:p>
        </p:txBody>
      </p:sp>
      <p:sp>
        <p:nvSpPr>
          <p:cNvPr id="2855" name="PlaceHolder 6"/>
          <p:cNvSpPr>
            <a:spLocks noGrp="1"/>
          </p:cNvSpPr>
          <p:nvPr>
            <p:ph type="sldNum" idx="27"/>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Calibri"/>
              </a:defRPr>
            </a:lvl1pPr>
          </a:lstStyle>
          <a:p>
            <a:pPr indent="0" algn="r">
              <a:buNone/>
            </a:pPr>
            <a:fld id="{FB232C99-2376-461D-B3FA-3C25B4154633}" type="slidenum">
              <a:rPr lang="en-US" sz="1400" b="0" strike="noStrike" spc="-1">
                <a:solidFill>
                  <a:srgbClr val="000000"/>
                </a:solidFill>
                <a:latin typeface="Calibri"/>
              </a:rPr>
              <a:pPr indent="0" algn="r">
                <a:buNone/>
              </a:pPr>
              <a:t>‹#›</a:t>
            </a:fld>
            <a:endParaRPr lang="en-US" sz="14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6" name="PlaceHolder 1"/>
          <p:cNvSpPr>
            <a:spLocks noGrp="1" noRot="1" noChangeAspect="1"/>
          </p:cNvSpPr>
          <p:nvPr>
            <p:ph type="sldImg"/>
          </p:nvPr>
        </p:nvSpPr>
        <p:spPr>
          <a:xfrm>
            <a:off x="685800" y="1143000"/>
            <a:ext cx="5486400" cy="3086100"/>
          </a:xfrm>
          <a:prstGeom prst="rect">
            <a:avLst/>
          </a:prstGeom>
          <a:ln w="0">
            <a:noFill/>
          </a:ln>
        </p:spPr>
      </p:sp>
      <p:sp>
        <p:nvSpPr>
          <p:cNvPr id="3007" name="PlaceHolder 2"/>
          <p:cNvSpPr>
            <a:spLocks noGrp="1"/>
          </p:cNvSpPr>
          <p:nvPr>
            <p:ph type="body"/>
          </p:nvPr>
        </p:nvSpPr>
        <p:spPr>
          <a:xfrm>
            <a:off x="685800" y="4400640"/>
            <a:ext cx="5485680" cy="359964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Calibri"/>
            </a:endParaRPr>
          </a:p>
        </p:txBody>
      </p:sp>
      <p:sp>
        <p:nvSpPr>
          <p:cNvPr id="3008" name="PlaceHolder 3"/>
          <p:cNvSpPr>
            <a:spLocks noGrp="1"/>
          </p:cNvSpPr>
          <p:nvPr>
            <p:ph type="sldNum" idx="28"/>
          </p:nvPr>
        </p:nvSpPr>
        <p:spPr>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Calibri"/>
              </a:defRPr>
            </a:lvl1pPr>
          </a:lstStyle>
          <a:p>
            <a:pPr indent="0" algn="r">
              <a:lnSpc>
                <a:spcPct val="100000"/>
              </a:lnSpc>
              <a:buNone/>
              <a:tabLst>
                <a:tab pos="0" algn="l"/>
              </a:tabLst>
            </a:pPr>
            <a:fld id="{1ABC4F31-EF1B-4B0A-996A-DE525BD4B68E}" type="slidenum">
              <a:rPr lang="en-US" sz="1200" b="0" strike="noStrike" spc="-1">
                <a:solidFill>
                  <a:srgbClr val="000000"/>
                </a:solidFill>
                <a:latin typeface="Calibri"/>
              </a:rPr>
              <a:pPr indent="0" algn="r">
                <a:lnSpc>
                  <a:spcPct val="100000"/>
                </a:lnSpc>
                <a:buNone/>
                <a:tabLst>
                  <a:tab pos="0" algn="l"/>
                </a:tabLst>
              </a:pPr>
              <a:t>1</a:t>
            </a:fld>
            <a:endParaRPr lang="en-US" sz="1200" b="0" strike="noStrike" spc="-1">
              <a:solidFill>
                <a:srgbClr val="000000"/>
              </a:solidFill>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2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5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5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6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6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87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7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8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9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6"/>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43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43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4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4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4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5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5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7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39"/>
        <p:cNvGrpSpPr/>
        <p:nvPr/>
      </p:nvGrpSpPr>
      <p:grpSpPr>
        <a:xfrm>
          <a:off x="0" y="0"/>
          <a:ext cx="0" cy="0"/>
          <a:chOff x="0" y="0"/>
          <a:chExt cx="0" cy="0"/>
        </a:xfrm>
      </p:grpSpPr>
      <p:sp>
        <p:nvSpPr>
          <p:cNvPr id="40" name="Google Shape;40;p10"/>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graphicFrame>
        <p:nvGraphicFramePr>
          <p:cNvPr id="43" name="Google Shape;43;p10"/>
          <p:cNvGraphicFramePr/>
          <p:nvPr>
            <p:extLst>
              <p:ext uri="{D42A27DB-BD31-4B8C-83A1-F6EECF244321}">
                <p14:modId xmlns:p14="http://schemas.microsoft.com/office/powerpoint/2010/main" xmlns="" val="1351047670"/>
              </p:ext>
            </p:extLst>
          </p:nvPr>
        </p:nvGraphicFramePr>
        <p:xfrm>
          <a:off x="192504" y="180467"/>
          <a:ext cx="17917688" cy="1420720"/>
        </p:xfrm>
        <a:graphic>
          <a:graphicData uri="http://schemas.openxmlformats.org/drawingml/2006/table">
            <a:tbl>
              <a:tblPr>
                <a:noFill/>
              </a:tblPr>
              <a:tblGrid>
                <a:gridCol w="2126250">
                  <a:extLst>
                    <a:ext uri="{9D8B030D-6E8A-4147-A177-3AD203B41FA5}">
                      <a16:colId xmlns:a16="http://schemas.microsoft.com/office/drawing/2014/main" xmlns="" val="20000"/>
                    </a:ext>
                  </a:extLst>
                </a:gridCol>
                <a:gridCol w="13144425">
                  <a:extLst>
                    <a:ext uri="{9D8B030D-6E8A-4147-A177-3AD203B41FA5}">
                      <a16:colId xmlns:a16="http://schemas.microsoft.com/office/drawing/2014/main" xmlns="" val="20001"/>
                    </a:ext>
                  </a:extLst>
                </a:gridCol>
                <a:gridCol w="2647013">
                  <a:extLst>
                    <a:ext uri="{9D8B030D-6E8A-4147-A177-3AD203B41FA5}">
                      <a16:colId xmlns:a16="http://schemas.microsoft.com/office/drawing/2014/main" xmlns="" val="20002"/>
                    </a:ext>
                  </a:extLst>
                </a:gridCol>
              </a:tblGrid>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Company / 公司名稱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100" b="1" dirty="0">
                          <a:solidFill>
                            <a:schemeClr val="dk1"/>
                          </a:solidFill>
                          <a:latin typeface="Microsoft JhengHei"/>
                          <a:ea typeface="Microsoft JhengHei"/>
                          <a:cs typeface="Microsoft JhengHei"/>
                          <a:sym typeface="Microsoft JhengHei"/>
                        </a:rPr>
                        <a:t>Dean Shoes </a:t>
                      </a:r>
                      <a:r>
                        <a:rPr lang="zh-TW" altLang="en-US" sz="2100" b="1" dirty="0">
                          <a:solidFill>
                            <a:schemeClr val="dk1"/>
                          </a:solidFill>
                          <a:latin typeface="Microsoft JhengHei"/>
                          <a:ea typeface="Microsoft JhengHei"/>
                          <a:cs typeface="Microsoft JhengHei"/>
                          <a:sym typeface="Microsoft JhengHei"/>
                        </a:rPr>
                        <a:t>隆典集團</a:t>
                      </a: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endParaRPr sz="150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0000"/>
                  </a:ext>
                </a:extLst>
              </a:tr>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Process ID / Name</a:t>
                      </a:r>
                      <a:endParaRPr sz="2700"/>
                    </a:p>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流程代碼 / 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500" dirty="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a16="http://schemas.microsoft.com/office/drawing/2014/main" xmlns="" val="10001"/>
                  </a:ext>
                </a:extLst>
              </a:tr>
            </a:tbl>
          </a:graphicData>
        </a:graphic>
      </p:graphicFrame>
      <p:sp>
        <p:nvSpPr>
          <p:cNvPr id="44" name="Google Shape;44;p10"/>
          <p:cNvSpPr/>
          <p:nvPr/>
        </p:nvSpPr>
        <p:spPr>
          <a:xfrm>
            <a:off x="15493776" y="846424"/>
            <a:ext cx="2601720" cy="664224"/>
          </a:xfrm>
          <a:prstGeom prst="rect">
            <a:avLst/>
          </a:prstGeom>
          <a:noFill/>
          <a:ln>
            <a:noFill/>
          </a:ln>
        </p:spPr>
        <p:txBody>
          <a:bodyPr spcFirstLastPara="1" wrap="square" lIns="137138" tIns="68550" rIns="137138" bIns="68550" anchor="t" anchorCtr="0">
            <a:spAutoFit/>
          </a:bodyPr>
          <a:lstStyle/>
          <a:p>
            <a:pPr marL="0" marR="0" lvl="0" indent="0" algn="l" rtl="0">
              <a:lnSpc>
                <a:spcPct val="100000"/>
              </a:lnSpc>
              <a:spcBef>
                <a:spcPts val="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PAGE </a:t>
            </a:r>
            <a:r>
              <a:rPr lang="en-US" sz="1500" b="0" i="0" u="none" strike="noStrike" cap="none" dirty="0" err="1">
                <a:solidFill>
                  <a:schemeClr val="dk1"/>
                </a:solidFill>
                <a:latin typeface="Microsoft JhengHei"/>
                <a:ea typeface="Microsoft JhengHei"/>
                <a:cs typeface="Microsoft JhengHei"/>
                <a:sym typeface="Microsoft JhengHei"/>
              </a:rPr>
              <a:t>頁次</a:t>
            </a:r>
            <a:r>
              <a:rPr lang="en-US" sz="1500" b="0" i="0" u="none" strike="noStrike" cap="none" dirty="0">
                <a:solidFill>
                  <a:schemeClr val="dk1"/>
                </a:solidFill>
                <a:latin typeface="Microsoft JhengHei"/>
                <a:ea typeface="Microsoft JhengHei"/>
                <a:cs typeface="Microsoft JhengHei"/>
                <a:sym typeface="Microsoft JhengHei"/>
              </a:rPr>
              <a:t> ：</a:t>
            </a:r>
            <a:endParaRPr dirty="0"/>
          </a:p>
          <a:p>
            <a:pPr marL="0" marR="0" lvl="0" indent="0" algn="l" rtl="0">
              <a:lnSpc>
                <a:spcPct val="100000"/>
              </a:lnSpc>
              <a:spcBef>
                <a:spcPts val="45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Latest Update :</a:t>
            </a:r>
            <a:endParaRPr dirty="0"/>
          </a:p>
        </p:txBody>
      </p:sp>
      <p:pic>
        <p:nvPicPr>
          <p:cNvPr id="46" name="Google Shape;46;p10" descr="A red and black logo&#10;&#10;Description automatically generated"/>
          <p:cNvPicPr preferRelativeResize="0"/>
          <p:nvPr/>
        </p:nvPicPr>
        <p:blipFill rotWithShape="1">
          <a:blip r:embed="rId2">
            <a:alphaModFix/>
          </a:blip>
          <a:srcRect/>
          <a:stretch/>
        </p:blipFill>
        <p:spPr>
          <a:xfrm>
            <a:off x="17304487" y="200232"/>
            <a:ext cx="785222" cy="684371"/>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18"/>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1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01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1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2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02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2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2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3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03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0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0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5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18"/>
          </p:nvPr>
        </p:nvSpPr>
        <p:spPr/>
        <p:txBody>
          <a:body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39"/>
        <p:cNvGrpSpPr/>
        <p:nvPr/>
      </p:nvGrpSpPr>
      <p:grpSpPr>
        <a:xfrm>
          <a:off x="0" y="0"/>
          <a:ext cx="0" cy="0"/>
          <a:chOff x="0" y="0"/>
          <a:chExt cx="0" cy="0"/>
        </a:xfrm>
      </p:grpSpPr>
      <p:sp>
        <p:nvSpPr>
          <p:cNvPr id="40" name="Google Shape;40;p10"/>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graphicFrame>
        <p:nvGraphicFramePr>
          <p:cNvPr id="43" name="Google Shape;43;p10"/>
          <p:cNvGraphicFramePr/>
          <p:nvPr>
            <p:extLst>
              <p:ext uri="{D42A27DB-BD31-4B8C-83A1-F6EECF244321}">
                <p14:modId xmlns="" xmlns:p14="http://schemas.microsoft.com/office/powerpoint/2010/main" val="1351047670"/>
              </p:ext>
            </p:extLst>
          </p:nvPr>
        </p:nvGraphicFramePr>
        <p:xfrm>
          <a:off x="192504" y="180467"/>
          <a:ext cx="17917688" cy="1420720"/>
        </p:xfrm>
        <a:graphic>
          <a:graphicData uri="http://schemas.openxmlformats.org/drawingml/2006/table">
            <a:tbl>
              <a:tblPr>
                <a:noFill/>
              </a:tblPr>
              <a:tblGrid>
                <a:gridCol w="2126250">
                  <a:extLst>
                    <a:ext uri="{9D8B030D-6E8A-4147-A177-3AD203B41FA5}">
                      <a16:colId xmlns="" xmlns:a16="http://schemas.microsoft.com/office/drawing/2014/main" val="20000"/>
                    </a:ext>
                  </a:extLst>
                </a:gridCol>
                <a:gridCol w="13144425">
                  <a:extLst>
                    <a:ext uri="{9D8B030D-6E8A-4147-A177-3AD203B41FA5}">
                      <a16:colId xmlns="" xmlns:a16="http://schemas.microsoft.com/office/drawing/2014/main" val="20001"/>
                    </a:ext>
                  </a:extLst>
                </a:gridCol>
                <a:gridCol w="2647013">
                  <a:extLst>
                    <a:ext uri="{9D8B030D-6E8A-4147-A177-3AD203B41FA5}">
                      <a16:colId xmlns="" xmlns:a16="http://schemas.microsoft.com/office/drawing/2014/main" val="20002"/>
                    </a:ext>
                  </a:extLst>
                </a:gridCol>
              </a:tblGrid>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Company / 公司名稱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100" b="1" dirty="0">
                          <a:solidFill>
                            <a:schemeClr val="dk1"/>
                          </a:solidFill>
                          <a:latin typeface="Microsoft JhengHei"/>
                          <a:ea typeface="Microsoft JhengHei"/>
                          <a:cs typeface="Microsoft JhengHei"/>
                          <a:sym typeface="Microsoft JhengHei"/>
                        </a:rPr>
                        <a:t>Dean Shoes </a:t>
                      </a:r>
                      <a:r>
                        <a:rPr lang="zh-TW" altLang="en-US" sz="2100" b="1" dirty="0">
                          <a:solidFill>
                            <a:schemeClr val="dk1"/>
                          </a:solidFill>
                          <a:latin typeface="Microsoft JhengHei"/>
                          <a:ea typeface="Microsoft JhengHei"/>
                          <a:cs typeface="Microsoft JhengHei"/>
                          <a:sym typeface="Microsoft JhengHei"/>
                        </a:rPr>
                        <a:t>隆典集團</a:t>
                      </a: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endParaRPr sz="150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Process ID / Name</a:t>
                      </a:r>
                      <a:endParaRPr sz="2700"/>
                    </a:p>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流程代碼 / 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500" dirty="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 xmlns:a16="http://schemas.microsoft.com/office/drawing/2014/main" val="10001"/>
                  </a:ext>
                </a:extLst>
              </a:tr>
            </a:tbl>
          </a:graphicData>
        </a:graphic>
      </p:graphicFrame>
      <p:sp>
        <p:nvSpPr>
          <p:cNvPr id="44" name="Google Shape;44;p10"/>
          <p:cNvSpPr/>
          <p:nvPr/>
        </p:nvSpPr>
        <p:spPr>
          <a:xfrm>
            <a:off x="15493776" y="846424"/>
            <a:ext cx="2601720" cy="664224"/>
          </a:xfrm>
          <a:prstGeom prst="rect">
            <a:avLst/>
          </a:prstGeom>
          <a:noFill/>
          <a:ln>
            <a:noFill/>
          </a:ln>
        </p:spPr>
        <p:txBody>
          <a:bodyPr spcFirstLastPara="1" wrap="square" lIns="137138" tIns="68550" rIns="137138" bIns="68550" anchor="t" anchorCtr="0">
            <a:spAutoFit/>
          </a:bodyPr>
          <a:lstStyle/>
          <a:p>
            <a:pPr marL="0" marR="0" lvl="0" indent="0" algn="l" rtl="0">
              <a:lnSpc>
                <a:spcPct val="100000"/>
              </a:lnSpc>
              <a:spcBef>
                <a:spcPts val="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PAGE </a:t>
            </a:r>
            <a:r>
              <a:rPr lang="en-US" sz="1500" b="0" i="0" u="none" strike="noStrike" cap="none" dirty="0" err="1">
                <a:solidFill>
                  <a:schemeClr val="dk1"/>
                </a:solidFill>
                <a:latin typeface="Microsoft JhengHei"/>
                <a:ea typeface="Microsoft JhengHei"/>
                <a:cs typeface="Microsoft JhengHei"/>
                <a:sym typeface="Microsoft JhengHei"/>
              </a:rPr>
              <a:t>頁次</a:t>
            </a:r>
            <a:r>
              <a:rPr lang="en-US" sz="1500" b="0" i="0" u="none" strike="noStrike" cap="none" dirty="0">
                <a:solidFill>
                  <a:schemeClr val="dk1"/>
                </a:solidFill>
                <a:latin typeface="Microsoft JhengHei"/>
                <a:ea typeface="Microsoft JhengHei"/>
                <a:cs typeface="Microsoft JhengHei"/>
                <a:sym typeface="Microsoft JhengHei"/>
              </a:rPr>
              <a:t> ：</a:t>
            </a:r>
            <a:endParaRPr dirty="0"/>
          </a:p>
          <a:p>
            <a:pPr marL="0" marR="0" lvl="0" indent="0" algn="l" rtl="0">
              <a:lnSpc>
                <a:spcPct val="100000"/>
              </a:lnSpc>
              <a:spcBef>
                <a:spcPts val="45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Latest Update :</a:t>
            </a:r>
            <a:endParaRPr dirty="0"/>
          </a:p>
        </p:txBody>
      </p:sp>
      <p:pic>
        <p:nvPicPr>
          <p:cNvPr id="46" name="Google Shape;46;p10" descr="A red and black logo&#10;&#10;Description automatically generated"/>
          <p:cNvPicPr preferRelativeResize="0"/>
          <p:nvPr/>
        </p:nvPicPr>
        <p:blipFill rotWithShape="1">
          <a:blip r:embed="rId2">
            <a:alphaModFix/>
          </a:blip>
          <a:srcRect/>
          <a:stretch/>
        </p:blipFill>
        <p:spPr>
          <a:xfrm>
            <a:off x="17304487" y="200232"/>
            <a:ext cx="785222" cy="684371"/>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58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2"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5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4"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5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6"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87"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58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589"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9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1"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2"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3"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5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5"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6"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7"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5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9"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1"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3"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4"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0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6"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7"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8"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9"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11"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2"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3"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4"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5"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6"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3.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image" Target="../media/image3.png"/><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2" name="圖片 8"/>
          <p:cNvPicPr/>
          <p:nvPr/>
        </p:nvPicPr>
        <p:blipFill>
          <a:blip r:embed="rId14"/>
          <a:stretch/>
        </p:blipFill>
        <p:spPr>
          <a:xfrm>
            <a:off x="0" y="0"/>
            <a:ext cx="18287280" cy="10287720"/>
          </a:xfrm>
          <a:prstGeom prst="rect">
            <a:avLst/>
          </a:prstGeom>
          <a:ln w="0">
            <a:noFill/>
          </a:ln>
        </p:spPr>
      </p:pic>
      <p:sp>
        <p:nvSpPr>
          <p:cNvPr id="2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8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50" name="圖片 2"/>
          <p:cNvPicPr/>
          <p:nvPr/>
        </p:nvPicPr>
        <p:blipFill>
          <a:blip r:embed="rId14"/>
          <a:stretch/>
        </p:blipFill>
        <p:spPr>
          <a:xfrm>
            <a:off x="0" y="1440"/>
            <a:ext cx="18287280" cy="10285200"/>
          </a:xfrm>
          <a:prstGeom prst="rect">
            <a:avLst/>
          </a:prstGeom>
          <a:ln w="0">
            <a:noFill/>
          </a:ln>
        </p:spPr>
      </p:pic>
      <p:sp>
        <p:nvSpPr>
          <p:cNvPr id="851" name="TextBox 1"/>
          <p:cNvSpPr/>
          <p:nvPr/>
        </p:nvSpPr>
        <p:spPr>
          <a:xfrm>
            <a:off x="660600" y="600840"/>
            <a:ext cx="3228840" cy="100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6000" b="1" strike="noStrike" spc="-1">
                <a:solidFill>
                  <a:schemeClr val="dk1"/>
                </a:solidFill>
                <a:latin typeface="Microsoft JhengHei"/>
                <a:ea typeface="Microsoft JhengHei"/>
              </a:rPr>
              <a:t>重要聲明</a:t>
            </a:r>
            <a:endParaRPr lang="en-US" sz="6000" b="0" strike="noStrike" spc="-1">
              <a:solidFill>
                <a:srgbClr val="000000"/>
              </a:solidFill>
              <a:latin typeface="Calibri"/>
            </a:endParaRPr>
          </a:p>
        </p:txBody>
      </p:sp>
      <p:sp>
        <p:nvSpPr>
          <p:cNvPr id="852" name="TextBox 3"/>
          <p:cNvSpPr/>
          <p:nvPr/>
        </p:nvSpPr>
        <p:spPr>
          <a:xfrm>
            <a:off x="561240" y="3205080"/>
            <a:ext cx="17165160" cy="338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rgbClr val="000000"/>
                </a:solidFill>
                <a:latin typeface="微軟正黑體"/>
                <a:ea typeface="微軟正黑體"/>
              </a:rPr>
              <a:t>本簡報依據</a:t>
            </a:r>
            <a:r>
              <a:rPr lang="zh-TW" sz="2400" b="1" strike="noStrike" spc="-1">
                <a:solidFill>
                  <a:schemeClr val="dk1"/>
                </a:solidFill>
                <a:latin typeface="微軟正黑體"/>
                <a:ea typeface="微軟正黑體"/>
              </a:rPr>
              <a:t>裕榮昌科技股份有限公司台中分公司</a:t>
            </a:r>
            <a:r>
              <a:rPr lang="zh-TW" sz="2400" b="1" strike="noStrike" spc="-1">
                <a:solidFill>
                  <a:srgbClr val="000000"/>
                </a:solidFill>
                <a:latin typeface="微軟正黑體"/>
                <a:ea typeface="微軟正黑體"/>
              </a:rPr>
              <a:t>之需求所編製。</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本份簡報係於</a:t>
            </a:r>
            <a:r>
              <a:rPr lang="en-US" sz="2400" b="1" strike="noStrike" spc="-1">
                <a:solidFill>
                  <a:schemeClr val="dk1"/>
                </a:solidFill>
                <a:latin typeface="微軟正黑體"/>
                <a:ea typeface="微軟正黑體"/>
              </a:rPr>
              <a:t>2025</a:t>
            </a:r>
            <a:r>
              <a:rPr lang="zh-TW" sz="2400" b="1" strike="noStrike" spc="-1">
                <a:solidFill>
                  <a:schemeClr val="dk1"/>
                </a:solidFill>
                <a:latin typeface="微軟正黑體"/>
                <a:ea typeface="微軟正黑體"/>
              </a:rPr>
              <a:t>年</a:t>
            </a:r>
            <a:r>
              <a:rPr lang="en-US" sz="2400" b="1" strike="noStrike" spc="-1">
                <a:solidFill>
                  <a:schemeClr val="dk1"/>
                </a:solidFill>
                <a:latin typeface="微軟正黑體"/>
                <a:ea typeface="微軟正黑體"/>
              </a:rPr>
              <a:t>4</a:t>
            </a:r>
            <a:r>
              <a:rPr lang="zh-TW" sz="2400" b="1" strike="noStrike" spc="-1">
                <a:solidFill>
                  <a:schemeClr val="dk1"/>
                </a:solidFill>
                <a:latin typeface="微軟正黑體"/>
                <a:ea typeface="微軟正黑體"/>
              </a:rPr>
              <a:t>月</a:t>
            </a:r>
            <a:r>
              <a:rPr lang="en-US" sz="2400" b="1" strike="noStrike" spc="-1">
                <a:solidFill>
                  <a:schemeClr val="dk1"/>
                </a:solidFill>
                <a:latin typeface="微軟正黑體"/>
                <a:ea typeface="微軟正黑體"/>
              </a:rPr>
              <a:t>1</a:t>
            </a:r>
            <a:r>
              <a:rPr lang="zh-TW" sz="2400" b="1" strike="noStrike" spc="-1">
                <a:solidFill>
                  <a:schemeClr val="dk1"/>
                </a:solidFill>
                <a:latin typeface="微軟正黑體"/>
                <a:ea typeface="微軟正黑體"/>
              </a:rPr>
              <a:t>日簽訂之服務委任合約製作完成，僅提供賜昌集團內部參考使用。</a:t>
            </a:r>
            <a:endParaRPr lang="en-US" sz="2400" b="0" strike="noStrike" spc="-1">
              <a:solidFill>
                <a:srgbClr val="000000"/>
              </a:solidFill>
              <a:latin typeface="Calibri"/>
            </a:endParaRPr>
          </a:p>
          <a:p>
            <a:pPr algn="just"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defTabSz="457200">
              <a:lnSpc>
                <a:spcPct val="100000"/>
              </a:lnSpc>
            </a:pPr>
            <a:r>
              <a:rPr lang="zh-TW" sz="2400" b="1" strike="noStrike" spc="-1">
                <a:solidFill>
                  <a:srgbClr val="000000"/>
                </a:solidFill>
                <a:latin typeface="微軟正黑體"/>
                <a:ea typeface="微軟正黑體"/>
              </a:rPr>
              <a:t>未經本公司書面同意，  貴公司以及專案所有成員不得將本簡報之全部或部分提供予任何第三人或使第三人得知其內容。</a:t>
            </a:r>
            <a:endParaRPr lang="en-US" sz="2400" b="0" strike="noStrike" spc="-1">
              <a:solidFill>
                <a:srgbClr val="000000"/>
              </a:solidFill>
              <a:latin typeface="Calibri"/>
            </a:endParaRPr>
          </a:p>
        </p:txBody>
      </p:sp>
      <p:sp>
        <p:nvSpPr>
          <p:cNvPr id="85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85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30" name="Google Shape;35;p9"/>
          <p:cNvGraphicFramePr/>
          <p:nvPr/>
        </p:nvGraphicFramePr>
        <p:xfrm>
          <a:off x="122400" y="114480"/>
          <a:ext cx="18019800" cy="10040760"/>
        </p:xfrm>
        <a:graphic>
          <a:graphicData uri="http://schemas.openxmlformats.org/drawingml/2006/table">
            <a:tbl>
              <a:tblPr/>
              <a:tblGrid>
                <a:gridCol w="2311200"/>
                <a:gridCol w="1188936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8799120">
                <a:tc gridSpan="3">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pic>
        <p:nvPicPr>
          <p:cNvPr id="1431" name="Google Shape;37;p9" descr="A red and black logo&#10;&#10;Description automatically generated"/>
          <p:cNvPicPr/>
          <p:nvPr/>
        </p:nvPicPr>
        <p:blipFill>
          <a:blip r:embed="rId15"/>
          <a:stretch/>
        </p:blipFill>
        <p:spPr>
          <a:xfrm>
            <a:off x="7067520" y="213120"/>
            <a:ext cx="482040" cy="419400"/>
          </a:xfrm>
          <a:prstGeom prst="rect">
            <a:avLst/>
          </a:prstGeom>
          <a:ln w="0">
            <a:noFill/>
          </a:ln>
        </p:spPr>
      </p:pic>
      <p:sp>
        <p:nvSpPr>
          <p:cNvPr id="1432" name="PlaceHolder 1"/>
          <p:cNvSpPr>
            <a:spLocks noGrp="1"/>
          </p:cNvSpPr>
          <p:nvPr>
            <p:ph type="dt" idx="6"/>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143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143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104" r:id="rId1"/>
    <p:sldLayoutId id="2147484105" r:id="rId2"/>
    <p:sldLayoutId id="2147484106" r:id="rId3"/>
    <p:sldLayoutId id="2147484107" r:id="rId4"/>
    <p:sldLayoutId id="2147484108" r:id="rId5"/>
    <p:sldLayoutId id="2147484109" r:id="rId6"/>
    <p:sldLayoutId id="2147484110" r:id="rId7"/>
    <p:sldLayoutId id="2147484111" r:id="rId8"/>
    <p:sldLayoutId id="2147484112" r:id="rId9"/>
    <p:sldLayoutId id="2147484113" r:id="rId10"/>
    <p:sldLayoutId id="2147484114" r:id="rId11"/>
    <p:sldLayoutId id="2147484115" r:id="rId12"/>
    <p:sldLayoutId id="2147484481" r:id="rId13"/>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010" name="Google Shape;35;p9"/>
          <p:cNvGraphicFramePr/>
          <p:nvPr/>
        </p:nvGraphicFramePr>
        <p:xfrm>
          <a:off x="122400" y="114480"/>
          <a:ext cx="18019440" cy="10040760"/>
        </p:xfrm>
        <a:graphic>
          <a:graphicData uri="http://schemas.openxmlformats.org/drawingml/2006/table">
            <a:tbl>
              <a:tblPr/>
              <a:tblGrid>
                <a:gridCol w="2311200"/>
                <a:gridCol w="9468720"/>
                <a:gridCol w="242028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7008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Input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Output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Activities</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8429040">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bl>
          </a:graphicData>
        </a:graphic>
      </p:graphicFrame>
      <p:pic>
        <p:nvPicPr>
          <p:cNvPr id="2011" name="Google Shape;37;p9" descr="A red and black logo&#10;&#10;Description automatically generated"/>
          <p:cNvPicPr/>
          <p:nvPr/>
        </p:nvPicPr>
        <p:blipFill>
          <a:blip r:embed="rId15"/>
          <a:stretch/>
        </p:blipFill>
        <p:spPr>
          <a:xfrm>
            <a:off x="7067520" y="213120"/>
            <a:ext cx="482040" cy="419400"/>
          </a:xfrm>
          <a:prstGeom prst="rect">
            <a:avLst/>
          </a:prstGeom>
          <a:ln w="0">
            <a:noFill/>
          </a:ln>
        </p:spPr>
      </p:pic>
      <p:sp>
        <p:nvSpPr>
          <p:cNvPr id="2012" name="PlaceHolder 1"/>
          <p:cNvSpPr>
            <a:spLocks noGrp="1"/>
          </p:cNvSpPr>
          <p:nvPr>
            <p:ph type="dt" idx="18"/>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201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01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286" r:id="rId1"/>
    <p:sldLayoutId id="2147484287" r:id="rId2"/>
    <p:sldLayoutId id="2147484288" r:id="rId3"/>
    <p:sldLayoutId id="2147484289" r:id="rId4"/>
    <p:sldLayoutId id="2147484290" r:id="rId5"/>
    <p:sldLayoutId id="2147484291" r:id="rId6"/>
    <p:sldLayoutId id="2147484292" r:id="rId7"/>
    <p:sldLayoutId id="2147484293" r:id="rId8"/>
    <p:sldLayoutId id="2147484294" r:id="rId9"/>
    <p:sldLayoutId id="2147484295" r:id="rId10"/>
    <p:sldLayoutId id="2147484296" r:id="rId11"/>
    <p:sldLayoutId id="2147484297" r:id="rId12"/>
    <p:sldLayoutId id="2147484480" r:id="rId13"/>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78" name="圖片 4"/>
          <p:cNvPicPr/>
          <p:nvPr/>
        </p:nvPicPr>
        <p:blipFill>
          <a:blip r:embed="rId14"/>
          <a:stretch/>
        </p:blipFill>
        <p:spPr>
          <a:xfrm>
            <a:off x="0" y="0"/>
            <a:ext cx="18287280" cy="10287720"/>
          </a:xfrm>
          <a:prstGeom prst="rect">
            <a:avLst/>
          </a:prstGeom>
          <a:ln w="0">
            <a:noFill/>
          </a:ln>
        </p:spPr>
      </p:pic>
      <p:sp>
        <p:nvSpPr>
          <p:cNvPr id="25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580"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468" r:id="rId1"/>
    <p:sldLayoutId id="2147484469" r:id="rId2"/>
    <p:sldLayoutId id="2147484470" r:id="rId3"/>
    <p:sldLayoutId id="2147484471" r:id="rId4"/>
    <p:sldLayoutId id="2147484472" r:id="rId5"/>
    <p:sldLayoutId id="2147484473" r:id="rId6"/>
    <p:sldLayoutId id="2147484474" r:id="rId7"/>
    <p:sldLayoutId id="2147484475" r:id="rId8"/>
    <p:sldLayoutId id="2147484476" r:id="rId9"/>
    <p:sldLayoutId id="2147484477" r:id="rId10"/>
    <p:sldLayoutId id="2147484478" r:id="rId11"/>
    <p:sldLayoutId id="2147484479"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 name="矩形 1"/>
          <p:cNvSpPr/>
          <p:nvPr/>
        </p:nvSpPr>
        <p:spPr>
          <a:xfrm>
            <a:off x="843480" y="5144400"/>
            <a:ext cx="6536520" cy="155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4800" b="1" strike="noStrike" spc="-1">
                <a:solidFill>
                  <a:schemeClr val="dk1"/>
                </a:solidFill>
                <a:latin typeface="Microsoft JhengHei"/>
                <a:ea typeface="Microsoft JhengHei"/>
              </a:rPr>
              <a:t>賜昌集團 </a:t>
            </a:r>
            <a:r>
              <a:rPr lang="en-US" sz="4800" b="1" strike="noStrike" spc="-1">
                <a:solidFill>
                  <a:schemeClr val="dk1"/>
                </a:solidFill>
                <a:latin typeface="Microsoft JhengHei"/>
                <a:ea typeface="Microsoft JhengHei"/>
              </a:rPr>
              <a:t>SAP</a:t>
            </a:r>
            <a:r>
              <a:rPr lang="zh-TW" sz="4800" b="1" strike="noStrike" spc="-1">
                <a:solidFill>
                  <a:schemeClr val="dk1"/>
                </a:solidFill>
                <a:latin typeface="Microsoft JhengHei"/>
                <a:ea typeface="Microsoft JhengHei"/>
              </a:rPr>
              <a:t>推進中心</a:t>
            </a:r>
            <a:endParaRPr lang="en-US" sz="4800" b="0" strike="noStrike" spc="-1">
              <a:solidFill>
                <a:srgbClr val="000000"/>
              </a:solidFill>
              <a:latin typeface="Calibri"/>
            </a:endParaRPr>
          </a:p>
        </p:txBody>
      </p:sp>
      <p:sp>
        <p:nvSpPr>
          <p:cNvPr id="2857" name="TextBox 2"/>
          <p:cNvSpPr/>
          <p:nvPr/>
        </p:nvSpPr>
        <p:spPr>
          <a:xfrm>
            <a:off x="852840" y="7871400"/>
            <a:ext cx="2828380" cy="73721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dirty="0">
                <a:solidFill>
                  <a:schemeClr val="dk1"/>
                </a:solidFill>
                <a:latin typeface="Microsoft JhengHei"/>
                <a:ea typeface="Microsoft JhengHei"/>
              </a:rPr>
              <a:t>Presentation by </a:t>
            </a:r>
            <a:r>
              <a:rPr lang="en-US" sz="2100" b="1" strike="noStrike" spc="-1" dirty="0">
                <a:solidFill>
                  <a:schemeClr val="dk1"/>
                </a:solidFill>
                <a:latin typeface="Microsoft JhengHei"/>
                <a:ea typeface="Microsoft JhengHei"/>
              </a:rPr>
              <a:t>DSIT</a:t>
            </a:r>
            <a:endParaRPr lang="en-US" sz="2100" b="0" strike="noStrike" spc="-1" dirty="0">
              <a:solidFill>
                <a:srgbClr val="000000"/>
              </a:solidFill>
              <a:latin typeface="Calibri"/>
            </a:endParaRPr>
          </a:p>
          <a:p>
            <a:pPr defTabSz="457200">
              <a:lnSpc>
                <a:spcPct val="100000"/>
              </a:lnSpc>
            </a:pPr>
            <a:r>
              <a:rPr lang="en-US" sz="2100" b="0" strike="noStrike" spc="-1" dirty="0" smtClean="0">
                <a:solidFill>
                  <a:schemeClr val="dk1"/>
                </a:solidFill>
                <a:latin typeface="Microsoft JhengHei"/>
                <a:ea typeface="Microsoft JhengHei"/>
              </a:rPr>
              <a:t>2025/07/01</a:t>
            </a:r>
            <a:endParaRPr lang="en-US" sz="2100" b="0" strike="noStrike" spc="-1" dirty="0">
              <a:solidFill>
                <a:srgbClr val="000000"/>
              </a:solidFill>
              <a:latin typeface="Calibri"/>
            </a:endParaRPr>
          </a:p>
        </p:txBody>
      </p:sp>
      <p:sp>
        <p:nvSpPr>
          <p:cNvPr id="2858" name="矩形 1"/>
          <p:cNvSpPr/>
          <p:nvPr/>
        </p:nvSpPr>
        <p:spPr>
          <a:xfrm>
            <a:off x="843480" y="652320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3600" b="0" strike="noStrike" spc="-1" dirty="0" smtClean="0">
                <a:solidFill>
                  <a:schemeClr val="dk1"/>
                </a:solidFill>
                <a:latin typeface="Microsoft JhengHei"/>
                <a:ea typeface="Microsoft JhengHei"/>
              </a:rPr>
              <a:t>MM-IM-0110</a:t>
            </a:r>
            <a:endParaRPr lang="en-US" sz="3600" b="0" strike="noStrike" spc="-1" dirty="0">
              <a:solidFill>
                <a:srgbClr val="000000"/>
              </a:solidFill>
              <a:latin typeface="Calibri"/>
            </a:endParaRPr>
          </a:p>
        </p:txBody>
      </p:sp>
      <p:sp>
        <p:nvSpPr>
          <p:cNvPr id="2859" name="矩形 1"/>
          <p:cNvSpPr/>
          <p:nvPr/>
        </p:nvSpPr>
        <p:spPr>
          <a:xfrm>
            <a:off x="843480" y="7179120"/>
            <a:ext cx="7586140" cy="644877"/>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457200">
              <a:lnSpc>
                <a:spcPct val="100000"/>
              </a:lnSpc>
            </a:pPr>
            <a:r>
              <a:rPr lang="zh-TW" altLang="en-US" sz="3600" spc="-1" dirty="0" smtClean="0">
                <a:solidFill>
                  <a:schemeClr val="dk1"/>
                </a:solidFill>
                <a:latin typeface="Microsoft JhengHei"/>
                <a:ea typeface="Microsoft JhengHei"/>
              </a:rPr>
              <a:t>其他入庫作業流程</a:t>
            </a:r>
            <a:endParaRPr lang="en-US" sz="3600" b="0" strike="noStrike" spc="-1" dirty="0">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0" name="Google Shape;190;p2"/>
          <p:cNvGraphicFramePr/>
          <p:nvPr/>
        </p:nvGraphicFramePr>
        <p:xfrm>
          <a:off x="366120" y="1567440"/>
          <a:ext cx="17517960" cy="1640397"/>
        </p:xfrm>
        <a:graphic>
          <a:graphicData uri="http://schemas.openxmlformats.org/drawingml/2006/table">
            <a:tbl>
              <a:tblPr/>
              <a:tblGrid>
                <a:gridCol w="2061360"/>
                <a:gridCol w="2061360"/>
                <a:gridCol w="8327880"/>
                <a:gridCol w="1423080"/>
                <a:gridCol w="634680"/>
                <a:gridCol w="1192320"/>
                <a:gridCol w="576720"/>
                <a:gridCol w="1240560"/>
              </a:tblGrid>
              <a:tr h="504000">
                <a:tc rowSpan="3">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文件基本訊息</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文件主題</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To </a:t>
                      </a:r>
                      <a:r>
                        <a:rPr lang="en-US" sz="1800" b="1" strike="noStrike" spc="-1" dirty="0" err="1">
                          <a:solidFill>
                            <a:schemeClr val="lt1"/>
                          </a:solidFill>
                          <a:latin typeface="Microsoft JhengHei"/>
                          <a:ea typeface="Microsoft JhengHei"/>
                        </a:rPr>
                        <a:t>be_Business</a:t>
                      </a:r>
                      <a:r>
                        <a:rPr lang="en-US" sz="1800" b="1" strike="noStrike" spc="-1" dirty="0">
                          <a:solidFill>
                            <a:schemeClr val="lt1"/>
                          </a:solidFill>
                          <a:latin typeface="Microsoft JhengHei"/>
                          <a:ea typeface="Microsoft JhengHei"/>
                        </a:rPr>
                        <a:t> Process</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創建日期</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gridSpan="4">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a:t>
                      </a:r>
                      <a:r>
                        <a:rPr lang="en-US" sz="1800" b="1" strike="noStrike" spc="-1" dirty="0" smtClean="0">
                          <a:solidFill>
                            <a:schemeClr val="lt1"/>
                          </a:solidFill>
                          <a:latin typeface="Microsoft JhengHei"/>
                          <a:ea typeface="Microsoft JhengHei"/>
                        </a:rPr>
                        <a:t>2025/07/01</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dirty="0">
                          <a:solidFill>
                            <a:schemeClr val="lt1"/>
                          </a:solidFill>
                          <a:latin typeface="Microsoft JhengHei"/>
                          <a:ea typeface="Microsoft JhengHei"/>
                        </a:rPr>
                        <a:t>作者</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r>
                        <a:rPr lang="en-US" altLang="zh-TW" sz="1800" b="1" strike="noStrike" spc="-1" dirty="0" smtClean="0">
                          <a:solidFill>
                            <a:srgbClr val="000000"/>
                          </a:solidFill>
                          <a:latin typeface="Calibri"/>
                        </a:rPr>
                        <a:t>DSIT</a:t>
                      </a:r>
                      <a:endParaRPr lang="en-US" sz="1800" b="1"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文件狀態</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1"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草稿版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r>
                        <a:rPr lang="x-none" sz="1800" b="1" strike="noStrike" spc="-1" dirty="0">
                          <a:solidFill>
                            <a:schemeClr val="dk1"/>
                          </a:solidFill>
                          <a:latin typeface="Microsoft JhengHei"/>
                          <a:ea typeface="Microsoft JhengHei"/>
                        </a:rPr>
                        <a:t>V</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確認版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marL="0" marR="0" indent="0" defTabSz="1371600" eaLnBrk="1" fontAlgn="auto" latinLnBrk="0" hangingPunct="1">
                        <a:lnSpc>
                          <a:spcPct val="166000"/>
                        </a:lnSpc>
                        <a:spcBef>
                          <a:spcPts val="0"/>
                        </a:spcBef>
                        <a:spcAft>
                          <a:spcPts val="0"/>
                        </a:spcAft>
                        <a:buClrTx/>
                        <a:buSzTx/>
                        <a:buFontTx/>
                        <a:buNone/>
                        <a:tabLst>
                          <a:tab pos="0" algn="l"/>
                        </a:tabLst>
                        <a:defRPr/>
                      </a:pPr>
                      <a:endParaRPr lang="en-US" sz="1800" b="1"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版本</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gridSpan="4">
                  <a:txBody>
                    <a:bodyPr/>
                    <a:lstStyle/>
                    <a:p>
                      <a:pPr defTabSz="1371600">
                        <a:lnSpc>
                          <a:spcPct val="166000"/>
                        </a:lnSpc>
                        <a:tabLst>
                          <a:tab pos="0" algn="l"/>
                        </a:tabLst>
                      </a:pPr>
                      <a:r>
                        <a:rPr lang="en-US" sz="1800" b="1" strike="noStrike" spc="-1" dirty="0">
                          <a:solidFill>
                            <a:schemeClr val="dk1"/>
                          </a:solidFill>
                          <a:latin typeface="Microsoft JhengHei"/>
                          <a:ea typeface="Microsoft JhengHei"/>
                        </a:rPr>
                        <a:t> </a:t>
                      </a:r>
                      <a:r>
                        <a:rPr lang="en-US" sz="1800" b="1" strike="noStrike" spc="-1" dirty="0" smtClean="0">
                          <a:solidFill>
                            <a:schemeClr val="dk1"/>
                          </a:solidFill>
                          <a:latin typeface="Microsoft JhengHei"/>
                          <a:ea typeface="Microsoft JhengHei"/>
                        </a:rPr>
                        <a:t>v2.0</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graphicFrame>
        <p:nvGraphicFramePr>
          <p:cNvPr id="2861" name="Google Shape;191;p2"/>
          <p:cNvGraphicFramePr/>
          <p:nvPr/>
        </p:nvGraphicFramePr>
        <p:xfrm>
          <a:off x="366120" y="3155400"/>
          <a:ext cx="17517960" cy="3195196"/>
        </p:xfrm>
        <a:graphic>
          <a:graphicData uri="http://schemas.openxmlformats.org/drawingml/2006/table">
            <a:tbl>
              <a:tblPr/>
              <a:tblGrid>
                <a:gridCol w="2061360"/>
                <a:gridCol w="2061360"/>
                <a:gridCol w="8327880"/>
                <a:gridCol w="3269880"/>
                <a:gridCol w="17974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文件版本</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版本號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變更說明</a:t>
                      </a:r>
                      <a:r>
                        <a:rPr lang="en-US" sz="1800" b="1" strike="noStrike" spc="-1" dirty="0">
                          <a:solidFill>
                            <a:schemeClr val="lt1"/>
                          </a:solidFill>
                          <a:latin typeface="Microsoft JhengHei"/>
                          <a:ea typeface="Microsoft JhengHei"/>
                        </a:rPr>
                        <a:t>(</a:t>
                      </a:r>
                      <a:r>
                        <a:rPr lang="zh-TW" sz="1800" b="1" strike="noStrike" spc="-1" dirty="0">
                          <a:solidFill>
                            <a:schemeClr val="lt1"/>
                          </a:solidFill>
                          <a:latin typeface="Microsoft JhengHei"/>
                          <a:ea typeface="Microsoft JhengHei"/>
                        </a:rPr>
                        <a:t>修改內容說明</a:t>
                      </a:r>
                      <a:r>
                        <a:rPr lang="en-US" sz="1800" b="1" strike="noStrike" spc="-1" dirty="0">
                          <a:solidFill>
                            <a:schemeClr val="lt1"/>
                          </a:solidFill>
                          <a:latin typeface="Microsoft JhengHei"/>
                          <a:ea typeface="Microsoft JhengHei"/>
                        </a:rPr>
                        <a: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修改人</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00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bl>
          </a:graphicData>
        </a:graphic>
      </p:graphicFrame>
      <p:graphicFrame>
        <p:nvGraphicFramePr>
          <p:cNvPr id="2862" name="Google Shape;192;p2"/>
          <p:cNvGraphicFramePr/>
          <p:nvPr/>
        </p:nvGraphicFramePr>
        <p:xfrm>
          <a:off x="366120" y="6255360"/>
          <a:ext cx="17518320" cy="504000"/>
        </p:xfrm>
        <a:graphic>
          <a:graphicData uri="http://schemas.openxmlformats.org/drawingml/2006/table">
            <a:tbl>
              <a:tblPr/>
              <a:tblGrid>
                <a:gridCol w="2061360"/>
                <a:gridCol w="2066760"/>
                <a:gridCol w="1797480"/>
                <a:gridCol w="1932120"/>
                <a:gridCol w="1932120"/>
                <a:gridCol w="1932120"/>
                <a:gridCol w="1932120"/>
                <a:gridCol w="1932120"/>
                <a:gridCol w="1932120"/>
              </a:tblGrid>
              <a:tr h="504000">
                <a:tc>
                  <a:txBody>
                    <a:bodyPr/>
                    <a:lstStyle/>
                    <a:p>
                      <a:pPr defTabSz="1371600">
                        <a:lnSpc>
                          <a:spcPct val="150000"/>
                        </a:lnSpc>
                        <a:tabLst>
                          <a:tab pos="0" algn="l"/>
                        </a:tabLst>
                      </a:pPr>
                      <a:r>
                        <a:rPr lang="zh-TW" sz="1800" b="1" strike="noStrike" spc="-1">
                          <a:solidFill>
                            <a:schemeClr val="lt1"/>
                          </a:solidFill>
                          <a:latin typeface="Microsoft JhengHei"/>
                          <a:ea typeface="Microsoft JhengHei"/>
                        </a:rPr>
                        <a:t>機密等級</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極機密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內部使用</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V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一般</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r>
            </a:tbl>
          </a:graphicData>
        </a:graphic>
      </p:graphicFrame>
      <p:graphicFrame>
        <p:nvGraphicFramePr>
          <p:cNvPr id="2863" name="Google Shape;193;p2"/>
          <p:cNvGraphicFramePr/>
          <p:nvPr/>
        </p:nvGraphicFramePr>
        <p:xfrm>
          <a:off x="366120" y="6835320"/>
          <a:ext cx="17517600" cy="3237995"/>
        </p:xfrm>
        <a:graphic>
          <a:graphicData uri="http://schemas.openxmlformats.org/drawingml/2006/table">
            <a:tbl>
              <a:tblPr/>
              <a:tblGrid>
                <a:gridCol w="2045520"/>
                <a:gridCol w="2066760"/>
                <a:gridCol w="8024760"/>
                <a:gridCol w="2861280"/>
                <a:gridCol w="25192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審批</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角色</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姓名 與 職稱</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簽名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專案顧問</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en-US" sz="1800" b="1" strike="noStrike" spc="-1" dirty="0" smtClean="0">
                          <a:solidFill>
                            <a:schemeClr val="dk1"/>
                          </a:solidFill>
                          <a:latin typeface="Microsoft JhengHei"/>
                          <a:ea typeface="Microsoft JhengHei"/>
                        </a:rPr>
                        <a:t>Vincent</a:t>
                      </a:r>
                      <a:r>
                        <a:rPr lang="en-US" sz="1800" b="1" strike="noStrike" spc="-1" baseline="0" dirty="0" smtClean="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關鍵使用者</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1"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流程負責人</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資訊單位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專案經理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a:solidFill>
                            <a:schemeClr val="dk1"/>
                          </a:solidFill>
                          <a:latin typeface="Microsoft JhengHei"/>
                          <a:ea typeface="Microsoft JhengHei"/>
                        </a:rPr>
                        <a:t>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bl>
          </a:graphicData>
        </a:graphic>
      </p:graphicFrame>
      <p:sp>
        <p:nvSpPr>
          <p:cNvPr id="2864" name="TextBox 1"/>
          <p:cNvSpPr/>
          <p:nvPr/>
        </p:nvSpPr>
        <p:spPr>
          <a:xfrm>
            <a:off x="2521800" y="811440"/>
            <a:ext cx="8244000" cy="4602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r>
              <a:rPr lang="en-US" altLang="zh-TW" sz="2400" spc="-1" dirty="0" smtClean="0">
                <a:solidFill>
                  <a:schemeClr val="dk1"/>
                </a:solidFill>
                <a:latin typeface="Microsoft JhengHei"/>
                <a:ea typeface="Microsoft JhengHei"/>
              </a:rPr>
              <a:t>MM-IM-0110 </a:t>
            </a:r>
            <a:r>
              <a:rPr lang="zh-TW" altLang="en-US" sz="2400" spc="-1" dirty="0" smtClean="0">
                <a:solidFill>
                  <a:schemeClr val="dk1"/>
                </a:solidFill>
                <a:latin typeface="Microsoft JhengHei"/>
                <a:ea typeface="Microsoft JhengHei"/>
              </a:rPr>
              <a:t>其他入庫作業流程</a:t>
            </a:r>
            <a:endParaRPr lang="en-US" sz="2400" b="0" strike="noStrike" spc="-1" dirty="0">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cxnSp>
        <p:nvCxnSpPr>
          <p:cNvPr id="6" name="Straight Connector 284">
            <a:extLst>
              <a:ext uri="{FF2B5EF4-FFF2-40B4-BE49-F238E27FC236}">
                <a16:creationId xmlns:a16="http://schemas.microsoft.com/office/drawing/2014/main" xmlns="" id="{9B19B4BF-9599-B835-12D9-B67512228A7B}"/>
              </a:ext>
            </a:extLst>
          </p:cNvPr>
          <p:cNvCxnSpPr>
            <a:cxnSpLocks/>
          </p:cNvCxnSpPr>
          <p:nvPr/>
        </p:nvCxnSpPr>
        <p:spPr>
          <a:xfrm>
            <a:off x="6929422" y="1406396"/>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53">
            <a:extLst>
              <a:ext uri="{FF2B5EF4-FFF2-40B4-BE49-F238E27FC236}">
                <a16:creationId xmlns:a16="http://schemas.microsoft.com/office/drawing/2014/main" xmlns="" id="{30381EE2-3320-4812-6081-3A15B03E8B32}"/>
              </a:ext>
            </a:extLst>
          </p:cNvPr>
          <p:cNvSpPr txBox="1"/>
          <p:nvPr/>
        </p:nvSpPr>
        <p:spPr>
          <a:xfrm>
            <a:off x="14394343" y="2013759"/>
            <a:ext cx="3594197" cy="4570482"/>
          </a:xfrm>
          <a:prstGeom prst="rect">
            <a:avLst/>
          </a:prstGeom>
          <a:noFill/>
        </p:spPr>
        <p:txBody>
          <a:bodyPr wrap="square" lIns="137160" tIns="68580" rIns="137160" bIns="68580" rtlCol="0">
            <a:spAutoFit/>
          </a:bodyPr>
          <a:lstStyle/>
          <a:p>
            <a:pPr marL="342900" indent="-342900">
              <a:buFont typeface="+mj-lt"/>
              <a:buAutoNum type="arabicPeriod"/>
            </a:pPr>
            <a:r>
              <a:rPr lang="zh-TW" altLang="en-US" dirty="0"/>
              <a:t>現場單位有產出回收料、</a:t>
            </a:r>
            <a:r>
              <a:rPr lang="zh-TW" altLang="en-US" dirty="0">
                <a:sym typeface="Wingdings" panose="05000000000000000000" pitchFamily="2" charset="2"/>
              </a:rPr>
              <a:t>製工具、客供料、客供模具、</a:t>
            </a:r>
            <a:r>
              <a:rPr lang="zh-TW" altLang="en-US" dirty="0">
                <a:solidFill>
                  <a:srgbClr val="FF0000"/>
                </a:solidFill>
                <a:sym typeface="Wingdings" panose="05000000000000000000" pitchFamily="2" charset="2"/>
              </a:rPr>
              <a:t>開發料轉入</a:t>
            </a:r>
            <a:r>
              <a:rPr lang="zh-TW" altLang="en-US" dirty="0">
                <a:sym typeface="Wingdings" panose="05000000000000000000" pitchFamily="2" charset="2"/>
              </a:rPr>
              <a:t>，</a:t>
            </a:r>
            <a:r>
              <a:rPr lang="zh-TW" altLang="en-US" dirty="0"/>
              <a:t>並無法歸屬到工單或是採購單上或是成本中心</a:t>
            </a:r>
            <a:r>
              <a:rPr lang="en-US" altLang="zh-TW" dirty="0"/>
              <a:t>(</a:t>
            </a:r>
            <a:r>
              <a:rPr lang="zh-TW" altLang="en-US" dirty="0"/>
              <a:t>部門</a:t>
            </a:r>
            <a:r>
              <a:rPr lang="zh-TW" altLang="en-US" dirty="0" smtClean="0"/>
              <a:t>，可以</a:t>
            </a:r>
            <a:r>
              <a:rPr lang="zh-TW" altLang="en-US" dirty="0"/>
              <a:t>清點數量後，用其他入庫的方式</a:t>
            </a:r>
            <a:r>
              <a:rPr lang="zh-TW" altLang="en-US" dirty="0" smtClean="0"/>
              <a:t>入庫。</a:t>
            </a:r>
            <a:endParaRPr lang="en-US" altLang="zh-TW" dirty="0"/>
          </a:p>
          <a:p>
            <a:pPr marL="342900" indent="-342900">
              <a:buFont typeface="+mj-lt"/>
              <a:buAutoNum type="arabicPeriod"/>
            </a:pPr>
            <a:r>
              <a:rPr lang="zh-TW" altLang="en-US" dirty="0" smtClean="0"/>
              <a:t>未使用</a:t>
            </a:r>
            <a:r>
              <a:rPr lang="en-US" altLang="zh-TW" dirty="0" smtClean="0"/>
              <a:t>WMS</a:t>
            </a:r>
            <a:r>
              <a:rPr lang="zh-TW" altLang="en-US" dirty="0" smtClean="0"/>
              <a:t>，倉庫</a:t>
            </a:r>
            <a:r>
              <a:rPr lang="zh-TW" altLang="en-US" dirty="0"/>
              <a:t>人員依據其他入庫申請單做入庫過帳</a:t>
            </a:r>
            <a:r>
              <a:rPr lang="zh-TW" altLang="en-US" dirty="0" smtClean="0"/>
              <a:t>作業</a:t>
            </a:r>
            <a:endParaRPr lang="en-US" altLang="zh-TW" dirty="0" smtClean="0"/>
          </a:p>
          <a:p>
            <a:pPr marL="342900" indent="-342900">
              <a:buFont typeface="+mj-lt"/>
              <a:buAutoNum type="arabicPeriod"/>
            </a:pPr>
            <a:r>
              <a:rPr lang="zh-TW" altLang="en-US" dirty="0" smtClean="0"/>
              <a:t>有使用</a:t>
            </a:r>
            <a:r>
              <a:rPr lang="en-US" altLang="zh-TW" dirty="0" smtClean="0"/>
              <a:t>WMS</a:t>
            </a:r>
            <a:r>
              <a:rPr lang="zh-TW" altLang="en-US" dirty="0" smtClean="0"/>
              <a:t>以背景執行</a:t>
            </a:r>
            <a:r>
              <a:rPr lang="en-GB" b="1" dirty="0" smtClean="0">
                <a:latin typeface="微軟正黑體" panose="020B0604030504040204" pitchFamily="34" charset="-120"/>
                <a:ea typeface="微軟正黑體" panose="020B0604030504040204" pitchFamily="34" charset="-120"/>
              </a:rPr>
              <a:t>ZMM087</a:t>
            </a:r>
            <a:r>
              <a:rPr lang="zh-TW" altLang="en-US" b="1" dirty="0" smtClean="0">
                <a:latin typeface="微軟正黑體" panose="020B0604030504040204" pitchFamily="34" charset="-120"/>
                <a:ea typeface="微軟正黑體" panose="020B0604030504040204" pitchFamily="34" charset="-120"/>
              </a:rPr>
              <a:t>將</a:t>
            </a:r>
            <a:r>
              <a:rPr lang="zh-TW" altLang="en-US" dirty="0" smtClean="0">
                <a:latin typeface="微軟正黑體" panose="020B0604030504040204" pitchFamily="34" charset="-120"/>
                <a:ea typeface="微軟正黑體" panose="020B0604030504040204" pitchFamily="34" charset="-120"/>
                <a:sym typeface="Arial"/>
              </a:rPr>
              <a:t>預留單至</a:t>
            </a:r>
            <a:r>
              <a:rPr lang="en-US" altLang="zh-TW" dirty="0" smtClean="0">
                <a:latin typeface="微軟正黑體" panose="020B0604030504040204" pitchFamily="34" charset="-120"/>
                <a:ea typeface="微軟正黑體" panose="020B0604030504040204" pitchFamily="34" charset="-120"/>
                <a:sym typeface="Arial"/>
              </a:rPr>
              <a:t>WMS</a:t>
            </a:r>
            <a:r>
              <a:rPr lang="zh-TW" altLang="en-US" dirty="0" smtClean="0">
                <a:latin typeface="微軟正黑體" panose="020B0604030504040204" pitchFamily="34" charset="-120"/>
                <a:ea typeface="微軟正黑體" panose="020B0604030504040204" pitchFamily="34" charset="-120"/>
                <a:sym typeface="Arial"/>
              </a:rPr>
              <a:t>進行上架作業</a:t>
            </a:r>
            <a:endParaRPr lang="en-US" altLang="zh-TW" dirty="0" smtClean="0"/>
          </a:p>
          <a:p>
            <a:pPr marL="342900" indent="-342900">
              <a:buFont typeface="+mj-lt"/>
              <a:buAutoNum type="arabicPeriod"/>
            </a:pPr>
            <a:r>
              <a:rPr lang="zh-TW" altLang="en-US" dirty="0" smtClean="0"/>
              <a:t>有使用</a:t>
            </a:r>
            <a:r>
              <a:rPr lang="en-US" altLang="zh-TW" dirty="0" smtClean="0"/>
              <a:t>WMS</a:t>
            </a:r>
            <a:r>
              <a:rPr lang="zh-TW" altLang="en-US" dirty="0" smtClean="0"/>
              <a:t>以背景執行</a:t>
            </a:r>
            <a:r>
              <a:rPr lang="en-GB" b="1" dirty="0" smtClean="0">
                <a:latin typeface="微軟正黑體" panose="020B0604030504040204" pitchFamily="34" charset="-120"/>
                <a:ea typeface="微軟正黑體" panose="020B0604030504040204" pitchFamily="34" charset="-120"/>
              </a:rPr>
              <a:t>ZMM088</a:t>
            </a:r>
            <a:r>
              <a:rPr lang="zh-TW" altLang="en-US" b="1" dirty="0" smtClean="0">
                <a:latin typeface="微軟正黑體" panose="020B0604030504040204" pitchFamily="34" charset="-120"/>
                <a:ea typeface="微軟正黑體" panose="020B0604030504040204" pitchFamily="34" charset="-120"/>
              </a:rPr>
              <a:t>將</a:t>
            </a:r>
            <a:r>
              <a:rPr lang="zh-TW" altLang="en-US" dirty="0" smtClean="0">
                <a:latin typeface="微軟正黑體" panose="020B0604030504040204" pitchFamily="34" charset="-120"/>
                <a:ea typeface="微軟正黑體" panose="020B0604030504040204" pitchFamily="34" charset="-120"/>
                <a:sym typeface="Arial"/>
              </a:rPr>
              <a:t>預留單上架作業結果傳入</a:t>
            </a:r>
            <a:r>
              <a:rPr lang="en-US" altLang="zh-TW" dirty="0" smtClean="0">
                <a:latin typeface="微軟正黑體" panose="020B0604030504040204" pitchFamily="34" charset="-120"/>
                <a:ea typeface="微軟正黑體" panose="020B0604030504040204" pitchFamily="34" charset="-120"/>
                <a:sym typeface="Arial"/>
              </a:rPr>
              <a:t>SAP</a:t>
            </a:r>
            <a:r>
              <a:rPr lang="zh-TW" altLang="en-US" dirty="0" smtClean="0">
                <a:latin typeface="微軟正黑體" panose="020B0604030504040204" pitchFamily="34" charset="-120"/>
                <a:ea typeface="微軟正黑體" panose="020B0604030504040204" pitchFamily="34" charset="-120"/>
                <a:sym typeface="Arial"/>
              </a:rPr>
              <a:t>進行過帳</a:t>
            </a:r>
            <a:endParaRPr lang="en-US" altLang="zh-TW" dirty="0" smtClean="0"/>
          </a:p>
          <a:p>
            <a:pPr marL="342900" indent="-342900">
              <a:buFont typeface="+mj-lt"/>
              <a:buAutoNum type="arabicPeriod"/>
            </a:pPr>
            <a:endParaRPr lang="en-US" altLang="zh-TW" dirty="0"/>
          </a:p>
        </p:txBody>
      </p:sp>
      <p:sp>
        <p:nvSpPr>
          <p:cNvPr id="8" name="文字方塊 17">
            <a:extLst>
              <a:ext uri="{FF2B5EF4-FFF2-40B4-BE49-F238E27FC236}">
                <a16:creationId xmlns:a16="http://schemas.microsoft.com/office/drawing/2014/main" xmlns="" id="{A3961CAE-69E4-A1C1-045A-63D595BA671B}"/>
              </a:ext>
            </a:extLst>
          </p:cNvPr>
          <p:cNvSpPr txBox="1"/>
          <p:nvPr/>
        </p:nvSpPr>
        <p:spPr>
          <a:xfrm>
            <a:off x="3993854" y="1348228"/>
            <a:ext cx="2435502" cy="400110"/>
          </a:xfrm>
          <a:prstGeom prst="rect">
            <a:avLst/>
          </a:prstGeom>
          <a:noFill/>
        </p:spPr>
        <p:txBody>
          <a:bodyPr wrap="square" lIns="137160" tIns="68580" rIns="137160" bIns="68580" rtlCol="0">
            <a:spAutoFit/>
          </a:bodyPr>
          <a:lstStyle/>
          <a:p>
            <a:pPr algn="ctr"/>
            <a:r>
              <a:rPr lang="zh-TW" altLang="en-US" sz="1700" dirty="0"/>
              <a:t>現場</a:t>
            </a:r>
            <a:r>
              <a:rPr lang="zh-TW" altLang="en-US" sz="1700" dirty="0" smtClean="0"/>
              <a:t>單位</a:t>
            </a:r>
            <a:r>
              <a:rPr lang="en-US" altLang="zh-TW" sz="1700" dirty="0" smtClean="0"/>
              <a:t>…</a:t>
            </a:r>
            <a:r>
              <a:rPr lang="zh-TW" altLang="en-US" sz="1700" dirty="0" smtClean="0"/>
              <a:t> 等退料單位</a:t>
            </a:r>
            <a:endParaRPr lang="zh-TW" altLang="en-US" sz="1700" dirty="0"/>
          </a:p>
        </p:txBody>
      </p:sp>
      <p:sp>
        <p:nvSpPr>
          <p:cNvPr id="48" name="文字方塊 17">
            <a:extLst>
              <a:ext uri="{FF2B5EF4-FFF2-40B4-BE49-F238E27FC236}">
                <a16:creationId xmlns:a16="http://schemas.microsoft.com/office/drawing/2014/main" xmlns="" id="{0F2761B4-5F29-64DD-1721-5831D073894C}"/>
              </a:ext>
            </a:extLst>
          </p:cNvPr>
          <p:cNvSpPr txBox="1"/>
          <p:nvPr/>
        </p:nvSpPr>
        <p:spPr>
          <a:xfrm>
            <a:off x="8143868" y="1335648"/>
            <a:ext cx="2786082" cy="400110"/>
          </a:xfrm>
          <a:prstGeom prst="rect">
            <a:avLst/>
          </a:prstGeom>
          <a:noFill/>
        </p:spPr>
        <p:txBody>
          <a:bodyPr wrap="square" lIns="137160" tIns="68580" rIns="137160" bIns="68580" rtlCol="0">
            <a:spAutoFit/>
          </a:bodyPr>
          <a:lstStyle/>
          <a:p>
            <a:pPr algn="ctr"/>
            <a:r>
              <a:rPr lang="zh-TW" altLang="en-US" sz="1700" dirty="0"/>
              <a:t>倉庫單位</a:t>
            </a:r>
            <a:r>
              <a:rPr lang="en-US" altLang="zh-TW" sz="1700" dirty="0"/>
              <a:t>/</a:t>
            </a:r>
            <a:r>
              <a:rPr lang="zh-TW" altLang="en-US" sz="1700" dirty="0"/>
              <a:t>模具課</a:t>
            </a:r>
          </a:p>
        </p:txBody>
      </p:sp>
      <p:sp>
        <p:nvSpPr>
          <p:cNvPr id="60" name="文字方塊 59">
            <a:extLst>
              <a:ext uri="{FF2B5EF4-FFF2-40B4-BE49-F238E27FC236}">
                <a16:creationId xmlns:a16="http://schemas.microsoft.com/office/drawing/2014/main" xmlns=""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smtClean="0">
                <a:latin typeface="微軟正黑體" panose="020B0604030504040204" pitchFamily="34" charset="-120"/>
                <a:ea typeface="微軟正黑體" panose="020B0604030504040204" pitchFamily="34" charset="-120"/>
              </a:rPr>
              <a:t>MM-IM-0110-01 </a:t>
            </a:r>
            <a:r>
              <a:rPr kumimoji="0" lang="zh-TW" altLang="en-US" b="1" dirty="0" smtClean="0">
                <a:latin typeface="微軟正黑體" panose="020B0604030504040204" pitchFamily="34" charset="-120"/>
                <a:ea typeface="微軟正黑體" panose="020B0604030504040204" pitchFamily="34" charset="-120"/>
              </a:rPr>
              <a:t>其他</a:t>
            </a:r>
            <a:r>
              <a:rPr kumimoji="0" lang="zh-TW" altLang="en-US" b="1" dirty="0">
                <a:latin typeface="微軟正黑體" panose="020B0604030504040204" pitchFamily="34" charset="-120"/>
                <a:ea typeface="微軟正黑體" panose="020B0604030504040204" pitchFamily="34" charset="-120"/>
              </a:rPr>
              <a:t>入庫作業流程</a:t>
            </a:r>
          </a:p>
        </p:txBody>
      </p:sp>
      <p:sp>
        <p:nvSpPr>
          <p:cNvPr id="205" name="流程圖: 結束點 204">
            <a:extLst>
              <a:ext uri="{FF2B5EF4-FFF2-40B4-BE49-F238E27FC236}">
                <a16:creationId xmlns:a16="http://schemas.microsoft.com/office/drawing/2014/main" xmlns="" id="{AF6DEB4F-42E0-79A4-1C86-971AEA2097AF}"/>
              </a:ext>
            </a:extLst>
          </p:cNvPr>
          <p:cNvSpPr/>
          <p:nvPr/>
        </p:nvSpPr>
        <p:spPr bwMode="auto">
          <a:xfrm>
            <a:off x="12228315" y="7985004"/>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26" name="肘形接點 68">
            <a:extLst>
              <a:ext uri="{FF2B5EF4-FFF2-40B4-BE49-F238E27FC236}">
                <a16:creationId xmlns:a16="http://schemas.microsoft.com/office/drawing/2014/main" xmlns="" id="{66E28980-1EE1-C5F9-8A46-65685EE64FF1}"/>
              </a:ext>
            </a:extLst>
          </p:cNvPr>
          <p:cNvCxnSpPr>
            <a:cxnSpLocks/>
            <a:stCxn id="2" idx="3"/>
            <a:endCxn id="11" idx="1"/>
          </p:cNvCxnSpPr>
          <p:nvPr/>
        </p:nvCxnSpPr>
        <p:spPr>
          <a:xfrm>
            <a:off x="2236082" y="2875048"/>
            <a:ext cx="1552001" cy="133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41" name="表格 30">
            <a:extLst>
              <a:ext uri="{FF2B5EF4-FFF2-40B4-BE49-F238E27FC236}">
                <a16:creationId xmlns:a16="http://schemas.microsoft.com/office/drawing/2014/main" xmlns="" id="{854A0700-9A9F-B567-634C-89968BA305A7}"/>
              </a:ext>
            </a:extLst>
          </p:cNvPr>
          <p:cNvGraphicFramePr>
            <a:graphicFrameLocks noGrp="1"/>
          </p:cNvGraphicFramePr>
          <p:nvPr>
            <p:extLst>
              <p:ext uri="{D42A27DB-BD31-4B8C-83A1-F6EECF244321}">
                <p14:modId xmlns:p14="http://schemas.microsoft.com/office/powerpoint/2010/main" xmlns="" val="3208424290"/>
              </p:ext>
            </p:extLst>
          </p:nvPr>
        </p:nvGraphicFramePr>
        <p:xfrm>
          <a:off x="7105331" y="7763355"/>
          <a:ext cx="1937104" cy="1238591"/>
        </p:xfrm>
        <a:graphic>
          <a:graphicData uri="http://schemas.openxmlformats.org/drawingml/2006/table">
            <a:tbl>
              <a:tblPr>
                <a:tableStyleId>{5940675A-B579-460E-94D1-54222C63F5DA}</a:tableStyleId>
              </a:tblPr>
              <a:tblGrid>
                <a:gridCol w="968552">
                  <a:extLst>
                    <a:ext uri="{9D8B030D-6E8A-4147-A177-3AD203B41FA5}">
                      <a16:colId xmlns:a16="http://schemas.microsoft.com/office/drawing/2014/main" xmlns="" val="3433979995"/>
                    </a:ext>
                  </a:extLst>
                </a:gridCol>
                <a:gridCol w="968552">
                  <a:extLst>
                    <a:ext uri="{9D8B030D-6E8A-4147-A177-3AD203B41FA5}">
                      <a16:colId xmlns:a16="http://schemas.microsoft.com/office/drawing/2014/main" xmlns=""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MIGO</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87">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lang="zh-TW" altLang="en-US" sz="1500" dirty="0">
                          <a:latin typeface="微軟正黑體" panose="020B0604030504040204" pitchFamily="34" charset="-120"/>
                          <a:ea typeface="微軟正黑體" panose="020B0604030504040204" pitchFamily="34" charset="-120"/>
                        </a:rPr>
                        <a:t>其他</a:t>
                      </a:r>
                      <a:r>
                        <a:rPr lang="zh-TW" altLang="en-US" sz="1500" dirty="0" smtClean="0">
                          <a:latin typeface="微軟正黑體" panose="020B0604030504040204" pitchFamily="34" charset="-120"/>
                          <a:ea typeface="微軟正黑體" panose="020B0604030504040204" pitchFamily="34" charset="-120"/>
                        </a:rPr>
                        <a:t>入庫</a:t>
                      </a:r>
                      <a:endParaRPr lang="en-US" altLang="zh-TW" sz="1500" dirty="0">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手自動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3" name="Group 220">
            <a:extLst>
              <a:ext uri="{FF2B5EF4-FFF2-40B4-BE49-F238E27FC236}">
                <a16:creationId xmlns:a16="http://schemas.microsoft.com/office/drawing/2014/main" xmlns="" id="{F848FA31-285F-581D-D212-24891BC0A21D}"/>
              </a:ext>
            </a:extLst>
          </p:cNvPr>
          <p:cNvGrpSpPr/>
          <p:nvPr/>
        </p:nvGrpSpPr>
        <p:grpSpPr>
          <a:xfrm>
            <a:off x="8763773" y="7557577"/>
            <a:ext cx="533400" cy="408605"/>
            <a:chOff x="5906184" y="1486857"/>
            <a:chExt cx="355600" cy="272361"/>
          </a:xfrm>
        </p:grpSpPr>
        <p:sp>
          <p:nvSpPr>
            <p:cNvPr id="228" name="Oval 221">
              <a:extLst>
                <a:ext uri="{FF2B5EF4-FFF2-40B4-BE49-F238E27FC236}">
                  <a16:creationId xmlns:a16="http://schemas.microsoft.com/office/drawing/2014/main" xmlns="" id="{356A97A5-CB31-0C92-3F61-4C7E38116F9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9" name="TextBox 222">
              <a:extLst>
                <a:ext uri="{FF2B5EF4-FFF2-40B4-BE49-F238E27FC236}">
                  <a16:creationId xmlns:a16="http://schemas.microsoft.com/office/drawing/2014/main" xmlns="" id="{47B4CE2C-6B17-313E-C49B-E24DC4A790A8}"/>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cxnSp>
        <p:nvCxnSpPr>
          <p:cNvPr id="230" name="肘形接點 68">
            <a:extLst>
              <a:ext uri="{FF2B5EF4-FFF2-40B4-BE49-F238E27FC236}">
                <a16:creationId xmlns:a16="http://schemas.microsoft.com/office/drawing/2014/main" xmlns="" id="{D6DDC060-067B-1B07-0195-F13705EFFF6A}"/>
              </a:ext>
            </a:extLst>
          </p:cNvPr>
          <p:cNvCxnSpPr>
            <a:cxnSpLocks/>
            <a:endCxn id="30" idx="1"/>
          </p:cNvCxnSpPr>
          <p:nvPr/>
        </p:nvCxnSpPr>
        <p:spPr>
          <a:xfrm>
            <a:off x="4005161" y="2887838"/>
            <a:ext cx="3162008" cy="935"/>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30" name="表格 30">
            <a:extLst>
              <a:ext uri="{FF2B5EF4-FFF2-40B4-BE49-F238E27FC236}">
                <a16:creationId xmlns:a16="http://schemas.microsoft.com/office/drawing/2014/main" xmlns="" id="{65A6C6AC-E57A-9C7C-1A87-626216D58613}"/>
              </a:ext>
            </a:extLst>
          </p:cNvPr>
          <p:cNvGraphicFramePr>
            <a:graphicFrameLocks noGrp="1"/>
          </p:cNvGraphicFramePr>
          <p:nvPr>
            <p:extLst>
              <p:ext uri="{D42A27DB-BD31-4B8C-83A1-F6EECF244321}">
                <p14:modId xmlns:p14="http://schemas.microsoft.com/office/powerpoint/2010/main" xmlns="" val="787204351"/>
              </p:ext>
            </p:extLst>
          </p:nvPr>
        </p:nvGraphicFramePr>
        <p:xfrm>
          <a:off x="7167168" y="2383794"/>
          <a:ext cx="1797828" cy="1009956"/>
        </p:xfrm>
        <a:graphic>
          <a:graphicData uri="http://schemas.openxmlformats.org/drawingml/2006/table">
            <a:tbl>
              <a:tblPr>
                <a:tableStyleId>{5940675A-B579-460E-94D1-54222C63F5DA}</a:tableStyleId>
              </a:tblPr>
              <a:tblGrid>
                <a:gridCol w="898914">
                  <a:extLst>
                    <a:ext uri="{9D8B030D-6E8A-4147-A177-3AD203B41FA5}">
                      <a16:colId xmlns:a16="http://schemas.microsoft.com/office/drawing/2014/main" xmlns="" val="3433979995"/>
                    </a:ext>
                  </a:extLst>
                </a:gridCol>
                <a:gridCol w="898914">
                  <a:extLst>
                    <a:ext uri="{9D8B030D-6E8A-4147-A177-3AD203B41FA5}">
                      <a16:colId xmlns:a16="http://schemas.microsoft.com/office/drawing/2014/main" xmlns="" val="3727974752"/>
                    </a:ext>
                  </a:extLst>
                </a:gridCol>
              </a:tblGrid>
              <a:tr h="336652">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點收貨品數量</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54" name="肘形接點 68">
            <a:extLst>
              <a:ext uri="{FF2B5EF4-FFF2-40B4-BE49-F238E27FC236}">
                <a16:creationId xmlns:a16="http://schemas.microsoft.com/office/drawing/2014/main" xmlns="" id="{4B191E64-F223-A8BE-14B6-8BC313234E4E}"/>
              </a:ext>
            </a:extLst>
          </p:cNvPr>
          <p:cNvCxnSpPr>
            <a:cxnSpLocks/>
            <a:endCxn id="16" idx="0"/>
          </p:cNvCxnSpPr>
          <p:nvPr/>
        </p:nvCxnSpPr>
        <p:spPr>
          <a:xfrm rot="5400000">
            <a:off x="7627624" y="3795432"/>
            <a:ext cx="881895" cy="771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1" name="肘形接點 68">
            <a:extLst>
              <a:ext uri="{FF2B5EF4-FFF2-40B4-BE49-F238E27FC236}">
                <a16:creationId xmlns:a16="http://schemas.microsoft.com/office/drawing/2014/main" xmlns="" id="{A68A5695-0E00-A5A6-791C-96A720688BD9}"/>
              </a:ext>
            </a:extLst>
          </p:cNvPr>
          <p:cNvCxnSpPr>
            <a:cxnSpLocks/>
            <a:endCxn id="205" idx="1"/>
          </p:cNvCxnSpPr>
          <p:nvPr/>
        </p:nvCxnSpPr>
        <p:spPr>
          <a:xfrm>
            <a:off x="9072562" y="8359004"/>
            <a:ext cx="3155753" cy="1728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 name="流程圖: 結束點 1">
            <a:extLst>
              <a:ext uri="{FF2B5EF4-FFF2-40B4-BE49-F238E27FC236}">
                <a16:creationId xmlns:a16="http://schemas.microsoft.com/office/drawing/2014/main" xmlns="" id="{4C8C776D-DAEB-7D17-B096-DBA5FE0E0B72}"/>
              </a:ext>
            </a:extLst>
          </p:cNvPr>
          <p:cNvSpPr/>
          <p:nvPr/>
        </p:nvSpPr>
        <p:spPr bwMode="auto">
          <a:xfrm>
            <a:off x="438250" y="2483766"/>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graphicFrame>
        <p:nvGraphicFramePr>
          <p:cNvPr id="11" name="表格 30">
            <a:extLst>
              <a:ext uri="{FF2B5EF4-FFF2-40B4-BE49-F238E27FC236}">
                <a16:creationId xmlns:a16="http://schemas.microsoft.com/office/drawing/2014/main" xmlns="" id="{73C10F2B-5D21-C07F-1F91-DE5DA86AE393}"/>
              </a:ext>
            </a:extLst>
          </p:cNvPr>
          <p:cNvGraphicFramePr>
            <a:graphicFrameLocks noGrp="1"/>
          </p:cNvGraphicFramePr>
          <p:nvPr>
            <p:extLst>
              <p:ext uri="{D42A27DB-BD31-4B8C-83A1-F6EECF244321}">
                <p14:modId xmlns:p14="http://schemas.microsoft.com/office/powerpoint/2010/main" xmlns="" val="654239101"/>
              </p:ext>
            </p:extLst>
          </p:nvPr>
        </p:nvGraphicFramePr>
        <p:xfrm>
          <a:off x="3788082" y="2257091"/>
          <a:ext cx="1980726" cy="1238591"/>
        </p:xfrm>
        <a:graphic>
          <a:graphicData uri="http://schemas.openxmlformats.org/drawingml/2006/table">
            <a:tbl>
              <a:tblPr>
                <a:tableStyleId>{5940675A-B579-460E-94D1-54222C63F5DA}</a:tableStyleId>
              </a:tblPr>
              <a:tblGrid>
                <a:gridCol w="990363">
                  <a:extLst>
                    <a:ext uri="{9D8B030D-6E8A-4147-A177-3AD203B41FA5}">
                      <a16:colId xmlns:a16="http://schemas.microsoft.com/office/drawing/2014/main" xmlns="" val="3433979995"/>
                    </a:ext>
                  </a:extLst>
                </a:gridCol>
                <a:gridCol w="990363">
                  <a:extLst>
                    <a:ext uri="{9D8B030D-6E8A-4147-A177-3AD203B41FA5}">
                      <a16:colId xmlns:a16="http://schemas.microsoft.com/office/drawing/2014/main" xmlns=""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MB21</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87">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lang="zh-TW" altLang="en-US" sz="1500" dirty="0">
                          <a:latin typeface="微軟正黑體" panose="020B0604030504040204" pitchFamily="34" charset="-120"/>
                          <a:ea typeface="微軟正黑體" panose="020B0604030504040204" pitchFamily="34" charset="-120"/>
                        </a:rPr>
                        <a:t>開立預留</a:t>
                      </a:r>
                      <a:r>
                        <a:rPr lang="zh-TW" altLang="en-US" sz="1500" dirty="0" smtClean="0">
                          <a:latin typeface="微軟正黑體" panose="020B0604030504040204" pitchFamily="34" charset="-120"/>
                          <a:ea typeface="微軟正黑體" panose="020B0604030504040204" pitchFamily="34" charset="-120"/>
                        </a:rPr>
                        <a:t>單</a:t>
                      </a:r>
                      <a:endParaRPr lang="en-US" altLang="zh-TW" sz="1500" dirty="0">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17" name="Group 220">
            <a:extLst>
              <a:ext uri="{FF2B5EF4-FFF2-40B4-BE49-F238E27FC236}">
                <a16:creationId xmlns:a16="http://schemas.microsoft.com/office/drawing/2014/main" xmlns="" id="{A9B401BC-DE49-5FC0-6565-D216316A23DA}"/>
              </a:ext>
            </a:extLst>
          </p:cNvPr>
          <p:cNvGrpSpPr/>
          <p:nvPr/>
        </p:nvGrpSpPr>
        <p:grpSpPr>
          <a:xfrm>
            <a:off x="5538766" y="2086430"/>
            <a:ext cx="533400" cy="408605"/>
            <a:chOff x="5906184" y="1486857"/>
            <a:chExt cx="355600" cy="272361"/>
          </a:xfrm>
        </p:grpSpPr>
        <p:sp>
          <p:nvSpPr>
            <p:cNvPr id="4" name="Oval 221">
              <a:extLst>
                <a:ext uri="{FF2B5EF4-FFF2-40B4-BE49-F238E27FC236}">
                  <a16:creationId xmlns:a16="http://schemas.microsoft.com/office/drawing/2014/main" xmlns=""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5" name="TextBox 222">
              <a:extLst>
                <a:ext uri="{FF2B5EF4-FFF2-40B4-BE49-F238E27FC236}">
                  <a16:creationId xmlns:a16="http://schemas.microsoft.com/office/drawing/2014/main" xmlns="" id="{38213EC1-2A6F-CC6F-9F41-D87C1E84A2C8}"/>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sp>
        <p:nvSpPr>
          <p:cNvPr id="22" name="流程圖: 文件 42">
            <a:extLst>
              <a:ext uri="{FF2B5EF4-FFF2-40B4-BE49-F238E27FC236}">
                <a16:creationId xmlns:a16="http://schemas.microsoft.com/office/drawing/2014/main" xmlns="" id="{3D992830-1DCF-125E-C63A-E24406A04537}"/>
              </a:ext>
            </a:extLst>
          </p:cNvPr>
          <p:cNvSpPr/>
          <p:nvPr/>
        </p:nvSpPr>
        <p:spPr bwMode="auto">
          <a:xfrm>
            <a:off x="4857721" y="3501221"/>
            <a:ext cx="1785950" cy="928694"/>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其他入庫申請單</a:t>
            </a:r>
          </a:p>
        </p:txBody>
      </p:sp>
      <p:sp>
        <p:nvSpPr>
          <p:cNvPr id="9" name="流程圖: 預設處理作業 21">
            <a:extLst>
              <a:ext uri="{FF2B5EF4-FFF2-40B4-BE49-F238E27FC236}">
                <a16:creationId xmlns:a16="http://schemas.microsoft.com/office/drawing/2014/main" xmlns="" id="{440A42CA-BE5E-23CF-8BE0-F85312656F7B}"/>
              </a:ext>
            </a:extLst>
          </p:cNvPr>
          <p:cNvSpPr/>
          <p:nvPr/>
        </p:nvSpPr>
        <p:spPr bwMode="auto">
          <a:xfrm>
            <a:off x="478778" y="3995903"/>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MM-IM-0040</a:t>
            </a:r>
          </a:p>
          <a:p>
            <a:pPr algn="ctr" eaLnBrk="0" hangingPunct="0"/>
            <a:r>
              <a:rPr lang="zh-TW" altLang="en-US" sz="1500" dirty="0">
                <a:latin typeface="微軟正黑體" panose="020B0604030504040204" pitchFamily="34" charset="-120"/>
                <a:ea typeface="微軟正黑體" panose="020B0604030504040204" pitchFamily="34" charset="-120"/>
              </a:rPr>
              <a:t>工單退料作業流程</a:t>
            </a:r>
          </a:p>
        </p:txBody>
      </p:sp>
      <p:cxnSp>
        <p:nvCxnSpPr>
          <p:cNvPr id="10" name="肘形接點 68">
            <a:extLst>
              <a:ext uri="{FF2B5EF4-FFF2-40B4-BE49-F238E27FC236}">
                <a16:creationId xmlns:a16="http://schemas.microsoft.com/office/drawing/2014/main" xmlns="" id="{EB6D8E45-A899-5CD3-B109-A108CED4E817}"/>
              </a:ext>
            </a:extLst>
          </p:cNvPr>
          <p:cNvCxnSpPr>
            <a:cxnSpLocks/>
            <a:stCxn id="9" idx="3"/>
            <a:endCxn id="11" idx="1"/>
          </p:cNvCxnSpPr>
          <p:nvPr/>
        </p:nvCxnSpPr>
        <p:spPr>
          <a:xfrm flipV="1">
            <a:off x="2291889" y="2876387"/>
            <a:ext cx="1496193" cy="173881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6" name="流程圖: 決策 50">
            <a:extLst>
              <a:ext uri="{FF2B5EF4-FFF2-40B4-BE49-F238E27FC236}">
                <a16:creationId xmlns:a16="http://schemas.microsoft.com/office/drawing/2014/main" xmlns="" id="{5B1401D2-39D9-D749-8F83-E4A3578B8F7E}"/>
              </a:ext>
            </a:extLst>
          </p:cNvPr>
          <p:cNvSpPr/>
          <p:nvPr/>
        </p:nvSpPr>
        <p:spPr bwMode="auto">
          <a:xfrm>
            <a:off x="7143736" y="4240239"/>
            <a:ext cx="1841949" cy="1178126"/>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500" dirty="0">
                <a:latin typeface="微軟正黑體" panose="020B0604030504040204" pitchFamily="34" charset="-120"/>
                <a:ea typeface="微軟正黑體" panose="020B0604030504040204" pitchFamily="34" charset="-120"/>
              </a:rPr>
              <a:t>WMS?</a:t>
            </a:r>
            <a:endParaRPr lang="zh-TW" altLang="en-US" sz="1500" dirty="0">
              <a:latin typeface="微軟正黑體" panose="020B0604030504040204" pitchFamily="34" charset="-120"/>
              <a:ea typeface="微軟正黑體" panose="020B0604030504040204" pitchFamily="34" charset="-120"/>
            </a:endParaRPr>
          </a:p>
        </p:txBody>
      </p:sp>
      <p:cxnSp>
        <p:nvCxnSpPr>
          <p:cNvPr id="21" name="肘形接點 68">
            <a:extLst>
              <a:ext uri="{FF2B5EF4-FFF2-40B4-BE49-F238E27FC236}">
                <a16:creationId xmlns:a16="http://schemas.microsoft.com/office/drawing/2014/main" xmlns="" id="{F32459D2-0D9D-3179-72D9-2B030762D7F0}"/>
              </a:ext>
            </a:extLst>
          </p:cNvPr>
          <p:cNvCxnSpPr>
            <a:cxnSpLocks/>
            <a:stCxn id="16" idx="2"/>
          </p:cNvCxnSpPr>
          <p:nvPr/>
        </p:nvCxnSpPr>
        <p:spPr>
          <a:xfrm rot="16200000" flipH="1">
            <a:off x="6884003" y="6599072"/>
            <a:ext cx="2369135" cy="771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5" name="流程圖: 預設處理作業 21">
            <a:extLst>
              <a:ext uri="{FF2B5EF4-FFF2-40B4-BE49-F238E27FC236}">
                <a16:creationId xmlns:a16="http://schemas.microsoft.com/office/drawing/2014/main" xmlns="" id="{0B24F735-2FD6-BDF7-7EC9-8808CD9E62DC}"/>
              </a:ext>
            </a:extLst>
          </p:cNvPr>
          <p:cNvSpPr/>
          <p:nvPr/>
        </p:nvSpPr>
        <p:spPr bwMode="auto">
          <a:xfrm>
            <a:off x="12160873" y="4200742"/>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WMS</a:t>
            </a:r>
            <a:r>
              <a:rPr lang="zh-TW" altLang="en-US" sz="1500" dirty="0">
                <a:latin typeface="微軟正黑體" panose="020B0604030504040204" pitchFamily="34" charset="-120"/>
                <a:ea typeface="微軟正黑體" panose="020B0604030504040204" pitchFamily="34" charset="-120"/>
              </a:rPr>
              <a:t>系統</a:t>
            </a:r>
            <a:endParaRPr lang="en-US" altLang="zh-TW" sz="1500" dirty="0">
              <a:latin typeface="微軟正黑體" panose="020B0604030504040204" pitchFamily="34" charset="-120"/>
              <a:ea typeface="微軟正黑體" panose="020B0604030504040204" pitchFamily="34" charset="-120"/>
            </a:endParaRPr>
          </a:p>
        </p:txBody>
      </p:sp>
      <p:cxnSp>
        <p:nvCxnSpPr>
          <p:cNvPr id="27" name="肘形接點 68">
            <a:extLst>
              <a:ext uri="{FF2B5EF4-FFF2-40B4-BE49-F238E27FC236}">
                <a16:creationId xmlns:a16="http://schemas.microsoft.com/office/drawing/2014/main" xmlns="" id="{D9B6EA11-FE66-C963-25D4-E619F2B4F803}"/>
              </a:ext>
            </a:extLst>
          </p:cNvPr>
          <p:cNvCxnSpPr>
            <a:cxnSpLocks/>
            <a:stCxn id="16" idx="3"/>
            <a:endCxn id="64" idx="1"/>
          </p:cNvCxnSpPr>
          <p:nvPr/>
        </p:nvCxnSpPr>
        <p:spPr>
          <a:xfrm flipV="1">
            <a:off x="8985685" y="4822823"/>
            <a:ext cx="586943" cy="647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1" name="TextBox 46">
            <a:extLst>
              <a:ext uri="{FF2B5EF4-FFF2-40B4-BE49-F238E27FC236}">
                <a16:creationId xmlns:a16="http://schemas.microsoft.com/office/drawing/2014/main" xmlns="" id="{10D22809-63AE-E603-D4F4-41511639A71D}"/>
              </a:ext>
            </a:extLst>
          </p:cNvPr>
          <p:cNvSpPr txBox="1"/>
          <p:nvPr/>
        </p:nvSpPr>
        <p:spPr>
          <a:xfrm>
            <a:off x="9082192" y="4395361"/>
            <a:ext cx="404262" cy="369389"/>
          </a:xfrm>
          <a:prstGeom prst="rect">
            <a:avLst/>
          </a:prstGeom>
          <a:noFill/>
        </p:spPr>
        <p:txBody>
          <a:bodyPr wrap="square" lIns="137160" tIns="68580" rIns="137160" bIns="68580" rtlCol="0">
            <a:spAutoFit/>
          </a:bodyPr>
          <a:lstStyle/>
          <a:p>
            <a:r>
              <a:rPr lang="zh-TW" altLang="en-US" sz="1500" dirty="0"/>
              <a:t>是</a:t>
            </a:r>
          </a:p>
        </p:txBody>
      </p:sp>
      <p:sp>
        <p:nvSpPr>
          <p:cNvPr id="32" name="TextBox 46">
            <a:extLst>
              <a:ext uri="{FF2B5EF4-FFF2-40B4-BE49-F238E27FC236}">
                <a16:creationId xmlns:a16="http://schemas.microsoft.com/office/drawing/2014/main" xmlns="" id="{B7277F25-3D8C-0BD7-6B56-27A22B83ED7A}"/>
              </a:ext>
            </a:extLst>
          </p:cNvPr>
          <p:cNvSpPr txBox="1"/>
          <p:nvPr/>
        </p:nvSpPr>
        <p:spPr>
          <a:xfrm>
            <a:off x="8075251" y="5554050"/>
            <a:ext cx="404262" cy="369389"/>
          </a:xfrm>
          <a:prstGeom prst="rect">
            <a:avLst/>
          </a:prstGeom>
          <a:noFill/>
        </p:spPr>
        <p:txBody>
          <a:bodyPr wrap="square" lIns="137160" tIns="68580" rIns="137160" bIns="68580" rtlCol="0">
            <a:spAutoFit/>
          </a:bodyPr>
          <a:lstStyle/>
          <a:p>
            <a:r>
              <a:rPr lang="zh-TW" altLang="en-US" sz="1500" dirty="0"/>
              <a:t>否</a:t>
            </a:r>
          </a:p>
        </p:txBody>
      </p:sp>
      <p:cxnSp>
        <p:nvCxnSpPr>
          <p:cNvPr id="33" name="肘形接點 68">
            <a:extLst>
              <a:ext uri="{FF2B5EF4-FFF2-40B4-BE49-F238E27FC236}">
                <a16:creationId xmlns:a16="http://schemas.microsoft.com/office/drawing/2014/main" xmlns="" id="{EDC17AF4-7E70-9925-3CB2-0D7F4A76F6BD}"/>
              </a:ext>
            </a:extLst>
          </p:cNvPr>
          <p:cNvCxnSpPr>
            <a:cxnSpLocks/>
            <a:stCxn id="25" idx="2"/>
          </p:cNvCxnSpPr>
          <p:nvPr/>
        </p:nvCxnSpPr>
        <p:spPr>
          <a:xfrm rot="5400000">
            <a:off x="9846942" y="4664954"/>
            <a:ext cx="2446109" cy="399486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47"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1</a:t>
            </a:r>
            <a:endParaRPr lang="en-US" sz="1600" b="0" strike="noStrike" spc="-1" dirty="0">
              <a:solidFill>
                <a:srgbClr val="000000"/>
              </a:solidFill>
              <a:latin typeface="Calibri"/>
            </a:endParaRPr>
          </a:p>
        </p:txBody>
      </p:sp>
      <p:cxnSp>
        <p:nvCxnSpPr>
          <p:cNvPr id="51" name="肘形接點 68">
            <a:extLst>
              <a:ext uri="{FF2B5EF4-FFF2-40B4-BE49-F238E27FC236}">
                <a16:creationId xmlns:a16="http://schemas.microsoft.com/office/drawing/2014/main" xmlns="" id="{0B8AB095-2230-8414-9FD7-C0005A950EC1}"/>
              </a:ext>
            </a:extLst>
          </p:cNvPr>
          <p:cNvCxnSpPr>
            <a:cxnSpLocks/>
            <a:stCxn id="64" idx="3"/>
            <a:endCxn id="25" idx="1"/>
          </p:cNvCxnSpPr>
          <p:nvPr/>
        </p:nvCxnSpPr>
        <p:spPr>
          <a:xfrm flipV="1">
            <a:off x="11383428" y="4820038"/>
            <a:ext cx="777445" cy="2785"/>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2" name="肘形接點 68">
            <a:extLst>
              <a:ext uri="{FF2B5EF4-FFF2-40B4-BE49-F238E27FC236}">
                <a16:creationId xmlns:a16="http://schemas.microsoft.com/office/drawing/2014/main" xmlns="" id="{16BB5354-CE92-1353-64BD-EE8A56369FD5}"/>
              </a:ext>
            </a:extLst>
          </p:cNvPr>
          <p:cNvCxnSpPr>
            <a:cxnSpLocks/>
            <a:stCxn id="25" idx="2"/>
            <a:endCxn id="68" idx="0"/>
          </p:cNvCxnSpPr>
          <p:nvPr/>
        </p:nvCxnSpPr>
        <p:spPr>
          <a:xfrm rot="5400000">
            <a:off x="12735160" y="5767222"/>
            <a:ext cx="660159" cy="438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62" name="群組 61"/>
          <p:cNvGrpSpPr/>
          <p:nvPr/>
        </p:nvGrpSpPr>
        <p:grpSpPr>
          <a:xfrm>
            <a:off x="9572628" y="4215600"/>
            <a:ext cx="1810800" cy="1217256"/>
            <a:chOff x="15073354" y="8308668"/>
            <a:chExt cx="1810800" cy="1217256"/>
          </a:xfrm>
        </p:grpSpPr>
        <p:sp>
          <p:nvSpPr>
            <p:cNvPr id="63" name="流程圖: 程序 62"/>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ZMM087</a:t>
              </a:r>
              <a:endParaRPr lang="en-GB" sz="1500" b="1" dirty="0">
                <a:latin typeface="微軟正黑體" panose="020B0604030504040204" pitchFamily="34" charset="-120"/>
                <a:ea typeface="微軟正黑體" panose="020B0604030504040204" pitchFamily="34" charset="-120"/>
              </a:endParaRPr>
            </a:p>
          </p:txBody>
        </p:sp>
        <p:sp>
          <p:nvSpPr>
            <p:cNvPr id="64" name="流程圖: 程序 63"/>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lvl="0" algn="ctr" eaLnBrk="0" hangingPunct="0">
                <a:buClr>
                  <a:srgbClr val="000000"/>
                </a:buClr>
                <a:defRPr/>
              </a:pPr>
              <a:r>
                <a:rPr lang="zh-TW" altLang="en-US" sz="1500" dirty="0" smtClean="0">
                  <a:latin typeface="微軟正黑體" panose="020B0604030504040204" pitchFamily="34" charset="-120"/>
                  <a:ea typeface="微軟正黑體" panose="020B0604030504040204" pitchFamily="34" charset="-120"/>
                  <a:sym typeface="Arial"/>
                </a:rPr>
                <a:t>拋預留單至</a:t>
              </a:r>
              <a:r>
                <a:rPr lang="en-US" altLang="zh-TW" sz="1500" dirty="0" smtClean="0">
                  <a:latin typeface="微軟正黑體" panose="020B0604030504040204" pitchFamily="34" charset="-120"/>
                  <a:ea typeface="微軟正黑體" panose="020B0604030504040204" pitchFamily="34" charset="-120"/>
                  <a:sym typeface="Arial"/>
                </a:rPr>
                <a:t>WMS</a:t>
              </a:r>
              <a:endParaRPr lang="zh-TW" altLang="en-US" sz="1500" dirty="0">
                <a:latin typeface="微軟正黑體" panose="020B0604030504040204" pitchFamily="34" charset="-120"/>
                <a:ea typeface="微軟正黑體" panose="020B0604030504040204" pitchFamily="34" charset="-120"/>
                <a:sym typeface="Arial"/>
              </a:endParaRPr>
            </a:p>
          </p:txBody>
        </p:sp>
        <p:sp>
          <p:nvSpPr>
            <p:cNvPr id="65" name="流程圖: 程序 64"/>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66" name="流程圖: 程序 65"/>
            <p:cNvSpPr/>
            <p:nvPr/>
          </p:nvSpPr>
          <p:spPr>
            <a:xfrm>
              <a:off x="15997390"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自動</a:t>
              </a:r>
              <a:endParaRPr lang="zh-TW" altLang="en-US" sz="1500" spc="-1" dirty="0">
                <a:solidFill>
                  <a:schemeClr val="dk1"/>
                </a:solidFill>
                <a:latin typeface="微軟正黑體"/>
                <a:ea typeface="微軟正黑體"/>
              </a:endParaRPr>
            </a:p>
          </p:txBody>
        </p:sp>
      </p:grpSp>
      <p:grpSp>
        <p:nvGrpSpPr>
          <p:cNvPr id="67" name="群組 66"/>
          <p:cNvGrpSpPr/>
          <p:nvPr/>
        </p:nvGrpSpPr>
        <p:grpSpPr>
          <a:xfrm>
            <a:off x="12157648" y="6099492"/>
            <a:ext cx="1818010" cy="1217256"/>
            <a:chOff x="15073354" y="8308668"/>
            <a:chExt cx="1818010" cy="1217256"/>
          </a:xfrm>
        </p:grpSpPr>
        <p:sp>
          <p:nvSpPr>
            <p:cNvPr id="68" name="流程圖: 程序 67"/>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ZMM088</a:t>
              </a:r>
              <a:endParaRPr lang="en-GB" sz="1500" b="1" dirty="0">
                <a:latin typeface="微軟正黑體" panose="020B0604030504040204" pitchFamily="34" charset="-120"/>
                <a:ea typeface="微軟正黑體" panose="020B0604030504040204" pitchFamily="34" charset="-120"/>
              </a:endParaRPr>
            </a:p>
          </p:txBody>
        </p:sp>
        <p:sp>
          <p:nvSpPr>
            <p:cNvPr id="69" name="流程圖: 程序 68"/>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lvl="0" algn="ctr" eaLnBrk="0" hangingPunct="0">
                <a:buClr>
                  <a:srgbClr val="000000"/>
                </a:buClr>
                <a:defRPr/>
              </a:pPr>
              <a:r>
                <a:rPr lang="en-US" altLang="zh-TW" sz="1500" dirty="0" smtClean="0">
                  <a:latin typeface="微軟正黑體" panose="020B0604030504040204" pitchFamily="34" charset="-120"/>
                  <a:ea typeface="微軟正黑體" panose="020B0604030504040204" pitchFamily="34" charset="-120"/>
                  <a:sym typeface="Arial"/>
                </a:rPr>
                <a:t>WMS</a:t>
              </a:r>
              <a:r>
                <a:rPr lang="zh-TW" altLang="en-US" sz="1500" dirty="0" smtClean="0">
                  <a:latin typeface="微軟正黑體" panose="020B0604030504040204" pitchFamily="34" charset="-120"/>
                  <a:ea typeface="微軟正黑體" panose="020B0604030504040204" pitchFamily="34" charset="-120"/>
                  <a:sym typeface="Arial"/>
                </a:rPr>
                <a:t>回傳</a:t>
              </a:r>
              <a:endParaRPr lang="en-US" altLang="zh-TW" sz="1500" dirty="0" smtClean="0">
                <a:latin typeface="微軟正黑體" panose="020B0604030504040204" pitchFamily="34" charset="-120"/>
                <a:ea typeface="微軟正黑體" panose="020B0604030504040204" pitchFamily="34" charset="-120"/>
                <a:sym typeface="Arial"/>
              </a:endParaRPr>
            </a:p>
            <a:p>
              <a:pPr lvl="0" algn="ctr" eaLnBrk="0" hangingPunct="0">
                <a:buClr>
                  <a:srgbClr val="000000"/>
                </a:buClr>
                <a:defRPr/>
              </a:pPr>
              <a:r>
                <a:rPr lang="zh-TW" altLang="en-US" sz="1500" dirty="0" smtClean="0">
                  <a:latin typeface="微軟正黑體" panose="020B0604030504040204" pitchFamily="34" charset="-120"/>
                  <a:ea typeface="微軟正黑體" panose="020B0604030504040204" pitchFamily="34" charset="-120"/>
                  <a:sym typeface="Arial"/>
                </a:rPr>
                <a:t>預留單過帳</a:t>
              </a:r>
              <a:endParaRPr lang="zh-TW" altLang="en-US" sz="1500" dirty="0">
                <a:latin typeface="微軟正黑體" panose="020B0604030504040204" pitchFamily="34" charset="-120"/>
                <a:ea typeface="微軟正黑體" panose="020B0604030504040204" pitchFamily="34" charset="-120"/>
                <a:sym typeface="Arial"/>
              </a:endParaRPr>
            </a:p>
          </p:txBody>
        </p:sp>
        <p:sp>
          <p:nvSpPr>
            <p:cNvPr id="70" name="流程圖: 程序 69"/>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71" name="流程圖: 程序 70"/>
            <p:cNvSpPr/>
            <p:nvPr/>
          </p:nvSpPr>
          <p:spPr>
            <a:xfrm>
              <a:off x="16009364"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自動</a:t>
              </a:r>
              <a:endParaRPr lang="zh-TW" altLang="en-US" sz="1500" spc="-1" dirty="0">
                <a:solidFill>
                  <a:schemeClr val="dk1"/>
                </a:solidFill>
                <a:latin typeface="微軟正黑體"/>
                <a:ea typeface="微軟正黑體"/>
              </a:endParaRPr>
            </a:p>
          </p:txBody>
        </p:sp>
      </p:grpSp>
      <p:grpSp>
        <p:nvGrpSpPr>
          <p:cNvPr id="53" name="Group 220">
            <a:extLst>
              <a:ext uri="{FF2B5EF4-FFF2-40B4-BE49-F238E27FC236}">
                <a16:creationId xmlns:a16="http://schemas.microsoft.com/office/drawing/2014/main" xmlns="" id="{F57C22EF-2BDC-F9B6-BCF7-039468E216F7}"/>
              </a:ext>
            </a:extLst>
          </p:cNvPr>
          <p:cNvGrpSpPr/>
          <p:nvPr/>
        </p:nvGrpSpPr>
        <p:grpSpPr>
          <a:xfrm>
            <a:off x="11144264" y="4001286"/>
            <a:ext cx="533400" cy="408605"/>
            <a:chOff x="5906184" y="1486857"/>
            <a:chExt cx="355600" cy="272361"/>
          </a:xfrm>
        </p:grpSpPr>
        <p:sp>
          <p:nvSpPr>
            <p:cNvPr id="55" name="Oval 221">
              <a:extLst>
                <a:ext uri="{FF2B5EF4-FFF2-40B4-BE49-F238E27FC236}">
                  <a16:creationId xmlns:a16="http://schemas.microsoft.com/office/drawing/2014/main" xmlns="" id="{AA75DF61-29DA-6269-959D-B828228516BD}"/>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6" name="TextBox 222">
              <a:extLst>
                <a:ext uri="{FF2B5EF4-FFF2-40B4-BE49-F238E27FC236}">
                  <a16:creationId xmlns:a16="http://schemas.microsoft.com/office/drawing/2014/main" xmlns="" id="{D7373917-563C-07C1-04C7-50AA63B38113}"/>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3</a:t>
              </a:r>
              <a:endParaRPr lang="en-US" altLang="zh-TW" sz="1500" dirty="0">
                <a:latin typeface="微軟正黑體" panose="020B0604030504040204" pitchFamily="34" charset="-120"/>
                <a:ea typeface="微軟正黑體" panose="020B0604030504040204" pitchFamily="34" charset="-120"/>
              </a:endParaRPr>
            </a:p>
          </p:txBody>
        </p:sp>
      </p:grpSp>
      <p:grpSp>
        <p:nvGrpSpPr>
          <p:cNvPr id="57" name="Group 220">
            <a:extLst>
              <a:ext uri="{FF2B5EF4-FFF2-40B4-BE49-F238E27FC236}">
                <a16:creationId xmlns:a16="http://schemas.microsoft.com/office/drawing/2014/main" xmlns="" id="{2D9D24A9-3257-3D1C-400D-8D57457C936F}"/>
              </a:ext>
            </a:extLst>
          </p:cNvPr>
          <p:cNvGrpSpPr/>
          <p:nvPr/>
        </p:nvGrpSpPr>
        <p:grpSpPr>
          <a:xfrm>
            <a:off x="13716032" y="5858674"/>
            <a:ext cx="533400" cy="408605"/>
            <a:chOff x="5906184" y="1486857"/>
            <a:chExt cx="355600" cy="272361"/>
          </a:xfrm>
        </p:grpSpPr>
        <p:sp>
          <p:nvSpPr>
            <p:cNvPr id="58" name="Oval 221">
              <a:extLst>
                <a:ext uri="{FF2B5EF4-FFF2-40B4-BE49-F238E27FC236}">
                  <a16:creationId xmlns:a16="http://schemas.microsoft.com/office/drawing/2014/main" xmlns="" id="{CCF0CFCE-B6D6-2D09-68D4-D3E1760C0D7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9" name="TextBox 222">
              <a:extLst>
                <a:ext uri="{FF2B5EF4-FFF2-40B4-BE49-F238E27FC236}">
                  <a16:creationId xmlns:a16="http://schemas.microsoft.com/office/drawing/2014/main" xmlns="" id="{EA17683E-E4C2-2FEC-8CA5-6C1D73A3C548}"/>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7" name="TextBox 53">
            <a:extLst>
              <a:ext uri="{FF2B5EF4-FFF2-40B4-BE49-F238E27FC236}">
                <a16:creationId xmlns:a16="http://schemas.microsoft.com/office/drawing/2014/main" xmlns="" id="{30381EE2-3320-4812-6081-3A15B03E8B32}"/>
              </a:ext>
            </a:extLst>
          </p:cNvPr>
          <p:cNvSpPr txBox="1"/>
          <p:nvPr/>
        </p:nvSpPr>
        <p:spPr>
          <a:xfrm>
            <a:off x="14394343" y="2013759"/>
            <a:ext cx="3594197" cy="969496"/>
          </a:xfrm>
          <a:prstGeom prst="rect">
            <a:avLst/>
          </a:prstGeom>
          <a:noFill/>
        </p:spPr>
        <p:txBody>
          <a:bodyPr wrap="square" lIns="137160" tIns="68580" rIns="137160" bIns="68580" rtlCol="0">
            <a:spAutoFit/>
          </a:bodyPr>
          <a:lstStyle/>
          <a:p>
            <a:pPr marL="342900" indent="-342900">
              <a:buFont typeface="+mj-lt"/>
              <a:buAutoNum type="arabicPeriod"/>
            </a:pPr>
            <a:r>
              <a:rPr lang="zh-TW" altLang="en-US" dirty="0" smtClean="0"/>
              <a:t>印標室完成標籤製作後，用成本中心入庫。</a:t>
            </a:r>
            <a:endParaRPr lang="en-US" altLang="zh-TW" dirty="0"/>
          </a:p>
          <a:p>
            <a:pPr marL="342900" indent="-342900">
              <a:buFont typeface="+mj-lt"/>
              <a:buAutoNum type="arabicPeriod"/>
            </a:pPr>
            <a:endParaRPr lang="en-US" altLang="zh-TW" dirty="0"/>
          </a:p>
        </p:txBody>
      </p:sp>
      <p:sp>
        <p:nvSpPr>
          <p:cNvPr id="8" name="文字方塊 17">
            <a:extLst>
              <a:ext uri="{FF2B5EF4-FFF2-40B4-BE49-F238E27FC236}">
                <a16:creationId xmlns:a16="http://schemas.microsoft.com/office/drawing/2014/main" xmlns="" id="{A3961CAE-69E4-A1C1-045A-63D595BA671B}"/>
              </a:ext>
            </a:extLst>
          </p:cNvPr>
          <p:cNvSpPr txBox="1"/>
          <p:nvPr/>
        </p:nvSpPr>
        <p:spPr>
          <a:xfrm>
            <a:off x="3993854" y="1348228"/>
            <a:ext cx="5793088" cy="400110"/>
          </a:xfrm>
          <a:prstGeom prst="rect">
            <a:avLst/>
          </a:prstGeom>
          <a:noFill/>
        </p:spPr>
        <p:txBody>
          <a:bodyPr wrap="square" lIns="137160" tIns="68580" rIns="137160" bIns="68580" rtlCol="0">
            <a:spAutoFit/>
          </a:bodyPr>
          <a:lstStyle/>
          <a:p>
            <a:pPr algn="ctr"/>
            <a:r>
              <a:rPr lang="zh-TW" altLang="en-US" sz="1700" dirty="0" smtClean="0"/>
              <a:t>印標室</a:t>
            </a:r>
            <a:endParaRPr lang="zh-TW" altLang="en-US" sz="1700" dirty="0"/>
          </a:p>
        </p:txBody>
      </p:sp>
      <p:sp>
        <p:nvSpPr>
          <p:cNvPr id="60" name="文字方塊 59">
            <a:extLst>
              <a:ext uri="{FF2B5EF4-FFF2-40B4-BE49-F238E27FC236}">
                <a16:creationId xmlns:a16="http://schemas.microsoft.com/office/drawing/2014/main" xmlns=""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smtClean="0">
                <a:latin typeface="微軟正黑體" panose="020B0604030504040204" pitchFamily="34" charset="-120"/>
                <a:ea typeface="微軟正黑體" panose="020B0604030504040204" pitchFamily="34" charset="-120"/>
              </a:rPr>
              <a:t>MM-IM-0110-02</a:t>
            </a:r>
            <a:r>
              <a:rPr lang="zh-TW" altLang="en-US" b="1" dirty="0" smtClean="0">
                <a:latin typeface="微軟正黑體" panose="020B0604030504040204" pitchFamily="34" charset="-120"/>
                <a:ea typeface="微軟正黑體" panose="020B0604030504040204" pitchFamily="34" charset="-120"/>
              </a:rPr>
              <a:t>其他入庫作業流程</a:t>
            </a:r>
            <a:r>
              <a:rPr lang="en-US" altLang="zh-TW" b="1" dirty="0" smtClean="0">
                <a:latin typeface="微軟正黑體" panose="020B0604030504040204" pitchFamily="34" charset="-120"/>
                <a:ea typeface="微軟正黑體" panose="020B0604030504040204" pitchFamily="34" charset="-120"/>
              </a:rPr>
              <a:t>(</a:t>
            </a:r>
            <a:r>
              <a:rPr lang="zh-TW" altLang="en-US" b="1" dirty="0" smtClean="0">
                <a:latin typeface="微軟正黑體" panose="020B0604030504040204" pitchFamily="34" charset="-120"/>
                <a:ea typeface="微軟正黑體" panose="020B0604030504040204" pitchFamily="34" charset="-120"/>
              </a:rPr>
              <a:t>自製</a:t>
            </a:r>
            <a:r>
              <a:rPr lang="zh-TW" altLang="en-US" b="1" dirty="0" smtClean="0"/>
              <a:t>標籤</a:t>
            </a:r>
            <a:r>
              <a:rPr kumimoji="0" lang="zh-TW" altLang="en-US" b="1" dirty="0" smtClean="0">
                <a:latin typeface="微軟正黑體" panose="020B0604030504040204" pitchFamily="34" charset="-120"/>
                <a:ea typeface="微軟正黑體" panose="020B0604030504040204" pitchFamily="34" charset="-120"/>
              </a:rPr>
              <a:t>入庫</a:t>
            </a:r>
            <a:r>
              <a:rPr kumimoji="0" lang="en-US" altLang="zh-TW" b="1" dirty="0" smtClean="0">
                <a:latin typeface="微軟正黑體" panose="020B0604030504040204" pitchFamily="34" charset="-120"/>
                <a:ea typeface="微軟正黑體" panose="020B0604030504040204" pitchFamily="34" charset="-120"/>
              </a:rPr>
              <a:t>)</a:t>
            </a:r>
            <a:endParaRPr kumimoji="0" lang="zh-TW" altLang="en-US" b="1" dirty="0">
              <a:latin typeface="微軟正黑體" panose="020B0604030504040204" pitchFamily="34" charset="-120"/>
              <a:ea typeface="微軟正黑體" panose="020B0604030504040204" pitchFamily="34" charset="-120"/>
            </a:endParaRPr>
          </a:p>
        </p:txBody>
      </p:sp>
      <p:sp>
        <p:nvSpPr>
          <p:cNvPr id="205" name="流程圖: 結束點 204">
            <a:extLst>
              <a:ext uri="{FF2B5EF4-FFF2-40B4-BE49-F238E27FC236}">
                <a16:creationId xmlns:a16="http://schemas.microsoft.com/office/drawing/2014/main" xmlns="" id="{AF6DEB4F-42E0-79A4-1C86-971AEA2097AF}"/>
              </a:ext>
            </a:extLst>
          </p:cNvPr>
          <p:cNvSpPr/>
          <p:nvPr/>
        </p:nvSpPr>
        <p:spPr bwMode="auto">
          <a:xfrm>
            <a:off x="12144396" y="2715402"/>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26" name="肘形接點 68">
            <a:extLst>
              <a:ext uri="{FF2B5EF4-FFF2-40B4-BE49-F238E27FC236}">
                <a16:creationId xmlns:a16="http://schemas.microsoft.com/office/drawing/2014/main" xmlns="" id="{66E28980-1EE1-C5F9-8A46-65685EE64FF1}"/>
              </a:ext>
            </a:extLst>
          </p:cNvPr>
          <p:cNvCxnSpPr>
            <a:cxnSpLocks/>
            <a:stCxn id="2" idx="3"/>
            <a:endCxn id="23" idx="1"/>
          </p:cNvCxnSpPr>
          <p:nvPr/>
        </p:nvCxnSpPr>
        <p:spPr>
          <a:xfrm>
            <a:off x="2236081" y="3112834"/>
            <a:ext cx="3336019" cy="655"/>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1" name="肘形接點 68">
            <a:extLst>
              <a:ext uri="{FF2B5EF4-FFF2-40B4-BE49-F238E27FC236}">
                <a16:creationId xmlns:a16="http://schemas.microsoft.com/office/drawing/2014/main" xmlns="" id="{A68A5695-0E00-A5A6-791C-96A720688BD9}"/>
              </a:ext>
            </a:extLst>
          </p:cNvPr>
          <p:cNvCxnSpPr>
            <a:cxnSpLocks/>
            <a:stCxn id="23" idx="3"/>
            <a:endCxn id="205" idx="1"/>
          </p:cNvCxnSpPr>
          <p:nvPr/>
        </p:nvCxnSpPr>
        <p:spPr>
          <a:xfrm flipV="1">
            <a:off x="7382900" y="3106684"/>
            <a:ext cx="4761496" cy="6805"/>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 name="流程圖: 結束點 1">
            <a:extLst>
              <a:ext uri="{FF2B5EF4-FFF2-40B4-BE49-F238E27FC236}">
                <a16:creationId xmlns:a16="http://schemas.microsoft.com/office/drawing/2014/main" xmlns="" id="{4C8C776D-DAEB-7D17-B096-DBA5FE0E0B72}"/>
              </a:ext>
            </a:extLst>
          </p:cNvPr>
          <p:cNvSpPr/>
          <p:nvPr/>
        </p:nvSpPr>
        <p:spPr bwMode="auto">
          <a:xfrm>
            <a:off x="438250" y="2721552"/>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sp>
        <p:nvSpPr>
          <p:cNvPr id="47"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2</a:t>
            </a:r>
            <a:endParaRPr lang="en-US" sz="1600" b="0" strike="noStrike" spc="-1" dirty="0">
              <a:solidFill>
                <a:srgbClr val="000000"/>
              </a:solidFill>
              <a:latin typeface="Calibri"/>
            </a:endParaRPr>
          </a:p>
        </p:txBody>
      </p:sp>
      <p:grpSp>
        <p:nvGrpSpPr>
          <p:cNvPr id="21" name="群組 20"/>
          <p:cNvGrpSpPr/>
          <p:nvPr/>
        </p:nvGrpSpPr>
        <p:grpSpPr>
          <a:xfrm>
            <a:off x="5572100" y="2506266"/>
            <a:ext cx="1810800" cy="1217256"/>
            <a:chOff x="15073354" y="8308668"/>
            <a:chExt cx="1810800" cy="1217256"/>
          </a:xfrm>
        </p:grpSpPr>
        <p:sp>
          <p:nvSpPr>
            <p:cNvPr id="22" name="流程圖: 程序 21"/>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MIGO</a:t>
              </a:r>
              <a:endParaRPr lang="en-GB" sz="1500" b="1" dirty="0">
                <a:latin typeface="微軟正黑體" panose="020B0604030504040204" pitchFamily="34" charset="-120"/>
                <a:ea typeface="微軟正黑體" panose="020B0604030504040204" pitchFamily="34" charset="-120"/>
              </a:endParaRPr>
            </a:p>
          </p:txBody>
        </p:sp>
        <p:sp>
          <p:nvSpPr>
            <p:cNvPr id="23" name="流程圖: 程序 22"/>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lvl="0" algn="ctr" eaLnBrk="0" hangingPunct="0">
                <a:buClr>
                  <a:srgbClr val="000000"/>
                </a:buClr>
                <a:defRPr/>
              </a:pPr>
              <a:r>
                <a:rPr lang="en-US" altLang="zh-TW" sz="1500" dirty="0" smtClean="0">
                  <a:latin typeface="微軟正黑體" panose="020B0604030504040204" pitchFamily="34" charset="-120"/>
                  <a:ea typeface="微軟正黑體" panose="020B0604030504040204" pitchFamily="34" charset="-120"/>
                  <a:sym typeface="Arial"/>
                </a:rPr>
                <a:t>(Mvt.</a:t>
              </a:r>
              <a:r>
                <a:rPr lang="en-US" altLang="zh-TW" sz="1500" dirty="0" smtClean="0">
                  <a:solidFill>
                    <a:srgbClr val="FF0000"/>
                  </a:solidFill>
                  <a:latin typeface="微軟正黑體" panose="020B0604030504040204" pitchFamily="34" charset="-120"/>
                  <a:ea typeface="微軟正黑體" panose="020B0604030504040204" pitchFamily="34" charset="-120"/>
                  <a:sym typeface="Arial"/>
                </a:rPr>
                <a:t>292</a:t>
              </a:r>
              <a:r>
                <a:rPr lang="en-US" altLang="zh-TW" sz="1500" dirty="0" smtClean="0">
                  <a:latin typeface="微軟正黑體" panose="020B0604030504040204" pitchFamily="34" charset="-120"/>
                  <a:ea typeface="微軟正黑體" panose="020B0604030504040204" pitchFamily="34" charset="-120"/>
                  <a:sym typeface="Arial"/>
                </a:rPr>
                <a:t>)</a:t>
              </a:r>
              <a:endParaRPr lang="zh-TW" altLang="en-US" sz="1500" dirty="0" smtClean="0">
                <a:latin typeface="微軟正黑體" panose="020B0604030504040204" pitchFamily="34" charset="-120"/>
                <a:ea typeface="微軟正黑體" panose="020B0604030504040204" pitchFamily="34" charset="-120"/>
                <a:sym typeface="Arial"/>
              </a:endParaRPr>
            </a:p>
            <a:p>
              <a:pPr lvl="0" algn="ctr" eaLnBrk="0" hangingPunct="0">
                <a:buClr>
                  <a:srgbClr val="000000"/>
                </a:buClr>
                <a:defRPr/>
              </a:pPr>
              <a:r>
                <a:rPr lang="zh-TW" altLang="en-US" sz="1500" dirty="0" smtClean="0">
                  <a:latin typeface="微軟正黑體" panose="020B0604030504040204" pitchFamily="34" charset="-120"/>
                  <a:ea typeface="微軟正黑體" panose="020B0604030504040204" pitchFamily="34" charset="-120"/>
                </a:rPr>
                <a:t>其他入庫</a:t>
              </a:r>
              <a:endParaRPr lang="en-US" altLang="zh-TW" sz="1500" dirty="0">
                <a:latin typeface="微軟正黑體" panose="020B0604030504040204" pitchFamily="34" charset="-120"/>
                <a:ea typeface="微軟正黑體" panose="020B0604030504040204" pitchFamily="34" charset="-120"/>
              </a:endParaRPr>
            </a:p>
          </p:txBody>
        </p:sp>
        <p:sp>
          <p:nvSpPr>
            <p:cNvPr id="24" name="流程圖: 程序 23"/>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25" name="流程圖: 程序 24"/>
            <p:cNvSpPr/>
            <p:nvPr/>
          </p:nvSpPr>
          <p:spPr>
            <a:xfrm>
              <a:off x="15997390"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3" name="Group 220">
            <a:extLst>
              <a:ext uri="{FF2B5EF4-FFF2-40B4-BE49-F238E27FC236}">
                <a16:creationId xmlns:a16="http://schemas.microsoft.com/office/drawing/2014/main" xmlns="" id="{F848FA31-285F-581D-D212-24891BC0A21D}"/>
              </a:ext>
            </a:extLst>
          </p:cNvPr>
          <p:cNvGrpSpPr/>
          <p:nvPr/>
        </p:nvGrpSpPr>
        <p:grpSpPr>
          <a:xfrm>
            <a:off x="7190786" y="2223872"/>
            <a:ext cx="533400" cy="408605"/>
            <a:chOff x="5906184" y="1486857"/>
            <a:chExt cx="355600" cy="272361"/>
          </a:xfrm>
        </p:grpSpPr>
        <p:sp>
          <p:nvSpPr>
            <p:cNvPr id="228" name="Oval 221">
              <a:extLst>
                <a:ext uri="{FF2B5EF4-FFF2-40B4-BE49-F238E27FC236}">
                  <a16:creationId xmlns:a16="http://schemas.microsoft.com/office/drawing/2014/main" xmlns="" id="{356A97A5-CB31-0C92-3F61-4C7E38116F9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9" name="TextBox 222">
              <a:extLst>
                <a:ext uri="{FF2B5EF4-FFF2-40B4-BE49-F238E27FC236}">
                  <a16:creationId xmlns:a16="http://schemas.microsoft.com/office/drawing/2014/main" xmlns="" id="{47B4CE2C-6B17-313E-C49B-E24DC4A790A8}"/>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97114" y="1594875"/>
            <a:ext cx="17911883" cy="8400709"/>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en-US" sz="2400" dirty="0" err="1">
                <a:solidFill>
                  <a:schemeClr val="dk1"/>
                </a:solidFill>
                <a:latin typeface="Arial"/>
                <a:ea typeface="Arial"/>
                <a:cs typeface="Arial"/>
                <a:sym typeface="Arial"/>
              </a:rPr>
              <a:t>流程補充說明</a:t>
            </a:r>
            <a:r>
              <a:rPr lang="en-US" sz="2400" dirty="0">
                <a:solidFill>
                  <a:schemeClr val="dk1"/>
                </a:solidFill>
                <a:latin typeface="Arial"/>
                <a:ea typeface="Arial"/>
                <a:cs typeface="Arial"/>
                <a:sym typeface="Arial"/>
              </a:rPr>
              <a:t>:</a:t>
            </a:r>
          </a:p>
          <a:p>
            <a:endParaRPr lang="en-US" sz="2400" dirty="0">
              <a:solidFill>
                <a:schemeClr val="dk1"/>
              </a:solidFill>
            </a:endParaRPr>
          </a:p>
          <a:p>
            <a:endParaRPr lang="en-US" sz="2400" dirty="0">
              <a:solidFill>
                <a:schemeClr val="dk1"/>
              </a:solidFill>
              <a:latin typeface="Arial"/>
              <a:ea typeface="Arial"/>
              <a:cs typeface="Arial"/>
              <a:sym typeface="Arial"/>
            </a:endParaRPr>
          </a:p>
          <a:p>
            <a:r>
              <a:rPr lang="en-US" sz="2400" dirty="0">
                <a:solidFill>
                  <a:schemeClr val="dk1"/>
                </a:solidFill>
                <a:latin typeface="Arial"/>
                <a:ea typeface="Arial"/>
                <a:cs typeface="Arial"/>
                <a:sym typeface="Arial"/>
              </a:rPr>
              <a:t> </a:t>
            </a:r>
            <a:endParaRPr dirty="0"/>
          </a:p>
          <a:p>
            <a:endParaRPr dirty="0">
              <a:solidFill>
                <a:schemeClr val="dk1"/>
              </a:solidFill>
              <a:latin typeface="Arial"/>
              <a:ea typeface="Arial"/>
              <a:cs typeface="Arial"/>
              <a:sym typeface="Arial"/>
            </a:endParaRPr>
          </a:p>
        </p:txBody>
      </p:sp>
      <p:sp>
        <p:nvSpPr>
          <p:cNvPr id="3" name="圓角矩形 28">
            <a:extLst>
              <a:ext uri="{FF2B5EF4-FFF2-40B4-BE49-F238E27FC236}">
                <a16:creationId xmlns:a16="http://schemas.microsoft.com/office/drawing/2014/main" xmlns="" id="{D9B7F954-C9B8-76C9-4B75-5A6F8DCACDCE}"/>
              </a:ext>
            </a:extLst>
          </p:cNvPr>
          <p:cNvSpPr/>
          <p:nvPr/>
        </p:nvSpPr>
        <p:spPr>
          <a:xfrm>
            <a:off x="1300983" y="3475526"/>
            <a:ext cx="2126940" cy="869012"/>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zh-TW" altLang="en-US" sz="3000" b="1" dirty="0">
                <a:latin typeface="微軟正黑體" pitchFamily="34" charset="-120"/>
                <a:ea typeface="微軟正黑體" pitchFamily="34" charset="-120"/>
              </a:rPr>
              <a:t>預留單</a:t>
            </a:r>
          </a:p>
        </p:txBody>
      </p:sp>
      <p:grpSp>
        <p:nvGrpSpPr>
          <p:cNvPr id="4" name="Group 220">
            <a:extLst>
              <a:ext uri="{FF2B5EF4-FFF2-40B4-BE49-F238E27FC236}">
                <a16:creationId xmlns:a16="http://schemas.microsoft.com/office/drawing/2014/main" xmlns="" id="{AC19600C-E569-80A5-C29C-C7EF89EC17F4}"/>
              </a:ext>
            </a:extLst>
          </p:cNvPr>
          <p:cNvGrpSpPr/>
          <p:nvPr/>
        </p:nvGrpSpPr>
        <p:grpSpPr>
          <a:xfrm>
            <a:off x="3651435" y="3257506"/>
            <a:ext cx="533400" cy="408605"/>
            <a:chOff x="5906184" y="1486857"/>
            <a:chExt cx="355600" cy="272361"/>
          </a:xfrm>
        </p:grpSpPr>
        <p:sp>
          <p:nvSpPr>
            <p:cNvPr id="6" name="Oval 221">
              <a:extLst>
                <a:ext uri="{FF2B5EF4-FFF2-40B4-BE49-F238E27FC236}">
                  <a16:creationId xmlns:a16="http://schemas.microsoft.com/office/drawing/2014/main" xmlns="" id="{A5C57815-6AF3-E45A-EF9E-5206AB1C6B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 name="TextBox 222">
              <a:extLst>
                <a:ext uri="{FF2B5EF4-FFF2-40B4-BE49-F238E27FC236}">
                  <a16:creationId xmlns:a16="http://schemas.microsoft.com/office/drawing/2014/main" xmlns="" id="{754001B2-3A31-7A9D-89A6-2A94568DA596}"/>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sp>
        <p:nvSpPr>
          <p:cNvPr id="8" name="圓角矩形 40">
            <a:extLst>
              <a:ext uri="{FF2B5EF4-FFF2-40B4-BE49-F238E27FC236}">
                <a16:creationId xmlns:a16="http://schemas.microsoft.com/office/drawing/2014/main" xmlns="" id="{438C3E0E-3662-F5BB-3928-D81A09CCF58C}"/>
              </a:ext>
            </a:extLst>
          </p:cNvPr>
          <p:cNvSpPr/>
          <p:nvPr/>
        </p:nvSpPr>
        <p:spPr>
          <a:xfrm>
            <a:off x="4376147" y="3461808"/>
            <a:ext cx="2135580" cy="869012"/>
          </a:xfrm>
          <a:prstGeom prst="roundRect">
            <a:avLst/>
          </a:prstGeom>
          <a:solidFill>
            <a:schemeClr val="accent1">
              <a:lumMod val="75000"/>
            </a:schemeClr>
          </a:solidFill>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lIns="137160" tIns="68580" rIns="137160" bIns="68580" rtlCol="0" anchor="ctr"/>
          <a:lstStyle/>
          <a:p>
            <a:pPr algn="ctr"/>
            <a:r>
              <a:rPr lang="zh-TW" altLang="en-US" sz="2700" b="1" dirty="0">
                <a:latin typeface="微軟正黑體" pitchFamily="34" charset="-120"/>
                <a:ea typeface="微軟正黑體" pitchFamily="34" charset="-120"/>
              </a:rPr>
              <a:t>上架完成</a:t>
            </a:r>
          </a:p>
        </p:txBody>
      </p:sp>
      <p:sp>
        <p:nvSpPr>
          <p:cNvPr id="9" name="圓角矩形 28">
            <a:extLst>
              <a:ext uri="{FF2B5EF4-FFF2-40B4-BE49-F238E27FC236}">
                <a16:creationId xmlns:a16="http://schemas.microsoft.com/office/drawing/2014/main" xmlns="" id="{B86D6DA4-46B6-89F6-E8C1-93EE3A7042F8}"/>
              </a:ext>
            </a:extLst>
          </p:cNvPr>
          <p:cNvSpPr/>
          <p:nvPr/>
        </p:nvSpPr>
        <p:spPr>
          <a:xfrm>
            <a:off x="7471193" y="3461808"/>
            <a:ext cx="2126940" cy="869012"/>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zh-TW" altLang="en-US" sz="3000" b="1" dirty="0">
                <a:latin typeface="微軟正黑體" pitchFamily="34" charset="-120"/>
                <a:ea typeface="微軟正黑體" pitchFamily="34" charset="-120"/>
              </a:rPr>
              <a:t>其他入庫</a:t>
            </a:r>
          </a:p>
        </p:txBody>
      </p:sp>
      <p:cxnSp>
        <p:nvCxnSpPr>
          <p:cNvPr id="10" name="接點: 肘形 9">
            <a:extLst>
              <a:ext uri="{FF2B5EF4-FFF2-40B4-BE49-F238E27FC236}">
                <a16:creationId xmlns:a16="http://schemas.microsoft.com/office/drawing/2014/main" xmlns="" id="{CC99BFFF-ED42-D962-9710-5EC67FFF374A}"/>
              </a:ext>
            </a:extLst>
          </p:cNvPr>
          <p:cNvCxnSpPr>
            <a:cxnSpLocks/>
            <a:stCxn id="8" idx="3"/>
            <a:endCxn id="9" idx="1"/>
          </p:cNvCxnSpPr>
          <p:nvPr/>
        </p:nvCxnSpPr>
        <p:spPr>
          <a:xfrm>
            <a:off x="6511727" y="3896314"/>
            <a:ext cx="959466" cy="19053"/>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5" name="Group 220">
            <a:extLst>
              <a:ext uri="{FF2B5EF4-FFF2-40B4-BE49-F238E27FC236}">
                <a16:creationId xmlns:a16="http://schemas.microsoft.com/office/drawing/2014/main" xmlns="" id="{23CD92B9-8E78-CEBD-3F59-DD7FB271C503}"/>
              </a:ext>
            </a:extLst>
          </p:cNvPr>
          <p:cNvGrpSpPr/>
          <p:nvPr/>
        </p:nvGrpSpPr>
        <p:grpSpPr>
          <a:xfrm>
            <a:off x="6735236" y="3270457"/>
            <a:ext cx="533400" cy="408605"/>
            <a:chOff x="5906184" y="1486857"/>
            <a:chExt cx="355600" cy="272361"/>
          </a:xfrm>
        </p:grpSpPr>
        <p:sp>
          <p:nvSpPr>
            <p:cNvPr id="12" name="Oval 221">
              <a:extLst>
                <a:ext uri="{FF2B5EF4-FFF2-40B4-BE49-F238E27FC236}">
                  <a16:creationId xmlns:a16="http://schemas.microsoft.com/office/drawing/2014/main" xmlns="" id="{F967B9AB-DB74-5A33-5256-453EECA705E3}"/>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TextBox 222">
              <a:extLst>
                <a:ext uri="{FF2B5EF4-FFF2-40B4-BE49-F238E27FC236}">
                  <a16:creationId xmlns:a16="http://schemas.microsoft.com/office/drawing/2014/main" xmlns="" id="{9E776863-44E0-2EE5-874C-1ED25497029F}"/>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cxnSp>
        <p:nvCxnSpPr>
          <p:cNvPr id="14" name="接點: 肘形 13">
            <a:extLst>
              <a:ext uri="{FF2B5EF4-FFF2-40B4-BE49-F238E27FC236}">
                <a16:creationId xmlns:a16="http://schemas.microsoft.com/office/drawing/2014/main" xmlns="" id="{EF576A59-734C-8E76-A46F-83285A683EEB}"/>
              </a:ext>
            </a:extLst>
          </p:cNvPr>
          <p:cNvCxnSpPr>
            <a:cxnSpLocks/>
            <a:stCxn id="3" idx="3"/>
            <a:endCxn id="8" idx="1"/>
          </p:cNvCxnSpPr>
          <p:nvPr/>
        </p:nvCxnSpPr>
        <p:spPr>
          <a:xfrm flipV="1">
            <a:off x="3427924" y="3896314"/>
            <a:ext cx="948224" cy="13718"/>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17" name="表格 16">
            <a:extLst>
              <a:ext uri="{FF2B5EF4-FFF2-40B4-BE49-F238E27FC236}">
                <a16:creationId xmlns:a16="http://schemas.microsoft.com/office/drawing/2014/main" xmlns="" id="{8CE9FB7C-FF02-E605-97EE-180F7312BBD9}"/>
              </a:ext>
            </a:extLst>
          </p:cNvPr>
          <p:cNvGraphicFramePr>
            <a:graphicFrameLocks noGrp="1"/>
          </p:cNvGraphicFramePr>
          <p:nvPr>
            <p:extLst>
              <p:ext uri="{D42A27DB-BD31-4B8C-83A1-F6EECF244321}">
                <p14:modId xmlns:p14="http://schemas.microsoft.com/office/powerpoint/2010/main" xmlns="" val="4231113160"/>
              </p:ext>
            </p:extLst>
          </p:nvPr>
        </p:nvGraphicFramePr>
        <p:xfrm>
          <a:off x="1733517" y="8216662"/>
          <a:ext cx="13395961" cy="1112692"/>
        </p:xfrm>
        <a:graphic>
          <a:graphicData uri="http://schemas.openxmlformats.org/drawingml/2006/table">
            <a:tbl>
              <a:tblPr firstRow="1" bandRow="1"/>
              <a:tblGrid>
                <a:gridCol w="586073">
                  <a:extLst>
                    <a:ext uri="{9D8B030D-6E8A-4147-A177-3AD203B41FA5}">
                      <a16:colId xmlns:a16="http://schemas.microsoft.com/office/drawing/2014/main" xmlns="" val="4193373909"/>
                    </a:ext>
                  </a:extLst>
                </a:gridCol>
                <a:gridCol w="12809888">
                  <a:extLst>
                    <a:ext uri="{9D8B030D-6E8A-4147-A177-3AD203B41FA5}">
                      <a16:colId xmlns:a16="http://schemas.microsoft.com/office/drawing/2014/main" xmlns="" val="175700329"/>
                    </a:ext>
                  </a:extLst>
                </a:gridCol>
              </a:tblGrid>
              <a:tr h="556346">
                <a:tc>
                  <a:txBody>
                    <a:bodyPr/>
                    <a:lstStyle/>
                    <a:p>
                      <a:r>
                        <a:rPr lang="en-US" altLang="zh-TW" sz="2700" dirty="0"/>
                        <a:t>1</a:t>
                      </a:r>
                      <a:endParaRPr lang="zh-TW" altLang="en-US" sz="2700" dirty="0"/>
                    </a:p>
                  </a:txBody>
                  <a:tcPr marL="137160" marR="137160" marT="68591" marB="68591"/>
                </a:tc>
                <a:tc>
                  <a:txBody>
                    <a:bodyPr/>
                    <a:lstStyle/>
                    <a:p>
                      <a:r>
                        <a:rPr lang="en-US" altLang="zh-TW" sz="2700" dirty="0"/>
                        <a:t>SAP</a:t>
                      </a:r>
                      <a:r>
                        <a:rPr lang="zh-TW" altLang="en-US" sz="2700" dirty="0"/>
                        <a:t> 其他入庫申請單</a:t>
                      </a:r>
                      <a:r>
                        <a:rPr lang="en-US" altLang="zh-TW" sz="2700" dirty="0"/>
                        <a:t>(</a:t>
                      </a:r>
                      <a:r>
                        <a:rPr lang="zh-TW" altLang="en-US" sz="2700" dirty="0"/>
                        <a:t>預留單</a:t>
                      </a:r>
                      <a:r>
                        <a:rPr lang="en-US" altLang="zh-TW" sz="2700" dirty="0"/>
                        <a:t>)</a:t>
                      </a:r>
                      <a:r>
                        <a:rPr lang="zh-TW" altLang="en-US" sz="2700" dirty="0"/>
                        <a:t>拋給</a:t>
                      </a:r>
                      <a:r>
                        <a:rPr lang="en-US" altLang="zh-TW" sz="2700" dirty="0"/>
                        <a:t>WMS</a:t>
                      </a:r>
                    </a:p>
                  </a:txBody>
                  <a:tcPr marL="137160" marR="137160" marT="68591" marB="68591"/>
                </a:tc>
                <a:extLst>
                  <a:ext uri="{0D108BD9-81ED-4DB2-BD59-A6C34878D82A}">
                    <a16:rowId xmlns:a16="http://schemas.microsoft.com/office/drawing/2014/main" xmlns="" val="388478257"/>
                  </a:ext>
                </a:extLst>
              </a:tr>
              <a:tr h="556346">
                <a:tc>
                  <a:txBody>
                    <a:bodyPr/>
                    <a:lstStyle/>
                    <a:p>
                      <a:r>
                        <a:rPr lang="en-US" altLang="zh-TW" sz="2700" dirty="0"/>
                        <a:t>2</a:t>
                      </a:r>
                      <a:endParaRPr lang="zh-TW" altLang="en-US" sz="2700" dirty="0"/>
                    </a:p>
                  </a:txBody>
                  <a:tcPr marL="137160" marR="137160" marT="68591" marB="68591"/>
                </a:tc>
                <a:tc>
                  <a:txBody>
                    <a:bodyPr/>
                    <a:lstStyle/>
                    <a:p>
                      <a:r>
                        <a:rPr lang="en-US" altLang="zh-TW" sz="2700" dirty="0"/>
                        <a:t>WMS</a:t>
                      </a:r>
                      <a:r>
                        <a:rPr lang="zh-TW" altLang="en-US" sz="2700" dirty="0"/>
                        <a:t>上架入庫後拋給</a:t>
                      </a:r>
                      <a:r>
                        <a:rPr lang="en-US" altLang="zh-TW" sz="2700" dirty="0"/>
                        <a:t>SAP</a:t>
                      </a:r>
                      <a:r>
                        <a:rPr lang="zh-TW" altLang="en-US" sz="2700" dirty="0"/>
                        <a:t>執行預留單其他入庫作業</a:t>
                      </a:r>
                    </a:p>
                  </a:txBody>
                  <a:tcPr marL="137160" marR="137160" marT="68591" marB="68591"/>
                </a:tc>
                <a:extLst>
                  <a:ext uri="{0D108BD9-81ED-4DB2-BD59-A6C34878D82A}">
                    <a16:rowId xmlns:a16="http://schemas.microsoft.com/office/drawing/2014/main" xmlns="" val="2767441219"/>
                  </a:ext>
                </a:extLst>
              </a:tr>
            </a:tbl>
          </a:graphicData>
        </a:graphic>
      </p:graphicFrame>
      <p:sp>
        <p:nvSpPr>
          <p:cNvPr id="18" name="圓角矩形 28">
            <a:extLst>
              <a:ext uri="{FF2B5EF4-FFF2-40B4-BE49-F238E27FC236}">
                <a16:creationId xmlns:a16="http://schemas.microsoft.com/office/drawing/2014/main" xmlns="" id="{1EDCA063-6AEB-6114-A0E7-544913E77810}"/>
              </a:ext>
            </a:extLst>
          </p:cNvPr>
          <p:cNvSpPr/>
          <p:nvPr/>
        </p:nvSpPr>
        <p:spPr>
          <a:xfrm>
            <a:off x="16766852" y="8897239"/>
            <a:ext cx="1188132" cy="432115"/>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altLang="zh-TW" b="1" dirty="0">
                <a:latin typeface="微軟正黑體" pitchFamily="34" charset="-120"/>
                <a:ea typeface="微軟正黑體" pitchFamily="34" charset="-120"/>
              </a:rPr>
              <a:t>SAP</a:t>
            </a:r>
            <a:endParaRPr lang="zh-TW" altLang="en-US" sz="2100" b="1" dirty="0">
              <a:latin typeface="微軟正黑體" pitchFamily="34" charset="-120"/>
              <a:ea typeface="微軟正黑體" pitchFamily="34" charset="-120"/>
            </a:endParaRPr>
          </a:p>
        </p:txBody>
      </p:sp>
      <p:sp>
        <p:nvSpPr>
          <p:cNvPr id="19" name="圓角矩形 40">
            <a:extLst>
              <a:ext uri="{FF2B5EF4-FFF2-40B4-BE49-F238E27FC236}">
                <a16:creationId xmlns:a16="http://schemas.microsoft.com/office/drawing/2014/main" xmlns="" id="{AE1BE896-92E0-73A1-A15B-DAABD8BEB78B}"/>
              </a:ext>
            </a:extLst>
          </p:cNvPr>
          <p:cNvSpPr/>
          <p:nvPr/>
        </p:nvSpPr>
        <p:spPr>
          <a:xfrm>
            <a:off x="16766852" y="9401709"/>
            <a:ext cx="1188132" cy="432115"/>
          </a:xfrm>
          <a:prstGeom prst="roundRect">
            <a:avLst/>
          </a:prstGeom>
          <a:solidFill>
            <a:schemeClr val="accent1">
              <a:lumMod val="75000"/>
            </a:schemeClr>
          </a:solidFill>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lIns="137160" tIns="68580" rIns="137160" bIns="68580" rtlCol="0" anchor="ctr"/>
          <a:lstStyle/>
          <a:p>
            <a:pPr algn="ctr"/>
            <a:r>
              <a:rPr lang="en-US" altLang="zh-TW" b="1" dirty="0">
                <a:latin typeface="微軟正黑體" pitchFamily="34" charset="-120"/>
                <a:ea typeface="微軟正黑體" pitchFamily="34" charset="-120"/>
              </a:rPr>
              <a:t>WMS</a:t>
            </a:r>
            <a:endParaRPr lang="zh-TW" altLang="en-US" b="1" dirty="0">
              <a:latin typeface="微軟正黑體" pitchFamily="34" charset="-120"/>
              <a:ea typeface="微軟正黑體" pitchFamily="34" charset="-120"/>
            </a:endParaRPr>
          </a:p>
        </p:txBody>
      </p:sp>
      <p:sp>
        <p:nvSpPr>
          <p:cNvPr id="21"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altLang="en-US" sz="1600" b="0" strike="noStrike" spc="-1" dirty="0" smtClean="0">
                <a:solidFill>
                  <a:srgbClr val="000000"/>
                </a:solidFill>
                <a:latin typeface="Calibri"/>
              </a:rPr>
              <a:t>ˇ</a:t>
            </a:r>
            <a:endParaRPr lang="en-US" sz="1600" b="0" strike="noStrike" spc="-1" dirty="0">
              <a:solidFill>
                <a:srgbClr val="000000"/>
              </a:solidFill>
              <a:latin typeface="Calibri"/>
            </a:endParaRPr>
          </a:p>
        </p:txBody>
      </p:sp>
      <p:sp>
        <p:nvSpPr>
          <p:cNvPr id="20" name="文字方塊 19">
            <a:extLst>
              <a:ext uri="{FF2B5EF4-FFF2-40B4-BE49-F238E27FC236}">
                <a16:creationId xmlns:a16="http://schemas.microsoft.com/office/drawing/2014/main" xmlns=""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smtClean="0">
                <a:latin typeface="微軟正黑體" panose="020B0604030504040204" pitchFamily="34" charset="-120"/>
                <a:ea typeface="微軟正黑體" panose="020B0604030504040204" pitchFamily="34" charset="-120"/>
              </a:rPr>
              <a:t>MM-IM-0110-01 </a:t>
            </a:r>
            <a:r>
              <a:rPr kumimoji="0" lang="zh-TW" altLang="en-US" b="1" dirty="0" smtClean="0">
                <a:latin typeface="微軟正黑體" panose="020B0604030504040204" pitchFamily="34" charset="-120"/>
                <a:ea typeface="微軟正黑體" panose="020B0604030504040204" pitchFamily="34" charset="-120"/>
              </a:rPr>
              <a:t>其他</a:t>
            </a:r>
            <a:r>
              <a:rPr kumimoji="0" lang="zh-TW" altLang="en-US" b="1" dirty="0">
                <a:latin typeface="微軟正黑體" panose="020B0604030504040204" pitchFamily="34" charset="-120"/>
                <a:ea typeface="微軟正黑體" panose="020B0604030504040204" pitchFamily="34" charset="-120"/>
              </a:rPr>
              <a:t>入庫作業流程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97114" y="1594875"/>
            <a:ext cx="17911883" cy="8400709"/>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zh-TW" altLang="en-US" sz="2400" dirty="0" smtClean="0">
                <a:solidFill>
                  <a:schemeClr val="dk1"/>
                </a:solidFill>
              </a:rPr>
              <a:t>流程補充說明</a:t>
            </a:r>
            <a:r>
              <a:rPr lang="en-US" altLang="zh-TW" sz="2400" dirty="0" smtClean="0">
                <a:solidFill>
                  <a:schemeClr val="dk1"/>
                </a:solidFill>
              </a:rPr>
              <a:t>:</a:t>
            </a:r>
            <a:endParaRPr lang="en-US" sz="2400" dirty="0">
              <a:solidFill>
                <a:schemeClr val="dk1"/>
              </a:solidFill>
            </a:endParaRPr>
          </a:p>
          <a:p>
            <a:r>
              <a:rPr lang="en-GB" altLang="en-US" sz="2400" dirty="0" smtClean="0">
                <a:solidFill>
                  <a:schemeClr val="dk1"/>
                </a:solidFill>
              </a:rPr>
              <a:t>1.</a:t>
            </a:r>
            <a:r>
              <a:rPr lang="zh-TW" altLang="en-US" sz="2400" dirty="0" smtClean="0">
                <a:solidFill>
                  <a:schemeClr val="dk1"/>
                </a:solidFill>
              </a:rPr>
              <a:t>開發部門借用量產物料，用</a:t>
            </a:r>
            <a:r>
              <a:rPr lang="en-US" altLang="zh-TW" sz="2400" dirty="0" smtClean="0">
                <a:solidFill>
                  <a:schemeClr val="dk1"/>
                </a:solidFill>
              </a:rPr>
              <a:t>905</a:t>
            </a:r>
            <a:r>
              <a:rPr lang="zh-TW" altLang="en-US" sz="2400" dirty="0" smtClean="0">
                <a:solidFill>
                  <a:schemeClr val="dk1"/>
                </a:solidFill>
              </a:rPr>
              <a:t>領用，待開發自行採購後用</a:t>
            </a:r>
            <a:r>
              <a:rPr lang="en-US" altLang="zh-TW" sz="2400" dirty="0" smtClean="0">
                <a:solidFill>
                  <a:schemeClr val="dk1"/>
                </a:solidFill>
              </a:rPr>
              <a:t>906</a:t>
            </a:r>
            <a:r>
              <a:rPr lang="zh-TW" altLang="en-US" sz="2400" dirty="0" smtClean="0">
                <a:solidFill>
                  <a:schemeClr val="dk1"/>
                </a:solidFill>
              </a:rPr>
              <a:t>退料入庫</a:t>
            </a:r>
            <a:r>
              <a:rPr lang="zh-TW" altLang="en-US" sz="2400" dirty="0" smtClean="0">
                <a:solidFill>
                  <a:schemeClr val="dk1"/>
                </a:solidFill>
              </a:rPr>
              <a:t>。</a:t>
            </a:r>
            <a:endParaRPr lang="en-US" altLang="zh-TW" sz="2400" dirty="0" smtClean="0">
              <a:solidFill>
                <a:schemeClr val="dk1"/>
              </a:solidFill>
            </a:endParaRPr>
          </a:p>
          <a:p>
            <a:endParaRPr lang="en-US" altLang="zh-TW" sz="2400" dirty="0" smtClean="0">
              <a:solidFill>
                <a:schemeClr val="dk1"/>
              </a:solidFill>
            </a:endParaRPr>
          </a:p>
          <a:p>
            <a:r>
              <a:rPr lang="en-US" sz="2400" dirty="0" smtClean="0">
                <a:solidFill>
                  <a:schemeClr val="dk1"/>
                </a:solidFill>
                <a:latin typeface="Arial"/>
                <a:ea typeface="Arial"/>
                <a:cs typeface="Arial"/>
                <a:sym typeface="Arial"/>
              </a:rPr>
              <a:t>2.</a:t>
            </a:r>
            <a:r>
              <a:rPr lang="zh-TW" altLang="en-US" sz="2400" dirty="0" smtClean="0">
                <a:solidFill>
                  <a:schemeClr val="dk1"/>
                </a:solidFill>
                <a:latin typeface="Arial"/>
                <a:ea typeface="Arial"/>
                <a:cs typeface="Arial"/>
                <a:sym typeface="Arial"/>
              </a:rPr>
              <a:t>量產採購委託</a:t>
            </a:r>
            <a:r>
              <a:rPr lang="zh-TW" altLang="en-US" sz="2400" dirty="0" smtClean="0">
                <a:solidFill>
                  <a:schemeClr val="dk1"/>
                </a:solidFill>
                <a:latin typeface="Arial"/>
                <a:ea typeface="Arial"/>
                <a:cs typeface="Arial"/>
                <a:sym typeface="Arial"/>
              </a:rPr>
              <a:t>開發採購原物料，由於開發是在</a:t>
            </a:r>
            <a:r>
              <a:rPr lang="en-US" altLang="zh-TW" sz="2400" dirty="0" smtClean="0">
                <a:solidFill>
                  <a:schemeClr val="dk1"/>
                </a:solidFill>
                <a:latin typeface="Arial"/>
                <a:ea typeface="Arial"/>
                <a:cs typeface="Arial"/>
                <a:sym typeface="Arial"/>
              </a:rPr>
              <a:t>SAP</a:t>
            </a:r>
            <a:r>
              <a:rPr lang="zh-TW" altLang="en-US" sz="2400" dirty="0" smtClean="0">
                <a:solidFill>
                  <a:schemeClr val="dk1"/>
                </a:solidFill>
                <a:latin typeface="Arial"/>
                <a:ea typeface="Arial"/>
                <a:cs typeface="Arial"/>
                <a:sym typeface="Arial"/>
              </a:rPr>
              <a:t>以外系統完成買料，使用</a:t>
            </a:r>
            <a:r>
              <a:rPr lang="en-US" altLang="zh-TW" sz="2400" dirty="0" smtClean="0">
                <a:solidFill>
                  <a:schemeClr val="dk1"/>
                </a:solidFill>
                <a:latin typeface="Arial"/>
                <a:ea typeface="Arial"/>
                <a:cs typeface="Arial"/>
                <a:sym typeface="Arial"/>
              </a:rPr>
              <a:t>906</a:t>
            </a:r>
            <a:r>
              <a:rPr lang="zh-TW" altLang="en-US" sz="2400" dirty="0" smtClean="0">
                <a:solidFill>
                  <a:schemeClr val="dk1"/>
                </a:solidFill>
                <a:latin typeface="Arial"/>
                <a:ea typeface="Arial"/>
                <a:cs typeface="Arial"/>
                <a:sym typeface="Arial"/>
              </a:rPr>
              <a:t>退料入庫產生庫存提供給量產使用。</a:t>
            </a:r>
            <a:endParaRPr dirty="0">
              <a:solidFill>
                <a:schemeClr val="dk1"/>
              </a:solidFill>
              <a:latin typeface="Arial"/>
              <a:ea typeface="Arial"/>
              <a:cs typeface="Arial"/>
              <a:sym typeface="Arial"/>
            </a:endParaRPr>
          </a:p>
        </p:txBody>
      </p:sp>
      <p:sp>
        <p:nvSpPr>
          <p:cNvPr id="7"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4</a:t>
            </a:r>
            <a:endParaRPr lang="en-US" sz="1600" b="0" strike="noStrike" spc="-1" dirty="0">
              <a:solidFill>
                <a:srgbClr val="000000"/>
              </a:solidFill>
              <a:latin typeface="Calibri"/>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5" name="流程圖: 結束點 8"/>
          <p:cNvSpPr/>
          <p:nvPr/>
        </p:nvSpPr>
        <p:spPr>
          <a:xfrm>
            <a:off x="3242520" y="2150280"/>
            <a:ext cx="1797120" cy="518760"/>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流程</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開始或結束點</a:t>
            </a:r>
            <a:endParaRPr lang="en-US" sz="1500" b="0" strike="noStrike" spc="-1">
              <a:solidFill>
                <a:srgbClr val="000000"/>
              </a:solidFill>
              <a:latin typeface="Calibri"/>
            </a:endParaRPr>
          </a:p>
        </p:txBody>
      </p:sp>
      <p:sp>
        <p:nvSpPr>
          <p:cNvPr id="2976" name="文字方塊 12"/>
          <p:cNvSpPr/>
          <p:nvPr/>
        </p:nvSpPr>
        <p:spPr>
          <a:xfrm>
            <a:off x="5510880" y="2833560"/>
            <a:ext cx="601272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上方</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若本作業為系統交易請輸入該系統的交易代碼</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中間區塊</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動作</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作業</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系統交易 的名稱</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左下方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此處請輸入系統名稱</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若非系統交易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請留空白</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右下方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有自動化程序</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請輸入自動</a:t>
            </a:r>
            <a:endParaRPr lang="en-US" sz="1800" b="0" strike="noStrike" spc="-1">
              <a:solidFill>
                <a:srgbClr val="000000"/>
              </a:solidFill>
              <a:latin typeface="Calibri"/>
            </a:endParaRPr>
          </a:p>
          <a:p>
            <a:pPr defTabSz="457200">
              <a:lnSpc>
                <a:spcPct val="100000"/>
              </a:lnSpc>
            </a:pPr>
            <a:endParaRPr lang="en-US" sz="1800" b="0" strike="noStrike" spc="-1">
              <a:solidFill>
                <a:srgbClr val="000000"/>
              </a:solidFill>
              <a:latin typeface="Calibri"/>
            </a:endParaRPr>
          </a:p>
        </p:txBody>
      </p:sp>
      <p:sp>
        <p:nvSpPr>
          <p:cNvPr id="2977" name="文字方塊 15"/>
          <p:cNvSpPr/>
          <p:nvPr/>
        </p:nvSpPr>
        <p:spPr>
          <a:xfrm>
            <a:off x="5510880" y="2296440"/>
            <a:ext cx="33890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流程起始點或結束點</a:t>
            </a:r>
            <a:endParaRPr lang="en-US" sz="1800" b="0" strike="noStrike" spc="-1">
              <a:solidFill>
                <a:srgbClr val="000000"/>
              </a:solidFill>
              <a:latin typeface="Calibri"/>
            </a:endParaRPr>
          </a:p>
        </p:txBody>
      </p:sp>
      <p:sp>
        <p:nvSpPr>
          <p:cNvPr id="2978" name="文字方塊 24"/>
          <p:cNvSpPr/>
          <p:nvPr/>
        </p:nvSpPr>
        <p:spPr>
          <a:xfrm>
            <a:off x="2548800" y="1451160"/>
            <a:ext cx="5504760" cy="48744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本區域請輸入部門或是工作職掌</a:t>
            </a:r>
            <a:r>
              <a:rPr lang="en-US" sz="1600" b="0" strike="noStrike" spc="-1">
                <a:solidFill>
                  <a:schemeClr val="dk1"/>
                </a:solidFill>
                <a:latin typeface="微軟正黑體"/>
                <a:ea typeface="微軟正黑體"/>
              </a:rPr>
              <a:t>. </a:t>
            </a:r>
            <a:endParaRPr lang="en-US" sz="1600" b="0" strike="noStrike" spc="-1">
              <a:solidFill>
                <a:srgbClr val="000000"/>
              </a:solidFill>
              <a:latin typeface="Calibri"/>
            </a:endParaRPr>
          </a:p>
          <a:p>
            <a:pPr defTabSz="457200">
              <a:lnSpc>
                <a:spcPct val="100000"/>
              </a:lnSpc>
            </a:pPr>
            <a:r>
              <a:rPr lang="zh-TW" sz="1600" b="0" strike="noStrike" spc="-1">
                <a:solidFill>
                  <a:schemeClr val="dk1"/>
                </a:solidFill>
                <a:latin typeface="微軟正黑體"/>
                <a:ea typeface="微軟正黑體"/>
              </a:rPr>
              <a:t>例如</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業務處 或 業務處</a:t>
            </a:r>
            <a:r>
              <a:rPr lang="en-US" sz="1600" b="0" strike="noStrike" spc="-1">
                <a:solidFill>
                  <a:schemeClr val="dk1"/>
                </a:solidFill>
                <a:latin typeface="微軟正黑體"/>
                <a:ea typeface="微軟正黑體"/>
              </a:rPr>
              <a:t>/</a:t>
            </a:r>
            <a:r>
              <a:rPr lang="zh-TW" sz="1600" b="0" strike="noStrike" spc="-1">
                <a:solidFill>
                  <a:schemeClr val="dk1"/>
                </a:solidFill>
                <a:latin typeface="微軟正黑體"/>
                <a:ea typeface="微軟正黑體"/>
              </a:rPr>
              <a:t>業務經理 或 業務人員</a:t>
            </a:r>
            <a:endParaRPr lang="en-US" sz="1600" b="0" strike="noStrike" spc="-1">
              <a:solidFill>
                <a:srgbClr val="000000"/>
              </a:solidFill>
              <a:latin typeface="Calibri"/>
            </a:endParaRPr>
          </a:p>
        </p:txBody>
      </p:sp>
      <p:sp>
        <p:nvSpPr>
          <p:cNvPr id="2979" name="文字方塊 25"/>
          <p:cNvSpPr/>
          <p:nvPr/>
        </p:nvSpPr>
        <p:spPr>
          <a:xfrm>
            <a:off x="240480" y="1840680"/>
            <a:ext cx="206856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本區塊用來說明本流程動作所需要的資料來源</a:t>
            </a:r>
            <a:r>
              <a:rPr lang="en-US" sz="1600" b="0" strike="noStrike" spc="-1">
                <a:solidFill>
                  <a:schemeClr val="dk1"/>
                </a:solidFill>
                <a:latin typeface="微軟正黑體"/>
                <a:ea typeface="微軟正黑體"/>
              </a:rPr>
              <a:t> 包含前置作業流程,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sp>
        <p:nvSpPr>
          <p:cNvPr id="2980" name="文字方塊 26"/>
          <p:cNvSpPr/>
          <p:nvPr/>
        </p:nvSpPr>
        <p:spPr>
          <a:xfrm>
            <a:off x="12055680" y="1856160"/>
            <a:ext cx="208584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本區塊用來說明本流程動作所會產出的結果</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包含後續作業流程</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graphicFrame>
        <p:nvGraphicFramePr>
          <p:cNvPr id="2981" name="表格 30"/>
          <p:cNvGraphicFramePr/>
          <p:nvPr/>
        </p:nvGraphicFramePr>
        <p:xfrm>
          <a:off x="3242520" y="300240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sp>
        <p:nvSpPr>
          <p:cNvPr id="2982" name="流程圖: 預設處理作業 21"/>
          <p:cNvSpPr/>
          <p:nvPr/>
        </p:nvSpPr>
        <p:spPr>
          <a:xfrm>
            <a:off x="3242520" y="4808880"/>
            <a:ext cx="1812240" cy="1237680"/>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lnSpc>
                <a:spcPct val="100000"/>
              </a:lnSpc>
            </a:pPr>
            <a:r>
              <a:rPr lang="en-US" sz="1500" b="0" strike="noStrike" spc="-1">
                <a:solidFill>
                  <a:schemeClr val="dk1"/>
                </a:solidFill>
                <a:latin typeface="微軟正黑體"/>
                <a:ea typeface="微軟正黑體"/>
              </a:rPr>
              <a:t>XXX-001-02</a:t>
            </a:r>
            <a:endParaRPr lang="en-US" sz="1500" b="0" strike="noStrike" spc="-1">
              <a:solidFill>
                <a:srgbClr val="000000"/>
              </a:solidFill>
              <a:latin typeface="Calibri"/>
            </a:endParaRPr>
          </a:p>
          <a:p>
            <a:pPr algn="ctr" defTabSz="457200">
              <a:lnSpc>
                <a:spcPct val="100000"/>
              </a:lnSpc>
            </a:pPr>
            <a:r>
              <a:rPr lang="en-US" sz="1500" b="0" strike="noStrike" spc="-1">
                <a:solidFill>
                  <a:schemeClr val="dk1"/>
                </a:solidFill>
                <a:latin typeface="微軟正黑體"/>
                <a:ea typeface="微軟正黑體"/>
              </a:rPr>
              <a:t>XXX</a:t>
            </a:r>
            <a:r>
              <a:rPr lang="zh-TW" sz="1500" b="0" strike="noStrike" spc="-1">
                <a:solidFill>
                  <a:schemeClr val="dk1"/>
                </a:solidFill>
                <a:latin typeface="微軟正黑體"/>
                <a:ea typeface="微軟正黑體"/>
              </a:rPr>
              <a:t>作業流程</a:t>
            </a:r>
            <a:endParaRPr lang="en-US" sz="1500" b="0" strike="noStrike" spc="-1">
              <a:solidFill>
                <a:srgbClr val="000000"/>
              </a:solidFill>
              <a:latin typeface="Calibri"/>
            </a:endParaRPr>
          </a:p>
        </p:txBody>
      </p:sp>
      <p:sp>
        <p:nvSpPr>
          <p:cNvPr id="2983" name="流程圖: 文件 42"/>
          <p:cNvSpPr/>
          <p:nvPr/>
        </p:nvSpPr>
        <p:spPr>
          <a:xfrm>
            <a:off x="3242520" y="6336000"/>
            <a:ext cx="1841400" cy="1237680"/>
          </a:xfrm>
          <a:prstGeom prst="flowChartDocument">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產出或投入</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文件</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報表</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表單</a:t>
            </a:r>
            <a:endParaRPr lang="en-US" sz="1500" b="0" strike="noStrike" spc="-1">
              <a:solidFill>
                <a:srgbClr val="000000"/>
              </a:solidFill>
              <a:latin typeface="Calibri"/>
            </a:endParaRPr>
          </a:p>
        </p:txBody>
      </p:sp>
      <p:sp>
        <p:nvSpPr>
          <p:cNvPr id="2984" name="文字方塊 46"/>
          <p:cNvSpPr/>
          <p:nvPr/>
        </p:nvSpPr>
        <p:spPr>
          <a:xfrm>
            <a:off x="5568840" y="5289480"/>
            <a:ext cx="41036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於本流程中有關聯的流程編號與名稱</a:t>
            </a:r>
            <a:endParaRPr lang="en-US" sz="1800" b="0" strike="noStrike" spc="-1">
              <a:solidFill>
                <a:srgbClr val="000000"/>
              </a:solidFill>
              <a:latin typeface="Calibri"/>
            </a:endParaRPr>
          </a:p>
        </p:txBody>
      </p:sp>
      <p:sp>
        <p:nvSpPr>
          <p:cNvPr id="2985" name="文字方塊 47"/>
          <p:cNvSpPr/>
          <p:nvPr/>
        </p:nvSpPr>
        <p:spPr>
          <a:xfrm>
            <a:off x="5568840" y="6418440"/>
            <a:ext cx="53132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於本流程中投入或是產出的文件</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報表</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表單名稱</a:t>
            </a:r>
            <a:endParaRPr lang="en-US" sz="1800" b="0" strike="noStrike" spc="-1">
              <a:solidFill>
                <a:srgbClr val="000000"/>
              </a:solidFill>
              <a:latin typeface="Calibri"/>
            </a:endParaRPr>
          </a:p>
        </p:txBody>
      </p:sp>
      <p:sp>
        <p:nvSpPr>
          <p:cNvPr id="2986" name="流程圖: 決策 50"/>
          <p:cNvSpPr/>
          <p:nvPr/>
        </p:nvSpPr>
        <p:spPr>
          <a:xfrm>
            <a:off x="7394040" y="7226640"/>
            <a:ext cx="1841400" cy="117720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決策或判斷點</a:t>
            </a:r>
            <a:endParaRPr lang="en-US" sz="1500" b="0" strike="noStrike" spc="-1">
              <a:solidFill>
                <a:srgbClr val="000000"/>
              </a:solidFill>
              <a:latin typeface="Calibri"/>
            </a:endParaRPr>
          </a:p>
        </p:txBody>
      </p:sp>
      <p:sp>
        <p:nvSpPr>
          <p:cNvPr id="2987" name="流程圖: 接點 51"/>
          <p:cNvSpPr/>
          <p:nvPr/>
        </p:nvSpPr>
        <p:spPr>
          <a:xfrm>
            <a:off x="7989840" y="8646120"/>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sp>
        <p:nvSpPr>
          <p:cNvPr id="2988" name="流程圖: 換頁接點 52"/>
          <p:cNvSpPr/>
          <p:nvPr/>
        </p:nvSpPr>
        <p:spPr>
          <a:xfrm>
            <a:off x="8002440" y="9410400"/>
            <a:ext cx="559800" cy="466560"/>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P2</a:t>
            </a:r>
            <a:endParaRPr lang="en-US" sz="1800" b="0" strike="noStrike" spc="-1">
              <a:solidFill>
                <a:srgbClr val="000000"/>
              </a:solidFill>
              <a:latin typeface="Calibri"/>
            </a:endParaRPr>
          </a:p>
        </p:txBody>
      </p:sp>
      <p:sp>
        <p:nvSpPr>
          <p:cNvPr id="2989" name="文字方塊 53"/>
          <p:cNvSpPr/>
          <p:nvPr/>
        </p:nvSpPr>
        <p:spPr>
          <a:xfrm>
            <a:off x="9526680" y="7716240"/>
            <a:ext cx="185580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決策或是判斷點</a:t>
            </a:r>
            <a:endParaRPr lang="en-US" sz="1800" b="0" strike="noStrike" spc="-1">
              <a:solidFill>
                <a:srgbClr val="000000"/>
              </a:solidFill>
              <a:latin typeface="Calibri"/>
            </a:endParaRPr>
          </a:p>
        </p:txBody>
      </p:sp>
      <p:sp>
        <p:nvSpPr>
          <p:cNvPr id="2990" name="文字方塊 54"/>
          <p:cNvSpPr/>
          <p:nvPr/>
        </p:nvSpPr>
        <p:spPr>
          <a:xfrm>
            <a:off x="9571320" y="869652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同一頁面上的連結點</a:t>
            </a:r>
            <a:endParaRPr lang="en-US" sz="1800" b="0" strike="noStrike" spc="-1">
              <a:solidFill>
                <a:srgbClr val="000000"/>
              </a:solidFill>
              <a:latin typeface="Calibri"/>
            </a:endParaRPr>
          </a:p>
        </p:txBody>
      </p:sp>
      <p:sp>
        <p:nvSpPr>
          <p:cNvPr id="2991" name="文字方塊 55"/>
          <p:cNvSpPr/>
          <p:nvPr/>
        </p:nvSpPr>
        <p:spPr>
          <a:xfrm>
            <a:off x="9571320" y="941040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換頁之連接點</a:t>
            </a:r>
            <a:endParaRPr lang="en-US" sz="1800" b="0" strike="noStrike" spc="-1">
              <a:solidFill>
                <a:srgbClr val="000000"/>
              </a:solidFill>
              <a:latin typeface="Calibri"/>
            </a:endParaRPr>
          </a:p>
        </p:txBody>
      </p:sp>
      <p:sp>
        <p:nvSpPr>
          <p:cNvPr id="2992" name="文字方塊 21"/>
          <p:cNvSpPr/>
          <p:nvPr/>
        </p:nvSpPr>
        <p:spPr>
          <a:xfrm>
            <a:off x="16660800" y="226440"/>
            <a:ext cx="139140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本區塊之頁次</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日期會自動更新</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日期為最後一次更新日</a:t>
            </a:r>
            <a:endParaRPr lang="en-US" sz="1600" b="0" strike="noStrike" spc="-1">
              <a:solidFill>
                <a:srgbClr val="000000"/>
              </a:solidFill>
              <a:latin typeface="Calibri"/>
            </a:endParaRPr>
          </a:p>
        </p:txBody>
      </p:sp>
      <p:sp>
        <p:nvSpPr>
          <p:cNvPr id="2993" name="文字方塊 53"/>
          <p:cNvSpPr/>
          <p:nvPr/>
        </p:nvSpPr>
        <p:spPr>
          <a:xfrm>
            <a:off x="5545800" y="8023320"/>
            <a:ext cx="1556640" cy="54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說明號碼，位於右上角</a:t>
            </a:r>
            <a:endParaRPr lang="en-US" sz="1800" b="0" strike="noStrike" spc="-1">
              <a:solidFill>
                <a:srgbClr val="000000"/>
              </a:solidFill>
              <a:latin typeface="Calibri"/>
            </a:endParaRPr>
          </a:p>
        </p:txBody>
      </p:sp>
      <p:graphicFrame>
        <p:nvGraphicFramePr>
          <p:cNvPr id="2994" name="表格 30"/>
          <p:cNvGraphicFramePr/>
          <p:nvPr/>
        </p:nvGraphicFramePr>
        <p:xfrm>
          <a:off x="3242520" y="811944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grpSp>
        <p:nvGrpSpPr>
          <p:cNvPr id="2995" name="Group 232"/>
          <p:cNvGrpSpPr/>
          <p:nvPr/>
        </p:nvGrpSpPr>
        <p:grpSpPr>
          <a:xfrm>
            <a:off x="4888080" y="7911720"/>
            <a:ext cx="557280" cy="407880"/>
            <a:chOff x="4888080" y="7911720"/>
            <a:chExt cx="557280" cy="407880"/>
          </a:xfrm>
        </p:grpSpPr>
        <p:sp>
          <p:nvSpPr>
            <p:cNvPr id="2996" name="Oval 233"/>
            <p:cNvSpPr/>
            <p:nvPr/>
          </p:nvSpPr>
          <p:spPr>
            <a:xfrm>
              <a:off x="4888080" y="7911720"/>
              <a:ext cx="410760" cy="40788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4050" b="0" strike="noStrike" spc="-1">
                <a:solidFill>
                  <a:schemeClr val="lt1"/>
                </a:solidFill>
                <a:latin typeface="Calibri"/>
              </a:endParaRPr>
            </a:p>
          </p:txBody>
        </p:sp>
        <p:sp>
          <p:nvSpPr>
            <p:cNvPr id="2997" name="TextBox 234"/>
            <p:cNvSpPr/>
            <p:nvPr/>
          </p:nvSpPr>
          <p:spPr>
            <a:xfrm>
              <a:off x="4912560" y="7931520"/>
              <a:ext cx="5328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500" b="0" strike="noStrike" spc="-1">
                  <a:solidFill>
                    <a:schemeClr val="dk1"/>
                  </a:solidFill>
                  <a:latin typeface="微軟正黑體"/>
                  <a:ea typeface="微軟正黑體"/>
                </a:rPr>
                <a:t>1</a:t>
              </a:r>
              <a:endParaRPr lang="en-US" sz="1500" b="0" strike="noStrike" spc="-1">
                <a:solidFill>
                  <a:srgbClr val="000000"/>
                </a:solidFill>
                <a:latin typeface="Calibri"/>
              </a:endParaRPr>
            </a:p>
          </p:txBody>
        </p:sp>
      </p:grpSp>
      <p:grpSp>
        <p:nvGrpSpPr>
          <p:cNvPr id="2998" name="Group 4"/>
          <p:cNvGrpSpPr/>
          <p:nvPr/>
        </p:nvGrpSpPr>
        <p:grpSpPr>
          <a:xfrm>
            <a:off x="10674360" y="835920"/>
            <a:ext cx="3404880" cy="417600"/>
            <a:chOff x="10674360" y="835920"/>
            <a:chExt cx="3404880" cy="417600"/>
          </a:xfrm>
        </p:grpSpPr>
        <p:grpSp>
          <p:nvGrpSpPr>
            <p:cNvPr id="2999" name="Group 24"/>
            <p:cNvGrpSpPr/>
            <p:nvPr/>
          </p:nvGrpSpPr>
          <p:grpSpPr>
            <a:xfrm>
              <a:off x="10674360" y="835920"/>
              <a:ext cx="1297080" cy="417600"/>
              <a:chOff x="10674360" y="835920"/>
              <a:chExt cx="1297080" cy="417600"/>
            </a:xfrm>
          </p:grpSpPr>
          <p:sp>
            <p:nvSpPr>
              <p:cNvPr id="3000" name="文字方塊 21"/>
              <p:cNvSpPr/>
              <p:nvPr/>
            </p:nvSpPr>
            <p:spPr>
              <a:xfrm>
                <a:off x="10674360" y="83592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sp>
            <p:nvSpPr>
              <p:cNvPr id="3001" name="文字方塊 22"/>
              <p:cNvSpPr/>
              <p:nvPr/>
            </p:nvSpPr>
            <p:spPr>
              <a:xfrm>
                <a:off x="11027160" y="858960"/>
                <a:ext cx="94428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新流程</a:t>
                </a:r>
                <a:endParaRPr lang="en-US" sz="2000" b="0" strike="noStrike" spc="-1">
                  <a:solidFill>
                    <a:srgbClr val="000000"/>
                  </a:solidFill>
                  <a:latin typeface="Calibri"/>
                </a:endParaRPr>
              </a:p>
            </p:txBody>
          </p:sp>
        </p:grpSp>
        <p:grpSp>
          <p:nvGrpSpPr>
            <p:cNvPr id="3002" name="Group 31"/>
            <p:cNvGrpSpPr/>
            <p:nvPr/>
          </p:nvGrpSpPr>
          <p:grpSpPr>
            <a:xfrm>
              <a:off x="11982960" y="843840"/>
              <a:ext cx="2096280" cy="409680"/>
              <a:chOff x="11982960" y="843840"/>
              <a:chExt cx="2096280" cy="409680"/>
            </a:xfrm>
          </p:grpSpPr>
          <p:sp>
            <p:nvSpPr>
              <p:cNvPr id="3003" name="文字方塊 23"/>
              <p:cNvSpPr/>
              <p:nvPr/>
            </p:nvSpPr>
            <p:spPr>
              <a:xfrm>
                <a:off x="12371400" y="858960"/>
                <a:ext cx="170784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權責單位改變</a:t>
                </a:r>
                <a:endParaRPr lang="en-US" sz="2000" b="0" strike="noStrike" spc="-1">
                  <a:solidFill>
                    <a:srgbClr val="000000"/>
                  </a:solidFill>
                  <a:latin typeface="Calibri"/>
                </a:endParaRPr>
              </a:p>
            </p:txBody>
          </p:sp>
          <p:sp>
            <p:nvSpPr>
              <p:cNvPr id="3004" name="文字方塊 21"/>
              <p:cNvSpPr/>
              <p:nvPr/>
            </p:nvSpPr>
            <p:spPr>
              <a:xfrm>
                <a:off x="11982960" y="84384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grpSp>
      </p:grpSp>
      <p:sp>
        <p:nvSpPr>
          <p:cNvPr id="3005" name="TextBox 36"/>
          <p:cNvSpPr/>
          <p:nvPr/>
        </p:nvSpPr>
        <p:spPr>
          <a:xfrm>
            <a:off x="2521800" y="811440"/>
            <a:ext cx="8244000" cy="45540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chemeClr val="dk1"/>
                </a:solidFill>
                <a:latin typeface="Microsoft JhengHei"/>
                <a:ea typeface="Microsoft JhengHei"/>
              </a:rPr>
              <a:t>本區域請輸入”流程編碼”與 “流程名稱”</a:t>
            </a:r>
            <a:endParaRPr lang="en-US" sz="2400" b="0" strike="noStrike" spc="-1">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15997</TotalTime>
  <Words>676</Words>
  <Application>Collabora_Office/23.05.5.4$Linux_X86_64 LibreOffice_project/1681200a96e5ffa1bee996c23ec760042f91abfa</Application>
  <PresentationFormat>自訂</PresentationFormat>
  <Paragraphs>167</Paragraphs>
  <Slides>9</Slides>
  <Notes>5</Notes>
  <HiddenSlides>0</HiddenSlides>
  <MMClips>0</MMClips>
  <ScaleCrop>false</ScaleCrop>
  <HeadingPairs>
    <vt:vector size="4" baseType="variant">
      <vt:variant>
        <vt:lpstr>佈景主題</vt:lpstr>
      </vt:variant>
      <vt:variant>
        <vt:i4>5</vt:i4>
      </vt:variant>
      <vt:variant>
        <vt:lpstr>投影片標題</vt:lpstr>
      </vt:variant>
      <vt:variant>
        <vt:i4>9</vt:i4>
      </vt:variant>
    </vt:vector>
  </HeadingPairs>
  <TitlesOfParts>
    <vt:vector size="14" baseType="lpstr">
      <vt:lpstr>Office 2013 - 2022 Theme</vt:lpstr>
      <vt:lpstr>Office 2013 - 2022 Theme</vt:lpstr>
      <vt:lpstr>Office 2013 - 2022 Theme</vt:lpstr>
      <vt:lpstr>Office 2013 - 2022 Theme</vt:lpstr>
      <vt:lpstr>Office 2013 - 2022 Theme</vt:lpstr>
      <vt:lpstr>投影片 1</vt:lpstr>
      <vt:lpstr>投影片 2</vt:lpstr>
      <vt:lpstr>投影片 3</vt:lpstr>
      <vt:lpstr>投影片 4</vt:lpstr>
      <vt:lpstr>投影片 5</vt:lpstr>
      <vt:lpstr>投影片 6</vt:lpstr>
      <vt:lpstr>投影片 7</vt:lpstr>
      <vt:lpstr>投影片 8</vt:lpstr>
      <vt:lpstr>投影片 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145</cp:revision>
  <dcterms:created xsi:type="dcterms:W3CDTF">2023-05-31T01:27:04Z</dcterms:created>
  <dcterms:modified xsi:type="dcterms:W3CDTF">2025-07-07T03:47:04Z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Custom</vt:lpwstr>
  </property>
  <property fmtid="{D5CDD505-2E9C-101B-9397-08002B2CF9AE}" pid="4" name="Slides">
    <vt:i4>9</vt:i4>
  </property>
</Properties>
</file>