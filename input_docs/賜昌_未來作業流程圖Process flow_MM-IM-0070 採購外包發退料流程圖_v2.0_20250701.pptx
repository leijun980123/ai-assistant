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6"/>
  </p:notesMasterIdLst>
  <p:sldIdLst>
    <p:sldId id="256" r:id="rId6"/>
    <p:sldId id="257" r:id="rId7"/>
    <p:sldId id="258" r:id="rId8"/>
    <p:sldId id="279" r:id="rId9"/>
    <p:sldId id="282" r:id="rId10"/>
    <p:sldId id="280" r:id="rId11"/>
    <p:sldId id="281" r:id="rId12"/>
    <p:sldId id="283" r:id="rId13"/>
    <p:sldId id="263" r:id="rId14"/>
    <p:sldId id="264" r:id="rId15"/>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3" autoAdjust="0"/>
    <p:restoredTop sz="94688" autoAdjust="0"/>
  </p:normalViewPr>
  <p:slideViewPr>
    <p:cSldViewPr>
      <p:cViewPr>
        <p:scale>
          <a:sx n="50" d="100"/>
          <a:sy n="50" d="100"/>
        </p:scale>
        <p:origin x="-228" y="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422653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extLst>
      <p:ext uri="{BB962C8B-B14F-4D97-AF65-F5344CB8AC3E}">
        <p14:creationId xmlns:p14="http://schemas.microsoft.com/office/powerpoint/2010/main" xmlns="" val="4069551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a:t>
            </a:r>
            <a:r>
              <a:rPr lang="en-US" sz="2100" spc="-1" dirty="0" smtClean="0">
                <a:solidFill>
                  <a:schemeClr val="dk1"/>
                </a:solidFill>
                <a:latin typeface="Microsoft JhengHei"/>
                <a:ea typeface="Microsoft JhengHei"/>
              </a:rPr>
              <a:t>7</a:t>
            </a:r>
            <a:r>
              <a:rPr lang="en-US" sz="2100" b="0" strike="noStrike" spc="-1" dirty="0" smtClean="0">
                <a:solidFill>
                  <a:schemeClr val="dk1"/>
                </a:solidFill>
                <a:latin typeface="Microsoft JhengHei"/>
                <a:ea typeface="Microsoft JhengHei"/>
              </a:rPr>
              <a:t>/01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MM-IM-0070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採購外包發退料流程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altLang="zh-TW" sz="1800" b="1" strike="noStrike" spc="-1" dirty="0" smtClean="0">
                          <a:solidFill>
                            <a:srgbClr val="000000"/>
                          </a:solidFill>
                          <a:latin typeface="Calibr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b="1" spc="-1" dirty="0" smtClean="0">
                <a:solidFill>
                  <a:schemeClr val="dk1"/>
                </a:solidFill>
                <a:latin typeface="Microsoft JhengHei"/>
                <a:ea typeface="Microsoft JhengHei"/>
              </a:rPr>
              <a:t>MM-MA-0070 </a:t>
            </a:r>
            <a:r>
              <a:rPr lang="zh-TW" altLang="en-US" sz="2400" b="1" spc="-1" dirty="0" smtClean="0">
                <a:solidFill>
                  <a:schemeClr val="dk1"/>
                </a:solidFill>
                <a:latin typeface="Microsoft JhengHei"/>
                <a:ea typeface="Microsoft JhengHei"/>
              </a:rPr>
              <a:t>採購外包發退料流程</a:t>
            </a:r>
            <a:endParaRPr lang="en-US" sz="2400" b="1"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351316" y="820210"/>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MM-IM-0070 </a:t>
            </a:r>
            <a:r>
              <a:rPr kumimoji="0" lang="zh-TW" altLang="en-US" b="1" dirty="0">
                <a:latin typeface="微軟正黑體" panose="020B0604030504040204" pitchFamily="34" charset="-120"/>
                <a:ea typeface="微軟正黑體" panose="020B0604030504040204" pitchFamily="34" charset="-120"/>
              </a:rPr>
              <a:t>採購外包發料</a:t>
            </a:r>
            <a:r>
              <a:rPr kumimoji="0" lang="zh-TW" altLang="en-US" b="1" dirty="0" smtClean="0">
                <a:latin typeface="微軟正黑體" panose="020B0604030504040204" pitchFamily="34" charset="-120"/>
                <a:ea typeface="微軟正黑體" panose="020B0604030504040204" pitchFamily="34" charset="-120"/>
              </a:rPr>
              <a:t>流程</a:t>
            </a:r>
            <a:r>
              <a:rPr lang="en-US" altLang="zh-TW" b="1" dirty="0" smtClean="0">
                <a:latin typeface="微軟正黑體" panose="020B0604030504040204" pitchFamily="34" charset="-120"/>
                <a:ea typeface="微軟正黑體" panose="020B0604030504040204" pitchFamily="34" charset="-120"/>
              </a:rPr>
              <a:t>-</a:t>
            </a:r>
            <a:r>
              <a:rPr lang="zh-TW" altLang="en-US" b="1" dirty="0" smtClean="0">
                <a:latin typeface="微軟正黑體" panose="020B0604030504040204" pitchFamily="34" charset="-120"/>
                <a:ea typeface="微軟正黑體" panose="020B0604030504040204" pitchFamily="34" charset="-120"/>
              </a:rPr>
              <a:t>有</a:t>
            </a:r>
            <a:r>
              <a:rPr lang="en-US" altLang="zh-TW" b="1" dirty="0" smtClean="0">
                <a:latin typeface="微軟正黑體" panose="020B0604030504040204" pitchFamily="34" charset="-120"/>
                <a:ea typeface="微軟正黑體" panose="020B0604030504040204" pitchFamily="34" charset="-120"/>
              </a:rPr>
              <a:t>WMS</a:t>
            </a:r>
            <a:endParaRPr kumimoji="0" lang="zh-TW" altLang="en-US" b="1" dirty="0">
              <a:latin typeface="微軟正黑體" panose="020B0604030504040204" pitchFamily="34" charset="-120"/>
              <a:ea typeface="微軟正黑體" panose="020B0604030504040204" pitchFamily="34" charset="-120"/>
            </a:endParaRP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2784259" y="1379074"/>
            <a:ext cx="3155366" cy="400110"/>
          </a:xfrm>
          <a:prstGeom prst="rect">
            <a:avLst/>
          </a:prstGeom>
          <a:noFill/>
        </p:spPr>
        <p:txBody>
          <a:bodyPr wrap="square" lIns="137160" tIns="68580" rIns="137160" bIns="68580" rtlCol="0">
            <a:spAutoFit/>
          </a:bodyPr>
          <a:lstStyle/>
          <a:p>
            <a:pPr algn="ctr"/>
            <a:r>
              <a:rPr lang="zh-TW" altLang="en-US" sz="1700" dirty="0"/>
              <a:t>倉管人員</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6" y="1947686"/>
            <a:ext cx="3594197" cy="4847481"/>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用分包控制平台查詢委外採購單的供需狀態，建立外包出貨單。</a:t>
            </a:r>
            <a:endParaRPr lang="en-US" altLang="zh-TW" dirty="0"/>
          </a:p>
          <a:p>
            <a:pPr marL="342900" indent="-342900">
              <a:buFont typeface="+mj-lt"/>
              <a:buAutoNum type="arabicPeriod"/>
            </a:pPr>
            <a:r>
              <a:rPr lang="zh-TW" altLang="en-US" dirty="0"/>
              <a:t>列印外包發料單並附上採購外包單給主管審核</a:t>
            </a:r>
            <a:r>
              <a:rPr lang="zh-TW" altLang="en-US" dirty="0" smtClean="0"/>
              <a:t>。</a:t>
            </a:r>
            <a:endParaRPr lang="en-US" altLang="zh-TW" dirty="0" smtClean="0"/>
          </a:p>
          <a:p>
            <a:pPr marL="342900" indent="-342900">
              <a:buFont typeface="+mj-lt"/>
              <a:buAutoNum type="arabicPeriod"/>
            </a:pPr>
            <a:r>
              <a:rPr lang="zh-TW" altLang="en-US" dirty="0" smtClean="0"/>
              <a:t>背景程式</a:t>
            </a:r>
            <a:r>
              <a:rPr lang="en-US" altLang="zh-TW" dirty="0" smtClean="0"/>
              <a:t>ZMMR082</a:t>
            </a:r>
            <a:r>
              <a:rPr lang="zh-TW" altLang="en-US" dirty="0" smtClean="0"/>
              <a:t>將</a:t>
            </a:r>
            <a:r>
              <a:rPr lang="zh-TW" altLang="en-US" dirty="0" smtClean="0">
                <a:sym typeface="Arial"/>
              </a:rPr>
              <a:t>採購單</a:t>
            </a:r>
            <a:r>
              <a:rPr lang="en-US" altLang="zh-TW" dirty="0" smtClean="0">
                <a:sym typeface="Arial"/>
              </a:rPr>
              <a:t>&amp;</a:t>
            </a:r>
            <a:r>
              <a:rPr lang="zh-TW" altLang="en-US" dirty="0" smtClean="0">
                <a:sym typeface="Arial"/>
              </a:rPr>
              <a:t>發料資料拋轉給</a:t>
            </a:r>
            <a:r>
              <a:rPr lang="en-US" altLang="zh-TW" dirty="0" smtClean="0">
                <a:sym typeface="Arial"/>
              </a:rPr>
              <a:t>WMS</a:t>
            </a:r>
            <a:endParaRPr lang="en-US" altLang="zh-TW" dirty="0" smtClean="0"/>
          </a:p>
          <a:p>
            <a:pPr marL="342900" indent="-342900">
              <a:buFont typeface="+mj-lt"/>
              <a:buAutoNum type="arabicPeriod"/>
            </a:pPr>
            <a:r>
              <a:rPr lang="zh-TW" altLang="en-US" dirty="0" smtClean="0"/>
              <a:t>倉庫人員在</a:t>
            </a:r>
            <a:r>
              <a:rPr lang="en-US" altLang="zh-TW" dirty="0" smtClean="0"/>
              <a:t>WMS</a:t>
            </a:r>
            <a:r>
              <a:rPr lang="zh-TW" altLang="en-US" dirty="0" smtClean="0"/>
              <a:t>執行外包</a:t>
            </a:r>
            <a:r>
              <a:rPr lang="zh-TW" altLang="en-US" dirty="0"/>
              <a:t>發</a:t>
            </a:r>
            <a:r>
              <a:rPr lang="zh-TW" altLang="en-US" dirty="0" smtClean="0"/>
              <a:t>料</a:t>
            </a:r>
            <a:endParaRPr lang="en-US" altLang="zh-TW" dirty="0"/>
          </a:p>
          <a:p>
            <a:pPr marL="342900" indent="-342900">
              <a:buFont typeface="+mj-lt"/>
              <a:buAutoNum type="arabicPeriod"/>
            </a:pPr>
            <a:r>
              <a:rPr lang="zh-TW" altLang="en-US" dirty="0" smtClean="0"/>
              <a:t>由</a:t>
            </a:r>
            <a:r>
              <a:rPr lang="en-US" altLang="zh-TW" dirty="0"/>
              <a:t>WMS</a:t>
            </a:r>
            <a:r>
              <a:rPr lang="zh-TW" altLang="en-US" dirty="0"/>
              <a:t>系統回</a:t>
            </a:r>
            <a:r>
              <a:rPr lang="zh-TW" altLang="en-US" dirty="0" smtClean="0"/>
              <a:t>拋資料，背景程式</a:t>
            </a:r>
            <a:r>
              <a:rPr lang="en-US" altLang="zh-TW" dirty="0" smtClean="0"/>
              <a:t>ZMMR082</a:t>
            </a:r>
            <a:r>
              <a:rPr lang="zh-TW" altLang="en-US" dirty="0" smtClean="0"/>
              <a:t>自動執行</a:t>
            </a:r>
            <a:r>
              <a:rPr lang="en-US" altLang="zh-TW" dirty="0" smtClean="0"/>
              <a:t>541</a:t>
            </a:r>
            <a:r>
              <a:rPr lang="zh-TW" altLang="en-US" dirty="0" smtClean="0"/>
              <a:t>外包出貨單發料過帳。</a:t>
            </a:r>
            <a:endParaRPr lang="en-US" altLang="zh-TW" dirty="0"/>
          </a:p>
          <a:p>
            <a:pPr marL="342900" indent="-342900">
              <a:buFont typeface="+mj-lt"/>
              <a:buAutoNum type="arabicPeriod"/>
            </a:pPr>
            <a:r>
              <a:rPr lang="zh-TW" altLang="en-US" dirty="0"/>
              <a:t>將委外採購單相關供料交予外包商清點收料，並簽收外包發料單。 </a:t>
            </a:r>
            <a:endParaRPr lang="en-US" altLang="zh-TW" dirty="0"/>
          </a:p>
          <a:p>
            <a:pPr marL="342900" indent="-342900">
              <a:buFont typeface="+mj-lt"/>
              <a:buAutoNum type="arabicPeriod"/>
            </a:pPr>
            <a:endParaRPr lang="en-US" altLang="zh-TW" dirty="0"/>
          </a:p>
          <a:p>
            <a:endParaRPr lang="en-US" altLang="zh-TW" dirty="0"/>
          </a:p>
        </p:txBody>
      </p:sp>
      <p:cxnSp>
        <p:nvCxnSpPr>
          <p:cNvPr id="241" name="肘形接點 68">
            <a:extLst>
              <a:ext uri="{FF2B5EF4-FFF2-40B4-BE49-F238E27FC236}">
                <a16:creationId xmlns:a16="http://schemas.microsoft.com/office/drawing/2014/main" xmlns="" id="{A46CDCFE-67EF-4E51-A944-F4A0C09EC5BD}"/>
              </a:ext>
            </a:extLst>
          </p:cNvPr>
          <p:cNvCxnSpPr>
            <a:cxnSpLocks/>
            <a:stCxn id="114" idx="3"/>
          </p:cNvCxnSpPr>
          <p:nvPr/>
        </p:nvCxnSpPr>
        <p:spPr>
          <a:xfrm flipV="1">
            <a:off x="5110807" y="2877833"/>
            <a:ext cx="1692215" cy="165703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 name="Straight Connector 284">
            <a:extLst>
              <a:ext uri="{FF2B5EF4-FFF2-40B4-BE49-F238E27FC236}">
                <a16:creationId xmlns:a16="http://schemas.microsoft.com/office/drawing/2014/main" xmlns="" id="{3E7471C9-C79F-A59B-27B9-5790F81098EC}"/>
              </a:ext>
            </a:extLst>
          </p:cNvPr>
          <p:cNvCxnSpPr>
            <a:cxnSpLocks/>
          </p:cNvCxnSpPr>
          <p:nvPr/>
        </p:nvCxnSpPr>
        <p:spPr>
          <a:xfrm>
            <a:off x="6006423" y="1357817"/>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肘形接點 68">
            <a:extLst>
              <a:ext uri="{FF2B5EF4-FFF2-40B4-BE49-F238E27FC236}">
                <a16:creationId xmlns:a16="http://schemas.microsoft.com/office/drawing/2014/main" xmlns="" id="{4A3048A1-DF9E-B19F-4A1B-A34D05AE9CF9}"/>
              </a:ext>
            </a:extLst>
          </p:cNvPr>
          <p:cNvCxnSpPr>
            <a:cxnSpLocks/>
            <a:stCxn id="101" idx="3"/>
            <a:endCxn id="202" idx="1"/>
          </p:cNvCxnSpPr>
          <p:nvPr/>
        </p:nvCxnSpPr>
        <p:spPr>
          <a:xfrm>
            <a:off x="11465534" y="9285445"/>
            <a:ext cx="794004" cy="2381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預設處理作業 21">
            <a:extLst>
              <a:ext uri="{FF2B5EF4-FFF2-40B4-BE49-F238E27FC236}">
                <a16:creationId xmlns:a16="http://schemas.microsoft.com/office/drawing/2014/main" xmlns="" id="{AC6A51B0-6C1D-73F2-3C4C-423A8E541FE2}"/>
              </a:ext>
            </a:extLst>
          </p:cNvPr>
          <p:cNvSpPr/>
          <p:nvPr/>
        </p:nvSpPr>
        <p:spPr bwMode="auto">
          <a:xfrm>
            <a:off x="417866" y="227168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MM-PU-0070</a:t>
            </a:r>
          </a:p>
          <a:p>
            <a:pPr algn="ctr" eaLnBrk="0" hangingPunct="0"/>
            <a:r>
              <a:rPr lang="zh-TW" altLang="en-US" sz="1500" dirty="0">
                <a:latin typeface="微軟正黑體" panose="020B0604030504040204" pitchFamily="34" charset="-120"/>
                <a:ea typeface="微軟正黑體" panose="020B0604030504040204" pitchFamily="34" charset="-120"/>
              </a:rPr>
              <a:t>採購外包請採驗流程</a:t>
            </a:r>
          </a:p>
        </p:txBody>
      </p:sp>
      <p:sp>
        <p:nvSpPr>
          <p:cNvPr id="8" name="文字方塊 17">
            <a:extLst>
              <a:ext uri="{FF2B5EF4-FFF2-40B4-BE49-F238E27FC236}">
                <a16:creationId xmlns:a16="http://schemas.microsoft.com/office/drawing/2014/main" xmlns="" id="{0D65A231-25AF-40B9-DD3C-C82EB5138191}"/>
              </a:ext>
            </a:extLst>
          </p:cNvPr>
          <p:cNvSpPr txBox="1"/>
          <p:nvPr/>
        </p:nvSpPr>
        <p:spPr>
          <a:xfrm>
            <a:off x="9838017" y="1357816"/>
            <a:ext cx="1610187" cy="400110"/>
          </a:xfrm>
          <a:prstGeom prst="rect">
            <a:avLst/>
          </a:prstGeom>
          <a:noFill/>
        </p:spPr>
        <p:txBody>
          <a:bodyPr wrap="square" lIns="137160" tIns="68580" rIns="137160" bIns="68580" rtlCol="0">
            <a:spAutoFit/>
          </a:bodyPr>
          <a:lstStyle/>
          <a:p>
            <a:pPr algn="ctr"/>
            <a:r>
              <a:rPr lang="zh-TW" altLang="en-US" sz="1700" dirty="0"/>
              <a:t>外包商</a:t>
            </a:r>
          </a:p>
        </p:txBody>
      </p:sp>
      <p:cxnSp>
        <p:nvCxnSpPr>
          <p:cNvPr id="11" name="肘形接點 68">
            <a:extLst>
              <a:ext uri="{FF2B5EF4-FFF2-40B4-BE49-F238E27FC236}">
                <a16:creationId xmlns:a16="http://schemas.microsoft.com/office/drawing/2014/main" xmlns="" id="{50350848-FD00-6E2A-F8B9-D69E65232EC0}"/>
              </a:ext>
            </a:extLst>
          </p:cNvPr>
          <p:cNvCxnSpPr>
            <a:cxnSpLocks/>
            <a:stCxn id="2" idx="3"/>
            <a:endCxn id="131" idx="1"/>
          </p:cNvCxnSpPr>
          <p:nvPr/>
        </p:nvCxnSpPr>
        <p:spPr>
          <a:xfrm>
            <a:off x="2230978" y="2890981"/>
            <a:ext cx="1055106" cy="301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7" name="Straight Connector 284">
            <a:extLst>
              <a:ext uri="{FF2B5EF4-FFF2-40B4-BE49-F238E27FC236}">
                <a16:creationId xmlns:a16="http://schemas.microsoft.com/office/drawing/2014/main" xmlns="" id="{345F0794-1465-E0D3-52C5-964FAC72AFDF}"/>
              </a:ext>
            </a:extLst>
          </p:cNvPr>
          <p:cNvCxnSpPr>
            <a:cxnSpLocks/>
          </p:cNvCxnSpPr>
          <p:nvPr/>
        </p:nvCxnSpPr>
        <p:spPr>
          <a:xfrm>
            <a:off x="9265590" y="1394592"/>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1" name="文字方塊 17">
            <a:extLst>
              <a:ext uri="{FF2B5EF4-FFF2-40B4-BE49-F238E27FC236}">
                <a16:creationId xmlns:a16="http://schemas.microsoft.com/office/drawing/2014/main" xmlns="" id="{8E4B5A93-04AB-998D-8BC2-5AD6295C022A}"/>
              </a:ext>
            </a:extLst>
          </p:cNvPr>
          <p:cNvSpPr txBox="1"/>
          <p:nvPr/>
        </p:nvSpPr>
        <p:spPr>
          <a:xfrm>
            <a:off x="6392849" y="1381062"/>
            <a:ext cx="2745186" cy="400110"/>
          </a:xfrm>
          <a:prstGeom prst="rect">
            <a:avLst/>
          </a:prstGeom>
          <a:noFill/>
        </p:spPr>
        <p:txBody>
          <a:bodyPr wrap="square" lIns="137160" tIns="68580" rIns="137160" bIns="68580" rtlCol="0">
            <a:spAutoFit/>
          </a:bodyPr>
          <a:lstStyle/>
          <a:p>
            <a:pPr algn="ctr"/>
            <a:r>
              <a:rPr lang="zh-TW" altLang="en-US" sz="1700" dirty="0"/>
              <a:t>倉庫主管</a:t>
            </a:r>
          </a:p>
        </p:txBody>
      </p:sp>
      <p:cxnSp>
        <p:nvCxnSpPr>
          <p:cNvPr id="40" name="肘形接點 68">
            <a:extLst>
              <a:ext uri="{FF2B5EF4-FFF2-40B4-BE49-F238E27FC236}">
                <a16:creationId xmlns:a16="http://schemas.microsoft.com/office/drawing/2014/main" xmlns="" id="{32BEB619-0C7A-5A97-ACF0-43D38FDFC1F7}"/>
              </a:ext>
            </a:extLst>
          </p:cNvPr>
          <p:cNvCxnSpPr>
            <a:cxnSpLocks/>
            <a:endCxn id="50" idx="0"/>
          </p:cNvCxnSpPr>
          <p:nvPr/>
        </p:nvCxnSpPr>
        <p:spPr>
          <a:xfrm rot="16200000" flipH="1">
            <a:off x="7064253" y="4080769"/>
            <a:ext cx="1302127" cy="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肘形接點 68">
            <a:extLst>
              <a:ext uri="{FF2B5EF4-FFF2-40B4-BE49-F238E27FC236}">
                <a16:creationId xmlns:a16="http://schemas.microsoft.com/office/drawing/2014/main" xmlns="" id="{5C973B01-3B9F-EAE3-F859-48F578222B81}"/>
              </a:ext>
            </a:extLst>
          </p:cNvPr>
          <p:cNvCxnSpPr>
            <a:cxnSpLocks/>
            <a:stCxn id="89" idx="2"/>
            <a:endCxn id="100" idx="0"/>
          </p:cNvCxnSpPr>
          <p:nvPr/>
        </p:nvCxnSpPr>
        <p:spPr>
          <a:xfrm rot="16200000" flipH="1">
            <a:off x="9996970" y="8115058"/>
            <a:ext cx="1105036" cy="21291"/>
          </a:xfrm>
          <a:prstGeom prst="bentConnector3">
            <a:avLst>
              <a:gd name="adj1" fmla="val 48939"/>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2" name="流程圖: 結束點 8">
            <a:extLst>
              <a:ext uri="{FF2B5EF4-FFF2-40B4-BE49-F238E27FC236}">
                <a16:creationId xmlns:a16="http://schemas.microsoft.com/office/drawing/2014/main" xmlns="" id="{00A9DFE2-5790-1DD6-9E07-3BB136F01242}"/>
              </a:ext>
            </a:extLst>
          </p:cNvPr>
          <p:cNvSpPr/>
          <p:nvPr/>
        </p:nvSpPr>
        <p:spPr bwMode="auto">
          <a:xfrm>
            <a:off x="12259538" y="8917980"/>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24" name="流程圖: 預設處理作業 21">
            <a:extLst>
              <a:ext uri="{FF2B5EF4-FFF2-40B4-BE49-F238E27FC236}">
                <a16:creationId xmlns:a16="http://schemas.microsoft.com/office/drawing/2014/main" xmlns="" id="{53022EF8-527A-8C43-DD11-1BD6DAFF82CC}"/>
              </a:ext>
            </a:extLst>
          </p:cNvPr>
          <p:cNvSpPr/>
          <p:nvPr/>
        </p:nvSpPr>
        <p:spPr bwMode="auto">
          <a:xfrm>
            <a:off x="12066296" y="4719152"/>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62" name="肘形接點 68">
            <a:extLst>
              <a:ext uri="{FF2B5EF4-FFF2-40B4-BE49-F238E27FC236}">
                <a16:creationId xmlns:a16="http://schemas.microsoft.com/office/drawing/2014/main" xmlns="" id="{84D663B3-8452-538D-9EF1-FB39E10B34E4}"/>
              </a:ext>
            </a:extLst>
          </p:cNvPr>
          <p:cNvCxnSpPr>
            <a:cxnSpLocks/>
            <a:stCxn id="24" idx="2"/>
            <a:endCxn id="89" idx="3"/>
          </p:cNvCxnSpPr>
          <p:nvPr/>
        </p:nvCxnSpPr>
        <p:spPr>
          <a:xfrm rot="5400000">
            <a:off x="11525843" y="5876144"/>
            <a:ext cx="1365410" cy="1528609"/>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6" name="Group 220">
            <a:extLst>
              <a:ext uri="{FF2B5EF4-FFF2-40B4-BE49-F238E27FC236}">
                <a16:creationId xmlns:a16="http://schemas.microsoft.com/office/drawing/2014/main" xmlns="" id="{ADD1546F-75A2-0E22-F66E-32DFDB0DE746}"/>
              </a:ext>
            </a:extLst>
          </p:cNvPr>
          <p:cNvGrpSpPr/>
          <p:nvPr/>
        </p:nvGrpSpPr>
        <p:grpSpPr>
          <a:xfrm>
            <a:off x="13612707" y="4597280"/>
            <a:ext cx="533400" cy="415825"/>
            <a:chOff x="5906184" y="1486857"/>
            <a:chExt cx="355600"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06184" y="1507080"/>
              <a:ext cx="355600" cy="21167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6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47" name="TextBox 46">
            <a:extLst>
              <a:ext uri="{FF2B5EF4-FFF2-40B4-BE49-F238E27FC236}">
                <a16:creationId xmlns="" xmlns:a16="http://schemas.microsoft.com/office/drawing/2014/main" id="{F347AD0A-1701-D627-C1A8-E7913C31BB17}"/>
              </a:ext>
            </a:extLst>
          </p:cNvPr>
          <p:cNvSpPr txBox="1"/>
          <p:nvPr/>
        </p:nvSpPr>
        <p:spPr>
          <a:xfrm>
            <a:off x="3351253" y="3884658"/>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49" name="群組 48"/>
          <p:cNvGrpSpPr/>
          <p:nvPr/>
        </p:nvGrpSpPr>
        <p:grpSpPr>
          <a:xfrm>
            <a:off x="6809992" y="4731909"/>
            <a:ext cx="1810800" cy="1217256"/>
            <a:chOff x="15073354" y="8308668"/>
            <a:chExt cx="1810800" cy="1217256"/>
          </a:xfrm>
        </p:grpSpPr>
        <p:sp>
          <p:nvSpPr>
            <p:cNvPr id="50" name="流程圖: 程序 4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ZMMR082</a:t>
              </a:r>
              <a:endParaRPr lang="en-GB" sz="1500" b="1" dirty="0">
                <a:latin typeface="微軟正黑體" panose="020B0604030504040204" pitchFamily="34" charset="-120"/>
                <a:ea typeface="微軟正黑體" panose="020B0604030504040204" pitchFamily="34" charset="-120"/>
              </a:endParaRPr>
            </a:p>
          </p:txBody>
        </p:sp>
        <p:sp>
          <p:nvSpPr>
            <p:cNvPr id="51" name="流程圖: 程序 5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採購單</a:t>
              </a:r>
              <a:r>
                <a:rPr lang="en-US" altLang="zh-TW" sz="1500" dirty="0" smtClean="0">
                  <a:latin typeface="微軟正黑體" panose="020B0604030504040204" pitchFamily="34" charset="-120"/>
                  <a:ea typeface="微軟正黑體" panose="020B0604030504040204" pitchFamily="34" charset="-120"/>
                  <a:sym typeface="Arial"/>
                </a:rPr>
                <a:t>&amp;</a:t>
              </a:r>
              <a:r>
                <a:rPr lang="zh-TW" altLang="en-US" sz="1500" dirty="0" smtClean="0">
                  <a:latin typeface="微軟正黑體" panose="020B0604030504040204" pitchFamily="34" charset="-120"/>
                  <a:ea typeface="微軟正黑體" panose="020B0604030504040204" pitchFamily="34" charset="-120"/>
                  <a:sym typeface="Arial"/>
                </a:rPr>
                <a:t>發料資料</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拋轉給</a:t>
              </a:r>
              <a:r>
                <a:rPr lang="en-US" altLang="zh-TW" sz="1500" dirty="0" smtClean="0">
                  <a:latin typeface="微軟正黑體" panose="020B0604030504040204" pitchFamily="34" charset="-120"/>
                  <a:ea typeface="微軟正黑體" panose="020B0604030504040204" pitchFamily="34" charset="-120"/>
                  <a:sym typeface="Arial"/>
                </a:rPr>
                <a:t>WMS</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52" name="流程圖: 程序 5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54" name="流程圖: 程序 53"/>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55" name="Group 220">
            <a:extLst>
              <a:ext uri="{FF2B5EF4-FFF2-40B4-BE49-F238E27FC236}">
                <a16:creationId xmlns:a16="http://schemas.microsoft.com/office/drawing/2014/main" xmlns="" id="{2D9D24A9-3257-3D1C-400D-8D57457C936F}"/>
              </a:ext>
            </a:extLst>
          </p:cNvPr>
          <p:cNvGrpSpPr/>
          <p:nvPr/>
        </p:nvGrpSpPr>
        <p:grpSpPr>
          <a:xfrm>
            <a:off x="8396294" y="4466180"/>
            <a:ext cx="533400" cy="408605"/>
            <a:chOff x="5906184" y="1486857"/>
            <a:chExt cx="355600" cy="272361"/>
          </a:xfrm>
        </p:grpSpPr>
        <p:sp>
          <p:nvSpPr>
            <p:cNvPr id="6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71" name="肘形接點 68">
            <a:extLst>
              <a:ext uri="{FF2B5EF4-FFF2-40B4-BE49-F238E27FC236}">
                <a16:creationId xmlns:a16="http://schemas.microsoft.com/office/drawing/2014/main" xmlns="" id="{32BEB619-0C7A-5A97-ACF0-43D38FDFC1F7}"/>
              </a:ext>
            </a:extLst>
          </p:cNvPr>
          <p:cNvCxnSpPr>
            <a:cxnSpLocks/>
            <a:stCxn id="51" idx="3"/>
            <a:endCxn id="24" idx="1"/>
          </p:cNvCxnSpPr>
          <p:nvPr/>
        </p:nvCxnSpPr>
        <p:spPr>
          <a:xfrm flipV="1">
            <a:off x="8620792" y="5338448"/>
            <a:ext cx="3445504" cy="68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4" name="TextBox 46">
            <a:extLst>
              <a:ext uri="{FF2B5EF4-FFF2-40B4-BE49-F238E27FC236}">
                <a16:creationId xmlns="" xmlns:a16="http://schemas.microsoft.com/office/drawing/2014/main" id="{F347AD0A-1701-D627-C1A8-E7913C31BB17}"/>
              </a:ext>
            </a:extLst>
          </p:cNvPr>
          <p:cNvSpPr txBox="1"/>
          <p:nvPr/>
        </p:nvSpPr>
        <p:spPr>
          <a:xfrm>
            <a:off x="7000860" y="2358212"/>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75" name="群組 74"/>
          <p:cNvGrpSpPr/>
          <p:nvPr/>
        </p:nvGrpSpPr>
        <p:grpSpPr>
          <a:xfrm>
            <a:off x="6797214" y="2248802"/>
            <a:ext cx="1810800" cy="1217256"/>
            <a:chOff x="15073354" y="8308668"/>
            <a:chExt cx="1810800" cy="1217256"/>
          </a:xfrm>
        </p:grpSpPr>
        <p:sp>
          <p:nvSpPr>
            <p:cNvPr id="76" name="流程圖: 程序 7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77" name="流程圖: 程序 7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主管簽核</a:t>
              </a:r>
              <a:endParaRPr lang="zh-TW" altLang="en-US" sz="1500" dirty="0">
                <a:latin typeface="微軟正黑體" panose="020B0604030504040204" pitchFamily="34" charset="-120"/>
                <a:ea typeface="微軟正黑體" panose="020B0604030504040204" pitchFamily="34" charset="-120"/>
              </a:endParaRPr>
            </a:p>
          </p:txBody>
        </p:sp>
        <p:sp>
          <p:nvSpPr>
            <p:cNvPr id="78" name="流程圖: 程序 7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79" name="流程圖: 程序 78"/>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sp>
        <p:nvSpPr>
          <p:cNvPr id="86" name="TextBox 46">
            <a:extLst>
              <a:ext uri="{FF2B5EF4-FFF2-40B4-BE49-F238E27FC236}">
                <a16:creationId xmlns="" xmlns:a16="http://schemas.microsoft.com/office/drawing/2014/main" id="{F347AD0A-1701-D627-C1A8-E7913C31BB17}"/>
              </a:ext>
            </a:extLst>
          </p:cNvPr>
          <p:cNvSpPr txBox="1"/>
          <p:nvPr/>
        </p:nvSpPr>
        <p:spPr>
          <a:xfrm>
            <a:off x="9872258" y="6825340"/>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87" name="群組 86"/>
          <p:cNvGrpSpPr/>
          <p:nvPr/>
        </p:nvGrpSpPr>
        <p:grpSpPr>
          <a:xfrm>
            <a:off x="9633443" y="6715930"/>
            <a:ext cx="1810800" cy="1217256"/>
            <a:chOff x="15073354" y="8308668"/>
            <a:chExt cx="1810800" cy="1217256"/>
          </a:xfrm>
        </p:grpSpPr>
        <p:sp>
          <p:nvSpPr>
            <p:cNvPr id="88" name="流程圖: 程序 87"/>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ZMMR083</a:t>
              </a:r>
              <a:endParaRPr lang="en-GB" sz="1500" b="1" dirty="0">
                <a:latin typeface="微軟正黑體" panose="020B0604030504040204" pitchFamily="34" charset="-120"/>
                <a:ea typeface="微軟正黑體" panose="020B0604030504040204" pitchFamily="34" charset="-120"/>
              </a:endParaRPr>
            </a:p>
          </p:txBody>
        </p:sp>
        <p:sp>
          <p:nvSpPr>
            <p:cNvPr id="89" name="流程圖: 程序 88"/>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en-US" altLang="zh-TW" sz="1500" dirty="0" smtClean="0">
                  <a:latin typeface="微軟正黑體" panose="020B0604030504040204" pitchFamily="34" charset="-120"/>
                  <a:ea typeface="微軟正黑體" panose="020B0604030504040204" pitchFamily="34" charset="-120"/>
                  <a:sym typeface="Arial"/>
                </a:rPr>
                <a:t>WMS</a:t>
              </a:r>
              <a:r>
                <a:rPr lang="zh-TW" altLang="en-US" sz="1500" dirty="0" smtClean="0">
                  <a:latin typeface="微軟正黑體" panose="020B0604030504040204" pitchFamily="34" charset="-120"/>
                  <a:ea typeface="微軟正黑體" panose="020B0604030504040204" pitchFamily="34" charset="-120"/>
                  <a:sym typeface="Arial"/>
                </a:rPr>
                <a:t>交易完成</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拋轉給</a:t>
              </a:r>
              <a:r>
                <a:rPr lang="en-US" altLang="zh-TW" sz="1500" dirty="0" smtClean="0">
                  <a:latin typeface="微軟正黑體" panose="020B0604030504040204" pitchFamily="34" charset="-120"/>
                  <a:ea typeface="微軟正黑體" panose="020B0604030504040204" pitchFamily="34" charset="-120"/>
                  <a:sym typeface="Arial"/>
                </a:rPr>
                <a:t>SAP</a:t>
              </a:r>
              <a:r>
                <a:rPr lang="zh-TW" altLang="en-US" sz="1500" dirty="0" smtClean="0">
                  <a:latin typeface="微軟正黑體" panose="020B0604030504040204" pitchFamily="34" charset="-120"/>
                  <a:ea typeface="微軟正黑體" panose="020B0604030504040204" pitchFamily="34" charset="-120"/>
                  <a:sym typeface="Arial"/>
                </a:rPr>
                <a:t>執行過帳</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90" name="流程圖: 程序 89"/>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1" name="流程圖: 程序 90"/>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自動</a:t>
              </a:r>
              <a:endParaRPr lang="zh-TW" altLang="en-US" sz="1500" spc="-1" dirty="0">
                <a:solidFill>
                  <a:schemeClr val="dk1"/>
                </a:solidFill>
                <a:latin typeface="微軟正黑體"/>
                <a:ea typeface="微軟正黑體"/>
              </a:endParaRPr>
            </a:p>
          </p:txBody>
        </p:sp>
      </p:grpSp>
      <p:grpSp>
        <p:nvGrpSpPr>
          <p:cNvPr id="92" name="Group 220">
            <a:extLst>
              <a:ext uri="{FF2B5EF4-FFF2-40B4-BE49-F238E27FC236}">
                <a16:creationId xmlns:a16="http://schemas.microsoft.com/office/drawing/2014/main" xmlns="" id="{2D9D24A9-3257-3D1C-400D-8D57457C936F}"/>
              </a:ext>
            </a:extLst>
          </p:cNvPr>
          <p:cNvGrpSpPr/>
          <p:nvPr/>
        </p:nvGrpSpPr>
        <p:grpSpPr>
          <a:xfrm>
            <a:off x="11254914" y="6450201"/>
            <a:ext cx="533400" cy="408605"/>
            <a:chOff x="5906184" y="1486857"/>
            <a:chExt cx="355600" cy="272361"/>
          </a:xfrm>
        </p:grpSpPr>
        <p:sp>
          <p:nvSpPr>
            <p:cNvPr id="93"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4"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98" name="TextBox 46">
            <a:extLst>
              <a:ext uri="{FF2B5EF4-FFF2-40B4-BE49-F238E27FC236}">
                <a16:creationId xmlns="" xmlns:a16="http://schemas.microsoft.com/office/drawing/2014/main" id="{F347AD0A-1701-D627-C1A8-E7913C31BB17}"/>
              </a:ext>
            </a:extLst>
          </p:cNvPr>
          <p:cNvSpPr txBox="1"/>
          <p:nvPr/>
        </p:nvSpPr>
        <p:spPr>
          <a:xfrm>
            <a:off x="9858380" y="8787632"/>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99" name="群組 98"/>
          <p:cNvGrpSpPr/>
          <p:nvPr/>
        </p:nvGrpSpPr>
        <p:grpSpPr>
          <a:xfrm>
            <a:off x="9654734" y="8678222"/>
            <a:ext cx="1810800" cy="1217256"/>
            <a:chOff x="15073354" y="8308668"/>
            <a:chExt cx="1810800" cy="1217256"/>
          </a:xfrm>
        </p:grpSpPr>
        <p:sp>
          <p:nvSpPr>
            <p:cNvPr id="100" name="流程圖: 程序 9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01" name="流程圖: 程序 10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rPr>
                <a:t>外包商收料</a:t>
              </a:r>
              <a:endParaRPr lang="zh-TW" altLang="en-US" sz="1500" dirty="0">
                <a:latin typeface="微軟正黑體" panose="020B0604030504040204" pitchFamily="34" charset="-120"/>
                <a:ea typeface="微軟正黑體" panose="020B0604030504040204" pitchFamily="34" charset="-120"/>
              </a:endParaRPr>
            </a:p>
          </p:txBody>
        </p:sp>
        <p:sp>
          <p:nvSpPr>
            <p:cNvPr id="102" name="流程圖: 程序 10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03" name="流程圖: 程序 102"/>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9" name="Group 220">
            <a:extLst>
              <a:ext uri="{FF2B5EF4-FFF2-40B4-BE49-F238E27FC236}">
                <a16:creationId xmlns:a16="http://schemas.microsoft.com/office/drawing/2014/main" xmlns="" id="{00946373-F0C7-FE47-0E72-E220EDE0B755}"/>
              </a:ext>
            </a:extLst>
          </p:cNvPr>
          <p:cNvGrpSpPr/>
          <p:nvPr/>
        </p:nvGrpSpPr>
        <p:grpSpPr>
          <a:xfrm>
            <a:off x="11215702" y="8430442"/>
            <a:ext cx="546285" cy="408605"/>
            <a:chOff x="5906472" y="1486857"/>
            <a:chExt cx="364190" cy="272361"/>
          </a:xfrm>
        </p:grpSpPr>
        <p:sp>
          <p:nvSpPr>
            <p:cNvPr id="59" name="Oval 221">
              <a:extLst>
                <a:ext uri="{FF2B5EF4-FFF2-40B4-BE49-F238E27FC236}">
                  <a16:creationId xmlns:a16="http://schemas.microsoft.com/office/drawing/2014/main" xmlns="" id="{2013E8F6-26AA-6E4F-3056-5261BABF019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0" name="TextBox 222">
              <a:extLst>
                <a:ext uri="{FF2B5EF4-FFF2-40B4-BE49-F238E27FC236}">
                  <a16:creationId xmlns:a16="http://schemas.microsoft.com/office/drawing/2014/main" xmlns="" id="{50C83BF0-CCB3-4CB7-D849-D7B24A5E8F3C}"/>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111" name="TextBox 46">
            <a:extLst>
              <a:ext uri="{FF2B5EF4-FFF2-40B4-BE49-F238E27FC236}">
                <a16:creationId xmlns="" xmlns:a16="http://schemas.microsoft.com/office/drawing/2014/main" id="{F347AD0A-1701-D627-C1A8-E7913C31BB17}"/>
              </a:ext>
            </a:extLst>
          </p:cNvPr>
          <p:cNvSpPr txBox="1"/>
          <p:nvPr/>
        </p:nvSpPr>
        <p:spPr>
          <a:xfrm>
            <a:off x="3503653" y="4037058"/>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112" name="群組 111"/>
          <p:cNvGrpSpPr/>
          <p:nvPr/>
        </p:nvGrpSpPr>
        <p:grpSpPr>
          <a:xfrm>
            <a:off x="3300007" y="3927648"/>
            <a:ext cx="1810800" cy="1217256"/>
            <a:chOff x="15073354" y="8308668"/>
            <a:chExt cx="1810800" cy="1217256"/>
          </a:xfrm>
        </p:grpSpPr>
        <p:sp>
          <p:nvSpPr>
            <p:cNvPr id="113" name="流程圖: 程序 11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ZMM030</a:t>
              </a:r>
              <a:endParaRPr lang="en-GB" sz="1500" b="1" dirty="0">
                <a:latin typeface="微軟正黑體" panose="020B0604030504040204" pitchFamily="34" charset="-120"/>
                <a:ea typeface="微軟正黑體" panose="020B0604030504040204" pitchFamily="34" charset="-120"/>
              </a:endParaRPr>
            </a:p>
          </p:txBody>
        </p:sp>
        <p:sp>
          <p:nvSpPr>
            <p:cNvPr id="114" name="流程圖: 程序 11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外包採購單</a:t>
              </a:r>
              <a:endParaRPr lang="en-US" altLang="zh-TW" sz="1500" dirty="0" smtClean="0">
                <a:latin typeface="微軟正黑體" panose="020B0604030504040204" pitchFamily="34" charset="-120"/>
                <a:ea typeface="微軟正黑體" panose="020B0604030504040204" pitchFamily="34" charset="-120"/>
                <a:sym typeface="Arial"/>
              </a:endParaRPr>
            </a:p>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sym typeface="Arial"/>
                </a:rPr>
                <a:t>與發料列印</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115" name="流程圖: 程序 11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16" name="流程圖: 程序 115"/>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17" name="Group 220">
            <a:extLst>
              <a:ext uri="{FF2B5EF4-FFF2-40B4-BE49-F238E27FC236}">
                <a16:creationId xmlns:a16="http://schemas.microsoft.com/office/drawing/2014/main" xmlns="" id="{2D9D24A9-3257-3D1C-400D-8D57457C936F}"/>
              </a:ext>
            </a:extLst>
          </p:cNvPr>
          <p:cNvGrpSpPr/>
          <p:nvPr/>
        </p:nvGrpSpPr>
        <p:grpSpPr>
          <a:xfrm>
            <a:off x="4922889" y="3670344"/>
            <a:ext cx="533400" cy="408605"/>
            <a:chOff x="5906184" y="1486857"/>
            <a:chExt cx="355600" cy="272361"/>
          </a:xfrm>
        </p:grpSpPr>
        <p:sp>
          <p:nvSpPr>
            <p:cNvPr id="118"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9"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120" name="肘形接點 68">
            <a:extLst>
              <a:ext uri="{FF2B5EF4-FFF2-40B4-BE49-F238E27FC236}">
                <a16:creationId xmlns:a16="http://schemas.microsoft.com/office/drawing/2014/main" xmlns="" id="{A46CDCFE-67EF-4E51-A944-F4A0C09EC5BD}"/>
              </a:ext>
            </a:extLst>
          </p:cNvPr>
          <p:cNvCxnSpPr>
            <a:cxnSpLocks/>
            <a:endCxn id="113" idx="0"/>
          </p:cNvCxnSpPr>
          <p:nvPr/>
        </p:nvCxnSpPr>
        <p:spPr>
          <a:xfrm rot="5400000">
            <a:off x="3818284" y="3531154"/>
            <a:ext cx="783618" cy="937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7" name="TextBox 46">
            <a:extLst>
              <a:ext uri="{FF2B5EF4-FFF2-40B4-BE49-F238E27FC236}">
                <a16:creationId xmlns="" xmlns:a16="http://schemas.microsoft.com/office/drawing/2014/main" id="{F347AD0A-1701-D627-C1A8-E7913C31BB17}"/>
              </a:ext>
            </a:extLst>
          </p:cNvPr>
          <p:cNvSpPr txBox="1"/>
          <p:nvPr/>
        </p:nvSpPr>
        <p:spPr>
          <a:xfrm>
            <a:off x="3337330" y="2243784"/>
            <a:ext cx="404262" cy="369389"/>
          </a:xfrm>
          <a:prstGeom prst="rect">
            <a:avLst/>
          </a:prstGeom>
          <a:noFill/>
        </p:spPr>
        <p:txBody>
          <a:bodyPr wrap="square" lIns="137160" tIns="68580" rIns="137160" bIns="68580" rtlCol="0">
            <a:spAutoFit/>
          </a:bodyPr>
          <a:lstStyle/>
          <a:p>
            <a:r>
              <a:rPr lang="zh-TW" altLang="en-US" sz="1500" dirty="0"/>
              <a:t>否</a:t>
            </a:r>
          </a:p>
        </p:txBody>
      </p:sp>
      <p:sp>
        <p:nvSpPr>
          <p:cNvPr id="128" name="TextBox 46">
            <a:extLst>
              <a:ext uri="{FF2B5EF4-FFF2-40B4-BE49-F238E27FC236}">
                <a16:creationId xmlns="" xmlns:a16="http://schemas.microsoft.com/office/drawing/2014/main" id="{F347AD0A-1701-D627-C1A8-E7913C31BB17}"/>
              </a:ext>
            </a:extLst>
          </p:cNvPr>
          <p:cNvSpPr txBox="1"/>
          <p:nvPr/>
        </p:nvSpPr>
        <p:spPr>
          <a:xfrm>
            <a:off x="3489730" y="2396184"/>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129" name="群組 128"/>
          <p:cNvGrpSpPr/>
          <p:nvPr/>
        </p:nvGrpSpPr>
        <p:grpSpPr>
          <a:xfrm>
            <a:off x="3286084" y="2286774"/>
            <a:ext cx="1810800" cy="1217256"/>
            <a:chOff x="15073354" y="8308668"/>
            <a:chExt cx="1810800" cy="1217256"/>
          </a:xfrm>
        </p:grpSpPr>
        <p:sp>
          <p:nvSpPr>
            <p:cNvPr id="130" name="流程圖: 程序 12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ME2ON</a:t>
              </a:r>
              <a:endParaRPr lang="en-GB" sz="1500" b="1" dirty="0">
                <a:latin typeface="微軟正黑體" panose="020B0604030504040204" pitchFamily="34" charset="-120"/>
                <a:ea typeface="微軟正黑體" panose="020B0604030504040204" pitchFamily="34" charset="-120"/>
              </a:endParaRPr>
            </a:p>
          </p:txBody>
        </p:sp>
        <p:sp>
          <p:nvSpPr>
            <p:cNvPr id="131" name="流程圖: 程序 13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建立外包出貨單</a:t>
              </a:r>
              <a:endParaRPr lang="zh-TW" altLang="en-US" sz="1500" dirty="0">
                <a:latin typeface="微軟正黑體" panose="020B0604030504040204" pitchFamily="34" charset="-120"/>
                <a:ea typeface="微軟正黑體" panose="020B0604030504040204" pitchFamily="34" charset="-120"/>
              </a:endParaRPr>
            </a:p>
          </p:txBody>
        </p:sp>
        <p:sp>
          <p:nvSpPr>
            <p:cNvPr id="132" name="流程圖: 程序 13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33" name="流程圖: 程序 132"/>
            <p:cNvSpPr/>
            <p:nvPr/>
          </p:nvSpPr>
          <p:spPr>
            <a:xfrm>
              <a:off x="159989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2" name="Group 220">
            <a:extLst>
              <a:ext uri="{FF2B5EF4-FFF2-40B4-BE49-F238E27FC236}">
                <a16:creationId xmlns:a16="http://schemas.microsoft.com/office/drawing/2014/main" xmlns="" id="{8F9100A8-C49B-4A69-8C8C-1F7583CA5532}"/>
              </a:ext>
            </a:extLst>
          </p:cNvPr>
          <p:cNvGrpSpPr/>
          <p:nvPr/>
        </p:nvGrpSpPr>
        <p:grpSpPr>
          <a:xfrm>
            <a:off x="4857720" y="2072460"/>
            <a:ext cx="533400" cy="415825"/>
            <a:chOff x="5906184" y="1486857"/>
            <a:chExt cx="355600"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06184" y="1507079"/>
              <a:ext cx="355600" cy="21167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xmlns="" val="3407804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351316" y="820210"/>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MM-IM-0070 </a:t>
            </a:r>
            <a:r>
              <a:rPr kumimoji="0" lang="zh-TW" altLang="en-US" b="1" dirty="0">
                <a:latin typeface="微軟正黑體" panose="020B0604030504040204" pitchFamily="34" charset="-120"/>
                <a:ea typeface="微軟正黑體" panose="020B0604030504040204" pitchFamily="34" charset="-120"/>
              </a:rPr>
              <a:t>採購外包發料</a:t>
            </a:r>
            <a:r>
              <a:rPr kumimoji="0" lang="zh-TW" altLang="en-US" b="1" dirty="0" smtClean="0">
                <a:latin typeface="微軟正黑體" panose="020B0604030504040204" pitchFamily="34" charset="-120"/>
                <a:ea typeface="微軟正黑體" panose="020B0604030504040204" pitchFamily="34" charset="-120"/>
              </a:rPr>
              <a:t>流程</a:t>
            </a:r>
            <a:r>
              <a:rPr lang="en-US" altLang="zh-TW" b="1" dirty="0" smtClean="0">
                <a:latin typeface="微軟正黑體" panose="020B0604030504040204" pitchFamily="34" charset="-120"/>
                <a:ea typeface="微軟正黑體" panose="020B0604030504040204" pitchFamily="34" charset="-120"/>
              </a:rPr>
              <a:t>-</a:t>
            </a:r>
            <a:r>
              <a:rPr lang="zh-TW" altLang="en-US" b="1" dirty="0" smtClean="0">
                <a:latin typeface="微軟正黑體" panose="020B0604030504040204" pitchFamily="34" charset="-120"/>
                <a:ea typeface="微軟正黑體" panose="020B0604030504040204" pitchFamily="34" charset="-120"/>
              </a:rPr>
              <a:t>沒有</a:t>
            </a:r>
            <a:r>
              <a:rPr lang="en-US" altLang="zh-TW" b="1" dirty="0" smtClean="0">
                <a:latin typeface="微軟正黑體" panose="020B0604030504040204" pitchFamily="34" charset="-120"/>
                <a:ea typeface="微軟正黑體" panose="020B0604030504040204" pitchFamily="34" charset="-120"/>
              </a:rPr>
              <a:t>WMS</a:t>
            </a:r>
            <a:endParaRPr kumimoji="0" lang="zh-TW" altLang="en-US" b="1" dirty="0">
              <a:latin typeface="微軟正黑體" panose="020B0604030504040204" pitchFamily="34" charset="-120"/>
              <a:ea typeface="微軟正黑體" panose="020B0604030504040204" pitchFamily="34" charset="-120"/>
            </a:endParaRP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2784259" y="1379074"/>
            <a:ext cx="3155366" cy="400110"/>
          </a:xfrm>
          <a:prstGeom prst="rect">
            <a:avLst/>
          </a:prstGeom>
          <a:noFill/>
        </p:spPr>
        <p:txBody>
          <a:bodyPr wrap="square" lIns="137160" tIns="68580" rIns="137160" bIns="68580" rtlCol="0">
            <a:spAutoFit/>
          </a:bodyPr>
          <a:lstStyle/>
          <a:p>
            <a:pPr algn="ctr"/>
            <a:r>
              <a:rPr lang="zh-TW" altLang="en-US" sz="1700" dirty="0"/>
              <a:t>倉管人員</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6" y="1947686"/>
            <a:ext cx="3594197" cy="4293483"/>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smtClean="0"/>
              <a:t>倉庫人員按照</a:t>
            </a:r>
            <a:r>
              <a:rPr lang="en-US" altLang="zh-TW" dirty="0" smtClean="0"/>
              <a:t>MM-PU-0070 </a:t>
            </a:r>
            <a:r>
              <a:rPr lang="zh-TW" altLang="en-US" dirty="0" smtClean="0"/>
              <a:t>採購外包請採驗流程所列印採購外包單進行</a:t>
            </a:r>
            <a:r>
              <a:rPr lang="zh-TW" altLang="en-US" dirty="0"/>
              <a:t>檢貨備料</a:t>
            </a:r>
            <a:r>
              <a:rPr lang="zh-TW" altLang="en-US" dirty="0" smtClean="0"/>
              <a:t>。</a:t>
            </a:r>
            <a:endParaRPr lang="en-US" altLang="zh-TW" dirty="0" smtClean="0"/>
          </a:p>
          <a:p>
            <a:pPr marL="342900" indent="-342900">
              <a:buFont typeface="+mj-lt"/>
              <a:buAutoNum type="arabicPeriod"/>
            </a:pPr>
            <a:endParaRPr lang="en-US" altLang="zh-TW" dirty="0"/>
          </a:p>
          <a:p>
            <a:pPr marL="342900" indent="-342900">
              <a:buFont typeface="+mj-lt"/>
              <a:buAutoNum type="arabicPeriod"/>
            </a:pPr>
            <a:r>
              <a:rPr lang="zh-TW" altLang="en-US" dirty="0" smtClean="0"/>
              <a:t>沒有使用</a:t>
            </a:r>
            <a:r>
              <a:rPr lang="en-US" altLang="zh-TW" dirty="0" smtClean="0"/>
              <a:t>WMS</a:t>
            </a:r>
            <a:r>
              <a:rPr lang="zh-TW" altLang="en-US" dirty="0" smtClean="0"/>
              <a:t>且不綁銷售訂單的外包採購，需要</a:t>
            </a:r>
            <a:r>
              <a:rPr lang="zh-TW" altLang="en-US" dirty="0" smtClean="0"/>
              <a:t>執行</a:t>
            </a:r>
            <a:r>
              <a:rPr lang="en-US" altLang="zh-TW" dirty="0" smtClean="0"/>
              <a:t>MIGO </a:t>
            </a:r>
            <a:r>
              <a:rPr lang="zh-TW" altLang="en-US" dirty="0" smtClean="0"/>
              <a:t>完成外包發</a:t>
            </a:r>
            <a:r>
              <a:rPr lang="zh-TW" altLang="en-US" dirty="0"/>
              <a:t>料</a:t>
            </a:r>
            <a:r>
              <a:rPr lang="en-US" altLang="zh-TW" dirty="0" smtClean="0"/>
              <a:t>541</a:t>
            </a:r>
            <a:r>
              <a:rPr lang="zh-TW" altLang="en-US" dirty="0" smtClean="0"/>
              <a:t>過帳</a:t>
            </a:r>
            <a:r>
              <a:rPr lang="zh-TW" altLang="en-US" dirty="0" smtClean="0"/>
              <a:t>。綁銷售訂單的外包採購單不需作</a:t>
            </a:r>
            <a:r>
              <a:rPr lang="en-US" altLang="zh-TW" dirty="0" smtClean="0"/>
              <a:t>541</a:t>
            </a:r>
            <a:r>
              <a:rPr lang="zh-TW" altLang="en-US" dirty="0" smtClean="0"/>
              <a:t>過帳。</a:t>
            </a:r>
            <a:endParaRPr lang="en-US" altLang="zh-TW" dirty="0" smtClean="0"/>
          </a:p>
          <a:p>
            <a:pPr marL="342900" indent="-342900">
              <a:buFont typeface="+mj-lt"/>
              <a:buAutoNum type="arabicPeriod"/>
            </a:pPr>
            <a:endParaRPr lang="en-US" altLang="zh-TW" dirty="0"/>
          </a:p>
          <a:p>
            <a:pPr marL="342900" indent="-342900">
              <a:buFont typeface="+mj-lt"/>
              <a:buAutoNum type="arabicPeriod"/>
            </a:pPr>
            <a:r>
              <a:rPr lang="zh-TW" altLang="en-US" dirty="0"/>
              <a:t>將委外採購單相關供料交予外包商清點收料，並簽收外</a:t>
            </a:r>
            <a:r>
              <a:rPr lang="zh-TW" altLang="en-US" dirty="0" smtClean="0"/>
              <a:t>包採購單</a:t>
            </a:r>
            <a:r>
              <a:rPr lang="zh-TW" altLang="en-US" dirty="0"/>
              <a:t>。 </a:t>
            </a:r>
            <a:endParaRPr lang="en-US" altLang="zh-TW" dirty="0"/>
          </a:p>
          <a:p>
            <a:pPr marL="342900" indent="-342900">
              <a:buFont typeface="+mj-lt"/>
              <a:buAutoNum type="arabicPeriod"/>
            </a:pPr>
            <a:endParaRPr lang="en-US" altLang="zh-TW" dirty="0"/>
          </a:p>
          <a:p>
            <a:endParaRPr lang="en-US" altLang="zh-TW" dirty="0"/>
          </a:p>
        </p:txBody>
      </p:sp>
      <p:cxnSp>
        <p:nvCxnSpPr>
          <p:cNvPr id="53" name="肘形接點 68">
            <a:extLst>
              <a:ext uri="{FF2B5EF4-FFF2-40B4-BE49-F238E27FC236}">
                <a16:creationId xmlns:a16="http://schemas.microsoft.com/office/drawing/2014/main" xmlns="" id="{4A3048A1-DF9E-B19F-4A1B-A34D05AE9CF9}"/>
              </a:ext>
            </a:extLst>
          </p:cNvPr>
          <p:cNvCxnSpPr>
            <a:cxnSpLocks/>
            <a:stCxn id="58" idx="3"/>
            <a:endCxn id="202" idx="0"/>
          </p:cNvCxnSpPr>
          <p:nvPr/>
        </p:nvCxnSpPr>
        <p:spPr>
          <a:xfrm>
            <a:off x="11240552" y="8062929"/>
            <a:ext cx="1917902" cy="855051"/>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 name="流程圖: 預設處理作業 21">
            <a:extLst>
              <a:ext uri="{FF2B5EF4-FFF2-40B4-BE49-F238E27FC236}">
                <a16:creationId xmlns:a16="http://schemas.microsoft.com/office/drawing/2014/main" xmlns="" id="{AC6A51B0-6C1D-73F2-3C4C-423A8E541FE2}"/>
              </a:ext>
            </a:extLst>
          </p:cNvPr>
          <p:cNvSpPr/>
          <p:nvPr/>
        </p:nvSpPr>
        <p:spPr bwMode="auto">
          <a:xfrm>
            <a:off x="417866" y="224628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MM-PU-0070</a:t>
            </a:r>
          </a:p>
          <a:p>
            <a:pPr algn="ctr" eaLnBrk="0" hangingPunct="0"/>
            <a:r>
              <a:rPr lang="zh-TW" altLang="en-US" sz="1500" dirty="0">
                <a:latin typeface="微軟正黑體" panose="020B0604030504040204" pitchFamily="34" charset="-120"/>
                <a:ea typeface="微軟正黑體" panose="020B0604030504040204" pitchFamily="34" charset="-120"/>
              </a:rPr>
              <a:t>採購外包請採驗流程</a:t>
            </a:r>
          </a:p>
        </p:txBody>
      </p:sp>
      <p:sp>
        <p:nvSpPr>
          <p:cNvPr id="8" name="文字方塊 17">
            <a:extLst>
              <a:ext uri="{FF2B5EF4-FFF2-40B4-BE49-F238E27FC236}">
                <a16:creationId xmlns:a16="http://schemas.microsoft.com/office/drawing/2014/main" xmlns="" id="{0D65A231-25AF-40B9-DD3C-C82EB5138191}"/>
              </a:ext>
            </a:extLst>
          </p:cNvPr>
          <p:cNvSpPr txBox="1"/>
          <p:nvPr/>
        </p:nvSpPr>
        <p:spPr>
          <a:xfrm>
            <a:off x="9838017" y="1357816"/>
            <a:ext cx="1610187" cy="400110"/>
          </a:xfrm>
          <a:prstGeom prst="rect">
            <a:avLst/>
          </a:prstGeom>
          <a:noFill/>
        </p:spPr>
        <p:txBody>
          <a:bodyPr wrap="square" lIns="137160" tIns="68580" rIns="137160" bIns="68580" rtlCol="0">
            <a:spAutoFit/>
          </a:bodyPr>
          <a:lstStyle/>
          <a:p>
            <a:pPr algn="ctr"/>
            <a:r>
              <a:rPr lang="zh-TW" altLang="en-US" sz="1700" dirty="0"/>
              <a:t>外包商</a:t>
            </a:r>
          </a:p>
        </p:txBody>
      </p:sp>
      <p:cxnSp>
        <p:nvCxnSpPr>
          <p:cNvPr id="247" name="Straight Connector 284">
            <a:extLst>
              <a:ext uri="{FF2B5EF4-FFF2-40B4-BE49-F238E27FC236}">
                <a16:creationId xmlns:a16="http://schemas.microsoft.com/office/drawing/2014/main" xmlns="" id="{345F0794-1465-E0D3-52C5-964FAC72AFDF}"/>
              </a:ext>
            </a:extLst>
          </p:cNvPr>
          <p:cNvCxnSpPr>
            <a:cxnSpLocks/>
          </p:cNvCxnSpPr>
          <p:nvPr/>
        </p:nvCxnSpPr>
        <p:spPr>
          <a:xfrm>
            <a:off x="9265590" y="1394592"/>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肘形接點 68">
            <a:extLst>
              <a:ext uri="{FF2B5EF4-FFF2-40B4-BE49-F238E27FC236}">
                <a16:creationId xmlns:a16="http://schemas.microsoft.com/office/drawing/2014/main" xmlns="" id="{32BEB619-0C7A-5A97-ACF0-43D38FDFC1F7}"/>
              </a:ext>
            </a:extLst>
          </p:cNvPr>
          <p:cNvCxnSpPr>
            <a:cxnSpLocks/>
            <a:stCxn id="2" idx="2"/>
          </p:cNvCxnSpPr>
          <p:nvPr/>
        </p:nvCxnSpPr>
        <p:spPr>
          <a:xfrm rot="16200000" flipH="1">
            <a:off x="2154206" y="2655092"/>
            <a:ext cx="516410" cy="217597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50" name="表格 30">
            <a:extLst>
              <a:ext uri="{FF2B5EF4-FFF2-40B4-BE49-F238E27FC236}">
                <a16:creationId xmlns:a16="http://schemas.microsoft.com/office/drawing/2014/main" xmlns="" id="{4BA4B4E2-16FC-9F50-E36E-3CB90EAF255B}"/>
              </a:ext>
            </a:extLst>
          </p:cNvPr>
          <p:cNvGraphicFramePr>
            <a:graphicFrameLocks noGrp="1"/>
          </p:cNvGraphicFramePr>
          <p:nvPr>
            <p:extLst>
              <p:ext uri="{D42A27DB-BD31-4B8C-83A1-F6EECF244321}">
                <p14:modId xmlns:p14="http://schemas.microsoft.com/office/powerpoint/2010/main" xmlns="" val="2972041275"/>
              </p:ext>
            </p:extLst>
          </p:nvPr>
        </p:nvGraphicFramePr>
        <p:xfrm>
          <a:off x="3501489" y="3436438"/>
          <a:ext cx="1797828" cy="1009956"/>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檢貨備料</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94" name="肘形接點 68">
            <a:extLst>
              <a:ext uri="{FF2B5EF4-FFF2-40B4-BE49-F238E27FC236}">
                <a16:creationId xmlns:a16="http://schemas.microsoft.com/office/drawing/2014/main" xmlns="" id="{5C973B01-3B9F-EAE3-F859-48F578222B81}"/>
              </a:ext>
            </a:extLst>
          </p:cNvPr>
          <p:cNvCxnSpPr>
            <a:cxnSpLocks/>
            <a:stCxn id="43" idx="3"/>
            <a:endCxn id="58" idx="1"/>
          </p:cNvCxnSpPr>
          <p:nvPr/>
        </p:nvCxnSpPr>
        <p:spPr>
          <a:xfrm flipV="1">
            <a:off x="5323717" y="8062929"/>
            <a:ext cx="4106035" cy="318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2" name="流程圖: 結束點 8">
            <a:extLst>
              <a:ext uri="{FF2B5EF4-FFF2-40B4-BE49-F238E27FC236}">
                <a16:creationId xmlns:a16="http://schemas.microsoft.com/office/drawing/2014/main" xmlns="" id="{00A9DFE2-5790-1DD6-9E07-3BB136F01242}"/>
              </a:ext>
            </a:extLst>
          </p:cNvPr>
          <p:cNvSpPr/>
          <p:nvPr/>
        </p:nvSpPr>
        <p:spPr bwMode="auto">
          <a:xfrm>
            <a:off x="12259538" y="8917980"/>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51" name="肘形接點 68">
            <a:extLst>
              <a:ext uri="{FF2B5EF4-FFF2-40B4-BE49-F238E27FC236}">
                <a16:creationId xmlns:a16="http://schemas.microsoft.com/office/drawing/2014/main" xmlns="" id="{9E6CCA52-4221-1778-401F-FDD3330EF6DE}"/>
              </a:ext>
            </a:extLst>
          </p:cNvPr>
          <p:cNvCxnSpPr>
            <a:cxnSpLocks/>
            <a:stCxn id="28" idx="2"/>
            <a:endCxn id="39" idx="0"/>
          </p:cNvCxnSpPr>
          <p:nvPr/>
        </p:nvCxnSpPr>
        <p:spPr>
          <a:xfrm rot="5400000">
            <a:off x="3852598" y="6887214"/>
            <a:ext cx="1137396" cy="595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0" name="Group 220">
            <a:extLst>
              <a:ext uri="{FF2B5EF4-FFF2-40B4-BE49-F238E27FC236}">
                <a16:creationId xmlns:a16="http://schemas.microsoft.com/office/drawing/2014/main" xmlns="" id="{DBE3A806-F3A7-1701-B61B-F58D0F5A65FD}"/>
              </a:ext>
            </a:extLst>
          </p:cNvPr>
          <p:cNvGrpSpPr/>
          <p:nvPr/>
        </p:nvGrpSpPr>
        <p:grpSpPr>
          <a:xfrm>
            <a:off x="5032617" y="3286906"/>
            <a:ext cx="533400" cy="415825"/>
            <a:chOff x="5906184" y="1486857"/>
            <a:chExt cx="355600" cy="272361"/>
          </a:xfrm>
        </p:grpSpPr>
        <p:sp>
          <p:nvSpPr>
            <p:cNvPr id="205" name="Oval 221">
              <a:extLst>
                <a:ext uri="{FF2B5EF4-FFF2-40B4-BE49-F238E27FC236}">
                  <a16:creationId xmlns:a16="http://schemas.microsoft.com/office/drawing/2014/main" xmlns="" id="{8F372E8B-CCF9-D5A3-92E7-2E9BCF0B2EC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06" name="TextBox 222">
              <a:extLst>
                <a:ext uri="{FF2B5EF4-FFF2-40B4-BE49-F238E27FC236}">
                  <a16:creationId xmlns:a16="http://schemas.microsoft.com/office/drawing/2014/main" xmlns="" id="{F135DB4A-56EC-36B7-D19B-B95DFB07FC5C}"/>
                </a:ext>
              </a:extLst>
            </p:cNvPr>
            <p:cNvSpPr txBox="1"/>
            <p:nvPr/>
          </p:nvSpPr>
          <p:spPr>
            <a:xfrm>
              <a:off x="5906184" y="1507080"/>
              <a:ext cx="355600" cy="21167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6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28" name="流程圖: 決策 50"/>
          <p:cNvSpPr/>
          <p:nvPr/>
        </p:nvSpPr>
        <p:spPr>
          <a:xfrm>
            <a:off x="3503574" y="5144294"/>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altLang="en-US" sz="1500" b="0" strike="noStrike" spc="-1" dirty="0" smtClean="0">
                <a:solidFill>
                  <a:srgbClr val="000000"/>
                </a:solidFill>
                <a:latin typeface="Calibri"/>
              </a:rPr>
              <a:t>委外採購單</a:t>
            </a:r>
            <a:endParaRPr lang="en-US" altLang="zh-TW" sz="1500" b="0" strike="noStrike" spc="-1" dirty="0" smtClean="0">
              <a:solidFill>
                <a:srgbClr val="000000"/>
              </a:solidFill>
              <a:latin typeface="Calibri"/>
            </a:endParaRPr>
          </a:p>
          <a:p>
            <a:pPr algn="ctr" defTabSz="457200">
              <a:lnSpc>
                <a:spcPct val="100000"/>
              </a:lnSpc>
            </a:pPr>
            <a:r>
              <a:rPr lang="zh-TW" altLang="en-US" sz="1500" b="0" strike="noStrike" spc="-1" dirty="0" smtClean="0">
                <a:solidFill>
                  <a:srgbClr val="000000"/>
                </a:solidFill>
                <a:latin typeface="Calibri"/>
              </a:rPr>
              <a:t>綁銷售訂庫存</a:t>
            </a:r>
            <a:endParaRPr lang="en-US" sz="1500" b="0" strike="noStrike" spc="-1" dirty="0">
              <a:solidFill>
                <a:srgbClr val="000000"/>
              </a:solidFill>
              <a:latin typeface="Calibri"/>
            </a:endParaRPr>
          </a:p>
        </p:txBody>
      </p:sp>
      <p:cxnSp>
        <p:nvCxnSpPr>
          <p:cNvPr id="29" name="肘形接點 68">
            <a:extLst>
              <a:ext uri="{FF2B5EF4-FFF2-40B4-BE49-F238E27FC236}">
                <a16:creationId xmlns:a16="http://schemas.microsoft.com/office/drawing/2014/main" xmlns="" id="{32BEB619-0C7A-5A97-ACF0-43D38FDFC1F7}"/>
              </a:ext>
            </a:extLst>
          </p:cNvPr>
          <p:cNvCxnSpPr>
            <a:cxnSpLocks/>
            <a:endCxn id="28" idx="0"/>
          </p:cNvCxnSpPr>
          <p:nvPr/>
        </p:nvCxnSpPr>
        <p:spPr>
          <a:xfrm rot="5400000">
            <a:off x="4069493" y="4784695"/>
            <a:ext cx="714380" cy="481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8" name="矩形 37"/>
          <p:cNvSpPr/>
          <p:nvPr/>
        </p:nvSpPr>
        <p:spPr>
          <a:xfrm>
            <a:off x="4786282" y="6285716"/>
            <a:ext cx="377026" cy="323165"/>
          </a:xfrm>
          <a:prstGeom prst="rect">
            <a:avLst/>
          </a:prstGeom>
        </p:spPr>
        <p:txBody>
          <a:bodyPr wrap="none">
            <a:spAutoFit/>
          </a:bodyPr>
          <a:lstStyle/>
          <a:p>
            <a:r>
              <a:rPr lang="zh-TW" altLang="en-US" sz="1500" dirty="0" smtClean="0"/>
              <a:t>否</a:t>
            </a:r>
            <a:endParaRPr lang="zh-TW" altLang="en-US" sz="1500" dirty="0"/>
          </a:p>
        </p:txBody>
      </p:sp>
      <p:cxnSp>
        <p:nvCxnSpPr>
          <p:cNvPr id="41" name="肘形接點 68">
            <a:extLst>
              <a:ext uri="{FF2B5EF4-FFF2-40B4-BE49-F238E27FC236}">
                <a16:creationId xmlns:a16="http://schemas.microsoft.com/office/drawing/2014/main" xmlns="" id="{9E6CCA52-4221-1778-401F-FDD3330EF6DE}"/>
              </a:ext>
            </a:extLst>
          </p:cNvPr>
          <p:cNvCxnSpPr>
            <a:cxnSpLocks/>
            <a:stCxn id="28" idx="3"/>
            <a:endCxn id="57" idx="0"/>
          </p:cNvCxnSpPr>
          <p:nvPr/>
        </p:nvCxnSpPr>
        <p:spPr>
          <a:xfrm>
            <a:off x="5344974" y="5732894"/>
            <a:ext cx="4990178" cy="1722812"/>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5" name="矩形 44"/>
          <p:cNvSpPr/>
          <p:nvPr/>
        </p:nvSpPr>
        <p:spPr>
          <a:xfrm>
            <a:off x="6003904" y="5215732"/>
            <a:ext cx="377026" cy="323165"/>
          </a:xfrm>
          <a:prstGeom prst="rect">
            <a:avLst/>
          </a:prstGeom>
        </p:spPr>
        <p:txBody>
          <a:bodyPr wrap="none">
            <a:spAutoFit/>
          </a:bodyPr>
          <a:lstStyle/>
          <a:p>
            <a:r>
              <a:rPr lang="zh-TW" altLang="en-US" sz="1500" dirty="0" smtClean="0"/>
              <a:t>是</a:t>
            </a:r>
            <a:endParaRPr lang="zh-TW" altLang="en-US" sz="1500" dirty="0"/>
          </a:p>
        </p:txBody>
      </p:sp>
      <p:grpSp>
        <p:nvGrpSpPr>
          <p:cNvPr id="37" name="群組 36"/>
          <p:cNvGrpSpPr/>
          <p:nvPr/>
        </p:nvGrpSpPr>
        <p:grpSpPr>
          <a:xfrm>
            <a:off x="3512917" y="7458890"/>
            <a:ext cx="1810800" cy="1217256"/>
            <a:chOff x="15073354" y="8308668"/>
            <a:chExt cx="1810800" cy="1217256"/>
          </a:xfrm>
        </p:grpSpPr>
        <p:sp>
          <p:nvSpPr>
            <p:cNvPr id="39" name="流程圖: 程序 3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43" name="流程圖: 程序 4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外包庫存移轉過帳</a:t>
              </a:r>
              <a:endParaRPr lang="zh-TW" altLang="en-US" sz="1500" dirty="0">
                <a:latin typeface="微軟正黑體" panose="020B0604030504040204" pitchFamily="34" charset="-120"/>
                <a:ea typeface="微軟正黑體" panose="020B0604030504040204" pitchFamily="34" charset="-120"/>
              </a:endParaRPr>
            </a:p>
          </p:txBody>
        </p:sp>
        <p:sp>
          <p:nvSpPr>
            <p:cNvPr id="44" name="流程圖: 程序 4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46" name="流程圖: 程序 45"/>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7" name="Group 220">
            <a:extLst>
              <a:ext uri="{FF2B5EF4-FFF2-40B4-BE49-F238E27FC236}">
                <a16:creationId xmlns:a16="http://schemas.microsoft.com/office/drawing/2014/main" xmlns="" id="{D6C7B6E0-BB45-5B7D-7ED6-0698A915110F}"/>
              </a:ext>
            </a:extLst>
          </p:cNvPr>
          <p:cNvGrpSpPr/>
          <p:nvPr/>
        </p:nvGrpSpPr>
        <p:grpSpPr>
          <a:xfrm>
            <a:off x="5084553" y="7244576"/>
            <a:ext cx="546285" cy="408605"/>
            <a:chOff x="5906472" y="1486857"/>
            <a:chExt cx="364190" cy="272361"/>
          </a:xfrm>
        </p:grpSpPr>
        <p:sp>
          <p:nvSpPr>
            <p:cNvPr id="197" name="Oval 221">
              <a:extLst>
                <a:ext uri="{FF2B5EF4-FFF2-40B4-BE49-F238E27FC236}">
                  <a16:creationId xmlns:a16="http://schemas.microsoft.com/office/drawing/2014/main" xmlns="" id="{676E1652-D390-B190-C283-C7D4813FDE1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99" name="TextBox 222">
              <a:extLst>
                <a:ext uri="{FF2B5EF4-FFF2-40B4-BE49-F238E27FC236}">
                  <a16:creationId xmlns:a16="http://schemas.microsoft.com/office/drawing/2014/main" xmlns="" id="{BFEF5574-86E0-36CC-7930-C7BCA85FD6EA}"/>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56" name="群組 55"/>
          <p:cNvGrpSpPr/>
          <p:nvPr/>
        </p:nvGrpSpPr>
        <p:grpSpPr>
          <a:xfrm>
            <a:off x="9429752" y="7455706"/>
            <a:ext cx="1810800" cy="1217256"/>
            <a:chOff x="15073354" y="8308668"/>
            <a:chExt cx="1810800" cy="1217256"/>
          </a:xfrm>
        </p:grpSpPr>
        <p:sp>
          <p:nvSpPr>
            <p:cNvPr id="57" name="流程圖: 程序 5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58" name="流程圖: 程序 5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外包商收料</a:t>
              </a:r>
              <a:endParaRPr lang="zh-TW" altLang="en-US" sz="1500" dirty="0">
                <a:latin typeface="微軟正黑體" panose="020B0604030504040204" pitchFamily="34" charset="-120"/>
                <a:ea typeface="微軟正黑體" panose="020B0604030504040204" pitchFamily="34" charset="-120"/>
              </a:endParaRPr>
            </a:p>
          </p:txBody>
        </p:sp>
        <p:sp>
          <p:nvSpPr>
            <p:cNvPr id="61" name="流程圖: 程序 6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62" name="流程圖: 程序 61"/>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3" name="Group 220">
            <a:extLst>
              <a:ext uri="{FF2B5EF4-FFF2-40B4-BE49-F238E27FC236}">
                <a16:creationId xmlns:a16="http://schemas.microsoft.com/office/drawing/2014/main" xmlns="" id="{00946373-F0C7-FE47-0E72-E220EDE0B755}"/>
              </a:ext>
            </a:extLst>
          </p:cNvPr>
          <p:cNvGrpSpPr/>
          <p:nvPr/>
        </p:nvGrpSpPr>
        <p:grpSpPr>
          <a:xfrm>
            <a:off x="11001388" y="7241392"/>
            <a:ext cx="546285" cy="408605"/>
            <a:chOff x="5906472" y="1486857"/>
            <a:chExt cx="364190" cy="272361"/>
          </a:xfrm>
        </p:grpSpPr>
        <p:sp>
          <p:nvSpPr>
            <p:cNvPr id="59" name="Oval 221">
              <a:extLst>
                <a:ext uri="{FF2B5EF4-FFF2-40B4-BE49-F238E27FC236}">
                  <a16:creationId xmlns:a16="http://schemas.microsoft.com/office/drawing/2014/main" xmlns="" id="{2013E8F6-26AA-6E4F-3056-5261BABF019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60" name="TextBox 222">
              <a:extLst>
                <a:ext uri="{FF2B5EF4-FFF2-40B4-BE49-F238E27FC236}">
                  <a16:creationId xmlns:a16="http://schemas.microsoft.com/office/drawing/2014/main" xmlns="" id="{50C83BF0-CCB3-4CB7-D849-D7B24A5E8F3C}"/>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xmlns="" val="34078046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92" name="流程圖: 文件 42">
            <a:extLst>
              <a:ext uri="{FF2B5EF4-FFF2-40B4-BE49-F238E27FC236}">
                <a16:creationId xmlns="" xmlns:a16="http://schemas.microsoft.com/office/drawing/2014/main" id="{8B6C5144-209A-F7D8-A058-F74DB6B9FC90}"/>
              </a:ext>
            </a:extLst>
          </p:cNvPr>
          <p:cNvSpPr/>
          <p:nvPr/>
        </p:nvSpPr>
        <p:spPr bwMode="auto">
          <a:xfrm>
            <a:off x="7715240" y="2859037"/>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eaLnBrk="0" hangingPunct="0"/>
            <a:r>
              <a:rPr lang="zh-TW" altLang="en-US" sz="1500" dirty="0" smtClean="0">
                <a:latin typeface="微軟正黑體" panose="020B0604030504040204" pitchFamily="34" charset="-120"/>
                <a:ea typeface="微軟正黑體" panose="020B0604030504040204" pitchFamily="34" charset="-120"/>
              </a:rPr>
              <a:t>外包退料單</a:t>
            </a:r>
            <a:endParaRPr lang="zh-TW" altLang="en-US" sz="1500" dirty="0">
              <a:latin typeface="微軟正黑體" panose="020B0604030504040204" pitchFamily="34" charset="-120"/>
              <a:ea typeface="微軟正黑體" panose="020B0604030504040204" pitchFamily="34" charset="-120"/>
            </a:endParaRPr>
          </a:p>
        </p:txBody>
      </p:sp>
      <p:sp>
        <p:nvSpPr>
          <p:cNvPr id="4" name="文字方塊 3">
            <a:extLst>
              <a:ext uri="{FF2B5EF4-FFF2-40B4-BE49-F238E27FC236}">
                <a16:creationId xmlns:a16="http://schemas.microsoft.com/office/drawing/2014/main" xmlns="" id="{83E6F622-2FBE-CC67-50FE-4ABD7D8B9696}"/>
              </a:ext>
            </a:extLst>
          </p:cNvPr>
          <p:cNvSpPr txBox="1"/>
          <p:nvPr/>
        </p:nvSpPr>
        <p:spPr>
          <a:xfrm>
            <a:off x="2351316" y="820210"/>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MM-IM-0070</a:t>
            </a:r>
            <a:r>
              <a:rPr kumimoji="0" lang="zh-TW" altLang="en-US" b="1" dirty="0">
                <a:latin typeface="微軟正黑體" panose="020B0604030504040204" pitchFamily="34" charset="-120"/>
                <a:ea typeface="微軟正黑體" panose="020B0604030504040204" pitchFamily="34" charset="-120"/>
              </a:rPr>
              <a:t> 採購外包退料流程</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501586" y="914482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6" y="2064155"/>
            <a:ext cx="3594197" cy="8448467"/>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smtClean="0"/>
              <a:t>未綁銷售訂單的外包，查詢</a:t>
            </a:r>
            <a:r>
              <a:rPr lang="zh-TW" altLang="en-US" dirty="0"/>
              <a:t>外包供應商</a:t>
            </a:r>
            <a:r>
              <a:rPr lang="zh-TW" altLang="en-US" dirty="0" smtClean="0"/>
              <a:t>庫存核對採購單收貨進度， </a:t>
            </a:r>
            <a:r>
              <a:rPr lang="zh-TW" altLang="en-US" dirty="0"/>
              <a:t>進行退料</a:t>
            </a:r>
            <a:r>
              <a:rPr lang="zh-TW" altLang="en-US" dirty="0" smtClean="0"/>
              <a:t>統沒有計 。</a:t>
            </a:r>
            <a:endParaRPr lang="en-US" altLang="zh-TW" dirty="0"/>
          </a:p>
          <a:p>
            <a:pPr marL="342900" indent="-342900">
              <a:buFont typeface="+mj-lt"/>
              <a:buAutoNum type="arabicPeriod"/>
            </a:pPr>
            <a:r>
              <a:rPr lang="zh-TW" altLang="en-US" dirty="0" smtClean="0"/>
              <a:t>外</a:t>
            </a:r>
            <a:r>
              <a:rPr lang="zh-TW" altLang="en-US" dirty="0"/>
              <a:t>包商整理餘料，把多餘的供料退回倉庫。</a:t>
            </a:r>
            <a:endParaRPr lang="en-US" altLang="zh-TW" dirty="0"/>
          </a:p>
          <a:p>
            <a:pPr marL="342900" indent="-342900">
              <a:buFont typeface="+mj-lt"/>
              <a:buAutoNum type="arabicPeriod"/>
            </a:pPr>
            <a:r>
              <a:rPr lang="zh-TW" altLang="en-US" dirty="0" smtClean="0"/>
              <a:t>使用</a:t>
            </a:r>
            <a:r>
              <a:rPr lang="en-US" altLang="zh-TW" dirty="0" smtClean="0"/>
              <a:t>WMS</a:t>
            </a:r>
            <a:r>
              <a:rPr lang="zh-TW" altLang="en-US" dirty="0" smtClean="0"/>
              <a:t>管理的工廠，要按照退料單內容用</a:t>
            </a:r>
            <a:r>
              <a:rPr lang="en-US" altLang="zh-TW" dirty="0" smtClean="0"/>
              <a:t>MB21</a:t>
            </a:r>
            <a:r>
              <a:rPr lang="zh-TW" altLang="en-US" dirty="0" smtClean="0"/>
              <a:t>建立異動類型</a:t>
            </a:r>
            <a:r>
              <a:rPr lang="en-US" altLang="zh-TW" dirty="0" smtClean="0"/>
              <a:t>542</a:t>
            </a:r>
            <a:r>
              <a:rPr lang="zh-TW" altLang="en-US" dirty="0" smtClean="0"/>
              <a:t>預留單，並把供應商代碼填在收貨人欄位上</a:t>
            </a:r>
            <a:endParaRPr lang="en-US" altLang="zh-TW" dirty="0" smtClean="0"/>
          </a:p>
          <a:p>
            <a:pPr marL="342900" indent="-342900">
              <a:buFont typeface="+mj-lt"/>
              <a:buAutoNum type="arabicPeriod"/>
            </a:pPr>
            <a:r>
              <a:rPr lang="zh-TW" altLang="en-US" dirty="0" smtClean="0"/>
              <a:t>透過</a:t>
            </a:r>
            <a:r>
              <a:rPr lang="en-US" altLang="zh-TW" dirty="0" smtClean="0"/>
              <a:t>ZMM087 </a:t>
            </a:r>
            <a:r>
              <a:rPr lang="zh-TW" altLang="en-US" dirty="0" smtClean="0"/>
              <a:t>將預留單內容提供</a:t>
            </a:r>
            <a:r>
              <a:rPr lang="en-US" altLang="zh-TW" dirty="0" smtClean="0"/>
              <a:t>WMS</a:t>
            </a:r>
            <a:r>
              <a:rPr lang="zh-TW" altLang="en-US" dirty="0" smtClean="0"/>
              <a:t>作庫存上</a:t>
            </a:r>
            <a:r>
              <a:rPr lang="zh-TW" altLang="en-US" dirty="0" smtClean="0"/>
              <a:t>架</a:t>
            </a:r>
            <a:endParaRPr lang="en-US" altLang="zh-TW" dirty="0" smtClean="0"/>
          </a:p>
          <a:p>
            <a:pPr marL="342900" indent="-342900">
              <a:buFont typeface="+mj-lt"/>
              <a:buAutoNum type="arabicPeriod"/>
            </a:pPr>
            <a:r>
              <a:rPr lang="zh-TW" altLang="en-US" dirty="0" smtClean="0"/>
              <a:t>上架後由</a:t>
            </a:r>
            <a:r>
              <a:rPr lang="en-US" altLang="zh-TW" dirty="0" smtClean="0"/>
              <a:t>WMS </a:t>
            </a:r>
            <a:r>
              <a:rPr lang="zh-TW" altLang="en-US" dirty="0" smtClean="0"/>
              <a:t>將資料回報</a:t>
            </a:r>
            <a:r>
              <a:rPr lang="en-US" altLang="zh-TW" dirty="0" smtClean="0"/>
              <a:t>SAP</a:t>
            </a:r>
            <a:r>
              <a:rPr lang="zh-TW" altLang="en-US" dirty="0" smtClean="0"/>
              <a:t>，用</a:t>
            </a:r>
            <a:r>
              <a:rPr lang="en-US" altLang="zh-TW" dirty="0" smtClean="0"/>
              <a:t>ZMM088</a:t>
            </a:r>
            <a:r>
              <a:rPr lang="zh-TW" altLang="en-US" dirty="0" smtClean="0"/>
              <a:t>自動作過帳。</a:t>
            </a:r>
            <a:endParaRPr lang="en-US" altLang="zh-TW" dirty="0" smtClean="0"/>
          </a:p>
          <a:p>
            <a:pPr marL="342900" indent="-342900">
              <a:buFont typeface="+mj-lt"/>
              <a:buAutoNum type="arabicPeriod"/>
            </a:pPr>
            <a:r>
              <a:rPr lang="zh-TW" altLang="en-US" dirty="0" smtClean="0"/>
              <a:t>未使用</a:t>
            </a:r>
            <a:r>
              <a:rPr lang="en-US" altLang="zh-TW" dirty="0" smtClean="0"/>
              <a:t>WMS</a:t>
            </a:r>
            <a:r>
              <a:rPr lang="zh-TW" altLang="en-US" dirty="0" smtClean="0"/>
              <a:t>管理的工廠倉</a:t>
            </a:r>
            <a:r>
              <a:rPr lang="zh-TW" altLang="en-US" dirty="0"/>
              <a:t>管人員依據餘料整理的資料執行收貨過帳，執行完畢後則帳戶從外包庫存移回到廠內的</a:t>
            </a:r>
            <a:r>
              <a:rPr lang="zh-TW" altLang="en-US" dirty="0" smtClean="0"/>
              <a:t>倉庫。</a:t>
            </a:r>
            <a:endParaRPr lang="en-US" altLang="zh-TW" dirty="0"/>
          </a:p>
          <a:p>
            <a:pPr marL="342900" indent="-342900">
              <a:buFont typeface="+mj-lt"/>
              <a:buAutoNum type="arabicPeriod"/>
            </a:pPr>
            <a:r>
              <a:rPr lang="zh-TW" altLang="en-US" dirty="0"/>
              <a:t>倉管人員可列印外包退料單，以供存底留證，並給予主管簽核</a:t>
            </a:r>
            <a:r>
              <a:rPr lang="zh-TW" altLang="en-US" dirty="0" smtClean="0"/>
              <a:t>。</a:t>
            </a:r>
            <a:endParaRPr lang="en-US" altLang="zh-TW" dirty="0" smtClean="0"/>
          </a:p>
          <a:p>
            <a:pPr marL="342900" indent="-342900">
              <a:buFont typeface="+mj-lt"/>
              <a:buAutoNum type="arabicPeriod"/>
            </a:pPr>
            <a:r>
              <a:rPr lang="zh-TW" altLang="en-US" dirty="0" smtClean="0"/>
              <a:t>綁銷售訂單的外包採購由於</a:t>
            </a:r>
            <a:r>
              <a:rPr lang="en-US" altLang="zh-TW" dirty="0" smtClean="0"/>
              <a:t>SAP</a:t>
            </a:r>
            <a:r>
              <a:rPr lang="zh-TW" altLang="en-US" dirty="0" smtClean="0"/>
              <a:t>不需作</a:t>
            </a:r>
            <a:r>
              <a:rPr lang="en-US" altLang="zh-TW" dirty="0" smtClean="0"/>
              <a:t>541</a:t>
            </a:r>
            <a:r>
              <a:rPr lang="zh-TW" altLang="en-US" dirty="0" smtClean="0"/>
              <a:t>調料，僅能用</a:t>
            </a:r>
            <a:r>
              <a:rPr lang="en-US" altLang="zh-TW" dirty="0" smtClean="0"/>
              <a:t>MB52</a:t>
            </a:r>
            <a:r>
              <a:rPr lang="zh-TW" altLang="en-US" dirty="0" smtClean="0"/>
              <a:t>查特殊庫存餘額與外包商對</a:t>
            </a:r>
            <a:r>
              <a:rPr lang="zh-TW" altLang="en-US" dirty="0" smtClean="0"/>
              <a:t>帳，通知廠商退回餘料。</a:t>
            </a:r>
            <a:endParaRPr lang="en-US" altLang="zh-TW" dirty="0" smtClean="0"/>
          </a:p>
          <a:p>
            <a:pPr marL="342900" indent="-342900">
              <a:buFont typeface="+mj-lt"/>
              <a:buAutoNum type="arabicPeriod"/>
            </a:pPr>
            <a:r>
              <a:rPr lang="zh-TW" altLang="en-US" dirty="0" smtClean="0"/>
              <a:t>外包商整理餘料，把多餘的供料退回倉庫。</a:t>
            </a:r>
            <a:endParaRPr lang="en-US" altLang="zh-TW" dirty="0" smtClean="0"/>
          </a:p>
          <a:p>
            <a:pPr marL="342900" indent="-342900">
              <a:buFont typeface="+mj-lt"/>
              <a:buAutoNum type="arabicPeriod"/>
            </a:pPr>
            <a:endParaRPr lang="en-US" altLang="zh-TW" dirty="0"/>
          </a:p>
          <a:p>
            <a:endParaRPr lang="en-US" altLang="zh-TW" dirty="0"/>
          </a:p>
          <a:p>
            <a:endParaRPr lang="en-US" altLang="zh-TW" dirty="0"/>
          </a:p>
        </p:txBody>
      </p:sp>
      <p:sp>
        <p:nvSpPr>
          <p:cNvPr id="8" name="文字方塊 17">
            <a:extLst>
              <a:ext uri="{FF2B5EF4-FFF2-40B4-BE49-F238E27FC236}">
                <a16:creationId xmlns:a16="http://schemas.microsoft.com/office/drawing/2014/main" xmlns="" id="{0D65A231-25AF-40B9-DD3C-C82EB5138191}"/>
              </a:ext>
            </a:extLst>
          </p:cNvPr>
          <p:cNvSpPr txBox="1"/>
          <p:nvPr/>
        </p:nvSpPr>
        <p:spPr>
          <a:xfrm>
            <a:off x="4786282" y="1358080"/>
            <a:ext cx="2640231" cy="400110"/>
          </a:xfrm>
          <a:prstGeom prst="rect">
            <a:avLst/>
          </a:prstGeom>
          <a:noFill/>
        </p:spPr>
        <p:txBody>
          <a:bodyPr wrap="square" lIns="137160" tIns="68580" rIns="137160" bIns="68580" rtlCol="0">
            <a:spAutoFit/>
          </a:bodyPr>
          <a:lstStyle/>
          <a:p>
            <a:pPr algn="ctr"/>
            <a:r>
              <a:rPr lang="zh-TW" altLang="en-US" sz="1700" dirty="0"/>
              <a:t>倉管</a:t>
            </a:r>
          </a:p>
        </p:txBody>
      </p:sp>
      <p:cxnSp>
        <p:nvCxnSpPr>
          <p:cNvPr id="254" name="肘形接點 68">
            <a:extLst>
              <a:ext uri="{FF2B5EF4-FFF2-40B4-BE49-F238E27FC236}">
                <a16:creationId xmlns:a16="http://schemas.microsoft.com/office/drawing/2014/main" xmlns="" id="{0132C4C6-69C8-6533-D5BD-C44365B2A101}"/>
              </a:ext>
            </a:extLst>
          </p:cNvPr>
          <p:cNvCxnSpPr>
            <a:cxnSpLocks/>
            <a:stCxn id="90" idx="3"/>
          </p:cNvCxnSpPr>
          <p:nvPr/>
        </p:nvCxnSpPr>
        <p:spPr>
          <a:xfrm>
            <a:off x="4596818" y="2478069"/>
            <a:ext cx="1618224" cy="3806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 name="流程圖: 結束點 8">
            <a:extLst>
              <a:ext uri="{FF2B5EF4-FFF2-40B4-BE49-F238E27FC236}">
                <a16:creationId xmlns:a16="http://schemas.microsoft.com/office/drawing/2014/main" xmlns="" id="{BCC06FCB-E019-6CEB-9BB3-83A461B19D1E}"/>
              </a:ext>
            </a:extLst>
          </p:cNvPr>
          <p:cNvSpPr/>
          <p:nvPr/>
        </p:nvSpPr>
        <p:spPr bwMode="auto">
          <a:xfrm>
            <a:off x="239650" y="2215336"/>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sp>
        <p:nvSpPr>
          <p:cNvPr id="242" name="文字方塊 17">
            <a:extLst>
              <a:ext uri="{FF2B5EF4-FFF2-40B4-BE49-F238E27FC236}">
                <a16:creationId xmlns:a16="http://schemas.microsoft.com/office/drawing/2014/main" xmlns="" id="{A0466813-45A7-D50C-EDEA-0A03D8FF0E95}"/>
              </a:ext>
            </a:extLst>
          </p:cNvPr>
          <p:cNvSpPr txBox="1"/>
          <p:nvPr/>
        </p:nvSpPr>
        <p:spPr>
          <a:xfrm>
            <a:off x="9975537" y="1381204"/>
            <a:ext cx="1610187" cy="400110"/>
          </a:xfrm>
          <a:prstGeom prst="rect">
            <a:avLst/>
          </a:prstGeom>
          <a:noFill/>
        </p:spPr>
        <p:txBody>
          <a:bodyPr wrap="square" lIns="137160" tIns="68580" rIns="137160" bIns="68580" rtlCol="0">
            <a:spAutoFit/>
          </a:bodyPr>
          <a:lstStyle/>
          <a:p>
            <a:pPr algn="ctr"/>
            <a:r>
              <a:rPr lang="zh-TW" altLang="en-US" sz="1700" dirty="0"/>
              <a:t>倉管主管</a:t>
            </a:r>
          </a:p>
        </p:txBody>
      </p:sp>
      <p:cxnSp>
        <p:nvCxnSpPr>
          <p:cNvPr id="243" name="Straight Connector 284">
            <a:extLst>
              <a:ext uri="{FF2B5EF4-FFF2-40B4-BE49-F238E27FC236}">
                <a16:creationId xmlns:a16="http://schemas.microsoft.com/office/drawing/2014/main" xmlns="" id="{B3D2320B-667C-E557-B932-7BD632148025}"/>
              </a:ext>
            </a:extLst>
          </p:cNvPr>
          <p:cNvCxnSpPr>
            <a:cxnSpLocks/>
          </p:cNvCxnSpPr>
          <p:nvPr/>
        </p:nvCxnSpPr>
        <p:spPr>
          <a:xfrm>
            <a:off x="9577319" y="1401520"/>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肘形接點 68">
            <a:extLst>
              <a:ext uri="{FF2B5EF4-FFF2-40B4-BE49-F238E27FC236}">
                <a16:creationId xmlns:a16="http://schemas.microsoft.com/office/drawing/2014/main" xmlns="" id="{306EA881-7545-4324-CD89-56933140AA5C}"/>
              </a:ext>
            </a:extLst>
          </p:cNvPr>
          <p:cNvCxnSpPr>
            <a:cxnSpLocks/>
            <a:endCxn id="62" idx="0"/>
          </p:cNvCxnSpPr>
          <p:nvPr/>
        </p:nvCxnSpPr>
        <p:spPr>
          <a:xfrm rot="16200000" flipH="1">
            <a:off x="6884755" y="3124977"/>
            <a:ext cx="428628" cy="3810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1" name="表格 30">
            <a:extLst>
              <a:ext uri="{FF2B5EF4-FFF2-40B4-BE49-F238E27FC236}">
                <a16:creationId xmlns:a16="http://schemas.microsoft.com/office/drawing/2014/main" xmlns="" id="{5D77122F-39C4-CED3-A281-B235735108BF}"/>
              </a:ext>
            </a:extLst>
          </p:cNvPr>
          <p:cNvGraphicFramePr>
            <a:graphicFrameLocks noGrp="1"/>
          </p:cNvGraphicFramePr>
          <p:nvPr>
            <p:extLst>
              <p:ext uri="{D42A27DB-BD31-4B8C-83A1-F6EECF244321}">
                <p14:modId xmlns:p14="http://schemas.microsoft.com/office/powerpoint/2010/main" xmlns="" val="2607186341"/>
              </p:ext>
            </p:extLst>
          </p:nvPr>
        </p:nvGraphicFramePr>
        <p:xfrm>
          <a:off x="6215042" y="1927206"/>
          <a:ext cx="1797828" cy="1238520"/>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smtClean="0">
                          <a:latin typeface="微軟正黑體" panose="020B0604030504040204" pitchFamily="34" charset="-120"/>
                          <a:ea typeface="微軟正黑體" panose="020B0604030504040204" pitchFamily="34" charset="-120"/>
                        </a:rPr>
                        <a:t>外包商整理餘料退回</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5" name="Group 220">
            <a:extLst>
              <a:ext uri="{FF2B5EF4-FFF2-40B4-BE49-F238E27FC236}">
                <a16:creationId xmlns:a16="http://schemas.microsoft.com/office/drawing/2014/main" xmlns="" id="{ADD1546F-75A2-0E22-F66E-32DFDB0DE746}"/>
              </a:ext>
            </a:extLst>
          </p:cNvPr>
          <p:cNvGrpSpPr/>
          <p:nvPr/>
        </p:nvGrpSpPr>
        <p:grpSpPr>
          <a:xfrm>
            <a:off x="7864453" y="1716029"/>
            <a:ext cx="533400" cy="415825"/>
            <a:chOff x="5906184" y="1486857"/>
            <a:chExt cx="355600"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06184" y="1507079"/>
              <a:ext cx="355600" cy="21167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52" name="肘形接點 68">
            <a:extLst>
              <a:ext uri="{FF2B5EF4-FFF2-40B4-BE49-F238E27FC236}">
                <a16:creationId xmlns:a16="http://schemas.microsoft.com/office/drawing/2014/main" xmlns="" id="{FD227D55-83E0-4296-933D-FB82711CD102}"/>
              </a:ext>
            </a:extLst>
          </p:cNvPr>
          <p:cNvCxnSpPr>
            <a:cxnSpLocks/>
            <a:stCxn id="103" idx="3"/>
          </p:cNvCxnSpPr>
          <p:nvPr/>
        </p:nvCxnSpPr>
        <p:spPr>
          <a:xfrm>
            <a:off x="9133445" y="5037137"/>
            <a:ext cx="796373" cy="3571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8" name="流程圖: 文件 42">
            <a:extLst>
              <a:ext uri="{FF2B5EF4-FFF2-40B4-BE49-F238E27FC236}">
                <a16:creationId xmlns:a16="http://schemas.microsoft.com/office/drawing/2014/main" xmlns="" id="{AF6E1A1E-A700-C483-D4E6-09248E3C5B4A}"/>
              </a:ext>
            </a:extLst>
          </p:cNvPr>
          <p:cNvSpPr/>
          <p:nvPr/>
        </p:nvSpPr>
        <p:spPr bwMode="auto">
          <a:xfrm>
            <a:off x="10644198" y="8501880"/>
            <a:ext cx="1841949" cy="88253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外包退料單</a:t>
            </a:r>
          </a:p>
        </p:txBody>
      </p:sp>
      <p:sp>
        <p:nvSpPr>
          <p:cNvPr id="6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3</a:t>
            </a:r>
            <a:endParaRPr lang="en-US" sz="1600" b="0" strike="noStrike" spc="-1" dirty="0">
              <a:solidFill>
                <a:srgbClr val="000000"/>
              </a:solidFill>
              <a:latin typeface="Calibri"/>
            </a:endParaRPr>
          </a:p>
        </p:txBody>
      </p:sp>
      <p:sp>
        <p:nvSpPr>
          <p:cNvPr id="62" name="流程圖: 決策 50">
            <a:extLst>
              <a:ext uri="{FF2B5EF4-FFF2-40B4-BE49-F238E27FC236}">
                <a16:creationId xmlns:a16="http://schemas.microsoft.com/office/drawing/2014/main" xmlns="" id="{4EA171CC-B010-0CC0-69A0-6ED80D9C749E}"/>
              </a:ext>
            </a:extLst>
          </p:cNvPr>
          <p:cNvSpPr/>
          <p:nvPr/>
        </p:nvSpPr>
        <p:spPr bwMode="auto">
          <a:xfrm>
            <a:off x="6197147" y="3358344"/>
            <a:ext cx="1841949" cy="92869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sp>
        <p:nvSpPr>
          <p:cNvPr id="63" name="流程圖: 預設處理作業 21">
            <a:extLst>
              <a:ext uri="{FF2B5EF4-FFF2-40B4-BE49-F238E27FC236}">
                <a16:creationId xmlns:a16="http://schemas.microsoft.com/office/drawing/2014/main" xmlns="" id="{53022EF8-527A-8C43-DD11-1BD6DAFF82CC}"/>
              </a:ext>
            </a:extLst>
          </p:cNvPr>
          <p:cNvSpPr/>
          <p:nvPr/>
        </p:nvSpPr>
        <p:spPr bwMode="auto">
          <a:xfrm>
            <a:off x="12215834" y="4408910"/>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64" name="肘形接點 68">
            <a:extLst>
              <a:ext uri="{FF2B5EF4-FFF2-40B4-BE49-F238E27FC236}">
                <a16:creationId xmlns:a16="http://schemas.microsoft.com/office/drawing/2014/main" xmlns="" id="{8EC2694F-BA7B-198D-1722-1166E897D263}"/>
              </a:ext>
            </a:extLst>
          </p:cNvPr>
          <p:cNvCxnSpPr>
            <a:cxnSpLocks/>
            <a:stCxn id="62" idx="3"/>
            <a:endCxn id="102" idx="0"/>
          </p:cNvCxnSpPr>
          <p:nvPr/>
        </p:nvCxnSpPr>
        <p:spPr>
          <a:xfrm>
            <a:off x="8039096" y="3822691"/>
            <a:ext cx="188949" cy="60722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5" name="肘形接點 68">
            <a:extLst>
              <a:ext uri="{FF2B5EF4-FFF2-40B4-BE49-F238E27FC236}">
                <a16:creationId xmlns:a16="http://schemas.microsoft.com/office/drawing/2014/main" xmlns="" id="{8CEC191B-2EE1-50FA-CFCD-61C3D42FF984}"/>
              </a:ext>
            </a:extLst>
          </p:cNvPr>
          <p:cNvCxnSpPr>
            <a:cxnSpLocks/>
            <a:stCxn id="62" idx="1"/>
            <a:endCxn id="99" idx="0"/>
          </p:cNvCxnSpPr>
          <p:nvPr/>
        </p:nvCxnSpPr>
        <p:spPr>
          <a:xfrm rot="10800000" flipV="1">
            <a:off x="5691683" y="3822690"/>
            <a:ext cx="505465" cy="189310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6" name="TextBox 46">
            <a:extLst>
              <a:ext uri="{FF2B5EF4-FFF2-40B4-BE49-F238E27FC236}">
                <a16:creationId xmlns:a16="http://schemas.microsoft.com/office/drawing/2014/main" xmlns="" id="{593F8D1D-C680-DCAA-409F-E45731F648AF}"/>
              </a:ext>
            </a:extLst>
          </p:cNvPr>
          <p:cNvSpPr txBox="1"/>
          <p:nvPr/>
        </p:nvSpPr>
        <p:spPr>
          <a:xfrm>
            <a:off x="6054271" y="4430673"/>
            <a:ext cx="404262" cy="369332"/>
          </a:xfrm>
          <a:prstGeom prst="rect">
            <a:avLst/>
          </a:prstGeom>
          <a:noFill/>
        </p:spPr>
        <p:txBody>
          <a:bodyPr wrap="square" lIns="137160" tIns="68580" rIns="137160" bIns="68580" rtlCol="0">
            <a:spAutoFit/>
          </a:bodyPr>
          <a:lstStyle/>
          <a:p>
            <a:r>
              <a:rPr lang="zh-TW" altLang="en-US" sz="1500" dirty="0" smtClean="0"/>
              <a:t>否</a:t>
            </a:r>
            <a:endParaRPr lang="zh-TW" altLang="en-US" sz="1500" dirty="0"/>
          </a:p>
        </p:txBody>
      </p:sp>
      <p:sp>
        <p:nvSpPr>
          <p:cNvPr id="67" name="TextBox 46">
            <a:extLst>
              <a:ext uri="{FF2B5EF4-FFF2-40B4-BE49-F238E27FC236}">
                <a16:creationId xmlns:a16="http://schemas.microsoft.com/office/drawing/2014/main" xmlns="" id="{F541A8B3-35B4-8CB3-4616-C2FC59395EC1}"/>
              </a:ext>
            </a:extLst>
          </p:cNvPr>
          <p:cNvSpPr txBox="1"/>
          <p:nvPr/>
        </p:nvSpPr>
        <p:spPr>
          <a:xfrm>
            <a:off x="8239672" y="4001286"/>
            <a:ext cx="404262" cy="369332"/>
          </a:xfrm>
          <a:prstGeom prst="rect">
            <a:avLst/>
          </a:prstGeom>
          <a:noFill/>
        </p:spPr>
        <p:txBody>
          <a:bodyPr wrap="square" lIns="137160" tIns="68580" rIns="137160" bIns="68580" rtlCol="0">
            <a:spAutoFit/>
          </a:bodyPr>
          <a:lstStyle/>
          <a:p>
            <a:r>
              <a:rPr lang="zh-TW" altLang="en-US" sz="1500" dirty="0" smtClean="0"/>
              <a:t>是</a:t>
            </a:r>
            <a:endParaRPr lang="zh-TW" altLang="en-US" sz="1500" dirty="0"/>
          </a:p>
        </p:txBody>
      </p:sp>
      <p:cxnSp>
        <p:nvCxnSpPr>
          <p:cNvPr id="113" name="肘形接點 68">
            <a:extLst>
              <a:ext uri="{FF2B5EF4-FFF2-40B4-BE49-F238E27FC236}">
                <a16:creationId xmlns:a16="http://schemas.microsoft.com/office/drawing/2014/main" xmlns="" id="{8CEC191B-2EE1-50FA-CFCD-61C3D42FF984}"/>
              </a:ext>
            </a:extLst>
          </p:cNvPr>
          <p:cNvCxnSpPr>
            <a:cxnSpLocks/>
            <a:endCxn id="63" idx="1"/>
          </p:cNvCxnSpPr>
          <p:nvPr/>
        </p:nvCxnSpPr>
        <p:spPr>
          <a:xfrm>
            <a:off x="11787206" y="5001418"/>
            <a:ext cx="428628" cy="267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16" name="肘形接點 68">
            <a:extLst>
              <a:ext uri="{FF2B5EF4-FFF2-40B4-BE49-F238E27FC236}">
                <a16:creationId xmlns:a16="http://schemas.microsoft.com/office/drawing/2014/main" xmlns="" id="{8CEC191B-2EE1-50FA-CFCD-61C3D42FF984}"/>
              </a:ext>
            </a:extLst>
          </p:cNvPr>
          <p:cNvCxnSpPr>
            <a:cxnSpLocks/>
            <a:stCxn id="63" idx="2"/>
          </p:cNvCxnSpPr>
          <p:nvPr/>
        </p:nvCxnSpPr>
        <p:spPr>
          <a:xfrm rot="5400000">
            <a:off x="12041385" y="5393324"/>
            <a:ext cx="826828" cy="133518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41" name="表格 30">
            <a:extLst>
              <a:ext uri="{FF2B5EF4-FFF2-40B4-BE49-F238E27FC236}">
                <a16:creationId xmlns:a16="http://schemas.microsoft.com/office/drawing/2014/main" xmlns="" id="{5AF74806-5BBD-2C58-F111-F47AE3B89902}"/>
              </a:ext>
            </a:extLst>
          </p:cNvPr>
          <p:cNvGraphicFramePr>
            <a:graphicFrameLocks noGrp="1"/>
          </p:cNvGraphicFramePr>
          <p:nvPr>
            <p:extLst>
              <p:ext uri="{D42A27DB-BD31-4B8C-83A1-F6EECF244321}">
                <p14:modId xmlns:p14="http://schemas.microsoft.com/office/powerpoint/2010/main" xmlns="" val="2337581266"/>
              </p:ext>
            </p:extLst>
          </p:nvPr>
        </p:nvGraphicFramePr>
        <p:xfrm>
          <a:off x="9929818" y="4501352"/>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142" name="表格 30">
            <a:extLst>
              <a:ext uri="{FF2B5EF4-FFF2-40B4-BE49-F238E27FC236}">
                <a16:creationId xmlns:a16="http://schemas.microsoft.com/office/drawing/2014/main" xmlns="" id="{42183012-7054-C4F1-6FD5-4E326DD123DB}"/>
              </a:ext>
            </a:extLst>
          </p:cNvPr>
          <p:cNvGraphicFramePr>
            <a:graphicFrameLocks noGrp="1"/>
          </p:cNvGraphicFramePr>
          <p:nvPr>
            <p:extLst>
              <p:ext uri="{D42A27DB-BD31-4B8C-83A1-F6EECF244321}">
                <p14:modId xmlns:p14="http://schemas.microsoft.com/office/powerpoint/2010/main" xmlns="" val="4109212733"/>
              </p:ext>
            </p:extLst>
          </p:nvPr>
        </p:nvGraphicFramePr>
        <p:xfrm>
          <a:off x="9929818" y="5905967"/>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85" name="肘形接點 184"/>
          <p:cNvCxnSpPr>
            <a:stCxn id="100" idx="3"/>
            <a:endCxn id="125" idx="1"/>
          </p:cNvCxnSpPr>
          <p:nvPr/>
        </p:nvCxnSpPr>
        <p:spPr>
          <a:xfrm>
            <a:off x="6597082" y="6323021"/>
            <a:ext cx="3189860" cy="1714512"/>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0" name="肘形接點 209"/>
          <p:cNvCxnSpPr>
            <a:stCxn id="125" idx="3"/>
            <a:endCxn id="25" idx="0"/>
          </p:cNvCxnSpPr>
          <p:nvPr/>
        </p:nvCxnSpPr>
        <p:spPr>
          <a:xfrm>
            <a:off x="11597742" y="8037533"/>
            <a:ext cx="1802760" cy="110728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2" name="流程圖: 文件 42">
            <a:extLst>
              <a:ext uri="{FF2B5EF4-FFF2-40B4-BE49-F238E27FC236}">
                <a16:creationId xmlns="" xmlns:a16="http://schemas.microsoft.com/office/drawing/2014/main" id="{8B6C5144-209A-F7D8-A058-F74DB6B9FC90}"/>
              </a:ext>
            </a:extLst>
          </p:cNvPr>
          <p:cNvSpPr/>
          <p:nvPr/>
        </p:nvSpPr>
        <p:spPr bwMode="auto">
          <a:xfrm>
            <a:off x="4154018" y="2946038"/>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eaLnBrk="0" hangingPunct="0"/>
            <a:r>
              <a:rPr lang="zh-TW" altLang="en-US" sz="1500" dirty="0" smtClean="0">
                <a:latin typeface="微軟正黑體" panose="020B0604030504040204" pitchFamily="34" charset="-120"/>
                <a:ea typeface="微軟正黑體" panose="020B0604030504040204" pitchFamily="34" charset="-120"/>
              </a:rPr>
              <a:t>外包退料單</a:t>
            </a:r>
            <a:endParaRPr lang="zh-TW" altLang="en-US" sz="1500" dirty="0">
              <a:latin typeface="微軟正黑體" panose="020B0604030504040204" pitchFamily="34" charset="-120"/>
              <a:ea typeface="微軟正黑體" panose="020B0604030504040204" pitchFamily="34" charset="-120"/>
            </a:endParaRPr>
          </a:p>
        </p:txBody>
      </p:sp>
      <p:sp>
        <p:nvSpPr>
          <p:cNvPr id="71" name="流程圖: 決策 50"/>
          <p:cNvSpPr/>
          <p:nvPr/>
        </p:nvSpPr>
        <p:spPr>
          <a:xfrm>
            <a:off x="214250" y="3715534"/>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altLang="en-US" sz="1500" b="0" strike="noStrike" spc="-1" dirty="0" smtClean="0">
                <a:solidFill>
                  <a:srgbClr val="000000"/>
                </a:solidFill>
                <a:latin typeface="Calibri"/>
              </a:rPr>
              <a:t>委外採購單</a:t>
            </a:r>
            <a:endParaRPr lang="en-US" altLang="zh-TW" sz="1500" b="0" strike="noStrike" spc="-1" dirty="0" smtClean="0">
              <a:solidFill>
                <a:srgbClr val="000000"/>
              </a:solidFill>
              <a:latin typeface="Calibri"/>
            </a:endParaRPr>
          </a:p>
          <a:p>
            <a:pPr algn="ctr" defTabSz="457200">
              <a:lnSpc>
                <a:spcPct val="100000"/>
              </a:lnSpc>
            </a:pPr>
            <a:r>
              <a:rPr lang="zh-TW" altLang="en-US" sz="1500" b="0" strike="noStrike" spc="-1" dirty="0" smtClean="0">
                <a:solidFill>
                  <a:srgbClr val="000000"/>
                </a:solidFill>
                <a:latin typeface="Calibri"/>
              </a:rPr>
              <a:t>綁銷售訂庫存</a:t>
            </a:r>
            <a:endParaRPr lang="en-US" sz="1500" b="0" strike="noStrike" spc="-1" dirty="0">
              <a:solidFill>
                <a:srgbClr val="000000"/>
              </a:solidFill>
              <a:latin typeface="Calibri"/>
            </a:endParaRPr>
          </a:p>
        </p:txBody>
      </p:sp>
      <p:sp>
        <p:nvSpPr>
          <p:cNvPr id="72" name="矩形 71"/>
          <p:cNvSpPr/>
          <p:nvPr/>
        </p:nvSpPr>
        <p:spPr>
          <a:xfrm>
            <a:off x="1857324" y="3644096"/>
            <a:ext cx="571504" cy="369332"/>
          </a:xfrm>
          <a:prstGeom prst="rect">
            <a:avLst/>
          </a:prstGeom>
        </p:spPr>
        <p:txBody>
          <a:bodyPr wrap="square">
            <a:spAutoFit/>
          </a:bodyPr>
          <a:lstStyle/>
          <a:p>
            <a:r>
              <a:rPr lang="zh-TW" altLang="en-US" dirty="0" smtClean="0"/>
              <a:t>否</a:t>
            </a:r>
            <a:endParaRPr lang="zh-TW" altLang="en-US" dirty="0"/>
          </a:p>
        </p:txBody>
      </p:sp>
      <p:sp>
        <p:nvSpPr>
          <p:cNvPr id="73" name="矩形 72"/>
          <p:cNvSpPr/>
          <p:nvPr/>
        </p:nvSpPr>
        <p:spPr>
          <a:xfrm>
            <a:off x="2428828" y="6216623"/>
            <a:ext cx="415498" cy="369332"/>
          </a:xfrm>
          <a:prstGeom prst="rect">
            <a:avLst/>
          </a:prstGeom>
        </p:spPr>
        <p:txBody>
          <a:bodyPr wrap="none">
            <a:spAutoFit/>
          </a:bodyPr>
          <a:lstStyle/>
          <a:p>
            <a:r>
              <a:rPr lang="zh-TW" altLang="en-US" dirty="0" smtClean="0"/>
              <a:t>是</a:t>
            </a:r>
            <a:endParaRPr lang="zh-TW" altLang="en-US" dirty="0"/>
          </a:p>
        </p:txBody>
      </p:sp>
      <p:cxnSp>
        <p:nvCxnSpPr>
          <p:cNvPr id="75" name="肘形接點 68">
            <a:extLst>
              <a:ext uri="{FF2B5EF4-FFF2-40B4-BE49-F238E27FC236}">
                <a16:creationId xmlns:a16="http://schemas.microsoft.com/office/drawing/2014/main" xmlns="" id="{8CEC191B-2EE1-50FA-CFCD-61C3D42FF984}"/>
              </a:ext>
            </a:extLst>
          </p:cNvPr>
          <p:cNvCxnSpPr>
            <a:cxnSpLocks/>
            <a:stCxn id="3" idx="2"/>
            <a:endCxn id="71" idx="0"/>
          </p:cNvCxnSpPr>
          <p:nvPr/>
        </p:nvCxnSpPr>
        <p:spPr>
          <a:xfrm rot="5400000">
            <a:off x="777941" y="3354909"/>
            <a:ext cx="717634" cy="361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5" name="肘形接點 68">
            <a:extLst>
              <a:ext uri="{FF2B5EF4-FFF2-40B4-BE49-F238E27FC236}">
                <a16:creationId xmlns:a16="http://schemas.microsoft.com/office/drawing/2014/main" xmlns="" id="{8CEC191B-2EE1-50FA-CFCD-61C3D42FF984}"/>
              </a:ext>
            </a:extLst>
          </p:cNvPr>
          <p:cNvCxnSpPr>
            <a:cxnSpLocks/>
            <a:stCxn id="71" idx="2"/>
            <a:endCxn id="110" idx="0"/>
          </p:cNvCxnSpPr>
          <p:nvPr/>
        </p:nvCxnSpPr>
        <p:spPr>
          <a:xfrm rot="16200000" flipH="1">
            <a:off x="965801" y="5061883"/>
            <a:ext cx="2609014" cy="227071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8" name="肘形接點 68">
            <a:extLst>
              <a:ext uri="{FF2B5EF4-FFF2-40B4-BE49-F238E27FC236}">
                <a16:creationId xmlns:a16="http://schemas.microsoft.com/office/drawing/2014/main" xmlns="" id="{0132C4C6-69C8-6533-D5BD-C44365B2A101}"/>
              </a:ext>
            </a:extLst>
          </p:cNvPr>
          <p:cNvCxnSpPr>
            <a:cxnSpLocks/>
          </p:cNvCxnSpPr>
          <p:nvPr/>
        </p:nvCxnSpPr>
        <p:spPr>
          <a:xfrm>
            <a:off x="4214778" y="8216128"/>
            <a:ext cx="1551155" cy="89453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9" name="肘形接點 68">
            <a:extLst>
              <a:ext uri="{FF2B5EF4-FFF2-40B4-BE49-F238E27FC236}">
                <a16:creationId xmlns:a16="http://schemas.microsoft.com/office/drawing/2014/main" xmlns="" id="{306EA881-7545-4324-CD89-56933140AA5C}"/>
              </a:ext>
            </a:extLst>
          </p:cNvPr>
          <p:cNvCxnSpPr>
            <a:cxnSpLocks/>
            <a:endCxn id="125" idx="1"/>
          </p:cNvCxnSpPr>
          <p:nvPr/>
        </p:nvCxnSpPr>
        <p:spPr>
          <a:xfrm flipV="1">
            <a:off x="7572364" y="8037533"/>
            <a:ext cx="2214578" cy="103585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95" name="表格 94">
            <a:extLst>
              <a:ext uri="{FF2B5EF4-FFF2-40B4-BE49-F238E27FC236}">
                <a16:creationId xmlns:a16="http://schemas.microsoft.com/office/drawing/2014/main" xmlns="" id="{5D77122F-39C4-CED3-A281-B235735108BF}"/>
              </a:ext>
            </a:extLst>
          </p:cNvPr>
          <p:cNvGraphicFramePr>
            <a:graphicFrameLocks noGrp="1"/>
          </p:cNvGraphicFramePr>
          <p:nvPr>
            <p:extLst>
              <p:ext uri="{D42A27DB-BD31-4B8C-83A1-F6EECF244321}">
                <p14:modId xmlns:p14="http://schemas.microsoft.com/office/powerpoint/2010/main" xmlns="" val="2607186341"/>
              </p:ext>
            </p:extLst>
          </p:nvPr>
        </p:nvGraphicFramePr>
        <p:xfrm>
          <a:off x="5765933" y="8534430"/>
          <a:ext cx="1797828" cy="1238520"/>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smtClean="0">
                          <a:latin typeface="微軟正黑體" panose="020B0604030504040204" pitchFamily="34" charset="-120"/>
                          <a:ea typeface="微軟正黑體" panose="020B0604030504040204" pitchFamily="34" charset="-120"/>
                        </a:rPr>
                        <a:t>外包商整理餘料退回</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09" name="肘形接點 68">
            <a:extLst>
              <a:ext uri="{FF2B5EF4-FFF2-40B4-BE49-F238E27FC236}">
                <a16:creationId xmlns:a16="http://schemas.microsoft.com/office/drawing/2014/main" xmlns="" id="{8CEC191B-2EE1-50FA-CFCD-61C3D42FF984}"/>
              </a:ext>
            </a:extLst>
          </p:cNvPr>
          <p:cNvCxnSpPr>
            <a:cxnSpLocks/>
            <a:stCxn id="71" idx="3"/>
            <a:endCxn id="90" idx="1"/>
          </p:cNvCxnSpPr>
          <p:nvPr/>
        </p:nvCxnSpPr>
        <p:spPr>
          <a:xfrm flipV="1">
            <a:off x="2055650" y="2478069"/>
            <a:ext cx="730368" cy="182606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9" name="流程圖: 文件 42">
            <a:extLst>
              <a:ext uri="{FF2B5EF4-FFF2-40B4-BE49-F238E27FC236}">
                <a16:creationId xmlns="" xmlns:a16="http://schemas.microsoft.com/office/drawing/2014/main" id="{8B6C5144-209A-F7D8-A058-F74DB6B9FC90}"/>
              </a:ext>
            </a:extLst>
          </p:cNvPr>
          <p:cNvSpPr/>
          <p:nvPr/>
        </p:nvSpPr>
        <p:spPr bwMode="auto">
          <a:xfrm>
            <a:off x="3071770" y="8716194"/>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eaLnBrk="0" hangingPunct="0"/>
            <a:r>
              <a:rPr lang="zh-TW" altLang="en-US" sz="1500" dirty="0" smtClean="0">
                <a:latin typeface="微軟正黑體" panose="020B0604030504040204" pitchFamily="34" charset="-120"/>
                <a:ea typeface="微軟正黑體" panose="020B0604030504040204" pitchFamily="34" charset="-120"/>
              </a:rPr>
              <a:t>外包退料單</a:t>
            </a:r>
            <a:endParaRPr lang="zh-TW" altLang="en-US" sz="1500" dirty="0">
              <a:latin typeface="微軟正黑體" panose="020B0604030504040204" pitchFamily="34" charset="-120"/>
              <a:ea typeface="微軟正黑體" panose="020B0604030504040204" pitchFamily="34" charset="-120"/>
            </a:endParaRPr>
          </a:p>
        </p:txBody>
      </p:sp>
      <p:grpSp>
        <p:nvGrpSpPr>
          <p:cNvPr id="86" name="群組 85"/>
          <p:cNvGrpSpPr/>
          <p:nvPr/>
        </p:nvGrpSpPr>
        <p:grpSpPr>
          <a:xfrm>
            <a:off x="2786018" y="1870846"/>
            <a:ext cx="1810800" cy="1217256"/>
            <a:chOff x="15073354" y="8308668"/>
            <a:chExt cx="1810800" cy="1217256"/>
          </a:xfrm>
        </p:grpSpPr>
        <p:sp>
          <p:nvSpPr>
            <p:cNvPr id="87" name="流程圖: 程序 8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MBLB/MB52</a:t>
              </a:r>
              <a:endParaRPr lang="en-GB" sz="1500" b="1" dirty="0">
                <a:latin typeface="微軟正黑體" panose="020B0604030504040204" pitchFamily="34" charset="-120"/>
                <a:ea typeface="微軟正黑體" panose="020B0604030504040204" pitchFamily="34" charset="-120"/>
              </a:endParaRPr>
            </a:p>
          </p:txBody>
        </p:sp>
        <p:sp>
          <p:nvSpPr>
            <p:cNvPr id="90" name="流程圖: 程序 8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查詢外包庫存</a:t>
              </a:r>
              <a:endParaRPr lang="zh-TW" altLang="en-US" sz="1500" dirty="0">
                <a:latin typeface="微軟正黑體" panose="020B0604030504040204" pitchFamily="34" charset="-120"/>
                <a:ea typeface="微軟正黑體" panose="020B0604030504040204" pitchFamily="34" charset="-120"/>
              </a:endParaRPr>
            </a:p>
          </p:txBody>
        </p:sp>
        <p:sp>
          <p:nvSpPr>
            <p:cNvPr id="91" name="流程圖: 程序 9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3" name="流程圖: 程序 92"/>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0" name="Group 220">
            <a:extLst>
              <a:ext uri="{FF2B5EF4-FFF2-40B4-BE49-F238E27FC236}">
                <a16:creationId xmlns:a16="http://schemas.microsoft.com/office/drawing/2014/main" xmlns="" id="{8F9100A8-C49B-4A69-8C8C-1F7583CA5532}"/>
              </a:ext>
            </a:extLst>
          </p:cNvPr>
          <p:cNvGrpSpPr/>
          <p:nvPr/>
        </p:nvGrpSpPr>
        <p:grpSpPr>
          <a:xfrm>
            <a:off x="4357654" y="1643832"/>
            <a:ext cx="533400" cy="415825"/>
            <a:chOff x="5906184" y="1486857"/>
            <a:chExt cx="355600"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06184" y="1507079"/>
              <a:ext cx="355600" cy="21167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01" name="群組 100"/>
          <p:cNvGrpSpPr/>
          <p:nvPr/>
        </p:nvGrpSpPr>
        <p:grpSpPr>
          <a:xfrm>
            <a:off x="7322645" y="4429914"/>
            <a:ext cx="1821355" cy="1217256"/>
            <a:chOff x="15073354" y="8308668"/>
            <a:chExt cx="1821355" cy="1217256"/>
          </a:xfrm>
        </p:grpSpPr>
        <p:sp>
          <p:nvSpPr>
            <p:cNvPr id="102" name="流程圖: 程序 10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MB21</a:t>
              </a:r>
              <a:endParaRPr lang="en-GB" sz="1500" b="1" dirty="0">
                <a:latin typeface="微軟正黑體" panose="020B0604030504040204" pitchFamily="34" charset="-120"/>
                <a:ea typeface="微軟正黑體" panose="020B0604030504040204" pitchFamily="34" charset="-120"/>
              </a:endParaRPr>
            </a:p>
          </p:txBody>
        </p:sp>
        <p:sp>
          <p:nvSpPr>
            <p:cNvPr id="103" name="流程圖: 程序 10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建立</a:t>
              </a:r>
              <a:r>
                <a:rPr lang="en-US" altLang="zh-TW" sz="1500" dirty="0" smtClean="0">
                  <a:latin typeface="微軟正黑體" panose="020B0604030504040204" pitchFamily="34" charset="-120"/>
                  <a:ea typeface="微軟正黑體" panose="020B0604030504040204" pitchFamily="34" charset="-120"/>
                </a:rPr>
                <a:t>542</a:t>
              </a:r>
              <a:r>
                <a:rPr lang="zh-TW" altLang="en-US" sz="1500" dirty="0" smtClean="0">
                  <a:latin typeface="微軟正黑體" panose="020B0604030504040204" pitchFamily="34" charset="-120"/>
                  <a:ea typeface="微軟正黑體" panose="020B0604030504040204" pitchFamily="34" charset="-120"/>
                </a:rPr>
                <a:t>預留單</a:t>
              </a:r>
              <a:endParaRPr lang="zh-TW" altLang="en-US" sz="1500" dirty="0">
                <a:latin typeface="微軟正黑體" panose="020B0604030504040204" pitchFamily="34" charset="-120"/>
                <a:ea typeface="微軟正黑體" panose="020B0604030504040204" pitchFamily="34" charset="-120"/>
              </a:endParaRPr>
            </a:p>
          </p:txBody>
        </p:sp>
        <p:sp>
          <p:nvSpPr>
            <p:cNvPr id="104" name="流程圖: 程序 10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5" name="流程圖: 程序 104"/>
            <p:cNvSpPr/>
            <p:nvPr/>
          </p:nvSpPr>
          <p:spPr>
            <a:xfrm>
              <a:off x="160127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08" name="群組 107"/>
          <p:cNvGrpSpPr/>
          <p:nvPr/>
        </p:nvGrpSpPr>
        <p:grpSpPr>
          <a:xfrm>
            <a:off x="2500266" y="7501748"/>
            <a:ext cx="1810800" cy="1217256"/>
            <a:chOff x="15073354" y="8308668"/>
            <a:chExt cx="1810800" cy="1217256"/>
          </a:xfrm>
        </p:grpSpPr>
        <p:sp>
          <p:nvSpPr>
            <p:cNvPr id="110" name="流程圖: 程序 10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MB52</a:t>
              </a:r>
              <a:endParaRPr lang="en-GB" sz="1500" b="1" dirty="0">
                <a:latin typeface="微軟正黑體" panose="020B0604030504040204" pitchFamily="34" charset="-120"/>
                <a:ea typeface="微軟正黑體" panose="020B0604030504040204" pitchFamily="34" charset="-120"/>
              </a:endParaRPr>
            </a:p>
          </p:txBody>
        </p:sp>
        <p:sp>
          <p:nvSpPr>
            <p:cNvPr id="111" name="流程圖: 程序 11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查詢外包庫存</a:t>
              </a:r>
              <a:endParaRPr lang="zh-TW" altLang="en-US" sz="1500" dirty="0">
                <a:latin typeface="微軟正黑體" panose="020B0604030504040204" pitchFamily="34" charset="-120"/>
                <a:ea typeface="微軟正黑體" panose="020B0604030504040204" pitchFamily="34" charset="-120"/>
              </a:endParaRPr>
            </a:p>
          </p:txBody>
        </p:sp>
        <p:sp>
          <p:nvSpPr>
            <p:cNvPr id="112" name="流程圖: 程序 11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14" name="流程圖: 程序 113"/>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23" name="群組 122"/>
          <p:cNvGrpSpPr/>
          <p:nvPr/>
        </p:nvGrpSpPr>
        <p:grpSpPr>
          <a:xfrm>
            <a:off x="9786942" y="7430310"/>
            <a:ext cx="1810800" cy="1217256"/>
            <a:chOff x="15073354" y="8308668"/>
            <a:chExt cx="1810800" cy="1217256"/>
          </a:xfrm>
        </p:grpSpPr>
        <p:sp>
          <p:nvSpPr>
            <p:cNvPr id="124" name="流程圖: 程序 12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25" name="流程圖: 程序 12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主管簽核</a:t>
              </a:r>
              <a:endParaRPr lang="zh-TW" altLang="en-US" sz="1500" dirty="0">
                <a:latin typeface="微軟正黑體" panose="020B0604030504040204" pitchFamily="34" charset="-120"/>
                <a:ea typeface="微軟正黑體" panose="020B0604030504040204" pitchFamily="34" charset="-120"/>
              </a:endParaRPr>
            </a:p>
          </p:txBody>
        </p:sp>
        <p:sp>
          <p:nvSpPr>
            <p:cNvPr id="126" name="流程圖: 程序 12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27" name="流程圖: 程序 126"/>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6" name="Group 220">
            <a:extLst>
              <a:ext uri="{FF2B5EF4-FFF2-40B4-BE49-F238E27FC236}">
                <a16:creationId xmlns:a16="http://schemas.microsoft.com/office/drawing/2014/main" xmlns="" id="{719B13A7-6588-6C64-AF2E-919B636517F8}"/>
              </a:ext>
            </a:extLst>
          </p:cNvPr>
          <p:cNvGrpSpPr/>
          <p:nvPr/>
        </p:nvGrpSpPr>
        <p:grpSpPr>
          <a:xfrm>
            <a:off x="11374017" y="7210743"/>
            <a:ext cx="546285" cy="408605"/>
            <a:chOff x="5906472" y="1486857"/>
            <a:chExt cx="364190" cy="272361"/>
          </a:xfrm>
        </p:grpSpPr>
        <p:sp>
          <p:nvSpPr>
            <p:cNvPr id="33" name="Oval 221">
              <a:extLst>
                <a:ext uri="{FF2B5EF4-FFF2-40B4-BE49-F238E27FC236}">
                  <a16:creationId xmlns:a16="http://schemas.microsoft.com/office/drawing/2014/main" xmlns="" id="{A3A6E9CB-2625-F6D8-3B9E-66CBFA7967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35" name="TextBox 222">
              <a:extLst>
                <a:ext uri="{FF2B5EF4-FFF2-40B4-BE49-F238E27FC236}">
                  <a16:creationId xmlns:a16="http://schemas.microsoft.com/office/drawing/2014/main" xmlns="" id="{197F088B-38F6-3AAE-68D7-2183F35D4CFF}"/>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nvGrpSpPr>
          <p:cNvPr id="80" name="Group 220">
            <a:extLst>
              <a:ext uri="{FF2B5EF4-FFF2-40B4-BE49-F238E27FC236}">
                <a16:creationId xmlns="" xmlns:a16="http://schemas.microsoft.com/office/drawing/2014/main" id="{80621863-EC8D-0935-A4B9-4ED043FA6A31}"/>
              </a:ext>
            </a:extLst>
          </p:cNvPr>
          <p:cNvGrpSpPr/>
          <p:nvPr/>
        </p:nvGrpSpPr>
        <p:grpSpPr>
          <a:xfrm>
            <a:off x="8858248" y="4144162"/>
            <a:ext cx="533400" cy="408605"/>
            <a:chOff x="5906184" y="1486857"/>
            <a:chExt cx="355600" cy="272361"/>
          </a:xfrm>
        </p:grpSpPr>
        <p:sp>
          <p:nvSpPr>
            <p:cNvPr id="81" name="Oval 221">
              <a:extLst>
                <a:ext uri="{FF2B5EF4-FFF2-40B4-BE49-F238E27FC236}">
                  <a16:creationId xmlns="" xmlns:a16="http://schemas.microsoft.com/office/drawing/2014/main" id="{4232D0F4-8AC4-DF6C-A47A-D6BFB32BC75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82" name="TextBox 222">
              <a:extLst>
                <a:ext uri="{FF2B5EF4-FFF2-40B4-BE49-F238E27FC236}">
                  <a16:creationId xmlns="" xmlns:a16="http://schemas.microsoft.com/office/drawing/2014/main" id="{C203EE44-081C-9B4D-CD59-476CE3DB0E6E}"/>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134" name="Group 220">
            <a:extLst>
              <a:ext uri="{FF2B5EF4-FFF2-40B4-BE49-F238E27FC236}">
                <a16:creationId xmlns:a16="http://schemas.microsoft.com/office/drawing/2014/main" xmlns="" id="{719B13A7-6588-6C64-AF2E-919B636517F8}"/>
              </a:ext>
            </a:extLst>
          </p:cNvPr>
          <p:cNvGrpSpPr/>
          <p:nvPr/>
        </p:nvGrpSpPr>
        <p:grpSpPr>
          <a:xfrm>
            <a:off x="4000464" y="7287434"/>
            <a:ext cx="546285" cy="408605"/>
            <a:chOff x="5906472" y="1486857"/>
            <a:chExt cx="364190" cy="272361"/>
          </a:xfrm>
        </p:grpSpPr>
        <p:sp>
          <p:nvSpPr>
            <p:cNvPr id="135" name="Oval 221">
              <a:extLst>
                <a:ext uri="{FF2B5EF4-FFF2-40B4-BE49-F238E27FC236}">
                  <a16:creationId xmlns:a16="http://schemas.microsoft.com/office/drawing/2014/main" xmlns="" id="{A3A6E9CB-2625-F6D8-3B9E-66CBFA7967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36" name="TextBox 222">
              <a:extLst>
                <a:ext uri="{FF2B5EF4-FFF2-40B4-BE49-F238E27FC236}">
                  <a16:creationId xmlns:a16="http://schemas.microsoft.com/office/drawing/2014/main" xmlns="" id="{197F088B-38F6-3AAE-68D7-2183F35D4CFF}"/>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grpSp>
        <p:nvGrpSpPr>
          <p:cNvPr id="137" name="Group 220">
            <a:extLst>
              <a:ext uri="{FF2B5EF4-FFF2-40B4-BE49-F238E27FC236}">
                <a16:creationId xmlns:a16="http://schemas.microsoft.com/office/drawing/2014/main" xmlns="" id="{719B13A7-6588-6C64-AF2E-919B636517F8}"/>
              </a:ext>
            </a:extLst>
          </p:cNvPr>
          <p:cNvGrpSpPr/>
          <p:nvPr/>
        </p:nvGrpSpPr>
        <p:grpSpPr>
          <a:xfrm>
            <a:off x="7358050" y="8359004"/>
            <a:ext cx="546285" cy="408605"/>
            <a:chOff x="5906472" y="1486857"/>
            <a:chExt cx="364190" cy="272361"/>
          </a:xfrm>
        </p:grpSpPr>
        <p:sp>
          <p:nvSpPr>
            <p:cNvPr id="138" name="Oval 221">
              <a:extLst>
                <a:ext uri="{FF2B5EF4-FFF2-40B4-BE49-F238E27FC236}">
                  <a16:creationId xmlns:a16="http://schemas.microsoft.com/office/drawing/2014/main" xmlns="" id="{A3A6E9CB-2625-F6D8-3B9E-66CBFA7967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39" name="TextBox 222">
              <a:extLst>
                <a:ext uri="{FF2B5EF4-FFF2-40B4-BE49-F238E27FC236}">
                  <a16:creationId xmlns:a16="http://schemas.microsoft.com/office/drawing/2014/main" xmlns="" id="{197F088B-38F6-3AAE-68D7-2183F35D4CFF}"/>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grpSp>
        <p:nvGrpSpPr>
          <p:cNvPr id="98" name="群組 97"/>
          <p:cNvGrpSpPr/>
          <p:nvPr/>
        </p:nvGrpSpPr>
        <p:grpSpPr>
          <a:xfrm>
            <a:off x="4786282" y="5715798"/>
            <a:ext cx="1810800" cy="1217256"/>
            <a:chOff x="15073354" y="8308668"/>
            <a:chExt cx="1810800" cy="1217256"/>
          </a:xfrm>
        </p:grpSpPr>
        <p:sp>
          <p:nvSpPr>
            <p:cNvPr id="99" name="流程圖: 程序 9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00" name="流程圖: 程序 9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餘料退回</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rPr>
                <a:t>(Mvt.542)</a:t>
              </a:r>
              <a:endParaRPr lang="zh-TW" altLang="en-US" sz="1500" dirty="0">
                <a:latin typeface="微軟正黑體" panose="020B0604030504040204" pitchFamily="34" charset="-120"/>
                <a:ea typeface="微軟正黑體" panose="020B0604030504040204" pitchFamily="34" charset="-120"/>
              </a:endParaRPr>
            </a:p>
          </p:txBody>
        </p:sp>
        <p:sp>
          <p:nvSpPr>
            <p:cNvPr id="106" name="流程圖: 程序 10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7" name="流程圖: 程序 106"/>
            <p:cNvSpPr/>
            <p:nvPr/>
          </p:nvSpPr>
          <p:spPr>
            <a:xfrm>
              <a:off x="1600000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9" name="Group 220">
            <a:extLst>
              <a:ext uri="{FF2B5EF4-FFF2-40B4-BE49-F238E27FC236}">
                <a16:creationId xmlns:a16="http://schemas.microsoft.com/office/drawing/2014/main" xmlns="" id="{56A53D60-F177-B66D-1052-09F00D9EB829}"/>
              </a:ext>
            </a:extLst>
          </p:cNvPr>
          <p:cNvGrpSpPr/>
          <p:nvPr/>
        </p:nvGrpSpPr>
        <p:grpSpPr>
          <a:xfrm>
            <a:off x="6383137" y="5501484"/>
            <a:ext cx="546285" cy="408605"/>
            <a:chOff x="5906472" y="1486857"/>
            <a:chExt cx="364190" cy="272361"/>
          </a:xfrm>
        </p:grpSpPr>
        <p:sp>
          <p:nvSpPr>
            <p:cNvPr id="236" name="Oval 221">
              <a:extLst>
                <a:ext uri="{FF2B5EF4-FFF2-40B4-BE49-F238E27FC236}">
                  <a16:creationId xmlns:a16="http://schemas.microsoft.com/office/drawing/2014/main" xmlns=""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a16="http://schemas.microsoft.com/office/drawing/2014/main" xmlns="" id="{58D156B1-9578-40C0-E02B-A11714005BD3}"/>
                </a:ext>
              </a:extLst>
            </p:cNvPr>
            <p:cNvSpPr txBox="1"/>
            <p:nvPr/>
          </p:nvSpPr>
          <p:spPr>
            <a:xfrm>
              <a:off x="5915062"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129" name="Group 220">
            <a:extLst>
              <a:ext uri="{FF2B5EF4-FFF2-40B4-BE49-F238E27FC236}">
                <a16:creationId xmlns="" xmlns:a16="http://schemas.microsoft.com/office/drawing/2014/main" id="{80621863-EC8D-0935-A4B9-4ED043FA6A31}"/>
              </a:ext>
            </a:extLst>
          </p:cNvPr>
          <p:cNvGrpSpPr/>
          <p:nvPr/>
        </p:nvGrpSpPr>
        <p:grpSpPr>
          <a:xfrm>
            <a:off x="11501454" y="4215600"/>
            <a:ext cx="533400" cy="408605"/>
            <a:chOff x="5906184" y="1486857"/>
            <a:chExt cx="355600" cy="272361"/>
          </a:xfrm>
        </p:grpSpPr>
        <p:sp>
          <p:nvSpPr>
            <p:cNvPr id="130" name="Oval 221">
              <a:extLst>
                <a:ext uri="{FF2B5EF4-FFF2-40B4-BE49-F238E27FC236}">
                  <a16:creationId xmlns="" xmlns:a16="http://schemas.microsoft.com/office/drawing/2014/main" id="{4232D0F4-8AC4-DF6C-A47A-D6BFB32BC75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31" name="TextBox 222">
              <a:extLst>
                <a:ext uri="{FF2B5EF4-FFF2-40B4-BE49-F238E27FC236}">
                  <a16:creationId xmlns="" xmlns:a16="http://schemas.microsoft.com/office/drawing/2014/main" id="{C203EE44-081C-9B4D-CD59-476CE3DB0E6E}"/>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xmlns="" val="29888409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04;p4">
            <a:extLst>
              <a:ext uri="{FF2B5EF4-FFF2-40B4-BE49-F238E27FC236}">
                <a16:creationId xmlns:a16="http://schemas.microsoft.com/office/drawing/2014/main" xmlns="" id="{B349E453-DD58-B376-B761-EA45293EDDEC}"/>
              </a:ext>
            </a:extLst>
          </p:cNvPr>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zh-TW" altLang="en-US" sz="2400" dirty="0">
                <a:solidFill>
                  <a:schemeClr val="dk1"/>
                </a:solidFill>
                <a:latin typeface="Arial"/>
                <a:ea typeface="Arial"/>
                <a:cs typeface="Arial"/>
                <a:sym typeface="Arial"/>
              </a:rPr>
              <a:t>與</a:t>
            </a:r>
            <a:r>
              <a:rPr lang="en-US" altLang="zh-TW" sz="2400" dirty="0">
                <a:solidFill>
                  <a:schemeClr val="dk1"/>
                </a:solidFill>
                <a:latin typeface="Arial"/>
                <a:ea typeface="Arial"/>
                <a:cs typeface="Arial"/>
                <a:sym typeface="Arial"/>
              </a:rPr>
              <a:t>WMS</a:t>
            </a:r>
            <a:r>
              <a:rPr lang="zh-TW" altLang="en-US" sz="2400" dirty="0">
                <a:solidFill>
                  <a:schemeClr val="dk1"/>
                </a:solidFill>
                <a:latin typeface="Arial"/>
                <a:ea typeface="Arial"/>
                <a:cs typeface="Arial"/>
                <a:sym typeface="Arial"/>
              </a:rPr>
              <a:t>介接說明補充</a:t>
            </a:r>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4" name="圓角矩形 28">
            <a:extLst>
              <a:ext uri="{FF2B5EF4-FFF2-40B4-BE49-F238E27FC236}">
                <a16:creationId xmlns:a16="http://schemas.microsoft.com/office/drawing/2014/main" xmlns="" id="{E3EFB8F4-DC60-E3D7-6F62-51F0C77ED292}"/>
              </a:ext>
            </a:extLst>
          </p:cNvPr>
          <p:cNvSpPr/>
          <p:nvPr/>
        </p:nvSpPr>
        <p:spPr>
          <a:xfrm>
            <a:off x="795048" y="3335576"/>
            <a:ext cx="232878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外包採購單</a:t>
            </a:r>
          </a:p>
        </p:txBody>
      </p:sp>
      <p:cxnSp>
        <p:nvCxnSpPr>
          <p:cNvPr id="5" name="接點: 肘形 4">
            <a:extLst>
              <a:ext uri="{FF2B5EF4-FFF2-40B4-BE49-F238E27FC236}">
                <a16:creationId xmlns:a16="http://schemas.microsoft.com/office/drawing/2014/main" xmlns="" id="{F6641849-2CFE-9C61-7D94-5F2EEF58DB36}"/>
              </a:ext>
            </a:extLst>
          </p:cNvPr>
          <p:cNvCxnSpPr>
            <a:cxnSpLocks/>
            <a:stCxn id="4" idx="3"/>
            <a:endCxn id="13" idx="1"/>
          </p:cNvCxnSpPr>
          <p:nvPr/>
        </p:nvCxnSpPr>
        <p:spPr>
          <a:xfrm flipV="1">
            <a:off x="3123829" y="3757141"/>
            <a:ext cx="892487" cy="12941"/>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圓角矩形 40">
            <a:extLst>
              <a:ext uri="{FF2B5EF4-FFF2-40B4-BE49-F238E27FC236}">
                <a16:creationId xmlns:a16="http://schemas.microsoft.com/office/drawing/2014/main" xmlns="" id="{9CAE4D85-3CAC-E6A9-6804-5226662A3F80}"/>
              </a:ext>
            </a:extLst>
          </p:cNvPr>
          <p:cNvSpPr/>
          <p:nvPr/>
        </p:nvSpPr>
        <p:spPr>
          <a:xfrm>
            <a:off x="7390223" y="3309694"/>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下架發料</a:t>
            </a:r>
          </a:p>
        </p:txBody>
      </p:sp>
      <p:grpSp>
        <p:nvGrpSpPr>
          <p:cNvPr id="7" name="Group 220">
            <a:extLst>
              <a:ext uri="{FF2B5EF4-FFF2-40B4-BE49-F238E27FC236}">
                <a16:creationId xmlns:a16="http://schemas.microsoft.com/office/drawing/2014/main" xmlns="" id="{897893BC-64DF-14D4-A948-C8D64CA79857}"/>
              </a:ext>
            </a:extLst>
          </p:cNvPr>
          <p:cNvGrpSpPr/>
          <p:nvPr/>
        </p:nvGrpSpPr>
        <p:grpSpPr>
          <a:xfrm>
            <a:off x="6615324" y="3105391"/>
            <a:ext cx="533400" cy="408605"/>
            <a:chOff x="5906184" y="1486857"/>
            <a:chExt cx="355600" cy="272361"/>
          </a:xfrm>
        </p:grpSpPr>
        <p:sp>
          <p:nvSpPr>
            <p:cNvPr id="8" name="Oval 221">
              <a:extLst>
                <a:ext uri="{FF2B5EF4-FFF2-40B4-BE49-F238E27FC236}">
                  <a16:creationId xmlns:a16="http://schemas.microsoft.com/office/drawing/2014/main" xmlns="" id="{BD1E7EFB-F377-DF7E-4D3D-D9EF65A8113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TextBox 222">
              <a:extLst>
                <a:ext uri="{FF2B5EF4-FFF2-40B4-BE49-F238E27FC236}">
                  <a16:creationId xmlns:a16="http://schemas.microsoft.com/office/drawing/2014/main" xmlns="" id="{E5712BE1-C0A9-3460-EFD3-3A5A8D90A3C9}"/>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13" name="圓角矩形 28">
            <a:extLst>
              <a:ext uri="{FF2B5EF4-FFF2-40B4-BE49-F238E27FC236}">
                <a16:creationId xmlns:a16="http://schemas.microsoft.com/office/drawing/2014/main" xmlns="" id="{7F0BBF50-5718-4B67-3A91-A7A6937AF62D}"/>
              </a:ext>
            </a:extLst>
          </p:cNvPr>
          <p:cNvSpPr/>
          <p:nvPr/>
        </p:nvSpPr>
        <p:spPr>
          <a:xfrm>
            <a:off x="4016315" y="3322635"/>
            <a:ext cx="232878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外包出貨單</a:t>
            </a:r>
          </a:p>
        </p:txBody>
      </p:sp>
      <p:cxnSp>
        <p:nvCxnSpPr>
          <p:cNvPr id="16" name="接點: 肘形 15">
            <a:extLst>
              <a:ext uri="{FF2B5EF4-FFF2-40B4-BE49-F238E27FC236}">
                <a16:creationId xmlns:a16="http://schemas.microsoft.com/office/drawing/2014/main" xmlns="" id="{A4645164-E217-A140-D8C4-FA45B5E264CE}"/>
              </a:ext>
            </a:extLst>
          </p:cNvPr>
          <p:cNvCxnSpPr>
            <a:cxnSpLocks/>
            <a:stCxn id="13" idx="3"/>
            <a:endCxn id="6" idx="1"/>
          </p:cNvCxnSpPr>
          <p:nvPr/>
        </p:nvCxnSpPr>
        <p:spPr>
          <a:xfrm flipV="1">
            <a:off x="6345094" y="3744200"/>
            <a:ext cx="1045128" cy="1294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接點: 肘形 19">
            <a:extLst>
              <a:ext uri="{FF2B5EF4-FFF2-40B4-BE49-F238E27FC236}">
                <a16:creationId xmlns:a16="http://schemas.microsoft.com/office/drawing/2014/main" xmlns="" id="{249142AB-3B39-DA59-74A8-CC6D08723515}"/>
              </a:ext>
            </a:extLst>
          </p:cNvPr>
          <p:cNvCxnSpPr>
            <a:cxnSpLocks/>
            <a:stCxn id="6" idx="3"/>
            <a:endCxn id="22" idx="1"/>
          </p:cNvCxnSpPr>
          <p:nvPr/>
        </p:nvCxnSpPr>
        <p:spPr>
          <a:xfrm flipV="1">
            <a:off x="9525803" y="3742135"/>
            <a:ext cx="846414" cy="2066"/>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圓角矩形 28">
            <a:extLst>
              <a:ext uri="{FF2B5EF4-FFF2-40B4-BE49-F238E27FC236}">
                <a16:creationId xmlns:a16="http://schemas.microsoft.com/office/drawing/2014/main" xmlns="" id="{9FC9C242-2538-ACE9-0771-4581D170AE68}"/>
              </a:ext>
            </a:extLst>
          </p:cNvPr>
          <p:cNvSpPr/>
          <p:nvPr/>
        </p:nvSpPr>
        <p:spPr>
          <a:xfrm>
            <a:off x="10372217" y="3307628"/>
            <a:ext cx="232878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外包發料</a:t>
            </a:r>
          </a:p>
        </p:txBody>
      </p:sp>
      <p:grpSp>
        <p:nvGrpSpPr>
          <p:cNvPr id="10" name="Group 220">
            <a:extLst>
              <a:ext uri="{FF2B5EF4-FFF2-40B4-BE49-F238E27FC236}">
                <a16:creationId xmlns:a16="http://schemas.microsoft.com/office/drawing/2014/main" xmlns="" id="{D48C38DC-D276-9DD9-0F8F-48CCFA63710C}"/>
              </a:ext>
            </a:extLst>
          </p:cNvPr>
          <p:cNvGrpSpPr/>
          <p:nvPr/>
        </p:nvGrpSpPr>
        <p:grpSpPr>
          <a:xfrm>
            <a:off x="9682310" y="3096513"/>
            <a:ext cx="533400" cy="408605"/>
            <a:chOff x="5906184" y="1486857"/>
            <a:chExt cx="355600" cy="272361"/>
          </a:xfrm>
        </p:grpSpPr>
        <p:sp>
          <p:nvSpPr>
            <p:cNvPr id="25" name="Oval 221">
              <a:extLst>
                <a:ext uri="{FF2B5EF4-FFF2-40B4-BE49-F238E27FC236}">
                  <a16:creationId xmlns:a16="http://schemas.microsoft.com/office/drawing/2014/main" xmlns="" id="{433DE938-6210-7D81-BA4E-C3C3DAA95EA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6" name="TextBox 222">
              <a:extLst>
                <a:ext uri="{FF2B5EF4-FFF2-40B4-BE49-F238E27FC236}">
                  <a16:creationId xmlns:a16="http://schemas.microsoft.com/office/drawing/2014/main" xmlns="" id="{D85A1474-C8A1-6C89-884A-FD0FCCA94683}"/>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7" name="圓角矩形 28">
            <a:extLst>
              <a:ext uri="{FF2B5EF4-FFF2-40B4-BE49-F238E27FC236}">
                <a16:creationId xmlns:a16="http://schemas.microsoft.com/office/drawing/2014/main" xmlns="" id="{52489CBF-597F-8C8A-B6C1-C6DE0C557169}"/>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28" name="圓角矩形 40">
            <a:extLst>
              <a:ext uri="{FF2B5EF4-FFF2-40B4-BE49-F238E27FC236}">
                <a16:creationId xmlns:a16="http://schemas.microsoft.com/office/drawing/2014/main" xmlns="" id="{45B21072-63D0-147D-0656-7D72D243079C}"/>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graphicFrame>
        <p:nvGraphicFramePr>
          <p:cNvPr id="29" name="表格 28">
            <a:extLst>
              <a:ext uri="{FF2B5EF4-FFF2-40B4-BE49-F238E27FC236}">
                <a16:creationId xmlns:a16="http://schemas.microsoft.com/office/drawing/2014/main" xmlns="" id="{EC5A7C24-D343-1F5C-CFAE-04341D384507}"/>
              </a:ext>
            </a:extLst>
          </p:cNvPr>
          <p:cNvGraphicFramePr>
            <a:graphicFrameLocks noGrp="1"/>
          </p:cNvGraphicFramePr>
          <p:nvPr>
            <p:extLst>
              <p:ext uri="{D42A27DB-BD31-4B8C-83A1-F6EECF244321}">
                <p14:modId xmlns:p14="http://schemas.microsoft.com/office/powerpoint/2010/main" xmlns="" val="3746582708"/>
              </p:ext>
            </p:extLst>
          </p:nvPr>
        </p:nvGraphicFramePr>
        <p:xfrm>
          <a:off x="1714448" y="7573186"/>
          <a:ext cx="13395961" cy="2225384"/>
        </p:xfrm>
        <a:graphic>
          <a:graphicData uri="http://schemas.openxmlformats.org/drawingml/2006/table">
            <a:tbl>
              <a:tblPr firstRow="1" bandRow="1"/>
              <a:tblGrid>
                <a:gridCol w="586073">
                  <a:extLst>
                    <a:ext uri="{9D8B030D-6E8A-4147-A177-3AD203B41FA5}">
                      <a16:colId xmlns:a16="http://schemas.microsoft.com/office/drawing/2014/main" xmlns="" val="4193373909"/>
                    </a:ext>
                  </a:extLst>
                </a:gridCol>
                <a:gridCol w="12809888">
                  <a:extLst>
                    <a:ext uri="{9D8B030D-6E8A-4147-A177-3AD203B41FA5}">
                      <a16:colId xmlns:a16="http://schemas.microsoft.com/office/drawing/2014/main" xmlns=""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拋轉採購外包的資料給</a:t>
                      </a:r>
                      <a:r>
                        <a:rPr lang="en-US" altLang="zh-TW" sz="2700" dirty="0"/>
                        <a:t>WMS</a:t>
                      </a:r>
                    </a:p>
                  </a:txBody>
                  <a:tcPr marL="137160" marR="137160" marT="68591" marB="68591"/>
                </a:tc>
                <a:extLst>
                  <a:ext uri="{0D108BD9-81ED-4DB2-BD59-A6C34878D82A}">
                    <a16:rowId xmlns:a16="http://schemas.microsoft.com/office/drawing/2014/main" xmlns=""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下架發料後拋給</a:t>
                      </a:r>
                      <a:r>
                        <a:rPr lang="en-US" altLang="zh-TW" sz="2700" dirty="0"/>
                        <a:t>SAP</a:t>
                      </a:r>
                      <a:r>
                        <a:rPr lang="zh-TW" altLang="en-US" sz="2700" dirty="0"/>
                        <a:t>執行外包發料</a:t>
                      </a:r>
                    </a:p>
                  </a:txBody>
                  <a:tcPr marL="137160" marR="137160" marT="68591" marB="68591"/>
                </a:tc>
                <a:extLst>
                  <a:ext uri="{0D108BD9-81ED-4DB2-BD59-A6C34878D82A}">
                    <a16:rowId xmlns:a16="http://schemas.microsoft.com/office/drawing/2014/main" xmlns="" val="2767441219"/>
                  </a:ext>
                </a:extLst>
              </a:tr>
              <a:tr h="556346">
                <a:tc>
                  <a:txBody>
                    <a:bodyPr/>
                    <a:lstStyle/>
                    <a:p>
                      <a:r>
                        <a:rPr lang="en-US" altLang="zh-TW" sz="2700" dirty="0" smtClean="0"/>
                        <a:t>3</a:t>
                      </a:r>
                      <a:endParaRPr lang="zh-TW" altLang="en-US" sz="2700" dirty="0"/>
                    </a:p>
                  </a:txBody>
                  <a:tcPr marL="137160" marR="137160" marT="68591" marB="68591"/>
                </a:tc>
                <a:tc>
                  <a:txBody>
                    <a:bodyPr/>
                    <a:lstStyle/>
                    <a:p>
                      <a:r>
                        <a:rPr lang="en-US" altLang="zh-TW" sz="2700" dirty="0"/>
                        <a:t>SAP</a:t>
                      </a:r>
                      <a:r>
                        <a:rPr lang="zh-TW" altLang="en-US" sz="2700" dirty="0"/>
                        <a:t>拋</a:t>
                      </a:r>
                      <a:r>
                        <a:rPr lang="zh-TW" altLang="en-US" sz="2700" dirty="0" smtClean="0"/>
                        <a:t>轉外包退料的</a:t>
                      </a:r>
                      <a:r>
                        <a:rPr lang="zh-TW" altLang="en-US" sz="2700" dirty="0"/>
                        <a:t>資料給</a:t>
                      </a:r>
                      <a:r>
                        <a:rPr lang="en-US" altLang="zh-TW" sz="2700" dirty="0"/>
                        <a:t>WMS</a:t>
                      </a:r>
                    </a:p>
                  </a:txBody>
                  <a:tcPr marL="137160" marR="137160" marT="68591" marB="68591"/>
                </a:tc>
              </a:tr>
              <a:tr h="556346">
                <a:tc>
                  <a:txBody>
                    <a:bodyPr/>
                    <a:lstStyle/>
                    <a:p>
                      <a:r>
                        <a:rPr lang="en-US" altLang="zh-TW" sz="2700" dirty="0" smtClean="0"/>
                        <a:t>4</a:t>
                      </a:r>
                      <a:endParaRPr lang="zh-TW" altLang="en-US" sz="2700" dirty="0"/>
                    </a:p>
                  </a:txBody>
                  <a:tcPr marL="137160" marR="137160" marT="68591" marB="68591"/>
                </a:tc>
                <a:tc>
                  <a:txBody>
                    <a:bodyPr/>
                    <a:lstStyle/>
                    <a:p>
                      <a:r>
                        <a:rPr lang="en-US" altLang="zh-TW" sz="2700" dirty="0" smtClean="0"/>
                        <a:t>WMS</a:t>
                      </a:r>
                      <a:r>
                        <a:rPr lang="zh-TW" altLang="en-US" sz="2700" dirty="0" smtClean="0"/>
                        <a:t>上架收貨後</a:t>
                      </a:r>
                      <a:r>
                        <a:rPr lang="zh-TW" altLang="en-US" sz="2700" dirty="0"/>
                        <a:t>拋給</a:t>
                      </a:r>
                      <a:r>
                        <a:rPr lang="en-US" altLang="zh-TW" sz="2700" dirty="0"/>
                        <a:t>SAP</a:t>
                      </a:r>
                      <a:r>
                        <a:rPr lang="zh-TW" altLang="en-US" sz="2700" dirty="0"/>
                        <a:t>執行外</a:t>
                      </a:r>
                      <a:r>
                        <a:rPr lang="zh-TW" altLang="en-US" sz="2700" dirty="0" smtClean="0"/>
                        <a:t>包退料</a:t>
                      </a:r>
                      <a:endParaRPr lang="zh-TW" altLang="en-US" sz="2700" dirty="0"/>
                    </a:p>
                  </a:txBody>
                  <a:tcPr marL="137160" marR="137160" marT="68591" marB="68591"/>
                </a:tc>
              </a:tr>
            </a:tbl>
          </a:graphicData>
        </a:graphic>
      </p:graphicFrame>
      <p:sp>
        <p:nvSpPr>
          <p:cNvPr id="21" name="TextBox 2"/>
          <p:cNvSpPr/>
          <p:nvPr/>
        </p:nvSpPr>
        <p:spPr>
          <a:xfrm>
            <a:off x="15501982" y="429386"/>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4</a:t>
            </a:r>
            <a:endParaRPr lang="en-US" sz="1600" b="0" strike="noStrike" spc="-1" dirty="0">
              <a:solidFill>
                <a:srgbClr val="000000"/>
              </a:solidFill>
              <a:latin typeface="Calibri"/>
            </a:endParaRPr>
          </a:p>
        </p:txBody>
      </p:sp>
      <p:sp>
        <p:nvSpPr>
          <p:cNvPr id="30" name="圓角矩形 40">
            <a:extLst>
              <a:ext uri="{FF2B5EF4-FFF2-40B4-BE49-F238E27FC236}">
                <a16:creationId xmlns:a16="http://schemas.microsoft.com/office/drawing/2014/main" xmlns="" id="{9CAE4D85-3CAC-E6A9-6804-5226662A3F80}"/>
              </a:ext>
            </a:extLst>
          </p:cNvPr>
          <p:cNvSpPr/>
          <p:nvPr/>
        </p:nvSpPr>
        <p:spPr>
          <a:xfrm>
            <a:off x="7445810" y="4845601"/>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smtClean="0">
                <a:latin typeface="微軟正黑體" pitchFamily="34" charset="-120"/>
                <a:ea typeface="微軟正黑體" pitchFamily="34" charset="-120"/>
              </a:rPr>
              <a:t>上架收貨</a:t>
            </a:r>
            <a:endParaRPr lang="zh-TW" altLang="en-US" sz="2700" b="1" dirty="0">
              <a:latin typeface="微軟正黑體" pitchFamily="34" charset="-120"/>
              <a:ea typeface="微軟正黑體" pitchFamily="34" charset="-120"/>
            </a:endParaRPr>
          </a:p>
        </p:txBody>
      </p:sp>
      <p:grpSp>
        <p:nvGrpSpPr>
          <p:cNvPr id="31" name="Group 220">
            <a:extLst>
              <a:ext uri="{FF2B5EF4-FFF2-40B4-BE49-F238E27FC236}">
                <a16:creationId xmlns:a16="http://schemas.microsoft.com/office/drawing/2014/main" xmlns="" id="{897893BC-64DF-14D4-A948-C8D64CA79857}"/>
              </a:ext>
            </a:extLst>
          </p:cNvPr>
          <p:cNvGrpSpPr/>
          <p:nvPr/>
        </p:nvGrpSpPr>
        <p:grpSpPr>
          <a:xfrm>
            <a:off x="6670911" y="4641298"/>
            <a:ext cx="533400" cy="408605"/>
            <a:chOff x="5906184" y="1486857"/>
            <a:chExt cx="355600" cy="272361"/>
          </a:xfrm>
        </p:grpSpPr>
        <p:sp>
          <p:nvSpPr>
            <p:cNvPr id="32" name="Oval 221">
              <a:extLst>
                <a:ext uri="{FF2B5EF4-FFF2-40B4-BE49-F238E27FC236}">
                  <a16:creationId xmlns:a16="http://schemas.microsoft.com/office/drawing/2014/main" xmlns="" id="{BD1E7EFB-F377-DF7E-4D3D-D9EF65A8113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TextBox 222">
              <a:extLst>
                <a:ext uri="{FF2B5EF4-FFF2-40B4-BE49-F238E27FC236}">
                  <a16:creationId xmlns:a16="http://schemas.microsoft.com/office/drawing/2014/main" xmlns="" id="{E5712BE1-C0A9-3460-EFD3-3A5A8D90A3C9}"/>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34" name="圓角矩形 28">
            <a:extLst>
              <a:ext uri="{FF2B5EF4-FFF2-40B4-BE49-F238E27FC236}">
                <a16:creationId xmlns:a16="http://schemas.microsoft.com/office/drawing/2014/main" xmlns="" id="{7F0BBF50-5718-4B67-3A91-A7A6937AF62D}"/>
              </a:ext>
            </a:extLst>
          </p:cNvPr>
          <p:cNvSpPr/>
          <p:nvPr/>
        </p:nvSpPr>
        <p:spPr>
          <a:xfrm>
            <a:off x="4071902" y="4858542"/>
            <a:ext cx="232878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外</a:t>
            </a:r>
            <a:r>
              <a:rPr lang="zh-TW" altLang="en-US" sz="3000" b="1" dirty="0" smtClean="0">
                <a:latin typeface="微軟正黑體" pitchFamily="34" charset="-120"/>
                <a:ea typeface="微軟正黑體" pitchFamily="34" charset="-120"/>
              </a:rPr>
              <a:t>包退料貨單</a:t>
            </a:r>
            <a:endParaRPr lang="zh-TW" altLang="en-US" sz="3000" b="1" dirty="0">
              <a:latin typeface="微軟正黑體" pitchFamily="34" charset="-120"/>
              <a:ea typeface="微軟正黑體" pitchFamily="34" charset="-120"/>
            </a:endParaRPr>
          </a:p>
        </p:txBody>
      </p:sp>
      <p:cxnSp>
        <p:nvCxnSpPr>
          <p:cNvPr id="35" name="接點: 肘形 15">
            <a:extLst>
              <a:ext uri="{FF2B5EF4-FFF2-40B4-BE49-F238E27FC236}">
                <a16:creationId xmlns:a16="http://schemas.microsoft.com/office/drawing/2014/main" xmlns="" id="{A4645164-E217-A140-D8C4-FA45B5E264CE}"/>
              </a:ext>
            </a:extLst>
          </p:cNvPr>
          <p:cNvCxnSpPr>
            <a:cxnSpLocks/>
            <a:stCxn id="34" idx="3"/>
            <a:endCxn id="30" idx="1"/>
          </p:cNvCxnSpPr>
          <p:nvPr/>
        </p:nvCxnSpPr>
        <p:spPr>
          <a:xfrm flipV="1">
            <a:off x="6400681" y="5280107"/>
            <a:ext cx="1045128" cy="12941"/>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接點: 肘形 19">
            <a:extLst>
              <a:ext uri="{FF2B5EF4-FFF2-40B4-BE49-F238E27FC236}">
                <a16:creationId xmlns:a16="http://schemas.microsoft.com/office/drawing/2014/main" xmlns="" id="{249142AB-3B39-DA59-74A8-CC6D08723515}"/>
              </a:ext>
            </a:extLst>
          </p:cNvPr>
          <p:cNvCxnSpPr>
            <a:cxnSpLocks/>
            <a:stCxn id="30" idx="3"/>
            <a:endCxn id="37" idx="1"/>
          </p:cNvCxnSpPr>
          <p:nvPr/>
        </p:nvCxnSpPr>
        <p:spPr>
          <a:xfrm flipV="1">
            <a:off x="9581390" y="5278042"/>
            <a:ext cx="846414" cy="2066"/>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7" name="圓角矩形 28">
            <a:extLst>
              <a:ext uri="{FF2B5EF4-FFF2-40B4-BE49-F238E27FC236}">
                <a16:creationId xmlns:a16="http://schemas.microsoft.com/office/drawing/2014/main" xmlns="" id="{9FC9C242-2538-ACE9-0771-4581D170AE68}"/>
              </a:ext>
            </a:extLst>
          </p:cNvPr>
          <p:cNvSpPr/>
          <p:nvPr/>
        </p:nvSpPr>
        <p:spPr>
          <a:xfrm>
            <a:off x="10427804" y="4843535"/>
            <a:ext cx="232878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外</a:t>
            </a:r>
            <a:r>
              <a:rPr lang="zh-TW" altLang="en-US" sz="3000" b="1" dirty="0" smtClean="0">
                <a:latin typeface="微軟正黑體" pitchFamily="34" charset="-120"/>
                <a:ea typeface="微軟正黑體" pitchFamily="34" charset="-120"/>
              </a:rPr>
              <a:t>包退料</a:t>
            </a:r>
            <a:endParaRPr lang="zh-TW" altLang="en-US" sz="3000" b="1" dirty="0">
              <a:latin typeface="微軟正黑體" pitchFamily="34" charset="-120"/>
              <a:ea typeface="微軟正黑體" pitchFamily="34" charset="-120"/>
            </a:endParaRPr>
          </a:p>
        </p:txBody>
      </p:sp>
      <p:grpSp>
        <p:nvGrpSpPr>
          <p:cNvPr id="38" name="Group 220">
            <a:extLst>
              <a:ext uri="{FF2B5EF4-FFF2-40B4-BE49-F238E27FC236}">
                <a16:creationId xmlns:a16="http://schemas.microsoft.com/office/drawing/2014/main" xmlns="" id="{D48C38DC-D276-9DD9-0F8F-48CCFA63710C}"/>
              </a:ext>
            </a:extLst>
          </p:cNvPr>
          <p:cNvGrpSpPr/>
          <p:nvPr/>
        </p:nvGrpSpPr>
        <p:grpSpPr>
          <a:xfrm>
            <a:off x="9737897" y="4632420"/>
            <a:ext cx="533400" cy="408605"/>
            <a:chOff x="5906184" y="1486857"/>
            <a:chExt cx="355600" cy="272361"/>
          </a:xfrm>
        </p:grpSpPr>
        <p:sp>
          <p:nvSpPr>
            <p:cNvPr id="39" name="Oval 221">
              <a:extLst>
                <a:ext uri="{FF2B5EF4-FFF2-40B4-BE49-F238E27FC236}">
                  <a16:creationId xmlns:a16="http://schemas.microsoft.com/office/drawing/2014/main" xmlns="" id="{433DE938-6210-7D81-BA4E-C3C3DAA95EA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TextBox 222">
              <a:extLst>
                <a:ext uri="{FF2B5EF4-FFF2-40B4-BE49-F238E27FC236}">
                  <a16:creationId xmlns:a16="http://schemas.microsoft.com/office/drawing/2014/main" xmlns="" id="{D85A1474-C8A1-6C89-884A-FD0FCCA94683}"/>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41" name="文字方塊 40">
            <a:extLst>
              <a:ext uri="{FF2B5EF4-FFF2-40B4-BE49-F238E27FC236}">
                <a16:creationId xmlns:a16="http://schemas.microsoft.com/office/drawing/2014/main" xmlns="" id="{83E6F622-2FBE-CC67-50FE-4ABD7D8B9696}"/>
              </a:ext>
            </a:extLst>
          </p:cNvPr>
          <p:cNvSpPr txBox="1"/>
          <p:nvPr/>
        </p:nvSpPr>
        <p:spPr>
          <a:xfrm>
            <a:off x="2370090" y="858014"/>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MM-IM-0070</a:t>
            </a:r>
            <a:r>
              <a:rPr kumimoji="0" lang="zh-TW" altLang="en-US" b="1" dirty="0">
                <a:latin typeface="微軟正黑體" panose="020B0604030504040204" pitchFamily="34" charset="-120"/>
                <a:ea typeface="微軟正黑體" panose="020B0604030504040204" pitchFamily="34" charset="-120"/>
              </a:rPr>
              <a:t> 採購外</a:t>
            </a:r>
            <a:r>
              <a:rPr kumimoji="0" lang="zh-TW" altLang="en-US" b="1" dirty="0" smtClean="0">
                <a:latin typeface="微軟正黑體" panose="020B0604030504040204" pitchFamily="34" charset="-120"/>
                <a:ea typeface="微軟正黑體" panose="020B0604030504040204" pitchFamily="34" charset="-120"/>
              </a:rPr>
              <a:t>包</a:t>
            </a:r>
            <a:r>
              <a:rPr lang="zh-TW" altLang="en-US" b="1" dirty="0" smtClean="0">
                <a:latin typeface="微軟正黑體" panose="020B0604030504040204" pitchFamily="34" charset="-120"/>
                <a:ea typeface="微軟正黑體" panose="020B0604030504040204" pitchFamily="34" charset="-120"/>
              </a:rPr>
              <a:t>發</a:t>
            </a:r>
            <a:r>
              <a:rPr kumimoji="0" lang="zh-TW" altLang="en-US" b="1" dirty="0" smtClean="0">
                <a:latin typeface="微軟正黑體" panose="020B0604030504040204" pitchFamily="34" charset="-120"/>
                <a:ea typeface="微軟正黑體" panose="020B0604030504040204" pitchFamily="34" charset="-120"/>
              </a:rPr>
              <a:t>退</a:t>
            </a:r>
            <a:r>
              <a:rPr kumimoji="0" lang="zh-TW" altLang="en-US" b="1" dirty="0">
                <a:latin typeface="微軟正黑體" panose="020B0604030504040204" pitchFamily="34" charset="-120"/>
                <a:ea typeface="微軟正黑體" panose="020B0604030504040204" pitchFamily="34" charset="-120"/>
              </a:rPr>
              <a:t>料流程</a:t>
            </a:r>
          </a:p>
        </p:txBody>
      </p:sp>
    </p:spTree>
    <p:extLst>
      <p:ext uri="{BB962C8B-B14F-4D97-AF65-F5344CB8AC3E}">
        <p14:creationId xmlns:p14="http://schemas.microsoft.com/office/powerpoint/2010/main" xmlns="" val="60173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04;p4">
            <a:extLst>
              <a:ext uri="{FF2B5EF4-FFF2-40B4-BE49-F238E27FC236}">
                <a16:creationId xmlns:a16="http://schemas.microsoft.com/office/drawing/2014/main" xmlns="" id="{B349E453-DD58-B376-B761-EA45293EDDEC}"/>
              </a:ext>
            </a:extLst>
          </p:cNvPr>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en-US" altLang="zh-TW" sz="2400" dirty="0" smtClean="0">
                <a:solidFill>
                  <a:schemeClr val="dk1"/>
                </a:solidFill>
                <a:latin typeface="Arial"/>
                <a:ea typeface="Arial"/>
                <a:cs typeface="Arial"/>
                <a:sym typeface="Arial"/>
              </a:rPr>
              <a:t>1</a:t>
            </a:r>
            <a:r>
              <a:rPr lang="zh-TW" altLang="en-US" sz="2400" dirty="0" smtClean="0">
                <a:solidFill>
                  <a:schemeClr val="dk1"/>
                </a:solidFill>
                <a:latin typeface="Arial"/>
                <a:ea typeface="Arial"/>
                <a:cs typeface="Arial"/>
                <a:sym typeface="Arial"/>
              </a:rPr>
              <a:t>、銷售訂單庫存和外包商庫存同為特殊庫存，</a:t>
            </a:r>
            <a:r>
              <a:rPr lang="en-US" altLang="zh-TW" sz="2400" dirty="0" smtClean="0">
                <a:solidFill>
                  <a:schemeClr val="dk1"/>
                </a:solidFill>
                <a:latin typeface="Arial"/>
                <a:ea typeface="Arial"/>
                <a:cs typeface="Arial"/>
                <a:sym typeface="Arial"/>
              </a:rPr>
              <a:t>SAP </a:t>
            </a:r>
            <a:r>
              <a:rPr lang="zh-TW" altLang="en-US" sz="2400" dirty="0" smtClean="0">
                <a:solidFill>
                  <a:schemeClr val="dk1"/>
                </a:solidFill>
                <a:latin typeface="Arial"/>
                <a:ea typeface="Arial"/>
                <a:cs typeface="Arial"/>
                <a:sym typeface="Arial"/>
              </a:rPr>
              <a:t>不支持銷售訂單庫存作</a:t>
            </a:r>
            <a:r>
              <a:rPr lang="en-US" altLang="zh-TW" sz="2400" dirty="0" smtClean="0">
                <a:solidFill>
                  <a:schemeClr val="dk1"/>
                </a:solidFill>
                <a:latin typeface="Arial"/>
                <a:ea typeface="Arial"/>
                <a:cs typeface="Arial"/>
                <a:sym typeface="Arial"/>
              </a:rPr>
              <a:t>541</a:t>
            </a:r>
            <a:r>
              <a:rPr lang="zh-TW" altLang="en-US" sz="2400" dirty="0" smtClean="0">
                <a:solidFill>
                  <a:schemeClr val="dk1"/>
                </a:solidFill>
                <a:latin typeface="Arial"/>
                <a:ea typeface="Arial"/>
                <a:cs typeface="Arial"/>
                <a:sym typeface="Arial"/>
              </a:rPr>
              <a:t>移轉至外包商庫存，所以外包採購單有綁定銷售訂單時，不需要用</a:t>
            </a:r>
            <a:r>
              <a:rPr lang="en-US" altLang="zh-TW" sz="2400" dirty="0" smtClean="0">
                <a:solidFill>
                  <a:schemeClr val="dk1"/>
                </a:solidFill>
                <a:latin typeface="Arial"/>
                <a:ea typeface="Arial"/>
                <a:cs typeface="Arial"/>
                <a:sym typeface="Arial"/>
              </a:rPr>
              <a:t>541</a:t>
            </a:r>
            <a:r>
              <a:rPr lang="zh-TW" altLang="en-US" sz="2400" dirty="0" smtClean="0">
                <a:solidFill>
                  <a:schemeClr val="dk1"/>
                </a:solidFill>
                <a:latin typeface="Arial"/>
                <a:ea typeface="Arial"/>
                <a:cs typeface="Arial"/>
                <a:sym typeface="Arial"/>
              </a:rPr>
              <a:t>發料就可以作</a:t>
            </a:r>
            <a:r>
              <a:rPr lang="en-US" altLang="zh-TW" sz="2400" dirty="0" smtClean="0">
                <a:solidFill>
                  <a:schemeClr val="dk1"/>
                </a:solidFill>
                <a:latin typeface="Arial"/>
                <a:ea typeface="Arial"/>
                <a:cs typeface="Arial"/>
                <a:sym typeface="Arial"/>
              </a:rPr>
              <a:t>543</a:t>
            </a:r>
            <a:r>
              <a:rPr lang="zh-TW" altLang="en-US" sz="2400" dirty="0" smtClean="0">
                <a:solidFill>
                  <a:schemeClr val="dk1"/>
                </a:solidFill>
                <a:latin typeface="Arial"/>
                <a:ea typeface="Arial"/>
                <a:cs typeface="Arial"/>
                <a:sym typeface="Arial"/>
              </a:rPr>
              <a:t>扣帳和庫存調整。</a:t>
            </a:r>
            <a:endParaRPr lang="en-US" altLang="zh-TW" sz="2400" dirty="0" smtClean="0">
              <a:solidFill>
                <a:schemeClr val="dk1"/>
              </a:solidFill>
              <a:latin typeface="Arial"/>
              <a:ea typeface="Arial"/>
              <a:cs typeface="Arial"/>
              <a:sym typeface="Arial"/>
            </a:endParaRPr>
          </a:p>
          <a:p>
            <a:r>
              <a:rPr lang="en-US" altLang="zh-TW" sz="2400" dirty="0" smtClean="0">
                <a:solidFill>
                  <a:schemeClr val="dk1"/>
                </a:solidFill>
                <a:latin typeface="Arial"/>
                <a:ea typeface="Arial"/>
                <a:cs typeface="Arial"/>
                <a:sym typeface="Arial"/>
              </a:rPr>
              <a:t>2</a:t>
            </a:r>
            <a:r>
              <a:rPr lang="zh-TW" altLang="en-US" sz="2400" dirty="0" smtClean="0">
                <a:solidFill>
                  <a:schemeClr val="dk1"/>
                </a:solidFill>
                <a:latin typeface="Arial"/>
                <a:ea typeface="Arial"/>
                <a:cs typeface="Arial"/>
                <a:sym typeface="Arial"/>
              </a:rPr>
              <a:t>、</a:t>
            </a:r>
            <a:r>
              <a:rPr lang="en-GB" altLang="en-US" sz="2400" dirty="0" smtClean="0">
                <a:solidFill>
                  <a:schemeClr val="dk1"/>
                </a:solidFill>
                <a:latin typeface="Arial"/>
                <a:ea typeface="Arial"/>
                <a:cs typeface="Arial"/>
                <a:sym typeface="Arial"/>
              </a:rPr>
              <a:t>MBLB</a:t>
            </a:r>
            <a:r>
              <a:rPr lang="zh-TW" altLang="en-US" sz="2400" dirty="0" smtClean="0">
                <a:solidFill>
                  <a:schemeClr val="dk1"/>
                </a:solidFill>
                <a:latin typeface="Arial"/>
                <a:ea typeface="Arial"/>
                <a:cs typeface="Arial"/>
                <a:sym typeface="Arial"/>
              </a:rPr>
              <a:t>只能查詢未綁定銷售訂單的外包商庫存</a:t>
            </a:r>
            <a:endParaRPr lang="en-US" altLang="zh-TW" sz="2400" dirty="0" smtClean="0">
              <a:solidFill>
                <a:schemeClr val="dk1"/>
              </a:solidFill>
              <a:latin typeface="Arial"/>
              <a:ea typeface="Arial"/>
              <a:cs typeface="Arial"/>
              <a:sym typeface="Arial"/>
            </a:endParaRPr>
          </a:p>
          <a:p>
            <a:r>
              <a:rPr lang="en-US" altLang="en-US" sz="2400" dirty="0" smtClean="0">
                <a:solidFill>
                  <a:schemeClr val="dk1"/>
                </a:solidFill>
                <a:latin typeface="Arial"/>
                <a:ea typeface="Arial"/>
                <a:cs typeface="Arial"/>
                <a:sym typeface="Arial"/>
              </a:rPr>
              <a:t>3</a:t>
            </a:r>
            <a:r>
              <a:rPr lang="zh-TW" altLang="en-US" sz="2400" dirty="0" smtClean="0">
                <a:solidFill>
                  <a:schemeClr val="dk1"/>
                </a:solidFill>
                <a:latin typeface="Arial"/>
                <a:ea typeface="Arial"/>
                <a:cs typeface="Arial"/>
                <a:sym typeface="Arial"/>
              </a:rPr>
              <a:t>、綁定銷售訂單的庫存需用</a:t>
            </a:r>
            <a:r>
              <a:rPr lang="en-US" altLang="zh-TW" sz="2400" dirty="0" smtClean="0">
                <a:solidFill>
                  <a:schemeClr val="dk1"/>
                </a:solidFill>
                <a:latin typeface="Arial"/>
                <a:ea typeface="Arial"/>
                <a:cs typeface="Arial"/>
                <a:sym typeface="Arial"/>
              </a:rPr>
              <a:t>MB52/MMBE</a:t>
            </a:r>
            <a:r>
              <a:rPr lang="zh-TW" altLang="en-US" sz="2400" dirty="0" smtClean="0">
                <a:solidFill>
                  <a:schemeClr val="dk1"/>
                </a:solidFill>
                <a:latin typeface="Arial"/>
                <a:ea typeface="Arial"/>
                <a:cs typeface="Arial"/>
                <a:sym typeface="Arial"/>
              </a:rPr>
              <a:t>查詢</a:t>
            </a:r>
            <a:endParaRPr lang="en-GB" altLang="en-US" sz="2400" dirty="0" smtClean="0">
              <a:solidFill>
                <a:schemeClr val="dk1"/>
              </a:solidFill>
              <a:latin typeface="Arial"/>
              <a:ea typeface="Arial"/>
              <a:cs typeface="Arial"/>
              <a:sym typeface="Arial"/>
            </a:endParaRPr>
          </a:p>
          <a:p>
            <a:endParaRPr lang="en-US" altLang="zh-TW" sz="2400" dirty="0" smtClean="0">
              <a:solidFill>
                <a:schemeClr val="dk1"/>
              </a:solidFill>
              <a:latin typeface="Arial"/>
              <a:ea typeface="Arial"/>
              <a:cs typeface="Arial"/>
              <a:sym typeface="Arial"/>
            </a:endParaRPr>
          </a:p>
          <a:p>
            <a:r>
              <a:rPr lang="en-US" altLang="en-US" sz="2400" dirty="0" smtClean="0">
                <a:solidFill>
                  <a:schemeClr val="dk1"/>
                </a:solidFill>
                <a:latin typeface="Arial"/>
                <a:ea typeface="Arial"/>
                <a:cs typeface="Arial"/>
                <a:sym typeface="Arial"/>
              </a:rPr>
              <a:t> </a:t>
            </a:r>
            <a:endParaRPr lang="zh-TW" altLang="en-US" sz="2400" dirty="0" smtClean="0">
              <a:solidFill>
                <a:schemeClr val="dk1"/>
              </a:solidFill>
              <a:latin typeface="Arial"/>
              <a:ea typeface="Arial"/>
              <a:cs typeface="Arial"/>
              <a:sym typeface="Arial"/>
            </a:endParaRPr>
          </a:p>
          <a:p>
            <a:endParaRPr lang="zh-TW" altLang="en-US" sz="2400" dirty="0">
              <a:solidFill>
                <a:schemeClr val="dk1"/>
              </a:solidFill>
              <a:latin typeface="Arial"/>
              <a:ea typeface="Arial"/>
              <a:cs typeface="Arial"/>
              <a:sym typeface="Arial"/>
            </a:endParaRPr>
          </a:p>
        </p:txBody>
      </p:sp>
      <p:sp>
        <p:nvSpPr>
          <p:cNvPr id="21" name="TextBox 2"/>
          <p:cNvSpPr/>
          <p:nvPr/>
        </p:nvSpPr>
        <p:spPr>
          <a:xfrm>
            <a:off x="15501982" y="429386"/>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5</a:t>
            </a:r>
            <a:endParaRPr lang="en-US" sz="1600" b="0" strike="noStrike" spc="-1" dirty="0">
              <a:solidFill>
                <a:srgbClr val="000000"/>
              </a:solidFill>
              <a:latin typeface="Calibri"/>
            </a:endParaRPr>
          </a:p>
        </p:txBody>
      </p:sp>
      <p:sp>
        <p:nvSpPr>
          <p:cNvPr id="38" name="文字方塊 37">
            <a:extLst>
              <a:ext uri="{FF2B5EF4-FFF2-40B4-BE49-F238E27FC236}">
                <a16:creationId xmlns:a16="http://schemas.microsoft.com/office/drawing/2014/main" xmlns="" id="{83E6F622-2FBE-CC67-50FE-4ABD7D8B9696}"/>
              </a:ext>
            </a:extLst>
          </p:cNvPr>
          <p:cNvSpPr txBox="1"/>
          <p:nvPr/>
        </p:nvSpPr>
        <p:spPr>
          <a:xfrm>
            <a:off x="2387255" y="858014"/>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MM-IM-0070</a:t>
            </a:r>
            <a:r>
              <a:rPr kumimoji="0" lang="zh-TW" altLang="en-US" b="1" dirty="0">
                <a:latin typeface="微軟正黑體" panose="020B0604030504040204" pitchFamily="34" charset="-120"/>
                <a:ea typeface="微軟正黑體" panose="020B0604030504040204" pitchFamily="34" charset="-120"/>
              </a:rPr>
              <a:t> 採購外</a:t>
            </a:r>
            <a:r>
              <a:rPr kumimoji="0" lang="zh-TW" altLang="en-US" b="1" dirty="0" smtClean="0">
                <a:latin typeface="微軟正黑體" panose="020B0604030504040204" pitchFamily="34" charset="-120"/>
                <a:ea typeface="微軟正黑體" panose="020B0604030504040204" pitchFamily="34" charset="-120"/>
              </a:rPr>
              <a:t>包</a:t>
            </a:r>
            <a:r>
              <a:rPr lang="zh-TW" altLang="en-US" b="1" dirty="0" smtClean="0">
                <a:latin typeface="微軟正黑體" panose="020B0604030504040204" pitchFamily="34" charset="-120"/>
                <a:ea typeface="微軟正黑體" panose="020B0604030504040204" pitchFamily="34" charset="-120"/>
              </a:rPr>
              <a:t>發</a:t>
            </a:r>
            <a:r>
              <a:rPr kumimoji="0" lang="zh-TW" altLang="en-US" b="1" dirty="0" smtClean="0">
                <a:latin typeface="微軟正黑體" panose="020B0604030504040204" pitchFamily="34" charset="-120"/>
                <a:ea typeface="微軟正黑體" panose="020B0604030504040204" pitchFamily="34" charset="-120"/>
              </a:rPr>
              <a:t>退</a:t>
            </a:r>
            <a:r>
              <a:rPr kumimoji="0" lang="zh-TW" altLang="en-US" b="1" dirty="0">
                <a:latin typeface="微軟正黑體" panose="020B0604030504040204" pitchFamily="34" charset="-120"/>
                <a:ea typeface="微軟正黑體" panose="020B0604030504040204" pitchFamily="34" charset="-120"/>
              </a:rPr>
              <a:t>料流程</a:t>
            </a:r>
          </a:p>
        </p:txBody>
      </p:sp>
    </p:spTree>
    <p:extLst>
      <p:ext uri="{BB962C8B-B14F-4D97-AF65-F5344CB8AC3E}">
        <p14:creationId xmlns:p14="http://schemas.microsoft.com/office/powerpoint/2010/main" xmlns="" val="601738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16338</TotalTime>
  <Words>1214</Words>
  <Application>Collabora_Office/23.05.5.4$Linux_X86_64 LibreOffice_project/1681200a96e5ffa1bee996c23ec760042f91abfa</Application>
  <PresentationFormat>自訂</PresentationFormat>
  <Paragraphs>278</Paragraphs>
  <Slides>10</Slides>
  <Notes>4</Notes>
  <HiddenSlides>0</HiddenSlides>
  <MMClips>0</MMClips>
  <ScaleCrop>false</ScaleCrop>
  <HeadingPairs>
    <vt:vector size="4" baseType="variant">
      <vt:variant>
        <vt:lpstr>佈景主題</vt:lpstr>
      </vt:variant>
      <vt:variant>
        <vt:i4>5</vt:i4>
      </vt:variant>
      <vt:variant>
        <vt:lpstr>投影片標題</vt:lpstr>
      </vt:variant>
      <vt:variant>
        <vt:i4>10</vt:i4>
      </vt:variant>
    </vt:vector>
  </HeadingPairs>
  <TitlesOfParts>
    <vt:vector size="15"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164</cp:revision>
  <dcterms:created xsi:type="dcterms:W3CDTF">2023-05-31T01:27:04Z</dcterms:created>
  <dcterms:modified xsi:type="dcterms:W3CDTF">2025-07-08T12:25:31Z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