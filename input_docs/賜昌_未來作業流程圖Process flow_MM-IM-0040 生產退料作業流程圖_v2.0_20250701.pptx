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85" r:id="rId9"/>
    <p:sldId id="286"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0" autoAdjust="0"/>
    <p:restoredTop sz="87682" autoAdjust="0"/>
  </p:normalViewPr>
  <p:slideViewPr>
    <p:cSldViewPr>
      <p:cViewPr>
        <p:scale>
          <a:sx n="35" d="100"/>
          <a:sy n="35" d="100"/>
        </p:scale>
        <p:origin x="-1108" y="-12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mtClean="0"/>
              <a:t> </a:t>
            </a:r>
            <a:r>
              <a:rPr lang="en-US" baseline="0" smtClean="0"/>
              <a:t> FTI KU </a:t>
            </a:r>
            <a:r>
              <a:rPr lang="zh-TW" altLang="en-US" baseline="0" smtClean="0"/>
              <a:t>建議 </a:t>
            </a:r>
            <a:r>
              <a:rPr lang="zh-TW" altLang="en-US" baseline="0" dirty="0" smtClean="0"/>
              <a:t>用工單原領用過批號，帶出它製造日、有效日、供應商批次 ，以及</a:t>
            </a:r>
            <a:r>
              <a:rPr lang="zh-TW" altLang="en-US" baseline="0" smtClean="0"/>
              <a:t>批次號碼  </a:t>
            </a: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extLst>
      <p:ext uri="{BB962C8B-B14F-4D97-AF65-F5344CB8AC3E}">
        <p14:creationId xmlns="" xmlns:p14="http://schemas.microsoft.com/office/powerpoint/2010/main" val="4069551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MM-IM-0040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生產退料作業流程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altLang="zh-TW" sz="1800" b="1" strike="noStrike" spc="-1" dirty="0" smtClean="0">
                          <a:solidFill>
                            <a:srgbClr val="000000"/>
                          </a:solidFill>
                          <a:latin typeface="Calibr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dirty="0">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b="1" spc="-1" dirty="0" smtClean="0">
                <a:solidFill>
                  <a:schemeClr val="dk1"/>
                </a:solidFill>
                <a:latin typeface="Microsoft JhengHei"/>
                <a:ea typeface="Microsoft JhengHei"/>
              </a:rPr>
              <a:t>MM-IM-0040 </a:t>
            </a:r>
            <a:r>
              <a:rPr lang="zh-TW" altLang="en-US" sz="2400" b="1" spc="-1" dirty="0" smtClean="0">
                <a:solidFill>
                  <a:schemeClr val="dk1"/>
                </a:solidFill>
                <a:latin typeface="Microsoft JhengHei"/>
                <a:ea typeface="Microsoft JhengHei"/>
              </a:rPr>
              <a:t>生產退料作業流程</a:t>
            </a:r>
            <a:endParaRPr lang="en-US" sz="2400" b="1" spc="-1" dirty="0" smtClean="0">
              <a:solidFill>
                <a:srgbClr val="000000"/>
              </a:solidFill>
            </a:endParaRPr>
          </a:p>
          <a:p>
            <a:pPr defTabSz="457200">
              <a:lnSpc>
                <a:spcPct val="100000"/>
              </a:lnSpc>
            </a:pPr>
            <a:endParaRPr lang="en-US" sz="2400" b="1"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9" name="流程圖: 文件 42">
            <a:extLst>
              <a:ext uri="{FF2B5EF4-FFF2-40B4-BE49-F238E27FC236}">
                <a16:creationId xmlns="" xmlns:a16="http://schemas.microsoft.com/office/drawing/2014/main" id="{08AE5DD3-368C-7E69-5B1E-D04DB6E5DF00}"/>
              </a:ext>
            </a:extLst>
          </p:cNvPr>
          <p:cNvSpPr/>
          <p:nvPr/>
        </p:nvSpPr>
        <p:spPr bwMode="auto">
          <a:xfrm>
            <a:off x="4571968" y="3078609"/>
            <a:ext cx="1841949" cy="88253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生產退料單</a:t>
            </a:r>
          </a:p>
        </p:txBody>
      </p:sp>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39898" y="229604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6" name="Straight Connector 284">
            <a:extLst>
              <a:ext uri="{FF2B5EF4-FFF2-40B4-BE49-F238E27FC236}">
                <a16:creationId xmlns="" xmlns:a16="http://schemas.microsoft.com/office/drawing/2014/main" id="{9B19B4BF-9599-B835-12D9-B67512228A7B}"/>
              </a:ext>
            </a:extLst>
          </p:cNvPr>
          <p:cNvCxnSpPr>
            <a:cxnSpLocks/>
          </p:cNvCxnSpPr>
          <p:nvPr/>
        </p:nvCxnSpPr>
        <p:spPr>
          <a:xfrm>
            <a:off x="6572232" y="1375217"/>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6786473"/>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因工單需求的變更或</a:t>
            </a:r>
            <a:r>
              <a:rPr lang="en-US" altLang="zh-TW" dirty="0"/>
              <a:t>BOM</a:t>
            </a:r>
            <a:r>
              <a:rPr lang="zh-TW" altLang="en-US" dirty="0"/>
              <a:t>材料改變、生產的餘料、或銷售訂單的拆單而造成退料需求，依據主檔訂單分攤。</a:t>
            </a:r>
            <a:endParaRPr lang="en-US" altLang="zh-TW" dirty="0"/>
          </a:p>
          <a:p>
            <a:pPr marL="342900" indent="-342900">
              <a:buFont typeface="+mj-lt"/>
              <a:buAutoNum type="arabicPeriod"/>
            </a:pPr>
            <a:r>
              <a:rPr lang="en-US" altLang="zh-TW" dirty="0"/>
              <a:t>CROCS </a:t>
            </a:r>
            <a:r>
              <a:rPr lang="zh-TW" altLang="en-US" dirty="0"/>
              <a:t>會每月</a:t>
            </a:r>
            <a:r>
              <a:rPr lang="en-US" altLang="zh-TW" dirty="0"/>
              <a:t>/</a:t>
            </a:r>
            <a:r>
              <a:rPr lang="zh-TW" altLang="en-US" dirty="0"/>
              <a:t>每周盤存用</a:t>
            </a:r>
            <a:r>
              <a:rPr lang="en-US" altLang="zh-TW" dirty="0"/>
              <a:t>MM-IM-0110</a:t>
            </a:r>
            <a:r>
              <a:rPr lang="zh-TW" altLang="en-US" dirty="0"/>
              <a:t>其他入庫方式進行回收料入庫處理，印尼廠區則後續會委外加工處理，底廠的回收料則會在產線上進行回爐耗用。</a:t>
            </a:r>
            <a:endParaRPr lang="en-US" altLang="zh-TW" dirty="0"/>
          </a:p>
          <a:p>
            <a:pPr marL="342900" indent="-342900">
              <a:buFont typeface="+mj-lt"/>
              <a:buAutoNum type="arabicPeriod"/>
            </a:pPr>
            <a:r>
              <a:rPr lang="zh-TW" altLang="en-US" dirty="0"/>
              <a:t>倉庫人員盤點退料、確認數量、並檢查外觀是否</a:t>
            </a:r>
            <a:r>
              <a:rPr lang="en-US" altLang="zh-TW" dirty="0"/>
              <a:t>OK</a:t>
            </a:r>
            <a:r>
              <a:rPr lang="zh-TW" altLang="en-US" dirty="0"/>
              <a:t>。</a:t>
            </a:r>
            <a:endParaRPr lang="en-US" altLang="zh-TW" dirty="0"/>
          </a:p>
          <a:p>
            <a:pPr marL="342900" indent="-342900">
              <a:buFont typeface="+mj-lt"/>
              <a:buAutoNum type="arabicPeriod"/>
            </a:pPr>
            <a:r>
              <a:rPr lang="zh-TW" altLang="en-US" dirty="0"/>
              <a:t>當有啟用</a:t>
            </a:r>
            <a:r>
              <a:rPr lang="en-US" altLang="zh-TW" dirty="0"/>
              <a:t>WMS</a:t>
            </a:r>
            <a:r>
              <a:rPr lang="zh-TW" altLang="en-US" dirty="0"/>
              <a:t>，則需要拋轉生產退料資料給</a:t>
            </a:r>
            <a:r>
              <a:rPr lang="en-US" altLang="zh-TW" dirty="0"/>
              <a:t>WMS</a:t>
            </a:r>
            <a:r>
              <a:rPr lang="zh-TW" altLang="en-US" dirty="0"/>
              <a:t>做退料入庫</a:t>
            </a:r>
            <a:r>
              <a:rPr lang="zh-TW" altLang="en-US" dirty="0" smtClean="0"/>
              <a:t>。背景程式</a:t>
            </a:r>
            <a:r>
              <a:rPr lang="en-US" altLang="zh-TW" dirty="0" smtClean="0"/>
              <a:t>ZMMI087</a:t>
            </a:r>
            <a:r>
              <a:rPr lang="zh-TW" altLang="en-US" dirty="0" smtClean="0"/>
              <a:t>將退料單資料拋給</a:t>
            </a:r>
            <a:r>
              <a:rPr lang="en-US" altLang="zh-TW" dirty="0" smtClean="0"/>
              <a:t>WMS</a:t>
            </a:r>
            <a:r>
              <a:rPr lang="zh-TW" altLang="en-US" dirty="0" smtClean="0"/>
              <a:t>。</a:t>
            </a:r>
            <a:endParaRPr lang="en-US" altLang="zh-TW" dirty="0" smtClean="0"/>
          </a:p>
          <a:p>
            <a:pPr marL="342900" indent="-342900">
              <a:buFont typeface="+mj-lt"/>
              <a:buAutoNum type="arabicPeriod"/>
            </a:pPr>
            <a:r>
              <a:rPr lang="zh-TW" altLang="en-US" dirty="0" smtClean="0"/>
              <a:t>當</a:t>
            </a:r>
            <a:r>
              <a:rPr lang="zh-TW" altLang="en-US" dirty="0"/>
              <a:t>有啟用</a:t>
            </a:r>
            <a:r>
              <a:rPr lang="en-US" altLang="zh-TW" dirty="0"/>
              <a:t>WMS</a:t>
            </a:r>
            <a:r>
              <a:rPr lang="zh-TW" altLang="en-US" dirty="0"/>
              <a:t>則由</a:t>
            </a:r>
            <a:r>
              <a:rPr lang="en-US" altLang="zh-TW" dirty="0"/>
              <a:t>WMS</a:t>
            </a:r>
            <a:r>
              <a:rPr lang="zh-TW" altLang="en-US" dirty="0"/>
              <a:t>退料上架後回傳</a:t>
            </a:r>
            <a:r>
              <a:rPr lang="en-US" altLang="zh-TW" dirty="0"/>
              <a:t>SAP</a:t>
            </a:r>
            <a:r>
              <a:rPr lang="zh-TW" altLang="en-US" dirty="0"/>
              <a:t>執行自動工單退</a:t>
            </a:r>
            <a:r>
              <a:rPr lang="zh-TW" altLang="en-US" dirty="0" smtClean="0"/>
              <a:t>料</a:t>
            </a:r>
            <a:r>
              <a:rPr lang="en-US" altLang="zh-TW" dirty="0" smtClean="0"/>
              <a:t>,</a:t>
            </a:r>
            <a:r>
              <a:rPr lang="zh-TW" altLang="en-US" dirty="0" smtClean="0"/>
              <a:t>安排背景程式</a:t>
            </a:r>
            <a:r>
              <a:rPr lang="en-US" altLang="zh-TW" dirty="0" smtClean="0"/>
              <a:t>ZMMI088 </a:t>
            </a:r>
            <a:r>
              <a:rPr lang="zh-TW" altLang="en-US" dirty="0" smtClean="0"/>
              <a:t>將備料結果傳入</a:t>
            </a:r>
            <a:r>
              <a:rPr lang="en-US" altLang="zh-TW" dirty="0" smtClean="0"/>
              <a:t>SAP</a:t>
            </a:r>
            <a:r>
              <a:rPr lang="zh-TW" altLang="en-US" dirty="0" smtClean="0"/>
              <a:t>作發料過帳</a:t>
            </a:r>
            <a:endParaRPr lang="en-US" altLang="zh-TW" dirty="0" smtClean="0"/>
          </a:p>
          <a:p>
            <a:pPr marL="342900" indent="-342900">
              <a:buFont typeface="+mj-lt"/>
              <a:buAutoNum type="arabicPeriod"/>
            </a:pPr>
            <a:r>
              <a:rPr lang="zh-TW" altLang="en-US" dirty="0" smtClean="0"/>
              <a:t>沒</a:t>
            </a:r>
            <a:r>
              <a:rPr lang="zh-TW" altLang="en-US" dirty="0"/>
              <a:t>啟用</a:t>
            </a:r>
            <a:r>
              <a:rPr lang="en-US" altLang="zh-TW" dirty="0"/>
              <a:t>WMS</a:t>
            </a:r>
            <a:r>
              <a:rPr lang="zh-TW" altLang="en-US" dirty="0" smtClean="0"/>
              <a:t>則以</a:t>
            </a:r>
            <a:r>
              <a:rPr lang="en-US" altLang="zh-TW" dirty="0" smtClean="0"/>
              <a:t>ZMM047</a:t>
            </a:r>
            <a:r>
              <a:rPr lang="zh-TW" altLang="en-US" dirty="0" smtClean="0"/>
              <a:t>手動作業</a:t>
            </a:r>
            <a:r>
              <a:rPr lang="zh-TW" altLang="en-US" dirty="0"/>
              <a:t>。</a:t>
            </a:r>
            <a:endParaRPr lang="en-US" altLang="zh-TW" dirty="0"/>
          </a:p>
          <a:p>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3714382" y="1347949"/>
            <a:ext cx="1853246" cy="400110"/>
          </a:xfrm>
          <a:prstGeom prst="rect">
            <a:avLst/>
          </a:prstGeom>
          <a:noFill/>
        </p:spPr>
        <p:txBody>
          <a:bodyPr wrap="square" lIns="137160" tIns="68580" rIns="137160" bIns="68580" rtlCol="0">
            <a:spAutoFit/>
          </a:bodyPr>
          <a:lstStyle/>
          <a:p>
            <a:pPr algn="ctr"/>
            <a:r>
              <a:rPr lang="zh-TW" altLang="en-US" sz="1700" dirty="0"/>
              <a:t>生產單位</a:t>
            </a:r>
          </a:p>
        </p:txBody>
      </p:sp>
      <p:cxnSp>
        <p:nvCxnSpPr>
          <p:cNvPr id="11" name="肘形接點 68">
            <a:extLst>
              <a:ext uri="{FF2B5EF4-FFF2-40B4-BE49-F238E27FC236}">
                <a16:creationId xmlns="" xmlns:a16="http://schemas.microsoft.com/office/drawing/2014/main" id="{24024915-9D25-B9A4-2836-72F0277283A4}"/>
              </a:ext>
            </a:extLst>
          </p:cNvPr>
          <p:cNvCxnSpPr>
            <a:cxnSpLocks/>
            <a:stCxn id="2" idx="3"/>
          </p:cNvCxnSpPr>
          <p:nvPr/>
        </p:nvCxnSpPr>
        <p:spPr>
          <a:xfrm flipV="1">
            <a:off x="2237729" y="2685700"/>
            <a:ext cx="980093" cy="162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 xmlns:a16="http://schemas.microsoft.com/office/drawing/2014/main" id="{0F2761B4-5F29-64DD-1721-5831D073894C}"/>
              </a:ext>
            </a:extLst>
          </p:cNvPr>
          <p:cNvSpPr txBox="1"/>
          <p:nvPr/>
        </p:nvSpPr>
        <p:spPr>
          <a:xfrm>
            <a:off x="8724968" y="1335648"/>
            <a:ext cx="1853246" cy="400110"/>
          </a:xfrm>
          <a:prstGeom prst="rect">
            <a:avLst/>
          </a:prstGeom>
          <a:noFill/>
        </p:spPr>
        <p:txBody>
          <a:bodyPr wrap="square" lIns="137160" tIns="68580" rIns="137160" bIns="68580" rtlCol="0">
            <a:spAutoFit/>
          </a:bodyPr>
          <a:lstStyle/>
          <a:p>
            <a:pPr algn="ctr"/>
            <a:r>
              <a:rPr lang="zh-TW" altLang="en-US" sz="1700" dirty="0"/>
              <a:t>倉庫單位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MM-IM-0040</a:t>
            </a:r>
            <a:r>
              <a:rPr kumimoji="0" lang="zh-TW" altLang="en-US" b="1" dirty="0">
                <a:latin typeface="微軟正黑體" panose="020B0604030504040204" pitchFamily="34" charset="-120"/>
                <a:ea typeface="微軟正黑體" panose="020B0604030504040204" pitchFamily="34" charset="-120"/>
              </a:rPr>
              <a:t> 生產退料作業流程</a:t>
            </a:r>
          </a:p>
        </p:txBody>
      </p:sp>
      <p:sp>
        <p:nvSpPr>
          <p:cNvPr id="205" name="流程圖: 結束點 204">
            <a:extLst>
              <a:ext uri="{FF2B5EF4-FFF2-40B4-BE49-F238E27FC236}">
                <a16:creationId xmlns="" xmlns:a16="http://schemas.microsoft.com/office/drawing/2014/main" id="{AF6DEB4F-42E0-79A4-1C86-971AEA2097AF}"/>
              </a:ext>
            </a:extLst>
          </p:cNvPr>
          <p:cNvSpPr/>
          <p:nvPr/>
        </p:nvSpPr>
        <p:spPr bwMode="auto">
          <a:xfrm>
            <a:off x="12256203" y="7933630"/>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14" name="流程圖: 預設處理作業 21">
            <a:extLst>
              <a:ext uri="{FF2B5EF4-FFF2-40B4-BE49-F238E27FC236}">
                <a16:creationId xmlns="" xmlns:a16="http://schemas.microsoft.com/office/drawing/2014/main" id="{C263419B-5F97-C8B5-98DC-7439C1BCA752}"/>
              </a:ext>
            </a:extLst>
          </p:cNvPr>
          <p:cNvSpPr/>
          <p:nvPr/>
        </p:nvSpPr>
        <p:spPr bwMode="auto">
          <a:xfrm>
            <a:off x="421430" y="324347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PP-PC-0010</a:t>
            </a:r>
          </a:p>
          <a:p>
            <a:pPr algn="ctr" eaLnBrk="0" hangingPunct="0"/>
            <a:r>
              <a:rPr lang="zh-TW" altLang="en-US" sz="1500" dirty="0">
                <a:latin typeface="微軟正黑體" panose="020B0604030504040204" pitchFamily="34" charset="-120"/>
                <a:ea typeface="微軟正黑體" panose="020B0604030504040204" pitchFamily="34" charset="-120"/>
              </a:rPr>
              <a:t>打樣工單維護作業</a:t>
            </a:r>
          </a:p>
        </p:txBody>
      </p:sp>
      <p:sp>
        <p:nvSpPr>
          <p:cNvPr id="17" name="流程圖: 預設處理作業 21">
            <a:extLst>
              <a:ext uri="{FF2B5EF4-FFF2-40B4-BE49-F238E27FC236}">
                <a16:creationId xmlns="" xmlns:a16="http://schemas.microsoft.com/office/drawing/2014/main" id="{D696D085-525E-6713-A338-0416B53CE951}"/>
              </a:ext>
            </a:extLst>
          </p:cNvPr>
          <p:cNvSpPr/>
          <p:nvPr/>
        </p:nvSpPr>
        <p:spPr bwMode="auto">
          <a:xfrm>
            <a:off x="421429" y="471481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PP-PC-0020</a:t>
            </a:r>
          </a:p>
          <a:p>
            <a:pPr algn="ctr" eaLnBrk="0" hangingPunct="0"/>
            <a:r>
              <a:rPr lang="zh-TW" altLang="en-US" sz="1500" dirty="0">
                <a:latin typeface="微軟正黑體" panose="020B0604030504040204" pitchFamily="34" charset="-120"/>
                <a:ea typeface="微軟正黑體" panose="020B0604030504040204" pitchFamily="34" charset="-120"/>
              </a:rPr>
              <a:t>試量工單維護作業</a:t>
            </a:r>
          </a:p>
        </p:txBody>
      </p:sp>
      <p:sp>
        <p:nvSpPr>
          <p:cNvPr id="18" name="流程圖: 預設處理作業 21">
            <a:extLst>
              <a:ext uri="{FF2B5EF4-FFF2-40B4-BE49-F238E27FC236}">
                <a16:creationId xmlns="" xmlns:a16="http://schemas.microsoft.com/office/drawing/2014/main" id="{5E7A5412-BC49-18D8-918B-B55E43F4D57D}"/>
              </a:ext>
            </a:extLst>
          </p:cNvPr>
          <p:cNvSpPr/>
          <p:nvPr/>
        </p:nvSpPr>
        <p:spPr bwMode="auto">
          <a:xfrm>
            <a:off x="421424" y="6191719"/>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PP-PC-0030</a:t>
            </a:r>
          </a:p>
          <a:p>
            <a:pPr algn="ctr" eaLnBrk="0" hangingPunct="0"/>
            <a:r>
              <a:rPr lang="zh-TW" altLang="en-US" sz="1500" dirty="0">
                <a:latin typeface="微軟正黑體" panose="020B0604030504040204" pitchFamily="34" charset="-120"/>
                <a:ea typeface="微軟正黑體" panose="020B0604030504040204" pitchFamily="34" charset="-120"/>
              </a:rPr>
              <a:t>量產工單維護作業</a:t>
            </a:r>
          </a:p>
        </p:txBody>
      </p:sp>
      <p:cxnSp>
        <p:nvCxnSpPr>
          <p:cNvPr id="20" name="肘形接點 68">
            <a:extLst>
              <a:ext uri="{FF2B5EF4-FFF2-40B4-BE49-F238E27FC236}">
                <a16:creationId xmlns="" xmlns:a16="http://schemas.microsoft.com/office/drawing/2014/main" id="{2A1A0D80-26F9-D6D8-B88A-7FE437438145}"/>
              </a:ext>
            </a:extLst>
          </p:cNvPr>
          <p:cNvCxnSpPr>
            <a:cxnSpLocks/>
            <a:stCxn id="14" idx="3"/>
          </p:cNvCxnSpPr>
          <p:nvPr/>
        </p:nvCxnSpPr>
        <p:spPr>
          <a:xfrm flipV="1">
            <a:off x="2234542" y="2685700"/>
            <a:ext cx="983280" cy="117707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 xmlns:a16="http://schemas.microsoft.com/office/drawing/2014/main" id="{E6A929D4-78D8-D187-92CB-5A51BE82FD87}"/>
              </a:ext>
            </a:extLst>
          </p:cNvPr>
          <p:cNvCxnSpPr>
            <a:cxnSpLocks/>
            <a:stCxn id="17" idx="3"/>
          </p:cNvCxnSpPr>
          <p:nvPr/>
        </p:nvCxnSpPr>
        <p:spPr>
          <a:xfrm flipV="1">
            <a:off x="2234541" y="2685700"/>
            <a:ext cx="983281" cy="264841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6" name="肘形接點 68">
            <a:extLst>
              <a:ext uri="{FF2B5EF4-FFF2-40B4-BE49-F238E27FC236}">
                <a16:creationId xmlns="" xmlns:a16="http://schemas.microsoft.com/office/drawing/2014/main" id="{66E28980-1EE1-C5F9-8A46-65685EE64FF1}"/>
              </a:ext>
            </a:extLst>
          </p:cNvPr>
          <p:cNvCxnSpPr>
            <a:cxnSpLocks/>
            <a:stCxn id="18" idx="3"/>
          </p:cNvCxnSpPr>
          <p:nvPr/>
        </p:nvCxnSpPr>
        <p:spPr>
          <a:xfrm flipV="1">
            <a:off x="2234536" y="2685700"/>
            <a:ext cx="983286" cy="412531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3" name="表格 30">
            <a:extLst>
              <a:ext uri="{FF2B5EF4-FFF2-40B4-BE49-F238E27FC236}">
                <a16:creationId xmlns="" xmlns:a16="http://schemas.microsoft.com/office/drawing/2014/main" id="{D30D3DE9-BB34-7FFF-ED61-4786E91E4BBC}"/>
              </a:ext>
            </a:extLst>
          </p:cNvPr>
          <p:cNvGraphicFramePr>
            <a:graphicFrameLocks noGrp="1"/>
          </p:cNvGraphicFramePr>
          <p:nvPr>
            <p:extLst>
              <p:ext uri="{D42A27DB-BD31-4B8C-83A1-F6EECF244321}">
                <p14:modId xmlns="" xmlns:p14="http://schemas.microsoft.com/office/powerpoint/2010/main" val="67846325"/>
              </p:ext>
            </p:extLst>
          </p:nvPr>
        </p:nvGraphicFramePr>
        <p:xfrm>
          <a:off x="6786546" y="2208234"/>
          <a:ext cx="1797828" cy="1238591"/>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盤點數量、檢查外觀</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 name="Group 220">
            <a:extLst>
              <a:ext uri="{FF2B5EF4-FFF2-40B4-BE49-F238E27FC236}">
                <a16:creationId xmlns="" xmlns:a16="http://schemas.microsoft.com/office/drawing/2014/main" id="{EE2EFB62-64E8-A5E0-F94F-0FA2D59292D5}"/>
              </a:ext>
            </a:extLst>
          </p:cNvPr>
          <p:cNvGrpSpPr/>
          <p:nvPr/>
        </p:nvGrpSpPr>
        <p:grpSpPr>
          <a:xfrm>
            <a:off x="8338587" y="2004941"/>
            <a:ext cx="533400" cy="408605"/>
            <a:chOff x="5906184" y="1486857"/>
            <a:chExt cx="355600" cy="272361"/>
          </a:xfrm>
        </p:grpSpPr>
        <p:sp>
          <p:nvSpPr>
            <p:cNvPr id="226" name="Oval 221">
              <a:extLst>
                <a:ext uri="{FF2B5EF4-FFF2-40B4-BE49-F238E27FC236}">
                  <a16:creationId xmlns="" xmlns:a16="http://schemas.microsoft.com/office/drawing/2014/main"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 xmlns:a16="http://schemas.microsoft.com/office/drawing/2014/main"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243" name="肘形接點 68">
            <a:extLst>
              <a:ext uri="{FF2B5EF4-FFF2-40B4-BE49-F238E27FC236}">
                <a16:creationId xmlns="" xmlns:a16="http://schemas.microsoft.com/office/drawing/2014/main" id="{3ED44D61-8379-D9AF-8A76-04CA85A471FF}"/>
              </a:ext>
            </a:extLst>
          </p:cNvPr>
          <p:cNvCxnSpPr>
            <a:cxnSpLocks/>
            <a:endCxn id="21" idx="1"/>
          </p:cNvCxnSpPr>
          <p:nvPr/>
        </p:nvCxnSpPr>
        <p:spPr>
          <a:xfrm>
            <a:off x="8572496" y="2786840"/>
            <a:ext cx="511582" cy="3025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0" name="肘形接點 68">
            <a:extLst>
              <a:ext uri="{FF2B5EF4-FFF2-40B4-BE49-F238E27FC236}">
                <a16:creationId xmlns="" xmlns:a16="http://schemas.microsoft.com/office/drawing/2014/main" id="{D6DDC060-067B-1B07-0195-F13705EFFF6A}"/>
              </a:ext>
            </a:extLst>
          </p:cNvPr>
          <p:cNvCxnSpPr>
            <a:cxnSpLocks/>
            <a:stCxn id="22" idx="1"/>
            <a:endCxn id="103" idx="0"/>
          </p:cNvCxnSpPr>
          <p:nvPr/>
        </p:nvCxnSpPr>
        <p:spPr>
          <a:xfrm rot="10800000" flipV="1">
            <a:off x="7620509" y="4983858"/>
            <a:ext cx="1467493" cy="272939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 name="肘形接點 68">
            <a:extLst>
              <a:ext uri="{FF2B5EF4-FFF2-40B4-BE49-F238E27FC236}">
                <a16:creationId xmlns="" xmlns:a16="http://schemas.microsoft.com/office/drawing/2014/main" id="{CCE00A9C-ED26-405E-C48D-1DEF5E85096A}"/>
              </a:ext>
            </a:extLst>
          </p:cNvPr>
          <p:cNvCxnSpPr>
            <a:cxnSpLocks/>
            <a:endCxn id="19" idx="0"/>
          </p:cNvCxnSpPr>
          <p:nvPr/>
        </p:nvCxnSpPr>
        <p:spPr>
          <a:xfrm rot="5400000">
            <a:off x="3680298" y="3741537"/>
            <a:ext cx="911656" cy="1442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9" name="流程圖: 決策 50">
            <a:extLst>
              <a:ext uri="{FF2B5EF4-FFF2-40B4-BE49-F238E27FC236}">
                <a16:creationId xmlns="" xmlns:a16="http://schemas.microsoft.com/office/drawing/2014/main" id="{54D21065-30F9-A6A2-DB38-6DC722FF89AB}"/>
              </a:ext>
            </a:extLst>
          </p:cNvPr>
          <p:cNvSpPr/>
          <p:nvPr/>
        </p:nvSpPr>
        <p:spPr bwMode="auto">
          <a:xfrm>
            <a:off x="3207937" y="4204579"/>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回收料</a:t>
            </a:r>
            <a:r>
              <a:rPr lang="en-US" altLang="zh-TW" sz="1500" dirty="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cxnSp>
        <p:nvCxnSpPr>
          <p:cNvPr id="24" name="肘形接點 68">
            <a:extLst>
              <a:ext uri="{FF2B5EF4-FFF2-40B4-BE49-F238E27FC236}">
                <a16:creationId xmlns="" xmlns:a16="http://schemas.microsoft.com/office/drawing/2014/main" id="{61C6B2E4-BD5C-572F-0AFA-5A7E596EB7DB}"/>
              </a:ext>
            </a:extLst>
          </p:cNvPr>
          <p:cNvCxnSpPr>
            <a:cxnSpLocks/>
            <a:stCxn id="19" idx="3"/>
            <a:endCxn id="43" idx="1"/>
          </p:cNvCxnSpPr>
          <p:nvPr/>
        </p:nvCxnSpPr>
        <p:spPr>
          <a:xfrm flipV="1">
            <a:off x="5049886" y="3446825"/>
            <a:ext cx="2635574" cy="134681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9" name="TextBox 46">
            <a:extLst>
              <a:ext uri="{FF2B5EF4-FFF2-40B4-BE49-F238E27FC236}">
                <a16:creationId xmlns="" xmlns:a16="http://schemas.microsoft.com/office/drawing/2014/main" id="{0AFDA423-3172-5F57-968C-BE45AF6A6F10}"/>
              </a:ext>
            </a:extLst>
          </p:cNvPr>
          <p:cNvSpPr txBox="1"/>
          <p:nvPr/>
        </p:nvSpPr>
        <p:spPr>
          <a:xfrm>
            <a:off x="5500662" y="4364493"/>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30" name="Group 220">
            <a:extLst>
              <a:ext uri="{FF2B5EF4-FFF2-40B4-BE49-F238E27FC236}">
                <a16:creationId xmlns="" xmlns:a16="http://schemas.microsoft.com/office/drawing/2014/main" id="{61555F37-0E2D-83B6-7D84-B1E688EDCAD9}"/>
              </a:ext>
            </a:extLst>
          </p:cNvPr>
          <p:cNvGrpSpPr/>
          <p:nvPr/>
        </p:nvGrpSpPr>
        <p:grpSpPr>
          <a:xfrm>
            <a:off x="4714844" y="4293055"/>
            <a:ext cx="533400" cy="408605"/>
            <a:chOff x="5906184" y="1486857"/>
            <a:chExt cx="355600" cy="272361"/>
          </a:xfrm>
        </p:grpSpPr>
        <p:sp>
          <p:nvSpPr>
            <p:cNvPr id="32" name="Oval 221">
              <a:extLst>
                <a:ext uri="{FF2B5EF4-FFF2-40B4-BE49-F238E27FC236}">
                  <a16:creationId xmlns="" xmlns:a16="http://schemas.microsoft.com/office/drawing/2014/main" id="{1A47B1A3-EA6F-A385-AA74-29646FF416A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TextBox 222">
              <a:extLst>
                <a:ext uri="{FF2B5EF4-FFF2-40B4-BE49-F238E27FC236}">
                  <a16:creationId xmlns="" xmlns:a16="http://schemas.microsoft.com/office/drawing/2014/main" id="{3685548A-A3B3-B840-9E77-339F5B6B571B}"/>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38" name="肘形接點 68">
            <a:extLst>
              <a:ext uri="{FF2B5EF4-FFF2-40B4-BE49-F238E27FC236}">
                <a16:creationId xmlns="" xmlns:a16="http://schemas.microsoft.com/office/drawing/2014/main" id="{E4DED20E-1B37-8C80-853B-3974627ACB06}"/>
              </a:ext>
            </a:extLst>
          </p:cNvPr>
          <p:cNvCxnSpPr>
            <a:cxnSpLocks/>
            <a:stCxn id="19" idx="2"/>
            <a:endCxn id="44" idx="1"/>
          </p:cNvCxnSpPr>
          <p:nvPr/>
        </p:nvCxnSpPr>
        <p:spPr>
          <a:xfrm rot="16200000" flipH="1">
            <a:off x="6107041" y="3404576"/>
            <a:ext cx="4142954" cy="8099212"/>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4" name="流程圖: 預設處理作業 21">
            <a:extLst>
              <a:ext uri="{FF2B5EF4-FFF2-40B4-BE49-F238E27FC236}">
                <a16:creationId xmlns="" xmlns:a16="http://schemas.microsoft.com/office/drawing/2014/main" id="{493466D8-0A92-477A-A66B-380D12A35AE9}"/>
              </a:ext>
            </a:extLst>
          </p:cNvPr>
          <p:cNvSpPr/>
          <p:nvPr/>
        </p:nvSpPr>
        <p:spPr bwMode="auto">
          <a:xfrm>
            <a:off x="12228124" y="8906363"/>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MM-IM-0110</a:t>
            </a:r>
          </a:p>
          <a:p>
            <a:pPr algn="ctr" eaLnBrk="0" hangingPunct="0"/>
            <a:r>
              <a:rPr lang="zh-TW" altLang="en-US" sz="1500" dirty="0">
                <a:latin typeface="微軟正黑體" panose="020B0604030504040204" pitchFamily="34" charset="-120"/>
                <a:ea typeface="微軟正黑體" panose="020B0604030504040204" pitchFamily="34" charset="-120"/>
              </a:rPr>
              <a:t>其他入庫作業流程</a:t>
            </a:r>
          </a:p>
        </p:txBody>
      </p:sp>
      <p:sp>
        <p:nvSpPr>
          <p:cNvPr id="46" name="TextBox 46">
            <a:extLst>
              <a:ext uri="{FF2B5EF4-FFF2-40B4-BE49-F238E27FC236}">
                <a16:creationId xmlns="" xmlns:a16="http://schemas.microsoft.com/office/drawing/2014/main" id="{8AE1351D-3379-B35B-F4E8-AC81585B30FA}"/>
              </a:ext>
            </a:extLst>
          </p:cNvPr>
          <p:cNvSpPr txBox="1"/>
          <p:nvPr/>
        </p:nvSpPr>
        <p:spPr>
          <a:xfrm>
            <a:off x="4286216" y="5436063"/>
            <a:ext cx="404262" cy="369389"/>
          </a:xfrm>
          <a:prstGeom prst="rect">
            <a:avLst/>
          </a:prstGeom>
          <a:noFill/>
        </p:spPr>
        <p:txBody>
          <a:bodyPr wrap="square" lIns="137160" tIns="68580" rIns="137160" bIns="68580" rtlCol="0">
            <a:spAutoFit/>
          </a:bodyPr>
          <a:lstStyle/>
          <a:p>
            <a:r>
              <a:rPr lang="zh-TW" altLang="en-US" sz="1500" dirty="0"/>
              <a:t>是</a:t>
            </a:r>
          </a:p>
        </p:txBody>
      </p:sp>
      <p:sp>
        <p:nvSpPr>
          <p:cNvPr id="22" name="流程圖: 決策 50">
            <a:extLst>
              <a:ext uri="{FF2B5EF4-FFF2-40B4-BE49-F238E27FC236}">
                <a16:creationId xmlns="" xmlns:a16="http://schemas.microsoft.com/office/drawing/2014/main" id="{000A7B69-C143-4EE9-08A9-594D1BC48EA9}"/>
              </a:ext>
            </a:extLst>
          </p:cNvPr>
          <p:cNvSpPr/>
          <p:nvPr/>
        </p:nvSpPr>
        <p:spPr bwMode="auto">
          <a:xfrm>
            <a:off x="9088001" y="4394796"/>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sp>
        <p:nvSpPr>
          <p:cNvPr id="27" name="流程圖: 預設處理作業 21">
            <a:extLst>
              <a:ext uri="{FF2B5EF4-FFF2-40B4-BE49-F238E27FC236}">
                <a16:creationId xmlns="" xmlns:a16="http://schemas.microsoft.com/office/drawing/2014/main" id="{B3971D41-8513-0422-44C7-9808FA6F131A}"/>
              </a:ext>
            </a:extLst>
          </p:cNvPr>
          <p:cNvSpPr/>
          <p:nvPr/>
        </p:nvSpPr>
        <p:spPr bwMode="auto">
          <a:xfrm>
            <a:off x="12276295" y="5048711"/>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51" name="肘形接點 68">
            <a:extLst>
              <a:ext uri="{FF2B5EF4-FFF2-40B4-BE49-F238E27FC236}">
                <a16:creationId xmlns="" xmlns:a16="http://schemas.microsoft.com/office/drawing/2014/main" id="{F98C2978-4121-E957-CB07-E9B7E23A1E5E}"/>
              </a:ext>
            </a:extLst>
          </p:cNvPr>
          <p:cNvCxnSpPr>
            <a:cxnSpLocks/>
            <a:stCxn id="22" idx="2"/>
          </p:cNvCxnSpPr>
          <p:nvPr/>
        </p:nvCxnSpPr>
        <p:spPr>
          <a:xfrm rot="5400000">
            <a:off x="9795641" y="5785405"/>
            <a:ext cx="425818" cy="8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2" name="TextBox 46">
            <a:extLst>
              <a:ext uri="{FF2B5EF4-FFF2-40B4-BE49-F238E27FC236}">
                <a16:creationId xmlns="" xmlns:a16="http://schemas.microsoft.com/office/drawing/2014/main" id="{5D633936-BCF3-4051-F857-9EA9E220A8B1}"/>
              </a:ext>
            </a:extLst>
          </p:cNvPr>
          <p:cNvSpPr txBox="1"/>
          <p:nvPr/>
        </p:nvSpPr>
        <p:spPr>
          <a:xfrm>
            <a:off x="10144132" y="5501484"/>
            <a:ext cx="404262" cy="369389"/>
          </a:xfrm>
          <a:prstGeom prst="rect">
            <a:avLst/>
          </a:prstGeom>
          <a:noFill/>
        </p:spPr>
        <p:txBody>
          <a:bodyPr wrap="square" lIns="137160" tIns="68580" rIns="137160" bIns="68580" rtlCol="0">
            <a:spAutoFit/>
          </a:bodyPr>
          <a:lstStyle/>
          <a:p>
            <a:r>
              <a:rPr lang="zh-TW" altLang="en-US" sz="1500" dirty="0"/>
              <a:t>是</a:t>
            </a:r>
          </a:p>
        </p:txBody>
      </p:sp>
      <p:sp>
        <p:nvSpPr>
          <p:cNvPr id="194" name="TextBox 46">
            <a:extLst>
              <a:ext uri="{FF2B5EF4-FFF2-40B4-BE49-F238E27FC236}">
                <a16:creationId xmlns="" xmlns:a16="http://schemas.microsoft.com/office/drawing/2014/main" id="{F347AD0A-1701-D627-C1A8-E7913C31BB17}"/>
              </a:ext>
            </a:extLst>
          </p:cNvPr>
          <p:cNvSpPr txBox="1"/>
          <p:nvPr/>
        </p:nvSpPr>
        <p:spPr>
          <a:xfrm>
            <a:off x="9306370" y="6108150"/>
            <a:ext cx="404262" cy="369389"/>
          </a:xfrm>
          <a:prstGeom prst="rect">
            <a:avLst/>
          </a:prstGeom>
          <a:noFill/>
        </p:spPr>
        <p:txBody>
          <a:bodyPr wrap="square" lIns="137160" tIns="68580" rIns="137160" bIns="68580" rtlCol="0">
            <a:spAutoFit/>
          </a:bodyPr>
          <a:lstStyle/>
          <a:p>
            <a:r>
              <a:rPr lang="zh-TW" altLang="en-US" sz="1500" dirty="0"/>
              <a:t>否</a:t>
            </a:r>
          </a:p>
        </p:txBody>
      </p:sp>
      <p:sp>
        <p:nvSpPr>
          <p:cNvPr id="21" name="流程圖: 決策 50">
            <a:extLst>
              <a:ext uri="{FF2B5EF4-FFF2-40B4-BE49-F238E27FC236}">
                <a16:creationId xmlns="" xmlns:a16="http://schemas.microsoft.com/office/drawing/2014/main" id="{F2D14CD2-B7B7-D6A5-A9CF-B8E71428972F}"/>
              </a:ext>
            </a:extLst>
          </p:cNvPr>
          <p:cNvSpPr/>
          <p:nvPr/>
        </p:nvSpPr>
        <p:spPr bwMode="auto">
          <a:xfrm>
            <a:off x="9084078" y="2228036"/>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檢查通過</a:t>
            </a:r>
            <a:endParaRPr lang="zh-TW" altLang="en-US" sz="1500" dirty="0">
              <a:latin typeface="微軟正黑體" panose="020B0604030504040204" pitchFamily="34" charset="-120"/>
              <a:ea typeface="微軟正黑體" panose="020B0604030504040204" pitchFamily="34" charset="-120"/>
            </a:endParaRPr>
          </a:p>
        </p:txBody>
      </p:sp>
      <p:cxnSp>
        <p:nvCxnSpPr>
          <p:cNvPr id="37" name="肘形接點 68">
            <a:extLst>
              <a:ext uri="{FF2B5EF4-FFF2-40B4-BE49-F238E27FC236}">
                <a16:creationId xmlns="" xmlns:a16="http://schemas.microsoft.com/office/drawing/2014/main" id="{02175CA6-FC66-5CFF-225A-CA7FA801C2FF}"/>
              </a:ext>
            </a:extLst>
          </p:cNvPr>
          <p:cNvCxnSpPr>
            <a:cxnSpLocks/>
            <a:stCxn id="21" idx="3"/>
            <a:endCxn id="139" idx="2"/>
          </p:cNvCxnSpPr>
          <p:nvPr/>
        </p:nvCxnSpPr>
        <p:spPr>
          <a:xfrm>
            <a:off x="10926027" y="2817099"/>
            <a:ext cx="289675" cy="140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2" name="肘形接點 68">
            <a:extLst>
              <a:ext uri="{FF2B5EF4-FFF2-40B4-BE49-F238E27FC236}">
                <a16:creationId xmlns="" xmlns:a16="http://schemas.microsoft.com/office/drawing/2014/main" id="{215A2324-D8CA-2E82-9179-D383D5F2A174}"/>
              </a:ext>
            </a:extLst>
          </p:cNvPr>
          <p:cNvCxnSpPr>
            <a:cxnSpLocks/>
            <a:stCxn id="21" idx="2"/>
            <a:endCxn id="22" idx="0"/>
          </p:cNvCxnSpPr>
          <p:nvPr/>
        </p:nvCxnSpPr>
        <p:spPr>
          <a:xfrm rot="16200000" flipH="1">
            <a:off x="9512697" y="3898517"/>
            <a:ext cx="988634" cy="392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肘形接點 68">
            <a:extLst>
              <a:ext uri="{FF2B5EF4-FFF2-40B4-BE49-F238E27FC236}">
                <a16:creationId xmlns="" xmlns:a16="http://schemas.microsoft.com/office/drawing/2014/main" id="{D2362006-2FBA-98A3-9752-F3971CFF0BE1}"/>
              </a:ext>
            </a:extLst>
          </p:cNvPr>
          <p:cNvCxnSpPr>
            <a:cxnSpLocks/>
            <a:stCxn id="104" idx="3"/>
            <a:endCxn id="205" idx="1"/>
          </p:cNvCxnSpPr>
          <p:nvPr/>
        </p:nvCxnSpPr>
        <p:spPr>
          <a:xfrm>
            <a:off x="8525908" y="8320475"/>
            <a:ext cx="3730295" cy="44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cxnSp>
        <p:nvCxnSpPr>
          <p:cNvPr id="88" name="肘形接點 68">
            <a:extLst>
              <a:ext uri="{FF2B5EF4-FFF2-40B4-BE49-F238E27FC236}">
                <a16:creationId xmlns="" xmlns:a16="http://schemas.microsoft.com/office/drawing/2014/main" id="{F98C2978-4121-E957-CB07-E9B7E23A1E5E}"/>
              </a:ext>
            </a:extLst>
          </p:cNvPr>
          <p:cNvCxnSpPr>
            <a:cxnSpLocks/>
            <a:stCxn id="27" idx="2"/>
          </p:cNvCxnSpPr>
          <p:nvPr/>
        </p:nvCxnSpPr>
        <p:spPr>
          <a:xfrm rot="16200000" flipH="1">
            <a:off x="12949801" y="6520351"/>
            <a:ext cx="475921" cy="982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1" name="肘形接點 68">
            <a:extLst>
              <a:ext uri="{FF2B5EF4-FFF2-40B4-BE49-F238E27FC236}">
                <a16:creationId xmlns="" xmlns:a16="http://schemas.microsoft.com/office/drawing/2014/main" id="{F98C2978-4121-E957-CB07-E9B7E23A1E5E}"/>
              </a:ext>
            </a:extLst>
          </p:cNvPr>
          <p:cNvCxnSpPr>
            <a:cxnSpLocks/>
            <a:stCxn id="82" idx="3"/>
            <a:endCxn id="27" idx="1"/>
          </p:cNvCxnSpPr>
          <p:nvPr/>
        </p:nvCxnSpPr>
        <p:spPr>
          <a:xfrm flipV="1">
            <a:off x="10913524" y="5668007"/>
            <a:ext cx="1362771" cy="93795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80" name="群組 79"/>
          <p:cNvGrpSpPr/>
          <p:nvPr/>
        </p:nvGrpSpPr>
        <p:grpSpPr>
          <a:xfrm>
            <a:off x="9102724" y="5998740"/>
            <a:ext cx="1819288" cy="1217256"/>
            <a:chOff x="15073354" y="8308668"/>
            <a:chExt cx="1819288" cy="1217256"/>
          </a:xfrm>
        </p:grpSpPr>
        <p:sp>
          <p:nvSpPr>
            <p:cNvPr id="81" name="流程圖: 程序 8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ZMM087</a:t>
              </a:r>
              <a:endParaRPr lang="en-GB" sz="1500" b="1" dirty="0">
                <a:latin typeface="微軟正黑體" panose="020B0604030504040204" pitchFamily="34" charset="-120"/>
                <a:ea typeface="微軟正黑體" panose="020B0604030504040204" pitchFamily="34" charset="-120"/>
              </a:endParaRPr>
            </a:p>
          </p:txBody>
        </p:sp>
        <p:sp>
          <p:nvSpPr>
            <p:cNvPr id="82" name="流程圖: 程序 8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拋預留單至</a:t>
              </a:r>
              <a:r>
                <a:rPr lang="en-US" altLang="zh-TW" sz="1500" dirty="0" smtClean="0">
                  <a:latin typeface="微軟正黑體" panose="020B0604030504040204" pitchFamily="34" charset="-120"/>
                  <a:ea typeface="微軟正黑體" panose="020B0604030504040204" pitchFamily="34" charset="-120"/>
                  <a:sym typeface="Arial"/>
                </a:rPr>
                <a:t>WMS</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83" name="流程圖: 程序 8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9" name="流程圖: 程序 88"/>
            <p:cNvSpPr/>
            <p:nvPr/>
          </p:nvSpPr>
          <p:spPr>
            <a:xfrm>
              <a:off x="1601064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93" name="群組 92"/>
          <p:cNvGrpSpPr/>
          <p:nvPr/>
        </p:nvGrpSpPr>
        <p:grpSpPr>
          <a:xfrm>
            <a:off x="12287272" y="6570244"/>
            <a:ext cx="1810800" cy="1217256"/>
            <a:chOff x="15073354" y="8308668"/>
            <a:chExt cx="1810800" cy="1217256"/>
          </a:xfrm>
        </p:grpSpPr>
        <p:sp>
          <p:nvSpPr>
            <p:cNvPr id="94" name="流程圖: 程序 9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ZMM088</a:t>
              </a:r>
              <a:endParaRPr lang="en-GB" sz="1500" b="1" dirty="0">
                <a:latin typeface="微軟正黑體" panose="020B0604030504040204" pitchFamily="34" charset="-120"/>
                <a:ea typeface="微軟正黑體" panose="020B0604030504040204" pitchFamily="34" charset="-120"/>
              </a:endParaRPr>
            </a:p>
          </p:txBody>
        </p:sp>
        <p:sp>
          <p:nvSpPr>
            <p:cNvPr id="95" name="流程圖: 程序 9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en-US" altLang="zh-TW" sz="1500" dirty="0" smtClean="0">
                  <a:latin typeface="微軟正黑體" panose="020B0604030504040204" pitchFamily="34" charset="-120"/>
                  <a:ea typeface="微軟正黑體" panose="020B0604030504040204" pitchFamily="34" charset="-120"/>
                  <a:sym typeface="Arial"/>
                </a:rPr>
                <a:t>WMS</a:t>
              </a:r>
              <a:r>
                <a:rPr lang="zh-TW" altLang="en-US" sz="1500" dirty="0" smtClean="0">
                  <a:latin typeface="微軟正黑體" panose="020B0604030504040204" pitchFamily="34" charset="-120"/>
                  <a:ea typeface="微軟正黑體" panose="020B0604030504040204" pitchFamily="34" charset="-120"/>
                  <a:sym typeface="Arial"/>
                </a:rPr>
                <a:t>回傳</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預留單過帳</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96" name="流程圖: 程序 9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7" name="流程圖: 程序 96"/>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73" name="Group 220">
            <a:extLst>
              <a:ext uri="{FF2B5EF4-FFF2-40B4-BE49-F238E27FC236}">
                <a16:creationId xmlns:a16="http://schemas.microsoft.com/office/drawing/2014/main" xmlns="" id="{2D9D24A9-3257-3D1C-400D-8D57457C936F}"/>
              </a:ext>
            </a:extLst>
          </p:cNvPr>
          <p:cNvGrpSpPr/>
          <p:nvPr/>
        </p:nvGrpSpPr>
        <p:grpSpPr>
          <a:xfrm>
            <a:off x="10689026" y="5733011"/>
            <a:ext cx="533400" cy="408605"/>
            <a:chOff x="5906184" y="1486857"/>
            <a:chExt cx="355600" cy="272361"/>
          </a:xfrm>
        </p:grpSpPr>
        <p:sp>
          <p:nvSpPr>
            <p:cNvPr id="74"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5"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85" name="Group 220">
            <a:extLst>
              <a:ext uri="{FF2B5EF4-FFF2-40B4-BE49-F238E27FC236}">
                <a16:creationId xmlns:a16="http://schemas.microsoft.com/office/drawing/2014/main" xmlns="" id="{2D9D24A9-3257-3D1C-400D-8D57457C936F}"/>
              </a:ext>
            </a:extLst>
          </p:cNvPr>
          <p:cNvGrpSpPr/>
          <p:nvPr/>
        </p:nvGrpSpPr>
        <p:grpSpPr>
          <a:xfrm>
            <a:off x="13802136" y="6345079"/>
            <a:ext cx="533400" cy="408605"/>
            <a:chOff x="5906184" y="1486857"/>
            <a:chExt cx="355600" cy="272361"/>
          </a:xfrm>
        </p:grpSpPr>
        <p:sp>
          <p:nvSpPr>
            <p:cNvPr id="86"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7"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102" name="群組 101"/>
          <p:cNvGrpSpPr/>
          <p:nvPr/>
        </p:nvGrpSpPr>
        <p:grpSpPr>
          <a:xfrm>
            <a:off x="6715108" y="7713252"/>
            <a:ext cx="1810800" cy="1217256"/>
            <a:chOff x="15073354" y="8308668"/>
            <a:chExt cx="1810800" cy="1217256"/>
          </a:xfrm>
        </p:grpSpPr>
        <p:sp>
          <p:nvSpPr>
            <p:cNvPr id="103" name="流程圖: 程序 10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ZMM047</a:t>
              </a:r>
              <a:endParaRPr lang="en-GB" sz="1500" b="1"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rPr>
                <a:t>工單退料</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sym typeface="Arial"/>
                </a:rPr>
                <a:t>(Mvt.262</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105" name="流程圖: 程序 10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6" name="流程圖: 程序 105"/>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07" name="Group 220">
            <a:extLst>
              <a:ext uri="{FF2B5EF4-FFF2-40B4-BE49-F238E27FC236}">
                <a16:creationId xmlns:a16="http://schemas.microsoft.com/office/drawing/2014/main" xmlns="" id="{2D9D24A9-3257-3D1C-400D-8D57457C936F}"/>
              </a:ext>
            </a:extLst>
          </p:cNvPr>
          <p:cNvGrpSpPr/>
          <p:nvPr/>
        </p:nvGrpSpPr>
        <p:grpSpPr>
          <a:xfrm>
            <a:off x="8215306" y="7430310"/>
            <a:ext cx="533400" cy="408605"/>
            <a:chOff x="5906184" y="1486857"/>
            <a:chExt cx="355600" cy="272361"/>
          </a:xfrm>
        </p:grpSpPr>
        <p:sp>
          <p:nvSpPr>
            <p:cNvPr id="10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114" name="群組 113"/>
          <p:cNvGrpSpPr/>
          <p:nvPr/>
        </p:nvGrpSpPr>
        <p:grpSpPr>
          <a:xfrm>
            <a:off x="3217822" y="2078477"/>
            <a:ext cx="1810800" cy="1217256"/>
            <a:chOff x="15073354" y="8308668"/>
            <a:chExt cx="1810800" cy="1217256"/>
          </a:xfrm>
        </p:grpSpPr>
        <p:sp>
          <p:nvSpPr>
            <p:cNvPr id="115" name="流程圖: 程序 11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ZPP024</a:t>
              </a:r>
              <a:endParaRPr lang="en-GB" sz="1500" b="1" dirty="0">
                <a:latin typeface="微軟正黑體" panose="020B0604030504040204" pitchFamily="34" charset="-120"/>
                <a:ea typeface="微軟正黑體" panose="020B0604030504040204" pitchFamily="34" charset="-120"/>
              </a:endParaRPr>
            </a:p>
          </p:txBody>
        </p:sp>
        <p:sp>
          <p:nvSpPr>
            <p:cNvPr id="116" name="流程圖: 程序 11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生產完工</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zh-TW" altLang="en-US" sz="1500" dirty="0" smtClean="0">
                  <a:latin typeface="微軟正黑體" panose="020B0604030504040204" pitchFamily="34" charset="-120"/>
                  <a:ea typeface="微軟正黑體" panose="020B0604030504040204" pitchFamily="34" charset="-120"/>
                </a:rPr>
                <a:t>建立退料清單</a:t>
              </a:r>
              <a:endParaRPr lang="zh-TW" altLang="en-US" sz="1500" dirty="0">
                <a:latin typeface="微軟正黑體" panose="020B0604030504040204" pitchFamily="34" charset="-120"/>
                <a:ea typeface="微軟正黑體" panose="020B0604030504040204" pitchFamily="34" charset="-120"/>
              </a:endParaRPr>
            </a:p>
          </p:txBody>
        </p:sp>
        <p:sp>
          <p:nvSpPr>
            <p:cNvPr id="117" name="流程圖: 程序 11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18" name="流程圖: 程序 117"/>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5" name="Group 220">
            <a:extLst>
              <a:ext uri="{FF2B5EF4-FFF2-40B4-BE49-F238E27FC236}">
                <a16:creationId xmlns="" xmlns:a16="http://schemas.microsoft.com/office/drawing/2014/main" id="{A9B401BC-DE49-5FC0-6565-D216316A23DA}"/>
              </a:ext>
            </a:extLst>
          </p:cNvPr>
          <p:cNvGrpSpPr/>
          <p:nvPr/>
        </p:nvGrpSpPr>
        <p:grpSpPr>
          <a:xfrm>
            <a:off x="4860896" y="1864163"/>
            <a:ext cx="533400" cy="408605"/>
            <a:chOff x="5906184" y="1486857"/>
            <a:chExt cx="355600" cy="272361"/>
          </a:xfrm>
        </p:grpSpPr>
        <p:sp>
          <p:nvSpPr>
            <p:cNvPr id="4"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135" name="TextBox 46">
            <a:extLst>
              <a:ext uri="{FF2B5EF4-FFF2-40B4-BE49-F238E27FC236}">
                <a16:creationId xmlns="" xmlns:a16="http://schemas.microsoft.com/office/drawing/2014/main" id="{5D633936-BCF3-4051-F857-9EA9E220A8B1}"/>
              </a:ext>
            </a:extLst>
          </p:cNvPr>
          <p:cNvSpPr txBox="1"/>
          <p:nvPr/>
        </p:nvSpPr>
        <p:spPr>
          <a:xfrm>
            <a:off x="10144132" y="3358344"/>
            <a:ext cx="404262" cy="369389"/>
          </a:xfrm>
          <a:prstGeom prst="rect">
            <a:avLst/>
          </a:prstGeom>
          <a:noFill/>
        </p:spPr>
        <p:txBody>
          <a:bodyPr wrap="square" lIns="137160" tIns="68580" rIns="137160" bIns="68580" rtlCol="0">
            <a:spAutoFit/>
          </a:bodyPr>
          <a:lstStyle/>
          <a:p>
            <a:r>
              <a:rPr lang="zh-TW" altLang="en-US" sz="1500" dirty="0"/>
              <a:t>是</a:t>
            </a:r>
          </a:p>
        </p:txBody>
      </p:sp>
      <p:sp>
        <p:nvSpPr>
          <p:cNvPr id="136" name="TextBox 46">
            <a:extLst>
              <a:ext uri="{FF2B5EF4-FFF2-40B4-BE49-F238E27FC236}">
                <a16:creationId xmlns="" xmlns:a16="http://schemas.microsoft.com/office/drawing/2014/main" id="{0AFDA423-3172-5F57-968C-BE45AF6A6F10}"/>
              </a:ext>
            </a:extLst>
          </p:cNvPr>
          <p:cNvSpPr txBox="1"/>
          <p:nvPr/>
        </p:nvSpPr>
        <p:spPr>
          <a:xfrm>
            <a:off x="10787074" y="2215336"/>
            <a:ext cx="404262" cy="369389"/>
          </a:xfrm>
          <a:prstGeom prst="rect">
            <a:avLst/>
          </a:prstGeom>
          <a:noFill/>
        </p:spPr>
        <p:txBody>
          <a:bodyPr wrap="square" lIns="137160" tIns="68580" rIns="137160" bIns="68580" rtlCol="0">
            <a:spAutoFit/>
          </a:bodyPr>
          <a:lstStyle/>
          <a:p>
            <a:r>
              <a:rPr lang="zh-TW" altLang="en-US" sz="1500" dirty="0"/>
              <a:t>否</a:t>
            </a:r>
          </a:p>
        </p:txBody>
      </p:sp>
      <p:sp>
        <p:nvSpPr>
          <p:cNvPr id="139" name="流程圖: 接點 51"/>
          <p:cNvSpPr/>
          <p:nvPr/>
        </p:nvSpPr>
        <p:spPr>
          <a:xfrm>
            <a:off x="11215702" y="2585226"/>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141" name="流程圖: 接點 51"/>
          <p:cNvSpPr/>
          <p:nvPr/>
        </p:nvSpPr>
        <p:spPr>
          <a:xfrm>
            <a:off x="5572100" y="2078477"/>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42" name="肘形接點 68">
            <a:extLst>
              <a:ext uri="{FF2B5EF4-FFF2-40B4-BE49-F238E27FC236}">
                <a16:creationId xmlns="" xmlns:a16="http://schemas.microsoft.com/office/drawing/2014/main" id="{02175CA6-FC66-5CFF-225A-CA7FA801C2FF}"/>
              </a:ext>
            </a:extLst>
          </p:cNvPr>
          <p:cNvCxnSpPr>
            <a:cxnSpLocks/>
            <a:stCxn id="141" idx="4"/>
          </p:cNvCxnSpPr>
          <p:nvPr/>
        </p:nvCxnSpPr>
        <p:spPr>
          <a:xfrm rot="5400000">
            <a:off x="5366200" y="2207459"/>
            <a:ext cx="140663" cy="81581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p>
          <a:p>
            <a:endParaRPr lang="en-US" sz="2400" dirty="0">
              <a:solidFill>
                <a:schemeClr val="dk1"/>
              </a:solidFill>
            </a:endParaRPr>
          </a:p>
          <a:p>
            <a:r>
              <a:rPr lang="zh-TW" altLang="en-US" sz="2400" dirty="0">
                <a:solidFill>
                  <a:schemeClr val="dk1"/>
                </a:solidFill>
              </a:rPr>
              <a:t>與</a:t>
            </a:r>
            <a:r>
              <a:rPr lang="en-US" altLang="zh-TW" sz="2400" dirty="0">
                <a:solidFill>
                  <a:schemeClr val="dk1"/>
                </a:solidFill>
              </a:rPr>
              <a:t>WMS</a:t>
            </a:r>
            <a:r>
              <a:rPr lang="zh-TW" altLang="en-US" sz="2400" dirty="0">
                <a:solidFill>
                  <a:schemeClr val="dk1"/>
                </a:solidFill>
              </a:rPr>
              <a:t>介接說明補充 </a:t>
            </a:r>
          </a:p>
          <a:p>
            <a:endParaRPr sz="2400" dirty="0"/>
          </a:p>
          <a:p>
            <a:endParaRPr dirty="0">
              <a:solidFill>
                <a:schemeClr val="dk1"/>
              </a:solidFill>
              <a:latin typeface="Arial"/>
              <a:ea typeface="Arial"/>
              <a:cs typeface="Arial"/>
              <a:sym typeface="Arial"/>
            </a:endParaRPr>
          </a:p>
        </p:txBody>
      </p:sp>
      <p:sp>
        <p:nvSpPr>
          <p:cNvPr id="3" name="圓角矩形 28">
            <a:extLst>
              <a:ext uri="{FF2B5EF4-FFF2-40B4-BE49-F238E27FC236}">
                <a16:creationId xmlns="" xmlns:a16="http://schemas.microsoft.com/office/drawing/2014/main" id="{C2E981FE-E5AB-6C37-425F-BAFFFFEFE29C}"/>
              </a:ext>
            </a:extLst>
          </p:cNvPr>
          <p:cNvSpPr/>
          <p:nvPr/>
        </p:nvSpPr>
        <p:spPr>
          <a:xfrm>
            <a:off x="1300983" y="347552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生產退料</a:t>
            </a:r>
          </a:p>
        </p:txBody>
      </p:sp>
      <p:sp>
        <p:nvSpPr>
          <p:cNvPr id="4" name="圓角矩形 40">
            <a:extLst>
              <a:ext uri="{FF2B5EF4-FFF2-40B4-BE49-F238E27FC236}">
                <a16:creationId xmlns="" xmlns:a16="http://schemas.microsoft.com/office/drawing/2014/main" id="{8889E903-BF03-A3B9-BD73-400B29EB51E9}"/>
              </a:ext>
            </a:extLst>
          </p:cNvPr>
          <p:cNvSpPr/>
          <p:nvPr/>
        </p:nvSpPr>
        <p:spPr>
          <a:xfrm>
            <a:off x="4463213" y="3461808"/>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退料入庫</a:t>
            </a:r>
          </a:p>
        </p:txBody>
      </p:sp>
      <p:grpSp>
        <p:nvGrpSpPr>
          <p:cNvPr id="5" name="Group 220">
            <a:extLst>
              <a:ext uri="{FF2B5EF4-FFF2-40B4-BE49-F238E27FC236}">
                <a16:creationId xmlns="" xmlns:a16="http://schemas.microsoft.com/office/drawing/2014/main" id="{A6BCFD4F-FD3E-DBEC-D87C-75175CE07B71}"/>
              </a:ext>
            </a:extLst>
          </p:cNvPr>
          <p:cNvGrpSpPr/>
          <p:nvPr/>
        </p:nvGrpSpPr>
        <p:grpSpPr>
          <a:xfrm>
            <a:off x="3651435" y="3257506"/>
            <a:ext cx="533400" cy="408605"/>
            <a:chOff x="5906184" y="1486857"/>
            <a:chExt cx="355600" cy="272361"/>
          </a:xfrm>
        </p:grpSpPr>
        <p:sp>
          <p:nvSpPr>
            <p:cNvPr id="6" name="Oval 221">
              <a:extLst>
                <a:ext uri="{FF2B5EF4-FFF2-40B4-BE49-F238E27FC236}">
                  <a16:creationId xmlns="" xmlns:a16="http://schemas.microsoft.com/office/drawing/2014/main" id="{ACC423A9-641E-97B0-28C1-32E664DCFCC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TextBox 222">
              <a:extLst>
                <a:ext uri="{FF2B5EF4-FFF2-40B4-BE49-F238E27FC236}">
                  <a16:creationId xmlns="" xmlns:a16="http://schemas.microsoft.com/office/drawing/2014/main" id="{8D004BF2-445F-3CEB-E2B8-2B20CBCF1730}"/>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8" name="接點: 肘形 7">
            <a:extLst>
              <a:ext uri="{FF2B5EF4-FFF2-40B4-BE49-F238E27FC236}">
                <a16:creationId xmlns="" xmlns:a16="http://schemas.microsoft.com/office/drawing/2014/main" id="{DA946E4A-E4B7-686D-14CD-4F3575EB1FBD}"/>
              </a:ext>
            </a:extLst>
          </p:cNvPr>
          <p:cNvCxnSpPr>
            <a:cxnSpLocks/>
            <a:stCxn id="3" idx="3"/>
            <a:endCxn id="4" idx="1"/>
          </p:cNvCxnSpPr>
          <p:nvPr/>
        </p:nvCxnSpPr>
        <p:spPr>
          <a:xfrm flipV="1">
            <a:off x="3427924" y="3896314"/>
            <a:ext cx="103529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1" name="表格 10">
            <a:extLst>
              <a:ext uri="{FF2B5EF4-FFF2-40B4-BE49-F238E27FC236}">
                <a16:creationId xmlns="" xmlns:a16="http://schemas.microsoft.com/office/drawing/2014/main" id="{A314893D-A300-8C90-F8D1-7F1A538D799F}"/>
              </a:ext>
            </a:extLst>
          </p:cNvPr>
          <p:cNvGraphicFramePr>
            <a:graphicFrameLocks noGrp="1"/>
          </p:cNvGraphicFramePr>
          <p:nvPr>
            <p:extLst>
              <p:ext uri="{D42A27DB-BD31-4B8C-83A1-F6EECF244321}">
                <p14:modId xmlns="" xmlns:p14="http://schemas.microsoft.com/office/powerpoint/2010/main" val="577756601"/>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 xmlns:a16="http://schemas.microsoft.com/office/drawing/2014/main" val="4193373909"/>
                    </a:ext>
                  </a:extLst>
                </a:gridCol>
                <a:gridCol w="12809888">
                  <a:extLst>
                    <a:ext uri="{9D8B030D-6E8A-4147-A177-3AD203B41FA5}">
                      <a16:colId xmlns="" xmlns:a16="http://schemas.microsoft.com/office/drawing/2014/main"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生產退料單拋給</a:t>
                      </a:r>
                      <a:r>
                        <a:rPr lang="en-US" altLang="zh-TW" sz="2700" dirty="0"/>
                        <a:t>WMS</a:t>
                      </a:r>
                      <a:r>
                        <a:rPr lang="zh-TW" altLang="en-US" sz="2700" dirty="0"/>
                        <a:t>，去執行退料入庫</a:t>
                      </a:r>
                      <a:endParaRPr lang="en-US" altLang="zh-TW" sz="2700" dirty="0"/>
                    </a:p>
                  </a:txBody>
                  <a:tcPr marL="137160" marR="137160" marT="68591" marB="68591"/>
                </a:tc>
                <a:extLst>
                  <a:ext uri="{0D108BD9-81ED-4DB2-BD59-A6C34878D82A}">
                    <a16:rowId xmlns="" xmlns:a16="http://schemas.microsoft.com/office/drawing/2014/main"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上架入庫後拋給</a:t>
                      </a:r>
                      <a:r>
                        <a:rPr lang="en-US" altLang="zh-TW" sz="2700" dirty="0"/>
                        <a:t>SAP</a:t>
                      </a:r>
                      <a:r>
                        <a:rPr lang="zh-TW" altLang="en-US" sz="2700" dirty="0"/>
                        <a:t>執行工單退料</a:t>
                      </a:r>
                    </a:p>
                  </a:txBody>
                  <a:tcPr marL="137160" marR="137160" marT="68591" marB="68591"/>
                </a:tc>
                <a:extLst>
                  <a:ext uri="{0D108BD9-81ED-4DB2-BD59-A6C34878D82A}">
                    <a16:rowId xmlns="" xmlns:a16="http://schemas.microsoft.com/office/drawing/2014/main" val="2767441219"/>
                  </a:ext>
                </a:extLst>
              </a:tr>
            </a:tbl>
          </a:graphicData>
        </a:graphic>
      </p:graphicFrame>
      <p:sp>
        <p:nvSpPr>
          <p:cNvPr id="13" name="圓角矩形 28">
            <a:extLst>
              <a:ext uri="{FF2B5EF4-FFF2-40B4-BE49-F238E27FC236}">
                <a16:creationId xmlns="" xmlns:a16="http://schemas.microsoft.com/office/drawing/2014/main" id="{E45AD295-41FF-2683-E187-0032633586B1}"/>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14" name="圓角矩形 40">
            <a:extLst>
              <a:ext uri="{FF2B5EF4-FFF2-40B4-BE49-F238E27FC236}">
                <a16:creationId xmlns="" xmlns:a16="http://schemas.microsoft.com/office/drawing/2014/main" id="{1BFFEC32-4DAB-D5D2-20BE-EFA274DE69DB}"/>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sp>
        <p:nvSpPr>
          <p:cNvPr id="15" name="圓角矩形 40">
            <a:extLst>
              <a:ext uri="{FF2B5EF4-FFF2-40B4-BE49-F238E27FC236}">
                <a16:creationId xmlns="" xmlns:a16="http://schemas.microsoft.com/office/drawing/2014/main" id="{18F498D5-51A8-504D-ED5E-82B2CF82EDAD}"/>
              </a:ext>
            </a:extLst>
          </p:cNvPr>
          <p:cNvSpPr/>
          <p:nvPr/>
        </p:nvSpPr>
        <p:spPr>
          <a:xfrm>
            <a:off x="7558259" y="3475526"/>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上架完成</a:t>
            </a:r>
          </a:p>
        </p:txBody>
      </p:sp>
      <p:cxnSp>
        <p:nvCxnSpPr>
          <p:cNvPr id="16" name="接點: 肘形 15">
            <a:extLst>
              <a:ext uri="{FF2B5EF4-FFF2-40B4-BE49-F238E27FC236}">
                <a16:creationId xmlns="" xmlns:a16="http://schemas.microsoft.com/office/drawing/2014/main" id="{5E948852-2290-5975-FF1A-AD11499426AB}"/>
              </a:ext>
            </a:extLst>
          </p:cNvPr>
          <p:cNvCxnSpPr>
            <a:cxnSpLocks/>
            <a:stCxn id="4" idx="3"/>
            <a:endCxn id="15" idx="1"/>
          </p:cNvCxnSpPr>
          <p:nvPr/>
        </p:nvCxnSpPr>
        <p:spPr>
          <a:xfrm>
            <a:off x="6598793" y="3896314"/>
            <a:ext cx="95946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圓角矩形 28">
            <a:extLst>
              <a:ext uri="{FF2B5EF4-FFF2-40B4-BE49-F238E27FC236}">
                <a16:creationId xmlns="" xmlns:a16="http://schemas.microsoft.com/office/drawing/2014/main" id="{E28A92FE-6738-17F1-7F5D-E5DF5F74C403}"/>
              </a:ext>
            </a:extLst>
          </p:cNvPr>
          <p:cNvSpPr/>
          <p:nvPr/>
        </p:nvSpPr>
        <p:spPr>
          <a:xfrm>
            <a:off x="10653305" y="347552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工單退料</a:t>
            </a:r>
          </a:p>
        </p:txBody>
      </p:sp>
      <p:cxnSp>
        <p:nvCxnSpPr>
          <p:cNvPr id="20" name="接點: 肘形 19">
            <a:extLst>
              <a:ext uri="{FF2B5EF4-FFF2-40B4-BE49-F238E27FC236}">
                <a16:creationId xmlns="" xmlns:a16="http://schemas.microsoft.com/office/drawing/2014/main" id="{5D8D8BEB-8DA6-4B2F-C004-98DA0AD09344}"/>
              </a:ext>
            </a:extLst>
          </p:cNvPr>
          <p:cNvCxnSpPr>
            <a:cxnSpLocks/>
            <a:stCxn id="15" idx="3"/>
            <a:endCxn id="19" idx="1"/>
          </p:cNvCxnSpPr>
          <p:nvPr/>
        </p:nvCxnSpPr>
        <p:spPr>
          <a:xfrm>
            <a:off x="9693839" y="3910032"/>
            <a:ext cx="959466" cy="19053"/>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 name="Group 220">
            <a:extLst>
              <a:ext uri="{FF2B5EF4-FFF2-40B4-BE49-F238E27FC236}">
                <a16:creationId xmlns="" xmlns:a16="http://schemas.microsoft.com/office/drawing/2014/main" id="{39B3F924-832B-BBF8-EB90-67F9F97172DA}"/>
              </a:ext>
            </a:extLst>
          </p:cNvPr>
          <p:cNvGrpSpPr/>
          <p:nvPr/>
        </p:nvGrpSpPr>
        <p:grpSpPr>
          <a:xfrm>
            <a:off x="9917348" y="3284175"/>
            <a:ext cx="533400" cy="408605"/>
            <a:chOff x="5906184" y="1486857"/>
            <a:chExt cx="355600" cy="272361"/>
          </a:xfrm>
        </p:grpSpPr>
        <p:sp>
          <p:nvSpPr>
            <p:cNvPr id="24" name="Oval 221">
              <a:extLst>
                <a:ext uri="{FF2B5EF4-FFF2-40B4-BE49-F238E27FC236}">
                  <a16:creationId xmlns="" xmlns:a16="http://schemas.microsoft.com/office/drawing/2014/main" id="{F58E376E-40CE-1276-B066-D0AACAE97E0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TextBox 222">
              <a:extLst>
                <a:ext uri="{FF2B5EF4-FFF2-40B4-BE49-F238E27FC236}">
                  <a16:creationId xmlns="" xmlns:a16="http://schemas.microsoft.com/office/drawing/2014/main" id="{B077A507-8B8E-2D2E-3CA5-AD943B662743}"/>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1" name="矩形 20"/>
          <p:cNvSpPr/>
          <p:nvPr/>
        </p:nvSpPr>
        <p:spPr>
          <a:xfrm>
            <a:off x="2571704" y="929452"/>
            <a:ext cx="3600666" cy="369332"/>
          </a:xfrm>
          <a:prstGeom prst="rect">
            <a:avLst/>
          </a:prstGeom>
        </p:spPr>
        <p:txBody>
          <a:bodyPr wrap="none">
            <a:spAutoFit/>
          </a:bodyPr>
          <a:lstStyle/>
          <a:p>
            <a:pPr eaLnBrk="0" hangingPunct="0"/>
            <a:r>
              <a:rPr lang="en-US" altLang="zh-TW" b="1" dirty="0" smtClean="0">
                <a:latin typeface="微軟正黑體" panose="020B0604030504040204" pitchFamily="34" charset="-120"/>
                <a:ea typeface="微軟正黑體" panose="020B0604030504040204" pitchFamily="34" charset="-120"/>
              </a:rPr>
              <a:t>MM-IM-0040</a:t>
            </a:r>
            <a:r>
              <a:rPr lang="zh-TW" altLang="en-US" b="1" dirty="0" smtClean="0">
                <a:latin typeface="微軟正黑體" panose="020B0604030504040204" pitchFamily="34" charset="-120"/>
                <a:ea typeface="微軟正黑體" panose="020B0604030504040204" pitchFamily="34" charset="-120"/>
              </a:rPr>
              <a:t> 生產退料作業流程</a:t>
            </a:r>
            <a:endParaRPr lang="zh-TW" altLang="en-US" b="1" dirty="0">
              <a:latin typeface="微軟正黑體" panose="020B0604030504040204" pitchFamily="34" charset="-120"/>
              <a:ea typeface="微軟正黑體" panose="020B0604030504040204" pitchFamily="34" charset="-120"/>
            </a:endParaRPr>
          </a:p>
        </p:txBody>
      </p:sp>
      <p:sp>
        <p:nvSpPr>
          <p:cNvPr id="22"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smtClean="0">
                <a:solidFill>
                  <a:schemeClr val="dk1"/>
                </a:solidFill>
                <a:latin typeface="微軟正黑體"/>
                <a:ea typeface="微軟正黑體"/>
              </a:rPr>
              <a:t>2</a:t>
            </a:r>
            <a:endParaRPr lang="en-US" sz="1600" b="0" strike="noStrike" spc="-1"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dirty="0">
                <a:solidFill>
                  <a:schemeClr val="dk1"/>
                </a:solidFill>
                <a:latin typeface="微軟正黑體"/>
                <a:ea typeface="微軟正黑體"/>
              </a:rPr>
              <a:t>XXX-001-02</a:t>
            </a:r>
            <a:endParaRPr lang="en-US" sz="1500" b="0" strike="noStrike" spc="-1" dirty="0">
              <a:solidFill>
                <a:srgbClr val="000000"/>
              </a:solidFill>
              <a:latin typeface="Calibri"/>
            </a:endParaRPr>
          </a:p>
          <a:p>
            <a:pPr algn="ctr" defTabSz="457200">
              <a:lnSpc>
                <a:spcPct val="100000"/>
              </a:lnSpc>
            </a:pPr>
            <a:r>
              <a:rPr lang="en-US" sz="1500" b="0" strike="noStrike" spc="-1" dirty="0">
                <a:solidFill>
                  <a:schemeClr val="dk1"/>
                </a:solidFill>
                <a:latin typeface="微軟正黑體"/>
                <a:ea typeface="微軟正黑體"/>
              </a:rPr>
              <a:t>XXX</a:t>
            </a:r>
            <a:r>
              <a:rPr lang="zh-TW" sz="1500" b="0" strike="noStrike" spc="-1" dirty="0">
                <a:solidFill>
                  <a:schemeClr val="dk1"/>
                </a:solidFill>
                <a:latin typeface="微軟正黑體"/>
                <a:ea typeface="微軟正黑體"/>
              </a:rPr>
              <a:t>作業流程</a:t>
            </a:r>
            <a:endParaRPr lang="en-US" sz="1500" b="0" strike="noStrike" spc="-1" dirty="0">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grpSp>
        <p:nvGrpSpPr>
          <p:cNvPr id="40" name="群組 39"/>
          <p:cNvGrpSpPr/>
          <p:nvPr/>
        </p:nvGrpSpPr>
        <p:grpSpPr>
          <a:xfrm>
            <a:off x="3214646" y="3072592"/>
            <a:ext cx="1810800" cy="1217256"/>
            <a:chOff x="15073354" y="8308668"/>
            <a:chExt cx="1810800" cy="1217256"/>
          </a:xfrm>
        </p:grpSpPr>
        <p:sp>
          <p:nvSpPr>
            <p:cNvPr id="41" name="流程圖: 程序 4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BP</a:t>
              </a:r>
              <a:endParaRPr lang="en-GB" sz="1500" b="1" dirty="0">
                <a:latin typeface="微軟正黑體" panose="020B0604030504040204" pitchFamily="34" charset="-120"/>
                <a:ea typeface="微軟正黑體" panose="020B0604030504040204" pitchFamily="34" charset="-120"/>
              </a:endParaRPr>
            </a:p>
          </p:txBody>
        </p:sp>
        <p:sp>
          <p:nvSpPr>
            <p:cNvPr id="42" name="流程圖: 程序 4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zh-TW" altLang="en-US" sz="1500" spc="-1" dirty="0" smtClean="0">
                  <a:solidFill>
                    <a:schemeClr val="dk1"/>
                  </a:solidFill>
                </a:rPr>
                <a:t>交易名稱</a:t>
              </a:r>
              <a:endParaRPr lang="en-US" sz="1500" spc="-1" dirty="0" smtClean="0">
                <a:solidFill>
                  <a:srgbClr val="000000"/>
                </a:solidFill>
              </a:endParaRPr>
            </a:p>
            <a:p>
              <a:pPr algn="ctr" defTabSz="1371600">
                <a:lnSpc>
                  <a:spcPct val="100000"/>
                </a:lnSpc>
              </a:pPr>
              <a:r>
                <a:rPr lang="zh-TW" altLang="en-US" sz="1500" spc="-1" dirty="0" smtClean="0">
                  <a:solidFill>
                    <a:schemeClr val="dk1"/>
                  </a:solidFill>
                </a:rPr>
                <a:t>作業</a:t>
              </a:r>
              <a:r>
                <a:rPr lang="en-US" sz="1500" spc="-1" dirty="0" smtClean="0">
                  <a:solidFill>
                    <a:schemeClr val="dk1"/>
                  </a:solidFill>
                </a:rPr>
                <a:t>/</a:t>
              </a:r>
              <a:r>
                <a:rPr lang="zh-TW" altLang="en-US" sz="1500" spc="-1" dirty="0" smtClean="0">
                  <a:solidFill>
                    <a:schemeClr val="dk1"/>
                  </a:solidFill>
                </a:rPr>
                <a:t>動作</a:t>
              </a:r>
              <a:endParaRPr lang="en-US" sz="1500" spc="-1" dirty="0">
                <a:solidFill>
                  <a:srgbClr val="000000"/>
                </a:solidFill>
              </a:endParaRPr>
            </a:p>
          </p:txBody>
        </p:sp>
        <p:sp>
          <p:nvSpPr>
            <p:cNvPr id="43" name="流程圖: 程序 4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4" name="流程圖: 程序 43"/>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45" name="群組 44"/>
          <p:cNvGrpSpPr/>
          <p:nvPr/>
        </p:nvGrpSpPr>
        <p:grpSpPr>
          <a:xfrm>
            <a:off x="3214646" y="8144690"/>
            <a:ext cx="1810800" cy="1217256"/>
            <a:chOff x="15073354" y="8308668"/>
            <a:chExt cx="1810800" cy="1217256"/>
          </a:xfrm>
        </p:grpSpPr>
        <p:sp>
          <p:nvSpPr>
            <p:cNvPr id="46" name="流程圖: 程序 4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BP</a:t>
              </a:r>
              <a:endParaRPr lang="en-GB" sz="1500" b="1" dirty="0">
                <a:latin typeface="微軟正黑體" panose="020B0604030504040204" pitchFamily="34" charset="-120"/>
                <a:ea typeface="微軟正黑體" panose="020B0604030504040204" pitchFamily="34" charset="-120"/>
              </a:endParaRPr>
            </a:p>
          </p:txBody>
        </p:sp>
        <p:sp>
          <p:nvSpPr>
            <p:cNvPr id="47" name="流程圖: 程序 4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zh-TW" altLang="en-US" sz="1500" spc="-1" dirty="0" smtClean="0">
                  <a:solidFill>
                    <a:schemeClr val="dk1"/>
                  </a:solidFill>
                </a:rPr>
                <a:t>交易名稱</a:t>
              </a:r>
              <a:endParaRPr lang="en-US" sz="1500" spc="-1" dirty="0" smtClean="0">
                <a:solidFill>
                  <a:srgbClr val="000000"/>
                </a:solidFill>
              </a:endParaRPr>
            </a:p>
            <a:p>
              <a:pPr algn="ctr" defTabSz="1371600">
                <a:lnSpc>
                  <a:spcPct val="100000"/>
                </a:lnSpc>
              </a:pPr>
              <a:r>
                <a:rPr lang="zh-TW" altLang="en-US" sz="1500" spc="-1" dirty="0" smtClean="0">
                  <a:solidFill>
                    <a:schemeClr val="dk1"/>
                  </a:solidFill>
                </a:rPr>
                <a:t>作業</a:t>
              </a:r>
              <a:r>
                <a:rPr lang="en-US" sz="1500" spc="-1" dirty="0" smtClean="0">
                  <a:solidFill>
                    <a:schemeClr val="dk1"/>
                  </a:solidFill>
                </a:rPr>
                <a:t>/</a:t>
              </a:r>
              <a:r>
                <a:rPr lang="zh-TW" altLang="en-US" sz="1500" spc="-1" dirty="0" smtClean="0">
                  <a:solidFill>
                    <a:schemeClr val="dk1"/>
                  </a:solidFill>
                </a:rPr>
                <a:t>動作</a:t>
              </a:r>
              <a:endParaRPr lang="en-US" sz="1500" spc="-1" dirty="0">
                <a:solidFill>
                  <a:srgbClr val="000000"/>
                </a:solidFill>
              </a:endParaRPr>
            </a:p>
          </p:txBody>
        </p:sp>
        <p:sp>
          <p:nvSpPr>
            <p:cNvPr id="48" name="流程圖: 程序 4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9" name="流程圖: 程序 48"/>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cxnSp>
        <p:nvCxnSpPr>
          <p:cNvPr id="50" name="肘形接點 68">
            <a:extLst>
              <a:ext uri="{FF2B5EF4-FFF2-40B4-BE49-F238E27FC236}">
                <a16:creationId xmlns="" xmlns:a16="http://schemas.microsoft.com/office/drawing/2014/main" id="{61C6B2E4-BD5C-572F-0AFA-5A7E596EB7DB}"/>
              </a:ext>
            </a:extLst>
          </p:cNvPr>
          <p:cNvCxnSpPr>
            <a:cxnSpLocks/>
            <a:stCxn id="42" idx="3"/>
          </p:cNvCxnSpPr>
          <p:nvPr/>
        </p:nvCxnSpPr>
        <p:spPr>
          <a:xfrm>
            <a:off x="5025446" y="3679815"/>
            <a:ext cx="2332604" cy="14644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3" name="肘形接點 68">
            <a:extLst>
              <a:ext uri="{FF2B5EF4-FFF2-40B4-BE49-F238E27FC236}">
                <a16:creationId xmlns="" xmlns:a16="http://schemas.microsoft.com/office/drawing/2014/main" id="{61C6B2E4-BD5C-572F-0AFA-5A7E596EB7DB}"/>
              </a:ext>
            </a:extLst>
          </p:cNvPr>
          <p:cNvCxnSpPr>
            <a:cxnSpLocks/>
          </p:cNvCxnSpPr>
          <p:nvPr/>
        </p:nvCxnSpPr>
        <p:spPr>
          <a:xfrm flipV="1">
            <a:off x="4071902" y="5296694"/>
            <a:ext cx="3438548" cy="270512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16080</TotalTime>
  <Words>713</Words>
  <Application>Collabora_Office/23.05.5.4$Linux_X86_64 LibreOffice_project/1681200a96e5ffa1bee996c23ec760042f91abfa</Application>
  <PresentationFormat>自訂</PresentationFormat>
  <Paragraphs>171</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145</cp:revision>
  <dcterms:created xsi:type="dcterms:W3CDTF">2023-05-31T01:27:04Z</dcterms:created>
  <dcterms:modified xsi:type="dcterms:W3CDTF">2025-07-11T00:17:26Z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