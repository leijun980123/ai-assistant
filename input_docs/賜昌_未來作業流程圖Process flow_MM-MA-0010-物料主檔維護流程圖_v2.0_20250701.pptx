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07" r:id="rId4"/>
    <p:sldMasterId id="2147484285" r:id="rId5"/>
    <p:sldMasterId id="2147484467" r:id="rId6"/>
  </p:sldMasterIdLst>
  <p:notesMasterIdLst>
    <p:notesMasterId r:id="rId17"/>
  </p:notesMasterIdLst>
  <p:sldIdLst>
    <p:sldId id="256" r:id="rId7"/>
    <p:sldId id="257" r:id="rId8"/>
    <p:sldId id="258" r:id="rId9"/>
    <p:sldId id="266" r:id="rId10"/>
    <p:sldId id="267" r:id="rId11"/>
    <p:sldId id="268" r:id="rId12"/>
    <p:sldId id="269" r:id="rId13"/>
    <p:sldId id="270" r:id="rId14"/>
    <p:sldId id="263" r:id="rId15"/>
    <p:sldId id="264" r:id="rId16"/>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3" autoAdjust="0"/>
    <p:restoredTop sz="94688" autoAdjust="0"/>
  </p:normalViewPr>
  <p:slideViewPr>
    <p:cSldViewPr>
      <p:cViewPr>
        <p:scale>
          <a:sx n="45" d="100"/>
          <a:sy n="45" d="100"/>
        </p:scale>
        <p:origin x="-576" y="-23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3"/>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6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6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6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6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3"/>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3"/>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6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3"/>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7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7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7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8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8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3"/>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8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3"/>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7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9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3"/>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754"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1755"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756"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zh-TW" sz="1800" b="0" strike="noStrike" spc="-1">
                <a:solidFill>
                  <a:srgbClr val="000000"/>
                </a:solidFill>
                <a:latin typeface="Calibri"/>
              </a:rPr>
              <a:t>請按這裡編輯題名文字格式</a:t>
            </a:r>
            <a:endParaRPr lang="en-US" sz="1800" b="0" strike="noStrike" spc="-1">
              <a:solidFill>
                <a:srgbClr val="000000"/>
              </a:solidFill>
              <a:latin typeface="Calibri"/>
            </a:endParaRPr>
          </a:p>
        </p:txBody>
      </p:sp>
      <p:sp>
        <p:nvSpPr>
          <p:cNvPr id="1757" name="PlaceHolder 2"/>
          <p:cNvSpPr>
            <a:spLocks noGrp="1"/>
          </p:cNvSpPr>
          <p:nvPr>
            <p:ph type="body"/>
          </p:nvPr>
        </p:nvSpPr>
        <p:spPr>
          <a:xfrm>
            <a:off x="914400" y="2407320"/>
            <a:ext cx="8031240" cy="5966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58" name="PlaceHolder 3"/>
          <p:cNvSpPr>
            <a:spLocks noGrp="1"/>
          </p:cNvSpPr>
          <p:nvPr>
            <p:ph type="body"/>
          </p:nvPr>
        </p:nvSpPr>
        <p:spPr>
          <a:xfrm>
            <a:off x="9348120" y="2407320"/>
            <a:ext cx="8031240" cy="2845440"/>
          </a:xfrm>
          <a:prstGeom prst="rect">
            <a:avLst/>
          </a:prstGeom>
          <a:noFill/>
          <a:ln w="0">
            <a:noFill/>
          </a:ln>
        </p:spPr>
        <p:txBody>
          <a:bodyPr lIns="0" tIns="0" rIns="0" bIns="0" anchor="t">
            <a:normAutofit fontScale="96666"/>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59" name="PlaceHolder 4"/>
          <p:cNvSpPr>
            <a:spLocks noGrp="1"/>
          </p:cNvSpPr>
          <p:nvPr>
            <p:ph type="body"/>
          </p:nvPr>
        </p:nvSpPr>
        <p:spPr>
          <a:xfrm>
            <a:off x="9348120" y="5523840"/>
            <a:ext cx="8031240" cy="2845440"/>
          </a:xfrm>
          <a:prstGeom prst="rect">
            <a:avLst/>
          </a:prstGeom>
          <a:noFill/>
          <a:ln w="0">
            <a:noFill/>
          </a:ln>
        </p:spPr>
        <p:txBody>
          <a:bodyPr lIns="0" tIns="0" rIns="0" bIns="0" anchor="t">
            <a:normAutofit fontScale="96666"/>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60" name="PlaceHolder 5"/>
          <p:cNvSpPr>
            <a:spLocks noGrp="1"/>
          </p:cNvSpPr>
          <p:nvPr>
            <p:ph type="dt" idx="13"/>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Tree>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13" r:id="rId6"/>
    <p:sldLayoutId id="2147484214" r:id="rId7"/>
    <p:sldLayoutId id="2147484215" r:id="rId8"/>
    <p:sldLayoutId id="2147484216" r:id="rId9"/>
    <p:sldLayoutId id="2147484217" r:id="rId10"/>
    <p:sldLayoutId id="2147484218" r:id="rId11"/>
    <p:sldLayoutId id="2147484219"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MM-MA-0010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3600" b="0" strike="noStrike" spc="-1" dirty="0" smtClean="0">
                <a:solidFill>
                  <a:schemeClr val="dk1"/>
                </a:solidFill>
                <a:latin typeface="Microsoft JhengHei"/>
                <a:ea typeface="Microsoft JhengHei"/>
              </a:rPr>
              <a:t>物料主檔維護流程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dirty="0">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b="1" spc="-1" dirty="0" smtClean="0">
                <a:solidFill>
                  <a:schemeClr val="dk1"/>
                </a:solidFill>
                <a:latin typeface="Microsoft JhengHei"/>
                <a:ea typeface="Microsoft JhengHei"/>
              </a:rPr>
              <a:t>MM-MA-0010</a:t>
            </a:r>
            <a:r>
              <a:rPr lang="zh-TW" sz="2400" b="1" strike="noStrike" spc="-1" dirty="0" smtClean="0">
                <a:solidFill>
                  <a:schemeClr val="dk1"/>
                </a:solidFill>
                <a:latin typeface="Microsoft JhengHei"/>
                <a:ea typeface="Microsoft JhengHei"/>
              </a:rPr>
              <a:t>物料</a:t>
            </a:r>
            <a:r>
              <a:rPr lang="zh-TW" sz="2400" b="1" spc="-1" dirty="0" smtClean="0">
                <a:solidFill>
                  <a:schemeClr val="dk1"/>
                </a:solidFill>
                <a:latin typeface="Microsoft JhengHei"/>
                <a:ea typeface="Microsoft JhengHei"/>
              </a:rPr>
              <a:t>主檔維護流程</a:t>
            </a:r>
            <a:endParaRPr lang="en-US" sz="2400" b="1" spc="-1" dirty="0">
              <a:solidFill>
                <a:schemeClr val="dk1"/>
              </a:solidFill>
              <a:latin typeface="Microsoft JhengHei"/>
              <a:ea typeface="Microsoft JhengHe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0" name="表格 30"/>
          <p:cNvGraphicFramePr/>
          <p:nvPr>
            <p:extLst>
              <p:ext uri="{D42A27DB-BD31-4B8C-83A1-F6EECF244321}">
                <p14:modId xmlns:p14="http://schemas.microsoft.com/office/powerpoint/2010/main" xmlns="" val="2464728064"/>
              </p:ext>
            </p:extLst>
          </p:nvPr>
        </p:nvGraphicFramePr>
        <p:xfrm>
          <a:off x="4559760" y="5384091"/>
          <a:ext cx="1797120" cy="1097448"/>
        </p:xfrm>
        <a:graphic>
          <a:graphicData uri="http://schemas.openxmlformats.org/drawingml/2006/table">
            <a:tbl>
              <a:tblPr/>
              <a:tblGrid>
                <a:gridCol w="898560">
                  <a:extLst>
                    <a:ext uri="{9D8B030D-6E8A-4147-A177-3AD203B41FA5}">
                      <a16:colId xmlns:a16="http://schemas.microsoft.com/office/drawing/2014/main" xmlns="" val="20000"/>
                    </a:ext>
                  </a:extLst>
                </a:gridCol>
                <a:gridCol w="898560">
                  <a:extLst>
                    <a:ext uri="{9D8B030D-6E8A-4147-A177-3AD203B41FA5}">
                      <a16:colId xmlns:a16="http://schemas.microsoft.com/office/drawing/2014/main" xmlns="" val="20001"/>
                    </a:ext>
                  </a:extLst>
                </a:gridCol>
              </a:tblGrid>
              <a:tr h="365816">
                <a:tc gridSpan="2">
                  <a:txBody>
                    <a:bodyPr/>
                    <a:lstStyle/>
                    <a:p>
                      <a:pPr algn="ctr">
                        <a:lnSpc>
                          <a:spcPct val="100000"/>
                        </a:lnSpc>
                      </a:pPr>
                      <a:r>
                        <a:rPr lang="en-US" altLang="zh-TW" sz="1500" b="1" strike="noStrike" spc="-1" dirty="0" err="1">
                          <a:solidFill>
                            <a:schemeClr val="dk1"/>
                          </a:solidFill>
                          <a:latin typeface="微軟正黑體"/>
                          <a:ea typeface="微軟正黑體"/>
                        </a:rPr>
                        <a:t>DeGEN</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365816">
                <a:tc gridSpan="2">
                  <a:txBody>
                    <a:bodyPr/>
                    <a:lstStyle/>
                    <a:p>
                      <a:pPr algn="ctr">
                        <a:lnSpc>
                          <a:spcPct val="100000"/>
                        </a:lnSpc>
                      </a:pPr>
                      <a:r>
                        <a:rPr lang="zh-TW" sz="1500" b="0" strike="noStrike" spc="-1" dirty="0">
                          <a:solidFill>
                            <a:srgbClr val="000000"/>
                          </a:solidFill>
                          <a:latin typeface="微軟正黑體"/>
                          <a:ea typeface="微軟正黑體"/>
                        </a:rPr>
                        <a:t>建立物料主檔</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altLang="zh-TW" sz="1500" b="0" strike="noStrike" spc="-1" dirty="0">
                          <a:solidFill>
                            <a:srgbClr val="000000"/>
                          </a:solidFill>
                          <a:latin typeface="Arial"/>
                          <a:ea typeface="Arial"/>
                        </a:rPr>
                        <a:t>RFC</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自動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sp>
        <p:nvSpPr>
          <p:cNvPr id="1061" name="流程圖: 決策 50"/>
          <p:cNvSpPr/>
          <p:nvPr/>
        </p:nvSpPr>
        <p:spPr>
          <a:xfrm>
            <a:off x="4558140" y="3756280"/>
            <a:ext cx="181116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z="1500" spc="-2" dirty="0">
                <a:solidFill>
                  <a:srgbClr val="000000"/>
                </a:solidFill>
                <a:latin typeface="微軟正黑體"/>
                <a:ea typeface="微軟正黑體"/>
              </a:rPr>
              <a:t>SAP</a:t>
            </a:r>
            <a:r>
              <a:rPr lang="zh-TW" altLang="en-US" sz="1500" spc="-2" dirty="0">
                <a:solidFill>
                  <a:srgbClr val="000000"/>
                </a:solidFill>
                <a:latin typeface="微軟正黑體"/>
                <a:ea typeface="微軟正黑體"/>
              </a:rPr>
              <a:t>物料主檔</a:t>
            </a:r>
            <a:endParaRPr lang="en-US" sz="1500" spc="-2" dirty="0">
              <a:solidFill>
                <a:srgbClr val="000000"/>
              </a:solidFill>
              <a:latin typeface="Calibri"/>
            </a:endParaRPr>
          </a:p>
          <a:p>
            <a:pPr algn="ctr">
              <a:lnSpc>
                <a:spcPct val="100000"/>
              </a:lnSpc>
            </a:pPr>
            <a:r>
              <a:rPr lang="zh-TW" altLang="en-US" sz="1500" spc="-2" dirty="0">
                <a:solidFill>
                  <a:srgbClr val="000000"/>
                </a:solidFill>
                <a:latin typeface="微軟正黑體"/>
                <a:ea typeface="微軟正黑體"/>
              </a:rPr>
              <a:t>是否已存在</a:t>
            </a:r>
            <a:r>
              <a:rPr lang="en-US" sz="1500" spc="-2" dirty="0">
                <a:solidFill>
                  <a:srgbClr val="000000"/>
                </a:solidFill>
                <a:latin typeface="微軟正黑體"/>
                <a:ea typeface="微軟正黑體"/>
              </a:rPr>
              <a:t>?</a:t>
            </a:r>
            <a:endParaRPr lang="en-US" sz="1500" spc="-2" dirty="0">
              <a:solidFill>
                <a:srgbClr val="000000"/>
              </a:solidFill>
              <a:latin typeface="Calibri"/>
            </a:endParaRPr>
          </a:p>
        </p:txBody>
      </p:sp>
      <p:cxnSp>
        <p:nvCxnSpPr>
          <p:cNvPr id="1062" name="肘形接點 68"/>
          <p:cNvCxnSpPr>
            <a:stCxn id="1063" idx="2"/>
            <a:endCxn id="1061" idx="0"/>
          </p:cNvCxnSpPr>
          <p:nvPr/>
        </p:nvCxnSpPr>
        <p:spPr>
          <a:xfrm rot="16200000" flipH="1">
            <a:off x="5122388" y="3414948"/>
            <a:ext cx="675644" cy="8100"/>
          </a:xfrm>
          <a:prstGeom prst="bentConnector3">
            <a:avLst>
              <a:gd name="adj1" fmla="val 49920"/>
            </a:avLst>
          </a:prstGeom>
          <a:ln>
            <a:solidFill>
              <a:srgbClr val="000000"/>
            </a:solidFill>
            <a:round/>
            <a:tailEnd type="triangle" w="med" len="med"/>
          </a:ln>
        </p:spPr>
      </p:cxnSp>
      <p:cxnSp>
        <p:nvCxnSpPr>
          <p:cNvPr id="1064" name="肘形接點 68"/>
          <p:cNvCxnSpPr>
            <a:stCxn id="1061" idx="2"/>
            <a:endCxn id="1060" idx="0"/>
          </p:cNvCxnSpPr>
          <p:nvPr/>
        </p:nvCxnSpPr>
        <p:spPr>
          <a:xfrm rot="5400000">
            <a:off x="5097544" y="5017915"/>
            <a:ext cx="726952" cy="5400"/>
          </a:xfrm>
          <a:prstGeom prst="bentConnector3">
            <a:avLst>
              <a:gd name="adj1" fmla="val 50000"/>
            </a:avLst>
          </a:prstGeom>
          <a:ln>
            <a:solidFill>
              <a:srgbClr val="000000"/>
            </a:solidFill>
            <a:round/>
            <a:tailEnd type="triangle" w="med" len="med"/>
          </a:ln>
        </p:spPr>
      </p:cxnSp>
      <p:cxnSp>
        <p:nvCxnSpPr>
          <p:cNvPr id="1065" name="肘形接點 68"/>
          <p:cNvCxnSpPr>
            <a:stCxn id="1060" idx="2"/>
          </p:cNvCxnSpPr>
          <p:nvPr/>
        </p:nvCxnSpPr>
        <p:spPr>
          <a:xfrm rot="10800000" flipH="1" flipV="1">
            <a:off x="4559760" y="5932814"/>
            <a:ext cx="7941826" cy="2283313"/>
          </a:xfrm>
          <a:prstGeom prst="bentConnector3">
            <a:avLst>
              <a:gd name="adj1" fmla="val -2878"/>
            </a:avLst>
          </a:prstGeom>
          <a:ln>
            <a:solidFill>
              <a:srgbClr val="000000"/>
            </a:solidFill>
            <a:round/>
            <a:tailEnd type="triangle" w="med" len="med"/>
          </a:ln>
        </p:spPr>
      </p:cxnSp>
      <p:sp>
        <p:nvSpPr>
          <p:cNvPr id="1069" name="TextBox 46"/>
          <p:cNvSpPr/>
          <p:nvPr/>
        </p:nvSpPr>
        <p:spPr>
          <a:xfrm>
            <a:off x="5437800" y="4811063"/>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1070" name="TextBox 53"/>
          <p:cNvSpPr/>
          <p:nvPr/>
        </p:nvSpPr>
        <p:spPr>
          <a:xfrm>
            <a:off x="14380740" y="2064198"/>
            <a:ext cx="3593700" cy="623029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marL="342900" indent="-342900">
              <a:buClr>
                <a:srgbClr val="000000"/>
              </a:buClr>
              <a:buFont typeface="Arial"/>
              <a:buAutoNum type="arabicPeriod"/>
            </a:pPr>
            <a:r>
              <a:rPr lang="zh-TW" altLang="en-US" spc="-2" dirty="0">
                <a:solidFill>
                  <a:srgbClr val="000000"/>
                </a:solidFill>
                <a:latin typeface="Arial"/>
                <a:ea typeface="Arial"/>
              </a:rPr>
              <a:t>開發指令組</a:t>
            </a:r>
            <a:r>
              <a:rPr lang="en-US" spc="-2" dirty="0">
                <a:solidFill>
                  <a:srgbClr val="000000"/>
                </a:solidFill>
                <a:latin typeface="Arial"/>
                <a:ea typeface="Arial"/>
              </a:rPr>
              <a:t>(</a:t>
            </a:r>
            <a:r>
              <a:rPr lang="zh-TW" altLang="en-US" spc="-2" dirty="0">
                <a:solidFill>
                  <a:srgbClr val="000000"/>
                </a:solidFill>
                <a:latin typeface="Arial"/>
                <a:ea typeface="Arial"/>
              </a:rPr>
              <a:t>業務單位</a:t>
            </a:r>
            <a:r>
              <a:rPr lang="en-US" spc="-2" dirty="0">
                <a:solidFill>
                  <a:srgbClr val="000000"/>
                </a:solidFill>
                <a:latin typeface="Arial"/>
                <a:ea typeface="Arial"/>
              </a:rPr>
              <a:t>)</a:t>
            </a:r>
            <a:r>
              <a:rPr lang="zh-TW" altLang="en-US" spc="-2" dirty="0">
                <a:solidFill>
                  <a:srgbClr val="000000"/>
                </a:solidFill>
                <a:latin typeface="Arial"/>
                <a:ea typeface="Arial"/>
              </a:rPr>
              <a:t>接收到客戶的需求，需要進行試樣，在建立</a:t>
            </a:r>
            <a:r>
              <a:rPr lang="en-US" spc="-2" dirty="0">
                <a:solidFill>
                  <a:srgbClr val="000000"/>
                </a:solidFill>
                <a:latin typeface="Arial"/>
                <a:ea typeface="Arial"/>
              </a:rPr>
              <a:t>BOM</a:t>
            </a:r>
            <a:r>
              <a:rPr lang="zh-TW" altLang="en-US" spc="-2" dirty="0">
                <a:solidFill>
                  <a:srgbClr val="000000"/>
                </a:solidFill>
                <a:latin typeface="Arial"/>
                <a:ea typeface="Arial"/>
              </a:rPr>
              <a:t>表之前需要提供</a:t>
            </a:r>
            <a:r>
              <a:rPr lang="en-US" spc="-2" dirty="0">
                <a:solidFill>
                  <a:srgbClr val="000000"/>
                </a:solidFill>
                <a:latin typeface="Arial"/>
                <a:ea typeface="Arial"/>
              </a:rPr>
              <a:t>SPEC</a:t>
            </a:r>
            <a:r>
              <a:rPr lang="zh-TW" altLang="en-US" spc="-2" dirty="0">
                <a:solidFill>
                  <a:srgbClr val="000000"/>
                </a:solidFill>
                <a:latin typeface="Arial"/>
                <a:ea typeface="Arial"/>
              </a:rPr>
              <a:t>給製表指令組去建立新的物料。</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開發指令組在料號編碼產生的功能畫面上維護料號的大類、材質中類，依據不同的物料類型維護對應的特性欄位。</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系統檢查是否有相同物料特性屬性的物料存在，已存在的料號不會建立，請至</a:t>
            </a:r>
            <a:r>
              <a:rPr lang="en-US" altLang="zh-TW" spc="-2" dirty="0">
                <a:solidFill>
                  <a:srgbClr val="000000"/>
                </a:solidFill>
                <a:latin typeface="Arial"/>
                <a:ea typeface="Arial"/>
              </a:rPr>
              <a:t>MM42</a:t>
            </a:r>
            <a:r>
              <a:rPr lang="zh-TW" altLang="en-US" spc="-2" dirty="0">
                <a:solidFill>
                  <a:srgbClr val="000000"/>
                </a:solidFill>
                <a:latin typeface="Arial"/>
                <a:ea typeface="Arial"/>
              </a:rPr>
              <a:t>自行修改。</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系統自動建立物料主檔的基本視圖與分類</a:t>
            </a:r>
            <a:r>
              <a:rPr lang="en-US" spc="-2" dirty="0">
                <a:solidFill>
                  <a:srgbClr val="000000"/>
                </a:solidFill>
                <a:latin typeface="Arial"/>
                <a:ea typeface="Arial"/>
              </a:rPr>
              <a:t>VIEW</a:t>
            </a:r>
            <a:r>
              <a:rPr lang="zh-TW" altLang="en-US" spc="-2" dirty="0">
                <a:solidFill>
                  <a:srgbClr val="000000"/>
                </a:solidFill>
                <a:latin typeface="Arial"/>
                <a:ea typeface="Arial"/>
              </a:rPr>
              <a:t>，並依據複製的參考料號或工廠的預設參數建立工廠視圖。</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當要更新物料主檔時，系統自動依據複製的參考料號或工廠的預設參數建立工廠視圖，更新物料基本視圖與分類視圖及工廠視圖。</a:t>
            </a:r>
            <a:endParaRPr lang="en-US" spc="-2" dirty="0">
              <a:solidFill>
                <a:srgbClr val="000000"/>
              </a:solidFill>
              <a:latin typeface="Calibri"/>
            </a:endParaRPr>
          </a:p>
        </p:txBody>
      </p:sp>
      <p:sp>
        <p:nvSpPr>
          <p:cNvPr id="1071" name="流程圖: 結束點 8"/>
          <p:cNvSpPr/>
          <p:nvPr/>
        </p:nvSpPr>
        <p:spPr>
          <a:xfrm>
            <a:off x="367200" y="2153852"/>
            <a:ext cx="1797120" cy="790142"/>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開始</a:t>
            </a:r>
            <a:endParaRPr lang="en-US" sz="1500" spc="-2" dirty="0">
              <a:solidFill>
                <a:srgbClr val="000000"/>
              </a:solidFill>
              <a:latin typeface="Calibri"/>
            </a:endParaRPr>
          </a:p>
        </p:txBody>
      </p:sp>
      <p:cxnSp>
        <p:nvCxnSpPr>
          <p:cNvPr id="1072" name="肘形接點 68"/>
          <p:cNvCxnSpPr>
            <a:stCxn id="1071" idx="3"/>
            <a:endCxn id="1063" idx="1"/>
          </p:cNvCxnSpPr>
          <p:nvPr/>
        </p:nvCxnSpPr>
        <p:spPr>
          <a:xfrm>
            <a:off x="2164320" y="2548653"/>
            <a:ext cx="2394360" cy="540"/>
          </a:xfrm>
          <a:prstGeom prst="bentConnector2">
            <a:avLst/>
          </a:prstGeom>
          <a:ln>
            <a:solidFill>
              <a:srgbClr val="000000"/>
            </a:solidFill>
            <a:round/>
            <a:tailEnd type="triangle" w="med" len="med"/>
          </a:ln>
        </p:spPr>
      </p:cxnSp>
      <p:graphicFrame>
        <p:nvGraphicFramePr>
          <p:cNvPr id="1073" name="表格 30"/>
          <p:cNvGraphicFramePr/>
          <p:nvPr>
            <p:extLst>
              <p:ext uri="{D42A27DB-BD31-4B8C-83A1-F6EECF244321}">
                <p14:modId xmlns:p14="http://schemas.microsoft.com/office/powerpoint/2010/main" xmlns="" val="2747293244"/>
              </p:ext>
            </p:extLst>
          </p:nvPr>
        </p:nvGraphicFramePr>
        <p:xfrm>
          <a:off x="4558140" y="2016131"/>
          <a:ext cx="1797120" cy="1122112"/>
        </p:xfrm>
        <a:graphic>
          <a:graphicData uri="http://schemas.openxmlformats.org/drawingml/2006/table">
            <a:tbl>
              <a:tblPr/>
              <a:tblGrid>
                <a:gridCol w="898560">
                  <a:extLst>
                    <a:ext uri="{9D8B030D-6E8A-4147-A177-3AD203B41FA5}">
                      <a16:colId xmlns:a16="http://schemas.microsoft.com/office/drawing/2014/main" xmlns="" val="20000"/>
                    </a:ext>
                  </a:extLst>
                </a:gridCol>
                <a:gridCol w="898560">
                  <a:extLst>
                    <a:ext uri="{9D8B030D-6E8A-4147-A177-3AD203B41FA5}">
                      <a16:colId xmlns:a16="http://schemas.microsoft.com/office/drawing/2014/main" xmlns="" val="20001"/>
                    </a:ext>
                  </a:extLst>
                </a:gridCol>
              </a:tblGrid>
              <a:tr h="3658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500" b="1" strike="noStrike" spc="-1" dirty="0" err="1">
                          <a:solidFill>
                            <a:schemeClr val="dk1"/>
                          </a:solidFill>
                          <a:latin typeface="微軟正黑體"/>
                          <a:ea typeface="微軟正黑體"/>
                        </a:rPr>
                        <a:t>DeGEN</a:t>
                      </a:r>
                      <a:endParaRPr lang="en-US" altLang="zh-TW" sz="1500" b="0" strike="noStrike" spc="-1" dirty="0">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390480">
                <a:tc gridSpan="2">
                  <a:txBody>
                    <a:bodyPr/>
                    <a:lstStyle/>
                    <a:p>
                      <a:pPr algn="ctr">
                        <a:lnSpc>
                          <a:spcPct val="100000"/>
                        </a:lnSpc>
                      </a:pPr>
                      <a:r>
                        <a:rPr lang="zh-TW" sz="1500" b="0" strike="noStrike" spc="-1">
                          <a:solidFill>
                            <a:schemeClr val="dk1"/>
                          </a:solidFill>
                          <a:latin typeface="微軟正黑體"/>
                          <a:ea typeface="微軟正黑體"/>
                        </a:rPr>
                        <a:t>料號編碼產生</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altLang="zh-TW" sz="1500" b="0" strike="noStrike" spc="-1" dirty="0" err="1">
                          <a:solidFill>
                            <a:srgbClr val="000000"/>
                          </a:solidFill>
                          <a:latin typeface="微軟正黑體"/>
                          <a:ea typeface="微軟正黑體"/>
                        </a:rPr>
                        <a:t>DeGEN</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sp>
        <p:nvSpPr>
          <p:cNvPr id="1074" name="文字方塊 3"/>
          <p:cNvSpPr/>
          <p:nvPr/>
        </p:nvSpPr>
        <p:spPr>
          <a:xfrm>
            <a:off x="2351160" y="820387"/>
            <a:ext cx="7218180" cy="45948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endParaRPr lang="en-US" sz="2100" spc="-2" dirty="0">
              <a:solidFill>
                <a:srgbClr val="000000"/>
              </a:solidFill>
              <a:latin typeface="Calibri"/>
            </a:endParaRPr>
          </a:p>
        </p:txBody>
      </p:sp>
      <p:sp>
        <p:nvSpPr>
          <p:cNvPr id="1075" name="文字方塊 17"/>
          <p:cNvSpPr/>
          <p:nvPr/>
        </p:nvSpPr>
        <p:spPr>
          <a:xfrm>
            <a:off x="5113800" y="1375592"/>
            <a:ext cx="464886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編碼小組</a:t>
            </a:r>
            <a:r>
              <a:rPr lang="en-US" sz="1700" spc="-2" dirty="0">
                <a:solidFill>
                  <a:srgbClr val="000000"/>
                </a:solidFill>
                <a:latin typeface="Arial"/>
                <a:ea typeface="Arial"/>
              </a:rPr>
              <a:t>(</a:t>
            </a:r>
            <a:r>
              <a:rPr lang="zh-TW" altLang="en-US" sz="1700" spc="-2" dirty="0">
                <a:solidFill>
                  <a:srgbClr val="000000"/>
                </a:solidFill>
                <a:latin typeface="Arial"/>
                <a:ea typeface="Arial"/>
              </a:rPr>
              <a:t>開發指令組</a:t>
            </a:r>
            <a:r>
              <a:rPr lang="en-US" sz="1700" spc="-2" dirty="0">
                <a:solidFill>
                  <a:srgbClr val="000000"/>
                </a:solidFill>
                <a:latin typeface="Arial"/>
                <a:ea typeface="Arial"/>
              </a:rPr>
              <a:t>)</a:t>
            </a:r>
            <a:endParaRPr lang="en-US" sz="1700" spc="-2" dirty="0">
              <a:solidFill>
                <a:srgbClr val="000000"/>
              </a:solidFill>
              <a:latin typeface="Calibri"/>
            </a:endParaRPr>
          </a:p>
        </p:txBody>
      </p:sp>
      <p:grpSp>
        <p:nvGrpSpPr>
          <p:cNvPr id="2" name="Group 220"/>
          <p:cNvGrpSpPr/>
          <p:nvPr/>
        </p:nvGrpSpPr>
        <p:grpSpPr>
          <a:xfrm>
            <a:off x="1728540" y="2022612"/>
            <a:ext cx="532980" cy="408303"/>
            <a:chOff x="1152360" y="1348200"/>
            <a:chExt cx="355320" cy="272160"/>
          </a:xfrm>
        </p:grpSpPr>
        <p:sp>
          <p:nvSpPr>
            <p:cNvPr id="1077" name="Oval 221"/>
            <p:cNvSpPr/>
            <p:nvPr/>
          </p:nvSpPr>
          <p:spPr>
            <a:xfrm>
              <a:off x="1152720" y="134820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1078" name="TextBox 222"/>
            <p:cNvSpPr/>
            <p:nvPr/>
          </p:nvSpPr>
          <p:spPr>
            <a:xfrm>
              <a:off x="1152360" y="136836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grpSp>
        <p:nvGrpSpPr>
          <p:cNvPr id="3" name="Group 220"/>
          <p:cNvGrpSpPr/>
          <p:nvPr/>
        </p:nvGrpSpPr>
        <p:grpSpPr>
          <a:xfrm>
            <a:off x="5808780" y="3622879"/>
            <a:ext cx="532980" cy="408303"/>
            <a:chOff x="3872520" y="2414880"/>
            <a:chExt cx="355320" cy="272160"/>
          </a:xfrm>
        </p:grpSpPr>
        <p:sp>
          <p:nvSpPr>
            <p:cNvPr id="1080" name="Oval 221"/>
            <p:cNvSpPr/>
            <p:nvPr/>
          </p:nvSpPr>
          <p:spPr>
            <a:xfrm>
              <a:off x="3872880" y="241488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081" name="TextBox 222"/>
            <p:cNvSpPr/>
            <p:nvPr/>
          </p:nvSpPr>
          <p:spPr>
            <a:xfrm>
              <a:off x="3872520" y="243504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3</a:t>
              </a:r>
              <a:endParaRPr lang="en-US" sz="1500" spc="-2" dirty="0">
                <a:solidFill>
                  <a:srgbClr val="000000"/>
                </a:solidFill>
                <a:latin typeface="Calibri"/>
              </a:endParaRPr>
            </a:p>
          </p:txBody>
        </p:sp>
      </p:grpSp>
      <p:cxnSp>
        <p:nvCxnSpPr>
          <p:cNvPr id="1082" name="肘形接點 68"/>
          <p:cNvCxnSpPr>
            <a:stCxn id="1061" idx="3"/>
            <a:endCxn id="1083" idx="1"/>
          </p:cNvCxnSpPr>
          <p:nvPr/>
        </p:nvCxnSpPr>
        <p:spPr>
          <a:xfrm>
            <a:off x="6369300" y="4206709"/>
            <a:ext cx="1100520" cy="540"/>
          </a:xfrm>
          <a:prstGeom prst="bentConnector2">
            <a:avLst/>
          </a:prstGeom>
          <a:ln>
            <a:solidFill>
              <a:srgbClr val="000000"/>
            </a:solidFill>
            <a:round/>
            <a:tailEnd type="triangle" w="med" len="med"/>
          </a:ln>
        </p:spPr>
      </p:cxnSp>
      <p:grpSp>
        <p:nvGrpSpPr>
          <p:cNvPr id="4" name="Group 220"/>
          <p:cNvGrpSpPr/>
          <p:nvPr/>
        </p:nvGrpSpPr>
        <p:grpSpPr>
          <a:xfrm>
            <a:off x="6059880" y="1750410"/>
            <a:ext cx="532980" cy="408303"/>
            <a:chOff x="4039920" y="1166760"/>
            <a:chExt cx="355320" cy="272160"/>
          </a:xfrm>
        </p:grpSpPr>
        <p:sp>
          <p:nvSpPr>
            <p:cNvPr id="1089" name="Oval 221"/>
            <p:cNvSpPr/>
            <p:nvPr/>
          </p:nvSpPr>
          <p:spPr>
            <a:xfrm>
              <a:off x="4039920" y="116676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090" name="TextBox 222"/>
            <p:cNvSpPr/>
            <p:nvPr/>
          </p:nvSpPr>
          <p:spPr>
            <a:xfrm>
              <a:off x="4039920" y="11869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grpSp>
        <p:nvGrpSpPr>
          <p:cNvPr id="5" name="Group 220"/>
          <p:cNvGrpSpPr/>
          <p:nvPr/>
        </p:nvGrpSpPr>
        <p:grpSpPr>
          <a:xfrm>
            <a:off x="6120360" y="5242049"/>
            <a:ext cx="532980" cy="408303"/>
            <a:chOff x="4080240" y="3494160"/>
            <a:chExt cx="355320" cy="272160"/>
          </a:xfrm>
        </p:grpSpPr>
        <p:sp>
          <p:nvSpPr>
            <p:cNvPr id="1092" name="Oval 221"/>
            <p:cNvSpPr/>
            <p:nvPr/>
          </p:nvSpPr>
          <p:spPr>
            <a:xfrm>
              <a:off x="4080600" y="349416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093" name="TextBox 222"/>
            <p:cNvSpPr/>
            <p:nvPr/>
          </p:nvSpPr>
          <p:spPr>
            <a:xfrm>
              <a:off x="4080240" y="35143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4</a:t>
              </a:r>
              <a:endParaRPr lang="en-US" sz="1500" spc="-2" dirty="0">
                <a:solidFill>
                  <a:srgbClr val="000000"/>
                </a:solidFill>
                <a:latin typeface="Calibri"/>
              </a:endParaRPr>
            </a:p>
          </p:txBody>
        </p:sp>
      </p:grpSp>
      <p:sp>
        <p:nvSpPr>
          <p:cNvPr id="1083" name="流程圖: 決策 50"/>
          <p:cNvSpPr/>
          <p:nvPr/>
        </p:nvSpPr>
        <p:spPr>
          <a:xfrm>
            <a:off x="7469280" y="3756280"/>
            <a:ext cx="179712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是否要更新</a:t>
            </a:r>
            <a:r>
              <a:rPr lang="en-US" sz="1500" spc="-2" dirty="0">
                <a:solidFill>
                  <a:srgbClr val="000000"/>
                </a:solidFill>
                <a:latin typeface="微軟正黑體"/>
                <a:ea typeface="微軟正黑體"/>
              </a:rPr>
              <a:t>?</a:t>
            </a:r>
            <a:endParaRPr lang="en-US" sz="1500" spc="-2" dirty="0">
              <a:solidFill>
                <a:srgbClr val="000000"/>
              </a:solidFill>
              <a:latin typeface="Calibri"/>
            </a:endParaRPr>
          </a:p>
        </p:txBody>
      </p:sp>
      <p:sp>
        <p:nvSpPr>
          <p:cNvPr id="1094" name="TextBox 46"/>
          <p:cNvSpPr/>
          <p:nvPr/>
        </p:nvSpPr>
        <p:spPr>
          <a:xfrm>
            <a:off x="6451380" y="3808128"/>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graphicFrame>
        <p:nvGraphicFramePr>
          <p:cNvPr id="1095" name="表格 30"/>
          <p:cNvGraphicFramePr/>
          <p:nvPr>
            <p:extLst>
              <p:ext uri="{D42A27DB-BD31-4B8C-83A1-F6EECF244321}">
                <p14:modId xmlns:p14="http://schemas.microsoft.com/office/powerpoint/2010/main" xmlns="" val="3859825974"/>
              </p:ext>
            </p:extLst>
          </p:nvPr>
        </p:nvGraphicFramePr>
        <p:xfrm>
          <a:off x="7516260" y="5375990"/>
          <a:ext cx="1713960" cy="1097448"/>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dirty="0">
                          <a:solidFill>
                            <a:schemeClr val="dk1"/>
                          </a:solidFill>
                          <a:latin typeface="微軟正黑體"/>
                          <a:ea typeface="微軟正黑體"/>
                        </a:rPr>
                        <a:t>MM42</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365816">
                <a:tc gridSpan="2">
                  <a:txBody>
                    <a:bodyPr/>
                    <a:lstStyle/>
                    <a:p>
                      <a:pPr algn="ctr">
                        <a:lnSpc>
                          <a:spcPct val="100000"/>
                        </a:lnSpc>
                      </a:pPr>
                      <a:r>
                        <a:rPr lang="zh-TW" sz="1500" b="0" strike="noStrike" spc="-1" dirty="0">
                          <a:solidFill>
                            <a:srgbClr val="000000"/>
                          </a:solidFill>
                          <a:latin typeface="微軟正黑體"/>
                          <a:ea typeface="微軟正黑體"/>
                        </a:rPr>
                        <a:t>更新物料主檔</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dirty="0">
                          <a:solidFill>
                            <a:srgbClr val="000000"/>
                          </a:solidFill>
                          <a:latin typeface="Arial"/>
                          <a:ea typeface="Arial"/>
                        </a:rPr>
                        <a:t>SAP</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altLang="en-US" sz="1500" b="0" strike="noStrike" spc="-1" dirty="0" smtClean="0">
                          <a:solidFill>
                            <a:srgbClr val="000000"/>
                          </a:solidFill>
                          <a:latin typeface="微軟正黑體"/>
                          <a:ea typeface="微軟正黑體"/>
                        </a:rPr>
                        <a:t>自</a:t>
                      </a:r>
                      <a:r>
                        <a:rPr lang="zh-TW" sz="1500" b="0" strike="noStrike" spc="-1" dirty="0" smtClean="0">
                          <a:solidFill>
                            <a:srgbClr val="000000"/>
                          </a:solidFill>
                          <a:latin typeface="微軟正黑體"/>
                          <a:ea typeface="微軟正黑體"/>
                        </a:rPr>
                        <a:t>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grpSp>
        <p:nvGrpSpPr>
          <p:cNvPr id="6" name="Group 220"/>
          <p:cNvGrpSpPr/>
          <p:nvPr/>
        </p:nvGrpSpPr>
        <p:grpSpPr>
          <a:xfrm>
            <a:off x="9076860" y="5233408"/>
            <a:ext cx="532980" cy="408303"/>
            <a:chOff x="6051240" y="3488400"/>
            <a:chExt cx="355320" cy="272160"/>
          </a:xfrm>
        </p:grpSpPr>
        <p:sp>
          <p:nvSpPr>
            <p:cNvPr id="1097" name="Oval 221"/>
            <p:cNvSpPr/>
            <p:nvPr/>
          </p:nvSpPr>
          <p:spPr>
            <a:xfrm>
              <a:off x="6051240" y="348840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098" name="TextBox 222"/>
            <p:cNvSpPr/>
            <p:nvPr/>
          </p:nvSpPr>
          <p:spPr>
            <a:xfrm>
              <a:off x="6051240" y="35089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5</a:t>
              </a:r>
              <a:endParaRPr lang="en-US" sz="1500" spc="-2" dirty="0">
                <a:solidFill>
                  <a:srgbClr val="000000"/>
                </a:solidFill>
                <a:latin typeface="Calibri"/>
              </a:endParaRPr>
            </a:p>
          </p:txBody>
        </p:sp>
      </p:grpSp>
      <p:cxnSp>
        <p:nvCxnSpPr>
          <p:cNvPr id="1099" name="肘形接點 68"/>
          <p:cNvCxnSpPr>
            <a:stCxn id="1083" idx="2"/>
            <a:endCxn id="1095" idx="0"/>
          </p:cNvCxnSpPr>
          <p:nvPr/>
        </p:nvCxnSpPr>
        <p:spPr>
          <a:xfrm rot="16200000" flipH="1">
            <a:off x="8011115" y="5013864"/>
            <a:ext cx="718851" cy="5400"/>
          </a:xfrm>
          <a:prstGeom prst="bentConnector3">
            <a:avLst>
              <a:gd name="adj1" fmla="val 50000"/>
            </a:avLst>
          </a:prstGeom>
          <a:ln>
            <a:solidFill>
              <a:srgbClr val="000000"/>
            </a:solidFill>
            <a:round/>
            <a:tailEnd type="triangle" w="med" len="med"/>
          </a:ln>
        </p:spPr>
      </p:cxnSp>
      <p:sp>
        <p:nvSpPr>
          <p:cNvPr id="1100" name="TextBox 46"/>
          <p:cNvSpPr/>
          <p:nvPr/>
        </p:nvSpPr>
        <p:spPr>
          <a:xfrm>
            <a:off x="8359200" y="4727890"/>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cxnSp>
        <p:nvCxnSpPr>
          <p:cNvPr id="1101" name="肘形接點 68"/>
          <p:cNvCxnSpPr>
            <a:endCxn id="1068" idx="0"/>
          </p:cNvCxnSpPr>
          <p:nvPr/>
        </p:nvCxnSpPr>
        <p:spPr>
          <a:xfrm>
            <a:off x="9215438" y="5930112"/>
            <a:ext cx="3626572" cy="2082485"/>
          </a:xfrm>
          <a:prstGeom prst="bentConnector2">
            <a:avLst/>
          </a:prstGeom>
          <a:ln>
            <a:solidFill>
              <a:srgbClr val="000000"/>
            </a:solidFill>
            <a:round/>
            <a:tailEnd type="triangle" w="med" len="med"/>
          </a:ln>
        </p:spPr>
      </p:cxnSp>
      <p:cxnSp>
        <p:nvCxnSpPr>
          <p:cNvPr id="1102" name="肘形接點 68"/>
          <p:cNvCxnSpPr>
            <a:cxnSpLocks/>
            <a:stCxn id="1083" idx="3"/>
            <a:endCxn id="1068" idx="0"/>
          </p:cNvCxnSpPr>
          <p:nvPr/>
        </p:nvCxnSpPr>
        <p:spPr>
          <a:xfrm>
            <a:off x="9266400" y="4206710"/>
            <a:ext cx="3575610" cy="3805887"/>
          </a:xfrm>
          <a:prstGeom prst="bentConnector2">
            <a:avLst/>
          </a:prstGeom>
          <a:ln>
            <a:solidFill>
              <a:srgbClr val="000000"/>
            </a:solidFill>
            <a:round/>
            <a:tailEnd type="triangle" w="med" len="med"/>
          </a:ln>
        </p:spPr>
      </p:cxnSp>
      <p:sp>
        <p:nvSpPr>
          <p:cNvPr id="1104" name="TextBox 46"/>
          <p:cNvSpPr/>
          <p:nvPr/>
        </p:nvSpPr>
        <p:spPr>
          <a:xfrm>
            <a:off x="9343620" y="3710373"/>
            <a:ext cx="33156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1068" name="流程圖: 換頁接點 52"/>
          <p:cNvSpPr/>
          <p:nvPr/>
        </p:nvSpPr>
        <p:spPr>
          <a:xfrm>
            <a:off x="12562020" y="8012597"/>
            <a:ext cx="559980" cy="46663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P2</a:t>
            </a:r>
            <a:endParaRPr lang="en-US" spc="-2" dirty="0">
              <a:solidFill>
                <a:srgbClr val="000000"/>
              </a:solidFill>
              <a:latin typeface="Calibri"/>
            </a:endParaRPr>
          </a:p>
        </p:txBody>
      </p:sp>
      <p:sp>
        <p:nvSpPr>
          <p:cNvPr id="50" name="TextBox 4"/>
          <p:cNvSpPr/>
          <p:nvPr/>
        </p:nvSpPr>
        <p:spPr>
          <a:xfrm>
            <a:off x="2468880" y="1377000"/>
            <a:ext cx="4335840" cy="33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zh-TW" sz="1580" b="0" strike="noStrike" spc="-1">
                <a:solidFill>
                  <a:schemeClr val="dk1"/>
                </a:solidFill>
                <a:latin typeface="Calibri"/>
              </a:rPr>
              <a:t>統購</a:t>
            </a:r>
            <a:endParaRPr lang="en-US" sz="1580" b="0" strike="noStrike" spc="-1">
              <a:solidFill>
                <a:srgbClr val="000000"/>
              </a:solidFill>
              <a:latin typeface="Calibri"/>
            </a:endParaRPr>
          </a:p>
        </p:txBody>
      </p:sp>
      <p:sp>
        <p:nvSpPr>
          <p:cNvPr id="51" name="TextBox 4"/>
          <p:cNvSpPr/>
          <p:nvPr/>
        </p:nvSpPr>
        <p:spPr>
          <a:xfrm>
            <a:off x="2521800" y="811440"/>
            <a:ext cx="824400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sz="2400" b="1" spc="-1" dirty="0" smtClean="0">
                <a:solidFill>
                  <a:schemeClr val="dk1"/>
                </a:solidFill>
                <a:latin typeface="Microsoft JhengHei"/>
                <a:ea typeface="Microsoft JhengHei"/>
              </a:rPr>
              <a:t>MM-MA-0010-01</a:t>
            </a:r>
            <a:r>
              <a:rPr lang="zh-TW" altLang="en-US" sz="2400" b="1" spc="-1" dirty="0" smtClean="0">
                <a:solidFill>
                  <a:schemeClr val="dk1"/>
                </a:solidFill>
                <a:latin typeface="Microsoft JhengHei"/>
                <a:ea typeface="Microsoft JhengHei"/>
              </a:rPr>
              <a:t>物料主檔維護流程</a:t>
            </a:r>
            <a:r>
              <a:rPr lang="en-US" alt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原材料</a:t>
            </a:r>
            <a:r>
              <a:rPr lang="en-US" alt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成品</a:t>
            </a:r>
            <a:r>
              <a:rPr lang="en-US" alt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半成品</a:t>
            </a:r>
            <a:r>
              <a:rPr lang="en-US" altLang="en-US" sz="2400" b="1" spc="-1" dirty="0" smtClean="0">
                <a:solidFill>
                  <a:schemeClr val="dk1"/>
                </a:solidFill>
                <a:latin typeface="Microsoft JhengHei"/>
                <a:ea typeface="Microsoft JhengHei"/>
              </a:rPr>
              <a:t>)</a:t>
            </a:r>
          </a:p>
          <a:p>
            <a:pPr defTabSz="457200"/>
            <a:endParaRPr lang="en-US" altLang="en-US" sz="2400" b="1" spc="-1" dirty="0" smtClean="0">
              <a:solidFill>
                <a:schemeClr val="dk1"/>
              </a:solidFill>
              <a:latin typeface="Microsoft JhengHei"/>
              <a:ea typeface="Microsoft JhengHei"/>
            </a:endParaRPr>
          </a:p>
        </p:txBody>
      </p:sp>
      <p:sp>
        <p:nvSpPr>
          <p:cNvPr id="59"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9" name="TextBox 53"/>
          <p:cNvSpPr/>
          <p:nvPr/>
        </p:nvSpPr>
        <p:spPr>
          <a:xfrm>
            <a:off x="14380740" y="2064198"/>
            <a:ext cx="3593700" cy="623029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marL="342900" indent="-342900">
              <a:buClr>
                <a:srgbClr val="000000"/>
              </a:buClr>
              <a:buFont typeface="Arial"/>
              <a:buAutoNum type="arabicPeriod"/>
            </a:pPr>
            <a:r>
              <a:rPr lang="zh-TW" altLang="en-US" spc="-2" dirty="0">
                <a:solidFill>
                  <a:srgbClr val="000000"/>
                </a:solidFill>
                <a:latin typeface="Arial"/>
                <a:ea typeface="Arial"/>
              </a:rPr>
              <a:t>當料號有採購的需求時，則採購單位須建立物料的採購視圖，然後才能進行詢比議價的流程，並進行採購的後續相關作業。</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當料號有銷售的需求時，則銷售單位須建立物料的銷售視圖，然後才能進行報價與建立銷售訂單的後續相關作業。</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當料號是有</a:t>
            </a:r>
            <a:r>
              <a:rPr lang="en-US" spc="-2" dirty="0">
                <a:solidFill>
                  <a:srgbClr val="000000"/>
                </a:solidFill>
                <a:latin typeface="Arial"/>
                <a:ea typeface="Arial"/>
              </a:rPr>
              <a:t>BOM</a:t>
            </a:r>
            <a:r>
              <a:rPr lang="zh-TW" altLang="en-US" spc="-2" dirty="0">
                <a:solidFill>
                  <a:srgbClr val="000000"/>
                </a:solidFill>
                <a:latin typeface="Arial"/>
                <a:ea typeface="Arial"/>
              </a:rPr>
              <a:t>的元件或生產的料號，都需要去維護物料主檔的</a:t>
            </a:r>
            <a:r>
              <a:rPr lang="en-US" spc="-2" dirty="0">
                <a:solidFill>
                  <a:srgbClr val="000000"/>
                </a:solidFill>
                <a:latin typeface="Arial"/>
                <a:ea typeface="Arial"/>
              </a:rPr>
              <a:t>MRP</a:t>
            </a:r>
            <a:r>
              <a:rPr lang="zh-TW" altLang="en-US" spc="-2" dirty="0">
                <a:solidFill>
                  <a:srgbClr val="000000"/>
                </a:solidFill>
                <a:latin typeface="Arial"/>
                <a:ea typeface="Arial"/>
              </a:rPr>
              <a:t>視圖的</a:t>
            </a:r>
            <a:r>
              <a:rPr lang="en-US" spc="-2" dirty="0">
                <a:solidFill>
                  <a:srgbClr val="000000"/>
                </a:solidFill>
                <a:latin typeface="Arial"/>
                <a:ea typeface="Arial"/>
              </a:rPr>
              <a:t>MRP</a:t>
            </a:r>
            <a:r>
              <a:rPr lang="zh-TW" altLang="en-US" spc="-2" dirty="0">
                <a:solidFill>
                  <a:srgbClr val="000000"/>
                </a:solidFill>
                <a:latin typeface="Arial"/>
                <a:ea typeface="Arial"/>
              </a:rPr>
              <a:t>參數及生產版本。</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物料主檔的</a:t>
            </a:r>
            <a:r>
              <a:rPr lang="en-US" spc="-2" dirty="0">
                <a:solidFill>
                  <a:srgbClr val="000000"/>
                </a:solidFill>
                <a:latin typeface="Arial"/>
                <a:ea typeface="Arial"/>
              </a:rPr>
              <a:t>FI/CO</a:t>
            </a:r>
            <a:r>
              <a:rPr lang="zh-TW" altLang="en-US" spc="-2" dirty="0">
                <a:solidFill>
                  <a:srgbClr val="000000"/>
                </a:solidFill>
                <a:latin typeface="Arial"/>
                <a:ea typeface="Arial"/>
              </a:rPr>
              <a:t>視圖為物料主檔的最後維護者，需核發標準成本，及評價等級，當維護完成才能解鎖物料做進行交易的行為，例如</a:t>
            </a:r>
            <a:r>
              <a:rPr lang="en-US" spc="-2" dirty="0">
                <a:solidFill>
                  <a:srgbClr val="000000"/>
                </a:solidFill>
                <a:latin typeface="Arial"/>
                <a:ea typeface="Arial"/>
              </a:rPr>
              <a:t>:</a:t>
            </a:r>
            <a:r>
              <a:rPr lang="zh-TW" altLang="en-US" spc="-2" dirty="0">
                <a:solidFill>
                  <a:srgbClr val="000000"/>
                </a:solidFill>
                <a:latin typeface="Arial"/>
                <a:ea typeface="Arial"/>
              </a:rPr>
              <a:t>採購收料，開立工單。</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採購單位提供物料的計畫價格給財務單位，讓財務單位在執行標準成本估算之前，批量上傳計劃價格。</a:t>
            </a:r>
            <a:endParaRPr lang="en-US" spc="-2" dirty="0">
              <a:solidFill>
                <a:srgbClr val="000000"/>
              </a:solidFill>
              <a:latin typeface="Calibri"/>
            </a:endParaRPr>
          </a:p>
        </p:txBody>
      </p:sp>
      <p:sp>
        <p:nvSpPr>
          <p:cNvPr id="1110" name="文字方塊 3"/>
          <p:cNvSpPr/>
          <p:nvPr/>
        </p:nvSpPr>
        <p:spPr>
          <a:xfrm>
            <a:off x="2351160" y="820387"/>
            <a:ext cx="8578790" cy="505650"/>
          </a:xfrm>
          <a:prstGeom prst="rect">
            <a:avLst/>
          </a:prstGeom>
          <a:noFill/>
          <a:ln w="0">
            <a:noFill/>
          </a:ln>
        </p:spPr>
        <p:style>
          <a:lnRef idx="0">
            <a:scrgbClr r="0" g="0" b="0"/>
          </a:lnRef>
          <a:fillRef idx="0">
            <a:scrgbClr r="0" g="0" b="0"/>
          </a:fillRef>
          <a:effectRef idx="0">
            <a:scrgbClr r="0" g="0" b="0"/>
          </a:effectRef>
          <a:fontRef idx="minor"/>
        </p:style>
        <p:txBody>
          <a:bodyPr wrap="square" lIns="135000" tIns="67500" rIns="135000" bIns="67500" anchor="t">
            <a:spAutoFit/>
          </a:bodyPr>
          <a:lstStyle/>
          <a:p>
            <a:pPr defTabSz="457200">
              <a:lnSpc>
                <a:spcPct val="100000"/>
              </a:lnSpc>
            </a:pPr>
            <a:r>
              <a:rPr lang="en-US" sz="2400" b="1" spc="-1" dirty="0" smtClean="0">
                <a:solidFill>
                  <a:schemeClr val="dk1"/>
                </a:solidFill>
                <a:latin typeface="Microsoft JhengHei"/>
                <a:ea typeface="Microsoft JhengHei"/>
              </a:rPr>
              <a:t>MM-MA-0010-01</a:t>
            </a:r>
            <a:r>
              <a:rPr lang="zh-TW" altLang="en-US" sz="2400" b="1" spc="-1" dirty="0" smtClean="0">
                <a:solidFill>
                  <a:schemeClr val="dk1"/>
                </a:solidFill>
                <a:latin typeface="Microsoft JhengHei"/>
                <a:ea typeface="Microsoft JhengHei"/>
              </a:rPr>
              <a:t>物料主檔維護流程</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原材料</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成品</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半成品</a:t>
            </a:r>
            <a:r>
              <a:rPr lang="en-US" sz="2400" b="1" spc="-1" dirty="0" smtClean="0">
                <a:solidFill>
                  <a:schemeClr val="dk1"/>
                </a:solidFill>
                <a:latin typeface="Microsoft JhengHei"/>
                <a:ea typeface="Microsoft JhengHei"/>
              </a:rPr>
              <a:t>)</a:t>
            </a:r>
          </a:p>
        </p:txBody>
      </p:sp>
      <p:sp>
        <p:nvSpPr>
          <p:cNvPr id="1111" name="文字方塊 17"/>
          <p:cNvSpPr/>
          <p:nvPr/>
        </p:nvSpPr>
        <p:spPr>
          <a:xfrm>
            <a:off x="2568240" y="1393415"/>
            <a:ext cx="258066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採購單位</a:t>
            </a:r>
            <a:endParaRPr lang="en-US" sz="1700" spc="-2" dirty="0">
              <a:solidFill>
                <a:srgbClr val="000000"/>
              </a:solidFill>
              <a:latin typeface="Calibri"/>
            </a:endParaRPr>
          </a:p>
        </p:txBody>
      </p:sp>
      <p:cxnSp>
        <p:nvCxnSpPr>
          <p:cNvPr id="1116" name="肘形接點 68"/>
          <p:cNvCxnSpPr>
            <a:stCxn id="1117" idx="2"/>
            <a:endCxn id="1118" idx="0"/>
          </p:cNvCxnSpPr>
          <p:nvPr/>
        </p:nvCxnSpPr>
        <p:spPr>
          <a:xfrm rot="5400000">
            <a:off x="3127608" y="3583993"/>
            <a:ext cx="933264" cy="2160"/>
          </a:xfrm>
          <a:prstGeom prst="bentConnector3">
            <a:avLst>
              <a:gd name="adj1" fmla="val 50028"/>
            </a:avLst>
          </a:prstGeom>
          <a:ln>
            <a:solidFill>
              <a:srgbClr val="000000"/>
            </a:solidFill>
            <a:round/>
            <a:tailEnd type="triangle" w="med" len="med"/>
          </a:ln>
        </p:spPr>
      </p:cxnSp>
      <p:sp>
        <p:nvSpPr>
          <p:cNvPr id="1119" name="流程圖: 換頁接點 52"/>
          <p:cNvSpPr/>
          <p:nvPr/>
        </p:nvSpPr>
        <p:spPr>
          <a:xfrm>
            <a:off x="974700" y="2439016"/>
            <a:ext cx="559980" cy="46663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P1</a:t>
            </a:r>
            <a:endParaRPr lang="en-US" spc="-2" dirty="0">
              <a:solidFill>
                <a:srgbClr val="000000"/>
              </a:solidFill>
              <a:latin typeface="Calibri"/>
            </a:endParaRPr>
          </a:p>
        </p:txBody>
      </p:sp>
      <p:sp>
        <p:nvSpPr>
          <p:cNvPr id="1117" name="流程圖: 決策 50"/>
          <p:cNvSpPr/>
          <p:nvPr/>
        </p:nvSpPr>
        <p:spPr>
          <a:xfrm>
            <a:off x="2696760" y="2217582"/>
            <a:ext cx="179712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有採購需求</a:t>
            </a:r>
            <a:endParaRPr lang="en-US" sz="1500" spc="-2" dirty="0">
              <a:solidFill>
                <a:srgbClr val="000000"/>
              </a:solidFill>
              <a:latin typeface="Calibri"/>
            </a:endParaRPr>
          </a:p>
        </p:txBody>
      </p:sp>
      <p:graphicFrame>
        <p:nvGraphicFramePr>
          <p:cNvPr id="1120" name="表格 30"/>
          <p:cNvGraphicFramePr/>
          <p:nvPr>
            <p:extLst>
              <p:ext uri="{D42A27DB-BD31-4B8C-83A1-F6EECF244321}">
                <p14:modId xmlns:p14="http://schemas.microsoft.com/office/powerpoint/2010/main" xmlns="" val="3401970348"/>
              </p:ext>
            </p:extLst>
          </p:nvPr>
        </p:nvGraphicFramePr>
        <p:xfrm>
          <a:off x="2737260" y="4051165"/>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MM42</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altLang="en-US" sz="1500" b="0" strike="noStrike" spc="-1" dirty="0">
                          <a:solidFill>
                            <a:srgbClr val="000000"/>
                          </a:solidFill>
                          <a:latin typeface="微軟正黑體"/>
                          <a:ea typeface="微軟正黑體"/>
                        </a:rPr>
                        <a:t>維護</a:t>
                      </a:r>
                      <a:r>
                        <a:rPr lang="zh-TW" sz="1500" b="0" strike="noStrike" spc="-1" dirty="0">
                          <a:solidFill>
                            <a:srgbClr val="000000"/>
                          </a:solidFill>
                          <a:latin typeface="微軟正黑體"/>
                          <a:ea typeface="微軟正黑體"/>
                        </a:rPr>
                        <a:t>物料主檔</a:t>
                      </a:r>
                      <a:endParaRPr lang="en-US" sz="1500" b="0" strike="noStrike" spc="-1" dirty="0">
                        <a:solidFill>
                          <a:srgbClr val="000000"/>
                        </a:solidFill>
                        <a:latin typeface="Calibri"/>
                      </a:endParaRPr>
                    </a:p>
                    <a:p>
                      <a:pPr algn="ctr">
                        <a:lnSpc>
                          <a:spcPct val="100000"/>
                        </a:lnSpc>
                      </a:pPr>
                      <a:r>
                        <a:rPr lang="zh-TW" sz="1500" b="0" strike="noStrike" spc="-1" dirty="0">
                          <a:solidFill>
                            <a:srgbClr val="000000"/>
                          </a:solidFill>
                          <a:latin typeface="微軟正黑體"/>
                          <a:ea typeface="微軟正黑體"/>
                        </a:rPr>
                        <a:t>採購視圖</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sp>
        <p:nvSpPr>
          <p:cNvPr id="1121" name="TextBox 46"/>
          <p:cNvSpPr/>
          <p:nvPr/>
        </p:nvSpPr>
        <p:spPr>
          <a:xfrm>
            <a:off x="3635280" y="3209715"/>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grpSp>
        <p:nvGrpSpPr>
          <p:cNvPr id="2" name="Group 220"/>
          <p:cNvGrpSpPr/>
          <p:nvPr/>
        </p:nvGrpSpPr>
        <p:grpSpPr>
          <a:xfrm>
            <a:off x="4171500" y="3851334"/>
            <a:ext cx="532980" cy="408303"/>
            <a:chOff x="2781000" y="2567160"/>
            <a:chExt cx="355320" cy="272160"/>
          </a:xfrm>
        </p:grpSpPr>
        <p:sp>
          <p:nvSpPr>
            <p:cNvPr id="1123" name="Oval 221"/>
            <p:cNvSpPr/>
            <p:nvPr/>
          </p:nvSpPr>
          <p:spPr>
            <a:xfrm>
              <a:off x="2781360" y="256716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24" name="TextBox 222"/>
            <p:cNvSpPr/>
            <p:nvPr/>
          </p:nvSpPr>
          <p:spPr>
            <a:xfrm>
              <a:off x="2781000" y="25873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cxnSp>
        <p:nvCxnSpPr>
          <p:cNvPr id="1125" name="Straight Connector 284"/>
          <p:cNvCxnSpPr/>
          <p:nvPr/>
        </p:nvCxnSpPr>
        <p:spPr>
          <a:xfrm>
            <a:off x="4960980" y="1373972"/>
            <a:ext cx="540" cy="8617030"/>
          </a:xfrm>
          <a:prstGeom prst="straightConnector1">
            <a:avLst/>
          </a:prstGeom>
          <a:ln>
            <a:solidFill>
              <a:srgbClr val="000000"/>
            </a:solidFill>
            <a:round/>
          </a:ln>
        </p:spPr>
      </p:cxnSp>
      <p:cxnSp>
        <p:nvCxnSpPr>
          <p:cNvPr id="1126" name="肘形接點 68"/>
          <p:cNvCxnSpPr>
            <a:stCxn id="1120" idx="3"/>
            <a:endCxn id="1127" idx="1"/>
          </p:cNvCxnSpPr>
          <p:nvPr/>
        </p:nvCxnSpPr>
        <p:spPr>
          <a:xfrm flipV="1">
            <a:off x="4451220" y="2663691"/>
            <a:ext cx="729540" cy="2050516"/>
          </a:xfrm>
          <a:prstGeom prst="bentConnector3">
            <a:avLst>
              <a:gd name="adj1" fmla="val 50000"/>
            </a:avLst>
          </a:prstGeom>
          <a:ln>
            <a:solidFill>
              <a:srgbClr val="000000"/>
            </a:solidFill>
            <a:round/>
            <a:tailEnd type="triangle" w="med" len="med"/>
          </a:ln>
        </p:spPr>
      </p:cxnSp>
      <p:sp>
        <p:nvSpPr>
          <p:cNvPr id="1128" name="流程圖: 結束點 8"/>
          <p:cNvSpPr/>
          <p:nvPr/>
        </p:nvSpPr>
        <p:spPr>
          <a:xfrm>
            <a:off x="12205620" y="8607308"/>
            <a:ext cx="1797120" cy="782041"/>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結束</a:t>
            </a:r>
            <a:endParaRPr lang="en-US" sz="1500" spc="-2" dirty="0">
              <a:solidFill>
                <a:srgbClr val="000000"/>
              </a:solidFill>
              <a:latin typeface="Calibri"/>
            </a:endParaRPr>
          </a:p>
        </p:txBody>
      </p:sp>
      <p:cxnSp>
        <p:nvCxnSpPr>
          <p:cNvPr id="1129" name="肘形接點 68"/>
          <p:cNvCxnSpPr>
            <a:stCxn id="1130" idx="2"/>
            <a:endCxn id="1128" idx="1"/>
          </p:cNvCxnSpPr>
          <p:nvPr/>
        </p:nvCxnSpPr>
        <p:spPr>
          <a:xfrm rot="16200000" flipH="1">
            <a:off x="11250315" y="8043023"/>
            <a:ext cx="592471" cy="1318680"/>
          </a:xfrm>
          <a:prstGeom prst="bentConnector2">
            <a:avLst/>
          </a:prstGeom>
          <a:ln>
            <a:solidFill>
              <a:srgbClr val="000000"/>
            </a:solidFill>
            <a:round/>
            <a:tailEnd type="triangle" w="med" len="med"/>
          </a:ln>
        </p:spPr>
      </p:cxnSp>
      <p:cxnSp>
        <p:nvCxnSpPr>
          <p:cNvPr id="1131" name="肘形接點 68"/>
          <p:cNvCxnSpPr>
            <a:stCxn id="1117" idx="3"/>
            <a:endCxn id="1127" idx="1"/>
          </p:cNvCxnSpPr>
          <p:nvPr/>
        </p:nvCxnSpPr>
        <p:spPr>
          <a:xfrm flipV="1">
            <a:off x="4493880" y="2663691"/>
            <a:ext cx="687420" cy="4861"/>
          </a:xfrm>
          <a:prstGeom prst="bentConnector3">
            <a:avLst>
              <a:gd name="adj1" fmla="val 50000"/>
            </a:avLst>
          </a:prstGeom>
          <a:ln>
            <a:solidFill>
              <a:srgbClr val="000000"/>
            </a:solidFill>
            <a:round/>
            <a:tailEnd type="triangle" w="med" len="med"/>
          </a:ln>
        </p:spPr>
      </p:cxnSp>
      <p:sp>
        <p:nvSpPr>
          <p:cNvPr id="1132" name="TextBox 46"/>
          <p:cNvSpPr/>
          <p:nvPr/>
        </p:nvSpPr>
        <p:spPr>
          <a:xfrm>
            <a:off x="4537620" y="2264029"/>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1127" name="流程圖: 決策 50"/>
          <p:cNvSpPr/>
          <p:nvPr/>
        </p:nvSpPr>
        <p:spPr>
          <a:xfrm>
            <a:off x="5180760" y="2213262"/>
            <a:ext cx="179712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有銷售需求</a:t>
            </a:r>
            <a:endParaRPr lang="en-US" sz="1500" spc="-2" dirty="0">
              <a:solidFill>
                <a:srgbClr val="000000"/>
              </a:solidFill>
              <a:latin typeface="Calibri"/>
            </a:endParaRPr>
          </a:p>
        </p:txBody>
      </p:sp>
      <p:graphicFrame>
        <p:nvGraphicFramePr>
          <p:cNvPr id="1133" name="表格 30"/>
          <p:cNvGraphicFramePr/>
          <p:nvPr>
            <p:extLst>
              <p:ext uri="{D42A27DB-BD31-4B8C-83A1-F6EECF244321}">
                <p14:modId xmlns:p14="http://schemas.microsoft.com/office/powerpoint/2010/main" xmlns="" val="3148408891"/>
              </p:ext>
            </p:extLst>
          </p:nvPr>
        </p:nvGraphicFramePr>
        <p:xfrm>
          <a:off x="5219100" y="4026321"/>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MM42</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altLang="en-US" sz="1500" b="0" strike="noStrike" spc="-1" dirty="0">
                          <a:solidFill>
                            <a:srgbClr val="000000"/>
                          </a:solidFill>
                          <a:latin typeface="微軟正黑體"/>
                          <a:ea typeface="微軟正黑體"/>
                        </a:rPr>
                        <a:t>維護</a:t>
                      </a:r>
                      <a:r>
                        <a:rPr lang="zh-TW" sz="1500" b="0" strike="noStrike" spc="-1" dirty="0">
                          <a:solidFill>
                            <a:srgbClr val="000000"/>
                          </a:solidFill>
                          <a:latin typeface="微軟正黑體"/>
                          <a:ea typeface="微軟正黑體"/>
                        </a:rPr>
                        <a:t>物料主檔</a:t>
                      </a:r>
                      <a:endParaRPr lang="en-US" sz="1500" b="0" strike="noStrike" spc="-1" dirty="0">
                        <a:solidFill>
                          <a:srgbClr val="000000"/>
                        </a:solidFill>
                        <a:latin typeface="Calibri"/>
                      </a:endParaRPr>
                    </a:p>
                    <a:p>
                      <a:pPr algn="ctr">
                        <a:lnSpc>
                          <a:spcPct val="100000"/>
                        </a:lnSpc>
                      </a:pPr>
                      <a:r>
                        <a:rPr lang="zh-TW" sz="1500" b="0" strike="noStrike" spc="-1" dirty="0">
                          <a:solidFill>
                            <a:srgbClr val="000000"/>
                          </a:solidFill>
                          <a:latin typeface="微軟正黑體"/>
                          <a:ea typeface="微軟正黑體"/>
                        </a:rPr>
                        <a:t>銷售視圖</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sp>
        <p:nvSpPr>
          <p:cNvPr id="1134" name="TextBox 46"/>
          <p:cNvSpPr/>
          <p:nvPr/>
        </p:nvSpPr>
        <p:spPr>
          <a:xfrm>
            <a:off x="6100920" y="3245361"/>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cxnSp>
        <p:nvCxnSpPr>
          <p:cNvPr id="1135" name="肘形接點 68"/>
          <p:cNvCxnSpPr>
            <a:stCxn id="1127" idx="2"/>
            <a:endCxn id="1133" idx="0"/>
          </p:cNvCxnSpPr>
          <p:nvPr/>
        </p:nvCxnSpPr>
        <p:spPr>
          <a:xfrm rot="5400000">
            <a:off x="5621600" y="3568601"/>
            <a:ext cx="912201" cy="3240"/>
          </a:xfrm>
          <a:prstGeom prst="bentConnector3">
            <a:avLst>
              <a:gd name="adj1" fmla="val 50000"/>
            </a:avLst>
          </a:prstGeom>
          <a:ln>
            <a:solidFill>
              <a:srgbClr val="000000"/>
            </a:solidFill>
            <a:round/>
            <a:tailEnd type="triangle" w="med" len="med"/>
          </a:ln>
        </p:spPr>
      </p:cxnSp>
      <p:sp>
        <p:nvSpPr>
          <p:cNvPr id="1136" name="文字方塊 17"/>
          <p:cNvSpPr/>
          <p:nvPr/>
        </p:nvSpPr>
        <p:spPr>
          <a:xfrm>
            <a:off x="5032800" y="1374512"/>
            <a:ext cx="247968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銷售單位</a:t>
            </a:r>
            <a:endParaRPr lang="en-US" sz="1700" spc="-2" dirty="0">
              <a:solidFill>
                <a:srgbClr val="000000"/>
              </a:solidFill>
              <a:latin typeface="Calibri"/>
            </a:endParaRPr>
          </a:p>
        </p:txBody>
      </p:sp>
      <p:cxnSp>
        <p:nvCxnSpPr>
          <p:cNvPr id="1137" name="Straight Connector 284"/>
          <p:cNvCxnSpPr/>
          <p:nvPr/>
        </p:nvCxnSpPr>
        <p:spPr>
          <a:xfrm>
            <a:off x="7513020" y="1359930"/>
            <a:ext cx="540" cy="8617570"/>
          </a:xfrm>
          <a:prstGeom prst="straightConnector1">
            <a:avLst/>
          </a:prstGeom>
          <a:ln>
            <a:solidFill>
              <a:srgbClr val="000000"/>
            </a:solidFill>
            <a:round/>
          </a:ln>
        </p:spPr>
      </p:cxnSp>
      <p:grpSp>
        <p:nvGrpSpPr>
          <p:cNvPr id="3" name="Group 220"/>
          <p:cNvGrpSpPr/>
          <p:nvPr/>
        </p:nvGrpSpPr>
        <p:grpSpPr>
          <a:xfrm>
            <a:off x="6652800" y="3820010"/>
            <a:ext cx="532980" cy="408303"/>
            <a:chOff x="4435200" y="2546280"/>
            <a:chExt cx="355320" cy="272160"/>
          </a:xfrm>
        </p:grpSpPr>
        <p:sp>
          <p:nvSpPr>
            <p:cNvPr id="1139" name="Oval 221"/>
            <p:cNvSpPr/>
            <p:nvPr/>
          </p:nvSpPr>
          <p:spPr>
            <a:xfrm>
              <a:off x="4435560" y="254628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40" name="TextBox 222"/>
            <p:cNvSpPr/>
            <p:nvPr/>
          </p:nvSpPr>
          <p:spPr>
            <a:xfrm>
              <a:off x="4435200" y="256644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sp>
        <p:nvSpPr>
          <p:cNvPr id="1141" name="流程圖: 決策 50"/>
          <p:cNvSpPr/>
          <p:nvPr/>
        </p:nvSpPr>
        <p:spPr>
          <a:xfrm>
            <a:off x="7699860" y="2224063"/>
            <a:ext cx="179712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有生產需求</a:t>
            </a:r>
            <a:endParaRPr lang="en-US" sz="1500" spc="-2" dirty="0">
              <a:solidFill>
                <a:srgbClr val="000000"/>
              </a:solidFill>
              <a:latin typeface="Calibri"/>
            </a:endParaRPr>
          </a:p>
        </p:txBody>
      </p:sp>
      <p:cxnSp>
        <p:nvCxnSpPr>
          <p:cNvPr id="1142" name="肘形接點 68"/>
          <p:cNvCxnSpPr>
            <a:stCxn id="1141" idx="2"/>
            <a:endCxn id="1143" idx="0"/>
          </p:cNvCxnSpPr>
          <p:nvPr/>
        </p:nvCxnSpPr>
        <p:spPr>
          <a:xfrm rot="5400000">
            <a:off x="8181476" y="3538086"/>
            <a:ext cx="830648" cy="3780"/>
          </a:xfrm>
          <a:prstGeom prst="bentConnector3">
            <a:avLst>
              <a:gd name="adj1" fmla="val 50032"/>
            </a:avLst>
          </a:prstGeom>
          <a:ln>
            <a:solidFill>
              <a:srgbClr val="000000"/>
            </a:solidFill>
            <a:round/>
            <a:tailEnd type="triangle" w="med" len="med"/>
          </a:ln>
        </p:spPr>
      </p:cxnSp>
      <p:cxnSp>
        <p:nvCxnSpPr>
          <p:cNvPr id="1144" name="肘形接點 68"/>
          <p:cNvCxnSpPr>
            <a:stCxn id="1127" idx="3"/>
            <a:endCxn id="1141" idx="1"/>
          </p:cNvCxnSpPr>
          <p:nvPr/>
        </p:nvCxnSpPr>
        <p:spPr>
          <a:xfrm>
            <a:off x="6977880" y="2663691"/>
            <a:ext cx="722520" cy="11342"/>
          </a:xfrm>
          <a:prstGeom prst="bentConnector3">
            <a:avLst>
              <a:gd name="adj1" fmla="val 50112"/>
            </a:avLst>
          </a:prstGeom>
          <a:ln>
            <a:solidFill>
              <a:srgbClr val="000000"/>
            </a:solidFill>
            <a:round/>
            <a:tailEnd type="triangle" w="med" len="med"/>
          </a:ln>
        </p:spPr>
      </p:cxnSp>
      <p:cxnSp>
        <p:nvCxnSpPr>
          <p:cNvPr id="1145" name="肘形接點 68"/>
          <p:cNvCxnSpPr>
            <a:stCxn id="1133" idx="3"/>
            <a:endCxn id="1141" idx="1"/>
          </p:cNvCxnSpPr>
          <p:nvPr/>
        </p:nvCxnSpPr>
        <p:spPr>
          <a:xfrm flipV="1">
            <a:off x="6933060" y="2674493"/>
            <a:ext cx="766800" cy="2014871"/>
          </a:xfrm>
          <a:prstGeom prst="bentConnector3">
            <a:avLst>
              <a:gd name="adj1" fmla="val 50000"/>
            </a:avLst>
          </a:prstGeom>
          <a:ln>
            <a:solidFill>
              <a:srgbClr val="000000"/>
            </a:solidFill>
            <a:round/>
            <a:tailEnd type="triangle" w="med" len="med"/>
          </a:ln>
        </p:spPr>
      </p:cxnSp>
      <p:sp>
        <p:nvSpPr>
          <p:cNvPr id="1146" name="TextBox 46"/>
          <p:cNvSpPr/>
          <p:nvPr/>
        </p:nvSpPr>
        <p:spPr>
          <a:xfrm>
            <a:off x="9358200" y="2333160"/>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1147" name="文字方塊 17"/>
          <p:cNvSpPr/>
          <p:nvPr/>
        </p:nvSpPr>
        <p:spPr>
          <a:xfrm>
            <a:off x="7317000" y="1355069"/>
            <a:ext cx="247968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生管單位</a:t>
            </a:r>
            <a:endParaRPr lang="en-US" sz="1700" spc="-2" dirty="0">
              <a:solidFill>
                <a:srgbClr val="000000"/>
              </a:solidFill>
              <a:latin typeface="Calibri"/>
            </a:endParaRPr>
          </a:p>
        </p:txBody>
      </p:sp>
      <p:graphicFrame>
        <p:nvGraphicFramePr>
          <p:cNvPr id="1148" name="表格 30"/>
          <p:cNvGraphicFramePr/>
          <p:nvPr>
            <p:extLst>
              <p:ext uri="{D42A27DB-BD31-4B8C-83A1-F6EECF244321}">
                <p14:modId xmlns:p14="http://schemas.microsoft.com/office/powerpoint/2010/main" xmlns="" val="792875574"/>
              </p:ext>
            </p:extLst>
          </p:nvPr>
        </p:nvGraphicFramePr>
        <p:xfrm>
          <a:off x="7738740" y="3955030"/>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MM42</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altLang="en-US" sz="1500" b="0" strike="noStrike" spc="-1" dirty="0">
                          <a:solidFill>
                            <a:srgbClr val="000000"/>
                          </a:solidFill>
                          <a:latin typeface="微軟正黑體"/>
                          <a:ea typeface="微軟正黑體"/>
                        </a:rPr>
                        <a:t>維護</a:t>
                      </a:r>
                      <a:r>
                        <a:rPr lang="zh-TW" sz="1500" b="0" strike="noStrike" spc="-1" dirty="0">
                          <a:solidFill>
                            <a:srgbClr val="000000"/>
                          </a:solidFill>
                          <a:latin typeface="微軟正黑體"/>
                          <a:ea typeface="微軟正黑體"/>
                        </a:rPr>
                        <a:t>物料主檔</a:t>
                      </a:r>
                      <a:endParaRPr lang="en-US" sz="1500" b="0" strike="noStrike" spc="-1" dirty="0">
                        <a:solidFill>
                          <a:srgbClr val="000000"/>
                        </a:solidFill>
                        <a:latin typeface="Calibri"/>
                      </a:endParaRPr>
                    </a:p>
                    <a:p>
                      <a:pPr algn="ctr">
                        <a:lnSpc>
                          <a:spcPct val="100000"/>
                        </a:lnSpc>
                      </a:pPr>
                      <a:r>
                        <a:rPr lang="en-US" sz="1500" b="0" strike="noStrike" spc="-1" dirty="0">
                          <a:solidFill>
                            <a:srgbClr val="000000"/>
                          </a:solidFill>
                          <a:latin typeface="微軟正黑體"/>
                          <a:ea typeface="微軟正黑體"/>
                        </a:rPr>
                        <a:t>MRP</a:t>
                      </a:r>
                      <a:r>
                        <a:rPr lang="zh-TW" sz="1500" b="0" strike="noStrike" spc="-1" dirty="0">
                          <a:solidFill>
                            <a:srgbClr val="000000"/>
                          </a:solidFill>
                          <a:latin typeface="微軟正黑體"/>
                          <a:ea typeface="微軟正黑體"/>
                        </a:rPr>
                        <a:t>視圖</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grpSp>
        <p:nvGrpSpPr>
          <p:cNvPr id="4" name="Group 220"/>
          <p:cNvGrpSpPr/>
          <p:nvPr/>
        </p:nvGrpSpPr>
        <p:grpSpPr>
          <a:xfrm>
            <a:off x="9172440" y="3748719"/>
            <a:ext cx="532980" cy="408303"/>
            <a:chOff x="6114960" y="2498760"/>
            <a:chExt cx="355320" cy="272160"/>
          </a:xfrm>
        </p:grpSpPr>
        <p:sp>
          <p:nvSpPr>
            <p:cNvPr id="1150" name="Oval 221"/>
            <p:cNvSpPr/>
            <p:nvPr/>
          </p:nvSpPr>
          <p:spPr>
            <a:xfrm>
              <a:off x="6114960" y="249876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51" name="TextBox 222"/>
            <p:cNvSpPr/>
            <p:nvPr/>
          </p:nvSpPr>
          <p:spPr>
            <a:xfrm>
              <a:off x="6114960" y="25189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3</a:t>
              </a:r>
              <a:endParaRPr lang="en-US" sz="1500" spc="-2" dirty="0">
                <a:solidFill>
                  <a:srgbClr val="000000"/>
                </a:solidFill>
                <a:latin typeface="Calibri"/>
              </a:endParaRPr>
            </a:p>
          </p:txBody>
        </p:sp>
      </p:grpSp>
      <p:sp>
        <p:nvSpPr>
          <p:cNvPr id="1152" name="TextBox 46"/>
          <p:cNvSpPr/>
          <p:nvPr/>
        </p:nvSpPr>
        <p:spPr>
          <a:xfrm>
            <a:off x="8596260" y="3201074"/>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cxnSp>
        <p:nvCxnSpPr>
          <p:cNvPr id="1153" name="Straight Connector 284"/>
          <p:cNvCxnSpPr/>
          <p:nvPr/>
        </p:nvCxnSpPr>
        <p:spPr>
          <a:xfrm>
            <a:off x="9761580" y="1401516"/>
            <a:ext cx="540" cy="8617030"/>
          </a:xfrm>
          <a:prstGeom prst="straightConnector1">
            <a:avLst/>
          </a:prstGeom>
          <a:ln>
            <a:solidFill>
              <a:srgbClr val="000000"/>
            </a:solidFill>
            <a:round/>
          </a:ln>
        </p:spPr>
      </p:cxnSp>
      <p:sp>
        <p:nvSpPr>
          <p:cNvPr id="1154" name="文字方塊 17"/>
          <p:cNvSpPr/>
          <p:nvPr/>
        </p:nvSpPr>
        <p:spPr>
          <a:xfrm>
            <a:off x="9600660" y="1364790"/>
            <a:ext cx="247968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財務單位</a:t>
            </a:r>
            <a:endParaRPr lang="en-US" sz="1700" spc="-2" dirty="0">
              <a:solidFill>
                <a:srgbClr val="000000"/>
              </a:solidFill>
              <a:latin typeface="Calibri"/>
            </a:endParaRPr>
          </a:p>
        </p:txBody>
      </p:sp>
      <p:graphicFrame>
        <p:nvGraphicFramePr>
          <p:cNvPr id="1155" name="表格 30"/>
          <p:cNvGraphicFramePr/>
          <p:nvPr>
            <p:extLst>
              <p:ext uri="{D42A27DB-BD31-4B8C-83A1-F6EECF244321}">
                <p14:modId xmlns:p14="http://schemas.microsoft.com/office/powerpoint/2010/main" xmlns="" val="1560974359"/>
              </p:ext>
            </p:extLst>
          </p:nvPr>
        </p:nvGraphicFramePr>
        <p:xfrm>
          <a:off x="10036440" y="5258792"/>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dirty="0">
                          <a:solidFill>
                            <a:schemeClr val="dk1"/>
                          </a:solidFill>
                          <a:latin typeface="微軟正黑體"/>
                          <a:ea typeface="微軟正黑體"/>
                        </a:rPr>
                        <a:t>MM42</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altLang="en-US" sz="1500" b="0" strike="noStrike" spc="-1" dirty="0">
                          <a:solidFill>
                            <a:srgbClr val="000000"/>
                          </a:solidFill>
                          <a:latin typeface="微軟正黑體"/>
                          <a:ea typeface="微軟正黑體"/>
                        </a:rPr>
                        <a:t>維護</a:t>
                      </a:r>
                      <a:r>
                        <a:rPr lang="zh-TW" sz="1500" b="0" strike="noStrike" spc="-1" dirty="0">
                          <a:solidFill>
                            <a:srgbClr val="000000"/>
                          </a:solidFill>
                          <a:latin typeface="微軟正黑體"/>
                          <a:ea typeface="微軟正黑體"/>
                        </a:rPr>
                        <a:t>物料主檔</a:t>
                      </a:r>
                      <a:endParaRPr lang="en-US" sz="1500" b="0" strike="noStrike" spc="-1" dirty="0">
                        <a:solidFill>
                          <a:srgbClr val="000000"/>
                        </a:solidFill>
                        <a:latin typeface="Calibri"/>
                      </a:endParaRPr>
                    </a:p>
                    <a:p>
                      <a:pPr algn="ctr">
                        <a:lnSpc>
                          <a:spcPct val="100000"/>
                        </a:lnSpc>
                      </a:pPr>
                      <a:r>
                        <a:rPr lang="en-US" sz="1500" b="0" strike="noStrike" spc="-1" dirty="0">
                          <a:solidFill>
                            <a:srgbClr val="000000"/>
                          </a:solidFill>
                          <a:latin typeface="微軟正黑體"/>
                          <a:ea typeface="微軟正黑體"/>
                        </a:rPr>
                        <a:t>FICO</a:t>
                      </a:r>
                      <a:r>
                        <a:rPr lang="zh-TW" sz="1500" b="0" strike="noStrike" spc="-1" dirty="0">
                          <a:solidFill>
                            <a:srgbClr val="000000"/>
                          </a:solidFill>
                          <a:latin typeface="微軟正黑體"/>
                          <a:ea typeface="微軟正黑體"/>
                        </a:rPr>
                        <a:t>視圖</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cxnSp>
        <p:nvCxnSpPr>
          <p:cNvPr id="1156" name="肘形接點 68"/>
          <p:cNvCxnSpPr>
            <a:stCxn id="1141" idx="3"/>
            <a:endCxn id="1155" idx="0"/>
          </p:cNvCxnSpPr>
          <p:nvPr/>
        </p:nvCxnSpPr>
        <p:spPr>
          <a:xfrm>
            <a:off x="9496980" y="2674493"/>
            <a:ext cx="1396440" cy="2584299"/>
          </a:xfrm>
          <a:prstGeom prst="bentConnector2">
            <a:avLst/>
          </a:prstGeom>
          <a:ln>
            <a:solidFill>
              <a:srgbClr val="000000"/>
            </a:solidFill>
            <a:round/>
            <a:tailEnd type="triangle" w="med" len="med"/>
          </a:ln>
        </p:spPr>
      </p:cxnSp>
      <p:cxnSp>
        <p:nvCxnSpPr>
          <p:cNvPr id="1157" name="肘形接點 68"/>
          <p:cNvCxnSpPr>
            <a:stCxn id="1148" idx="3"/>
            <a:endCxn id="1155" idx="0"/>
          </p:cNvCxnSpPr>
          <p:nvPr/>
        </p:nvCxnSpPr>
        <p:spPr>
          <a:xfrm>
            <a:off x="9452700" y="4618073"/>
            <a:ext cx="1440720" cy="640719"/>
          </a:xfrm>
          <a:prstGeom prst="bentConnector2">
            <a:avLst/>
          </a:prstGeom>
          <a:ln>
            <a:solidFill>
              <a:srgbClr val="000000"/>
            </a:solidFill>
            <a:round/>
            <a:tailEnd type="triangle" w="med" len="med"/>
          </a:ln>
        </p:spPr>
      </p:cxnSp>
      <p:grpSp>
        <p:nvGrpSpPr>
          <p:cNvPr id="5" name="Group 220"/>
          <p:cNvGrpSpPr/>
          <p:nvPr/>
        </p:nvGrpSpPr>
        <p:grpSpPr>
          <a:xfrm>
            <a:off x="11500380" y="5060581"/>
            <a:ext cx="532980" cy="408303"/>
            <a:chOff x="7666920" y="3373200"/>
            <a:chExt cx="355320" cy="272160"/>
          </a:xfrm>
        </p:grpSpPr>
        <p:sp>
          <p:nvSpPr>
            <p:cNvPr id="1159" name="Oval 221"/>
            <p:cNvSpPr/>
            <p:nvPr/>
          </p:nvSpPr>
          <p:spPr>
            <a:xfrm>
              <a:off x="7667280" y="337320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60" name="TextBox 222"/>
            <p:cNvSpPr/>
            <p:nvPr/>
          </p:nvSpPr>
          <p:spPr>
            <a:xfrm>
              <a:off x="7666920" y="339336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4</a:t>
              </a:r>
              <a:endParaRPr lang="en-US" sz="1500" spc="-2" dirty="0">
                <a:solidFill>
                  <a:srgbClr val="000000"/>
                </a:solidFill>
                <a:latin typeface="Calibri"/>
              </a:endParaRPr>
            </a:p>
          </p:txBody>
        </p:sp>
      </p:grpSp>
      <p:cxnSp>
        <p:nvCxnSpPr>
          <p:cNvPr id="1161" name="肘形接點 68"/>
          <p:cNvCxnSpPr>
            <a:stCxn id="1119" idx="3"/>
            <a:endCxn id="1117" idx="1"/>
          </p:cNvCxnSpPr>
          <p:nvPr/>
        </p:nvCxnSpPr>
        <p:spPr>
          <a:xfrm flipV="1">
            <a:off x="1534680" y="2668012"/>
            <a:ext cx="1162620" cy="4861"/>
          </a:xfrm>
          <a:prstGeom prst="bentConnector3">
            <a:avLst>
              <a:gd name="adj1" fmla="val 50000"/>
            </a:avLst>
          </a:prstGeom>
          <a:ln>
            <a:solidFill>
              <a:srgbClr val="000000"/>
            </a:solidFill>
            <a:round/>
            <a:tailEnd type="triangle" w="med" len="med"/>
          </a:ln>
        </p:spPr>
      </p:cxnSp>
      <p:sp>
        <p:nvSpPr>
          <p:cNvPr id="1162" name="TextBox 46"/>
          <p:cNvSpPr/>
          <p:nvPr/>
        </p:nvSpPr>
        <p:spPr>
          <a:xfrm>
            <a:off x="6913620" y="2272131"/>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graphicFrame>
        <p:nvGraphicFramePr>
          <p:cNvPr id="1164" name="表格 30"/>
          <p:cNvGraphicFramePr/>
          <p:nvPr>
            <p:extLst>
              <p:ext uri="{D42A27DB-BD31-4B8C-83A1-F6EECF244321}">
                <p14:modId xmlns:p14="http://schemas.microsoft.com/office/powerpoint/2010/main" xmlns="" val="470824775"/>
              </p:ext>
            </p:extLst>
          </p:nvPr>
        </p:nvGraphicFramePr>
        <p:xfrm>
          <a:off x="10031040" y="7165286"/>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dirty="0">
                          <a:solidFill>
                            <a:schemeClr val="dk1"/>
                          </a:solidFill>
                          <a:latin typeface="微軟正黑體"/>
                          <a:ea typeface="微軟正黑體"/>
                        </a:rPr>
                        <a:t>ZCOZ001</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sz="1500" b="0" strike="noStrike" spc="-1" dirty="0">
                          <a:solidFill>
                            <a:srgbClr val="000000"/>
                          </a:solidFill>
                          <a:latin typeface="微軟正黑體"/>
                          <a:ea typeface="微軟正黑體"/>
                        </a:rPr>
                        <a:t>批量上傳</a:t>
                      </a:r>
                      <a:endParaRPr lang="en-US" sz="1500" b="0" strike="noStrike" spc="-1" dirty="0">
                        <a:solidFill>
                          <a:srgbClr val="000000"/>
                        </a:solidFill>
                        <a:latin typeface="Calibri"/>
                      </a:endParaRPr>
                    </a:p>
                    <a:p>
                      <a:pPr algn="ctr">
                        <a:lnSpc>
                          <a:spcPct val="100000"/>
                        </a:lnSpc>
                      </a:pPr>
                      <a:r>
                        <a:rPr lang="zh-TW" sz="1500" b="0" strike="noStrike" spc="-1" dirty="0">
                          <a:solidFill>
                            <a:srgbClr val="000000"/>
                          </a:solidFill>
                          <a:latin typeface="微軟正黑體"/>
                          <a:ea typeface="微軟正黑體"/>
                        </a:rPr>
                        <a:t>計畫價格</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cxnSp>
        <p:nvCxnSpPr>
          <p:cNvPr id="1165" name="肘形接點 68"/>
          <p:cNvCxnSpPr>
            <a:stCxn id="1155" idx="2"/>
            <a:endCxn id="1164" idx="0"/>
          </p:cNvCxnSpPr>
          <p:nvPr/>
        </p:nvCxnSpPr>
        <p:spPr>
          <a:xfrm rot="5400000">
            <a:off x="10600515" y="6872381"/>
            <a:ext cx="580410" cy="5400"/>
          </a:xfrm>
          <a:prstGeom prst="bentConnector3">
            <a:avLst>
              <a:gd name="adj1" fmla="val 50000"/>
            </a:avLst>
          </a:prstGeom>
          <a:ln>
            <a:solidFill>
              <a:srgbClr val="000000"/>
            </a:solidFill>
            <a:round/>
            <a:tailEnd type="triangle" w="med" len="med"/>
          </a:ln>
        </p:spPr>
      </p:cxnSp>
      <p:grpSp>
        <p:nvGrpSpPr>
          <p:cNvPr id="6" name="Group 220"/>
          <p:cNvGrpSpPr/>
          <p:nvPr/>
        </p:nvGrpSpPr>
        <p:grpSpPr>
          <a:xfrm>
            <a:off x="11538180" y="7042147"/>
            <a:ext cx="532980" cy="408303"/>
            <a:chOff x="7692120" y="4694040"/>
            <a:chExt cx="355320" cy="272160"/>
          </a:xfrm>
        </p:grpSpPr>
        <p:sp>
          <p:nvSpPr>
            <p:cNvPr id="1167" name="Oval 221"/>
            <p:cNvSpPr/>
            <p:nvPr/>
          </p:nvSpPr>
          <p:spPr>
            <a:xfrm>
              <a:off x="7692120" y="469404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68" name="TextBox 222"/>
            <p:cNvSpPr/>
            <p:nvPr/>
          </p:nvSpPr>
          <p:spPr>
            <a:xfrm>
              <a:off x="7692120" y="471420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5</a:t>
              </a:r>
              <a:endParaRPr lang="en-US" sz="1500" spc="-2" dirty="0">
                <a:solidFill>
                  <a:srgbClr val="000000"/>
                </a:solidFill>
                <a:latin typeface="Calibri"/>
              </a:endParaRPr>
            </a:p>
          </p:txBody>
        </p:sp>
      </p:grpSp>
      <p:sp>
        <p:nvSpPr>
          <p:cNvPr id="6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0" name="表格 30"/>
          <p:cNvGraphicFramePr/>
          <p:nvPr>
            <p:extLst>
              <p:ext uri="{D42A27DB-BD31-4B8C-83A1-F6EECF244321}">
                <p14:modId xmlns:p14="http://schemas.microsoft.com/office/powerpoint/2010/main" xmlns="" val="743188282"/>
              </p:ext>
            </p:extLst>
          </p:nvPr>
        </p:nvGraphicFramePr>
        <p:xfrm>
          <a:off x="4559760" y="5384091"/>
          <a:ext cx="1797120" cy="1097448"/>
        </p:xfrm>
        <a:graphic>
          <a:graphicData uri="http://schemas.openxmlformats.org/drawingml/2006/table">
            <a:tbl>
              <a:tblPr/>
              <a:tblGrid>
                <a:gridCol w="898560">
                  <a:extLst>
                    <a:ext uri="{9D8B030D-6E8A-4147-A177-3AD203B41FA5}">
                      <a16:colId xmlns:a16="http://schemas.microsoft.com/office/drawing/2014/main" xmlns="" val="20000"/>
                    </a:ext>
                  </a:extLst>
                </a:gridCol>
                <a:gridCol w="89856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dirty="0" err="1">
                          <a:solidFill>
                            <a:schemeClr val="dk1"/>
                          </a:solidFill>
                          <a:latin typeface="微軟正黑體"/>
                          <a:ea typeface="微軟正黑體"/>
                        </a:rPr>
                        <a:t>DeGEN</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365816">
                <a:tc gridSpan="2">
                  <a:txBody>
                    <a:bodyPr/>
                    <a:lstStyle/>
                    <a:p>
                      <a:pPr algn="ctr">
                        <a:lnSpc>
                          <a:spcPct val="100000"/>
                        </a:lnSpc>
                      </a:pPr>
                      <a:r>
                        <a:rPr lang="zh-TW" sz="1500" b="0" strike="noStrike" spc="-1" dirty="0">
                          <a:solidFill>
                            <a:srgbClr val="000000"/>
                          </a:solidFill>
                          <a:latin typeface="微軟正黑體"/>
                          <a:ea typeface="微軟正黑體"/>
                        </a:rPr>
                        <a:t>建立物料主檔</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dirty="0">
                          <a:solidFill>
                            <a:srgbClr val="000000"/>
                          </a:solidFill>
                          <a:latin typeface="Arial"/>
                          <a:ea typeface="Arial"/>
                        </a:rPr>
                        <a:t>RFC</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自動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sp>
        <p:nvSpPr>
          <p:cNvPr id="1171" name="流程圖: 決策 50"/>
          <p:cNvSpPr/>
          <p:nvPr/>
        </p:nvSpPr>
        <p:spPr>
          <a:xfrm>
            <a:off x="4558140" y="3756280"/>
            <a:ext cx="181116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z="1500" spc="-2" dirty="0">
                <a:solidFill>
                  <a:srgbClr val="000000"/>
                </a:solidFill>
                <a:latin typeface="微軟正黑體"/>
                <a:ea typeface="微軟正黑體"/>
              </a:rPr>
              <a:t>SAP</a:t>
            </a:r>
            <a:r>
              <a:rPr lang="zh-TW" altLang="en-US" sz="1500" spc="-2" dirty="0">
                <a:solidFill>
                  <a:srgbClr val="000000"/>
                </a:solidFill>
                <a:latin typeface="微軟正黑體"/>
                <a:ea typeface="微軟正黑體"/>
              </a:rPr>
              <a:t>物料主檔</a:t>
            </a:r>
            <a:endParaRPr lang="en-US" sz="1500" spc="-2" dirty="0">
              <a:solidFill>
                <a:srgbClr val="000000"/>
              </a:solidFill>
              <a:latin typeface="Calibri"/>
            </a:endParaRPr>
          </a:p>
          <a:p>
            <a:pPr algn="ctr">
              <a:lnSpc>
                <a:spcPct val="100000"/>
              </a:lnSpc>
            </a:pPr>
            <a:r>
              <a:rPr lang="zh-TW" altLang="en-US" sz="1500" spc="-2" dirty="0">
                <a:solidFill>
                  <a:srgbClr val="000000"/>
                </a:solidFill>
                <a:latin typeface="微軟正黑體"/>
                <a:ea typeface="微軟正黑體"/>
              </a:rPr>
              <a:t>是否已存在</a:t>
            </a:r>
            <a:r>
              <a:rPr lang="en-US" sz="1500" spc="-2" dirty="0">
                <a:solidFill>
                  <a:srgbClr val="000000"/>
                </a:solidFill>
                <a:latin typeface="微軟正黑體"/>
                <a:ea typeface="微軟正黑體"/>
              </a:rPr>
              <a:t>?</a:t>
            </a:r>
            <a:endParaRPr lang="en-US" sz="1500" spc="-2" dirty="0">
              <a:solidFill>
                <a:srgbClr val="000000"/>
              </a:solidFill>
              <a:latin typeface="Calibri"/>
            </a:endParaRPr>
          </a:p>
        </p:txBody>
      </p:sp>
      <p:cxnSp>
        <p:nvCxnSpPr>
          <p:cNvPr id="1172" name="肘形接點 68"/>
          <p:cNvCxnSpPr>
            <a:endCxn id="1171" idx="0"/>
          </p:cNvCxnSpPr>
          <p:nvPr/>
        </p:nvCxnSpPr>
        <p:spPr>
          <a:xfrm rot="16200000" flipH="1">
            <a:off x="5121848" y="3414408"/>
            <a:ext cx="676724" cy="7560"/>
          </a:xfrm>
          <a:prstGeom prst="bentConnector3">
            <a:avLst>
              <a:gd name="adj1" fmla="val 50000"/>
            </a:avLst>
          </a:prstGeom>
          <a:ln>
            <a:solidFill>
              <a:srgbClr val="000000"/>
            </a:solidFill>
            <a:round/>
            <a:tailEnd type="triangle" w="med" len="med"/>
          </a:ln>
        </p:spPr>
      </p:cxnSp>
      <p:cxnSp>
        <p:nvCxnSpPr>
          <p:cNvPr id="1173" name="肘形接點 68"/>
          <p:cNvCxnSpPr>
            <a:stCxn id="1171" idx="2"/>
            <a:endCxn id="1170" idx="0"/>
          </p:cNvCxnSpPr>
          <p:nvPr/>
        </p:nvCxnSpPr>
        <p:spPr>
          <a:xfrm rot="5400000">
            <a:off x="5097544" y="5017915"/>
            <a:ext cx="726952" cy="5400"/>
          </a:xfrm>
          <a:prstGeom prst="bentConnector3">
            <a:avLst>
              <a:gd name="adj1" fmla="val 50000"/>
            </a:avLst>
          </a:prstGeom>
          <a:ln>
            <a:solidFill>
              <a:srgbClr val="000000"/>
            </a:solidFill>
            <a:round/>
            <a:tailEnd type="triangle" w="med" len="med"/>
          </a:ln>
        </p:spPr>
      </p:cxnSp>
      <p:cxnSp>
        <p:nvCxnSpPr>
          <p:cNvPr id="1174" name="肘形接點 68"/>
          <p:cNvCxnSpPr>
            <a:cxnSpLocks/>
            <a:stCxn id="1170" idx="2"/>
            <a:endCxn id="1214" idx="0"/>
          </p:cNvCxnSpPr>
          <p:nvPr/>
        </p:nvCxnSpPr>
        <p:spPr>
          <a:xfrm rot="16200000" flipH="1">
            <a:off x="4878811" y="7061050"/>
            <a:ext cx="1159559" cy="540"/>
          </a:xfrm>
          <a:prstGeom prst="bentConnector3">
            <a:avLst>
              <a:gd name="adj1" fmla="val 50000"/>
            </a:avLst>
          </a:prstGeom>
          <a:ln>
            <a:solidFill>
              <a:srgbClr val="000000"/>
            </a:solidFill>
            <a:round/>
            <a:tailEnd type="triangle" w="med" len="med"/>
          </a:ln>
        </p:spPr>
      </p:cxnSp>
      <p:sp>
        <p:nvSpPr>
          <p:cNvPr id="1176" name="TextBox 46"/>
          <p:cNvSpPr/>
          <p:nvPr/>
        </p:nvSpPr>
        <p:spPr>
          <a:xfrm>
            <a:off x="5437800" y="4811063"/>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1177" name="TextBox 53"/>
          <p:cNvSpPr/>
          <p:nvPr/>
        </p:nvSpPr>
        <p:spPr>
          <a:xfrm>
            <a:off x="14380740" y="2064199"/>
            <a:ext cx="3593700" cy="5676296"/>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marL="342900" indent="-342900">
              <a:buClr>
                <a:srgbClr val="000000"/>
              </a:buClr>
              <a:buFont typeface="Arial"/>
              <a:buAutoNum type="arabicPeriod"/>
            </a:pPr>
            <a:r>
              <a:rPr lang="zh-TW" altLang="en-US" spc="-2" dirty="0">
                <a:solidFill>
                  <a:srgbClr val="000000"/>
                </a:solidFill>
                <a:latin typeface="Arial"/>
                <a:ea typeface="Arial"/>
              </a:rPr>
              <a:t>各地區總處有庶務採購或機器設備採購有新增料號的需求。</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在料號編碼產生的功能畫面上維護物料的大類及屬性。</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系統檢查是否有相同物料特性屬性的物料存在，已存在的料號不會建立，請至</a:t>
            </a:r>
            <a:r>
              <a:rPr lang="en-US" altLang="zh-TW" spc="-2" dirty="0">
                <a:solidFill>
                  <a:srgbClr val="000000"/>
                </a:solidFill>
                <a:latin typeface="Arial"/>
                <a:ea typeface="Arial"/>
              </a:rPr>
              <a:t>MM42</a:t>
            </a:r>
            <a:r>
              <a:rPr lang="zh-TW" altLang="en-US" spc="-2" dirty="0">
                <a:solidFill>
                  <a:srgbClr val="000000"/>
                </a:solidFill>
                <a:latin typeface="Arial"/>
                <a:ea typeface="Arial"/>
              </a:rPr>
              <a:t>自行修改。</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系統自動建立物料主檔的基本視圖與分類</a:t>
            </a:r>
            <a:r>
              <a:rPr lang="en-US" spc="-2" dirty="0">
                <a:solidFill>
                  <a:srgbClr val="000000"/>
                </a:solidFill>
                <a:latin typeface="Arial"/>
                <a:ea typeface="Arial"/>
              </a:rPr>
              <a:t>VIEW</a:t>
            </a:r>
            <a:r>
              <a:rPr lang="zh-TW" altLang="en-US" spc="-2" dirty="0">
                <a:solidFill>
                  <a:srgbClr val="000000"/>
                </a:solidFill>
                <a:latin typeface="Arial"/>
                <a:ea typeface="Arial"/>
              </a:rPr>
              <a:t>，並依據複製的參考料號或工廠的預設參數建立工廠視圖。</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當要更新物料主檔時，系統自動依據複製的參考料號或工廠的預設參數建立工廠視圖，更新物料基本視圖與分類視圖及工廠視圖。</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系統依據物料主檔採購預設參數表同步去建立採購視圖與</a:t>
            </a:r>
            <a:r>
              <a:rPr lang="en-US" spc="-2" dirty="0">
                <a:solidFill>
                  <a:srgbClr val="000000"/>
                </a:solidFill>
                <a:latin typeface="Arial"/>
                <a:ea typeface="Arial"/>
              </a:rPr>
              <a:t>FI/CO</a:t>
            </a:r>
            <a:r>
              <a:rPr lang="zh-TW" altLang="en-US" spc="-2" dirty="0">
                <a:solidFill>
                  <a:srgbClr val="000000"/>
                </a:solidFill>
                <a:latin typeface="Arial"/>
                <a:ea typeface="Arial"/>
              </a:rPr>
              <a:t>視圖。</a:t>
            </a:r>
            <a:endParaRPr lang="en-US" spc="-2" dirty="0">
              <a:solidFill>
                <a:srgbClr val="000000"/>
              </a:solidFill>
              <a:latin typeface="Calibri"/>
            </a:endParaRPr>
          </a:p>
        </p:txBody>
      </p:sp>
      <p:sp>
        <p:nvSpPr>
          <p:cNvPr id="1178" name="流程圖: 結束點 8"/>
          <p:cNvSpPr/>
          <p:nvPr/>
        </p:nvSpPr>
        <p:spPr>
          <a:xfrm>
            <a:off x="367200" y="2235945"/>
            <a:ext cx="1797120" cy="790142"/>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開始</a:t>
            </a:r>
            <a:endParaRPr lang="en-US" sz="1500" spc="-2" dirty="0">
              <a:solidFill>
                <a:srgbClr val="000000"/>
              </a:solidFill>
              <a:latin typeface="Calibri"/>
            </a:endParaRPr>
          </a:p>
        </p:txBody>
      </p:sp>
      <p:cxnSp>
        <p:nvCxnSpPr>
          <p:cNvPr id="1179" name="肘形接點 68"/>
          <p:cNvCxnSpPr>
            <a:stCxn id="1178" idx="3"/>
            <a:endCxn id="1180" idx="1"/>
          </p:cNvCxnSpPr>
          <p:nvPr/>
        </p:nvCxnSpPr>
        <p:spPr>
          <a:xfrm flipV="1">
            <a:off x="2164320" y="2629666"/>
            <a:ext cx="2425140" cy="1620"/>
          </a:xfrm>
          <a:prstGeom prst="bentConnector3">
            <a:avLst>
              <a:gd name="adj1" fmla="val 50000"/>
            </a:avLst>
          </a:prstGeom>
          <a:ln>
            <a:solidFill>
              <a:srgbClr val="000000"/>
            </a:solidFill>
            <a:round/>
            <a:tailEnd type="triangle" w="med" len="med"/>
          </a:ln>
        </p:spPr>
      </p:cxnSp>
      <p:sp>
        <p:nvSpPr>
          <p:cNvPr id="1181" name="文字方塊 3"/>
          <p:cNvSpPr/>
          <p:nvPr/>
        </p:nvSpPr>
        <p:spPr>
          <a:xfrm>
            <a:off x="2365200" y="847391"/>
            <a:ext cx="9207692" cy="505650"/>
          </a:xfrm>
          <a:prstGeom prst="rect">
            <a:avLst/>
          </a:prstGeom>
          <a:noFill/>
          <a:ln w="0">
            <a:noFill/>
          </a:ln>
        </p:spPr>
        <p:style>
          <a:lnRef idx="0">
            <a:scrgbClr r="0" g="0" b="0"/>
          </a:lnRef>
          <a:fillRef idx="0">
            <a:scrgbClr r="0" g="0" b="0"/>
          </a:fillRef>
          <a:effectRef idx="0">
            <a:scrgbClr r="0" g="0" b="0"/>
          </a:effectRef>
          <a:fontRef idx="minor"/>
        </p:style>
        <p:txBody>
          <a:bodyPr wrap="square" lIns="135000" tIns="67500" rIns="135000" bIns="67500" anchor="t">
            <a:spAutoFit/>
          </a:bodyPr>
          <a:lstStyle/>
          <a:p>
            <a:pPr defTabSz="457200">
              <a:lnSpc>
                <a:spcPct val="100000"/>
              </a:lnSpc>
            </a:pPr>
            <a:r>
              <a:rPr lang="en-US" sz="2400" b="1" spc="-1" dirty="0" smtClean="0">
                <a:solidFill>
                  <a:schemeClr val="dk1"/>
                </a:solidFill>
                <a:latin typeface="Microsoft JhengHei"/>
                <a:ea typeface="Microsoft JhengHei"/>
              </a:rPr>
              <a:t>MM-MA-0010-02</a:t>
            </a:r>
            <a:r>
              <a:rPr lang="zh-TW" altLang="en-US" sz="2400" b="1" spc="-1" dirty="0" smtClean="0">
                <a:solidFill>
                  <a:schemeClr val="dk1"/>
                </a:solidFill>
                <a:latin typeface="Microsoft JhengHei"/>
                <a:ea typeface="Microsoft JhengHei"/>
              </a:rPr>
              <a:t>物料主檔維護流程</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製工具</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庶務</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機器設備</a:t>
            </a:r>
            <a:r>
              <a:rPr lang="en-US" sz="2400" b="1" spc="-1" dirty="0" smtClean="0">
                <a:solidFill>
                  <a:schemeClr val="dk1"/>
                </a:solidFill>
                <a:latin typeface="Microsoft JhengHei"/>
                <a:ea typeface="Microsoft JhengHei"/>
              </a:rPr>
              <a:t>)</a:t>
            </a:r>
          </a:p>
        </p:txBody>
      </p:sp>
      <p:sp>
        <p:nvSpPr>
          <p:cNvPr id="1182" name="文字方塊 17"/>
          <p:cNvSpPr/>
          <p:nvPr/>
        </p:nvSpPr>
        <p:spPr>
          <a:xfrm>
            <a:off x="4758480" y="1373432"/>
            <a:ext cx="577422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各地區總處庶務採購</a:t>
            </a:r>
            <a:r>
              <a:rPr lang="en-US" sz="1700" spc="-2" dirty="0">
                <a:solidFill>
                  <a:srgbClr val="000000"/>
                </a:solidFill>
                <a:latin typeface="Arial"/>
                <a:ea typeface="Arial"/>
              </a:rPr>
              <a:t>/</a:t>
            </a:r>
            <a:r>
              <a:rPr lang="zh-TW" altLang="en-US" sz="1700" spc="-2" dirty="0">
                <a:solidFill>
                  <a:srgbClr val="000000"/>
                </a:solidFill>
                <a:latin typeface="Arial"/>
                <a:ea typeface="Arial"/>
              </a:rPr>
              <a:t>各地區設備採購</a:t>
            </a:r>
            <a:endParaRPr lang="en-US" sz="1700" spc="-2" dirty="0">
              <a:solidFill>
                <a:srgbClr val="000000"/>
              </a:solidFill>
              <a:latin typeface="Calibri"/>
            </a:endParaRPr>
          </a:p>
        </p:txBody>
      </p:sp>
      <p:grpSp>
        <p:nvGrpSpPr>
          <p:cNvPr id="2" name="Group 220"/>
          <p:cNvGrpSpPr/>
          <p:nvPr/>
        </p:nvGrpSpPr>
        <p:grpSpPr>
          <a:xfrm>
            <a:off x="1728540" y="2022612"/>
            <a:ext cx="532980" cy="408303"/>
            <a:chOff x="1152360" y="1348200"/>
            <a:chExt cx="355320" cy="272160"/>
          </a:xfrm>
        </p:grpSpPr>
        <p:sp>
          <p:nvSpPr>
            <p:cNvPr id="1184" name="Oval 221"/>
            <p:cNvSpPr/>
            <p:nvPr/>
          </p:nvSpPr>
          <p:spPr>
            <a:xfrm>
              <a:off x="1152720" y="134820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1185" name="TextBox 222"/>
            <p:cNvSpPr/>
            <p:nvPr/>
          </p:nvSpPr>
          <p:spPr>
            <a:xfrm>
              <a:off x="1152360" y="136836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grpSp>
        <p:nvGrpSpPr>
          <p:cNvPr id="3" name="Group 220"/>
          <p:cNvGrpSpPr/>
          <p:nvPr/>
        </p:nvGrpSpPr>
        <p:grpSpPr>
          <a:xfrm>
            <a:off x="5808780" y="3622879"/>
            <a:ext cx="532980" cy="408303"/>
            <a:chOff x="3872520" y="2414880"/>
            <a:chExt cx="355320" cy="272160"/>
          </a:xfrm>
        </p:grpSpPr>
        <p:sp>
          <p:nvSpPr>
            <p:cNvPr id="1187" name="Oval 221"/>
            <p:cNvSpPr/>
            <p:nvPr/>
          </p:nvSpPr>
          <p:spPr>
            <a:xfrm>
              <a:off x="3872880" y="241488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88" name="TextBox 222"/>
            <p:cNvSpPr/>
            <p:nvPr/>
          </p:nvSpPr>
          <p:spPr>
            <a:xfrm>
              <a:off x="3872520" y="243504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3</a:t>
              </a:r>
              <a:endParaRPr lang="en-US" sz="1500" spc="-2" dirty="0">
                <a:solidFill>
                  <a:srgbClr val="000000"/>
                </a:solidFill>
                <a:latin typeface="Calibri"/>
              </a:endParaRPr>
            </a:p>
          </p:txBody>
        </p:sp>
      </p:grpSp>
      <p:cxnSp>
        <p:nvCxnSpPr>
          <p:cNvPr id="1189" name="肘形接點 68"/>
          <p:cNvCxnSpPr>
            <a:stCxn id="1171" idx="3"/>
            <a:endCxn id="1190" idx="1"/>
          </p:cNvCxnSpPr>
          <p:nvPr/>
        </p:nvCxnSpPr>
        <p:spPr>
          <a:xfrm>
            <a:off x="6369300" y="4206709"/>
            <a:ext cx="1100520" cy="540"/>
          </a:xfrm>
          <a:prstGeom prst="bentConnector2">
            <a:avLst/>
          </a:prstGeom>
          <a:ln>
            <a:solidFill>
              <a:srgbClr val="000000"/>
            </a:solidFill>
            <a:round/>
            <a:tailEnd type="triangle" w="med" len="med"/>
          </a:ln>
        </p:spPr>
      </p:cxnSp>
      <p:sp>
        <p:nvSpPr>
          <p:cNvPr id="1191" name="Google Shape;38;p9"/>
          <p:cNvSpPr/>
          <p:nvPr/>
        </p:nvSpPr>
        <p:spPr>
          <a:xfrm>
            <a:off x="16570440" y="607054"/>
            <a:ext cx="647460" cy="547104"/>
          </a:xfrm>
          <a:prstGeom prst="rect">
            <a:avLst/>
          </a:prstGeom>
          <a:noFill/>
          <a:ln w="0">
            <a:noFill/>
          </a:ln>
        </p:spPr>
        <p:style>
          <a:lnRef idx="0">
            <a:scrgbClr r="0" g="0" b="0"/>
          </a:lnRef>
          <a:fillRef idx="0">
            <a:scrgbClr r="0" g="0" b="0"/>
          </a:fillRef>
          <a:effectRef idx="0">
            <a:scrgbClr r="0" g="0" b="0"/>
          </a:effectRef>
          <a:fontRef idx="minor"/>
        </p:style>
        <p:txBody>
          <a:bodyPr lIns="137160" tIns="68580" rIns="137160" bIns="68580" anchor="ctr">
            <a:noAutofit/>
          </a:bodyPr>
          <a:lstStyle/>
          <a:p>
            <a:pPr algn="r">
              <a:tabLst>
                <a:tab pos="0" algn="l"/>
              </a:tabLst>
            </a:pPr>
            <a:endParaRPr lang="en-US" sz="1500" spc="-2" dirty="0">
              <a:solidFill>
                <a:srgbClr val="000000"/>
              </a:solidFill>
              <a:latin typeface="Calibri"/>
            </a:endParaRPr>
          </a:p>
        </p:txBody>
      </p:sp>
      <p:grpSp>
        <p:nvGrpSpPr>
          <p:cNvPr id="4" name="Group 220"/>
          <p:cNvGrpSpPr/>
          <p:nvPr/>
        </p:nvGrpSpPr>
        <p:grpSpPr>
          <a:xfrm>
            <a:off x="6120360" y="5242049"/>
            <a:ext cx="532980" cy="408303"/>
            <a:chOff x="4080240" y="3494160"/>
            <a:chExt cx="355320" cy="272160"/>
          </a:xfrm>
        </p:grpSpPr>
        <p:sp>
          <p:nvSpPr>
            <p:cNvPr id="1196" name="Oval 221"/>
            <p:cNvSpPr/>
            <p:nvPr/>
          </p:nvSpPr>
          <p:spPr>
            <a:xfrm>
              <a:off x="4080600" y="349416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197" name="TextBox 222"/>
            <p:cNvSpPr/>
            <p:nvPr/>
          </p:nvSpPr>
          <p:spPr>
            <a:xfrm>
              <a:off x="4080240" y="35143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4</a:t>
              </a:r>
              <a:endParaRPr lang="en-US" sz="1500" spc="-2" dirty="0">
                <a:solidFill>
                  <a:srgbClr val="000000"/>
                </a:solidFill>
                <a:latin typeface="Calibri"/>
              </a:endParaRPr>
            </a:p>
          </p:txBody>
        </p:sp>
      </p:grpSp>
      <p:sp>
        <p:nvSpPr>
          <p:cNvPr id="1190" name="流程圖: 決策 50"/>
          <p:cNvSpPr/>
          <p:nvPr/>
        </p:nvSpPr>
        <p:spPr>
          <a:xfrm>
            <a:off x="7469280" y="3756280"/>
            <a:ext cx="1797120" cy="90085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是否要更新</a:t>
            </a:r>
            <a:r>
              <a:rPr lang="en-US" sz="1500" spc="-2" dirty="0">
                <a:solidFill>
                  <a:srgbClr val="000000"/>
                </a:solidFill>
                <a:latin typeface="微軟正黑體"/>
                <a:ea typeface="微軟正黑體"/>
              </a:rPr>
              <a:t>?</a:t>
            </a:r>
            <a:endParaRPr lang="en-US" sz="1500" spc="-2" dirty="0">
              <a:solidFill>
                <a:srgbClr val="000000"/>
              </a:solidFill>
              <a:latin typeface="Calibri"/>
            </a:endParaRPr>
          </a:p>
        </p:txBody>
      </p:sp>
      <p:sp>
        <p:nvSpPr>
          <p:cNvPr id="1198" name="TextBox 46"/>
          <p:cNvSpPr/>
          <p:nvPr/>
        </p:nvSpPr>
        <p:spPr>
          <a:xfrm>
            <a:off x="6451380" y="3808128"/>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graphicFrame>
        <p:nvGraphicFramePr>
          <p:cNvPr id="1199" name="表格 30"/>
          <p:cNvGraphicFramePr/>
          <p:nvPr>
            <p:extLst>
              <p:ext uri="{D42A27DB-BD31-4B8C-83A1-F6EECF244321}">
                <p14:modId xmlns:p14="http://schemas.microsoft.com/office/powerpoint/2010/main" xmlns="" val="4104753965"/>
              </p:ext>
            </p:extLst>
          </p:nvPr>
        </p:nvGraphicFramePr>
        <p:xfrm>
          <a:off x="7516260" y="5375990"/>
          <a:ext cx="1713960" cy="1097448"/>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MM42</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365816">
                <a:tc gridSpan="2">
                  <a:txBody>
                    <a:bodyPr/>
                    <a:lstStyle/>
                    <a:p>
                      <a:pPr algn="ctr">
                        <a:lnSpc>
                          <a:spcPct val="100000"/>
                        </a:lnSpc>
                      </a:pPr>
                      <a:r>
                        <a:rPr lang="zh-TW" sz="1500" b="0" strike="noStrike" spc="-1" dirty="0">
                          <a:solidFill>
                            <a:srgbClr val="000000"/>
                          </a:solidFill>
                          <a:latin typeface="微軟正黑體"/>
                          <a:ea typeface="微軟正黑體"/>
                        </a:rPr>
                        <a:t>更新物料主檔</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altLang="en-US" sz="1500" b="0" strike="noStrike" spc="-1" dirty="0">
                          <a:solidFill>
                            <a:srgbClr val="000000"/>
                          </a:solidFill>
                          <a:latin typeface="微軟正黑體"/>
                          <a:ea typeface="微軟正黑體"/>
                        </a:rPr>
                        <a:t>手</a:t>
                      </a:r>
                      <a:r>
                        <a:rPr lang="zh-TW" sz="1500" b="0" strike="noStrike" spc="-1" dirty="0">
                          <a:solidFill>
                            <a:srgbClr val="000000"/>
                          </a:solidFill>
                          <a:latin typeface="微軟正黑體"/>
                          <a:ea typeface="微軟正黑體"/>
                        </a:rPr>
                        <a:t>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grpSp>
        <p:nvGrpSpPr>
          <p:cNvPr id="5" name="Group 220"/>
          <p:cNvGrpSpPr/>
          <p:nvPr/>
        </p:nvGrpSpPr>
        <p:grpSpPr>
          <a:xfrm>
            <a:off x="9076860" y="5233408"/>
            <a:ext cx="532980" cy="408303"/>
            <a:chOff x="6051240" y="3488400"/>
            <a:chExt cx="355320" cy="272160"/>
          </a:xfrm>
        </p:grpSpPr>
        <p:sp>
          <p:nvSpPr>
            <p:cNvPr id="1201" name="Oval 221"/>
            <p:cNvSpPr/>
            <p:nvPr/>
          </p:nvSpPr>
          <p:spPr>
            <a:xfrm>
              <a:off x="6051240" y="348840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202" name="TextBox 222"/>
            <p:cNvSpPr/>
            <p:nvPr/>
          </p:nvSpPr>
          <p:spPr>
            <a:xfrm>
              <a:off x="6051240" y="350892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5</a:t>
              </a:r>
              <a:endParaRPr lang="en-US" sz="1500" spc="-2" dirty="0">
                <a:solidFill>
                  <a:srgbClr val="000000"/>
                </a:solidFill>
                <a:latin typeface="Calibri"/>
              </a:endParaRPr>
            </a:p>
          </p:txBody>
        </p:sp>
      </p:grpSp>
      <p:cxnSp>
        <p:nvCxnSpPr>
          <p:cNvPr id="1203" name="肘形接點 68"/>
          <p:cNvCxnSpPr>
            <a:stCxn id="1190" idx="2"/>
            <a:endCxn id="1199" idx="0"/>
          </p:cNvCxnSpPr>
          <p:nvPr/>
        </p:nvCxnSpPr>
        <p:spPr>
          <a:xfrm rot="16200000" flipH="1">
            <a:off x="8011115" y="5013864"/>
            <a:ext cx="718851" cy="5400"/>
          </a:xfrm>
          <a:prstGeom prst="bentConnector3">
            <a:avLst>
              <a:gd name="adj1" fmla="val 50000"/>
            </a:avLst>
          </a:prstGeom>
          <a:ln>
            <a:solidFill>
              <a:srgbClr val="000000"/>
            </a:solidFill>
            <a:round/>
            <a:tailEnd type="triangle" w="med" len="med"/>
          </a:ln>
        </p:spPr>
      </p:cxnSp>
      <p:sp>
        <p:nvSpPr>
          <p:cNvPr id="1204" name="TextBox 46"/>
          <p:cNvSpPr/>
          <p:nvPr/>
        </p:nvSpPr>
        <p:spPr>
          <a:xfrm>
            <a:off x="8359200" y="4727890"/>
            <a:ext cx="4039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cxnSp>
        <p:nvCxnSpPr>
          <p:cNvPr id="1205" name="肘形接點 68"/>
          <p:cNvCxnSpPr>
            <a:cxnSpLocks/>
            <a:stCxn id="1199" idx="2"/>
            <a:endCxn id="1214" idx="0"/>
          </p:cNvCxnSpPr>
          <p:nvPr/>
        </p:nvCxnSpPr>
        <p:spPr>
          <a:xfrm rot="5400000">
            <a:off x="6332220" y="5600079"/>
            <a:ext cx="1167660" cy="2914380"/>
          </a:xfrm>
          <a:prstGeom prst="bentConnector3">
            <a:avLst>
              <a:gd name="adj1" fmla="val 50000"/>
            </a:avLst>
          </a:prstGeom>
          <a:ln>
            <a:solidFill>
              <a:srgbClr val="000000"/>
            </a:solidFill>
            <a:round/>
            <a:tailEnd type="triangle" w="med" len="med"/>
          </a:ln>
        </p:spPr>
      </p:cxnSp>
      <p:cxnSp>
        <p:nvCxnSpPr>
          <p:cNvPr id="1206" name="肘形接點 68"/>
          <p:cNvCxnSpPr>
            <a:stCxn id="1190" idx="3"/>
            <a:endCxn id="1207" idx="1"/>
          </p:cNvCxnSpPr>
          <p:nvPr/>
        </p:nvCxnSpPr>
        <p:spPr>
          <a:xfrm flipV="1">
            <a:off x="9266400" y="4197528"/>
            <a:ext cx="2910600" cy="9722"/>
          </a:xfrm>
          <a:prstGeom prst="bentConnector3">
            <a:avLst>
              <a:gd name="adj1" fmla="val 50027"/>
            </a:avLst>
          </a:prstGeom>
          <a:ln>
            <a:solidFill>
              <a:srgbClr val="000000"/>
            </a:solidFill>
            <a:round/>
            <a:tailEnd type="triangle" w="med" len="med"/>
          </a:ln>
        </p:spPr>
      </p:cxnSp>
      <p:sp>
        <p:nvSpPr>
          <p:cNvPr id="1208" name="TextBox 46"/>
          <p:cNvSpPr/>
          <p:nvPr/>
        </p:nvSpPr>
        <p:spPr>
          <a:xfrm>
            <a:off x="9343620" y="3710373"/>
            <a:ext cx="33156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1209" name="流程圖: 換頁接點 52"/>
          <p:cNvSpPr/>
          <p:nvPr/>
        </p:nvSpPr>
        <p:spPr>
          <a:xfrm>
            <a:off x="12562020" y="8066924"/>
            <a:ext cx="559980" cy="46663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P4</a:t>
            </a:r>
            <a:endParaRPr lang="en-US" spc="-2" dirty="0">
              <a:solidFill>
                <a:srgbClr val="000000"/>
              </a:solidFill>
              <a:latin typeface="Calibri"/>
            </a:endParaRPr>
          </a:p>
        </p:txBody>
      </p:sp>
      <p:graphicFrame>
        <p:nvGraphicFramePr>
          <p:cNvPr id="1210" name="表格 30"/>
          <p:cNvGraphicFramePr/>
          <p:nvPr>
            <p:extLst>
              <p:ext uri="{D42A27DB-BD31-4B8C-83A1-F6EECF244321}">
                <p14:modId xmlns:p14="http://schemas.microsoft.com/office/powerpoint/2010/main" xmlns="" val="401867735"/>
              </p:ext>
            </p:extLst>
          </p:nvPr>
        </p:nvGraphicFramePr>
        <p:xfrm>
          <a:off x="4588920" y="2097144"/>
          <a:ext cx="1797120" cy="1122112"/>
        </p:xfrm>
        <a:graphic>
          <a:graphicData uri="http://schemas.openxmlformats.org/drawingml/2006/table">
            <a:tbl>
              <a:tblPr/>
              <a:tblGrid>
                <a:gridCol w="898560">
                  <a:extLst>
                    <a:ext uri="{9D8B030D-6E8A-4147-A177-3AD203B41FA5}">
                      <a16:colId xmlns:a16="http://schemas.microsoft.com/office/drawing/2014/main" xmlns="" val="20000"/>
                    </a:ext>
                  </a:extLst>
                </a:gridCol>
                <a:gridCol w="89856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dirty="0" err="1">
                          <a:solidFill>
                            <a:schemeClr val="dk1"/>
                          </a:solidFill>
                          <a:latin typeface="微軟正黑體"/>
                          <a:ea typeface="微軟正黑體"/>
                        </a:rPr>
                        <a:t>DeGEN</a:t>
                      </a:r>
                      <a:endParaRPr lang="en-US" sz="1500" b="0" strike="noStrike" spc="-1" dirty="0">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390480">
                <a:tc gridSpan="2">
                  <a:txBody>
                    <a:bodyPr/>
                    <a:lstStyle/>
                    <a:p>
                      <a:pPr algn="ctr">
                        <a:lnSpc>
                          <a:spcPct val="100000"/>
                        </a:lnSpc>
                      </a:pPr>
                      <a:r>
                        <a:rPr lang="zh-TW" sz="1500" b="0" strike="noStrike" spc="-1">
                          <a:solidFill>
                            <a:schemeClr val="dk1"/>
                          </a:solidFill>
                          <a:latin typeface="微軟正黑體"/>
                          <a:ea typeface="微軟正黑體"/>
                        </a:rPr>
                        <a:t>料號編碼產生</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微軟正黑體"/>
                          <a:ea typeface="微軟正黑體"/>
                        </a:rPr>
                        <a:t>DeGEN</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grpSp>
        <p:nvGrpSpPr>
          <p:cNvPr id="6" name="Group 220"/>
          <p:cNvGrpSpPr/>
          <p:nvPr/>
        </p:nvGrpSpPr>
        <p:grpSpPr>
          <a:xfrm>
            <a:off x="6224580" y="1860047"/>
            <a:ext cx="532980" cy="408303"/>
            <a:chOff x="4149720" y="1239840"/>
            <a:chExt cx="355320" cy="272160"/>
          </a:xfrm>
        </p:grpSpPr>
        <p:sp>
          <p:nvSpPr>
            <p:cNvPr id="1212" name="Oval 221"/>
            <p:cNvSpPr/>
            <p:nvPr/>
          </p:nvSpPr>
          <p:spPr>
            <a:xfrm>
              <a:off x="4150080" y="123984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213" name="TextBox 222"/>
            <p:cNvSpPr/>
            <p:nvPr/>
          </p:nvSpPr>
          <p:spPr>
            <a:xfrm>
              <a:off x="4149720" y="126000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graphicFrame>
        <p:nvGraphicFramePr>
          <p:cNvPr id="1214" name="表格 30"/>
          <p:cNvGraphicFramePr/>
          <p:nvPr>
            <p:extLst>
              <p:ext uri="{D42A27DB-BD31-4B8C-83A1-F6EECF244321}">
                <p14:modId xmlns:p14="http://schemas.microsoft.com/office/powerpoint/2010/main" xmlns="" val="3034057748"/>
              </p:ext>
            </p:extLst>
          </p:nvPr>
        </p:nvGraphicFramePr>
        <p:xfrm>
          <a:off x="4601880" y="7641099"/>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MM42</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sz="1500" b="0" strike="noStrike" spc="-1" dirty="0">
                          <a:solidFill>
                            <a:srgbClr val="000000"/>
                          </a:solidFill>
                          <a:latin typeface="微軟正黑體"/>
                          <a:ea typeface="微軟正黑體"/>
                        </a:rPr>
                        <a:t>建立物料主檔</a:t>
                      </a:r>
                      <a:endParaRPr lang="en-US" sz="1500" b="0" strike="noStrike" spc="-1" dirty="0">
                        <a:solidFill>
                          <a:srgbClr val="000000"/>
                        </a:solidFill>
                        <a:latin typeface="Calibri"/>
                      </a:endParaRPr>
                    </a:p>
                    <a:p>
                      <a:pPr algn="ctr">
                        <a:lnSpc>
                          <a:spcPct val="100000"/>
                        </a:lnSpc>
                      </a:pPr>
                      <a:r>
                        <a:rPr lang="zh-TW" sz="1500" b="0" strike="noStrike" spc="-1" dirty="0">
                          <a:solidFill>
                            <a:srgbClr val="000000"/>
                          </a:solidFill>
                          <a:latin typeface="微軟正黑體"/>
                          <a:ea typeface="微軟正黑體"/>
                        </a:rPr>
                        <a:t>採購</a:t>
                      </a:r>
                      <a:r>
                        <a:rPr lang="en-US" sz="1500" b="0" strike="noStrike" spc="-1" dirty="0">
                          <a:solidFill>
                            <a:srgbClr val="000000"/>
                          </a:solidFill>
                          <a:latin typeface="微軟正黑體"/>
                          <a:ea typeface="微軟正黑體"/>
                        </a:rPr>
                        <a:t>/FICO</a:t>
                      </a:r>
                      <a:r>
                        <a:rPr lang="zh-TW" sz="1500" b="0" strike="noStrike" spc="-1" dirty="0">
                          <a:solidFill>
                            <a:srgbClr val="000000"/>
                          </a:solidFill>
                          <a:latin typeface="微軟正黑體"/>
                          <a:ea typeface="微軟正黑體"/>
                        </a:rPr>
                        <a:t>視圖</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altLang="en-US" sz="1500" b="0" strike="noStrike" spc="-1" dirty="0">
                          <a:solidFill>
                            <a:srgbClr val="000000"/>
                          </a:solidFill>
                          <a:latin typeface="微軟正黑體"/>
                          <a:ea typeface="微軟正黑體"/>
                        </a:rPr>
                        <a:t>手</a:t>
                      </a:r>
                      <a:r>
                        <a:rPr lang="zh-TW" sz="1500" b="0" strike="noStrike" spc="-1" dirty="0">
                          <a:solidFill>
                            <a:srgbClr val="000000"/>
                          </a:solidFill>
                          <a:latin typeface="微軟正黑體"/>
                          <a:ea typeface="微軟正黑體"/>
                        </a:rPr>
                        <a:t>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cxnSp>
        <p:nvCxnSpPr>
          <p:cNvPr id="1215" name="肘形接點 68"/>
          <p:cNvCxnSpPr>
            <a:stCxn id="1214" idx="3"/>
            <a:endCxn id="1209" idx="1"/>
          </p:cNvCxnSpPr>
          <p:nvPr/>
        </p:nvCxnSpPr>
        <p:spPr>
          <a:xfrm flipV="1">
            <a:off x="6315840" y="8300240"/>
            <a:ext cx="6246180" cy="3902"/>
          </a:xfrm>
          <a:prstGeom prst="bentConnector3">
            <a:avLst>
              <a:gd name="adj1" fmla="val 50000"/>
            </a:avLst>
          </a:prstGeom>
          <a:ln>
            <a:solidFill>
              <a:srgbClr val="000000"/>
            </a:solidFill>
            <a:round/>
            <a:tailEnd type="triangle" w="med" len="med"/>
          </a:ln>
        </p:spPr>
      </p:cxnSp>
      <p:sp>
        <p:nvSpPr>
          <p:cNvPr id="1207" name="流程圖: 結束點 8"/>
          <p:cNvSpPr/>
          <p:nvPr/>
        </p:nvSpPr>
        <p:spPr>
          <a:xfrm>
            <a:off x="12176460" y="3806507"/>
            <a:ext cx="1797120" cy="782041"/>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結束</a:t>
            </a:r>
            <a:endParaRPr lang="en-US" sz="1500" spc="-2" dirty="0">
              <a:solidFill>
                <a:srgbClr val="000000"/>
              </a:solidFill>
              <a:latin typeface="Calibri"/>
            </a:endParaRPr>
          </a:p>
        </p:txBody>
      </p:sp>
      <p:grpSp>
        <p:nvGrpSpPr>
          <p:cNvPr id="7" name="Group 220"/>
          <p:cNvGrpSpPr/>
          <p:nvPr/>
        </p:nvGrpSpPr>
        <p:grpSpPr>
          <a:xfrm>
            <a:off x="6126300" y="7466652"/>
            <a:ext cx="532980" cy="408303"/>
            <a:chOff x="4084200" y="4977000"/>
            <a:chExt cx="355320" cy="272160"/>
          </a:xfrm>
        </p:grpSpPr>
        <p:sp>
          <p:nvSpPr>
            <p:cNvPr id="1218" name="Oval 221"/>
            <p:cNvSpPr/>
            <p:nvPr/>
          </p:nvSpPr>
          <p:spPr>
            <a:xfrm>
              <a:off x="4084560" y="497700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219" name="TextBox 222"/>
            <p:cNvSpPr/>
            <p:nvPr/>
          </p:nvSpPr>
          <p:spPr>
            <a:xfrm>
              <a:off x="4084200" y="499716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6</a:t>
              </a:r>
              <a:endParaRPr lang="en-US" sz="1500" spc="-2" dirty="0">
                <a:solidFill>
                  <a:srgbClr val="000000"/>
                </a:solidFill>
                <a:latin typeface="Calibri"/>
              </a:endParaRPr>
            </a:p>
          </p:txBody>
        </p:sp>
      </p:grpSp>
      <p:sp>
        <p:nvSpPr>
          <p:cNvPr id="58"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spc="-1" dirty="0" smtClean="0">
                <a:solidFill>
                  <a:schemeClr val="dk1"/>
                </a:solidFill>
                <a:latin typeface="微軟正黑體"/>
                <a:ea typeface="微軟正黑體"/>
              </a:rPr>
              <a:t>3</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1" name="TextBox 53"/>
          <p:cNvSpPr/>
          <p:nvPr/>
        </p:nvSpPr>
        <p:spPr>
          <a:xfrm>
            <a:off x="14380740" y="2064199"/>
            <a:ext cx="3593700" cy="207531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marL="342900" indent="-342900">
              <a:buClr>
                <a:srgbClr val="000000"/>
              </a:buClr>
              <a:buFont typeface="Arial"/>
              <a:buAutoNum type="arabicPeriod"/>
            </a:pPr>
            <a:r>
              <a:rPr lang="zh-TW" altLang="en-US" spc="-2" dirty="0">
                <a:solidFill>
                  <a:srgbClr val="000000"/>
                </a:solidFill>
                <a:latin typeface="Arial"/>
                <a:ea typeface="Arial"/>
              </a:rPr>
              <a:t>各地區總處庶務採購可進系統檢查物料主檔的採購視圖資料是否正確，如果有誤則人工修正成正確，</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財務單位可進系統確認物料主檔的</a:t>
            </a:r>
            <a:r>
              <a:rPr lang="en-US" spc="-2" dirty="0">
                <a:solidFill>
                  <a:srgbClr val="000000"/>
                </a:solidFill>
                <a:latin typeface="Arial"/>
                <a:ea typeface="Arial"/>
              </a:rPr>
              <a:t>FI/CO</a:t>
            </a:r>
            <a:r>
              <a:rPr lang="zh-TW" altLang="en-US" spc="-2" dirty="0">
                <a:solidFill>
                  <a:srgbClr val="000000"/>
                </a:solidFill>
                <a:latin typeface="Arial"/>
                <a:ea typeface="Arial"/>
              </a:rPr>
              <a:t>視圖是否正確，如果有誤則人工修正成正確。</a:t>
            </a:r>
            <a:endParaRPr lang="en-US" spc="-2" dirty="0">
              <a:solidFill>
                <a:srgbClr val="000000"/>
              </a:solidFill>
              <a:latin typeface="Calibri"/>
            </a:endParaRPr>
          </a:p>
        </p:txBody>
      </p:sp>
      <p:sp>
        <p:nvSpPr>
          <p:cNvPr id="1222" name="文字方塊 3"/>
          <p:cNvSpPr/>
          <p:nvPr/>
        </p:nvSpPr>
        <p:spPr>
          <a:xfrm>
            <a:off x="2351160" y="820387"/>
            <a:ext cx="9578922" cy="505650"/>
          </a:xfrm>
          <a:prstGeom prst="rect">
            <a:avLst/>
          </a:prstGeom>
          <a:noFill/>
          <a:ln w="0">
            <a:noFill/>
          </a:ln>
        </p:spPr>
        <p:style>
          <a:lnRef idx="0">
            <a:scrgbClr r="0" g="0" b="0"/>
          </a:lnRef>
          <a:fillRef idx="0">
            <a:scrgbClr r="0" g="0" b="0"/>
          </a:fillRef>
          <a:effectRef idx="0">
            <a:scrgbClr r="0" g="0" b="0"/>
          </a:effectRef>
          <a:fontRef idx="minor"/>
        </p:style>
        <p:txBody>
          <a:bodyPr wrap="square" lIns="135000" tIns="67500" rIns="135000" bIns="67500" anchor="t">
            <a:spAutoFit/>
          </a:bodyPr>
          <a:lstStyle/>
          <a:p>
            <a:pPr defTabSz="457200">
              <a:lnSpc>
                <a:spcPct val="100000"/>
              </a:lnSpc>
            </a:pPr>
            <a:r>
              <a:rPr lang="en-US" sz="2400" b="1" spc="-1" dirty="0" smtClean="0">
                <a:solidFill>
                  <a:schemeClr val="dk1"/>
                </a:solidFill>
                <a:latin typeface="Microsoft JhengHei"/>
                <a:ea typeface="Microsoft JhengHei"/>
              </a:rPr>
              <a:t>MM-MA-0010-02</a:t>
            </a:r>
            <a:r>
              <a:rPr lang="zh-TW" altLang="en-US" sz="2400" b="1" spc="-1" dirty="0" smtClean="0">
                <a:solidFill>
                  <a:schemeClr val="dk1"/>
                </a:solidFill>
                <a:latin typeface="Microsoft JhengHei"/>
                <a:ea typeface="Microsoft JhengHei"/>
              </a:rPr>
              <a:t>物料主檔維護流程</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製工具</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庶務</a:t>
            </a:r>
            <a:r>
              <a:rPr lang="en-US" sz="2400" b="1" spc="-1" dirty="0" smtClean="0">
                <a:solidFill>
                  <a:schemeClr val="dk1"/>
                </a:solidFill>
                <a:latin typeface="Microsoft JhengHei"/>
                <a:ea typeface="Microsoft JhengHei"/>
              </a:rPr>
              <a:t>/</a:t>
            </a:r>
            <a:r>
              <a:rPr lang="zh-TW" altLang="en-US" sz="2400" b="1" spc="-1" dirty="0" smtClean="0">
                <a:solidFill>
                  <a:schemeClr val="dk1"/>
                </a:solidFill>
                <a:latin typeface="Microsoft JhengHei"/>
                <a:ea typeface="Microsoft JhengHei"/>
              </a:rPr>
              <a:t>機器設備</a:t>
            </a:r>
            <a:r>
              <a:rPr lang="en-US" sz="2400" b="1" spc="-1" dirty="0" smtClean="0">
                <a:solidFill>
                  <a:schemeClr val="dk1"/>
                </a:solidFill>
                <a:latin typeface="Microsoft JhengHei"/>
                <a:ea typeface="Microsoft JhengHei"/>
              </a:rPr>
              <a:t>)</a:t>
            </a:r>
          </a:p>
        </p:txBody>
      </p:sp>
      <p:sp>
        <p:nvSpPr>
          <p:cNvPr id="1227" name="流程圖: 換頁接點 52"/>
          <p:cNvSpPr/>
          <p:nvPr/>
        </p:nvSpPr>
        <p:spPr>
          <a:xfrm>
            <a:off x="974700" y="2479761"/>
            <a:ext cx="559980" cy="46663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P3</a:t>
            </a:r>
            <a:endParaRPr lang="en-US" spc="-2" dirty="0">
              <a:solidFill>
                <a:srgbClr val="000000"/>
              </a:solidFill>
              <a:latin typeface="Calibri"/>
            </a:endParaRPr>
          </a:p>
        </p:txBody>
      </p:sp>
      <p:graphicFrame>
        <p:nvGraphicFramePr>
          <p:cNvPr id="1228" name="表格 30"/>
          <p:cNvGraphicFramePr/>
          <p:nvPr>
            <p:extLst>
              <p:ext uri="{D42A27DB-BD31-4B8C-83A1-F6EECF244321}">
                <p14:modId xmlns:p14="http://schemas.microsoft.com/office/powerpoint/2010/main" xmlns="" val="2452471972"/>
              </p:ext>
            </p:extLst>
          </p:nvPr>
        </p:nvGraphicFramePr>
        <p:xfrm>
          <a:off x="3951657" y="2053937"/>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dirty="0">
                          <a:solidFill>
                            <a:schemeClr val="dk1"/>
                          </a:solidFill>
                          <a:latin typeface="微軟正黑體"/>
                          <a:ea typeface="微軟正黑體"/>
                        </a:rPr>
                        <a:t>MM42</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sz="1500" b="0" strike="noStrike" spc="-1">
                          <a:solidFill>
                            <a:srgbClr val="000000"/>
                          </a:solidFill>
                          <a:latin typeface="微軟正黑體"/>
                          <a:ea typeface="微軟正黑體"/>
                        </a:rPr>
                        <a:t>更改物料主檔</a:t>
                      </a:r>
                      <a:endParaRPr lang="en-US" sz="1500" b="0" strike="noStrike" spc="-1">
                        <a:solidFill>
                          <a:srgbClr val="000000"/>
                        </a:solidFill>
                        <a:latin typeface="Calibri"/>
                      </a:endParaRPr>
                    </a:p>
                    <a:p>
                      <a:pPr algn="ctr">
                        <a:lnSpc>
                          <a:spcPct val="100000"/>
                        </a:lnSpc>
                      </a:pPr>
                      <a:r>
                        <a:rPr lang="zh-TW" sz="1500" b="0" strike="noStrike" spc="-1">
                          <a:solidFill>
                            <a:srgbClr val="000000"/>
                          </a:solidFill>
                          <a:latin typeface="微軟正黑體"/>
                          <a:ea typeface="微軟正黑體"/>
                        </a:rPr>
                        <a:t>採購視圖</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dirty="0">
                          <a:solidFill>
                            <a:srgbClr val="000000"/>
                          </a:solidFill>
                          <a:latin typeface="微軟正黑體"/>
                          <a:ea typeface="微軟正黑體"/>
                        </a:rPr>
                        <a:t>手動</a:t>
                      </a:r>
                      <a:endParaRPr lang="en-US" sz="1500" b="0" strike="noStrike" spc="-1" dirty="0">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sp>
        <p:nvSpPr>
          <p:cNvPr id="1229" name="流程圖: 結束點 8"/>
          <p:cNvSpPr/>
          <p:nvPr/>
        </p:nvSpPr>
        <p:spPr>
          <a:xfrm>
            <a:off x="12204653" y="6906046"/>
            <a:ext cx="1797120" cy="782041"/>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結束</a:t>
            </a:r>
            <a:endParaRPr lang="en-US" sz="1500" spc="-2" dirty="0">
              <a:solidFill>
                <a:srgbClr val="000000"/>
              </a:solidFill>
              <a:latin typeface="Calibri"/>
            </a:endParaRPr>
          </a:p>
        </p:txBody>
      </p:sp>
      <p:cxnSp>
        <p:nvCxnSpPr>
          <p:cNvPr id="1230" name="肘形接點 68"/>
          <p:cNvCxnSpPr>
            <a:cxnSpLocks/>
            <a:stCxn id="1237" idx="2"/>
            <a:endCxn id="1229" idx="1"/>
          </p:cNvCxnSpPr>
          <p:nvPr/>
        </p:nvCxnSpPr>
        <p:spPr>
          <a:xfrm rot="16200000" flipH="1">
            <a:off x="10086415" y="5178829"/>
            <a:ext cx="1566062" cy="2670413"/>
          </a:xfrm>
          <a:prstGeom prst="bentConnector2">
            <a:avLst/>
          </a:prstGeom>
          <a:ln>
            <a:solidFill>
              <a:srgbClr val="000000"/>
            </a:solidFill>
            <a:round/>
            <a:tailEnd type="triangle" w="med" len="med"/>
          </a:ln>
        </p:spPr>
      </p:cxnSp>
      <p:grpSp>
        <p:nvGrpSpPr>
          <p:cNvPr id="2" name="Group 220"/>
          <p:cNvGrpSpPr/>
          <p:nvPr/>
        </p:nvGrpSpPr>
        <p:grpSpPr>
          <a:xfrm>
            <a:off x="5522517" y="1885971"/>
            <a:ext cx="532980" cy="408303"/>
            <a:chOff x="4116240" y="1257120"/>
            <a:chExt cx="355320" cy="272160"/>
          </a:xfrm>
        </p:grpSpPr>
        <p:sp>
          <p:nvSpPr>
            <p:cNvPr id="1233" name="Oval 221"/>
            <p:cNvSpPr/>
            <p:nvPr/>
          </p:nvSpPr>
          <p:spPr>
            <a:xfrm>
              <a:off x="4116240" y="125712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234" name="TextBox 222"/>
            <p:cNvSpPr/>
            <p:nvPr/>
          </p:nvSpPr>
          <p:spPr>
            <a:xfrm>
              <a:off x="4116240" y="127728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cxnSp>
        <p:nvCxnSpPr>
          <p:cNvPr id="1235" name="Straight Connector 284"/>
          <p:cNvCxnSpPr/>
          <p:nvPr/>
        </p:nvCxnSpPr>
        <p:spPr>
          <a:xfrm>
            <a:off x="7114500" y="1388554"/>
            <a:ext cx="540" cy="8617030"/>
          </a:xfrm>
          <a:prstGeom prst="straightConnector1">
            <a:avLst/>
          </a:prstGeom>
          <a:ln>
            <a:solidFill>
              <a:srgbClr val="000000"/>
            </a:solidFill>
            <a:round/>
          </a:ln>
        </p:spPr>
      </p:cxnSp>
      <p:sp>
        <p:nvSpPr>
          <p:cNvPr id="1236" name="文字方塊 17"/>
          <p:cNvSpPr/>
          <p:nvPr/>
        </p:nvSpPr>
        <p:spPr>
          <a:xfrm>
            <a:off x="8294400" y="1362090"/>
            <a:ext cx="247968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財務單位</a:t>
            </a:r>
            <a:endParaRPr lang="en-US" sz="1700" spc="-2" dirty="0">
              <a:solidFill>
                <a:srgbClr val="000000"/>
              </a:solidFill>
              <a:latin typeface="Calibri"/>
            </a:endParaRPr>
          </a:p>
        </p:txBody>
      </p:sp>
      <p:graphicFrame>
        <p:nvGraphicFramePr>
          <p:cNvPr id="1237" name="表格 30"/>
          <p:cNvGraphicFramePr/>
          <p:nvPr/>
        </p:nvGraphicFramePr>
        <p:xfrm>
          <a:off x="8677260" y="4404920"/>
          <a:ext cx="1713960" cy="1326084"/>
        </p:xfrm>
        <a:graphic>
          <a:graphicData uri="http://schemas.openxmlformats.org/drawingml/2006/table">
            <a:tbl>
              <a:tblPr/>
              <a:tblGrid>
                <a:gridCol w="898560">
                  <a:extLst>
                    <a:ext uri="{9D8B030D-6E8A-4147-A177-3AD203B41FA5}">
                      <a16:colId xmlns:a16="http://schemas.microsoft.com/office/drawing/2014/main" xmlns="" val="20000"/>
                    </a:ext>
                  </a:extLst>
                </a:gridCol>
                <a:gridCol w="815400">
                  <a:extLst>
                    <a:ext uri="{9D8B030D-6E8A-4147-A177-3AD203B41FA5}">
                      <a16:colId xmlns:a16="http://schemas.microsoft.com/office/drawing/2014/main" xmlns=""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MM42</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0"/>
                  </a:ext>
                </a:extLst>
              </a:tr>
              <a:tr h="594452">
                <a:tc gridSpan="2">
                  <a:txBody>
                    <a:bodyPr/>
                    <a:lstStyle/>
                    <a:p>
                      <a:pPr algn="ctr">
                        <a:lnSpc>
                          <a:spcPct val="100000"/>
                        </a:lnSpc>
                      </a:pPr>
                      <a:r>
                        <a:rPr lang="zh-TW" sz="1500" b="0" strike="noStrike" spc="-1">
                          <a:solidFill>
                            <a:srgbClr val="000000"/>
                          </a:solidFill>
                          <a:latin typeface="微軟正黑體"/>
                          <a:ea typeface="微軟正黑體"/>
                        </a:rPr>
                        <a:t>更改物料主檔</a:t>
                      </a:r>
                      <a:endParaRPr lang="en-US" sz="1500" b="0" strike="noStrike" spc="-1">
                        <a:solidFill>
                          <a:srgbClr val="000000"/>
                        </a:solidFill>
                        <a:latin typeface="Calibri"/>
                      </a:endParaRPr>
                    </a:p>
                    <a:p>
                      <a:pPr algn="ctr">
                        <a:lnSpc>
                          <a:spcPct val="100000"/>
                        </a:lnSpc>
                      </a:pPr>
                      <a:r>
                        <a:rPr lang="en-US" sz="1500" b="0" strike="noStrike" spc="-1">
                          <a:solidFill>
                            <a:srgbClr val="000000"/>
                          </a:solidFill>
                          <a:latin typeface="微軟正黑體"/>
                          <a:ea typeface="微軟正黑體"/>
                        </a:rPr>
                        <a:t>FICO</a:t>
                      </a:r>
                      <a:r>
                        <a:rPr lang="zh-TW" sz="1500" b="0" strike="noStrike" spc="-1">
                          <a:solidFill>
                            <a:srgbClr val="000000"/>
                          </a:solidFill>
                          <a:latin typeface="微軟正黑體"/>
                          <a:ea typeface="微軟正黑體"/>
                        </a:rPr>
                        <a:t>視圖</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xmlns="" val="10001"/>
                  </a:ext>
                </a:extLst>
              </a:tr>
              <a:tr h="365816">
                <a:tc>
                  <a:txBody>
                    <a:bodyPr/>
                    <a:lstStyle/>
                    <a:p>
                      <a:pPr algn="ctr">
                        <a:lnSpc>
                          <a:spcPct val="100000"/>
                        </a:lnSpc>
                      </a:pPr>
                      <a:r>
                        <a:rPr lang="en-US" sz="1500" b="0" strike="noStrike" spc="-1">
                          <a:solidFill>
                            <a:srgbClr val="000000"/>
                          </a:solidFill>
                          <a:latin typeface="Arial"/>
                          <a:ea typeface="Arial"/>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手動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xmlns="" val="10002"/>
                  </a:ext>
                </a:extLst>
              </a:tr>
            </a:tbl>
          </a:graphicData>
        </a:graphic>
      </p:graphicFrame>
      <p:cxnSp>
        <p:nvCxnSpPr>
          <p:cNvPr id="1238" name="肘形接點 68"/>
          <p:cNvCxnSpPr>
            <a:stCxn id="1228" idx="3"/>
            <a:endCxn id="1237" idx="0"/>
          </p:cNvCxnSpPr>
          <p:nvPr/>
        </p:nvCxnSpPr>
        <p:spPr>
          <a:xfrm>
            <a:off x="5665617" y="2716979"/>
            <a:ext cx="3868623" cy="1687941"/>
          </a:xfrm>
          <a:prstGeom prst="bentConnector2">
            <a:avLst/>
          </a:prstGeom>
          <a:ln>
            <a:solidFill>
              <a:srgbClr val="000000"/>
            </a:solidFill>
            <a:round/>
            <a:tailEnd type="triangle" w="med" len="med"/>
          </a:ln>
        </p:spPr>
      </p:cxnSp>
      <p:grpSp>
        <p:nvGrpSpPr>
          <p:cNvPr id="3" name="Group 220"/>
          <p:cNvGrpSpPr/>
          <p:nvPr/>
        </p:nvGrpSpPr>
        <p:grpSpPr>
          <a:xfrm>
            <a:off x="10174680" y="4247216"/>
            <a:ext cx="532980" cy="408303"/>
            <a:chOff x="6783120" y="2831040"/>
            <a:chExt cx="355320" cy="272160"/>
          </a:xfrm>
        </p:grpSpPr>
        <p:sp>
          <p:nvSpPr>
            <p:cNvPr id="1240" name="Oval 221"/>
            <p:cNvSpPr/>
            <p:nvPr/>
          </p:nvSpPr>
          <p:spPr>
            <a:xfrm>
              <a:off x="6783480" y="2831040"/>
              <a:ext cx="273960" cy="27216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1241" name="TextBox 222"/>
            <p:cNvSpPr/>
            <p:nvPr/>
          </p:nvSpPr>
          <p:spPr>
            <a:xfrm>
              <a:off x="6783120" y="2851560"/>
              <a:ext cx="35532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cxnSp>
        <p:nvCxnSpPr>
          <p:cNvPr id="1242" name="肘形接點 68"/>
          <p:cNvCxnSpPr>
            <a:stCxn id="1227" idx="3"/>
            <a:endCxn id="1228" idx="1"/>
          </p:cNvCxnSpPr>
          <p:nvPr/>
        </p:nvCxnSpPr>
        <p:spPr>
          <a:xfrm>
            <a:off x="1534680" y="2713078"/>
            <a:ext cx="2416977" cy="3902"/>
          </a:xfrm>
          <a:prstGeom prst="bentConnector3">
            <a:avLst>
              <a:gd name="adj1" fmla="val 50000"/>
            </a:avLst>
          </a:prstGeom>
          <a:ln>
            <a:solidFill>
              <a:srgbClr val="000000"/>
            </a:solidFill>
            <a:round/>
            <a:tailEnd type="triangle" w="med" len="med"/>
          </a:ln>
        </p:spPr>
      </p:cxnSp>
      <p:sp>
        <p:nvSpPr>
          <p:cNvPr id="1243" name="文字方塊 17"/>
          <p:cNvSpPr/>
          <p:nvPr/>
        </p:nvSpPr>
        <p:spPr>
          <a:xfrm>
            <a:off x="1885680" y="1388554"/>
            <a:ext cx="577422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各地區總處庶務採購</a:t>
            </a:r>
            <a:r>
              <a:rPr lang="en-US" sz="1700" spc="-2" dirty="0">
                <a:solidFill>
                  <a:srgbClr val="000000"/>
                </a:solidFill>
                <a:latin typeface="Arial"/>
                <a:ea typeface="Arial"/>
              </a:rPr>
              <a:t>/</a:t>
            </a:r>
            <a:r>
              <a:rPr lang="zh-TW" altLang="en-US" sz="1700" spc="-2" dirty="0">
                <a:solidFill>
                  <a:srgbClr val="000000"/>
                </a:solidFill>
                <a:latin typeface="Arial"/>
                <a:ea typeface="Arial"/>
              </a:rPr>
              <a:t>各地區設備採購</a:t>
            </a:r>
            <a:endParaRPr lang="en-US" sz="1700" spc="-2" dirty="0">
              <a:solidFill>
                <a:srgbClr val="000000"/>
              </a:solidFill>
              <a:latin typeface="Calibri"/>
            </a:endParaRPr>
          </a:p>
        </p:txBody>
      </p:sp>
      <p:sp>
        <p:nvSpPr>
          <p:cNvPr id="33"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4</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6" name="Google Shape;204;p4"/>
          <p:cNvSpPr/>
          <p:nvPr/>
        </p:nvSpPr>
        <p:spPr>
          <a:xfrm>
            <a:off x="197100" y="1594866"/>
            <a:ext cx="17911260" cy="8399916"/>
          </a:xfrm>
          <a:prstGeom prst="rect">
            <a:avLst/>
          </a:prstGeom>
          <a:noFill/>
          <a:ln w="19050">
            <a:solidFill>
              <a:srgbClr val="000000"/>
            </a:solidFill>
            <a:round/>
          </a:ln>
        </p:spPr>
        <p:style>
          <a:lnRef idx="0">
            <a:scrgbClr r="0" g="0" b="0"/>
          </a:lnRef>
          <a:fillRef idx="0">
            <a:scrgbClr r="0" g="0" b="0"/>
          </a:fillRef>
          <a:effectRef idx="0">
            <a:scrgbClr r="0" g="0" b="0"/>
          </a:effectRef>
          <a:fontRef idx="minor"/>
        </p:style>
        <p:txBody>
          <a:bodyPr lIns="137160" tIns="68580" rIns="137160" bIns="68580" anchor="t">
            <a:noAutofit/>
          </a:bodyPr>
          <a:lstStyle/>
          <a:p>
            <a:pPr>
              <a:tabLst>
                <a:tab pos="0" algn="l"/>
              </a:tabLst>
            </a:pPr>
            <a:r>
              <a:rPr lang="zh-CN" altLang="en-US" sz="2400" spc="-2" dirty="0">
                <a:solidFill>
                  <a:schemeClr val="dk1"/>
                </a:solidFill>
                <a:latin typeface="Arial"/>
                <a:ea typeface="Arial"/>
              </a:rPr>
              <a:t>流程補充說明</a:t>
            </a:r>
            <a:r>
              <a:rPr lang="en-US" sz="2400" spc="-2" dirty="0">
                <a:solidFill>
                  <a:schemeClr val="dk1"/>
                </a:solidFill>
                <a:latin typeface="Arial"/>
                <a:ea typeface="Arial"/>
              </a:rPr>
              <a:t>:</a:t>
            </a:r>
            <a:endParaRPr lang="en-US" sz="2400" spc="-2" dirty="0">
              <a:solidFill>
                <a:srgbClr val="000000"/>
              </a:solidFill>
              <a:latin typeface="Calibri"/>
            </a:endParaRPr>
          </a:p>
          <a:p>
            <a:pPr>
              <a:tabLst>
                <a:tab pos="0" algn="l"/>
              </a:tabLst>
            </a:pPr>
            <a:endParaRPr lang="en-US" sz="2400" spc="-2" dirty="0">
              <a:solidFill>
                <a:srgbClr val="000000"/>
              </a:solidFill>
              <a:latin typeface="Calibri"/>
            </a:endParaRPr>
          </a:p>
          <a:p>
            <a:pPr>
              <a:tabLst>
                <a:tab pos="0" algn="l"/>
              </a:tabLst>
            </a:pPr>
            <a:endParaRPr lang="en-US" sz="2400" spc="-2" dirty="0">
              <a:solidFill>
                <a:srgbClr val="000000"/>
              </a:solidFill>
              <a:latin typeface="Calibri"/>
            </a:endParaRPr>
          </a:p>
          <a:p>
            <a:pPr>
              <a:tabLst>
                <a:tab pos="0" algn="l"/>
              </a:tabLst>
            </a:pPr>
            <a:endParaRPr lang="en-US" sz="2400" spc="-2" dirty="0">
              <a:solidFill>
                <a:srgbClr val="000000"/>
              </a:solidFill>
              <a:latin typeface="Calibri"/>
            </a:endParaRPr>
          </a:p>
          <a:p>
            <a:pPr>
              <a:tabLst>
                <a:tab pos="0" algn="l"/>
              </a:tabLst>
            </a:pPr>
            <a:endParaRPr lang="en-US" sz="2400" spc="-2" dirty="0">
              <a:solidFill>
                <a:srgbClr val="000000"/>
              </a:solidFill>
              <a:latin typeface="Calibri"/>
            </a:endParaRPr>
          </a:p>
          <a:p>
            <a:pPr>
              <a:tabLst>
                <a:tab pos="0" algn="l"/>
              </a:tabLst>
            </a:pPr>
            <a:r>
              <a:rPr lang="en-US" sz="2400" spc="-2" dirty="0">
                <a:solidFill>
                  <a:schemeClr val="dk1"/>
                </a:solidFill>
                <a:latin typeface="Arial"/>
                <a:ea typeface="Arial"/>
              </a:rPr>
              <a:t> </a:t>
            </a:r>
            <a:endParaRPr lang="en-US" sz="2400" spc="-2" dirty="0">
              <a:solidFill>
                <a:srgbClr val="000000"/>
              </a:solidFill>
              <a:latin typeface="Calibri"/>
            </a:endParaRPr>
          </a:p>
          <a:p>
            <a:pPr>
              <a:tabLst>
                <a:tab pos="0" algn="l"/>
              </a:tabLst>
            </a:pPr>
            <a:endParaRPr lang="en-US" spc="-2" dirty="0">
              <a:solidFill>
                <a:srgbClr val="000000"/>
              </a:solidFill>
              <a:latin typeface="Calibri"/>
            </a:endParaRPr>
          </a:p>
        </p:txBody>
      </p:sp>
      <p:graphicFrame>
        <p:nvGraphicFramePr>
          <p:cNvPr id="1248" name="表格 3"/>
          <p:cNvGraphicFramePr/>
          <p:nvPr>
            <p:extLst>
              <p:ext uri="{D42A27DB-BD31-4B8C-83A1-F6EECF244321}">
                <p14:modId xmlns:p14="http://schemas.microsoft.com/office/powerpoint/2010/main" xmlns="" val="3082057741"/>
              </p:ext>
            </p:extLst>
          </p:nvPr>
        </p:nvGraphicFramePr>
        <p:xfrm>
          <a:off x="2571704" y="1643832"/>
          <a:ext cx="9286940" cy="8286804"/>
        </p:xfrm>
        <a:graphic>
          <a:graphicData uri="http://schemas.openxmlformats.org/drawingml/2006/table">
            <a:tbl>
              <a:tblPr/>
              <a:tblGrid>
                <a:gridCol w="1914680">
                  <a:extLst>
                    <a:ext uri="{9D8B030D-6E8A-4147-A177-3AD203B41FA5}">
                      <a16:colId xmlns:a16="http://schemas.microsoft.com/office/drawing/2014/main" xmlns="" val="20000"/>
                    </a:ext>
                  </a:extLst>
                </a:gridCol>
                <a:gridCol w="4085110">
                  <a:extLst>
                    <a:ext uri="{9D8B030D-6E8A-4147-A177-3AD203B41FA5}">
                      <a16:colId xmlns:a16="http://schemas.microsoft.com/office/drawing/2014/main" xmlns="" val="20001"/>
                    </a:ext>
                  </a:extLst>
                </a:gridCol>
                <a:gridCol w="3287150">
                  <a:extLst>
                    <a:ext uri="{9D8B030D-6E8A-4147-A177-3AD203B41FA5}">
                      <a16:colId xmlns:a16="http://schemas.microsoft.com/office/drawing/2014/main" xmlns="" val="20002"/>
                    </a:ext>
                  </a:extLst>
                </a:gridCol>
              </a:tblGrid>
              <a:tr h="460378">
                <a:tc>
                  <a:txBody>
                    <a:bodyPr/>
                    <a:lstStyle/>
                    <a:p>
                      <a:pPr>
                        <a:lnSpc>
                          <a:spcPct val="100000"/>
                        </a:lnSpc>
                      </a:pPr>
                      <a:r>
                        <a:rPr lang="zh-TW" sz="2000" b="1" strike="noStrike" spc="-1" dirty="0">
                          <a:solidFill>
                            <a:srgbClr val="FFFFFF"/>
                          </a:solidFill>
                          <a:latin typeface="微軟正黑體"/>
                          <a:ea typeface="微軟正黑體"/>
                        </a:rPr>
                        <a:t>物料類型</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5B9BD5"/>
                    </a:solidFill>
                  </a:tcPr>
                </a:tc>
                <a:tc>
                  <a:txBody>
                    <a:bodyPr/>
                    <a:lstStyle/>
                    <a:p>
                      <a:pPr>
                        <a:lnSpc>
                          <a:spcPct val="100000"/>
                        </a:lnSpc>
                      </a:pPr>
                      <a:r>
                        <a:rPr lang="zh-TW" sz="2000" b="1" strike="noStrike" spc="-1" dirty="0">
                          <a:solidFill>
                            <a:srgbClr val="FFFFFF"/>
                          </a:solidFill>
                          <a:latin typeface="Noto Sans SC Regular"/>
                          <a:ea typeface="新細明體"/>
                        </a:rPr>
                        <a:t>物料類型說明</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5B9BD5"/>
                    </a:solidFill>
                  </a:tcPr>
                </a:tc>
                <a:tc>
                  <a:txBody>
                    <a:bodyPr/>
                    <a:lstStyle/>
                    <a:p>
                      <a:pPr>
                        <a:lnSpc>
                          <a:spcPct val="100000"/>
                        </a:lnSpc>
                      </a:pPr>
                      <a:r>
                        <a:rPr lang="zh-TW" sz="2000" b="1" strike="noStrike" spc="-1">
                          <a:solidFill>
                            <a:srgbClr val="FFFFFF"/>
                          </a:solidFill>
                          <a:latin typeface="Noto Sans SC Regular"/>
                          <a:ea typeface="新細明體"/>
                        </a:rPr>
                        <a:t>適用流程圖</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5B9BD5"/>
                    </a:solidFill>
                  </a:tcPr>
                </a:tc>
                <a:extLst>
                  <a:ext uri="{0D108BD9-81ED-4DB2-BD59-A6C34878D82A}">
                    <a16:rowId xmlns:a16="http://schemas.microsoft.com/office/drawing/2014/main" xmlns="" val="10000"/>
                  </a:ext>
                </a:extLst>
              </a:tr>
              <a:tr h="460378">
                <a:tc>
                  <a:txBody>
                    <a:bodyPr/>
                    <a:lstStyle/>
                    <a:p>
                      <a:pPr>
                        <a:lnSpc>
                          <a:spcPct val="100000"/>
                        </a:lnSpc>
                      </a:pPr>
                      <a:r>
                        <a:rPr lang="en-US" sz="2000" b="0" strike="noStrike" spc="-1" dirty="0">
                          <a:solidFill>
                            <a:srgbClr val="000000"/>
                          </a:solidFill>
                          <a:latin typeface="Microsoft JhengHei UI"/>
                          <a:ea typeface="Microsoft JhengHei UI"/>
                        </a:rPr>
                        <a:t>ZF00</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開發樣品</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a:solidFill>
                            <a:srgbClr val="000000"/>
                          </a:solidFill>
                          <a:latin typeface="Microsoft JhengHei UI"/>
                          <a:ea typeface="Microsoft JhengHei UI"/>
                        </a:rPr>
                        <a:t>MM-MA-0010-01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01"/>
                  </a:ext>
                </a:extLst>
              </a:tr>
              <a:tr h="460378">
                <a:tc>
                  <a:txBody>
                    <a:bodyPr/>
                    <a:lstStyle/>
                    <a:p>
                      <a:pPr>
                        <a:lnSpc>
                          <a:spcPct val="100000"/>
                        </a:lnSpc>
                      </a:pPr>
                      <a:r>
                        <a:rPr lang="en-US" sz="2000" b="0" strike="noStrike" spc="-1">
                          <a:solidFill>
                            <a:srgbClr val="000000"/>
                          </a:solidFill>
                          <a:latin typeface="Microsoft JhengHei UI"/>
                          <a:ea typeface="Microsoft JhengHei UI"/>
                        </a:rPr>
                        <a:t>ZF01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成品鞋</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a:solidFill>
                            <a:srgbClr val="000000"/>
                          </a:solidFill>
                          <a:latin typeface="Microsoft JhengHei UI"/>
                          <a:ea typeface="Microsoft JhengHei UI"/>
                        </a:rPr>
                        <a:t>MM-MA-0010-01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02"/>
                  </a:ext>
                </a:extLst>
              </a:tr>
              <a:tr h="460378">
                <a:tc>
                  <a:txBody>
                    <a:bodyPr/>
                    <a:lstStyle/>
                    <a:p>
                      <a:pPr>
                        <a:lnSpc>
                          <a:spcPct val="100000"/>
                        </a:lnSpc>
                      </a:pPr>
                      <a:r>
                        <a:rPr lang="en-US" sz="2000" b="0" strike="noStrike" spc="-1">
                          <a:solidFill>
                            <a:srgbClr val="000000"/>
                          </a:solidFill>
                          <a:latin typeface="Microsoft JhengHei UI"/>
                          <a:ea typeface="Microsoft JhengHei UI"/>
                        </a:rPr>
                        <a:t>ZF02</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zh-TW" sz="2000" b="0" strike="noStrike" spc="-1">
                          <a:solidFill>
                            <a:srgbClr val="000000"/>
                          </a:solidFill>
                          <a:latin typeface="Microsoft JhengHei UI"/>
                          <a:ea typeface="Microsoft JhengHei UI"/>
                        </a:rPr>
                        <a:t>拖鞋</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en-US" sz="2000" b="0" strike="noStrike" spc="-1">
                          <a:solidFill>
                            <a:srgbClr val="000000"/>
                          </a:solidFill>
                          <a:latin typeface="Microsoft JhengHei UI"/>
                          <a:ea typeface="Microsoft JhengHei UI"/>
                        </a:rPr>
                        <a:t>MM-MA-0010-01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3"/>
                  </a:ext>
                </a:extLst>
              </a:tr>
              <a:tr h="460378">
                <a:tc>
                  <a:txBody>
                    <a:bodyPr/>
                    <a:lstStyle/>
                    <a:p>
                      <a:pPr>
                        <a:lnSpc>
                          <a:spcPct val="100000"/>
                        </a:lnSpc>
                      </a:pPr>
                      <a:r>
                        <a:rPr lang="en-US" sz="2000" b="0" strike="noStrike" spc="-1" dirty="0" smtClean="0">
                          <a:solidFill>
                            <a:srgbClr val="000000"/>
                          </a:solidFill>
                          <a:latin typeface="Microsoft JhengHei UI"/>
                          <a:ea typeface="Microsoft JhengHei UI"/>
                        </a:rPr>
                        <a:t>ZH00</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cap="flat" cmpd="sng" algn="ctr">
                      <a:solidFill>
                        <a:srgbClr val="000000"/>
                      </a:solidFill>
                      <a:prstDash val="solid"/>
                      <a:round/>
                      <a:headEnd type="none" w="med" len="med"/>
                      <a:tailEnd type="none" w="med" len="me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zh-TW" altLang="en-US" sz="2000" b="0" strike="noStrike" spc="-1" dirty="0" smtClean="0">
                          <a:solidFill>
                            <a:srgbClr val="000000"/>
                          </a:solidFill>
                          <a:latin typeface="Microsoft JhengHei UI"/>
                          <a:ea typeface="Microsoft JhengHei UI"/>
                        </a:rPr>
                        <a:t>開發底樣</a:t>
                      </a:r>
                      <a:r>
                        <a:rPr lang="zh-TW" sz="2000" b="0" strike="noStrike" spc="-1" dirty="0" smtClean="0">
                          <a:solidFill>
                            <a:srgbClr val="000000"/>
                          </a:solidFill>
                          <a:latin typeface="Microsoft JhengHei UI"/>
                          <a:ea typeface="Microsoft JhengHei UI"/>
                        </a:rPr>
                        <a:t>品</a:t>
                      </a:r>
                      <a:endParaRPr lang="en-US" sz="2000" b="0" strike="noStrike" spc="-1" dirty="0">
                        <a:solidFill>
                          <a:srgbClr val="000000"/>
                        </a:solidFill>
                        <a:latin typeface="Calibri"/>
                      </a:endParaRPr>
                    </a:p>
                  </a:txBody>
                  <a:tcPr marL="8100" marR="8100" marT="68591" marB="68591" anchor="ctr">
                    <a:lnL w="6480" cap="flat" cmpd="sng" algn="ctr">
                      <a:solidFill>
                        <a:srgbClr val="000000"/>
                      </a:solidFill>
                      <a:prstDash val="solid"/>
                      <a:round/>
                      <a:headEnd type="none" w="med" len="med"/>
                      <a:tailEnd type="none" w="med" len="med"/>
                    </a:lnL>
                    <a:lnR w="6480" cap="flat" cmpd="sng" algn="ctr">
                      <a:solidFill>
                        <a:srgbClr val="000000"/>
                      </a:solidFill>
                      <a:prstDash val="solid"/>
                      <a:round/>
                      <a:headEnd type="none" w="med" len="med"/>
                      <a:tailEnd type="none" w="med" len="me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MM-MA-0010-01</a:t>
                      </a:r>
                      <a:endParaRPr lang="en-US" sz="2000" b="0" strike="noStrike" spc="-1" dirty="0">
                        <a:solidFill>
                          <a:srgbClr val="000000"/>
                        </a:solidFill>
                        <a:latin typeface="Calibri"/>
                      </a:endParaRPr>
                    </a:p>
                  </a:txBody>
                  <a:tcPr marL="8100" marR="8100" marT="68591" marB="68591" anchor="ctr">
                    <a:lnL w="6480" cap="flat" cmpd="sng" algn="ctr">
                      <a:solidFill>
                        <a:srgbClr val="000000"/>
                      </a:solidFill>
                      <a:prstDash val="solid"/>
                      <a:round/>
                      <a:headEnd type="none" w="med" len="med"/>
                      <a:tailEnd type="none" w="med" len="me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r>
              <a:tr h="460378">
                <a:tc>
                  <a:txBody>
                    <a:bodyPr/>
                    <a:lstStyle/>
                    <a:p>
                      <a:pPr>
                        <a:lnSpc>
                          <a:spcPct val="100000"/>
                        </a:lnSpc>
                      </a:pPr>
                      <a:r>
                        <a:rPr lang="en-US" sz="2000" b="0" strike="noStrike" spc="-1" dirty="0">
                          <a:solidFill>
                            <a:srgbClr val="000000"/>
                          </a:solidFill>
                          <a:latin typeface="Microsoft JhengHei UI"/>
                          <a:ea typeface="Microsoft JhengHei UI"/>
                        </a:rPr>
                        <a:t>ZH01</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zh-TW" sz="2000" b="0" strike="noStrike" spc="-1" dirty="0">
                          <a:solidFill>
                            <a:srgbClr val="000000"/>
                          </a:solidFill>
                          <a:latin typeface="Microsoft JhengHei UI"/>
                          <a:ea typeface="Microsoft JhengHei UI"/>
                        </a:rPr>
                        <a:t>底半成品</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MM-MA-0010-01</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extLst>
                  <a:ext uri="{0D108BD9-81ED-4DB2-BD59-A6C34878D82A}">
                    <a16:rowId xmlns:a16="http://schemas.microsoft.com/office/drawing/2014/main" xmlns="" val="10004"/>
                  </a:ext>
                </a:extLst>
              </a:tr>
              <a:tr h="460378">
                <a:tc>
                  <a:txBody>
                    <a:bodyPr/>
                    <a:lstStyle/>
                    <a:p>
                      <a:pPr>
                        <a:lnSpc>
                          <a:spcPct val="100000"/>
                        </a:lnSpc>
                      </a:pPr>
                      <a:r>
                        <a:rPr lang="en-US" sz="2000" b="0" strike="noStrike" spc="-1">
                          <a:solidFill>
                            <a:srgbClr val="000000"/>
                          </a:solidFill>
                          <a:latin typeface="Microsoft JhengHei UI"/>
                          <a:ea typeface="Microsoft JhengHei UI"/>
                        </a:rPr>
                        <a:t>ZH02</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dirty="0">
                          <a:solidFill>
                            <a:srgbClr val="000000"/>
                          </a:solidFill>
                          <a:latin typeface="Microsoft JhengHei UI"/>
                          <a:ea typeface="Microsoft JhengHei UI"/>
                        </a:rPr>
                        <a:t>鞋面半成品</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a:solidFill>
                            <a:srgbClr val="000000"/>
                          </a:solidFill>
                          <a:latin typeface="Microsoft JhengHei UI"/>
                          <a:ea typeface="Microsoft JhengHei UI"/>
                        </a:rPr>
                        <a:t>MM-MA-0010-01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05"/>
                  </a:ext>
                </a:extLst>
              </a:tr>
              <a:tr h="460378">
                <a:tc>
                  <a:txBody>
                    <a:bodyPr/>
                    <a:lstStyle/>
                    <a:p>
                      <a:pPr>
                        <a:lnSpc>
                          <a:spcPct val="100000"/>
                        </a:lnSpc>
                      </a:pPr>
                      <a:r>
                        <a:rPr lang="en-US" sz="2000" b="0" strike="noStrike" spc="-1">
                          <a:solidFill>
                            <a:srgbClr val="000000"/>
                          </a:solidFill>
                          <a:latin typeface="Microsoft JhengHei UI"/>
                          <a:ea typeface="Microsoft JhengHei UI"/>
                        </a:rPr>
                        <a:t>ZH03</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組底半成品</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a:solidFill>
                            <a:srgbClr val="000000"/>
                          </a:solidFill>
                          <a:latin typeface="Microsoft JhengHei UI"/>
                          <a:ea typeface="Microsoft JhengHei UI"/>
                        </a:rPr>
                        <a:t>MM-MA-0010-01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06"/>
                  </a:ext>
                </a:extLst>
              </a:tr>
              <a:tr h="460378">
                <a:tc>
                  <a:txBody>
                    <a:bodyPr/>
                    <a:lstStyle/>
                    <a:p>
                      <a:pPr>
                        <a:lnSpc>
                          <a:spcPct val="100000"/>
                        </a:lnSpc>
                      </a:pPr>
                      <a:r>
                        <a:rPr lang="en-US" sz="2000" b="0" strike="noStrike" spc="-1">
                          <a:solidFill>
                            <a:srgbClr val="000000"/>
                          </a:solidFill>
                          <a:latin typeface="Microsoft JhengHei UI"/>
                          <a:ea typeface="Microsoft JhengHei UI"/>
                        </a:rPr>
                        <a:t>ZH04</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配方</a:t>
                      </a:r>
                      <a:r>
                        <a:rPr lang="en-US" sz="2000" b="0" strike="noStrike" spc="-1">
                          <a:solidFill>
                            <a:srgbClr val="000000"/>
                          </a:solidFill>
                          <a:latin typeface="Microsoft JhengHei UI"/>
                          <a:ea typeface="Microsoft JhengHei UI"/>
                        </a:rPr>
                        <a:t>(phantom)</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MM-MA-0010-01</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07"/>
                  </a:ext>
                </a:extLst>
              </a:tr>
              <a:tr h="460378">
                <a:tc>
                  <a:txBody>
                    <a:bodyPr/>
                    <a:lstStyle/>
                    <a:p>
                      <a:pPr>
                        <a:lnSpc>
                          <a:spcPct val="100000"/>
                        </a:lnSpc>
                      </a:pPr>
                      <a:r>
                        <a:rPr lang="en-US" sz="2000" b="0" strike="noStrike" spc="-1">
                          <a:solidFill>
                            <a:srgbClr val="000000"/>
                          </a:solidFill>
                          <a:latin typeface="Microsoft JhengHei UI"/>
                          <a:ea typeface="Microsoft JhengHei UI"/>
                        </a:rPr>
                        <a:t>ZH05</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zh-TW" sz="2000" b="0" strike="noStrike" spc="-1" dirty="0">
                          <a:solidFill>
                            <a:srgbClr val="000000"/>
                          </a:solidFill>
                          <a:latin typeface="Microsoft JhengHei UI"/>
                          <a:ea typeface="Microsoft JhengHei UI"/>
                        </a:rPr>
                        <a:t>造粒</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MM-MA-0010-01</a:t>
                      </a: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8"/>
                  </a:ext>
                </a:extLst>
              </a:tr>
              <a:tr h="460378">
                <a:tc>
                  <a:txBody>
                    <a:bodyPr/>
                    <a:lstStyle/>
                    <a:p>
                      <a:pPr>
                        <a:lnSpc>
                          <a:spcPct val="100000"/>
                        </a:lnSpc>
                      </a:pPr>
                      <a:r>
                        <a:rPr lang="en-US" sz="2000" b="0" strike="noStrike" spc="-1" dirty="0">
                          <a:solidFill>
                            <a:srgbClr val="000000"/>
                          </a:solidFill>
                          <a:latin typeface="Microsoft JhengHei UI"/>
                          <a:ea typeface="Microsoft JhengHei UI"/>
                        </a:rPr>
                        <a:t>ZT01</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zh-TW" sz="2000" b="0" strike="noStrike" spc="-1" dirty="0">
                          <a:solidFill>
                            <a:srgbClr val="000000"/>
                          </a:solidFill>
                          <a:latin typeface="微軟正黑體"/>
                          <a:ea typeface="微軟正黑體"/>
                        </a:rPr>
                        <a:t>製工具</a:t>
                      </a:r>
                      <a:r>
                        <a:rPr lang="en-US" sz="2000" b="0" strike="noStrike" spc="-1" dirty="0">
                          <a:solidFill>
                            <a:srgbClr val="000000"/>
                          </a:solidFill>
                          <a:latin typeface="Microsoft JhengHei UI"/>
                          <a:ea typeface="Microsoft JhengHei UI"/>
                        </a:rPr>
                        <a:t>(</a:t>
                      </a:r>
                      <a:r>
                        <a:rPr lang="zh-TW" sz="2000" b="0" strike="noStrike" spc="-1" dirty="0">
                          <a:solidFill>
                            <a:srgbClr val="000000"/>
                          </a:solidFill>
                          <a:latin typeface="微軟正黑體"/>
                          <a:ea typeface="微軟正黑體"/>
                        </a:rPr>
                        <a:t>楦頭</a:t>
                      </a:r>
                      <a:r>
                        <a:rPr lang="en-US" sz="2000" b="0" strike="noStrike" spc="-1" dirty="0">
                          <a:solidFill>
                            <a:srgbClr val="000000"/>
                          </a:solidFill>
                          <a:latin typeface="Microsoft JhengHei UI"/>
                          <a:ea typeface="Microsoft JhengHei UI"/>
                        </a:rPr>
                        <a:t>)</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9"/>
                  </a:ext>
                </a:extLst>
              </a:tr>
              <a:tr h="460378">
                <a:tc>
                  <a:txBody>
                    <a:bodyPr/>
                    <a:lstStyle/>
                    <a:p>
                      <a:pPr>
                        <a:lnSpc>
                          <a:spcPct val="100000"/>
                        </a:lnSpc>
                      </a:pPr>
                      <a:r>
                        <a:rPr lang="en-US" sz="2000" b="0" strike="noStrike" spc="-1" dirty="0" smtClean="0">
                          <a:solidFill>
                            <a:srgbClr val="000000"/>
                          </a:solidFill>
                          <a:latin typeface="Microsoft JhengHei UI"/>
                          <a:ea typeface="Microsoft JhengHei UI"/>
                        </a:rPr>
                        <a:t>ZT02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cap="flat" cmpd="sng" algn="ctr">
                      <a:solidFill>
                        <a:srgbClr val="000000"/>
                      </a:solidFill>
                      <a:prstDash val="solid"/>
                      <a:round/>
                      <a:headEnd type="none" w="med" len="med"/>
                      <a:tailEnd type="none" w="med" len="me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zh-TW" altLang="en-US" sz="2000" b="0" strike="noStrike" spc="-1" dirty="0" smtClean="0">
                          <a:solidFill>
                            <a:srgbClr val="000000"/>
                          </a:solidFill>
                          <a:latin typeface="微軟正黑體"/>
                          <a:ea typeface="微軟正黑體"/>
                        </a:rPr>
                        <a:t>製工具</a:t>
                      </a:r>
                      <a:r>
                        <a:rPr lang="en-US" altLang="zh-TW" sz="2000" b="0" strike="noStrike" spc="-1" dirty="0" smtClean="0">
                          <a:solidFill>
                            <a:srgbClr val="000000"/>
                          </a:solidFill>
                          <a:latin typeface="微軟正黑體"/>
                          <a:ea typeface="微軟正黑體"/>
                        </a:rPr>
                        <a:t>(</a:t>
                      </a:r>
                      <a:r>
                        <a:rPr lang="zh-TW" altLang="en-US" sz="2000" b="0" strike="noStrike" spc="-1" dirty="0" smtClean="0">
                          <a:solidFill>
                            <a:srgbClr val="000000"/>
                          </a:solidFill>
                          <a:latin typeface="微軟正黑體"/>
                          <a:ea typeface="微軟正黑體"/>
                        </a:rPr>
                        <a:t>模具編碼</a:t>
                      </a:r>
                      <a:r>
                        <a:rPr lang="en-US" altLang="zh-TW" sz="2000" b="0" strike="noStrike" spc="-1" dirty="0" smtClean="0">
                          <a:solidFill>
                            <a:srgbClr val="000000"/>
                          </a:solidFill>
                          <a:latin typeface="微軟正黑體"/>
                          <a:ea typeface="微軟正黑體"/>
                        </a:rPr>
                        <a:t>)</a:t>
                      </a:r>
                      <a:endParaRPr lang="en-US" sz="2000" b="0" strike="noStrike" spc="-1" dirty="0">
                        <a:solidFill>
                          <a:srgbClr val="000000"/>
                        </a:solidFill>
                        <a:latin typeface="Calibri"/>
                      </a:endParaRPr>
                    </a:p>
                  </a:txBody>
                  <a:tcPr marL="8100" marR="8100" marT="68591" marB="68591" anchor="ctr">
                    <a:lnL w="6480" cap="flat" cmpd="sng" algn="ctr">
                      <a:solidFill>
                        <a:srgbClr val="000000"/>
                      </a:solidFill>
                      <a:prstDash val="solid"/>
                      <a:round/>
                      <a:headEnd type="none" w="med" len="med"/>
                      <a:tailEnd type="none" w="med" len="med"/>
                    </a:lnL>
                    <a:lnR w="6480" cap="flat" cmpd="sng" algn="ctr">
                      <a:solidFill>
                        <a:srgbClr val="000000"/>
                      </a:solidFill>
                      <a:prstDash val="solid"/>
                      <a:round/>
                      <a:headEnd type="none" w="med" len="med"/>
                      <a:tailEnd type="none" w="med" len="me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MM-MA-0010-02</a:t>
                      </a:r>
                      <a:endParaRPr lang="en-US" sz="2000" b="0" strike="noStrike" spc="-1" dirty="0">
                        <a:solidFill>
                          <a:srgbClr val="000000"/>
                        </a:solidFill>
                        <a:latin typeface="Calibri"/>
                      </a:endParaRPr>
                    </a:p>
                  </a:txBody>
                  <a:tcPr marL="8100" marR="8100" marT="68591" marB="68591" anchor="ctr">
                    <a:lnL w="6480" cap="flat" cmpd="sng" algn="ctr">
                      <a:solidFill>
                        <a:srgbClr val="000000"/>
                      </a:solidFill>
                      <a:prstDash val="solid"/>
                      <a:round/>
                      <a:headEnd type="none" w="med" len="med"/>
                      <a:tailEnd type="none" w="med" len="me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tr>
              <a:tr h="460378">
                <a:tc>
                  <a:txBody>
                    <a:bodyPr/>
                    <a:lstStyle/>
                    <a:p>
                      <a:pPr>
                        <a:lnSpc>
                          <a:spcPct val="100000"/>
                        </a:lnSpc>
                      </a:pPr>
                      <a:r>
                        <a:rPr lang="en-US" sz="2000" b="0" strike="noStrike" spc="-1" dirty="0">
                          <a:solidFill>
                            <a:srgbClr val="000000"/>
                          </a:solidFill>
                          <a:latin typeface="Microsoft JhengHei UI"/>
                          <a:ea typeface="Microsoft JhengHei UI"/>
                        </a:rPr>
                        <a:t>ZR01</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cap="flat" cmpd="sng" algn="ctr">
                      <a:solidFill>
                        <a:srgbClr val="000000"/>
                      </a:solidFill>
                      <a:prstDash val="solid"/>
                      <a:round/>
                      <a:headEnd type="none" w="med" len="med"/>
                      <a:tailEnd type="none" w="med" len="med"/>
                    </a:lnB>
                    <a:noFill/>
                  </a:tcPr>
                </a:tc>
                <a:tc>
                  <a:txBody>
                    <a:bodyPr/>
                    <a:lstStyle/>
                    <a:p>
                      <a:pPr>
                        <a:lnSpc>
                          <a:spcPct val="100000"/>
                        </a:lnSpc>
                      </a:pPr>
                      <a:r>
                        <a:rPr lang="zh-TW" sz="2000" b="0" strike="noStrike" spc="-1" dirty="0">
                          <a:solidFill>
                            <a:srgbClr val="000000"/>
                          </a:solidFill>
                          <a:latin typeface="Microsoft JhengHei UI"/>
                          <a:ea typeface="Microsoft JhengHei UI"/>
                        </a:rPr>
                        <a:t>原料</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cap="flat" cmpd="sng" algn="ctr">
                      <a:solidFill>
                        <a:srgbClr val="000000"/>
                      </a:solidFill>
                      <a:prstDash val="solid"/>
                      <a:round/>
                      <a:headEnd type="none" w="med" len="med"/>
                      <a:tailEnd type="none" w="med" len="me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MM-MA-0010-01</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10"/>
                  </a:ext>
                </a:extLst>
              </a:tr>
              <a:tr h="460378">
                <a:tc>
                  <a:txBody>
                    <a:bodyPr/>
                    <a:lstStyle/>
                    <a:p>
                      <a:pPr>
                        <a:lnSpc>
                          <a:spcPct val="100000"/>
                        </a:lnSpc>
                      </a:pPr>
                      <a:r>
                        <a:rPr lang="en-US" sz="2000" b="0" strike="noStrike" spc="-1" dirty="0" smtClean="0">
                          <a:solidFill>
                            <a:srgbClr val="000000"/>
                          </a:solidFill>
                          <a:latin typeface="Microsoft JhengHei UI"/>
                          <a:ea typeface="Microsoft JhengHei UI"/>
                        </a:rPr>
                        <a:t>ZR02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cap="flat" cmpd="sng" algn="ctr">
                      <a:solidFill>
                        <a:srgbClr val="000000"/>
                      </a:solidFill>
                      <a:prstDash val="solid"/>
                      <a:round/>
                      <a:headEnd type="none" w="med" len="med"/>
                      <a:tailEnd type="none" w="med" len="me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zh-TW" altLang="en-US" sz="2000" b="0" strike="noStrike" spc="-1" dirty="0" smtClean="0">
                          <a:solidFill>
                            <a:srgbClr val="000000"/>
                          </a:solidFill>
                          <a:latin typeface="Microsoft JhengHei UI"/>
                          <a:ea typeface="Microsoft JhengHei UI"/>
                        </a:rPr>
                        <a:t>包裝材料</a:t>
                      </a:r>
                      <a:endParaRPr lang="en-US" sz="2000" b="0" strike="noStrike" spc="-1" dirty="0">
                        <a:solidFill>
                          <a:srgbClr val="000000"/>
                        </a:solidFill>
                        <a:latin typeface="Calibri"/>
                      </a:endParaRPr>
                    </a:p>
                  </a:txBody>
                  <a:tcPr marL="8100" marR="8100" marT="68591" marB="68591" anchor="ctr">
                    <a:lnL w="6480" cap="flat" cmpd="sng" algn="ctr">
                      <a:solidFill>
                        <a:srgbClr val="000000"/>
                      </a:solidFill>
                      <a:prstDash val="solid"/>
                      <a:round/>
                      <a:headEnd type="none" w="med" len="med"/>
                      <a:tailEnd type="none" w="med" len="med"/>
                    </a:lnL>
                    <a:lnR w="6480" cap="flat" cmpd="sng" algn="ctr">
                      <a:solidFill>
                        <a:srgbClr val="000000"/>
                      </a:solidFill>
                      <a:prstDash val="solid"/>
                      <a:round/>
                      <a:headEnd type="none" w="med" len="med"/>
                      <a:tailEnd type="none" w="med" len="me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MM-MA-0010-01</a:t>
                      </a:r>
                      <a:endParaRPr lang="en-US" sz="2000" b="0" strike="noStrike" spc="-1" dirty="0">
                        <a:solidFill>
                          <a:srgbClr val="000000"/>
                        </a:solidFill>
                        <a:latin typeface="Calibri"/>
                      </a:endParaRPr>
                    </a:p>
                  </a:txBody>
                  <a:tcPr marL="8100" marR="8100" marT="68591" marB="68591" anchor="ctr">
                    <a:lnL w="6480" cap="flat" cmpd="sng" algn="ctr">
                      <a:solidFill>
                        <a:srgbClr val="000000"/>
                      </a:solidFill>
                      <a:prstDash val="solid"/>
                      <a:round/>
                      <a:headEnd type="none" w="med" len="med"/>
                      <a:tailEnd type="none" w="med" len="me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tr>
              <a:tr h="460378">
                <a:tc>
                  <a:txBody>
                    <a:bodyPr/>
                    <a:lstStyle/>
                    <a:p>
                      <a:pPr>
                        <a:lnSpc>
                          <a:spcPct val="100000"/>
                        </a:lnSpc>
                      </a:pPr>
                      <a:r>
                        <a:rPr lang="en-US" sz="2000" b="0" strike="noStrike" spc="-1">
                          <a:solidFill>
                            <a:srgbClr val="000000"/>
                          </a:solidFill>
                          <a:latin typeface="Microsoft JhengHei UI"/>
                          <a:ea typeface="Microsoft JhengHei UI"/>
                        </a:rPr>
                        <a:t>ZEXX</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品牌服務類</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cap="flat" cmpd="sng" algn="ctr">
                      <a:solidFill>
                        <a:srgbClr val="000000"/>
                      </a:solidFill>
                      <a:prstDash val="solid"/>
                      <a:round/>
                      <a:headEnd type="none" w="med" len="med"/>
                      <a:tailEnd type="none" w="med" len="med"/>
                    </a:lnT>
                    <a:lnB w="6480">
                      <a:solidFill>
                        <a:srgbClr val="000000"/>
                      </a:solidFill>
                      <a:prstDash val="solid"/>
                    </a:lnB>
                    <a:noFill/>
                  </a:tcPr>
                </a:tc>
                <a:extLst>
                  <a:ext uri="{0D108BD9-81ED-4DB2-BD59-A6C34878D82A}">
                    <a16:rowId xmlns:a16="http://schemas.microsoft.com/office/drawing/2014/main" xmlns="" val="10011"/>
                  </a:ext>
                </a:extLst>
              </a:tr>
              <a:tr h="460378">
                <a:tc>
                  <a:txBody>
                    <a:bodyPr/>
                    <a:lstStyle/>
                    <a:p>
                      <a:pPr>
                        <a:lnSpc>
                          <a:spcPct val="100000"/>
                        </a:lnSpc>
                      </a:pPr>
                      <a:r>
                        <a:rPr lang="en-US" sz="2000" b="0" strike="noStrike" spc="-1">
                          <a:solidFill>
                            <a:srgbClr val="000000"/>
                          </a:solidFill>
                          <a:latin typeface="Microsoft JhengHei UI"/>
                          <a:ea typeface="Microsoft JhengHei UI"/>
                        </a:rPr>
                        <a:t>ZEXY</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庶務用品</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12"/>
                  </a:ext>
                </a:extLst>
              </a:tr>
              <a:tr h="460378">
                <a:tc>
                  <a:txBody>
                    <a:bodyPr/>
                    <a:lstStyle/>
                    <a:p>
                      <a:pPr>
                        <a:lnSpc>
                          <a:spcPct val="100000"/>
                        </a:lnSpc>
                      </a:pPr>
                      <a:r>
                        <a:rPr lang="en-US" sz="2000" b="0" strike="noStrike" spc="-1">
                          <a:solidFill>
                            <a:srgbClr val="000000"/>
                          </a:solidFill>
                          <a:latin typeface="Microsoft JhengHei UI"/>
                          <a:ea typeface="Microsoft JhengHei UI"/>
                        </a:rPr>
                        <a:t>ZEXZ</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庶務費用類</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13"/>
                  </a:ext>
                </a:extLst>
              </a:tr>
              <a:tr h="460378">
                <a:tc>
                  <a:txBody>
                    <a:bodyPr/>
                    <a:lstStyle/>
                    <a:p>
                      <a:pPr>
                        <a:lnSpc>
                          <a:spcPct val="100000"/>
                        </a:lnSpc>
                      </a:pPr>
                      <a:r>
                        <a:rPr lang="en-US" sz="2000" b="0" strike="noStrike" spc="-1">
                          <a:solidFill>
                            <a:srgbClr val="000000"/>
                          </a:solidFill>
                          <a:latin typeface="Microsoft JhengHei UI"/>
                          <a:ea typeface="Microsoft JhengHei UI"/>
                        </a:rPr>
                        <a:t>ZM01</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zh-TW" sz="2000" b="0" strike="noStrike" spc="-1">
                          <a:solidFill>
                            <a:srgbClr val="000000"/>
                          </a:solidFill>
                          <a:latin typeface="Microsoft JhengHei UI"/>
                          <a:ea typeface="Microsoft JhengHei UI"/>
                        </a:rPr>
                        <a:t>機器設備</a:t>
                      </a:r>
                      <a:endParaRPr lang="en-US" sz="2000" b="0" strike="noStrike" spc="-1">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nSpc>
                          <a:spcPct val="100000"/>
                        </a:lnSpc>
                      </a:pPr>
                      <a:r>
                        <a:rPr lang="en-US" sz="2000" b="0" strike="noStrike" spc="-1" dirty="0">
                          <a:solidFill>
                            <a:srgbClr val="000000"/>
                          </a:solidFill>
                          <a:latin typeface="Microsoft JhengHei UI"/>
                          <a:ea typeface="Microsoft JhengHei UI"/>
                        </a:rPr>
                        <a:t>MM-MA-0010-02</a:t>
                      </a:r>
                      <a:endParaRPr lang="en-US" sz="2000" b="0" strike="noStrike" spc="-1" dirty="0">
                        <a:solidFill>
                          <a:srgbClr val="000000"/>
                        </a:solidFill>
                        <a:latin typeface="Calibri"/>
                      </a:endParaRPr>
                    </a:p>
                  </a:txBody>
                  <a:tcPr marL="8100" marR="8100" marT="68591" marB="68591"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xmlns="" val="10014"/>
                  </a:ext>
                </a:extLst>
              </a:tr>
            </a:tbl>
          </a:graphicData>
        </a:graphic>
      </p:graphicFrame>
      <p:sp>
        <p:nvSpPr>
          <p:cNvPr id="6"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5</a:t>
            </a:r>
            <a:endParaRPr lang="en-US" sz="1600" b="0" strike="noStrike" spc="-1" dirty="0">
              <a:solidFill>
                <a:srgbClr val="000000"/>
              </a:solidFill>
              <a:latin typeface="Calibri"/>
            </a:endParaRPr>
          </a:p>
        </p:txBody>
      </p:sp>
      <p:sp>
        <p:nvSpPr>
          <p:cNvPr id="5" name="文字方塊 3"/>
          <p:cNvSpPr/>
          <p:nvPr/>
        </p:nvSpPr>
        <p:spPr>
          <a:xfrm>
            <a:off x="2351160" y="820387"/>
            <a:ext cx="9578922" cy="505650"/>
          </a:xfrm>
          <a:prstGeom prst="rect">
            <a:avLst/>
          </a:prstGeom>
          <a:noFill/>
          <a:ln w="0">
            <a:noFill/>
          </a:ln>
        </p:spPr>
        <p:style>
          <a:lnRef idx="0">
            <a:scrgbClr r="0" g="0" b="0"/>
          </a:lnRef>
          <a:fillRef idx="0">
            <a:scrgbClr r="0" g="0" b="0"/>
          </a:fillRef>
          <a:effectRef idx="0">
            <a:scrgbClr r="0" g="0" b="0"/>
          </a:effectRef>
          <a:fontRef idx="minor"/>
        </p:style>
        <p:txBody>
          <a:bodyPr wrap="square" lIns="135000" tIns="67500" rIns="135000" bIns="67500" anchor="t">
            <a:spAutoFit/>
          </a:bodyPr>
          <a:lstStyle/>
          <a:p>
            <a:pPr defTabSz="457200">
              <a:lnSpc>
                <a:spcPct val="100000"/>
              </a:lnSpc>
            </a:pPr>
            <a:r>
              <a:rPr lang="en-US" sz="2400" b="1" spc="-1" dirty="0" smtClean="0">
                <a:solidFill>
                  <a:schemeClr val="dk1"/>
                </a:solidFill>
                <a:latin typeface="Microsoft JhengHei"/>
                <a:ea typeface="Microsoft JhengHei"/>
              </a:rPr>
              <a:t>MM-MA-0010</a:t>
            </a:r>
            <a:r>
              <a:rPr lang="zh-TW" altLang="en-US" sz="2400" b="1" spc="-1" dirty="0" smtClean="0">
                <a:solidFill>
                  <a:schemeClr val="dk1"/>
                </a:solidFill>
                <a:latin typeface="Microsoft JhengHei"/>
                <a:ea typeface="Microsoft JhengHei"/>
              </a:rPr>
              <a:t>物料主檔維護流程</a:t>
            </a:r>
            <a:endParaRPr lang="en-US" sz="2400" b="1" spc="-1" dirty="0" smtClean="0">
              <a:solidFill>
                <a:schemeClr val="dk1"/>
              </a:solidFill>
              <a:latin typeface="Microsoft JhengHei"/>
              <a:ea typeface="Microsoft JhengHe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15681</TotalTime>
  <Words>1308</Words>
  <Application>Collabora_Office/23.05.5.4$Linux_X86_64 LibreOffice_project/1681200a96e5ffa1bee996c23ec760042f91abfa</Application>
  <PresentationFormat>自訂</PresentationFormat>
  <Paragraphs>303</Paragraphs>
  <Slides>10</Slides>
  <Notes>1</Notes>
  <HiddenSlides>0</HiddenSlides>
  <MMClips>0</MMClips>
  <ScaleCrop>false</ScaleCrop>
  <HeadingPairs>
    <vt:vector size="4" baseType="variant">
      <vt:variant>
        <vt:lpstr>佈景主題</vt:lpstr>
      </vt:variant>
      <vt:variant>
        <vt:i4>6</vt:i4>
      </vt:variant>
      <vt:variant>
        <vt:lpstr>投影片標題</vt:lpstr>
      </vt:variant>
      <vt:variant>
        <vt:i4>10</vt:i4>
      </vt:variant>
    </vt:vector>
  </HeadingPairs>
  <TitlesOfParts>
    <vt:vector size="16" baseType="lpstr">
      <vt:lpstr>Office 2013 - 2022 Theme</vt: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115</cp:revision>
  <dcterms:created xsi:type="dcterms:W3CDTF">2023-05-31T01:27:04Z</dcterms:created>
  <dcterms:modified xsi:type="dcterms:W3CDTF">2025-07-04T00:34:05Z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