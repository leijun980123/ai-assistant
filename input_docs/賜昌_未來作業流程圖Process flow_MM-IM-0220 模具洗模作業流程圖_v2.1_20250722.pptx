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slideLayouts/slideLayout48.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2"/>
  </p:notesMasterIdLst>
  <p:sldIdLst>
    <p:sldId id="256" r:id="rId6"/>
    <p:sldId id="257" r:id="rId7"/>
    <p:sldId id="258" r:id="rId8"/>
    <p:sldId id="283" r:id="rId9"/>
    <p:sldId id="263" r:id="rId10"/>
    <p:sldId id="264" r:id="rId11"/>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3" autoAdjust="0"/>
    <p:restoredTop sz="94625" autoAdjust="0"/>
  </p:normalViewPr>
  <p:slideViewPr>
    <p:cSldViewPr>
      <p:cViewPr>
        <p:scale>
          <a:sx n="60" d="100"/>
          <a:sy n="60" d="100"/>
        </p:scale>
        <p:origin x="332" y="368"/>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p14="http://schemas.microsoft.com/office/powerpoint/2010/main" xmlns=""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a16="http://schemas.microsoft.com/office/drawing/2014/main" xmlns="" val="20000"/>
                    </a:ext>
                  </a:extLst>
                </a:gridCol>
                <a:gridCol w="13144425">
                  <a:extLst>
                    <a:ext uri="{9D8B030D-6E8A-4147-A177-3AD203B41FA5}">
                      <a16:colId xmlns:a16="http://schemas.microsoft.com/office/drawing/2014/main" xmlns="" val="20001"/>
                    </a:ext>
                  </a:extLst>
                </a:gridCol>
                <a:gridCol w="2647013">
                  <a:extLst>
                    <a:ext uri="{9D8B030D-6E8A-4147-A177-3AD203B41FA5}">
                      <a16:colId xmlns:a16="http://schemas.microsoft.com/office/drawing/2014/main" xmlns=""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3.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heme" Target="../theme/theme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theme" Target="../theme/theme5.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 id="2147484480" r:id="rId13"/>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MM-IM-0220</a:t>
            </a:r>
            <a:endParaRPr lang="en-US" sz="3600" b="0" strike="noStrike" spc="-1" dirty="0">
              <a:solidFill>
                <a:srgbClr val="000000"/>
              </a:solidFill>
              <a:latin typeface="Calibri"/>
            </a:endParaRPr>
          </a:p>
        </p:txBody>
      </p:sp>
      <p:sp>
        <p:nvSpPr>
          <p:cNvPr id="2859" name="矩形 1"/>
          <p:cNvSpPr/>
          <p:nvPr/>
        </p:nvSpPr>
        <p:spPr>
          <a:xfrm>
            <a:off x="843480" y="7179120"/>
            <a:ext cx="6536520" cy="119887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zh-TW" altLang="en-US" sz="3600" spc="-1" dirty="0" smtClean="0">
                <a:solidFill>
                  <a:schemeClr val="dk1"/>
                </a:solidFill>
                <a:latin typeface="Microsoft JhengHei"/>
                <a:ea typeface="Microsoft JhengHei"/>
              </a:rPr>
              <a:t>模具洗模作業流程</a:t>
            </a:r>
            <a:endParaRPr lang="en-US" sz="3600" spc="-1" dirty="0" smtClean="0">
              <a:solidFill>
                <a:srgbClr val="000000"/>
              </a:solidFill>
            </a:endParaRPr>
          </a:p>
          <a:p>
            <a:pPr defTabSz="457200">
              <a:lnSpc>
                <a:spcPct val="100000"/>
              </a:lnSpc>
            </a:pP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a:solidFill>
                            <a:schemeClr val="lt1"/>
                          </a:solidFill>
                          <a:latin typeface="Microsoft JhengHei"/>
                          <a:ea typeface="Microsoft JhengHei"/>
                        </a:rPr>
                        <a:t> To be_Business Process</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a:solidFill>
                            <a:schemeClr val="lt1"/>
                          </a:solidFill>
                          <a:latin typeface="Microsoft JhengHei"/>
                          <a:ea typeface="Microsoft JhengHei"/>
                        </a:rPr>
                        <a:t>創建日期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marL="0" marR="0" indent="0" defTabSz="1371600" eaLnBrk="1" fontAlgn="auto" latinLnBrk="0" hangingPunct="1">
                        <a:lnSpc>
                          <a:spcPct val="166000"/>
                        </a:lnSpc>
                        <a:spcBef>
                          <a:spcPts val="0"/>
                        </a:spcBef>
                        <a:spcAft>
                          <a:spcPts val="0"/>
                        </a:spcAft>
                        <a:buClrTx/>
                        <a:buSzTx/>
                        <a:buFontTx/>
                        <a:buNone/>
                        <a:tabLst>
                          <a:tab pos="0" algn="l"/>
                        </a:tabLst>
                        <a:defRPr/>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288477"/>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en-US" sz="1800" b="0" strike="noStrike" spc="-1" smtClean="0">
                          <a:solidFill>
                            <a:srgbClr val="000000"/>
                          </a:solidFill>
                          <a:latin typeface="Calibri"/>
                        </a:rPr>
                        <a:t>2.1</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r>
                        <a:rPr lang="zh-TW" altLang="en-US" sz="1800" b="0" strike="noStrike" spc="-1" dirty="0" smtClean="0">
                          <a:solidFill>
                            <a:srgbClr val="000000"/>
                          </a:solidFill>
                          <a:latin typeface="Calibri"/>
                        </a:rPr>
                        <a:t>修正洗模完成後，廠內</a:t>
                      </a:r>
                      <a:r>
                        <a:rPr lang="en-US" altLang="zh-TW" sz="1800" b="0" strike="noStrike" spc="-1" dirty="0" smtClean="0">
                          <a:solidFill>
                            <a:srgbClr val="000000"/>
                          </a:solidFill>
                          <a:latin typeface="Calibri"/>
                        </a:rPr>
                        <a:t>/</a:t>
                      </a:r>
                      <a:r>
                        <a:rPr lang="zh-TW" altLang="en-US" sz="1800" b="0" strike="noStrike" spc="-1" dirty="0" smtClean="0">
                          <a:solidFill>
                            <a:srgbClr val="000000"/>
                          </a:solidFill>
                          <a:latin typeface="Calibri"/>
                        </a:rPr>
                        <a:t>送外洗模作不同的異動類型回原倉別</a:t>
                      </a:r>
                      <a:r>
                        <a:rPr lang="en-US" altLang="zh-TW" sz="1800" b="0" strike="noStrike" spc="-1" dirty="0" smtClean="0">
                          <a:solidFill>
                            <a:srgbClr val="000000"/>
                          </a:solidFill>
                          <a:latin typeface="Calibri"/>
                        </a:rPr>
                        <a:t>, </a:t>
                      </a:r>
                      <a:r>
                        <a:rPr lang="zh-TW" altLang="en-US" sz="1800" b="0" strike="noStrike" spc="-1" dirty="0" smtClean="0">
                          <a:solidFill>
                            <a:srgbClr val="000000"/>
                          </a:solidFill>
                          <a:latin typeface="Calibri"/>
                        </a:rPr>
                        <a:t>補回串接費用採購流程</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r>
                        <a:rPr lang="en-US" sz="1800" b="0" strike="noStrike" spc="-1" dirty="0" smtClean="0">
                          <a:solidFill>
                            <a:srgbClr val="000000"/>
                          </a:solidFill>
                          <a:latin typeface="Calibri"/>
                        </a:rPr>
                        <a:t>Vincent Yeh</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smtClean="0">
                          <a:solidFill>
                            <a:srgbClr val="000000"/>
                          </a:solidFill>
                          <a:latin typeface="Calibri"/>
                        </a:rPr>
                        <a:t>2025/07/22</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dirty="0">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82954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en-US" altLang="zh-TW" sz="2400" spc="-1" dirty="0" smtClean="0">
                <a:solidFill>
                  <a:schemeClr val="dk1"/>
                </a:solidFill>
                <a:latin typeface="Microsoft JhengHei"/>
                <a:ea typeface="Microsoft JhengHei"/>
              </a:rPr>
              <a:t>MM-IM-0220</a:t>
            </a:r>
            <a:r>
              <a:rPr lang="zh-TW" altLang="en-US" sz="2400" spc="-1" dirty="0" smtClean="0">
                <a:solidFill>
                  <a:schemeClr val="dk1"/>
                </a:solidFill>
                <a:latin typeface="Microsoft JhengHei"/>
                <a:ea typeface="Microsoft JhengHei"/>
              </a:rPr>
              <a:t>模具洗模作業流程</a:t>
            </a:r>
            <a:endParaRPr lang="en-US" sz="2400" spc="-1" dirty="0" smtClean="0">
              <a:solidFill>
                <a:srgbClr val="000000"/>
              </a:solidFill>
            </a:endParaRPr>
          </a:p>
          <a:p>
            <a:pPr defTabSz="457200">
              <a:lnSpc>
                <a:spcPct val="100000"/>
              </a:lnSpc>
            </a:pPr>
            <a:endParaRPr lang="en-US" sz="2400" b="0" strike="noStrike" spc="-1" dirty="0">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1">
            <a:extLst>
              <a:ext uri="{FF2B5EF4-FFF2-40B4-BE49-F238E27FC236}">
                <a16:creationId xmlns:a16="http://schemas.microsoft.com/office/drawing/2014/main" xmlns="" id="{1FB9514E-6261-C7AC-D58E-6A5F2E6F81FD}"/>
              </a:ext>
            </a:extLst>
          </p:cNvPr>
          <p:cNvSpPr/>
          <p:nvPr/>
        </p:nvSpPr>
        <p:spPr bwMode="auto">
          <a:xfrm>
            <a:off x="413248" y="2366061"/>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cxnSp>
        <p:nvCxnSpPr>
          <p:cNvPr id="6" name="Straight Connector 284">
            <a:extLst>
              <a:ext uri="{FF2B5EF4-FFF2-40B4-BE49-F238E27FC236}">
                <a16:creationId xmlns:a16="http://schemas.microsoft.com/office/drawing/2014/main" xmlns="" id="{9B19B4BF-9599-B835-12D9-B67512228A7B}"/>
              </a:ext>
            </a:extLst>
          </p:cNvPr>
          <p:cNvCxnSpPr>
            <a:cxnSpLocks/>
          </p:cNvCxnSpPr>
          <p:nvPr/>
        </p:nvCxnSpPr>
        <p:spPr>
          <a:xfrm rot="5400000">
            <a:off x="5364812" y="5711906"/>
            <a:ext cx="8712302" cy="109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a16="http://schemas.microsoft.com/office/drawing/2014/main" xmlns="" id="{30381EE2-3320-4812-6081-3A15B03E8B32}"/>
              </a:ext>
            </a:extLst>
          </p:cNvPr>
          <p:cNvSpPr txBox="1"/>
          <p:nvPr/>
        </p:nvSpPr>
        <p:spPr>
          <a:xfrm>
            <a:off x="14394343" y="2013759"/>
            <a:ext cx="3594197" cy="7063472"/>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現場單位</a:t>
            </a:r>
            <a:r>
              <a:rPr lang="zh-TW" altLang="en-US" dirty="0" smtClean="0"/>
              <a:t>提出洗模申請</a:t>
            </a:r>
            <a:r>
              <a:rPr lang="zh-TW" altLang="en-US" dirty="0"/>
              <a:t>的</a:t>
            </a:r>
            <a:r>
              <a:rPr lang="zh-TW" altLang="en-US" dirty="0" smtClean="0"/>
              <a:t>需求提交主管核淮。</a:t>
            </a:r>
            <a:endParaRPr lang="en-US" altLang="zh-TW" dirty="0"/>
          </a:p>
          <a:p>
            <a:pPr marL="342900" indent="-342900">
              <a:buFont typeface="+mj-lt"/>
              <a:buAutoNum type="arabicPeriod"/>
            </a:pPr>
            <a:r>
              <a:rPr lang="zh-TW" altLang="en-US" dirty="0" smtClean="0"/>
              <a:t>洗模課判斷自行洗模或是</a:t>
            </a:r>
            <a:r>
              <a:rPr lang="zh-TW" altLang="en-US" dirty="0"/>
              <a:t>需送外</a:t>
            </a:r>
            <a:r>
              <a:rPr lang="zh-TW" altLang="en-US" dirty="0" smtClean="0"/>
              <a:t>廠商洗模。</a:t>
            </a:r>
            <a:endParaRPr lang="en-US" altLang="zh-TW" dirty="0"/>
          </a:p>
          <a:p>
            <a:pPr marL="342900" indent="-342900">
              <a:buFont typeface="+mj-lt"/>
              <a:buAutoNum type="arabicPeriod"/>
            </a:pPr>
            <a:r>
              <a:rPr lang="zh-TW" altLang="en-US" dirty="0" smtClean="0"/>
              <a:t>廠</a:t>
            </a:r>
            <a:r>
              <a:rPr lang="zh-TW" altLang="en-US" dirty="0"/>
              <a:t>內</a:t>
            </a:r>
            <a:r>
              <a:rPr lang="zh-TW" altLang="en-US" dirty="0" smtClean="0"/>
              <a:t>自行洗模則</a:t>
            </a:r>
            <a:r>
              <a:rPr lang="zh-TW" altLang="en-US" dirty="0"/>
              <a:t>轉入對應</a:t>
            </a:r>
            <a:r>
              <a:rPr lang="zh-TW" altLang="en-US" dirty="0" smtClean="0"/>
              <a:t>的洗模倉。</a:t>
            </a:r>
            <a:endParaRPr lang="en-US" altLang="zh-TW" dirty="0" smtClean="0"/>
          </a:p>
          <a:p>
            <a:pPr marL="342900" indent="-342900">
              <a:buFont typeface="+mj-lt"/>
              <a:buAutoNum type="arabicPeriod"/>
            </a:pPr>
            <a:r>
              <a:rPr lang="zh-TW" altLang="en-US" dirty="0" smtClean="0"/>
              <a:t>洗模完成</a:t>
            </a:r>
            <a:r>
              <a:rPr lang="zh-TW" altLang="en-US" dirty="0"/>
              <a:t>並試機</a:t>
            </a:r>
            <a:r>
              <a:rPr lang="en-US" altLang="zh-TW" dirty="0"/>
              <a:t>OK</a:t>
            </a:r>
            <a:r>
              <a:rPr lang="zh-TW" altLang="en-US" dirty="0"/>
              <a:t>後，則轉回原來的對應</a:t>
            </a:r>
            <a:r>
              <a:rPr lang="zh-TW" altLang="en-US" dirty="0" smtClean="0"/>
              <a:t>的模具</a:t>
            </a:r>
            <a:r>
              <a:rPr lang="zh-TW" altLang="en-US" dirty="0"/>
              <a:t>倉</a:t>
            </a:r>
            <a:r>
              <a:rPr lang="zh-TW" altLang="en-US" dirty="0" smtClean="0"/>
              <a:t>。廠內自行洗模以</a:t>
            </a:r>
            <a:r>
              <a:rPr lang="en-US" altLang="zh-TW" dirty="0" err="1" smtClean="0"/>
              <a:t>Mvt</a:t>
            </a:r>
            <a:r>
              <a:rPr lang="en-US" altLang="zh-TW" dirty="0" smtClean="0"/>
              <a:t>. 311</a:t>
            </a:r>
            <a:r>
              <a:rPr lang="zh-TW" altLang="en-US" dirty="0" smtClean="0"/>
              <a:t>轉入模具倉</a:t>
            </a:r>
            <a:r>
              <a:rPr lang="en-US" altLang="zh-TW" dirty="0" smtClean="0"/>
              <a:t>;</a:t>
            </a:r>
            <a:r>
              <a:rPr lang="zh-TW" altLang="en-US" dirty="0" smtClean="0"/>
              <a:t>廠外洗模以</a:t>
            </a:r>
            <a:r>
              <a:rPr lang="en-US" altLang="zh-TW" dirty="0" err="1" smtClean="0"/>
              <a:t>Mvt</a:t>
            </a:r>
            <a:r>
              <a:rPr lang="en-US" altLang="zh-TW" dirty="0" smtClean="0"/>
              <a:t>. 542</a:t>
            </a:r>
            <a:r>
              <a:rPr lang="zh-TW" altLang="en-US" dirty="0" smtClean="0"/>
              <a:t>轉入模具倉</a:t>
            </a:r>
            <a:r>
              <a:rPr lang="en-US" altLang="zh-TW" dirty="0" smtClean="0"/>
              <a:t>;</a:t>
            </a:r>
            <a:endParaRPr lang="en-US" altLang="zh-TW" dirty="0"/>
          </a:p>
          <a:p>
            <a:pPr marL="342900" indent="-342900">
              <a:buFont typeface="+mj-lt"/>
              <a:buAutoNum type="arabicPeriod"/>
            </a:pPr>
            <a:r>
              <a:rPr lang="zh-TW" altLang="en-US" dirty="0" smtClean="0"/>
              <a:t>送外由廠商洗模則轉入外包倉。</a:t>
            </a:r>
            <a:endParaRPr lang="en-US" altLang="zh-TW" dirty="0" smtClean="0"/>
          </a:p>
          <a:p>
            <a:pPr marL="342900" indent="-342900">
              <a:buFont typeface="+mj-lt"/>
              <a:buAutoNum type="arabicPeriod"/>
            </a:pPr>
            <a:r>
              <a:rPr lang="zh-TW" altLang="en-US" dirty="0" smtClean="0"/>
              <a:t>轉出時，進出口部門處理相關的出口報關作業</a:t>
            </a:r>
            <a:endParaRPr lang="en-US" altLang="zh-TW" dirty="0" smtClean="0"/>
          </a:p>
          <a:p>
            <a:pPr marL="342900" indent="-342900">
              <a:buFont typeface="+mj-lt"/>
              <a:buAutoNum type="arabicPeriod"/>
            </a:pPr>
            <a:r>
              <a:rPr lang="zh-TW" altLang="en-US" dirty="0" smtClean="0"/>
              <a:t>洗模完成後，進出口部門處理相關的進口報關作業</a:t>
            </a:r>
            <a:endParaRPr lang="en-US" altLang="zh-TW" dirty="0" smtClean="0"/>
          </a:p>
          <a:p>
            <a:pPr marL="342900" indent="-342900">
              <a:buFont typeface="+mj-lt"/>
              <a:buAutoNum type="arabicPeriod"/>
            </a:pPr>
            <a:r>
              <a:rPr lang="zh-TW" altLang="en-US" dirty="0" smtClean="0"/>
              <a:t>當送外廠商洗模完畢，則提出費用的申請，則需開立費用性請採購流程。</a:t>
            </a:r>
            <a:endParaRPr lang="en-US" altLang="zh-TW" dirty="0" smtClean="0"/>
          </a:p>
          <a:p>
            <a:pPr marL="342900" indent="-342900">
              <a:buFont typeface="+mj-lt"/>
              <a:buAutoNum type="arabicPeriod"/>
            </a:pPr>
            <a:endParaRPr lang="en-US" altLang="zh-TW" dirty="0" smtClean="0"/>
          </a:p>
          <a:p>
            <a:pPr marL="342900" indent="-342900">
              <a:buFont typeface="+mj-lt"/>
              <a:buAutoNum type="arabicPeriod"/>
            </a:pPr>
            <a:endParaRPr lang="en-US" altLang="zh-TW" dirty="0" smtClean="0"/>
          </a:p>
          <a:p>
            <a:pPr marL="342900" indent="-342900">
              <a:buFont typeface="+mj-lt"/>
              <a:buAutoNum type="arabicPeriod"/>
            </a:pPr>
            <a:endParaRPr lang="en-US" altLang="zh-TW" dirty="0"/>
          </a:p>
          <a:p>
            <a:endParaRPr lang="en-US" altLang="zh-TW" dirty="0"/>
          </a:p>
          <a:p>
            <a:pPr marL="342900" indent="-342900">
              <a:buFont typeface="+mj-lt"/>
              <a:buAutoNum type="arabicPeriod"/>
            </a:pPr>
            <a:endParaRPr lang="en-US" altLang="zh-TW" dirty="0"/>
          </a:p>
          <a:p>
            <a:endParaRPr lang="en-US" altLang="zh-TW" dirty="0"/>
          </a:p>
        </p:txBody>
      </p:sp>
      <p:sp>
        <p:nvSpPr>
          <p:cNvPr id="8" name="文字方塊 17">
            <a:extLst>
              <a:ext uri="{FF2B5EF4-FFF2-40B4-BE49-F238E27FC236}">
                <a16:creationId xmlns:a16="http://schemas.microsoft.com/office/drawing/2014/main" xmlns="" id="{A3961CAE-69E4-A1C1-045A-63D595BA671B}"/>
              </a:ext>
            </a:extLst>
          </p:cNvPr>
          <p:cNvSpPr txBox="1"/>
          <p:nvPr/>
        </p:nvSpPr>
        <p:spPr>
          <a:xfrm>
            <a:off x="6072166" y="1358080"/>
            <a:ext cx="2571768" cy="400110"/>
          </a:xfrm>
          <a:prstGeom prst="rect">
            <a:avLst/>
          </a:prstGeom>
          <a:noFill/>
        </p:spPr>
        <p:txBody>
          <a:bodyPr wrap="square" lIns="137160" tIns="68580" rIns="137160" bIns="68580" rtlCol="0">
            <a:spAutoFit/>
          </a:bodyPr>
          <a:lstStyle/>
          <a:p>
            <a:pPr algn="ctr"/>
            <a:r>
              <a:rPr lang="zh-TW" altLang="en-US" sz="1700" dirty="0" smtClean="0"/>
              <a:t>模具</a:t>
            </a:r>
            <a:r>
              <a:rPr lang="zh-TW" altLang="en-US" sz="1700" dirty="0"/>
              <a:t>課</a:t>
            </a:r>
          </a:p>
        </p:txBody>
      </p:sp>
      <p:cxnSp>
        <p:nvCxnSpPr>
          <p:cNvPr id="11" name="肘形接點 68">
            <a:extLst>
              <a:ext uri="{FF2B5EF4-FFF2-40B4-BE49-F238E27FC236}">
                <a16:creationId xmlns:a16="http://schemas.microsoft.com/office/drawing/2014/main" xmlns="" id="{24024915-9D25-B9A4-2836-72F0277283A4}"/>
              </a:ext>
            </a:extLst>
          </p:cNvPr>
          <p:cNvCxnSpPr>
            <a:cxnSpLocks/>
            <a:stCxn id="2" idx="3"/>
          </p:cNvCxnSpPr>
          <p:nvPr/>
        </p:nvCxnSpPr>
        <p:spPr>
          <a:xfrm>
            <a:off x="2211080" y="2757343"/>
            <a:ext cx="842579" cy="287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8" name="文字方塊 17">
            <a:extLst>
              <a:ext uri="{FF2B5EF4-FFF2-40B4-BE49-F238E27FC236}">
                <a16:creationId xmlns:a16="http://schemas.microsoft.com/office/drawing/2014/main" xmlns="" id="{0F2761B4-5F29-64DD-1721-5831D073894C}"/>
              </a:ext>
            </a:extLst>
          </p:cNvPr>
          <p:cNvSpPr txBox="1"/>
          <p:nvPr/>
        </p:nvSpPr>
        <p:spPr>
          <a:xfrm>
            <a:off x="9923525" y="1388757"/>
            <a:ext cx="1853246" cy="400110"/>
          </a:xfrm>
          <a:prstGeom prst="rect">
            <a:avLst/>
          </a:prstGeom>
          <a:noFill/>
        </p:spPr>
        <p:txBody>
          <a:bodyPr wrap="square" lIns="137160" tIns="68580" rIns="137160" bIns="68580" rtlCol="0">
            <a:spAutoFit/>
          </a:bodyPr>
          <a:lstStyle/>
          <a:p>
            <a:pPr algn="ctr"/>
            <a:r>
              <a:rPr lang="zh-TW" altLang="en-US" sz="1700" dirty="0"/>
              <a:t>進出口</a:t>
            </a:r>
          </a:p>
        </p:txBody>
      </p:sp>
      <p:sp>
        <p:nvSpPr>
          <p:cNvPr id="60" name="文字方塊 59">
            <a:extLst>
              <a:ext uri="{FF2B5EF4-FFF2-40B4-BE49-F238E27FC236}">
                <a16:creationId xmlns:a16="http://schemas.microsoft.com/office/drawing/2014/main" xmlns=""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lang="en-US" altLang="zh-TW" b="1" dirty="0" smtClean="0">
                <a:latin typeface="微軟正黑體" panose="020B0604030504040204" pitchFamily="34" charset="-120"/>
                <a:ea typeface="微軟正黑體" panose="020B0604030504040204" pitchFamily="34" charset="-120"/>
              </a:rPr>
              <a:t>MM-IM-0220 </a:t>
            </a:r>
            <a:r>
              <a:rPr lang="zh-TW" altLang="en-US" b="1" dirty="0" smtClean="0">
                <a:latin typeface="微軟正黑體" panose="020B0604030504040204" pitchFamily="34" charset="-120"/>
                <a:ea typeface="微軟正黑體" panose="020B0604030504040204" pitchFamily="34" charset="-120"/>
              </a:rPr>
              <a:t>模具洗模作業流程</a:t>
            </a:r>
            <a:endParaRPr lang="zh-TW" altLang="en-US" b="1" dirty="0">
              <a:latin typeface="微軟正黑體" panose="020B0604030504040204" pitchFamily="34" charset="-120"/>
              <a:ea typeface="微軟正黑體" panose="020B0604030504040204" pitchFamily="34" charset="-120"/>
            </a:endParaRPr>
          </a:p>
        </p:txBody>
      </p:sp>
      <p:sp>
        <p:nvSpPr>
          <p:cNvPr id="205" name="流程圖: 結束點 204">
            <a:extLst>
              <a:ext uri="{FF2B5EF4-FFF2-40B4-BE49-F238E27FC236}">
                <a16:creationId xmlns:a16="http://schemas.microsoft.com/office/drawing/2014/main" xmlns="" id="{AF6DEB4F-42E0-79A4-1C86-971AEA2097AF}"/>
              </a:ext>
            </a:extLst>
          </p:cNvPr>
          <p:cNvSpPr/>
          <p:nvPr/>
        </p:nvSpPr>
        <p:spPr bwMode="auto">
          <a:xfrm>
            <a:off x="12303966" y="9148076"/>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303" name="肘形接點 68">
            <a:extLst>
              <a:ext uri="{FF2B5EF4-FFF2-40B4-BE49-F238E27FC236}">
                <a16:creationId xmlns:a16="http://schemas.microsoft.com/office/drawing/2014/main" xmlns="" id="{F029D045-29C2-5BDE-06F3-34EEA44F1D55}"/>
              </a:ext>
            </a:extLst>
          </p:cNvPr>
          <p:cNvCxnSpPr>
            <a:cxnSpLocks/>
            <a:stCxn id="39" idx="3"/>
          </p:cNvCxnSpPr>
          <p:nvPr/>
        </p:nvCxnSpPr>
        <p:spPr>
          <a:xfrm>
            <a:off x="8073006" y="4016459"/>
            <a:ext cx="375852" cy="736925"/>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2" name="肘形接點 68">
            <a:extLst>
              <a:ext uri="{FF2B5EF4-FFF2-40B4-BE49-F238E27FC236}">
                <a16:creationId xmlns:a16="http://schemas.microsoft.com/office/drawing/2014/main" xmlns="" id="{455F687E-D5F2-BB6B-9318-21C6E7BF176C}"/>
              </a:ext>
            </a:extLst>
          </p:cNvPr>
          <p:cNvCxnSpPr>
            <a:cxnSpLocks/>
            <a:stCxn id="138" idx="3"/>
            <a:endCxn id="77" idx="1"/>
          </p:cNvCxnSpPr>
          <p:nvPr/>
        </p:nvCxnSpPr>
        <p:spPr>
          <a:xfrm flipV="1">
            <a:off x="9311726" y="5236414"/>
            <a:ext cx="689530" cy="750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3" name="肘形接點 68">
            <a:extLst>
              <a:ext uri="{FF2B5EF4-FFF2-40B4-BE49-F238E27FC236}">
                <a16:creationId xmlns:a16="http://schemas.microsoft.com/office/drawing/2014/main" xmlns="" id="{3ED44D61-8379-D9AF-8A76-04CA85A471FF}"/>
              </a:ext>
            </a:extLst>
          </p:cNvPr>
          <p:cNvCxnSpPr>
            <a:cxnSpLocks/>
          </p:cNvCxnSpPr>
          <p:nvPr/>
        </p:nvCxnSpPr>
        <p:spPr>
          <a:xfrm flipV="1">
            <a:off x="7286612" y="8573318"/>
            <a:ext cx="5203253" cy="188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 name="肘形接點 68">
            <a:extLst>
              <a:ext uri="{FF2B5EF4-FFF2-40B4-BE49-F238E27FC236}">
                <a16:creationId xmlns:a16="http://schemas.microsoft.com/office/drawing/2014/main" xmlns="" id="{6E0750F7-1E48-A837-7251-6A5B0FC5E017}"/>
              </a:ext>
            </a:extLst>
          </p:cNvPr>
          <p:cNvCxnSpPr>
            <a:cxnSpLocks/>
            <a:endCxn id="39" idx="0"/>
          </p:cNvCxnSpPr>
          <p:nvPr/>
        </p:nvCxnSpPr>
        <p:spPr>
          <a:xfrm rot="16200000" flipH="1">
            <a:off x="7066282" y="3364363"/>
            <a:ext cx="441390" cy="72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4" name="TextBox 46">
            <a:extLst>
              <a:ext uri="{FF2B5EF4-FFF2-40B4-BE49-F238E27FC236}">
                <a16:creationId xmlns:a16="http://schemas.microsoft.com/office/drawing/2014/main" xmlns="" id="{0497950F-113F-5E76-1425-A53965741E4E}"/>
              </a:ext>
            </a:extLst>
          </p:cNvPr>
          <p:cNvSpPr txBox="1"/>
          <p:nvPr/>
        </p:nvSpPr>
        <p:spPr>
          <a:xfrm>
            <a:off x="6899655" y="3652926"/>
            <a:ext cx="404262" cy="369389"/>
          </a:xfrm>
          <a:prstGeom prst="rect">
            <a:avLst/>
          </a:prstGeom>
          <a:noFill/>
        </p:spPr>
        <p:txBody>
          <a:bodyPr wrap="square" lIns="137160" tIns="68580" rIns="137160" bIns="68580" rtlCol="0">
            <a:spAutoFit/>
          </a:bodyPr>
          <a:lstStyle/>
          <a:p>
            <a:r>
              <a:rPr lang="zh-TW" altLang="en-US" sz="1500" dirty="0"/>
              <a:t>是</a:t>
            </a:r>
          </a:p>
        </p:txBody>
      </p:sp>
      <p:sp>
        <p:nvSpPr>
          <p:cNvPr id="39" name="流程圖: 決策 50">
            <a:extLst>
              <a:ext uri="{FF2B5EF4-FFF2-40B4-BE49-F238E27FC236}">
                <a16:creationId xmlns:a16="http://schemas.microsoft.com/office/drawing/2014/main" xmlns="" id="{AD12E8BF-FC22-85CD-B930-1ECBB327F5D1}"/>
              </a:ext>
            </a:extLst>
          </p:cNvPr>
          <p:cNvSpPr/>
          <p:nvPr/>
        </p:nvSpPr>
        <p:spPr bwMode="auto">
          <a:xfrm>
            <a:off x="6501675" y="3585422"/>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需送</a:t>
            </a:r>
            <a:r>
              <a:rPr lang="zh-TW" altLang="en-US" sz="1500" dirty="0" smtClean="0">
                <a:latin typeface="微軟正黑體" panose="020B0604030504040204" pitchFamily="34" charset="-120"/>
                <a:ea typeface="微軟正黑體" panose="020B0604030504040204" pitchFamily="34" charset="-120"/>
              </a:rPr>
              <a:t>外洗模</a:t>
            </a:r>
            <a:endParaRPr lang="en-US" altLang="zh-TW" sz="1500" dirty="0">
              <a:latin typeface="微軟正黑體" panose="020B0604030504040204" pitchFamily="34" charset="-120"/>
              <a:ea typeface="微軟正黑體" panose="020B0604030504040204" pitchFamily="34" charset="-120"/>
            </a:endParaRPr>
          </a:p>
        </p:txBody>
      </p:sp>
      <p:cxnSp>
        <p:nvCxnSpPr>
          <p:cNvPr id="59" name="肘形接點 68">
            <a:extLst>
              <a:ext uri="{FF2B5EF4-FFF2-40B4-BE49-F238E27FC236}">
                <a16:creationId xmlns:a16="http://schemas.microsoft.com/office/drawing/2014/main" xmlns="" id="{D909E32C-7A4E-ABCD-D165-1B2DE57A9E70}"/>
              </a:ext>
            </a:extLst>
          </p:cNvPr>
          <p:cNvCxnSpPr>
            <a:cxnSpLocks/>
            <a:stCxn id="39" idx="1"/>
            <a:endCxn id="146" idx="0"/>
          </p:cNvCxnSpPr>
          <p:nvPr/>
        </p:nvCxnSpPr>
        <p:spPr>
          <a:xfrm rot="10800000" flipV="1">
            <a:off x="6263187" y="4016458"/>
            <a:ext cx="238489" cy="646429"/>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21" name="TextBox 46">
            <a:extLst>
              <a:ext uri="{FF2B5EF4-FFF2-40B4-BE49-F238E27FC236}">
                <a16:creationId xmlns:a16="http://schemas.microsoft.com/office/drawing/2014/main" xmlns="" id="{D430A5A5-5974-986C-8204-140655B1C2AA}"/>
              </a:ext>
            </a:extLst>
          </p:cNvPr>
          <p:cNvSpPr txBox="1"/>
          <p:nvPr/>
        </p:nvSpPr>
        <p:spPr>
          <a:xfrm>
            <a:off x="6107379" y="3540496"/>
            <a:ext cx="404262" cy="369389"/>
          </a:xfrm>
          <a:prstGeom prst="rect">
            <a:avLst/>
          </a:prstGeom>
          <a:noFill/>
        </p:spPr>
        <p:txBody>
          <a:bodyPr wrap="square" lIns="137160" tIns="68580" rIns="137160" bIns="68580" rtlCol="0">
            <a:spAutoFit/>
          </a:bodyPr>
          <a:lstStyle/>
          <a:p>
            <a:r>
              <a:rPr lang="zh-TW" altLang="en-US" sz="1500" dirty="0"/>
              <a:t>否</a:t>
            </a:r>
          </a:p>
        </p:txBody>
      </p:sp>
      <p:cxnSp>
        <p:nvCxnSpPr>
          <p:cNvPr id="277" name="肘形接點 68">
            <a:extLst>
              <a:ext uri="{FF2B5EF4-FFF2-40B4-BE49-F238E27FC236}">
                <a16:creationId xmlns:a16="http://schemas.microsoft.com/office/drawing/2014/main" xmlns="" id="{0F6BF377-5C8C-39A3-4054-7BF726C5E643}"/>
              </a:ext>
            </a:extLst>
          </p:cNvPr>
          <p:cNvCxnSpPr>
            <a:cxnSpLocks/>
          </p:cNvCxnSpPr>
          <p:nvPr/>
        </p:nvCxnSpPr>
        <p:spPr>
          <a:xfrm rot="5400000">
            <a:off x="5850367" y="6271493"/>
            <a:ext cx="848932" cy="2329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89" name="肘形接點 68">
            <a:extLst>
              <a:ext uri="{FF2B5EF4-FFF2-40B4-BE49-F238E27FC236}">
                <a16:creationId xmlns:a16="http://schemas.microsoft.com/office/drawing/2014/main" xmlns="" id="{15EED2C1-0745-C338-1DDA-D085D6F71C00}"/>
              </a:ext>
            </a:extLst>
          </p:cNvPr>
          <p:cNvCxnSpPr>
            <a:cxnSpLocks/>
            <a:endCxn id="159" idx="0"/>
          </p:cNvCxnSpPr>
          <p:nvPr/>
        </p:nvCxnSpPr>
        <p:spPr>
          <a:xfrm rot="16200000" flipH="1">
            <a:off x="5698641" y="8303901"/>
            <a:ext cx="1211636" cy="3595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34" name="Straight Connector 284">
            <a:extLst>
              <a:ext uri="{FF2B5EF4-FFF2-40B4-BE49-F238E27FC236}">
                <a16:creationId xmlns:a16="http://schemas.microsoft.com/office/drawing/2014/main" xmlns="" id="{66EEDD7F-2E52-CD98-24FC-881810678C1A}"/>
              </a:ext>
            </a:extLst>
          </p:cNvPr>
          <p:cNvCxnSpPr>
            <a:cxnSpLocks/>
          </p:cNvCxnSpPr>
          <p:nvPr/>
        </p:nvCxnSpPr>
        <p:spPr>
          <a:xfrm>
            <a:off x="5143472" y="1361214"/>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文字方塊 17">
            <a:extLst>
              <a:ext uri="{FF2B5EF4-FFF2-40B4-BE49-F238E27FC236}">
                <a16:creationId xmlns:a16="http://schemas.microsoft.com/office/drawing/2014/main" xmlns="" id="{DBA98B6C-6F2F-6D2E-EEB6-BCF7085C5BCA}"/>
              </a:ext>
            </a:extLst>
          </p:cNvPr>
          <p:cNvSpPr txBox="1"/>
          <p:nvPr/>
        </p:nvSpPr>
        <p:spPr>
          <a:xfrm>
            <a:off x="2924822" y="1388757"/>
            <a:ext cx="1853246" cy="400110"/>
          </a:xfrm>
          <a:prstGeom prst="rect">
            <a:avLst/>
          </a:prstGeom>
          <a:noFill/>
        </p:spPr>
        <p:txBody>
          <a:bodyPr wrap="square" lIns="137160" tIns="68580" rIns="137160" bIns="68580" rtlCol="0">
            <a:spAutoFit/>
          </a:bodyPr>
          <a:lstStyle/>
          <a:p>
            <a:pPr algn="ctr"/>
            <a:r>
              <a:rPr lang="zh-TW" altLang="en-US" sz="1700" dirty="0"/>
              <a:t>現場單位</a:t>
            </a:r>
          </a:p>
        </p:txBody>
      </p:sp>
      <p:sp>
        <p:nvSpPr>
          <p:cNvPr id="339" name="流程圖: 決策 50">
            <a:extLst>
              <a:ext uri="{FF2B5EF4-FFF2-40B4-BE49-F238E27FC236}">
                <a16:creationId xmlns:a16="http://schemas.microsoft.com/office/drawing/2014/main" xmlns="" id="{9E250B2A-5E13-2A28-48A5-8756314D2121}"/>
              </a:ext>
            </a:extLst>
          </p:cNvPr>
          <p:cNvSpPr/>
          <p:nvPr/>
        </p:nvSpPr>
        <p:spPr bwMode="auto">
          <a:xfrm>
            <a:off x="3000637" y="4001286"/>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主管核准</a:t>
            </a:r>
            <a:endParaRPr lang="en-US" altLang="zh-TW" sz="1500" dirty="0">
              <a:latin typeface="微軟正黑體" panose="020B0604030504040204" pitchFamily="34" charset="-120"/>
              <a:ea typeface="微軟正黑體" panose="020B0604030504040204" pitchFamily="34" charset="-120"/>
            </a:endParaRPr>
          </a:p>
        </p:txBody>
      </p:sp>
      <p:sp>
        <p:nvSpPr>
          <p:cNvPr id="14" name="流程圖: 文件 42">
            <a:extLst>
              <a:ext uri="{FF2B5EF4-FFF2-40B4-BE49-F238E27FC236}">
                <a16:creationId xmlns:a16="http://schemas.microsoft.com/office/drawing/2014/main" xmlns="" id="{AD8F574D-DD78-EB00-0EE1-D8329CF831D8}"/>
              </a:ext>
            </a:extLst>
          </p:cNvPr>
          <p:cNvSpPr/>
          <p:nvPr/>
        </p:nvSpPr>
        <p:spPr bwMode="auto">
          <a:xfrm>
            <a:off x="3929026" y="3072592"/>
            <a:ext cx="1428760" cy="642942"/>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endParaRPr lang="en-US" altLang="zh-CN" sz="1500" dirty="0">
              <a:solidFill>
                <a:prstClr val="black"/>
              </a:solidFill>
              <a:ea typeface="微軟正黑體"/>
            </a:endParaRPr>
          </a:p>
          <a:p>
            <a:pPr algn="ctr" fontAlgn="ctr"/>
            <a:r>
              <a:rPr lang="zh-TW" altLang="en-US" sz="1500" dirty="0" smtClean="0">
                <a:latin typeface="微軟正黑體" panose="020B0604030504040204" pitchFamily="34" charset="-120"/>
                <a:ea typeface="微軟正黑體" panose="020B0604030504040204" pitchFamily="34" charset="-120"/>
              </a:rPr>
              <a:t>洗模申請</a:t>
            </a:r>
            <a:r>
              <a:rPr lang="zh-TW" altLang="en-US" sz="1500" dirty="0">
                <a:latin typeface="微軟正黑體" panose="020B0604030504040204" pitchFamily="34" charset="-120"/>
                <a:ea typeface="微軟正黑體" panose="020B0604030504040204" pitchFamily="34" charset="-120"/>
              </a:rPr>
              <a:t>單</a:t>
            </a:r>
          </a:p>
        </p:txBody>
      </p:sp>
      <p:cxnSp>
        <p:nvCxnSpPr>
          <p:cNvPr id="342" name="肘形接點 68">
            <a:extLst>
              <a:ext uri="{FF2B5EF4-FFF2-40B4-BE49-F238E27FC236}">
                <a16:creationId xmlns:a16="http://schemas.microsoft.com/office/drawing/2014/main" xmlns="" id="{F1D244DD-4113-248D-1BCD-A3A474B0CD20}"/>
              </a:ext>
            </a:extLst>
          </p:cNvPr>
          <p:cNvCxnSpPr>
            <a:cxnSpLocks/>
            <a:endCxn id="339" idx="0"/>
          </p:cNvCxnSpPr>
          <p:nvPr/>
        </p:nvCxnSpPr>
        <p:spPr>
          <a:xfrm rot="16200000" flipH="1">
            <a:off x="3077045" y="3292027"/>
            <a:ext cx="1418363" cy="15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57" name="TextBox 46">
            <a:extLst>
              <a:ext uri="{FF2B5EF4-FFF2-40B4-BE49-F238E27FC236}">
                <a16:creationId xmlns:a16="http://schemas.microsoft.com/office/drawing/2014/main" xmlns="" id="{F7233931-3D31-2B59-5C27-A63E18699916}"/>
              </a:ext>
            </a:extLst>
          </p:cNvPr>
          <p:cNvSpPr txBox="1"/>
          <p:nvPr/>
        </p:nvSpPr>
        <p:spPr>
          <a:xfrm>
            <a:off x="8169690" y="3557775"/>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371" name="肘形接點 68">
            <a:extLst>
              <a:ext uri="{FF2B5EF4-FFF2-40B4-BE49-F238E27FC236}">
                <a16:creationId xmlns:a16="http://schemas.microsoft.com/office/drawing/2014/main" xmlns="" id="{D29F9AF6-227E-D830-7D1F-786636FD3525}"/>
              </a:ext>
            </a:extLst>
          </p:cNvPr>
          <p:cNvCxnSpPr>
            <a:cxnSpLocks/>
            <a:stCxn id="339" idx="3"/>
            <a:endCxn id="286" idx="1"/>
          </p:cNvCxnSpPr>
          <p:nvPr/>
        </p:nvCxnSpPr>
        <p:spPr>
          <a:xfrm flipV="1">
            <a:off x="4571968" y="2529277"/>
            <a:ext cx="1729792" cy="190304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75" name="TextBox 46">
            <a:extLst>
              <a:ext uri="{FF2B5EF4-FFF2-40B4-BE49-F238E27FC236}">
                <a16:creationId xmlns:a16="http://schemas.microsoft.com/office/drawing/2014/main" xmlns="" id="{DBE8ADAF-E233-6FDE-2675-D6EDA5F339AB}"/>
              </a:ext>
            </a:extLst>
          </p:cNvPr>
          <p:cNvSpPr txBox="1"/>
          <p:nvPr/>
        </p:nvSpPr>
        <p:spPr>
          <a:xfrm>
            <a:off x="4643406" y="4001286"/>
            <a:ext cx="580224" cy="369389"/>
          </a:xfrm>
          <a:prstGeom prst="rect">
            <a:avLst/>
          </a:prstGeom>
          <a:noFill/>
        </p:spPr>
        <p:txBody>
          <a:bodyPr wrap="square" lIns="137160" tIns="68580" rIns="137160" bIns="68580" rtlCol="0">
            <a:spAutoFit/>
          </a:bodyPr>
          <a:lstStyle/>
          <a:p>
            <a:r>
              <a:rPr lang="en-US" altLang="zh-TW" sz="1500" dirty="0"/>
              <a:t>OK</a:t>
            </a:r>
            <a:endParaRPr lang="zh-TW" altLang="en-US" sz="1500" dirty="0"/>
          </a:p>
        </p:txBody>
      </p:sp>
      <p:sp>
        <p:nvSpPr>
          <p:cNvPr id="376" name="TextBox 46">
            <a:extLst>
              <a:ext uri="{FF2B5EF4-FFF2-40B4-BE49-F238E27FC236}">
                <a16:creationId xmlns:a16="http://schemas.microsoft.com/office/drawing/2014/main" xmlns="" id="{BAD64917-1FD6-E693-D172-7788C726EBF9}"/>
              </a:ext>
            </a:extLst>
          </p:cNvPr>
          <p:cNvSpPr txBox="1"/>
          <p:nvPr/>
        </p:nvSpPr>
        <p:spPr>
          <a:xfrm>
            <a:off x="3857588" y="4929980"/>
            <a:ext cx="580224" cy="369389"/>
          </a:xfrm>
          <a:prstGeom prst="rect">
            <a:avLst/>
          </a:prstGeom>
          <a:noFill/>
        </p:spPr>
        <p:txBody>
          <a:bodyPr wrap="square" lIns="137160" tIns="68580" rIns="137160" bIns="68580" rtlCol="0">
            <a:spAutoFit/>
          </a:bodyPr>
          <a:lstStyle/>
          <a:p>
            <a:r>
              <a:rPr lang="en-US" altLang="zh-TW" sz="1500" dirty="0"/>
              <a:t>NG</a:t>
            </a:r>
            <a:endParaRPr lang="zh-TW" altLang="en-US" sz="1500" dirty="0"/>
          </a:p>
        </p:txBody>
      </p:sp>
      <p:cxnSp>
        <p:nvCxnSpPr>
          <p:cNvPr id="377" name="肘形接點 68">
            <a:extLst>
              <a:ext uri="{FF2B5EF4-FFF2-40B4-BE49-F238E27FC236}">
                <a16:creationId xmlns:a16="http://schemas.microsoft.com/office/drawing/2014/main" xmlns="" id="{3F896760-A149-67C2-E948-7AE3D3397D97}"/>
              </a:ext>
            </a:extLst>
          </p:cNvPr>
          <p:cNvCxnSpPr>
            <a:cxnSpLocks/>
            <a:stCxn id="339" idx="2"/>
            <a:endCxn id="205" idx="2"/>
          </p:cNvCxnSpPr>
          <p:nvPr/>
        </p:nvCxnSpPr>
        <p:spPr>
          <a:xfrm rot="16200000" flipH="1">
            <a:off x="5960952" y="2688710"/>
            <a:ext cx="5067280" cy="9416579"/>
          </a:xfrm>
          <a:prstGeom prst="bentConnector3">
            <a:avLst>
              <a:gd name="adj1" fmla="val 10451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3" name="Google Shape;38;p9">
            <a:extLst>
              <a:ext uri="{FF2B5EF4-FFF2-40B4-BE49-F238E27FC236}">
                <a16:creationId xmlns:a16="http://schemas.microsoft.com/office/drawing/2014/main" xmlns="" id="{424A9B21-226E-4E89-EEBE-161D8D8BED1D}"/>
              </a:ext>
            </a:extLst>
          </p:cNvPr>
          <p:cNvSpPr txBox="1"/>
          <p:nvPr/>
        </p:nvSpPr>
        <p:spPr>
          <a:xfrm>
            <a:off x="15501982" y="286510"/>
            <a:ext cx="648072" cy="547772"/>
          </a:xfrm>
          <a:prstGeom prst="rect">
            <a:avLst/>
          </a:prstGeom>
          <a:noFill/>
          <a:ln>
            <a:noFill/>
          </a:ln>
        </p:spPr>
        <p:txBody>
          <a:bodyPr spcFirstLastPara="1" wrap="square" lIns="137138" tIns="68550" rIns="137138" bIns="68550" anchor="ctr" anchorCtr="0">
            <a:noAutofit/>
          </a:bodyPr>
          <a:lstStyle/>
          <a:p>
            <a:pPr algn="r"/>
            <a:r>
              <a:rPr lang="en-US" sz="1500" dirty="0">
                <a:solidFill>
                  <a:srgbClr val="888888"/>
                </a:solidFill>
                <a:latin typeface="Arial"/>
                <a:ea typeface="Arial"/>
                <a:cs typeface="Arial"/>
                <a:sym typeface="Arial"/>
              </a:rPr>
              <a:t>1</a:t>
            </a:r>
            <a:endParaRPr sz="1500" dirty="0">
              <a:solidFill>
                <a:srgbClr val="888888"/>
              </a:solidFill>
              <a:latin typeface="Arial"/>
              <a:ea typeface="Arial"/>
              <a:cs typeface="Arial"/>
              <a:sym typeface="Arial"/>
            </a:endParaRPr>
          </a:p>
        </p:txBody>
      </p:sp>
      <p:cxnSp>
        <p:nvCxnSpPr>
          <p:cNvPr id="81" name="肘形接點 68">
            <a:extLst>
              <a:ext uri="{FF2B5EF4-FFF2-40B4-BE49-F238E27FC236}">
                <a16:creationId xmlns:a16="http://schemas.microsoft.com/office/drawing/2014/main" xmlns="" id="{3F896760-A149-67C2-E948-7AE3D3397D97}"/>
              </a:ext>
            </a:extLst>
          </p:cNvPr>
          <p:cNvCxnSpPr>
            <a:cxnSpLocks/>
            <a:stCxn id="160" idx="3"/>
            <a:endCxn id="205" idx="1"/>
          </p:cNvCxnSpPr>
          <p:nvPr/>
        </p:nvCxnSpPr>
        <p:spPr>
          <a:xfrm>
            <a:off x="7227838" y="9534921"/>
            <a:ext cx="5076128" cy="443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6" name="TextBox 46">
            <a:extLst>
              <a:ext uri="{FF2B5EF4-FFF2-40B4-BE49-F238E27FC236}">
                <a16:creationId xmlns:a16="http://schemas.microsoft.com/office/drawing/2014/main" xmlns="" id="{0497950F-113F-5E76-1425-A53965741E4E}"/>
              </a:ext>
            </a:extLst>
          </p:cNvPr>
          <p:cNvSpPr txBox="1"/>
          <p:nvPr/>
        </p:nvSpPr>
        <p:spPr>
          <a:xfrm>
            <a:off x="10441768" y="4872881"/>
            <a:ext cx="404262" cy="369389"/>
          </a:xfrm>
          <a:prstGeom prst="rect">
            <a:avLst/>
          </a:prstGeom>
          <a:noFill/>
        </p:spPr>
        <p:txBody>
          <a:bodyPr wrap="square" lIns="137160" tIns="68580" rIns="137160" bIns="68580" rtlCol="0">
            <a:spAutoFit/>
          </a:bodyPr>
          <a:lstStyle/>
          <a:p>
            <a:r>
              <a:rPr lang="zh-TW" altLang="en-US" sz="1500" dirty="0"/>
              <a:t>是</a:t>
            </a:r>
          </a:p>
        </p:txBody>
      </p:sp>
      <p:sp>
        <p:nvSpPr>
          <p:cNvPr id="77" name="流程圖: 決策 50">
            <a:extLst>
              <a:ext uri="{FF2B5EF4-FFF2-40B4-BE49-F238E27FC236}">
                <a16:creationId xmlns:a16="http://schemas.microsoft.com/office/drawing/2014/main" xmlns="" id="{AD12E8BF-FC22-85CD-B930-1ECBB327F5D1}"/>
              </a:ext>
            </a:extLst>
          </p:cNvPr>
          <p:cNvSpPr/>
          <p:nvPr/>
        </p:nvSpPr>
        <p:spPr bwMode="auto">
          <a:xfrm>
            <a:off x="10001256" y="4805377"/>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是否需要報關</a:t>
            </a:r>
            <a:endParaRPr lang="en-US" altLang="zh-TW" sz="1500" dirty="0">
              <a:latin typeface="微軟正黑體" panose="020B0604030504040204" pitchFamily="34" charset="-120"/>
              <a:ea typeface="微軟正黑體" panose="020B0604030504040204" pitchFamily="34" charset="-120"/>
            </a:endParaRPr>
          </a:p>
        </p:txBody>
      </p:sp>
      <p:sp>
        <p:nvSpPr>
          <p:cNvPr id="78" name="TextBox 46">
            <a:extLst>
              <a:ext uri="{FF2B5EF4-FFF2-40B4-BE49-F238E27FC236}">
                <a16:creationId xmlns:a16="http://schemas.microsoft.com/office/drawing/2014/main" xmlns="" id="{D430A5A5-5974-986C-8204-140655B1C2AA}"/>
              </a:ext>
            </a:extLst>
          </p:cNvPr>
          <p:cNvSpPr txBox="1"/>
          <p:nvPr/>
        </p:nvSpPr>
        <p:spPr>
          <a:xfrm>
            <a:off x="11501454" y="4733939"/>
            <a:ext cx="404262" cy="369389"/>
          </a:xfrm>
          <a:prstGeom prst="rect">
            <a:avLst/>
          </a:prstGeom>
          <a:noFill/>
        </p:spPr>
        <p:txBody>
          <a:bodyPr wrap="square" lIns="137160" tIns="68580" rIns="137160" bIns="68580" rtlCol="0">
            <a:spAutoFit/>
          </a:bodyPr>
          <a:lstStyle/>
          <a:p>
            <a:r>
              <a:rPr lang="zh-TW" altLang="en-US" sz="1500" dirty="0"/>
              <a:t>否</a:t>
            </a:r>
          </a:p>
        </p:txBody>
      </p:sp>
      <p:sp>
        <p:nvSpPr>
          <p:cNvPr id="79" name="TextBox 46">
            <a:extLst>
              <a:ext uri="{FF2B5EF4-FFF2-40B4-BE49-F238E27FC236}">
                <a16:creationId xmlns:a16="http://schemas.microsoft.com/office/drawing/2014/main" xmlns="" id="{F7233931-3D31-2B59-5C27-A63E18699916}"/>
              </a:ext>
            </a:extLst>
          </p:cNvPr>
          <p:cNvSpPr txBox="1"/>
          <p:nvPr/>
        </p:nvSpPr>
        <p:spPr>
          <a:xfrm>
            <a:off x="10929950" y="4305311"/>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82" name="肘形接點 68">
            <a:extLst>
              <a:ext uri="{FF2B5EF4-FFF2-40B4-BE49-F238E27FC236}">
                <a16:creationId xmlns:a16="http://schemas.microsoft.com/office/drawing/2014/main" xmlns="" id="{455F687E-D5F2-BB6B-9318-21C6E7BF176C}"/>
              </a:ext>
            </a:extLst>
          </p:cNvPr>
          <p:cNvCxnSpPr>
            <a:cxnSpLocks/>
            <a:stCxn id="77" idx="0"/>
          </p:cNvCxnSpPr>
          <p:nvPr/>
        </p:nvCxnSpPr>
        <p:spPr>
          <a:xfrm rot="5400000" flipH="1" flipV="1">
            <a:off x="10394089" y="4412392"/>
            <a:ext cx="785818" cy="15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88" name="TextBox 46">
            <a:extLst>
              <a:ext uri="{FF2B5EF4-FFF2-40B4-BE49-F238E27FC236}">
                <a16:creationId xmlns:a16="http://schemas.microsoft.com/office/drawing/2014/main" xmlns="" id="{0497950F-113F-5E76-1425-A53965741E4E}"/>
              </a:ext>
            </a:extLst>
          </p:cNvPr>
          <p:cNvSpPr txBox="1"/>
          <p:nvPr/>
        </p:nvSpPr>
        <p:spPr>
          <a:xfrm>
            <a:off x="10441768" y="6942929"/>
            <a:ext cx="404262" cy="369389"/>
          </a:xfrm>
          <a:prstGeom prst="rect">
            <a:avLst/>
          </a:prstGeom>
          <a:noFill/>
        </p:spPr>
        <p:txBody>
          <a:bodyPr wrap="square" lIns="137160" tIns="68580" rIns="137160" bIns="68580" rtlCol="0">
            <a:spAutoFit/>
          </a:bodyPr>
          <a:lstStyle/>
          <a:p>
            <a:r>
              <a:rPr lang="zh-TW" altLang="en-US" sz="1500" dirty="0"/>
              <a:t>是</a:t>
            </a:r>
          </a:p>
        </p:txBody>
      </p:sp>
      <p:sp>
        <p:nvSpPr>
          <p:cNvPr id="89" name="流程圖: 決策 50">
            <a:extLst>
              <a:ext uri="{FF2B5EF4-FFF2-40B4-BE49-F238E27FC236}">
                <a16:creationId xmlns:a16="http://schemas.microsoft.com/office/drawing/2014/main" xmlns="" id="{AD12E8BF-FC22-85CD-B930-1ECBB327F5D1}"/>
              </a:ext>
            </a:extLst>
          </p:cNvPr>
          <p:cNvSpPr/>
          <p:nvPr/>
        </p:nvSpPr>
        <p:spPr bwMode="auto">
          <a:xfrm>
            <a:off x="10133499" y="6843526"/>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是否需要報關</a:t>
            </a:r>
            <a:endParaRPr lang="en-US" altLang="zh-TW" sz="1500" dirty="0">
              <a:latin typeface="微軟正黑體" panose="020B0604030504040204" pitchFamily="34" charset="-120"/>
              <a:ea typeface="微軟正黑體" panose="020B0604030504040204" pitchFamily="34" charset="-120"/>
            </a:endParaRPr>
          </a:p>
        </p:txBody>
      </p:sp>
      <p:sp>
        <p:nvSpPr>
          <p:cNvPr id="90" name="TextBox 46">
            <a:extLst>
              <a:ext uri="{FF2B5EF4-FFF2-40B4-BE49-F238E27FC236}">
                <a16:creationId xmlns:a16="http://schemas.microsoft.com/office/drawing/2014/main" xmlns="" id="{D430A5A5-5974-986C-8204-140655B1C2AA}"/>
              </a:ext>
            </a:extLst>
          </p:cNvPr>
          <p:cNvSpPr txBox="1"/>
          <p:nvPr/>
        </p:nvSpPr>
        <p:spPr>
          <a:xfrm>
            <a:off x="12287272" y="6946863"/>
            <a:ext cx="404262" cy="369389"/>
          </a:xfrm>
          <a:prstGeom prst="rect">
            <a:avLst/>
          </a:prstGeom>
          <a:noFill/>
        </p:spPr>
        <p:txBody>
          <a:bodyPr wrap="square" lIns="137160" tIns="68580" rIns="137160" bIns="68580" rtlCol="0">
            <a:spAutoFit/>
          </a:bodyPr>
          <a:lstStyle/>
          <a:p>
            <a:r>
              <a:rPr lang="zh-TW" altLang="en-US" sz="1500" dirty="0"/>
              <a:t>否</a:t>
            </a:r>
          </a:p>
        </p:txBody>
      </p:sp>
      <p:sp>
        <p:nvSpPr>
          <p:cNvPr id="91" name="TextBox 46">
            <a:extLst>
              <a:ext uri="{FF2B5EF4-FFF2-40B4-BE49-F238E27FC236}">
                <a16:creationId xmlns:a16="http://schemas.microsoft.com/office/drawing/2014/main" xmlns="" id="{F7233931-3D31-2B59-5C27-A63E18699916}"/>
              </a:ext>
            </a:extLst>
          </p:cNvPr>
          <p:cNvSpPr txBox="1"/>
          <p:nvPr/>
        </p:nvSpPr>
        <p:spPr>
          <a:xfrm>
            <a:off x="11072826" y="7589805"/>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106" name="肘形接點 68">
            <a:extLst>
              <a:ext uri="{FF2B5EF4-FFF2-40B4-BE49-F238E27FC236}">
                <a16:creationId xmlns:a16="http://schemas.microsoft.com/office/drawing/2014/main" xmlns="" id="{455F687E-D5F2-BB6B-9318-21C6E7BF176C}"/>
              </a:ext>
            </a:extLst>
          </p:cNvPr>
          <p:cNvCxnSpPr>
            <a:cxnSpLocks/>
            <a:endCxn id="109" idx="2"/>
          </p:cNvCxnSpPr>
          <p:nvPr/>
        </p:nvCxnSpPr>
        <p:spPr>
          <a:xfrm>
            <a:off x="11669180" y="3404806"/>
            <a:ext cx="1332472" cy="1369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09" name="流程圖: 接點 51"/>
          <p:cNvSpPr/>
          <p:nvPr/>
        </p:nvSpPr>
        <p:spPr>
          <a:xfrm>
            <a:off x="13001652" y="3185223"/>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cxnSp>
        <p:nvCxnSpPr>
          <p:cNvPr id="111" name="肘形接點 68">
            <a:extLst>
              <a:ext uri="{FF2B5EF4-FFF2-40B4-BE49-F238E27FC236}">
                <a16:creationId xmlns:a16="http://schemas.microsoft.com/office/drawing/2014/main" xmlns="" id="{455F687E-D5F2-BB6B-9318-21C6E7BF176C}"/>
              </a:ext>
            </a:extLst>
          </p:cNvPr>
          <p:cNvCxnSpPr>
            <a:cxnSpLocks/>
            <a:stCxn id="77" idx="3"/>
            <a:endCxn id="109" idx="2"/>
          </p:cNvCxnSpPr>
          <p:nvPr/>
        </p:nvCxnSpPr>
        <p:spPr>
          <a:xfrm flipV="1">
            <a:off x="11572587" y="3418503"/>
            <a:ext cx="1429065" cy="181791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14" name="流程圖: 接點 51"/>
          <p:cNvSpPr/>
          <p:nvPr/>
        </p:nvSpPr>
        <p:spPr>
          <a:xfrm>
            <a:off x="7979726" y="598627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cxnSp>
        <p:nvCxnSpPr>
          <p:cNvPr id="115" name="肘形接點 68">
            <a:extLst>
              <a:ext uri="{FF2B5EF4-FFF2-40B4-BE49-F238E27FC236}">
                <a16:creationId xmlns:a16="http://schemas.microsoft.com/office/drawing/2014/main" xmlns="" id="{455F687E-D5F2-BB6B-9318-21C6E7BF176C}"/>
              </a:ext>
            </a:extLst>
          </p:cNvPr>
          <p:cNvCxnSpPr>
            <a:cxnSpLocks/>
            <a:stCxn id="114" idx="4"/>
          </p:cNvCxnSpPr>
          <p:nvPr/>
        </p:nvCxnSpPr>
        <p:spPr>
          <a:xfrm rot="16200000" flipH="1">
            <a:off x="8149743" y="6555153"/>
            <a:ext cx="216031" cy="1138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21" name="流程圖: 接點 51"/>
          <p:cNvSpPr/>
          <p:nvPr/>
        </p:nvSpPr>
        <p:spPr>
          <a:xfrm>
            <a:off x="13073090" y="7047207"/>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dirty="0" smtClean="0">
                <a:solidFill>
                  <a:schemeClr val="dk1"/>
                </a:solidFill>
                <a:latin typeface="微軟正黑體"/>
                <a:ea typeface="微軟正黑體"/>
              </a:rPr>
              <a:t>B</a:t>
            </a:r>
            <a:endParaRPr lang="en-US" sz="1800" b="0" strike="noStrike" spc="-1" dirty="0">
              <a:solidFill>
                <a:srgbClr val="000000"/>
              </a:solidFill>
              <a:latin typeface="Calibri"/>
            </a:endParaRPr>
          </a:p>
        </p:txBody>
      </p:sp>
      <p:cxnSp>
        <p:nvCxnSpPr>
          <p:cNvPr id="122" name="肘形接點 68">
            <a:extLst>
              <a:ext uri="{FF2B5EF4-FFF2-40B4-BE49-F238E27FC236}">
                <a16:creationId xmlns:a16="http://schemas.microsoft.com/office/drawing/2014/main" xmlns="" id="{455F687E-D5F2-BB6B-9318-21C6E7BF176C}"/>
              </a:ext>
            </a:extLst>
          </p:cNvPr>
          <p:cNvCxnSpPr>
            <a:cxnSpLocks/>
            <a:stCxn id="89" idx="3"/>
            <a:endCxn id="121" idx="2"/>
          </p:cNvCxnSpPr>
          <p:nvPr/>
        </p:nvCxnSpPr>
        <p:spPr>
          <a:xfrm>
            <a:off x="11704830" y="7274563"/>
            <a:ext cx="1368260" cy="592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23" name="流程圖: 接點 51"/>
          <p:cNvSpPr/>
          <p:nvPr/>
        </p:nvSpPr>
        <p:spPr>
          <a:xfrm>
            <a:off x="4286216" y="9435294"/>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dirty="0" smtClean="0">
                <a:solidFill>
                  <a:schemeClr val="dk1"/>
                </a:solidFill>
                <a:latin typeface="微軟正黑體"/>
                <a:ea typeface="微軟正黑體"/>
              </a:rPr>
              <a:t>B</a:t>
            </a:r>
            <a:endParaRPr lang="en-US" sz="1800" b="0" strike="noStrike" spc="-1" dirty="0">
              <a:solidFill>
                <a:srgbClr val="000000"/>
              </a:solidFill>
              <a:latin typeface="Calibri"/>
            </a:endParaRPr>
          </a:p>
        </p:txBody>
      </p:sp>
      <p:cxnSp>
        <p:nvCxnSpPr>
          <p:cNvPr id="124" name="肘形接點 68">
            <a:extLst>
              <a:ext uri="{FF2B5EF4-FFF2-40B4-BE49-F238E27FC236}">
                <a16:creationId xmlns:a16="http://schemas.microsoft.com/office/drawing/2014/main" xmlns="" id="{15EED2C1-0745-C338-1DDA-D085D6F71C00}"/>
              </a:ext>
            </a:extLst>
          </p:cNvPr>
          <p:cNvCxnSpPr>
            <a:cxnSpLocks/>
            <a:stCxn id="123" idx="6"/>
          </p:cNvCxnSpPr>
          <p:nvPr/>
        </p:nvCxnSpPr>
        <p:spPr>
          <a:xfrm flipV="1">
            <a:off x="4830896" y="9649608"/>
            <a:ext cx="384014" cy="1896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3" name="群組 131"/>
          <p:cNvGrpSpPr/>
          <p:nvPr/>
        </p:nvGrpSpPr>
        <p:grpSpPr>
          <a:xfrm>
            <a:off x="7500926" y="4429914"/>
            <a:ext cx="2162966" cy="1424040"/>
            <a:chOff x="8715372" y="4366006"/>
            <a:chExt cx="2162966" cy="1424040"/>
          </a:xfrm>
        </p:grpSpPr>
        <p:grpSp>
          <p:nvGrpSpPr>
            <p:cNvPr id="4" name="群組 30"/>
            <p:cNvGrpSpPr/>
            <p:nvPr/>
          </p:nvGrpSpPr>
          <p:grpSpPr>
            <a:xfrm>
              <a:off x="8715372" y="4572790"/>
              <a:ext cx="1814856" cy="1217256"/>
              <a:chOff x="15073354" y="8308668"/>
              <a:chExt cx="1814856" cy="1217256"/>
            </a:xfrm>
          </p:grpSpPr>
          <p:sp>
            <p:nvSpPr>
              <p:cNvPr id="137" name="流程圖: 程序 136"/>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138" name="流程圖: 程序 137"/>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轉入外包倉</a:t>
                </a:r>
              </a:p>
              <a:p>
                <a:pPr algn="ctr" eaLnBrk="0" hangingPunct="0"/>
                <a:r>
                  <a:rPr lang="en-US" altLang="zh-TW" sz="1500" dirty="0" smtClean="0">
                    <a:latin typeface="微軟正黑體" panose="020B0604030504040204" pitchFamily="34" charset="-120"/>
                    <a:ea typeface="微軟正黑體" panose="020B0604030504040204" pitchFamily="34" charset="-120"/>
                  </a:rPr>
                  <a:t>(Mvt.541)</a:t>
                </a:r>
                <a:endParaRPr lang="zh-TW" altLang="en-US" sz="1500" dirty="0">
                  <a:latin typeface="微軟正黑體" panose="020B0604030504040204" pitchFamily="34" charset="-120"/>
                  <a:ea typeface="微軟正黑體" panose="020B0604030504040204" pitchFamily="34" charset="-120"/>
                </a:endParaRPr>
              </a:p>
            </p:txBody>
          </p:sp>
          <p:sp>
            <p:nvSpPr>
              <p:cNvPr id="139" name="流程圖: 程序 138"/>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40" name="流程圖: 程序 139"/>
              <p:cNvSpPr/>
              <p:nvPr/>
            </p:nvSpPr>
            <p:spPr>
              <a:xfrm>
                <a:off x="15906728" y="9165924"/>
                <a:ext cx="981482"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5"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135"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6"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9" name="群組 140"/>
          <p:cNvGrpSpPr/>
          <p:nvPr/>
        </p:nvGrpSpPr>
        <p:grpSpPr>
          <a:xfrm>
            <a:off x="5357786" y="4456104"/>
            <a:ext cx="2162966" cy="1424040"/>
            <a:chOff x="8715372" y="4366006"/>
            <a:chExt cx="2162966" cy="1424040"/>
          </a:xfrm>
        </p:grpSpPr>
        <p:grpSp>
          <p:nvGrpSpPr>
            <p:cNvPr id="10" name="群組 30"/>
            <p:cNvGrpSpPr/>
            <p:nvPr/>
          </p:nvGrpSpPr>
          <p:grpSpPr>
            <a:xfrm>
              <a:off x="8715372" y="4572790"/>
              <a:ext cx="1810800" cy="1217256"/>
              <a:chOff x="15073354" y="8308668"/>
              <a:chExt cx="1810800" cy="1217256"/>
            </a:xfrm>
          </p:grpSpPr>
          <p:sp>
            <p:nvSpPr>
              <p:cNvPr id="146" name="流程圖: 程序 145"/>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147" name="流程圖: 程序 146"/>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轉入洗模倉</a:t>
                </a:r>
              </a:p>
              <a:p>
                <a:pPr algn="ctr" eaLnBrk="0" hangingPunct="0"/>
                <a:r>
                  <a:rPr lang="en-US" altLang="zh-TW" sz="1500" dirty="0" smtClean="0">
                    <a:latin typeface="微軟正黑體" panose="020B0604030504040204" pitchFamily="34" charset="-120"/>
                    <a:ea typeface="微軟正黑體" panose="020B0604030504040204" pitchFamily="34" charset="-120"/>
                  </a:rPr>
                  <a:t>(Mvt.311)</a:t>
                </a:r>
                <a:endParaRPr lang="zh-TW" altLang="en-US" sz="1500" dirty="0">
                  <a:latin typeface="微軟正黑體" panose="020B0604030504040204" pitchFamily="34" charset="-120"/>
                  <a:ea typeface="微軟正黑體" panose="020B0604030504040204" pitchFamily="34" charset="-120"/>
                </a:endParaRPr>
              </a:p>
            </p:txBody>
          </p:sp>
          <p:sp>
            <p:nvSpPr>
              <p:cNvPr id="148" name="流程圖: 程序 147"/>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49" name="流程圖: 程序 148"/>
              <p:cNvSpPr/>
              <p:nvPr/>
            </p:nvSpPr>
            <p:spPr>
              <a:xfrm>
                <a:off x="15999001"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2"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144"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5"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13" name="群組 153"/>
          <p:cNvGrpSpPr>
            <a:grpSpLocks noChangeAspect="1"/>
          </p:cNvGrpSpPr>
          <p:nvPr/>
        </p:nvGrpSpPr>
        <p:grpSpPr>
          <a:xfrm>
            <a:off x="5417038" y="8720914"/>
            <a:ext cx="2162966" cy="1424040"/>
            <a:chOff x="8715372" y="4366006"/>
            <a:chExt cx="2162966" cy="1424040"/>
          </a:xfrm>
        </p:grpSpPr>
        <p:grpSp>
          <p:nvGrpSpPr>
            <p:cNvPr id="15" name="群組 30"/>
            <p:cNvGrpSpPr/>
            <p:nvPr/>
          </p:nvGrpSpPr>
          <p:grpSpPr>
            <a:xfrm>
              <a:off x="8715372" y="4572790"/>
              <a:ext cx="1814856" cy="1217256"/>
              <a:chOff x="15073354" y="8308668"/>
              <a:chExt cx="1814856" cy="1217256"/>
            </a:xfrm>
          </p:grpSpPr>
          <p:sp>
            <p:nvSpPr>
              <p:cNvPr id="159" name="流程圖: 程序 158"/>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160" name="流程圖: 程序 159"/>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轉回模具倉</a:t>
                </a:r>
              </a:p>
              <a:p>
                <a:pPr algn="ctr" eaLnBrk="0" hangingPunct="0"/>
                <a:r>
                  <a:rPr lang="en-US" altLang="zh-TW" sz="1500" dirty="0" smtClean="0">
                    <a:latin typeface="微軟正黑體" panose="020B0604030504040204" pitchFamily="34" charset="-120"/>
                    <a:ea typeface="微軟正黑體" panose="020B0604030504040204" pitchFamily="34" charset="-120"/>
                  </a:rPr>
                  <a:t>(Mvt.311/542)</a:t>
                </a:r>
                <a:endParaRPr lang="zh-TW" altLang="en-US" sz="1500" dirty="0">
                  <a:latin typeface="微軟正黑體" panose="020B0604030504040204" pitchFamily="34" charset="-120"/>
                  <a:ea typeface="微軟正黑體" panose="020B0604030504040204" pitchFamily="34" charset="-120"/>
                </a:endParaRPr>
              </a:p>
            </p:txBody>
          </p:sp>
          <p:sp>
            <p:nvSpPr>
              <p:cNvPr id="161" name="流程圖: 程序 160"/>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62" name="流程圖: 程序 161"/>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6"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157"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8"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17" name="群組 175"/>
          <p:cNvGrpSpPr>
            <a:grpSpLocks noChangeAspect="1"/>
          </p:cNvGrpSpPr>
          <p:nvPr/>
        </p:nvGrpSpPr>
        <p:grpSpPr>
          <a:xfrm>
            <a:off x="10010780" y="8001814"/>
            <a:ext cx="2162966" cy="1424040"/>
            <a:chOff x="8715372" y="4366006"/>
            <a:chExt cx="2162966" cy="1424040"/>
          </a:xfrm>
        </p:grpSpPr>
        <p:grpSp>
          <p:nvGrpSpPr>
            <p:cNvPr id="18" name="群組 30"/>
            <p:cNvGrpSpPr/>
            <p:nvPr/>
          </p:nvGrpSpPr>
          <p:grpSpPr>
            <a:xfrm>
              <a:off x="8715372" y="4572790"/>
              <a:ext cx="1815965" cy="1217256"/>
              <a:chOff x="15073354" y="8308668"/>
              <a:chExt cx="1815965" cy="1217256"/>
            </a:xfrm>
          </p:grpSpPr>
          <p:sp>
            <p:nvSpPr>
              <p:cNvPr id="181" name="流程圖: 程序 180"/>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82" name="流程圖: 程序 181"/>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進口報關</a:t>
                </a:r>
                <a:endParaRPr lang="zh-TW" altLang="en-US" sz="1500" dirty="0">
                  <a:latin typeface="微軟正黑體" panose="020B0604030504040204" pitchFamily="34" charset="-120"/>
                  <a:ea typeface="微軟正黑體" panose="020B0604030504040204" pitchFamily="34" charset="-120"/>
                </a:endParaRPr>
              </a:p>
            </p:txBody>
          </p:sp>
          <p:sp>
            <p:nvSpPr>
              <p:cNvPr id="183" name="流程圖: 程序 182"/>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184" name="流程圖: 程序 183"/>
              <p:cNvSpPr/>
              <p:nvPr/>
            </p:nvSpPr>
            <p:spPr>
              <a:xfrm>
                <a:off x="1600731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9"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179"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0"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grpSp>
      <p:cxnSp>
        <p:nvCxnSpPr>
          <p:cNvPr id="187" name="肘形接點 68">
            <a:extLst>
              <a:ext uri="{FF2B5EF4-FFF2-40B4-BE49-F238E27FC236}">
                <a16:creationId xmlns:a16="http://schemas.microsoft.com/office/drawing/2014/main" xmlns="" id="{455F687E-D5F2-BB6B-9318-21C6E7BF176C}"/>
              </a:ext>
            </a:extLst>
          </p:cNvPr>
          <p:cNvCxnSpPr>
            <a:cxnSpLocks/>
            <a:stCxn id="89" idx="2"/>
            <a:endCxn id="181" idx="0"/>
          </p:cNvCxnSpPr>
          <p:nvPr/>
        </p:nvCxnSpPr>
        <p:spPr>
          <a:xfrm rot="5400000">
            <a:off x="10666174" y="7955607"/>
            <a:ext cx="502998" cy="298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20" name="群組 191"/>
          <p:cNvGrpSpPr>
            <a:grpSpLocks noChangeAspect="1"/>
          </p:cNvGrpSpPr>
          <p:nvPr/>
        </p:nvGrpSpPr>
        <p:grpSpPr>
          <a:xfrm>
            <a:off x="9858380" y="2590799"/>
            <a:ext cx="2162966" cy="1424040"/>
            <a:chOff x="8715372" y="4366006"/>
            <a:chExt cx="2162966" cy="1424040"/>
          </a:xfrm>
        </p:grpSpPr>
        <p:grpSp>
          <p:nvGrpSpPr>
            <p:cNvPr id="21" name="群組 30"/>
            <p:cNvGrpSpPr/>
            <p:nvPr/>
          </p:nvGrpSpPr>
          <p:grpSpPr>
            <a:xfrm>
              <a:off x="8715372" y="4572790"/>
              <a:ext cx="1814856" cy="1217256"/>
              <a:chOff x="15073354" y="8308668"/>
              <a:chExt cx="1814856" cy="1217256"/>
            </a:xfrm>
          </p:grpSpPr>
          <p:sp>
            <p:nvSpPr>
              <p:cNvPr id="197" name="流程圖: 程序 196"/>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98" name="流程圖: 程序 197"/>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出口報關</a:t>
                </a:r>
                <a:endParaRPr lang="zh-TW" altLang="en-US" sz="1500" dirty="0">
                  <a:latin typeface="微軟正黑體" panose="020B0604030504040204" pitchFamily="34" charset="-120"/>
                  <a:ea typeface="微軟正黑體" panose="020B0604030504040204" pitchFamily="34" charset="-120"/>
                </a:endParaRPr>
              </a:p>
            </p:txBody>
          </p:sp>
          <p:sp>
            <p:nvSpPr>
              <p:cNvPr id="199" name="流程圖: 程序 198"/>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200" name="流程圖: 程序 199"/>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22"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195"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96"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24" name="群組 30"/>
          <p:cNvGrpSpPr/>
          <p:nvPr/>
        </p:nvGrpSpPr>
        <p:grpSpPr>
          <a:xfrm>
            <a:off x="7358050" y="6668861"/>
            <a:ext cx="1814856" cy="1217256"/>
            <a:chOff x="15073354" y="8308668"/>
            <a:chExt cx="1814856" cy="1217256"/>
          </a:xfrm>
        </p:grpSpPr>
        <p:sp>
          <p:nvSpPr>
            <p:cNvPr id="223" name="流程圖: 程序 222"/>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224" name="流程圖: 程序 223"/>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廠商通知已洗模</a:t>
              </a:r>
              <a:r>
                <a:rPr lang="en-US" altLang="zh-TW" sz="1500" dirty="0" smtClean="0">
                  <a:latin typeface="微軟正黑體" panose="020B0604030504040204" pitchFamily="34" charset="-120"/>
                  <a:ea typeface="微軟正黑體" panose="020B0604030504040204" pitchFamily="34" charset="-120"/>
                </a:rPr>
                <a:t>OK</a:t>
              </a:r>
              <a:endParaRPr lang="zh-TW" altLang="en-US" sz="1500" dirty="0">
                <a:latin typeface="微軟正黑體" panose="020B0604030504040204" pitchFamily="34" charset="-120"/>
                <a:ea typeface="微軟正黑體" panose="020B0604030504040204" pitchFamily="34" charset="-120"/>
              </a:endParaRPr>
            </a:p>
          </p:txBody>
        </p:sp>
        <p:sp>
          <p:nvSpPr>
            <p:cNvPr id="225" name="流程圖: 程序 224"/>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226" name="流程圖: 程序 225"/>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cxnSp>
        <p:nvCxnSpPr>
          <p:cNvPr id="236" name="肘形接點 68">
            <a:extLst>
              <a:ext uri="{FF2B5EF4-FFF2-40B4-BE49-F238E27FC236}">
                <a16:creationId xmlns:a16="http://schemas.microsoft.com/office/drawing/2014/main" xmlns="" id="{455F687E-D5F2-BB6B-9318-21C6E7BF176C}"/>
              </a:ext>
            </a:extLst>
          </p:cNvPr>
          <p:cNvCxnSpPr>
            <a:cxnSpLocks/>
            <a:endCxn id="121" idx="2"/>
          </p:cNvCxnSpPr>
          <p:nvPr/>
        </p:nvCxnSpPr>
        <p:spPr>
          <a:xfrm rot="5400000" flipH="1" flipV="1">
            <a:off x="11611935" y="7490132"/>
            <a:ext cx="1670800" cy="1251510"/>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8" name="肘形接點 68">
            <a:extLst>
              <a:ext uri="{FF2B5EF4-FFF2-40B4-BE49-F238E27FC236}">
                <a16:creationId xmlns:a16="http://schemas.microsoft.com/office/drawing/2014/main" xmlns="" id="{455F687E-D5F2-BB6B-9318-21C6E7BF176C}"/>
              </a:ext>
            </a:extLst>
          </p:cNvPr>
          <p:cNvCxnSpPr>
            <a:cxnSpLocks/>
            <a:stCxn id="224" idx="3"/>
            <a:endCxn id="89" idx="1"/>
          </p:cNvCxnSpPr>
          <p:nvPr/>
        </p:nvCxnSpPr>
        <p:spPr>
          <a:xfrm flipV="1">
            <a:off x="9168850" y="7274563"/>
            <a:ext cx="964649" cy="152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25" name="群組 266"/>
          <p:cNvGrpSpPr>
            <a:grpSpLocks noChangeAspect="1"/>
          </p:cNvGrpSpPr>
          <p:nvPr/>
        </p:nvGrpSpPr>
        <p:grpSpPr>
          <a:xfrm>
            <a:off x="2857456" y="1786708"/>
            <a:ext cx="2162966" cy="1424040"/>
            <a:chOff x="8715372" y="4366006"/>
            <a:chExt cx="2162966" cy="1424040"/>
          </a:xfrm>
        </p:grpSpPr>
        <p:grpSp>
          <p:nvGrpSpPr>
            <p:cNvPr id="26" name="群組 30"/>
            <p:cNvGrpSpPr/>
            <p:nvPr/>
          </p:nvGrpSpPr>
          <p:grpSpPr>
            <a:xfrm>
              <a:off x="8715372" y="4572790"/>
              <a:ext cx="1814856" cy="1217256"/>
              <a:chOff x="15073354" y="8308668"/>
              <a:chExt cx="1814856" cy="1217256"/>
            </a:xfrm>
          </p:grpSpPr>
          <p:sp>
            <p:nvSpPr>
              <p:cNvPr id="272" name="流程圖: 程序 27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273" name="流程圖: 程序 27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提出洗模申請單</a:t>
                </a:r>
                <a:endParaRPr lang="zh-TW" altLang="en-US" sz="1500" dirty="0">
                  <a:latin typeface="微軟正黑體" panose="020B0604030504040204" pitchFamily="34" charset="-120"/>
                  <a:ea typeface="微軟正黑體" panose="020B0604030504040204" pitchFamily="34" charset="-120"/>
                </a:endParaRPr>
              </a:p>
            </p:txBody>
          </p:sp>
          <p:sp>
            <p:nvSpPr>
              <p:cNvPr id="274" name="流程圖: 程序 27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278" name="流程圖: 程序 277"/>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27"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270"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1"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28" name="群組 278"/>
          <p:cNvGrpSpPr>
            <a:grpSpLocks noChangeAspect="1"/>
          </p:cNvGrpSpPr>
          <p:nvPr/>
        </p:nvGrpSpPr>
        <p:grpSpPr>
          <a:xfrm>
            <a:off x="6301760" y="1715270"/>
            <a:ext cx="2162966" cy="1424040"/>
            <a:chOff x="8715372" y="4366006"/>
            <a:chExt cx="2162966" cy="1424040"/>
          </a:xfrm>
        </p:grpSpPr>
        <p:grpSp>
          <p:nvGrpSpPr>
            <p:cNvPr id="29" name="群組 30"/>
            <p:cNvGrpSpPr/>
            <p:nvPr/>
          </p:nvGrpSpPr>
          <p:grpSpPr>
            <a:xfrm>
              <a:off x="8715372" y="4572790"/>
              <a:ext cx="1814856" cy="1217256"/>
              <a:chOff x="15073354" y="8308668"/>
              <a:chExt cx="1814856" cy="1217256"/>
            </a:xfrm>
          </p:grpSpPr>
          <p:sp>
            <p:nvSpPr>
              <p:cNvPr id="285" name="流程圖: 程序 284"/>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286" name="流程圖: 程序 285"/>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可自行洗模</a:t>
                </a:r>
                <a:endParaRPr lang="zh-TW" altLang="en-US" sz="1500" dirty="0">
                  <a:latin typeface="微軟正黑體" panose="020B0604030504040204" pitchFamily="34" charset="-120"/>
                  <a:ea typeface="微軟正黑體" panose="020B0604030504040204" pitchFamily="34" charset="-120"/>
                </a:endParaRPr>
              </a:p>
            </p:txBody>
          </p:sp>
          <p:sp>
            <p:nvSpPr>
              <p:cNvPr id="288" name="流程圖: 程序 287"/>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290" name="流程圖: 程序 289"/>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30"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283" name="Oval 221">
                <a:extLst>
                  <a:ext uri="{FF2B5EF4-FFF2-40B4-BE49-F238E27FC236}">
                    <a16:creationId xmlns:a16="http://schemas.microsoft.com/office/drawing/2014/main" xmlns="" id="{6DEF57E8-FD09-6975-8166-901E555739DE}"/>
                  </a:ext>
                </a:extLst>
              </p:cNvPr>
              <p:cNvSpPr/>
              <p:nvPr/>
            </p:nvSpPr>
            <p:spPr>
              <a:xfrm>
                <a:off x="5906471"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4"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32" name="群組 30"/>
          <p:cNvGrpSpPr/>
          <p:nvPr/>
        </p:nvGrpSpPr>
        <p:grpSpPr>
          <a:xfrm>
            <a:off x="5379052" y="6707606"/>
            <a:ext cx="1814856" cy="1217256"/>
            <a:chOff x="15073354" y="8308668"/>
            <a:chExt cx="1814856" cy="1217256"/>
          </a:xfrm>
        </p:grpSpPr>
        <p:sp>
          <p:nvSpPr>
            <p:cNvPr id="317" name="流程圖: 程序 316"/>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318" name="流程圖: 程序 317"/>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洗模驗證試機</a:t>
              </a:r>
              <a:r>
                <a:rPr lang="en-US" altLang="zh-TW" sz="1500" dirty="0" smtClean="0">
                  <a:latin typeface="微軟正黑體" panose="020B0604030504040204" pitchFamily="34" charset="-120"/>
                  <a:ea typeface="微軟正黑體" panose="020B0604030504040204" pitchFamily="34" charset="-120"/>
                </a:rPr>
                <a:t>OK</a:t>
              </a:r>
              <a:endParaRPr lang="zh-TW" altLang="en-US" sz="1500" dirty="0">
                <a:latin typeface="微軟正黑體" panose="020B0604030504040204" pitchFamily="34" charset="-120"/>
                <a:ea typeface="微軟正黑體" panose="020B0604030504040204" pitchFamily="34" charset="-120"/>
              </a:endParaRPr>
            </a:p>
          </p:txBody>
        </p:sp>
        <p:sp>
          <p:nvSpPr>
            <p:cNvPr id="319" name="流程圖: 程序 318"/>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322" name="流程圖: 程序 321"/>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sp>
        <p:nvSpPr>
          <p:cNvPr id="128" name="Google Shape;38;p9">
            <a:extLst>
              <a:ext uri="{FF2B5EF4-FFF2-40B4-BE49-F238E27FC236}">
                <a16:creationId xmlns:a16="http://schemas.microsoft.com/office/drawing/2014/main" xmlns="" id="{424A9B21-226E-4E89-EEBE-161D8D8BED1D}"/>
              </a:ext>
            </a:extLst>
          </p:cNvPr>
          <p:cNvSpPr txBox="1"/>
          <p:nvPr/>
        </p:nvSpPr>
        <p:spPr>
          <a:xfrm>
            <a:off x="15787734" y="572262"/>
            <a:ext cx="2071638" cy="547772"/>
          </a:xfrm>
          <a:prstGeom prst="rect">
            <a:avLst/>
          </a:prstGeom>
          <a:noFill/>
          <a:ln>
            <a:noFill/>
          </a:ln>
        </p:spPr>
        <p:txBody>
          <a:bodyPr spcFirstLastPara="1" wrap="square" lIns="137138" tIns="68550" rIns="137138" bIns="68550" anchor="ctr" anchorCtr="0">
            <a:noAutofit/>
          </a:bodyPr>
          <a:lstStyle/>
          <a:p>
            <a:pPr algn="r"/>
            <a:r>
              <a:rPr lang="en-US" sz="1500" dirty="0" smtClean="0">
                <a:solidFill>
                  <a:srgbClr val="888888"/>
                </a:solidFill>
                <a:latin typeface="Arial"/>
                <a:ea typeface="Arial"/>
                <a:cs typeface="Arial"/>
                <a:sym typeface="Arial"/>
              </a:rPr>
              <a:t>2025/07/22</a:t>
            </a:r>
            <a:endParaRPr sz="1500" dirty="0">
              <a:solidFill>
                <a:srgbClr val="888888"/>
              </a:solidFill>
              <a:latin typeface="Arial"/>
              <a:ea typeface="Arial"/>
              <a:cs typeface="Arial"/>
              <a:sym typeface="Arial"/>
            </a:endParaRPr>
          </a:p>
        </p:txBody>
      </p:sp>
      <p:sp>
        <p:nvSpPr>
          <p:cNvPr id="127" name="流程圖: 預設處理作業 21">
            <a:extLst>
              <a:ext uri="{FF2B5EF4-FFF2-40B4-BE49-F238E27FC236}">
                <a16:creationId xmlns="" xmlns:a16="http://schemas.microsoft.com/office/drawing/2014/main" id="{EC3EEF55-D5C1-D856-62E9-55E670DEFF86}"/>
              </a:ext>
            </a:extLst>
          </p:cNvPr>
          <p:cNvSpPr/>
          <p:nvPr/>
        </p:nvSpPr>
        <p:spPr bwMode="auto">
          <a:xfrm>
            <a:off x="12501586" y="7858938"/>
            <a:ext cx="1785950" cy="1143008"/>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01882" tIns="50941" rIns="101882" bIns="50941" rtlCol="0" anchor="ctr"/>
          <a:lstStyle/>
          <a:p>
            <a:pPr algn="ctr" eaLnBrk="0" hangingPunct="0"/>
            <a:endParaRPr kumimoji="0" lang="en-US" altLang="zh-TW" sz="10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MM-PU-0040</a:t>
            </a:r>
          </a:p>
          <a:p>
            <a:pPr algn="ctr" eaLnBrk="0" hangingPunct="0"/>
            <a:r>
              <a:rPr lang="zh-TW" altLang="en-US" sz="1500" dirty="0">
                <a:latin typeface="微軟正黑體" panose="020B0604030504040204" pitchFamily="34" charset="-120"/>
                <a:ea typeface="微軟正黑體" panose="020B0604030504040204" pitchFamily="34" charset="-120"/>
              </a:rPr>
              <a:t>庶務性請採購</a:t>
            </a:r>
            <a:endParaRPr lang="en-US" altLang="zh-TW" sz="1500" dirty="0">
              <a:latin typeface="微軟正黑體" panose="020B0604030504040204" pitchFamily="34" charset="-120"/>
              <a:ea typeface="微軟正黑體" panose="020B0604030504040204" pitchFamily="34" charset="-120"/>
            </a:endParaRPr>
          </a:p>
          <a:p>
            <a:pPr algn="ctr" eaLnBrk="0" hangingPunct="0"/>
            <a:endParaRPr lang="en-US" altLang="zh-TW" sz="1500" dirty="0">
              <a:latin typeface="微軟正黑體" panose="020B0604030504040204" pitchFamily="34" charset="-120"/>
              <a:ea typeface="微軟正黑體" panose="020B0604030504040204" pitchFamily="34" charset="-120"/>
            </a:endParaRPr>
          </a:p>
        </p:txBody>
      </p:sp>
      <p:cxnSp>
        <p:nvCxnSpPr>
          <p:cNvPr id="129" name="肘形接點 68">
            <a:extLst>
              <a:ext uri="{FF2B5EF4-FFF2-40B4-BE49-F238E27FC236}">
                <a16:creationId xmlns="" xmlns:a16="http://schemas.microsoft.com/office/drawing/2014/main" id="{0A1F94A8-7D8A-5D1D-532B-097A7DB78476}"/>
              </a:ext>
            </a:extLst>
          </p:cNvPr>
          <p:cNvCxnSpPr>
            <a:cxnSpLocks/>
            <a:endCxn id="127" idx="1"/>
          </p:cNvCxnSpPr>
          <p:nvPr/>
        </p:nvCxnSpPr>
        <p:spPr>
          <a:xfrm>
            <a:off x="12128528" y="8272292"/>
            <a:ext cx="373058" cy="15815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33" name="肘形接點 68">
            <a:extLst>
              <a:ext uri="{FF2B5EF4-FFF2-40B4-BE49-F238E27FC236}">
                <a16:creationId xmlns:a16="http://schemas.microsoft.com/office/drawing/2014/main" xmlns="" id="{455F687E-D5F2-BB6B-9318-21C6E7BF176C}"/>
              </a:ext>
            </a:extLst>
          </p:cNvPr>
          <p:cNvCxnSpPr>
            <a:cxnSpLocks/>
            <a:stCxn id="182" idx="3"/>
            <a:endCxn id="127" idx="1"/>
          </p:cNvCxnSpPr>
          <p:nvPr/>
        </p:nvCxnSpPr>
        <p:spPr>
          <a:xfrm flipV="1">
            <a:off x="11821580" y="8430442"/>
            <a:ext cx="680006" cy="38537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52" name="Group 220">
            <a:extLst>
              <a:ext uri="{FF2B5EF4-FFF2-40B4-BE49-F238E27FC236}">
                <a16:creationId xmlns="" xmlns:a16="http://schemas.microsoft.com/office/drawing/2014/main" id="{A0339FAF-5C12-A96E-DFC2-64B69335D535}"/>
              </a:ext>
            </a:extLst>
          </p:cNvPr>
          <p:cNvGrpSpPr/>
          <p:nvPr/>
        </p:nvGrpSpPr>
        <p:grpSpPr>
          <a:xfrm>
            <a:off x="14001784" y="7644624"/>
            <a:ext cx="533400" cy="408605"/>
            <a:chOff x="5906184" y="1486857"/>
            <a:chExt cx="355600" cy="272361"/>
          </a:xfrm>
        </p:grpSpPr>
        <p:sp>
          <p:nvSpPr>
            <p:cNvPr id="153" name="Oval 221">
              <a:extLst>
                <a:ext uri="{FF2B5EF4-FFF2-40B4-BE49-F238E27FC236}">
                  <a16:creationId xmlns="" xmlns:a16="http://schemas.microsoft.com/office/drawing/2014/main" id="{5150C8FE-FD8C-4648-8BC7-96D7420FE3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154" name="TextBox 222">
              <a:extLst>
                <a:ext uri="{FF2B5EF4-FFF2-40B4-BE49-F238E27FC236}">
                  <a16:creationId xmlns="" xmlns:a16="http://schemas.microsoft.com/office/drawing/2014/main" id="{A5DAB6BA-EADF-647A-BCBC-F9EE7B6A65A5}"/>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15897</TotalTime>
  <Words>647</Words>
  <Application>Collabora_Office/23.05.5.4$Linux_X86_64 LibreOffice_project/1681200a96e5ffa1bee996c23ec760042f91abfa</Application>
  <PresentationFormat>自訂</PresentationFormat>
  <Paragraphs>175</Paragraphs>
  <Slides>6</Slides>
  <Notes>2</Notes>
  <HiddenSlides>0</HiddenSlides>
  <MMClips>0</MMClips>
  <ScaleCrop>false</ScaleCrop>
  <HeadingPairs>
    <vt:vector size="4" baseType="variant">
      <vt:variant>
        <vt:lpstr>佈景主題</vt:lpstr>
      </vt:variant>
      <vt:variant>
        <vt:i4>5</vt:i4>
      </vt:variant>
      <vt:variant>
        <vt:lpstr>投影片標題</vt:lpstr>
      </vt:variant>
      <vt:variant>
        <vt:i4>6</vt:i4>
      </vt:variant>
    </vt:vector>
  </HeadingPairs>
  <TitlesOfParts>
    <vt:vector size="11"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133</cp:revision>
  <dcterms:created xsi:type="dcterms:W3CDTF">2023-05-31T01:27:04Z</dcterms:created>
  <dcterms:modified xsi:type="dcterms:W3CDTF">2025-07-22T00:34:32Z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