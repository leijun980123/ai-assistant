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07" r:id="rId4"/>
    <p:sldMasterId id="2147484285" r:id="rId5"/>
    <p:sldMasterId id="2147484467" r:id="rId6"/>
  </p:sldMasterIdLst>
  <p:notesMasterIdLst>
    <p:notesMasterId r:id="rId16"/>
  </p:notesMasterIdLst>
  <p:sldIdLst>
    <p:sldId id="256" r:id="rId7"/>
    <p:sldId id="257" r:id="rId8"/>
    <p:sldId id="258" r:id="rId9"/>
    <p:sldId id="271" r:id="rId10"/>
    <p:sldId id="272" r:id="rId11"/>
    <p:sldId id="273" r:id="rId12"/>
    <p:sldId id="274" r:id="rId13"/>
    <p:sldId id="263" r:id="rId14"/>
    <p:sldId id="264" r:id="rId15"/>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p15:clr>
            <a:srgbClr val="A4A3A4"/>
          </p15:clr>
        </p15:guide>
        <p15:guide id="2" pos="57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94688" autoAdjust="0"/>
  </p:normalViewPr>
  <p:slideViewPr>
    <p:cSldViewPr>
      <p:cViewPr varScale="1">
        <p:scale>
          <a:sx n="41" d="100"/>
          <a:sy n="41" d="100"/>
        </p:scale>
        <p:origin x="820" y="20"/>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3"/>
          </p:nvPr>
        </p:nvSpPr>
        <p:spPr/>
        <p:txBody>
          <a:body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76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6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76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6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76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6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6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3"/>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7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3"/>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6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3"/>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7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7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7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7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3"/>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7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7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7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7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3"/>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77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7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3"/>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78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8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3"/>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7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8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8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3"/>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7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79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79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3"/>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3.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26720"/>
        </p:xfrm>
        <a:graphic>
          <a:graphicData uri="http://schemas.openxmlformats.org/drawingml/2006/table">
            <a:tbl>
              <a:tblPr/>
              <a:tblGrid>
                <a:gridCol w="2311200">
                  <a:extLst>
                    <a:ext uri="{9D8B030D-6E8A-4147-A177-3AD203B41FA5}">
                      <a16:colId xmlns:a16="http://schemas.microsoft.com/office/drawing/2014/main" val="20000"/>
                    </a:ext>
                  </a:extLst>
                </a:gridCol>
                <a:gridCol w="11889360">
                  <a:extLst>
                    <a:ext uri="{9D8B030D-6E8A-4147-A177-3AD203B41FA5}">
                      <a16:colId xmlns:a16="http://schemas.microsoft.com/office/drawing/2014/main" val="20001"/>
                    </a:ext>
                  </a:extLst>
                </a:gridCol>
                <a:gridCol w="3819240">
                  <a:extLst>
                    <a:ext uri="{9D8B030D-6E8A-4147-A177-3AD203B41FA5}">
                      <a16:colId xmlns:a16="http://schemas.microsoft.com/office/drawing/2014/main" val="20002"/>
                    </a:ext>
                  </a:extLst>
                </a:gridCol>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extLst>
                  <a:ext uri="{0D108BD9-81ED-4DB2-BD59-A6C34878D82A}">
                    <a16:rowId xmlns:a16="http://schemas.microsoft.com/office/drawing/2014/main" val="10000"/>
                  </a:ext>
                </a:extLst>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bl>
          </a:graphicData>
        </a:graphic>
      </p:graphicFrame>
      <p:pic>
        <p:nvPicPr>
          <p:cNvPr id="143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754" name="Google Shape;35;p9"/>
          <p:cNvGraphicFramePr/>
          <p:nvPr/>
        </p:nvGraphicFramePr>
        <p:xfrm>
          <a:off x="122400" y="114480"/>
          <a:ext cx="18019440" cy="10026720"/>
        </p:xfrm>
        <a:graphic>
          <a:graphicData uri="http://schemas.openxmlformats.org/drawingml/2006/table">
            <a:tbl>
              <a:tblPr/>
              <a:tblGrid>
                <a:gridCol w="2311200">
                  <a:extLst>
                    <a:ext uri="{9D8B030D-6E8A-4147-A177-3AD203B41FA5}">
                      <a16:colId xmlns:a16="http://schemas.microsoft.com/office/drawing/2014/main" val="20000"/>
                    </a:ext>
                  </a:extLst>
                </a:gridCol>
                <a:gridCol w="9468720">
                  <a:extLst>
                    <a:ext uri="{9D8B030D-6E8A-4147-A177-3AD203B41FA5}">
                      <a16:colId xmlns:a16="http://schemas.microsoft.com/office/drawing/2014/main" val="20001"/>
                    </a:ext>
                  </a:extLst>
                </a:gridCol>
                <a:gridCol w="2420280">
                  <a:extLst>
                    <a:ext uri="{9D8B030D-6E8A-4147-A177-3AD203B41FA5}">
                      <a16:colId xmlns:a16="http://schemas.microsoft.com/office/drawing/2014/main" val="20002"/>
                    </a:ext>
                  </a:extLst>
                </a:gridCol>
                <a:gridCol w="3819240">
                  <a:extLst>
                    <a:ext uri="{9D8B030D-6E8A-4147-A177-3AD203B41FA5}">
                      <a16:colId xmlns:a16="http://schemas.microsoft.com/office/drawing/2014/main" val="20003"/>
                    </a:ext>
                  </a:extLst>
                </a:gridCol>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extLst>
                  <a:ext uri="{0D108BD9-81ED-4DB2-BD59-A6C34878D82A}">
                    <a16:rowId xmlns:a16="http://schemas.microsoft.com/office/drawing/2014/main" val="10000"/>
                  </a:ext>
                </a:extLst>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extLst>
                  <a:ext uri="{0D108BD9-81ED-4DB2-BD59-A6C34878D82A}">
                    <a16:rowId xmlns:a16="http://schemas.microsoft.com/office/drawing/2014/main" val="10002"/>
                  </a:ext>
                </a:extLst>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extLst>
                  <a:ext uri="{0D108BD9-81ED-4DB2-BD59-A6C34878D82A}">
                    <a16:rowId xmlns:a16="http://schemas.microsoft.com/office/drawing/2014/main" val="10003"/>
                  </a:ext>
                </a:extLst>
              </a:tr>
            </a:tbl>
          </a:graphicData>
        </a:graphic>
      </p:graphicFrame>
      <p:pic>
        <p:nvPicPr>
          <p:cNvPr id="1755"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1756" name="PlaceHolder 1"/>
          <p:cNvSpPr>
            <a:spLocks noGrp="1"/>
          </p:cNvSpPr>
          <p:nvPr>
            <p:ph type="title"/>
          </p:nvPr>
        </p:nvSpPr>
        <p:spPr>
          <a:xfrm>
            <a:off x="914400" y="410400"/>
            <a:ext cx="16458480" cy="1717200"/>
          </a:xfrm>
          <a:prstGeom prst="rect">
            <a:avLst/>
          </a:prstGeom>
          <a:noFill/>
          <a:ln w="0">
            <a:noFill/>
          </a:ln>
        </p:spPr>
        <p:txBody>
          <a:bodyPr lIns="0" tIns="0" rIns="0" bIns="0" anchor="ctr">
            <a:noAutofit/>
          </a:bodyPr>
          <a:lstStyle/>
          <a:p>
            <a:pPr indent="0">
              <a:buNone/>
            </a:pPr>
            <a:r>
              <a:rPr lang="zh-TW" sz="1800" b="0" strike="noStrike" spc="-1">
                <a:solidFill>
                  <a:srgbClr val="000000"/>
                </a:solidFill>
                <a:latin typeface="Calibri"/>
              </a:rPr>
              <a:t>請按這裡編輯題名文字格式</a:t>
            </a:r>
            <a:endParaRPr lang="en-US" sz="1800" b="0" strike="noStrike" spc="-1">
              <a:solidFill>
                <a:srgbClr val="000000"/>
              </a:solidFill>
              <a:latin typeface="Calibri"/>
            </a:endParaRPr>
          </a:p>
        </p:txBody>
      </p:sp>
      <p:sp>
        <p:nvSpPr>
          <p:cNvPr id="1757" name="PlaceHolder 2"/>
          <p:cNvSpPr>
            <a:spLocks noGrp="1"/>
          </p:cNvSpPr>
          <p:nvPr>
            <p:ph type="body"/>
          </p:nvPr>
        </p:nvSpPr>
        <p:spPr>
          <a:xfrm>
            <a:off x="914400" y="2407320"/>
            <a:ext cx="8031240" cy="5966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1800" b="0" strike="noStrike" spc="-1">
                <a:solidFill>
                  <a:srgbClr val="000000"/>
                </a:solidFill>
                <a:latin typeface="Calibri"/>
              </a:rPr>
              <a:t>請按這裡編輯大綱文字格式</a:t>
            </a:r>
            <a:endParaRPr lang="en-US" sz="18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1800" b="0" strike="noStrike" spc="-1">
                <a:solidFill>
                  <a:srgbClr val="000000"/>
                </a:solidFill>
                <a:latin typeface="Calibri"/>
              </a:rPr>
              <a:t>第二個大綱層次</a:t>
            </a:r>
            <a:endParaRPr lang="en-US" sz="1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1800" b="0" strike="noStrike" spc="-1">
                <a:solidFill>
                  <a:srgbClr val="000000"/>
                </a:solidFill>
                <a:latin typeface="Calibri"/>
              </a:rPr>
              <a:t>第三個大綱層次</a:t>
            </a:r>
            <a:endParaRPr lang="en-US" sz="18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1800" b="0" strike="noStrike" spc="-1">
                <a:solidFill>
                  <a:srgbClr val="000000"/>
                </a:solidFill>
                <a:latin typeface="Calibri"/>
              </a:rPr>
              <a:t>第四個大綱層次</a:t>
            </a:r>
            <a:endParaRPr lang="en-US" sz="18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1800" b="0" strike="noStrike" spc="-1">
                <a:solidFill>
                  <a:srgbClr val="000000"/>
                </a:solidFill>
                <a:latin typeface="Calibri"/>
              </a:rPr>
              <a:t>第五個大綱層次</a:t>
            </a:r>
            <a:endParaRPr lang="en-US" sz="18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1800" b="0" strike="noStrike" spc="-1">
                <a:solidFill>
                  <a:srgbClr val="000000"/>
                </a:solidFill>
                <a:latin typeface="Calibri"/>
              </a:rPr>
              <a:t>第六個大綱層次</a:t>
            </a:r>
            <a:endParaRPr lang="en-US" sz="18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1800" b="0" strike="noStrike" spc="-1">
                <a:solidFill>
                  <a:srgbClr val="000000"/>
                </a:solidFill>
                <a:latin typeface="Calibri"/>
              </a:rPr>
              <a:t>第七個大綱層次</a:t>
            </a:r>
            <a:endParaRPr lang="en-US" sz="1800" b="0" strike="noStrike" spc="-1">
              <a:solidFill>
                <a:srgbClr val="000000"/>
              </a:solidFill>
              <a:latin typeface="Calibri"/>
            </a:endParaRPr>
          </a:p>
        </p:txBody>
      </p:sp>
      <p:sp>
        <p:nvSpPr>
          <p:cNvPr id="1758" name="PlaceHolder 3"/>
          <p:cNvSpPr>
            <a:spLocks noGrp="1"/>
          </p:cNvSpPr>
          <p:nvPr>
            <p:ph type="body"/>
          </p:nvPr>
        </p:nvSpPr>
        <p:spPr>
          <a:xfrm>
            <a:off x="9348120" y="2407320"/>
            <a:ext cx="8031240" cy="2845440"/>
          </a:xfrm>
          <a:prstGeom prst="rect">
            <a:avLst/>
          </a:prstGeom>
          <a:noFill/>
          <a:ln w="0">
            <a:noFill/>
          </a:ln>
        </p:spPr>
        <p:txBody>
          <a:bodyPr lIns="0" tIns="0" rIns="0" bIns="0" anchor="t">
            <a:normAutofit fontScale="96666"/>
          </a:bodyPr>
          <a:lstStyle/>
          <a:p>
            <a:pPr marL="432000" indent="-324000">
              <a:spcBef>
                <a:spcPts val="1417"/>
              </a:spcBef>
              <a:buClr>
                <a:srgbClr val="000000"/>
              </a:buClr>
              <a:buSzPct val="45000"/>
              <a:buFont typeface="Wingdings" charset="2"/>
              <a:buChar char=""/>
            </a:pPr>
            <a:r>
              <a:rPr lang="zh-TW" sz="1800" b="0" strike="noStrike" spc="-1">
                <a:solidFill>
                  <a:srgbClr val="000000"/>
                </a:solidFill>
                <a:latin typeface="Calibri"/>
              </a:rPr>
              <a:t>請按這裡編輯大綱文字格式</a:t>
            </a:r>
            <a:endParaRPr lang="en-US" sz="18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1800" b="0" strike="noStrike" spc="-1">
                <a:solidFill>
                  <a:srgbClr val="000000"/>
                </a:solidFill>
                <a:latin typeface="Calibri"/>
              </a:rPr>
              <a:t>第二個大綱層次</a:t>
            </a:r>
            <a:endParaRPr lang="en-US" sz="1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1800" b="0" strike="noStrike" spc="-1">
                <a:solidFill>
                  <a:srgbClr val="000000"/>
                </a:solidFill>
                <a:latin typeface="Calibri"/>
              </a:rPr>
              <a:t>第三個大綱層次</a:t>
            </a:r>
            <a:endParaRPr lang="en-US" sz="18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1800" b="0" strike="noStrike" spc="-1">
                <a:solidFill>
                  <a:srgbClr val="000000"/>
                </a:solidFill>
                <a:latin typeface="Calibri"/>
              </a:rPr>
              <a:t>第四個大綱層次</a:t>
            </a:r>
            <a:endParaRPr lang="en-US" sz="18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1800" b="0" strike="noStrike" spc="-1">
                <a:solidFill>
                  <a:srgbClr val="000000"/>
                </a:solidFill>
                <a:latin typeface="Calibri"/>
              </a:rPr>
              <a:t>第五個大綱層次</a:t>
            </a:r>
            <a:endParaRPr lang="en-US" sz="18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1800" b="0" strike="noStrike" spc="-1">
                <a:solidFill>
                  <a:srgbClr val="000000"/>
                </a:solidFill>
                <a:latin typeface="Calibri"/>
              </a:rPr>
              <a:t>第六個大綱層次</a:t>
            </a:r>
            <a:endParaRPr lang="en-US" sz="18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1800" b="0" strike="noStrike" spc="-1">
                <a:solidFill>
                  <a:srgbClr val="000000"/>
                </a:solidFill>
                <a:latin typeface="Calibri"/>
              </a:rPr>
              <a:t>第七個大綱層次</a:t>
            </a:r>
            <a:endParaRPr lang="en-US" sz="1800" b="0" strike="noStrike" spc="-1">
              <a:solidFill>
                <a:srgbClr val="000000"/>
              </a:solidFill>
              <a:latin typeface="Calibri"/>
            </a:endParaRPr>
          </a:p>
        </p:txBody>
      </p:sp>
      <p:sp>
        <p:nvSpPr>
          <p:cNvPr id="1759" name="PlaceHolder 4"/>
          <p:cNvSpPr>
            <a:spLocks noGrp="1"/>
          </p:cNvSpPr>
          <p:nvPr>
            <p:ph type="body"/>
          </p:nvPr>
        </p:nvSpPr>
        <p:spPr>
          <a:xfrm>
            <a:off x="9348120" y="5523840"/>
            <a:ext cx="8031240" cy="2845440"/>
          </a:xfrm>
          <a:prstGeom prst="rect">
            <a:avLst/>
          </a:prstGeom>
          <a:noFill/>
          <a:ln w="0">
            <a:noFill/>
          </a:ln>
        </p:spPr>
        <p:txBody>
          <a:bodyPr lIns="0" tIns="0" rIns="0" bIns="0" anchor="t">
            <a:normAutofit fontScale="96666"/>
          </a:bodyPr>
          <a:lstStyle/>
          <a:p>
            <a:pPr marL="432000" indent="-324000">
              <a:spcBef>
                <a:spcPts val="1417"/>
              </a:spcBef>
              <a:buClr>
                <a:srgbClr val="000000"/>
              </a:buClr>
              <a:buSzPct val="45000"/>
              <a:buFont typeface="Wingdings" charset="2"/>
              <a:buChar char=""/>
            </a:pPr>
            <a:r>
              <a:rPr lang="zh-TW" sz="1800" b="0" strike="noStrike" spc="-1">
                <a:solidFill>
                  <a:srgbClr val="000000"/>
                </a:solidFill>
                <a:latin typeface="Calibri"/>
              </a:rPr>
              <a:t>請按這裡編輯大綱文字格式</a:t>
            </a:r>
            <a:endParaRPr lang="en-US" sz="18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1800" b="0" strike="noStrike" spc="-1">
                <a:solidFill>
                  <a:srgbClr val="000000"/>
                </a:solidFill>
                <a:latin typeface="Calibri"/>
              </a:rPr>
              <a:t>第二個大綱層次</a:t>
            </a:r>
            <a:endParaRPr lang="en-US" sz="1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1800" b="0" strike="noStrike" spc="-1">
                <a:solidFill>
                  <a:srgbClr val="000000"/>
                </a:solidFill>
                <a:latin typeface="Calibri"/>
              </a:rPr>
              <a:t>第三個大綱層次</a:t>
            </a:r>
            <a:endParaRPr lang="en-US" sz="18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1800" b="0" strike="noStrike" spc="-1">
                <a:solidFill>
                  <a:srgbClr val="000000"/>
                </a:solidFill>
                <a:latin typeface="Calibri"/>
              </a:rPr>
              <a:t>第四個大綱層次</a:t>
            </a:r>
            <a:endParaRPr lang="en-US" sz="18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1800" b="0" strike="noStrike" spc="-1">
                <a:solidFill>
                  <a:srgbClr val="000000"/>
                </a:solidFill>
                <a:latin typeface="Calibri"/>
              </a:rPr>
              <a:t>第五個大綱層次</a:t>
            </a:r>
            <a:endParaRPr lang="en-US" sz="18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1800" b="0" strike="noStrike" spc="-1">
                <a:solidFill>
                  <a:srgbClr val="000000"/>
                </a:solidFill>
                <a:latin typeface="Calibri"/>
              </a:rPr>
              <a:t>第六個大綱層次</a:t>
            </a:r>
            <a:endParaRPr lang="en-US" sz="18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1800" b="0" strike="noStrike" spc="-1">
                <a:solidFill>
                  <a:srgbClr val="000000"/>
                </a:solidFill>
                <a:latin typeface="Calibri"/>
              </a:rPr>
              <a:t>第七個大綱層次</a:t>
            </a:r>
            <a:endParaRPr lang="en-US" sz="1800" b="0" strike="noStrike" spc="-1">
              <a:solidFill>
                <a:srgbClr val="000000"/>
              </a:solidFill>
              <a:latin typeface="Calibri"/>
            </a:endParaRPr>
          </a:p>
        </p:txBody>
      </p:sp>
      <p:sp>
        <p:nvSpPr>
          <p:cNvPr id="1760" name="PlaceHolder 5"/>
          <p:cNvSpPr>
            <a:spLocks noGrp="1"/>
          </p:cNvSpPr>
          <p:nvPr>
            <p:ph type="dt" idx="13"/>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Tree>
  </p:cSld>
  <p:clrMap bg1="lt1" tx1="dk1" bg2="lt2" tx2="dk2" accent1="accent1" accent2="accent2" accent3="accent3" accent4="accent4" accent5="accent5" accent6="accent6" hlink="hlink" folHlink="folHlink"/>
  <p:sldLayoutIdLst>
    <p:sldLayoutId id="2147484208" r:id="rId1"/>
    <p:sldLayoutId id="2147484209" r:id="rId2"/>
    <p:sldLayoutId id="2147484210" r:id="rId3"/>
    <p:sldLayoutId id="2147484211" r:id="rId4"/>
    <p:sldLayoutId id="2147484212" r:id="rId5"/>
    <p:sldLayoutId id="2147484213" r:id="rId6"/>
    <p:sldLayoutId id="2147484214" r:id="rId7"/>
    <p:sldLayoutId id="2147484215" r:id="rId8"/>
    <p:sldLayoutId id="2147484216" r:id="rId9"/>
    <p:sldLayoutId id="2147484217" r:id="rId10"/>
    <p:sldLayoutId id="2147484218" r:id="rId11"/>
    <p:sldLayoutId id="2147484219" r:id="rId12"/>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extLst>
                    <a:ext uri="{9D8B030D-6E8A-4147-A177-3AD203B41FA5}">
                      <a16:colId xmlns:a16="http://schemas.microsoft.com/office/drawing/2014/main" val="20000"/>
                    </a:ext>
                  </a:extLst>
                </a:gridCol>
                <a:gridCol w="9468720">
                  <a:extLst>
                    <a:ext uri="{9D8B030D-6E8A-4147-A177-3AD203B41FA5}">
                      <a16:colId xmlns:a16="http://schemas.microsoft.com/office/drawing/2014/main" val="20001"/>
                    </a:ext>
                  </a:extLst>
                </a:gridCol>
                <a:gridCol w="2420280">
                  <a:extLst>
                    <a:ext uri="{9D8B030D-6E8A-4147-A177-3AD203B41FA5}">
                      <a16:colId xmlns:a16="http://schemas.microsoft.com/office/drawing/2014/main" val="20002"/>
                    </a:ext>
                  </a:extLst>
                </a:gridCol>
                <a:gridCol w="3819240">
                  <a:extLst>
                    <a:ext uri="{9D8B030D-6E8A-4147-A177-3AD203B41FA5}">
                      <a16:colId xmlns:a16="http://schemas.microsoft.com/office/drawing/2014/main" val="20003"/>
                    </a:ext>
                  </a:extLst>
                </a:gridCol>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extLst>
                  <a:ext uri="{0D108BD9-81ED-4DB2-BD59-A6C34878D82A}">
                    <a16:rowId xmlns:a16="http://schemas.microsoft.com/office/drawing/2014/main" val="10000"/>
                  </a:ext>
                </a:extLst>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extLst>
                  <a:ext uri="{0D108BD9-81ED-4DB2-BD59-A6C34878D82A}">
                    <a16:rowId xmlns:a16="http://schemas.microsoft.com/office/drawing/2014/main" val="10002"/>
                  </a:ext>
                </a:extLst>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extLst>
                  <a:ext uri="{0D108BD9-81ED-4DB2-BD59-A6C34878D82A}">
                    <a16:rowId xmlns:a16="http://schemas.microsoft.com/office/drawing/2014/main" val="10003"/>
                  </a:ext>
                </a:extLst>
              </a:tr>
            </a:tbl>
          </a:graphicData>
        </a:graphic>
      </p:graphicFrame>
      <p:pic>
        <p:nvPicPr>
          <p:cNvPr id="201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a:solidFill>
                  <a:schemeClr val="dk1"/>
                </a:solidFill>
                <a:latin typeface="Microsoft JhengHei"/>
                <a:ea typeface="Microsoft JhengHei"/>
              </a:rPr>
              <a:t>MM-IM-0010</a:t>
            </a:r>
            <a:endParaRPr lang="en-US" sz="3600" b="0" strike="noStrike" spc="-1" dirty="0">
              <a:solidFill>
                <a:srgbClr val="000000"/>
              </a:solidFill>
              <a:latin typeface="Calibri"/>
            </a:endParaRPr>
          </a:p>
        </p:txBody>
      </p:sp>
      <p:sp>
        <p:nvSpPr>
          <p:cNvPr id="2859" name="矩形 1"/>
          <p:cNvSpPr/>
          <p:nvPr/>
        </p:nvSpPr>
        <p:spPr>
          <a:xfrm>
            <a:off x="843480" y="717912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altLang="en-US" sz="3600" spc="-1" dirty="0">
                <a:solidFill>
                  <a:schemeClr val="dk1"/>
                </a:solidFill>
                <a:latin typeface="Microsoft JhengHei"/>
                <a:ea typeface="Microsoft JhengHei"/>
              </a:rPr>
              <a:t>採購單收貨流程</a:t>
            </a:r>
            <a:endParaRPr lang="en-US" sz="36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512000"/>
        </p:xfrm>
        <a:graphic>
          <a:graphicData uri="http://schemas.openxmlformats.org/drawingml/2006/table">
            <a:tbl>
              <a:tblPr/>
              <a:tblGrid>
                <a:gridCol w="2061360">
                  <a:extLst>
                    <a:ext uri="{9D8B030D-6E8A-4147-A177-3AD203B41FA5}">
                      <a16:colId xmlns:a16="http://schemas.microsoft.com/office/drawing/2014/main" val="20000"/>
                    </a:ext>
                  </a:extLst>
                </a:gridCol>
                <a:gridCol w="2061360">
                  <a:extLst>
                    <a:ext uri="{9D8B030D-6E8A-4147-A177-3AD203B41FA5}">
                      <a16:colId xmlns:a16="http://schemas.microsoft.com/office/drawing/2014/main" val="20001"/>
                    </a:ext>
                  </a:extLst>
                </a:gridCol>
                <a:gridCol w="8327880">
                  <a:extLst>
                    <a:ext uri="{9D8B030D-6E8A-4147-A177-3AD203B41FA5}">
                      <a16:colId xmlns:a16="http://schemas.microsoft.com/office/drawing/2014/main" val="20002"/>
                    </a:ext>
                  </a:extLst>
                </a:gridCol>
                <a:gridCol w="1423080">
                  <a:extLst>
                    <a:ext uri="{9D8B030D-6E8A-4147-A177-3AD203B41FA5}">
                      <a16:colId xmlns:a16="http://schemas.microsoft.com/office/drawing/2014/main" val="20003"/>
                    </a:ext>
                  </a:extLst>
                </a:gridCol>
                <a:gridCol w="634680">
                  <a:extLst>
                    <a:ext uri="{9D8B030D-6E8A-4147-A177-3AD203B41FA5}">
                      <a16:colId xmlns:a16="http://schemas.microsoft.com/office/drawing/2014/main" val="20004"/>
                    </a:ext>
                  </a:extLst>
                </a:gridCol>
                <a:gridCol w="1192320">
                  <a:extLst>
                    <a:ext uri="{9D8B030D-6E8A-4147-A177-3AD203B41FA5}">
                      <a16:colId xmlns:a16="http://schemas.microsoft.com/office/drawing/2014/main" val="20005"/>
                    </a:ext>
                  </a:extLst>
                </a:gridCol>
                <a:gridCol w="576720">
                  <a:extLst>
                    <a:ext uri="{9D8B030D-6E8A-4147-A177-3AD203B41FA5}">
                      <a16:colId xmlns:a16="http://schemas.microsoft.com/office/drawing/2014/main" val="20006"/>
                    </a:ext>
                  </a:extLst>
                </a:gridCol>
                <a:gridCol w="1240560">
                  <a:extLst>
                    <a:ext uri="{9D8B030D-6E8A-4147-A177-3AD203B41FA5}">
                      <a16:colId xmlns:a16="http://schemas.microsoft.com/office/drawing/2014/main" val="20007"/>
                    </a:ext>
                  </a:extLst>
                </a:gridCol>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a:solidFill>
                            <a:schemeClr val="lt1"/>
                          </a:solidFill>
                          <a:latin typeface="Microsoft JhengHei"/>
                          <a:ea typeface="Microsoft JhengHei"/>
                        </a:rPr>
                        <a:t> To be_Business Process</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a:solidFill>
                            <a:schemeClr val="lt1"/>
                          </a:solidFill>
                          <a:latin typeface="Microsoft JhengHei"/>
                          <a:ea typeface="Microsoft JhengHei"/>
                        </a:rPr>
                        <a:t>創建日期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DSIT</a:t>
                      </a:r>
                      <a:endParaRPr lang="en-US" sz="1800" b="1" strike="noStrike" spc="-1" dirty="0">
                        <a:solidFill>
                          <a:srgbClr val="000000"/>
                        </a:solidFill>
                        <a:latin typeface="+mn-lt"/>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extLst>
                  <a:ext uri="{0D108BD9-81ED-4DB2-BD59-A6C34878D82A}">
                    <a16:rowId xmlns:a16="http://schemas.microsoft.com/office/drawing/2014/main" val="10001"/>
                  </a:ext>
                </a:extLst>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v2.0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bl>
          </a:graphicData>
        </a:graphic>
      </p:graphicFrame>
      <p:graphicFrame>
        <p:nvGraphicFramePr>
          <p:cNvPr id="2861" name="Google Shape;191;p2"/>
          <p:cNvGraphicFramePr/>
          <p:nvPr>
            <p:extLst>
              <p:ext uri="{D42A27DB-BD31-4B8C-83A1-F6EECF244321}">
                <p14:modId xmlns:p14="http://schemas.microsoft.com/office/powerpoint/2010/main" val="1194064275"/>
              </p:ext>
            </p:extLst>
          </p:nvPr>
        </p:nvGraphicFramePr>
        <p:xfrm>
          <a:off x="366120" y="3155400"/>
          <a:ext cx="17517960" cy="3024000"/>
        </p:xfrm>
        <a:graphic>
          <a:graphicData uri="http://schemas.openxmlformats.org/drawingml/2006/table">
            <a:tbl>
              <a:tblPr/>
              <a:tblGrid>
                <a:gridCol w="2061360">
                  <a:extLst>
                    <a:ext uri="{9D8B030D-6E8A-4147-A177-3AD203B41FA5}">
                      <a16:colId xmlns:a16="http://schemas.microsoft.com/office/drawing/2014/main" val="20000"/>
                    </a:ext>
                  </a:extLst>
                </a:gridCol>
                <a:gridCol w="2061360">
                  <a:extLst>
                    <a:ext uri="{9D8B030D-6E8A-4147-A177-3AD203B41FA5}">
                      <a16:colId xmlns:a16="http://schemas.microsoft.com/office/drawing/2014/main" val="20001"/>
                    </a:ext>
                  </a:extLst>
                </a:gridCol>
                <a:gridCol w="8327880">
                  <a:extLst>
                    <a:ext uri="{9D8B030D-6E8A-4147-A177-3AD203B41FA5}">
                      <a16:colId xmlns:a16="http://schemas.microsoft.com/office/drawing/2014/main" val="20002"/>
                    </a:ext>
                  </a:extLst>
                </a:gridCol>
                <a:gridCol w="3269880">
                  <a:extLst>
                    <a:ext uri="{9D8B030D-6E8A-4147-A177-3AD203B41FA5}">
                      <a16:colId xmlns:a16="http://schemas.microsoft.com/office/drawing/2014/main" val="20003"/>
                    </a:ext>
                  </a:extLst>
                </a:gridCol>
                <a:gridCol w="1797480">
                  <a:extLst>
                    <a:ext uri="{9D8B030D-6E8A-4147-A177-3AD203B41FA5}">
                      <a16:colId xmlns:a16="http://schemas.microsoft.com/office/drawing/2014/main" val="20004"/>
                    </a:ext>
                  </a:extLst>
                </a:gridCol>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extLst>
                  <a:ext uri="{0D108BD9-81ED-4DB2-BD59-A6C34878D82A}">
                    <a16:rowId xmlns:a16="http://schemas.microsoft.com/office/drawing/2014/main" val="10000"/>
                  </a:ext>
                </a:extLst>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en-US" sz="1800" b="0" strike="noStrike" spc="-1" dirty="0">
                          <a:solidFill>
                            <a:srgbClr val="000000"/>
                          </a:solidFill>
                          <a:latin typeface="Calibri"/>
                        </a:rPr>
                        <a:t>2.1</a:t>
                      </a: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cap="flat" cmpd="sng" algn="ctr">
                      <a:solidFill>
                        <a:srgbClr val="FFFFFF"/>
                      </a:solidFill>
                      <a:prstDash val="solid"/>
                      <a:round/>
                      <a:headEnd type="none" w="med" len="med"/>
                      <a:tailEnd type="none" w="med" len="med"/>
                    </a:lnB>
                    <a:solidFill>
                      <a:srgbClr val="ED7D31"/>
                    </a:solidFill>
                  </a:tcPr>
                </a:tc>
                <a:tc>
                  <a:txBody>
                    <a:bodyPr/>
                    <a:lstStyle/>
                    <a:p>
                      <a:pPr defTabSz="1371600">
                        <a:lnSpc>
                          <a:spcPct val="100000"/>
                        </a:lnSpc>
                        <a:tabLst>
                          <a:tab pos="0" algn="l"/>
                        </a:tabLst>
                      </a:pPr>
                      <a:r>
                        <a:rPr lang="zh-TW" altLang="en-US" sz="1800" b="0" strike="noStrike" spc="-1" dirty="0">
                          <a:solidFill>
                            <a:srgbClr val="000000"/>
                          </a:solidFill>
                          <a:latin typeface="Calibri"/>
                        </a:rPr>
                        <a:t>因應</a:t>
                      </a:r>
                      <a:r>
                        <a:rPr lang="en-US" altLang="zh-TW" sz="1800" b="0" strike="noStrike" spc="-1" dirty="0">
                          <a:solidFill>
                            <a:srgbClr val="000000"/>
                          </a:solidFill>
                          <a:latin typeface="Calibri"/>
                        </a:rPr>
                        <a:t>QMS</a:t>
                      </a:r>
                      <a:r>
                        <a:rPr lang="zh-TW" altLang="en-US" sz="1800" b="0" strike="noStrike" spc="-1" dirty="0">
                          <a:solidFill>
                            <a:srgbClr val="000000"/>
                          </a:solidFill>
                          <a:latin typeface="Calibri"/>
                        </a:rPr>
                        <a:t>回傳</a:t>
                      </a:r>
                      <a:r>
                        <a:rPr lang="en-US" altLang="zh-TW" sz="1800" b="0" strike="noStrike" spc="-1" dirty="0">
                          <a:solidFill>
                            <a:srgbClr val="000000"/>
                          </a:solidFill>
                          <a:latin typeface="Calibri"/>
                        </a:rPr>
                        <a:t>SAP</a:t>
                      </a:r>
                      <a:r>
                        <a:rPr lang="zh-TW" altLang="en-US" sz="1800" b="0" strike="noStrike" spc="-1" dirty="0">
                          <a:solidFill>
                            <a:srgbClr val="000000"/>
                          </a:solidFill>
                          <a:latin typeface="Calibri"/>
                        </a:rPr>
                        <a:t>檢驗判定結果，刪除此流程有關品質相關交易代碼的作業</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cap="flat" cmpd="sng" algn="ctr">
                      <a:solidFill>
                        <a:srgbClr val="FFFFFF"/>
                      </a:solidFill>
                      <a:prstDash val="solid"/>
                      <a:round/>
                      <a:headEnd type="none" w="med" len="med"/>
                      <a:tailEnd type="none" w="med" len="med"/>
                    </a:lnB>
                    <a:solidFill>
                      <a:srgbClr val="F8D6CC"/>
                    </a:solidFill>
                  </a:tcPr>
                </a:tc>
                <a:tc>
                  <a:txBody>
                    <a:bodyPr/>
                    <a:lstStyle/>
                    <a:p>
                      <a:pPr algn="ctr" defTabSz="914400">
                        <a:lnSpc>
                          <a:spcPct val="166000"/>
                        </a:lnSpc>
                        <a:tabLst>
                          <a:tab pos="0" algn="l"/>
                        </a:tabLst>
                      </a:pPr>
                      <a:r>
                        <a:rPr lang="en-US" sz="1800" b="0" strike="noStrike" spc="-1" dirty="0">
                          <a:solidFill>
                            <a:srgbClr val="000000"/>
                          </a:solidFill>
                          <a:latin typeface="Calibri"/>
                        </a:rPr>
                        <a:t>Vincent</a:t>
                      </a:r>
                      <a:r>
                        <a:rPr lang="en-US" sz="1800" b="0" strike="noStrike" spc="-1" baseline="0" dirty="0">
                          <a:solidFill>
                            <a:srgbClr val="000000"/>
                          </a:solidFill>
                          <a:latin typeface="Calibri"/>
                        </a:rPr>
                        <a:t> Yeh</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cap="flat" cmpd="sng" algn="ctr">
                      <a:solidFill>
                        <a:srgbClr val="FFFFFF"/>
                      </a:solidFill>
                      <a:prstDash val="solid"/>
                      <a:round/>
                      <a:headEnd type="none" w="med" len="med"/>
                      <a:tailEnd type="none" w="med" len="med"/>
                    </a:lnB>
                    <a:solidFill>
                      <a:srgbClr val="F8D6CC"/>
                    </a:solidFill>
                  </a:tcPr>
                </a:tc>
                <a:tc>
                  <a:txBody>
                    <a:bodyPr/>
                    <a:lstStyle/>
                    <a:p>
                      <a:pPr algn="ctr" defTabSz="1371600">
                        <a:lnSpc>
                          <a:spcPct val="100000"/>
                        </a:lnSpc>
                        <a:tabLst>
                          <a:tab pos="0" algn="l"/>
                        </a:tabLst>
                      </a:pPr>
                      <a:r>
                        <a:rPr lang="en-US" sz="1800" b="0" strike="noStrike" spc="-1" dirty="0">
                          <a:solidFill>
                            <a:srgbClr val="000000"/>
                          </a:solidFill>
                          <a:latin typeface="Calibri"/>
                        </a:rPr>
                        <a:t>2025/07/10</a:t>
                      </a:r>
                    </a:p>
                  </a:txBody>
                  <a:tcPr anchor="ctr">
                    <a:lnL w="12240">
                      <a:solidFill>
                        <a:srgbClr val="FFFFFF"/>
                      </a:solidFill>
                      <a:prstDash val="solid"/>
                    </a:lnL>
                    <a:lnR w="12240">
                      <a:solidFill>
                        <a:srgbClr val="FFFFFF"/>
                      </a:solidFill>
                      <a:prstDash val="solid"/>
                    </a:lnR>
                    <a:lnT w="38160">
                      <a:solidFill>
                        <a:srgbClr val="FFFFFF"/>
                      </a:solidFill>
                      <a:prstDash val="solid"/>
                    </a:lnT>
                    <a:lnB w="12240" cap="flat" cmpd="sng" algn="ctr">
                      <a:solidFill>
                        <a:srgbClr val="FFFFFF"/>
                      </a:solidFill>
                      <a:prstDash val="solid"/>
                      <a:round/>
                      <a:headEnd type="none" w="med" len="med"/>
                      <a:tailEnd type="none" w="med" len="med"/>
                    </a:lnB>
                    <a:solidFill>
                      <a:srgbClr val="F8D6CC"/>
                    </a:solidFill>
                  </a:tcPr>
                </a:tc>
                <a:extLst>
                  <a:ext uri="{0D108BD9-81ED-4DB2-BD59-A6C34878D82A}">
                    <a16:rowId xmlns:a16="http://schemas.microsoft.com/office/drawing/2014/main" val="10001"/>
                  </a:ext>
                </a:extLst>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en-US" sz="1800" b="0" strike="noStrike" spc="-1" dirty="0">
                          <a:solidFill>
                            <a:srgbClr val="000000"/>
                          </a:solidFill>
                          <a:latin typeface="Calibri"/>
                        </a:rPr>
                        <a:t>2.2</a:t>
                      </a: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r>
                        <a:rPr lang="zh-TW" altLang="en-US" sz="1800" b="0" strike="noStrike" spc="-1" dirty="0">
                          <a:solidFill>
                            <a:srgbClr val="000000"/>
                          </a:solidFill>
                          <a:latin typeface="Calibri"/>
                        </a:rPr>
                        <a:t>將退料是否與報關相關作業移入關務</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r>
                        <a:rPr lang="en-US" sz="1800" b="0" strike="noStrike" spc="-1" dirty="0">
                          <a:solidFill>
                            <a:srgbClr val="000000"/>
                          </a:solidFill>
                          <a:latin typeface="Calibri"/>
                        </a:rPr>
                        <a:t>Vincent</a:t>
                      </a:r>
                      <a:r>
                        <a:rPr lang="en-US" sz="1800" b="0" strike="noStrike" spc="-1" baseline="0" dirty="0">
                          <a:solidFill>
                            <a:srgbClr val="000000"/>
                          </a:solidFill>
                          <a:latin typeface="Calibri"/>
                        </a:rPr>
                        <a:t> Yeh</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r>
                        <a:rPr lang="en-US" sz="1800" b="0" strike="noStrike" spc="-1" dirty="0">
                          <a:solidFill>
                            <a:srgbClr val="000000"/>
                          </a:solidFill>
                          <a:latin typeface="Calibri"/>
                        </a:rPr>
                        <a:t>2025/08/02</a:t>
                      </a: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extLst>
                  <a:ext uri="{0D108BD9-81ED-4DB2-BD59-A6C34878D82A}">
                    <a16:rowId xmlns:a16="http://schemas.microsoft.com/office/drawing/2014/main" val="10002"/>
                  </a:ext>
                </a:extLst>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F8D6CC"/>
                    </a:solidFill>
                  </a:tcPr>
                </a:tc>
                <a:extLst>
                  <a:ext uri="{0D108BD9-81ED-4DB2-BD59-A6C34878D82A}">
                    <a16:rowId xmlns:a16="http://schemas.microsoft.com/office/drawing/2014/main" val="10003"/>
                  </a:ext>
                </a:extLst>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extLst>
                  <a:ext uri="{0D108BD9-81ED-4DB2-BD59-A6C34878D82A}">
                    <a16:rowId xmlns:a16="http://schemas.microsoft.com/office/drawing/2014/main" val="10004"/>
                  </a:ext>
                </a:extLst>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extLst>
                  <a:ext uri="{0D108BD9-81ED-4DB2-BD59-A6C34878D82A}">
                    <a16:rowId xmlns:a16="http://schemas.microsoft.com/office/drawing/2014/main" val="10005"/>
                  </a:ext>
                </a:extLst>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extLst>
                    <a:ext uri="{9D8B030D-6E8A-4147-A177-3AD203B41FA5}">
                      <a16:colId xmlns:a16="http://schemas.microsoft.com/office/drawing/2014/main" val="20000"/>
                    </a:ext>
                  </a:extLst>
                </a:gridCol>
                <a:gridCol w="2066760">
                  <a:extLst>
                    <a:ext uri="{9D8B030D-6E8A-4147-A177-3AD203B41FA5}">
                      <a16:colId xmlns:a16="http://schemas.microsoft.com/office/drawing/2014/main" val="20001"/>
                    </a:ext>
                  </a:extLst>
                </a:gridCol>
                <a:gridCol w="1797480">
                  <a:extLst>
                    <a:ext uri="{9D8B030D-6E8A-4147-A177-3AD203B41FA5}">
                      <a16:colId xmlns:a16="http://schemas.microsoft.com/office/drawing/2014/main" val="20002"/>
                    </a:ext>
                  </a:extLst>
                </a:gridCol>
                <a:gridCol w="1932120">
                  <a:extLst>
                    <a:ext uri="{9D8B030D-6E8A-4147-A177-3AD203B41FA5}">
                      <a16:colId xmlns:a16="http://schemas.microsoft.com/office/drawing/2014/main" val="20003"/>
                    </a:ext>
                  </a:extLst>
                </a:gridCol>
                <a:gridCol w="1932120">
                  <a:extLst>
                    <a:ext uri="{9D8B030D-6E8A-4147-A177-3AD203B41FA5}">
                      <a16:colId xmlns:a16="http://schemas.microsoft.com/office/drawing/2014/main" val="20004"/>
                    </a:ext>
                  </a:extLst>
                </a:gridCol>
                <a:gridCol w="1932120">
                  <a:extLst>
                    <a:ext uri="{9D8B030D-6E8A-4147-A177-3AD203B41FA5}">
                      <a16:colId xmlns:a16="http://schemas.microsoft.com/office/drawing/2014/main" val="20005"/>
                    </a:ext>
                  </a:extLst>
                </a:gridCol>
                <a:gridCol w="1932120">
                  <a:extLst>
                    <a:ext uri="{9D8B030D-6E8A-4147-A177-3AD203B41FA5}">
                      <a16:colId xmlns:a16="http://schemas.microsoft.com/office/drawing/2014/main" val="20006"/>
                    </a:ext>
                  </a:extLst>
                </a:gridCol>
                <a:gridCol w="1932120">
                  <a:extLst>
                    <a:ext uri="{9D8B030D-6E8A-4147-A177-3AD203B41FA5}">
                      <a16:colId xmlns:a16="http://schemas.microsoft.com/office/drawing/2014/main" val="20007"/>
                    </a:ext>
                  </a:extLst>
                </a:gridCol>
                <a:gridCol w="1932120">
                  <a:extLst>
                    <a:ext uri="{9D8B030D-6E8A-4147-A177-3AD203B41FA5}">
                      <a16:colId xmlns:a16="http://schemas.microsoft.com/office/drawing/2014/main" val="20008"/>
                    </a:ext>
                  </a:extLst>
                </a:gridCol>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extLst>
                  <a:ext uri="{0D108BD9-81ED-4DB2-BD59-A6C34878D82A}">
                    <a16:rowId xmlns:a16="http://schemas.microsoft.com/office/drawing/2014/main" val="10000"/>
                  </a:ext>
                </a:extLst>
              </a:tr>
            </a:tbl>
          </a:graphicData>
        </a:graphic>
      </p:graphicFrame>
      <p:graphicFrame>
        <p:nvGraphicFramePr>
          <p:cNvPr id="2863" name="Google Shape;193;p2"/>
          <p:cNvGraphicFramePr/>
          <p:nvPr/>
        </p:nvGraphicFramePr>
        <p:xfrm>
          <a:off x="366120" y="6835320"/>
          <a:ext cx="17517600" cy="3024000"/>
        </p:xfrm>
        <a:graphic>
          <a:graphicData uri="http://schemas.openxmlformats.org/drawingml/2006/table">
            <a:tbl>
              <a:tblPr/>
              <a:tblGrid>
                <a:gridCol w="2045520">
                  <a:extLst>
                    <a:ext uri="{9D8B030D-6E8A-4147-A177-3AD203B41FA5}">
                      <a16:colId xmlns:a16="http://schemas.microsoft.com/office/drawing/2014/main" val="20000"/>
                    </a:ext>
                  </a:extLst>
                </a:gridCol>
                <a:gridCol w="2066760">
                  <a:extLst>
                    <a:ext uri="{9D8B030D-6E8A-4147-A177-3AD203B41FA5}">
                      <a16:colId xmlns:a16="http://schemas.microsoft.com/office/drawing/2014/main" val="20001"/>
                    </a:ext>
                  </a:extLst>
                </a:gridCol>
                <a:gridCol w="8024760">
                  <a:extLst>
                    <a:ext uri="{9D8B030D-6E8A-4147-A177-3AD203B41FA5}">
                      <a16:colId xmlns:a16="http://schemas.microsoft.com/office/drawing/2014/main" val="20002"/>
                    </a:ext>
                  </a:extLst>
                </a:gridCol>
                <a:gridCol w="2861280">
                  <a:extLst>
                    <a:ext uri="{9D8B030D-6E8A-4147-A177-3AD203B41FA5}">
                      <a16:colId xmlns:a16="http://schemas.microsoft.com/office/drawing/2014/main" val="20003"/>
                    </a:ext>
                  </a:extLst>
                </a:gridCol>
                <a:gridCol w="2519280">
                  <a:extLst>
                    <a:ext uri="{9D8B030D-6E8A-4147-A177-3AD203B41FA5}">
                      <a16:colId xmlns:a16="http://schemas.microsoft.com/office/drawing/2014/main" val="20004"/>
                    </a:ext>
                  </a:extLst>
                </a:gridCol>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extLst>
                  <a:ext uri="{0D108BD9-81ED-4DB2-BD59-A6C34878D82A}">
                    <a16:rowId xmlns:a16="http://schemas.microsoft.com/office/drawing/2014/main" val="10000"/>
                  </a:ext>
                </a:extLst>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a:solidFill>
                            <a:schemeClr val="dk1"/>
                          </a:solidFill>
                          <a:latin typeface="Microsoft JhengHei"/>
                          <a:ea typeface="Microsoft JhengHei"/>
                        </a:rPr>
                        <a:t>Vincent</a:t>
                      </a:r>
                      <a:r>
                        <a:rPr lang="en-US" sz="1800" b="1" strike="noStrike" spc="-1" baseline="0" dirty="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extLst>
                  <a:ext uri="{0D108BD9-81ED-4DB2-BD59-A6C34878D82A}">
                    <a16:rowId xmlns:a16="http://schemas.microsoft.com/office/drawing/2014/main" val="10001"/>
                  </a:ext>
                </a:extLst>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extLst>
                  <a:ext uri="{0D108BD9-81ED-4DB2-BD59-A6C34878D82A}">
                    <a16:rowId xmlns:a16="http://schemas.microsoft.com/office/drawing/2014/main" val="10002"/>
                  </a:ext>
                </a:extLst>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extLst>
                  <a:ext uri="{0D108BD9-81ED-4DB2-BD59-A6C34878D82A}">
                    <a16:rowId xmlns:a16="http://schemas.microsoft.com/office/drawing/2014/main" val="10003"/>
                  </a:ext>
                </a:extLst>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a:solidFill>
                            <a:srgbClr val="000000"/>
                          </a:solidFill>
                          <a:latin typeface="Microsoft JhengHei"/>
                          <a:ea typeface="Microsoft JhengHei"/>
                        </a:rPr>
                        <a:t>余哲 </a:t>
                      </a:r>
                      <a:r>
                        <a:rPr lang="en-US" sz="1800" b="0" strike="noStrike" spc="-1" dirty="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extLst>
                  <a:ext uri="{0D108BD9-81ED-4DB2-BD59-A6C34878D82A}">
                    <a16:rowId xmlns:a16="http://schemas.microsoft.com/office/drawing/2014/main" val="10004"/>
                  </a:ext>
                </a:extLst>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extLst>
                  <a:ext uri="{0D108BD9-81ED-4DB2-BD59-A6C34878D82A}">
                    <a16:rowId xmlns:a16="http://schemas.microsoft.com/office/drawing/2014/main" val="10005"/>
                  </a:ext>
                </a:extLst>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altLang="zh-TW" sz="2400" spc="-1" dirty="0">
                <a:solidFill>
                  <a:schemeClr val="dk1"/>
                </a:solidFill>
                <a:latin typeface="Microsoft JhengHei"/>
                <a:ea typeface="Microsoft JhengHei"/>
              </a:rPr>
              <a:t>MM-MA-0010</a:t>
            </a:r>
            <a:r>
              <a:rPr lang="zh-TW" altLang="en-US" sz="2400" spc="-1" dirty="0">
                <a:solidFill>
                  <a:schemeClr val="dk1"/>
                </a:solidFill>
                <a:latin typeface="Microsoft JhengHei"/>
                <a:ea typeface="Microsoft JhengHei"/>
              </a:rPr>
              <a:t>採購單收貨</a:t>
            </a:r>
            <a:r>
              <a:rPr lang="zh-TW" sz="2400" b="0" strike="noStrike" spc="-1" dirty="0">
                <a:solidFill>
                  <a:schemeClr val="dk1"/>
                </a:solidFill>
                <a:latin typeface="Microsoft JhengHei"/>
                <a:ea typeface="Microsoft JhengHei"/>
              </a:rPr>
              <a:t>流程</a:t>
            </a:r>
            <a:endParaRPr lang="en-US" sz="2400" b="0" strike="noStrike" spc="-1" dirty="0">
              <a:solidFill>
                <a:srgbClr val="000000"/>
              </a:solidFill>
              <a:latin typeface="Calibri"/>
            </a:endParaRPr>
          </a:p>
        </p:txBody>
      </p:sp>
      <p:sp>
        <p:nvSpPr>
          <p:cNvPr id="7" name="TextBox 2"/>
          <p:cNvSpPr/>
          <p:nvPr/>
        </p:nvSpPr>
        <p:spPr>
          <a:xfrm>
            <a:off x="16716492" y="715138"/>
            <a:ext cx="1428696" cy="33710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en-US" sz="1600" b="0" strike="noStrike" spc="-1" dirty="0">
                <a:solidFill>
                  <a:schemeClr val="dk1"/>
                </a:solidFill>
                <a:latin typeface="微軟正黑體"/>
                <a:ea typeface="微軟正黑體"/>
              </a:rPr>
              <a:t>2025/08/02</a:t>
            </a:r>
            <a:endParaRPr lang="en-US" sz="1600" b="0" strike="noStrike" spc="-1" dirty="0">
              <a:solidFill>
                <a:srgbClr val="0000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 name="TextBox 53"/>
          <p:cNvSpPr/>
          <p:nvPr/>
        </p:nvSpPr>
        <p:spPr>
          <a:xfrm>
            <a:off x="14380740" y="2064199"/>
            <a:ext cx="3593160" cy="5122299"/>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marL="342900" indent="-342900">
              <a:buClr>
                <a:srgbClr val="000000"/>
              </a:buClr>
              <a:buFont typeface="Arial"/>
              <a:buAutoNum type="arabicPeriod"/>
            </a:pPr>
            <a:r>
              <a:rPr lang="zh-TW" altLang="en-US" spc="-2" dirty="0">
                <a:solidFill>
                  <a:srgbClr val="000000"/>
                </a:solidFill>
                <a:latin typeface="Arial"/>
                <a:ea typeface="Arial"/>
              </a:rPr>
              <a:t>以</a:t>
            </a:r>
            <a:r>
              <a:rPr lang="en-US" spc="-2" dirty="0">
                <a:solidFill>
                  <a:srgbClr val="000000"/>
                </a:solidFill>
                <a:latin typeface="Arial"/>
                <a:ea typeface="Arial"/>
              </a:rPr>
              <a:t>Packing list </a:t>
            </a:r>
            <a:r>
              <a:rPr lang="zh-TW" altLang="en-US" spc="-2" dirty="0">
                <a:solidFill>
                  <a:srgbClr val="000000"/>
                </a:solidFill>
                <a:latin typeface="Arial"/>
                <a:ea typeface="Arial"/>
              </a:rPr>
              <a:t>內容點收實際到貨。</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當有超交時，例如</a:t>
            </a:r>
            <a:r>
              <a:rPr lang="en-US" spc="-2" dirty="0">
                <a:solidFill>
                  <a:srgbClr val="000000"/>
                </a:solidFill>
                <a:latin typeface="Arial"/>
                <a:ea typeface="Arial"/>
              </a:rPr>
              <a:t>:</a:t>
            </a:r>
            <a:r>
              <a:rPr lang="zh-TW" altLang="en-US" spc="-2" dirty="0">
                <a:solidFill>
                  <a:srgbClr val="000000"/>
                </a:solidFill>
                <a:latin typeface="Arial"/>
                <a:ea typeface="Arial"/>
              </a:rPr>
              <a:t>真皮類，必須要通知採購開立開補單。</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如果是廠商</a:t>
            </a:r>
            <a:r>
              <a:rPr lang="en-US" spc="-2" dirty="0">
                <a:solidFill>
                  <a:srgbClr val="000000"/>
                </a:solidFill>
                <a:latin typeface="Arial"/>
                <a:ea typeface="Arial"/>
              </a:rPr>
              <a:t>LOSS</a:t>
            </a:r>
            <a:r>
              <a:rPr lang="zh-TW" altLang="en-US" spc="-2" dirty="0">
                <a:solidFill>
                  <a:srgbClr val="000000"/>
                </a:solidFill>
                <a:latin typeface="Arial"/>
                <a:ea typeface="Arial"/>
              </a:rPr>
              <a:t>多給或是測試給樣則用其他無採購單免費入庫方式作業。</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建立開補採購單，並需經過簽核審查程序。</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如果有啟用</a:t>
            </a:r>
            <a:r>
              <a:rPr lang="en-US" spc="-2" dirty="0">
                <a:solidFill>
                  <a:srgbClr val="000000"/>
                </a:solidFill>
                <a:latin typeface="Arial"/>
                <a:ea typeface="Arial"/>
              </a:rPr>
              <a:t>WMS</a:t>
            </a:r>
            <a:r>
              <a:rPr lang="zh-TW" altLang="en-US" spc="-2" dirty="0">
                <a:solidFill>
                  <a:srgbClr val="000000"/>
                </a:solidFill>
                <a:latin typeface="Arial"/>
                <a:ea typeface="Arial"/>
              </a:rPr>
              <a:t>，會在</a:t>
            </a:r>
            <a:r>
              <a:rPr lang="en-US" spc="-2" dirty="0">
                <a:solidFill>
                  <a:srgbClr val="000000"/>
                </a:solidFill>
                <a:latin typeface="Arial"/>
                <a:ea typeface="Arial"/>
              </a:rPr>
              <a:t>WMS</a:t>
            </a:r>
            <a:r>
              <a:rPr lang="zh-TW" altLang="en-US" spc="-2" dirty="0">
                <a:solidFill>
                  <a:srgbClr val="000000"/>
                </a:solidFill>
                <a:latin typeface="Arial"/>
                <a:ea typeface="Arial"/>
              </a:rPr>
              <a:t>執行收料，並列印入料標籤，進行標籤張貼。</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當有啟用</a:t>
            </a:r>
            <a:r>
              <a:rPr lang="en-US" spc="-2" dirty="0">
                <a:solidFill>
                  <a:srgbClr val="000000"/>
                </a:solidFill>
                <a:latin typeface="Arial"/>
                <a:ea typeface="Arial"/>
              </a:rPr>
              <a:t>WMS</a:t>
            </a:r>
            <a:r>
              <a:rPr lang="zh-TW" altLang="en-US" spc="-2" dirty="0">
                <a:solidFill>
                  <a:srgbClr val="000000"/>
                </a:solidFill>
                <a:latin typeface="Arial"/>
                <a:ea typeface="Arial"/>
              </a:rPr>
              <a:t>系統時，則由</a:t>
            </a:r>
            <a:r>
              <a:rPr lang="en-US" spc="-2" dirty="0">
                <a:solidFill>
                  <a:srgbClr val="000000"/>
                </a:solidFill>
                <a:latin typeface="Arial"/>
                <a:ea typeface="Arial"/>
              </a:rPr>
              <a:t>WMS</a:t>
            </a:r>
            <a:r>
              <a:rPr lang="zh-TW" altLang="en-US" spc="-2" dirty="0">
                <a:solidFill>
                  <a:srgbClr val="000000"/>
                </a:solidFill>
                <a:latin typeface="Arial"/>
                <a:ea typeface="Arial"/>
              </a:rPr>
              <a:t>回拋收料入庫資料，系統自動執行</a:t>
            </a:r>
            <a:r>
              <a:rPr lang="en-US" spc="-2" dirty="0">
                <a:solidFill>
                  <a:srgbClr val="000000"/>
                </a:solidFill>
                <a:latin typeface="Arial"/>
                <a:ea typeface="Arial"/>
              </a:rPr>
              <a:t>MIGO</a:t>
            </a:r>
            <a:r>
              <a:rPr lang="zh-TW" altLang="en-US" spc="-2" dirty="0">
                <a:solidFill>
                  <a:srgbClr val="000000"/>
                </a:solidFill>
                <a:latin typeface="Arial"/>
                <a:ea typeface="Arial"/>
              </a:rPr>
              <a:t>採購收料，入到待驗倉，如果沒有啟用</a:t>
            </a:r>
            <a:r>
              <a:rPr lang="en-US" spc="-2" dirty="0">
                <a:solidFill>
                  <a:srgbClr val="000000"/>
                </a:solidFill>
                <a:latin typeface="Arial"/>
                <a:ea typeface="Arial"/>
              </a:rPr>
              <a:t>WMS</a:t>
            </a:r>
            <a:r>
              <a:rPr lang="zh-TW" altLang="en-US" spc="-2" dirty="0">
                <a:solidFill>
                  <a:srgbClr val="000000"/>
                </a:solidFill>
                <a:latin typeface="Arial"/>
                <a:ea typeface="Arial"/>
              </a:rPr>
              <a:t>，則人工執行</a:t>
            </a:r>
            <a:r>
              <a:rPr lang="en-US" spc="-2" dirty="0">
                <a:solidFill>
                  <a:srgbClr val="000000"/>
                </a:solidFill>
                <a:latin typeface="Arial"/>
                <a:ea typeface="Arial"/>
              </a:rPr>
              <a:t>MIGO</a:t>
            </a:r>
            <a:r>
              <a:rPr lang="zh-TW" altLang="en-US" spc="-2" dirty="0">
                <a:solidFill>
                  <a:srgbClr val="000000"/>
                </a:solidFill>
                <a:latin typeface="Arial"/>
                <a:ea typeface="Arial"/>
              </a:rPr>
              <a:t>採購收量，直接入實際庫存倉。</a:t>
            </a:r>
            <a:endParaRPr lang="en-US" spc="-2" dirty="0">
              <a:solidFill>
                <a:srgbClr val="000000"/>
              </a:solidFill>
              <a:latin typeface="Calibri"/>
            </a:endParaRPr>
          </a:p>
        </p:txBody>
      </p:sp>
      <p:sp>
        <p:nvSpPr>
          <p:cNvPr id="3688" name="文字方塊 3"/>
          <p:cNvSpPr/>
          <p:nvPr/>
        </p:nvSpPr>
        <p:spPr>
          <a:xfrm>
            <a:off x="2351160" y="820387"/>
            <a:ext cx="7217640" cy="459484"/>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en-US" sz="2100" b="1" spc="-2" dirty="0">
                <a:solidFill>
                  <a:srgbClr val="000000"/>
                </a:solidFill>
                <a:latin typeface="微軟正黑體"/>
                <a:ea typeface="微軟正黑體"/>
              </a:rPr>
              <a:t>MM-IM-0010</a:t>
            </a:r>
            <a:r>
              <a:rPr lang="zh-TW" altLang="en-US" sz="2100" b="1" spc="-2" dirty="0">
                <a:solidFill>
                  <a:srgbClr val="000000"/>
                </a:solidFill>
                <a:latin typeface="微軟正黑體"/>
                <a:ea typeface="微軟正黑體"/>
              </a:rPr>
              <a:t>採購單收貨流程</a:t>
            </a:r>
            <a:endParaRPr lang="en-US" sz="2100" b="1" spc="-2" dirty="0">
              <a:solidFill>
                <a:srgbClr val="000000"/>
              </a:solidFill>
              <a:latin typeface="Calibri"/>
            </a:endParaRPr>
          </a:p>
        </p:txBody>
      </p:sp>
      <p:sp>
        <p:nvSpPr>
          <p:cNvPr id="3689" name="文字方塊 17"/>
          <p:cNvSpPr/>
          <p:nvPr/>
        </p:nvSpPr>
        <p:spPr>
          <a:xfrm>
            <a:off x="3028860" y="1388554"/>
            <a:ext cx="2240460" cy="397928"/>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gn="ctr">
              <a:lnSpc>
                <a:spcPct val="100000"/>
              </a:lnSpc>
            </a:pPr>
            <a:r>
              <a:rPr lang="zh-TW" altLang="en-US" sz="1700" spc="-2" dirty="0">
                <a:solidFill>
                  <a:srgbClr val="000000"/>
                </a:solidFill>
                <a:latin typeface="Arial"/>
                <a:ea typeface="Arial"/>
              </a:rPr>
              <a:t>進出口</a:t>
            </a:r>
            <a:r>
              <a:rPr lang="en-US" sz="1700" spc="-2" dirty="0">
                <a:solidFill>
                  <a:srgbClr val="000000"/>
                </a:solidFill>
                <a:latin typeface="Arial"/>
                <a:ea typeface="Arial"/>
              </a:rPr>
              <a:t>/</a:t>
            </a:r>
            <a:r>
              <a:rPr lang="zh-TW" altLang="en-US" sz="1700" spc="-2" dirty="0">
                <a:solidFill>
                  <a:srgbClr val="000000"/>
                </a:solidFill>
                <a:latin typeface="Arial"/>
                <a:ea typeface="Arial"/>
              </a:rPr>
              <a:t>關務</a:t>
            </a:r>
            <a:endParaRPr lang="en-US" sz="1700" spc="-2" dirty="0">
              <a:solidFill>
                <a:srgbClr val="000000"/>
              </a:solidFill>
              <a:latin typeface="Calibri"/>
            </a:endParaRPr>
          </a:p>
        </p:txBody>
      </p:sp>
      <p:cxnSp>
        <p:nvCxnSpPr>
          <p:cNvPr id="3690" name="Straight Connector 284"/>
          <p:cNvCxnSpPr/>
          <p:nvPr/>
        </p:nvCxnSpPr>
        <p:spPr>
          <a:xfrm>
            <a:off x="9094140" y="1407457"/>
            <a:ext cx="1080" cy="8617570"/>
          </a:xfrm>
          <a:prstGeom prst="straightConnector1">
            <a:avLst/>
          </a:prstGeom>
          <a:ln w="0">
            <a:solidFill>
              <a:srgbClr val="000000"/>
            </a:solidFill>
          </a:ln>
        </p:spPr>
      </p:cxnSp>
      <p:sp>
        <p:nvSpPr>
          <p:cNvPr id="3691" name="文字方塊 17"/>
          <p:cNvSpPr/>
          <p:nvPr/>
        </p:nvSpPr>
        <p:spPr>
          <a:xfrm>
            <a:off x="10188180" y="1407997"/>
            <a:ext cx="1182600" cy="397928"/>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gn="ctr">
              <a:lnSpc>
                <a:spcPct val="100000"/>
              </a:lnSpc>
            </a:pPr>
            <a:r>
              <a:rPr lang="zh-TW" altLang="en-US" sz="1700" spc="-2" dirty="0">
                <a:solidFill>
                  <a:srgbClr val="000000"/>
                </a:solidFill>
                <a:latin typeface="Arial"/>
                <a:ea typeface="Arial"/>
              </a:rPr>
              <a:t>採購</a:t>
            </a:r>
            <a:endParaRPr lang="en-US" sz="1700" spc="-2" dirty="0">
              <a:solidFill>
                <a:srgbClr val="000000"/>
              </a:solidFill>
              <a:latin typeface="Calibri"/>
            </a:endParaRPr>
          </a:p>
        </p:txBody>
      </p:sp>
      <p:sp>
        <p:nvSpPr>
          <p:cNvPr id="3692" name="TextBox 46"/>
          <p:cNvSpPr/>
          <p:nvPr/>
        </p:nvSpPr>
        <p:spPr>
          <a:xfrm>
            <a:off x="8095680" y="3744938"/>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cxnSp>
        <p:nvCxnSpPr>
          <p:cNvPr id="3693" name="肘形接點 68"/>
          <p:cNvCxnSpPr>
            <a:stCxn id="3694" idx="3"/>
          </p:cNvCxnSpPr>
          <p:nvPr/>
        </p:nvCxnSpPr>
        <p:spPr>
          <a:xfrm>
            <a:off x="2182140" y="2605362"/>
            <a:ext cx="520560" cy="4321"/>
          </a:xfrm>
          <a:prstGeom prst="bentConnector3">
            <a:avLst>
              <a:gd name="adj1" fmla="val 50155"/>
            </a:avLst>
          </a:prstGeom>
          <a:ln w="0">
            <a:solidFill>
              <a:srgbClr val="000000"/>
            </a:solidFill>
            <a:tailEnd type="triangle" w="med" len="med"/>
          </a:ln>
        </p:spPr>
      </p:cxnSp>
      <p:graphicFrame>
        <p:nvGraphicFramePr>
          <p:cNvPr id="3695" name="表格 30"/>
          <p:cNvGraphicFramePr/>
          <p:nvPr/>
        </p:nvGraphicFramePr>
        <p:xfrm>
          <a:off x="6267240" y="7422906"/>
          <a:ext cx="1790640" cy="1097448"/>
        </p:xfrm>
        <a:graphic>
          <a:graphicData uri="http://schemas.openxmlformats.org/drawingml/2006/table">
            <a:tbl>
              <a:tblPr/>
              <a:tblGrid>
                <a:gridCol w="895320">
                  <a:extLst>
                    <a:ext uri="{9D8B030D-6E8A-4147-A177-3AD203B41FA5}">
                      <a16:colId xmlns:a16="http://schemas.microsoft.com/office/drawing/2014/main" val="20000"/>
                    </a:ext>
                  </a:extLst>
                </a:gridCol>
                <a:gridCol w="895320">
                  <a:extLst>
                    <a:ext uri="{9D8B030D-6E8A-4147-A177-3AD203B41FA5}">
                      <a16:colId xmlns:a16="http://schemas.microsoft.com/office/drawing/2014/main" val="20001"/>
                    </a:ext>
                  </a:extLst>
                </a:gridCol>
              </a:tblGrid>
              <a:tr h="365816">
                <a:tc gridSpan="2">
                  <a:txBody>
                    <a:bodyPr/>
                    <a:lstStyle/>
                    <a:p>
                      <a:pPr algn="ctr">
                        <a:lnSpc>
                          <a:spcPct val="100000"/>
                        </a:lnSpc>
                      </a:pPr>
                      <a:r>
                        <a:rPr lang="en-GB" sz="1500" b="1" strike="noStrike" spc="-1">
                          <a:solidFill>
                            <a:schemeClr val="dk1"/>
                          </a:solidFill>
                          <a:latin typeface="微軟正黑體"/>
                          <a:ea typeface="微軟正黑體"/>
                        </a:rPr>
                        <a:t>MIGO</a:t>
                      </a:r>
                      <a:endParaRPr lang="en-US" sz="1500" b="0" strike="noStrike" spc="-1">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365816">
                <a:tc gridSpan="2">
                  <a:txBody>
                    <a:bodyPr/>
                    <a:lstStyle/>
                    <a:p>
                      <a:pPr algn="ctr">
                        <a:lnSpc>
                          <a:spcPct val="100000"/>
                        </a:lnSpc>
                      </a:pPr>
                      <a:r>
                        <a:rPr lang="zh-TW" sz="1500" b="0" strike="noStrike" spc="-1">
                          <a:solidFill>
                            <a:srgbClr val="000000"/>
                          </a:solidFill>
                          <a:latin typeface="微軟正黑體"/>
                          <a:ea typeface="微軟正黑體"/>
                        </a:rPr>
                        <a:t>執行收料入庫</a:t>
                      </a:r>
                      <a:endParaRPr lang="en-US" sz="1500" b="0" strike="noStrike" spc="-1">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65816">
                <a:tc>
                  <a:txBody>
                    <a:bodyPr/>
                    <a:lstStyle/>
                    <a:p>
                      <a:pPr algn="ctr">
                        <a:lnSpc>
                          <a:spcPct val="100000"/>
                        </a:lnSpc>
                      </a:pPr>
                      <a:r>
                        <a:rPr lang="en-US" sz="1500" b="0" strike="noStrike" spc="-1">
                          <a:solidFill>
                            <a:srgbClr val="000000"/>
                          </a:solidFill>
                          <a:latin typeface="微軟正黑體"/>
                          <a:ea typeface="微軟正黑體"/>
                        </a:rPr>
                        <a:t>SAP</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a:solidFill>
                            <a:srgbClr val="000000"/>
                          </a:solidFill>
                          <a:latin typeface="微軟正黑體"/>
                          <a:ea typeface="微軟正黑體"/>
                        </a:rPr>
                        <a:t>手自動</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cxnSp>
        <p:nvCxnSpPr>
          <p:cNvPr id="3696" name="Straight Connector 284"/>
          <p:cNvCxnSpPr/>
          <p:nvPr/>
        </p:nvCxnSpPr>
        <p:spPr>
          <a:xfrm>
            <a:off x="5641920" y="1767693"/>
            <a:ext cx="1080" cy="8617570"/>
          </a:xfrm>
          <a:prstGeom prst="straightConnector1">
            <a:avLst/>
          </a:prstGeom>
          <a:ln w="0">
            <a:solidFill>
              <a:srgbClr val="000000"/>
            </a:solidFill>
          </a:ln>
        </p:spPr>
      </p:cxnSp>
      <p:sp>
        <p:nvSpPr>
          <p:cNvPr id="3697" name="文字方塊 17"/>
          <p:cNvSpPr/>
          <p:nvPr/>
        </p:nvSpPr>
        <p:spPr>
          <a:xfrm>
            <a:off x="6795360" y="1375592"/>
            <a:ext cx="1852200" cy="397928"/>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gn="ctr">
              <a:lnSpc>
                <a:spcPct val="100000"/>
              </a:lnSpc>
            </a:pPr>
            <a:r>
              <a:rPr lang="zh-TW" altLang="en-US" sz="1700" spc="-2" dirty="0">
                <a:solidFill>
                  <a:srgbClr val="000000"/>
                </a:solidFill>
                <a:latin typeface="Arial"/>
                <a:ea typeface="Arial"/>
              </a:rPr>
              <a:t>倉管</a:t>
            </a:r>
            <a:endParaRPr lang="en-US" sz="1700" spc="-2" dirty="0">
              <a:solidFill>
                <a:srgbClr val="000000"/>
              </a:solidFill>
              <a:latin typeface="Calibri"/>
            </a:endParaRPr>
          </a:p>
        </p:txBody>
      </p:sp>
      <p:sp>
        <p:nvSpPr>
          <p:cNvPr id="3702" name="AutoShape 3"/>
          <p:cNvSpPr/>
          <p:nvPr/>
        </p:nvSpPr>
        <p:spPr>
          <a:xfrm>
            <a:off x="2612520" y="4174304"/>
            <a:ext cx="1970460" cy="1087728"/>
          </a:xfrm>
          <a:prstGeom prst="flowChartPredefinedProcess">
            <a:avLst/>
          </a:prstGeom>
          <a:noFill/>
          <a:ln w="9525">
            <a:solidFill>
              <a:srgbClr val="000000"/>
            </a:solidFill>
            <a:miter/>
          </a:ln>
        </p:spPr>
        <p:style>
          <a:lnRef idx="0">
            <a:scrgbClr r="0" g="0" b="0"/>
          </a:lnRef>
          <a:fillRef idx="0">
            <a:scrgbClr r="0" g="0" b="0"/>
          </a:fillRef>
          <a:effectRef idx="0">
            <a:scrgbClr r="0" g="0" b="0"/>
          </a:effectRef>
          <a:fontRef idx="minor"/>
        </p:style>
        <p:txBody>
          <a:bodyPr lIns="71820" tIns="71820" rIns="71820" bIns="71820" anchor="ctr">
            <a:noAutofit/>
          </a:bodyPr>
          <a:lstStyle/>
          <a:p>
            <a:pPr algn="ctr">
              <a:lnSpc>
                <a:spcPts val="1845"/>
              </a:lnSpc>
            </a:pPr>
            <a:r>
              <a:rPr lang="zh-CN" altLang="en-US" sz="1600" spc="-2" dirty="0">
                <a:solidFill>
                  <a:srgbClr val="000000"/>
                </a:solidFill>
                <a:latin typeface="微軟正黑體"/>
                <a:ea typeface="微軟正黑體"/>
              </a:rPr>
              <a:t>進出口課報關</a:t>
            </a:r>
            <a:r>
              <a:rPr lang="zh-TW" altLang="en-US" spc="-2" dirty="0">
                <a:solidFill>
                  <a:srgbClr val="000000"/>
                </a:solidFill>
                <a:latin typeface="Arial"/>
                <a:ea typeface="微軟正黑體"/>
              </a:rPr>
              <a:t>作業</a:t>
            </a:r>
            <a:endParaRPr lang="en-US" spc="-2" dirty="0">
              <a:solidFill>
                <a:srgbClr val="000000"/>
              </a:solidFill>
              <a:latin typeface="Calibri"/>
            </a:endParaRPr>
          </a:p>
        </p:txBody>
      </p:sp>
      <p:cxnSp>
        <p:nvCxnSpPr>
          <p:cNvPr id="3703" name="肘形接點 68"/>
          <p:cNvCxnSpPr>
            <a:endCxn id="3702" idx="0"/>
          </p:cNvCxnSpPr>
          <p:nvPr/>
        </p:nvCxnSpPr>
        <p:spPr>
          <a:xfrm rot="5400000">
            <a:off x="3068738" y="3643403"/>
            <a:ext cx="1060184" cy="2700"/>
          </a:xfrm>
          <a:prstGeom prst="bentConnector3">
            <a:avLst>
              <a:gd name="adj1" fmla="val 49847"/>
            </a:avLst>
          </a:prstGeom>
          <a:ln w="0">
            <a:solidFill>
              <a:srgbClr val="000000"/>
            </a:solidFill>
            <a:tailEnd type="triangle" w="med" len="med"/>
          </a:ln>
        </p:spPr>
      </p:cxnSp>
      <p:sp>
        <p:nvSpPr>
          <p:cNvPr id="3694" name="流程圖: 預設處理作業 21"/>
          <p:cNvSpPr/>
          <p:nvPr/>
        </p:nvSpPr>
        <p:spPr>
          <a:xfrm>
            <a:off x="369900" y="1986967"/>
            <a:ext cx="1812240" cy="1237331"/>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2820" tIns="76680" rIns="152820" bIns="76680" anchor="ctr">
            <a:noAutofit/>
          </a:bodyPr>
          <a:lstStyle/>
          <a:p>
            <a:pPr algn="ctr">
              <a:lnSpc>
                <a:spcPct val="100000"/>
              </a:lnSpc>
            </a:pPr>
            <a:r>
              <a:rPr lang="en-US" sz="1500" spc="-2" dirty="0">
                <a:solidFill>
                  <a:srgbClr val="000000"/>
                </a:solidFill>
                <a:latin typeface="微軟正黑體"/>
                <a:ea typeface="微軟正黑體"/>
              </a:rPr>
              <a:t>MM-PU-0030</a:t>
            </a:r>
            <a:endParaRPr lang="en-US" sz="1500" spc="-2" dirty="0">
              <a:solidFill>
                <a:srgbClr val="000000"/>
              </a:solidFill>
              <a:latin typeface="Calibri"/>
            </a:endParaRPr>
          </a:p>
          <a:p>
            <a:pPr algn="ctr">
              <a:lnSpc>
                <a:spcPct val="100000"/>
              </a:lnSpc>
            </a:pPr>
            <a:r>
              <a:rPr lang="zh-TW" altLang="en-US" sz="1500" spc="-2" dirty="0">
                <a:solidFill>
                  <a:srgbClr val="000000"/>
                </a:solidFill>
                <a:latin typeface="微軟正黑體"/>
                <a:ea typeface="微軟正黑體"/>
              </a:rPr>
              <a:t>庫存類請採流程</a:t>
            </a:r>
            <a:endParaRPr lang="en-US" sz="1500" spc="-2" dirty="0">
              <a:solidFill>
                <a:srgbClr val="000000"/>
              </a:solidFill>
              <a:latin typeface="Calibri"/>
            </a:endParaRPr>
          </a:p>
        </p:txBody>
      </p:sp>
      <p:graphicFrame>
        <p:nvGraphicFramePr>
          <p:cNvPr id="3705" name="表格 30"/>
          <p:cNvGraphicFramePr/>
          <p:nvPr/>
        </p:nvGraphicFramePr>
        <p:xfrm>
          <a:off x="2701620" y="2102545"/>
          <a:ext cx="1797120" cy="1097448"/>
        </p:xfrm>
        <a:graphic>
          <a:graphicData uri="http://schemas.openxmlformats.org/drawingml/2006/table">
            <a:tbl>
              <a:tblPr/>
              <a:tblGrid>
                <a:gridCol w="898560">
                  <a:extLst>
                    <a:ext uri="{9D8B030D-6E8A-4147-A177-3AD203B41FA5}">
                      <a16:colId xmlns:a16="http://schemas.microsoft.com/office/drawing/2014/main" val="20000"/>
                    </a:ext>
                  </a:extLst>
                </a:gridCol>
                <a:gridCol w="898560">
                  <a:extLst>
                    <a:ext uri="{9D8B030D-6E8A-4147-A177-3AD203B41FA5}">
                      <a16:colId xmlns:a16="http://schemas.microsoft.com/office/drawing/2014/main" val="20001"/>
                    </a:ext>
                  </a:extLst>
                </a:gridCol>
              </a:tblGrid>
              <a:tr h="365816">
                <a:tc gridSpan="2">
                  <a:txBody>
                    <a:bodyPr/>
                    <a:lstStyle/>
                    <a:p>
                      <a:pPr algn="ctr">
                        <a:lnSpc>
                          <a:spcPct val="100000"/>
                        </a:lnSpc>
                      </a:pPr>
                      <a:r>
                        <a:rPr lang="en-GB" sz="1500" b="1" strike="noStrike" spc="-1">
                          <a:solidFill>
                            <a:srgbClr val="FF0000"/>
                          </a:solidFill>
                          <a:latin typeface="微軟正黑體"/>
                          <a:ea typeface="微軟正黑體"/>
                        </a:rPr>
                        <a:t> </a:t>
                      </a:r>
                      <a:endParaRPr lang="en-US" sz="1500" b="0" strike="noStrike" spc="-1">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365816">
                <a:tc gridSpan="2">
                  <a:txBody>
                    <a:bodyPr/>
                    <a:lstStyle/>
                    <a:p>
                      <a:pPr algn="ctr">
                        <a:lnSpc>
                          <a:spcPct val="100000"/>
                        </a:lnSpc>
                      </a:pPr>
                      <a:r>
                        <a:rPr lang="zh-TW" sz="1500" b="0" strike="noStrike" spc="-1">
                          <a:solidFill>
                            <a:srgbClr val="000000"/>
                          </a:solidFill>
                          <a:latin typeface="微軟正黑體"/>
                          <a:ea typeface="微軟正黑體"/>
                        </a:rPr>
                        <a:t>廠商提供文件</a:t>
                      </a:r>
                      <a:endParaRPr lang="en-US" sz="1500" b="0" strike="noStrike" spc="-1">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65816">
                <a:tc>
                  <a:txBody>
                    <a:bodyPr/>
                    <a:lstStyle/>
                    <a:p>
                      <a:endParaRPr lang="en-GB" sz="1500" b="0" strike="noStrike" spc="-1">
                        <a:solidFill>
                          <a:srgbClr val="000000"/>
                        </a:solidFill>
                        <a:latin typeface="微軟正黑體"/>
                        <a:ea typeface="微軟正黑體"/>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a:solidFill>
                            <a:srgbClr val="000000"/>
                          </a:solidFill>
                          <a:latin typeface="微軟正黑體"/>
                          <a:ea typeface="微軟正黑體"/>
                        </a:rPr>
                        <a:t>手動</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sp>
        <p:nvSpPr>
          <p:cNvPr id="3706" name="流程圖: 文件 42"/>
          <p:cNvSpPr/>
          <p:nvPr/>
        </p:nvSpPr>
        <p:spPr>
          <a:xfrm>
            <a:off x="4356720" y="2545953"/>
            <a:ext cx="1636200" cy="767458"/>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en-US" sz="1500" spc="-2" dirty="0">
                <a:solidFill>
                  <a:srgbClr val="000000"/>
                </a:solidFill>
                <a:latin typeface="微軟正黑體"/>
                <a:ea typeface="微軟正黑體"/>
              </a:rPr>
              <a:t>INVOICE</a:t>
            </a:r>
            <a:endParaRPr lang="en-US" sz="1500" spc="-2" dirty="0">
              <a:solidFill>
                <a:srgbClr val="000000"/>
              </a:solidFill>
              <a:latin typeface="Calibri"/>
            </a:endParaRPr>
          </a:p>
        </p:txBody>
      </p:sp>
      <p:sp>
        <p:nvSpPr>
          <p:cNvPr id="3707" name="流程圖: 預設處理作業 21"/>
          <p:cNvSpPr/>
          <p:nvPr/>
        </p:nvSpPr>
        <p:spPr>
          <a:xfrm>
            <a:off x="12150540" y="5492648"/>
            <a:ext cx="1812240" cy="1237331"/>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2820" tIns="76680" rIns="152820" bIns="76680" anchor="ctr">
            <a:noAutofit/>
          </a:bodyPr>
          <a:lstStyle/>
          <a:p>
            <a:pPr algn="ctr">
              <a:lnSpc>
                <a:spcPct val="100000"/>
              </a:lnSpc>
            </a:pPr>
            <a:r>
              <a:rPr lang="en-US" sz="1500" spc="-2" dirty="0">
                <a:solidFill>
                  <a:srgbClr val="000000"/>
                </a:solidFill>
                <a:latin typeface="微軟正黑體"/>
                <a:ea typeface="微軟正黑體"/>
              </a:rPr>
              <a:t>WMS</a:t>
            </a:r>
            <a:r>
              <a:rPr lang="zh-TW" altLang="en-US" sz="1500" spc="-2" dirty="0">
                <a:solidFill>
                  <a:srgbClr val="000000"/>
                </a:solidFill>
                <a:latin typeface="微軟正黑體"/>
                <a:ea typeface="微軟正黑體"/>
              </a:rPr>
              <a:t>系統</a:t>
            </a:r>
            <a:endParaRPr lang="en-US" sz="1500" spc="-2" dirty="0">
              <a:solidFill>
                <a:srgbClr val="000000"/>
              </a:solidFill>
              <a:latin typeface="Calibri"/>
            </a:endParaRPr>
          </a:p>
        </p:txBody>
      </p:sp>
      <p:graphicFrame>
        <p:nvGraphicFramePr>
          <p:cNvPr id="3708" name="表格 30"/>
          <p:cNvGraphicFramePr/>
          <p:nvPr/>
        </p:nvGraphicFramePr>
        <p:xfrm>
          <a:off x="6267240" y="2109566"/>
          <a:ext cx="1797120" cy="1097448"/>
        </p:xfrm>
        <a:graphic>
          <a:graphicData uri="http://schemas.openxmlformats.org/drawingml/2006/table">
            <a:tbl>
              <a:tblPr/>
              <a:tblGrid>
                <a:gridCol w="898560">
                  <a:extLst>
                    <a:ext uri="{9D8B030D-6E8A-4147-A177-3AD203B41FA5}">
                      <a16:colId xmlns:a16="http://schemas.microsoft.com/office/drawing/2014/main" val="20000"/>
                    </a:ext>
                  </a:extLst>
                </a:gridCol>
                <a:gridCol w="898560">
                  <a:extLst>
                    <a:ext uri="{9D8B030D-6E8A-4147-A177-3AD203B41FA5}">
                      <a16:colId xmlns:a16="http://schemas.microsoft.com/office/drawing/2014/main" val="20001"/>
                    </a:ext>
                  </a:extLst>
                </a:gridCol>
              </a:tblGrid>
              <a:tr h="365816">
                <a:tc gridSpan="2">
                  <a:txBody>
                    <a:bodyPr/>
                    <a:lstStyle/>
                    <a:p>
                      <a:endParaRPr lang="en-GB" sz="1500" b="1" strike="noStrike" spc="-1">
                        <a:solidFill>
                          <a:schemeClr val="dk1"/>
                        </a:solidFill>
                        <a:latin typeface="微軟正黑體"/>
                        <a:ea typeface="微軟正黑體"/>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365816">
                <a:tc gridSpan="2">
                  <a:txBody>
                    <a:bodyPr/>
                    <a:lstStyle/>
                    <a:p>
                      <a:pPr algn="ctr">
                        <a:lnSpc>
                          <a:spcPct val="100000"/>
                        </a:lnSpc>
                      </a:pPr>
                      <a:r>
                        <a:rPr lang="zh-TW" sz="1500" b="0" strike="noStrike" spc="-1">
                          <a:solidFill>
                            <a:srgbClr val="000000"/>
                          </a:solidFill>
                          <a:latin typeface="微軟正黑體"/>
                          <a:ea typeface="微軟正黑體"/>
                        </a:rPr>
                        <a:t>進行實物點收</a:t>
                      </a:r>
                      <a:endParaRPr lang="en-US" sz="1500" b="0" strike="noStrike" spc="-1">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65816">
                <a:tc>
                  <a:txBody>
                    <a:bodyPr/>
                    <a:lstStyle/>
                    <a:p>
                      <a:endParaRPr lang="en-GB" sz="1500" b="0" strike="noStrike" spc="-1">
                        <a:solidFill>
                          <a:srgbClr val="000000"/>
                        </a:solidFill>
                        <a:latin typeface="微軟正黑體"/>
                        <a:ea typeface="微軟正黑體"/>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a:solidFill>
                            <a:srgbClr val="000000"/>
                          </a:solidFill>
                          <a:latin typeface="微軟正黑體"/>
                          <a:ea typeface="微軟正黑體"/>
                        </a:rPr>
                        <a:t>手動</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grpSp>
        <p:nvGrpSpPr>
          <p:cNvPr id="2" name="Group 220"/>
          <p:cNvGrpSpPr/>
          <p:nvPr/>
        </p:nvGrpSpPr>
        <p:grpSpPr>
          <a:xfrm>
            <a:off x="7885620" y="1925937"/>
            <a:ext cx="532440" cy="407763"/>
            <a:chOff x="5257080" y="1283760"/>
            <a:chExt cx="354960" cy="271800"/>
          </a:xfrm>
        </p:grpSpPr>
        <p:sp>
          <p:nvSpPr>
            <p:cNvPr id="3710" name="Oval 221"/>
            <p:cNvSpPr/>
            <p:nvPr/>
          </p:nvSpPr>
          <p:spPr>
            <a:xfrm>
              <a:off x="5257440" y="1283760"/>
              <a:ext cx="273600" cy="27180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3711" name="TextBox 222"/>
            <p:cNvSpPr/>
            <p:nvPr/>
          </p:nvSpPr>
          <p:spPr>
            <a:xfrm>
              <a:off x="5257080" y="130428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1</a:t>
              </a:r>
              <a:endParaRPr lang="en-US" sz="1500" spc="-2" dirty="0">
                <a:solidFill>
                  <a:srgbClr val="000000"/>
                </a:solidFill>
                <a:latin typeface="Calibri"/>
              </a:endParaRPr>
            </a:p>
          </p:txBody>
        </p:sp>
      </p:grpSp>
      <p:cxnSp>
        <p:nvCxnSpPr>
          <p:cNvPr id="3712" name="肘形接點 103"/>
          <p:cNvCxnSpPr>
            <a:stCxn id="3702" idx="3"/>
            <a:endCxn id="3708" idx="1"/>
          </p:cNvCxnSpPr>
          <p:nvPr/>
        </p:nvCxnSpPr>
        <p:spPr>
          <a:xfrm flipV="1">
            <a:off x="4582980" y="2659370"/>
            <a:ext cx="1684800" cy="2059338"/>
          </a:xfrm>
          <a:prstGeom prst="bentConnector3">
            <a:avLst>
              <a:gd name="adj1" fmla="val 89932"/>
            </a:avLst>
          </a:prstGeom>
          <a:ln w="0">
            <a:solidFill>
              <a:srgbClr val="000000"/>
            </a:solidFill>
            <a:tailEnd type="triangle" w="med" len="med"/>
          </a:ln>
        </p:spPr>
      </p:cxnSp>
      <p:sp>
        <p:nvSpPr>
          <p:cNvPr id="3713" name="流程圖: 決策 50"/>
          <p:cNvSpPr/>
          <p:nvPr/>
        </p:nvSpPr>
        <p:spPr>
          <a:xfrm>
            <a:off x="6269400" y="3738997"/>
            <a:ext cx="1787400" cy="1029399"/>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是否有超交</a:t>
            </a:r>
            <a:endParaRPr lang="en-US" sz="1500" spc="-2" dirty="0">
              <a:solidFill>
                <a:srgbClr val="000000"/>
              </a:solidFill>
              <a:latin typeface="Calibri"/>
            </a:endParaRPr>
          </a:p>
        </p:txBody>
      </p:sp>
      <p:cxnSp>
        <p:nvCxnSpPr>
          <p:cNvPr id="3714" name="肘形接點 103"/>
          <p:cNvCxnSpPr>
            <a:stCxn id="3708" idx="2"/>
            <a:endCxn id="3713" idx="0"/>
          </p:cNvCxnSpPr>
          <p:nvPr/>
        </p:nvCxnSpPr>
        <p:spPr>
          <a:xfrm rot="5400000">
            <a:off x="6898999" y="3472736"/>
            <a:ext cx="530362" cy="2700"/>
          </a:xfrm>
          <a:prstGeom prst="bentConnector3">
            <a:avLst>
              <a:gd name="adj1" fmla="val 41590"/>
            </a:avLst>
          </a:prstGeom>
          <a:ln w="0">
            <a:solidFill>
              <a:srgbClr val="000000"/>
            </a:solidFill>
            <a:tailEnd type="triangle" w="med" len="med"/>
          </a:ln>
        </p:spPr>
      </p:cxnSp>
      <p:grpSp>
        <p:nvGrpSpPr>
          <p:cNvPr id="3" name="Group 220"/>
          <p:cNvGrpSpPr/>
          <p:nvPr/>
        </p:nvGrpSpPr>
        <p:grpSpPr>
          <a:xfrm>
            <a:off x="7531380" y="3604516"/>
            <a:ext cx="532440" cy="407763"/>
            <a:chOff x="5020920" y="2402640"/>
            <a:chExt cx="354960" cy="271800"/>
          </a:xfrm>
        </p:grpSpPr>
        <p:sp>
          <p:nvSpPr>
            <p:cNvPr id="3716" name="Oval 221"/>
            <p:cNvSpPr/>
            <p:nvPr/>
          </p:nvSpPr>
          <p:spPr>
            <a:xfrm>
              <a:off x="5021280" y="2402640"/>
              <a:ext cx="273600" cy="27180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3717" name="TextBox 222"/>
            <p:cNvSpPr/>
            <p:nvPr/>
          </p:nvSpPr>
          <p:spPr>
            <a:xfrm>
              <a:off x="5020920" y="242280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2</a:t>
              </a:r>
              <a:endParaRPr lang="en-US" sz="1500" spc="-2" dirty="0">
                <a:solidFill>
                  <a:srgbClr val="000000"/>
                </a:solidFill>
                <a:latin typeface="Calibri"/>
              </a:endParaRPr>
            </a:p>
          </p:txBody>
        </p:sp>
      </p:grpSp>
      <p:cxnSp>
        <p:nvCxnSpPr>
          <p:cNvPr id="3718" name="肘形接點 103"/>
          <p:cNvCxnSpPr>
            <a:stCxn id="3713" idx="3"/>
            <a:endCxn id="3719" idx="1"/>
          </p:cNvCxnSpPr>
          <p:nvPr/>
        </p:nvCxnSpPr>
        <p:spPr>
          <a:xfrm flipV="1">
            <a:off x="8056800" y="2818155"/>
            <a:ext cx="1506600" cy="1436082"/>
          </a:xfrm>
          <a:prstGeom prst="bentConnector3">
            <a:avLst>
              <a:gd name="adj1" fmla="val 50053"/>
            </a:avLst>
          </a:prstGeom>
          <a:ln w="0">
            <a:solidFill>
              <a:srgbClr val="000000"/>
            </a:solidFill>
            <a:tailEnd type="triangle" w="med" len="med"/>
          </a:ln>
        </p:spPr>
      </p:cxnSp>
      <p:graphicFrame>
        <p:nvGraphicFramePr>
          <p:cNvPr id="3720" name="表格 30"/>
          <p:cNvGraphicFramePr/>
          <p:nvPr/>
        </p:nvGraphicFramePr>
        <p:xfrm>
          <a:off x="9566640" y="4227773"/>
          <a:ext cx="1797120" cy="1097448"/>
        </p:xfrm>
        <a:graphic>
          <a:graphicData uri="http://schemas.openxmlformats.org/drawingml/2006/table">
            <a:tbl>
              <a:tblPr/>
              <a:tblGrid>
                <a:gridCol w="898560">
                  <a:extLst>
                    <a:ext uri="{9D8B030D-6E8A-4147-A177-3AD203B41FA5}">
                      <a16:colId xmlns:a16="http://schemas.microsoft.com/office/drawing/2014/main" val="20000"/>
                    </a:ext>
                  </a:extLst>
                </a:gridCol>
                <a:gridCol w="898560">
                  <a:extLst>
                    <a:ext uri="{9D8B030D-6E8A-4147-A177-3AD203B41FA5}">
                      <a16:colId xmlns:a16="http://schemas.microsoft.com/office/drawing/2014/main" val="20001"/>
                    </a:ext>
                  </a:extLst>
                </a:gridCol>
              </a:tblGrid>
              <a:tr h="365816">
                <a:tc gridSpan="2">
                  <a:txBody>
                    <a:bodyPr/>
                    <a:lstStyle/>
                    <a:p>
                      <a:pPr algn="ctr">
                        <a:lnSpc>
                          <a:spcPct val="100000"/>
                        </a:lnSpc>
                      </a:pPr>
                      <a:r>
                        <a:rPr lang="en-GB" sz="1500" b="1" strike="noStrike" spc="-1">
                          <a:solidFill>
                            <a:schemeClr val="dk1"/>
                          </a:solidFill>
                          <a:latin typeface="微軟正黑體"/>
                          <a:ea typeface="微軟正黑體"/>
                        </a:rPr>
                        <a:t>ME21N</a:t>
                      </a:r>
                      <a:endParaRPr lang="en-US" sz="1500" b="0" strike="noStrike" spc="-1">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365816">
                <a:tc gridSpan="2">
                  <a:txBody>
                    <a:bodyPr/>
                    <a:lstStyle/>
                    <a:p>
                      <a:pPr algn="ctr">
                        <a:lnSpc>
                          <a:spcPct val="100000"/>
                        </a:lnSpc>
                      </a:pPr>
                      <a:r>
                        <a:rPr lang="zh-TW" sz="1500" b="0" strike="noStrike" spc="-1">
                          <a:solidFill>
                            <a:srgbClr val="000000"/>
                          </a:solidFill>
                          <a:latin typeface="微軟正黑體"/>
                          <a:ea typeface="微軟正黑體"/>
                        </a:rPr>
                        <a:t>建立採購單</a:t>
                      </a:r>
                      <a:endParaRPr lang="en-US" sz="1500" b="0" strike="noStrike" spc="-1">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65816">
                <a:tc>
                  <a:txBody>
                    <a:bodyPr/>
                    <a:lstStyle/>
                    <a:p>
                      <a:pPr algn="ctr">
                        <a:lnSpc>
                          <a:spcPct val="100000"/>
                        </a:lnSpc>
                      </a:pPr>
                      <a:r>
                        <a:rPr lang="en-GB" sz="1500" b="0" strike="noStrike" spc="-1">
                          <a:solidFill>
                            <a:srgbClr val="000000"/>
                          </a:solidFill>
                          <a:latin typeface="微軟正黑體"/>
                          <a:ea typeface="微軟正黑體"/>
                        </a:rPr>
                        <a:t>SAP</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a:solidFill>
                            <a:srgbClr val="000000"/>
                          </a:solidFill>
                          <a:latin typeface="微軟正黑體"/>
                          <a:ea typeface="微軟正黑體"/>
                        </a:rPr>
                        <a:t>手動</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cxnSp>
        <p:nvCxnSpPr>
          <p:cNvPr id="3721" name="肘形接點 103"/>
          <p:cNvCxnSpPr>
            <a:stCxn id="3713" idx="2"/>
            <a:endCxn id="3722" idx="0"/>
          </p:cNvCxnSpPr>
          <p:nvPr/>
        </p:nvCxnSpPr>
        <p:spPr>
          <a:xfrm rot="16200000">
            <a:off x="6754797" y="5176699"/>
            <a:ext cx="817686" cy="540"/>
          </a:xfrm>
          <a:prstGeom prst="bentConnector2">
            <a:avLst/>
          </a:prstGeom>
          <a:ln w="0">
            <a:solidFill>
              <a:srgbClr val="000000"/>
            </a:solidFill>
            <a:tailEnd type="triangle" w="med" len="med"/>
          </a:ln>
        </p:spPr>
      </p:cxnSp>
      <p:cxnSp>
        <p:nvCxnSpPr>
          <p:cNvPr id="3723" name="肘形接點 103"/>
          <p:cNvCxnSpPr>
            <a:stCxn id="3720" idx="2"/>
            <a:endCxn id="3722" idx="0"/>
          </p:cNvCxnSpPr>
          <p:nvPr/>
        </p:nvCxnSpPr>
        <p:spPr>
          <a:xfrm rot="5400000">
            <a:off x="8684800" y="3805682"/>
            <a:ext cx="258700" cy="3302100"/>
          </a:xfrm>
          <a:prstGeom prst="bentConnector3">
            <a:avLst>
              <a:gd name="adj1" fmla="val 32426"/>
            </a:avLst>
          </a:prstGeom>
          <a:ln w="0">
            <a:solidFill>
              <a:srgbClr val="000000"/>
            </a:solidFill>
            <a:tailEnd type="triangle" w="med" len="med"/>
          </a:ln>
        </p:spPr>
      </p:cxnSp>
      <p:sp>
        <p:nvSpPr>
          <p:cNvPr id="3724" name="TextBox 46"/>
          <p:cNvSpPr/>
          <p:nvPr/>
        </p:nvSpPr>
        <p:spPr>
          <a:xfrm>
            <a:off x="7210620" y="4868311"/>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grpSp>
        <p:nvGrpSpPr>
          <p:cNvPr id="4" name="Group 220"/>
          <p:cNvGrpSpPr/>
          <p:nvPr/>
        </p:nvGrpSpPr>
        <p:grpSpPr>
          <a:xfrm>
            <a:off x="11097540" y="4087891"/>
            <a:ext cx="532440" cy="414784"/>
            <a:chOff x="7398360" y="2724840"/>
            <a:chExt cx="354960" cy="276480"/>
          </a:xfrm>
        </p:grpSpPr>
        <p:sp>
          <p:nvSpPr>
            <p:cNvPr id="3726" name="Oval 221"/>
            <p:cNvSpPr/>
            <p:nvPr/>
          </p:nvSpPr>
          <p:spPr>
            <a:xfrm>
              <a:off x="7398720" y="2724840"/>
              <a:ext cx="273600" cy="27648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3727" name="TextBox 222"/>
            <p:cNvSpPr/>
            <p:nvPr/>
          </p:nvSpPr>
          <p:spPr>
            <a:xfrm>
              <a:off x="7398360" y="274536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4</a:t>
              </a:r>
              <a:endParaRPr lang="en-US" sz="1500" spc="-2" dirty="0">
                <a:solidFill>
                  <a:srgbClr val="000000"/>
                </a:solidFill>
                <a:latin typeface="Calibri"/>
              </a:endParaRPr>
            </a:p>
          </p:txBody>
        </p:sp>
      </p:grpSp>
      <p:grpSp>
        <p:nvGrpSpPr>
          <p:cNvPr id="5" name="Group 220"/>
          <p:cNvGrpSpPr/>
          <p:nvPr/>
        </p:nvGrpSpPr>
        <p:grpSpPr>
          <a:xfrm>
            <a:off x="13757040" y="5381391"/>
            <a:ext cx="532440" cy="414784"/>
            <a:chOff x="9171360" y="3587040"/>
            <a:chExt cx="354960" cy="276480"/>
          </a:xfrm>
        </p:grpSpPr>
        <p:sp>
          <p:nvSpPr>
            <p:cNvPr id="3729" name="Oval 221"/>
            <p:cNvSpPr/>
            <p:nvPr/>
          </p:nvSpPr>
          <p:spPr>
            <a:xfrm>
              <a:off x="9171720" y="3587040"/>
              <a:ext cx="273600" cy="27648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3730" name="TextBox 222"/>
            <p:cNvSpPr/>
            <p:nvPr/>
          </p:nvSpPr>
          <p:spPr>
            <a:xfrm>
              <a:off x="9171360" y="360756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5</a:t>
              </a:r>
              <a:endParaRPr lang="en-US" sz="1500" spc="-2" dirty="0">
                <a:solidFill>
                  <a:srgbClr val="000000"/>
                </a:solidFill>
                <a:latin typeface="Calibri"/>
              </a:endParaRPr>
            </a:p>
          </p:txBody>
        </p:sp>
      </p:grpSp>
      <p:sp>
        <p:nvSpPr>
          <p:cNvPr id="3722" name="流程圖: 決策 50"/>
          <p:cNvSpPr/>
          <p:nvPr/>
        </p:nvSpPr>
        <p:spPr>
          <a:xfrm>
            <a:off x="6377940" y="5585542"/>
            <a:ext cx="1570320" cy="1073146"/>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有</a:t>
            </a:r>
            <a:r>
              <a:rPr lang="en-US" sz="1500" spc="-2" dirty="0">
                <a:solidFill>
                  <a:srgbClr val="000000"/>
                </a:solidFill>
                <a:latin typeface="微軟正黑體"/>
                <a:ea typeface="微軟正黑體"/>
              </a:rPr>
              <a:t>WMS?</a:t>
            </a:r>
            <a:endParaRPr lang="en-US" sz="1500" spc="-2" dirty="0">
              <a:solidFill>
                <a:srgbClr val="000000"/>
              </a:solidFill>
              <a:latin typeface="Calibri"/>
            </a:endParaRPr>
          </a:p>
        </p:txBody>
      </p:sp>
      <p:cxnSp>
        <p:nvCxnSpPr>
          <p:cNvPr id="3731" name="肘形接點 103"/>
          <p:cNvCxnSpPr>
            <a:stCxn id="3722" idx="3"/>
            <a:endCxn id="3707" idx="1"/>
          </p:cNvCxnSpPr>
          <p:nvPr/>
        </p:nvCxnSpPr>
        <p:spPr>
          <a:xfrm flipV="1">
            <a:off x="7948260" y="6111043"/>
            <a:ext cx="4202820" cy="11342"/>
          </a:xfrm>
          <a:prstGeom prst="bentConnector3">
            <a:avLst>
              <a:gd name="adj1" fmla="val 50025"/>
            </a:avLst>
          </a:prstGeom>
          <a:ln w="0">
            <a:solidFill>
              <a:srgbClr val="000000"/>
            </a:solidFill>
            <a:tailEnd type="triangle" w="med" len="med"/>
          </a:ln>
        </p:spPr>
      </p:cxnSp>
      <p:sp>
        <p:nvSpPr>
          <p:cNvPr id="3732" name="流程圖: 換頁接點 52"/>
          <p:cNvSpPr/>
          <p:nvPr/>
        </p:nvSpPr>
        <p:spPr>
          <a:xfrm>
            <a:off x="13057200" y="8684540"/>
            <a:ext cx="559440" cy="466092"/>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en-US" spc="-2" dirty="0">
                <a:solidFill>
                  <a:srgbClr val="000000"/>
                </a:solidFill>
                <a:latin typeface="微軟正黑體"/>
                <a:ea typeface="微軟正黑體"/>
              </a:rPr>
              <a:t>P2</a:t>
            </a:r>
            <a:endParaRPr lang="en-US" spc="-2" dirty="0">
              <a:solidFill>
                <a:srgbClr val="000000"/>
              </a:solidFill>
              <a:latin typeface="Calibri"/>
            </a:endParaRPr>
          </a:p>
        </p:txBody>
      </p:sp>
      <p:sp>
        <p:nvSpPr>
          <p:cNvPr id="3733" name="TextBox 46"/>
          <p:cNvSpPr/>
          <p:nvPr/>
        </p:nvSpPr>
        <p:spPr>
          <a:xfrm>
            <a:off x="7973100" y="5807516"/>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sp>
        <p:nvSpPr>
          <p:cNvPr id="3734" name="TextBox 46"/>
          <p:cNvSpPr/>
          <p:nvPr/>
        </p:nvSpPr>
        <p:spPr>
          <a:xfrm>
            <a:off x="7312680" y="6698114"/>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cxnSp>
        <p:nvCxnSpPr>
          <p:cNvPr id="3735" name="肘形接點 103"/>
          <p:cNvCxnSpPr>
            <a:stCxn id="3695" idx="2"/>
            <a:endCxn id="3732" idx="1"/>
          </p:cNvCxnSpPr>
          <p:nvPr/>
        </p:nvCxnSpPr>
        <p:spPr>
          <a:xfrm rot="16200000" flipH="1">
            <a:off x="9912210" y="5771786"/>
            <a:ext cx="395341" cy="5895720"/>
          </a:xfrm>
          <a:prstGeom prst="bentConnector2">
            <a:avLst/>
          </a:prstGeom>
          <a:ln w="0">
            <a:solidFill>
              <a:srgbClr val="000000"/>
            </a:solidFill>
            <a:tailEnd type="triangle" w="med" len="med"/>
          </a:ln>
        </p:spPr>
      </p:cxnSp>
      <p:grpSp>
        <p:nvGrpSpPr>
          <p:cNvPr id="6" name="Group 220"/>
          <p:cNvGrpSpPr/>
          <p:nvPr/>
        </p:nvGrpSpPr>
        <p:grpSpPr>
          <a:xfrm>
            <a:off x="7765740" y="7256020"/>
            <a:ext cx="532440" cy="414784"/>
            <a:chOff x="5177160" y="4836600"/>
            <a:chExt cx="354960" cy="276480"/>
          </a:xfrm>
        </p:grpSpPr>
        <p:sp>
          <p:nvSpPr>
            <p:cNvPr id="3737" name="Oval 221"/>
            <p:cNvSpPr/>
            <p:nvPr/>
          </p:nvSpPr>
          <p:spPr>
            <a:xfrm>
              <a:off x="5177520" y="4836600"/>
              <a:ext cx="273600" cy="27648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3738" name="TextBox 222"/>
            <p:cNvSpPr/>
            <p:nvPr/>
          </p:nvSpPr>
          <p:spPr>
            <a:xfrm>
              <a:off x="5177160" y="485712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6</a:t>
              </a:r>
              <a:endParaRPr lang="en-US" sz="1500" spc="-2" dirty="0">
                <a:solidFill>
                  <a:srgbClr val="000000"/>
                </a:solidFill>
                <a:latin typeface="Calibri"/>
              </a:endParaRPr>
            </a:p>
          </p:txBody>
        </p:sp>
      </p:grpSp>
      <p:sp>
        <p:nvSpPr>
          <p:cNvPr id="3739" name="流程圖: 文件 42"/>
          <p:cNvSpPr/>
          <p:nvPr/>
        </p:nvSpPr>
        <p:spPr>
          <a:xfrm>
            <a:off x="4242780" y="3119522"/>
            <a:ext cx="1636200" cy="767458"/>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en-US" sz="1500" spc="-2" dirty="0">
                <a:solidFill>
                  <a:srgbClr val="000000"/>
                </a:solidFill>
                <a:latin typeface="Arial"/>
                <a:ea typeface="微軟正黑體"/>
              </a:rPr>
              <a:t>Packing list</a:t>
            </a:r>
            <a:endParaRPr lang="en-US" sz="1500" spc="-2" dirty="0">
              <a:solidFill>
                <a:srgbClr val="000000"/>
              </a:solidFill>
              <a:latin typeface="Calibri"/>
            </a:endParaRPr>
          </a:p>
        </p:txBody>
      </p:sp>
      <p:sp>
        <p:nvSpPr>
          <p:cNvPr id="3740" name="流程圖: 換頁接點 52"/>
          <p:cNvSpPr/>
          <p:nvPr/>
        </p:nvSpPr>
        <p:spPr>
          <a:xfrm>
            <a:off x="878040" y="4574506"/>
            <a:ext cx="559440" cy="466092"/>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en-US" spc="-2" dirty="0">
                <a:solidFill>
                  <a:srgbClr val="000000"/>
                </a:solidFill>
                <a:latin typeface="微軟正黑體"/>
                <a:ea typeface="微軟正黑體"/>
              </a:rPr>
              <a:t>P2-4</a:t>
            </a:r>
            <a:endParaRPr lang="en-US" spc="-2" dirty="0">
              <a:solidFill>
                <a:srgbClr val="000000"/>
              </a:solidFill>
              <a:latin typeface="Calibri"/>
            </a:endParaRPr>
          </a:p>
        </p:txBody>
      </p:sp>
      <p:grpSp>
        <p:nvGrpSpPr>
          <p:cNvPr id="7" name="Group 220"/>
          <p:cNvGrpSpPr/>
          <p:nvPr/>
        </p:nvGrpSpPr>
        <p:grpSpPr>
          <a:xfrm>
            <a:off x="1204740" y="4269899"/>
            <a:ext cx="532440" cy="407763"/>
            <a:chOff x="803160" y="2846160"/>
            <a:chExt cx="354960" cy="271800"/>
          </a:xfrm>
        </p:grpSpPr>
        <p:sp>
          <p:nvSpPr>
            <p:cNvPr id="3742" name="Oval 221"/>
            <p:cNvSpPr/>
            <p:nvPr/>
          </p:nvSpPr>
          <p:spPr>
            <a:xfrm>
              <a:off x="803520" y="2846160"/>
              <a:ext cx="273600" cy="27180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3743" name="TextBox 222"/>
            <p:cNvSpPr/>
            <p:nvPr/>
          </p:nvSpPr>
          <p:spPr>
            <a:xfrm>
              <a:off x="803160" y="286632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6</a:t>
              </a:r>
              <a:endParaRPr lang="en-US" sz="1500" spc="-2" dirty="0">
                <a:solidFill>
                  <a:srgbClr val="000000"/>
                </a:solidFill>
                <a:latin typeface="Calibri"/>
              </a:endParaRPr>
            </a:p>
          </p:txBody>
        </p:sp>
      </p:grpSp>
      <p:cxnSp>
        <p:nvCxnSpPr>
          <p:cNvPr id="3744" name="肘形接點 68"/>
          <p:cNvCxnSpPr>
            <a:stCxn id="3740" idx="3"/>
            <a:endCxn id="3705" idx="1"/>
          </p:cNvCxnSpPr>
          <p:nvPr/>
        </p:nvCxnSpPr>
        <p:spPr>
          <a:xfrm flipV="1">
            <a:off x="1437480" y="2652349"/>
            <a:ext cx="1264680" cy="2155473"/>
          </a:xfrm>
          <a:prstGeom prst="bentConnector3">
            <a:avLst>
              <a:gd name="adj1" fmla="val 67364"/>
            </a:avLst>
          </a:prstGeom>
          <a:ln w="0">
            <a:solidFill>
              <a:srgbClr val="000000"/>
            </a:solidFill>
            <a:tailEnd type="triangle" w="med" len="med"/>
          </a:ln>
        </p:spPr>
      </p:cxnSp>
      <p:sp>
        <p:nvSpPr>
          <p:cNvPr id="3719" name="流程圖: 決策 50"/>
          <p:cNvSpPr/>
          <p:nvPr/>
        </p:nvSpPr>
        <p:spPr>
          <a:xfrm>
            <a:off x="9562860" y="2230004"/>
            <a:ext cx="1787400" cy="1176842"/>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免費品</a:t>
            </a:r>
            <a:endParaRPr lang="en-US" sz="1500" spc="-2" dirty="0">
              <a:solidFill>
                <a:srgbClr val="000000"/>
              </a:solidFill>
              <a:latin typeface="Calibri"/>
            </a:endParaRPr>
          </a:p>
        </p:txBody>
      </p:sp>
      <p:cxnSp>
        <p:nvCxnSpPr>
          <p:cNvPr id="3745" name="肘形接點 103"/>
          <p:cNvCxnSpPr>
            <a:stCxn id="3719" idx="2"/>
            <a:endCxn id="3720" idx="0"/>
          </p:cNvCxnSpPr>
          <p:nvPr/>
        </p:nvCxnSpPr>
        <p:spPr>
          <a:xfrm rot="16200000" flipH="1">
            <a:off x="10049877" y="3812989"/>
            <a:ext cx="821467" cy="8640"/>
          </a:xfrm>
          <a:prstGeom prst="bentConnector3">
            <a:avLst>
              <a:gd name="adj1" fmla="val 50065"/>
            </a:avLst>
          </a:prstGeom>
          <a:ln w="0">
            <a:solidFill>
              <a:srgbClr val="000000"/>
            </a:solidFill>
            <a:tailEnd type="triangle" w="med" len="med"/>
          </a:ln>
        </p:spPr>
      </p:cxnSp>
      <p:sp>
        <p:nvSpPr>
          <p:cNvPr id="3746" name="TextBox 46"/>
          <p:cNvSpPr/>
          <p:nvPr/>
        </p:nvSpPr>
        <p:spPr>
          <a:xfrm>
            <a:off x="10443600" y="3505141"/>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cxnSp>
        <p:nvCxnSpPr>
          <p:cNvPr id="3747" name="肘形接點 103"/>
          <p:cNvCxnSpPr>
            <a:stCxn id="3719" idx="3"/>
            <a:endCxn id="3748" idx="1"/>
          </p:cNvCxnSpPr>
          <p:nvPr/>
        </p:nvCxnSpPr>
        <p:spPr>
          <a:xfrm flipV="1">
            <a:off x="11350260" y="2817075"/>
            <a:ext cx="853740" cy="1620"/>
          </a:xfrm>
          <a:prstGeom prst="bentConnector3">
            <a:avLst>
              <a:gd name="adj1" fmla="val 50126"/>
            </a:avLst>
          </a:prstGeom>
          <a:ln w="0">
            <a:solidFill>
              <a:srgbClr val="000000"/>
            </a:solidFill>
            <a:tailEnd type="triangle" w="med" len="med"/>
          </a:ln>
        </p:spPr>
      </p:cxnSp>
      <p:sp>
        <p:nvSpPr>
          <p:cNvPr id="3748" name="流程圖: 預設處理作業 21"/>
          <p:cNvSpPr/>
          <p:nvPr/>
        </p:nvSpPr>
        <p:spPr>
          <a:xfrm>
            <a:off x="12203460" y="2198679"/>
            <a:ext cx="1812240" cy="1237331"/>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2820" tIns="76680" rIns="152820" bIns="76680" anchor="ctr">
            <a:noAutofit/>
          </a:bodyPr>
          <a:lstStyle/>
          <a:p>
            <a:pPr algn="ctr">
              <a:lnSpc>
                <a:spcPct val="100000"/>
              </a:lnSpc>
            </a:pPr>
            <a:r>
              <a:rPr lang="en-US" sz="1500" spc="-2" dirty="0">
                <a:solidFill>
                  <a:srgbClr val="000000"/>
                </a:solidFill>
                <a:latin typeface="微軟正黑體"/>
                <a:ea typeface="微軟正黑體"/>
              </a:rPr>
              <a:t>MM-IM-0110</a:t>
            </a:r>
            <a:endParaRPr lang="en-US" sz="1500" spc="-2" dirty="0">
              <a:solidFill>
                <a:srgbClr val="000000"/>
              </a:solidFill>
              <a:latin typeface="Calibri"/>
            </a:endParaRPr>
          </a:p>
          <a:p>
            <a:pPr algn="ctr">
              <a:lnSpc>
                <a:spcPct val="100000"/>
              </a:lnSpc>
            </a:pPr>
            <a:r>
              <a:rPr lang="zh-TW" altLang="en-US" sz="1500" spc="-2" dirty="0">
                <a:solidFill>
                  <a:srgbClr val="000000"/>
                </a:solidFill>
                <a:latin typeface="微軟正黑體"/>
                <a:ea typeface="微軟正黑體"/>
              </a:rPr>
              <a:t>其他入庫作業流程</a:t>
            </a:r>
            <a:endParaRPr lang="en-US" sz="1500" spc="-2" dirty="0">
              <a:solidFill>
                <a:srgbClr val="000000"/>
              </a:solidFill>
              <a:latin typeface="Calibri"/>
            </a:endParaRPr>
          </a:p>
        </p:txBody>
      </p:sp>
      <p:sp>
        <p:nvSpPr>
          <p:cNvPr id="3749" name="TextBox 46"/>
          <p:cNvSpPr/>
          <p:nvPr/>
        </p:nvSpPr>
        <p:spPr>
          <a:xfrm>
            <a:off x="11331360" y="2401751"/>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grpSp>
        <p:nvGrpSpPr>
          <p:cNvPr id="8" name="Group 220"/>
          <p:cNvGrpSpPr/>
          <p:nvPr/>
        </p:nvGrpSpPr>
        <p:grpSpPr>
          <a:xfrm>
            <a:off x="10649340" y="2084182"/>
            <a:ext cx="532440" cy="414784"/>
            <a:chOff x="7099560" y="1389240"/>
            <a:chExt cx="354960" cy="276480"/>
          </a:xfrm>
        </p:grpSpPr>
        <p:sp>
          <p:nvSpPr>
            <p:cNvPr id="3751" name="Oval 221"/>
            <p:cNvSpPr/>
            <p:nvPr/>
          </p:nvSpPr>
          <p:spPr>
            <a:xfrm>
              <a:off x="7099920" y="1389240"/>
              <a:ext cx="273600" cy="27648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500" spc="-2" dirty="0">
                <a:solidFill>
                  <a:schemeClr val="lt1"/>
                </a:solidFill>
                <a:latin typeface="Arial"/>
                <a:ea typeface="Arial"/>
              </a:endParaRPr>
            </a:p>
          </p:txBody>
        </p:sp>
        <p:sp>
          <p:nvSpPr>
            <p:cNvPr id="3752" name="TextBox 222"/>
            <p:cNvSpPr/>
            <p:nvPr/>
          </p:nvSpPr>
          <p:spPr>
            <a:xfrm>
              <a:off x="7099560" y="140976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3</a:t>
              </a:r>
              <a:endParaRPr lang="en-US" sz="1500" spc="-2" dirty="0">
                <a:solidFill>
                  <a:srgbClr val="000000"/>
                </a:solidFill>
                <a:latin typeface="Calibri"/>
              </a:endParaRPr>
            </a:p>
          </p:txBody>
        </p:sp>
      </p:grpSp>
      <p:cxnSp>
        <p:nvCxnSpPr>
          <p:cNvPr id="3753" name="肘形接點 103"/>
          <p:cNvCxnSpPr>
            <a:stCxn id="3722" idx="2"/>
            <a:endCxn id="3695" idx="0"/>
          </p:cNvCxnSpPr>
          <p:nvPr/>
        </p:nvCxnSpPr>
        <p:spPr>
          <a:xfrm rot="5400000">
            <a:off x="6780181" y="7039987"/>
            <a:ext cx="764758" cy="1620"/>
          </a:xfrm>
          <a:prstGeom prst="bentConnector3">
            <a:avLst>
              <a:gd name="adj1" fmla="val 50106"/>
            </a:avLst>
          </a:prstGeom>
          <a:ln w="0">
            <a:solidFill>
              <a:srgbClr val="000000"/>
            </a:solidFill>
            <a:tailEnd type="triangle" w="med" len="med"/>
          </a:ln>
        </p:spPr>
      </p:cxnSp>
      <p:cxnSp>
        <p:nvCxnSpPr>
          <p:cNvPr id="3754" name="肘形接點 103"/>
          <p:cNvCxnSpPr>
            <a:stCxn id="3707" idx="2"/>
            <a:endCxn id="3695" idx="3"/>
          </p:cNvCxnSpPr>
          <p:nvPr/>
        </p:nvCxnSpPr>
        <p:spPr>
          <a:xfrm rot="5400000">
            <a:off x="9935364" y="4851415"/>
            <a:ext cx="1243272" cy="4999860"/>
          </a:xfrm>
          <a:prstGeom prst="bentConnector2">
            <a:avLst/>
          </a:prstGeom>
          <a:ln w="0">
            <a:solidFill>
              <a:srgbClr val="000000"/>
            </a:solidFill>
            <a:tailEnd type="triangle" w="med" len="med"/>
          </a:ln>
        </p:spPr>
      </p:cxnSp>
      <p:sp>
        <p:nvSpPr>
          <p:cNvPr id="78"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a:solidFill>
                  <a:schemeClr val="dk1"/>
                </a:solidFill>
                <a:latin typeface="微軟正黑體"/>
                <a:ea typeface="微軟正黑體"/>
              </a:rPr>
              <a:t>1</a:t>
            </a:r>
            <a:endParaRPr lang="en-US" sz="1600" b="0" strike="noStrike" spc="-1" dirty="0">
              <a:solidFill>
                <a:srgbClr val="0000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6" name="TextBox 53"/>
          <p:cNvSpPr/>
          <p:nvPr/>
        </p:nvSpPr>
        <p:spPr>
          <a:xfrm>
            <a:off x="14380740" y="2064198"/>
            <a:ext cx="3593160" cy="5676296"/>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當物料未啟用入庫檢驗，則當</a:t>
            </a:r>
            <a:r>
              <a:rPr lang="en-US" spc="-2" dirty="0">
                <a:solidFill>
                  <a:srgbClr val="000000"/>
                </a:solidFill>
                <a:latin typeface="Arial"/>
                <a:ea typeface="Arial"/>
              </a:rPr>
              <a:t>WMS</a:t>
            </a:r>
            <a:r>
              <a:rPr lang="zh-TW" altLang="en-US" spc="-2" dirty="0">
                <a:solidFill>
                  <a:srgbClr val="000000"/>
                </a:solidFill>
                <a:latin typeface="Arial"/>
                <a:ea typeface="Arial"/>
              </a:rPr>
              <a:t>上架儲存後，需回傳給</a:t>
            </a:r>
            <a:r>
              <a:rPr lang="en-US" spc="-2" dirty="0">
                <a:solidFill>
                  <a:srgbClr val="000000"/>
                </a:solidFill>
                <a:latin typeface="Arial"/>
                <a:ea typeface="Arial"/>
              </a:rPr>
              <a:t>SAP</a:t>
            </a:r>
            <a:r>
              <a:rPr lang="zh-TW" altLang="en-US" spc="-2" dirty="0">
                <a:solidFill>
                  <a:srgbClr val="000000"/>
                </a:solidFill>
                <a:latin typeface="Arial"/>
                <a:ea typeface="Arial"/>
              </a:rPr>
              <a:t>，讓</a:t>
            </a:r>
            <a:r>
              <a:rPr lang="en-US" spc="-2" dirty="0">
                <a:solidFill>
                  <a:srgbClr val="000000"/>
                </a:solidFill>
                <a:latin typeface="Arial"/>
                <a:ea typeface="Arial"/>
              </a:rPr>
              <a:t>SAP</a:t>
            </a:r>
            <a:r>
              <a:rPr lang="zh-TW" altLang="en-US" spc="-2" dirty="0">
                <a:solidFill>
                  <a:srgbClr val="000000"/>
                </a:solidFill>
                <a:latin typeface="Arial"/>
                <a:ea typeface="Arial"/>
              </a:rPr>
              <a:t>執行從待驗倉移到實際的庫存倉。</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當品質檢驗判定允收。則會把品檢狀態核發到未限制狀態，當有啟用</a:t>
            </a:r>
            <a:r>
              <a:rPr lang="en-US" spc="-2" dirty="0">
                <a:solidFill>
                  <a:srgbClr val="000000"/>
                </a:solidFill>
                <a:latin typeface="Arial"/>
                <a:ea typeface="Arial"/>
              </a:rPr>
              <a:t>WMS</a:t>
            </a:r>
            <a:r>
              <a:rPr lang="zh-TW" altLang="en-US" spc="-2" dirty="0">
                <a:solidFill>
                  <a:srgbClr val="000000"/>
                </a:solidFill>
                <a:latin typeface="Arial"/>
                <a:ea typeface="Arial"/>
              </a:rPr>
              <a:t>，則須拋檢驗狀態給</a:t>
            </a:r>
            <a:r>
              <a:rPr lang="en-US" spc="-2" dirty="0">
                <a:solidFill>
                  <a:srgbClr val="000000"/>
                </a:solidFill>
                <a:latin typeface="Arial"/>
                <a:ea typeface="Arial"/>
              </a:rPr>
              <a:t>WMS</a:t>
            </a:r>
            <a:r>
              <a:rPr lang="zh-TW" altLang="en-US" spc="-2" dirty="0">
                <a:solidFill>
                  <a:srgbClr val="000000"/>
                </a:solidFill>
                <a:latin typeface="Arial"/>
                <a:ea typeface="Arial"/>
              </a:rPr>
              <a:t>去執行上架。</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當品質有判定不良時，如果需要經過海關，走正常的報關程序，則必須要建立開補單，接回第一頁的</a:t>
            </a:r>
            <a:r>
              <a:rPr lang="en-US" spc="-2" dirty="0">
                <a:solidFill>
                  <a:srgbClr val="000000"/>
                </a:solidFill>
                <a:latin typeface="Arial"/>
                <a:ea typeface="Arial"/>
              </a:rPr>
              <a:t>6</a:t>
            </a:r>
            <a:r>
              <a:rPr lang="zh-TW" altLang="en-US" spc="-2" dirty="0">
                <a:solidFill>
                  <a:srgbClr val="000000"/>
                </a:solidFill>
                <a:latin typeface="Arial"/>
                <a:ea typeface="Arial"/>
              </a:rPr>
              <a:t>節點流程。</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建立開補採購單，並需經過簽核審查程序。</a:t>
            </a:r>
            <a:endParaRPr lang="en-US" spc="-2" dirty="0">
              <a:solidFill>
                <a:srgbClr val="000000"/>
              </a:solidFill>
              <a:latin typeface="Calibri"/>
            </a:endParaRPr>
          </a:p>
          <a:p>
            <a:pPr marL="342900" indent="-342900">
              <a:buClr>
                <a:srgbClr val="000000"/>
              </a:buClr>
              <a:buFont typeface="Arial"/>
              <a:buAutoNum type="arabicPeriod"/>
            </a:pPr>
            <a:r>
              <a:rPr lang="zh-TW" altLang="en-US" spc="-2" dirty="0">
                <a:solidFill>
                  <a:srgbClr val="000000"/>
                </a:solidFill>
                <a:latin typeface="Arial"/>
                <a:ea typeface="Arial"/>
              </a:rPr>
              <a:t>當不經海關用快遞模式進口，或是不需要辦報關的當地廠商，則可以用</a:t>
            </a:r>
            <a:r>
              <a:rPr lang="en-US" altLang="zh-TW" spc="-2" dirty="0">
                <a:solidFill>
                  <a:srgbClr val="000000"/>
                </a:solidFill>
                <a:latin typeface="Arial"/>
                <a:ea typeface="Arial"/>
              </a:rPr>
              <a:t>QA12</a:t>
            </a:r>
            <a:r>
              <a:rPr lang="zh-TW" altLang="en-US" spc="-2" dirty="0">
                <a:solidFill>
                  <a:srgbClr val="000000"/>
                </a:solidFill>
                <a:latin typeface="Arial"/>
                <a:ea typeface="Arial"/>
              </a:rPr>
              <a:t>退換貨模式，或是對當地廠商直接辦理退貨，然後重新作採購驗收。</a:t>
            </a:r>
            <a:endParaRPr lang="en-US" spc="-2" dirty="0">
              <a:solidFill>
                <a:srgbClr val="000000"/>
              </a:solidFill>
              <a:latin typeface="Calibri"/>
            </a:endParaRPr>
          </a:p>
        </p:txBody>
      </p:sp>
      <p:sp>
        <p:nvSpPr>
          <p:cNvPr id="3757" name="文字方塊 3"/>
          <p:cNvSpPr/>
          <p:nvPr/>
        </p:nvSpPr>
        <p:spPr>
          <a:xfrm>
            <a:off x="2351160" y="820387"/>
            <a:ext cx="7217640" cy="459484"/>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en-US" sz="2100" b="1" spc="-2" dirty="0">
                <a:solidFill>
                  <a:srgbClr val="000000"/>
                </a:solidFill>
                <a:latin typeface="微軟正黑體"/>
                <a:ea typeface="微軟正黑體"/>
              </a:rPr>
              <a:t>MM-IM-0010</a:t>
            </a:r>
            <a:r>
              <a:rPr lang="zh-TW" altLang="en-US" sz="2100" b="1" spc="-2" dirty="0">
                <a:solidFill>
                  <a:srgbClr val="000000"/>
                </a:solidFill>
                <a:latin typeface="微軟正黑體"/>
                <a:ea typeface="微軟正黑體"/>
              </a:rPr>
              <a:t>採購單收貨流程</a:t>
            </a:r>
            <a:endParaRPr lang="en-US" sz="2100" b="1" spc="-2" dirty="0">
              <a:solidFill>
                <a:srgbClr val="000000"/>
              </a:solidFill>
              <a:latin typeface="Calibri"/>
            </a:endParaRPr>
          </a:p>
        </p:txBody>
      </p:sp>
      <p:cxnSp>
        <p:nvCxnSpPr>
          <p:cNvPr id="3758" name="Straight Connector 284"/>
          <p:cNvCxnSpPr/>
          <p:nvPr/>
        </p:nvCxnSpPr>
        <p:spPr>
          <a:xfrm>
            <a:off x="4391472" y="1382503"/>
            <a:ext cx="1080" cy="8617570"/>
          </a:xfrm>
          <a:prstGeom prst="straightConnector1">
            <a:avLst/>
          </a:prstGeom>
          <a:ln w="0">
            <a:solidFill>
              <a:srgbClr val="000000"/>
            </a:solidFill>
          </a:ln>
        </p:spPr>
      </p:cxnSp>
      <p:sp>
        <p:nvSpPr>
          <p:cNvPr id="3759" name="文字方塊 17"/>
          <p:cNvSpPr/>
          <p:nvPr/>
        </p:nvSpPr>
        <p:spPr>
          <a:xfrm>
            <a:off x="10216800" y="1363170"/>
            <a:ext cx="1182600" cy="397928"/>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gn="ctr">
              <a:lnSpc>
                <a:spcPct val="100000"/>
              </a:lnSpc>
            </a:pPr>
            <a:r>
              <a:rPr lang="zh-TW" altLang="en-US" sz="1700" spc="-2" dirty="0">
                <a:solidFill>
                  <a:srgbClr val="000000"/>
                </a:solidFill>
                <a:latin typeface="Arial"/>
                <a:ea typeface="Arial"/>
              </a:rPr>
              <a:t>採購人員</a:t>
            </a:r>
            <a:endParaRPr lang="en-US" sz="1700" spc="-2" dirty="0">
              <a:solidFill>
                <a:srgbClr val="000000"/>
              </a:solidFill>
              <a:latin typeface="Calibri"/>
            </a:endParaRPr>
          </a:p>
        </p:txBody>
      </p:sp>
      <p:sp>
        <p:nvSpPr>
          <p:cNvPr id="3760" name="文字方塊 17"/>
          <p:cNvSpPr/>
          <p:nvPr/>
        </p:nvSpPr>
        <p:spPr>
          <a:xfrm>
            <a:off x="2519264" y="1366411"/>
            <a:ext cx="1852200" cy="397928"/>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gn="ctr">
              <a:lnSpc>
                <a:spcPct val="100000"/>
              </a:lnSpc>
            </a:pPr>
            <a:r>
              <a:rPr lang="zh-TW" altLang="en-US" sz="1700" spc="-2" dirty="0">
                <a:solidFill>
                  <a:srgbClr val="000000"/>
                </a:solidFill>
                <a:latin typeface="Arial"/>
                <a:ea typeface="Arial"/>
              </a:rPr>
              <a:t>品管人員</a:t>
            </a:r>
            <a:endParaRPr lang="en-US" sz="1700" spc="-2" dirty="0">
              <a:solidFill>
                <a:srgbClr val="000000"/>
              </a:solidFill>
              <a:latin typeface="Calibri"/>
            </a:endParaRPr>
          </a:p>
        </p:txBody>
      </p:sp>
      <p:sp>
        <p:nvSpPr>
          <p:cNvPr id="3766" name="流程圖: 預設處理作業 21"/>
          <p:cNvSpPr/>
          <p:nvPr/>
        </p:nvSpPr>
        <p:spPr>
          <a:xfrm>
            <a:off x="2574720" y="3407926"/>
            <a:ext cx="1812240" cy="1001315"/>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2820" tIns="76680" rIns="152820" bIns="76680" anchor="ctr">
            <a:noAutofit/>
          </a:bodyPr>
          <a:lstStyle/>
          <a:p>
            <a:pPr algn="ctr">
              <a:lnSpc>
                <a:spcPts val="1845"/>
              </a:lnSpc>
            </a:pPr>
            <a:r>
              <a:rPr lang="en-US" sz="1500" spc="-2" dirty="0">
                <a:solidFill>
                  <a:srgbClr val="000000"/>
                </a:solidFill>
                <a:latin typeface="微軟正黑體"/>
                <a:ea typeface="微軟正黑體"/>
              </a:rPr>
              <a:t>QM-IN-0010</a:t>
            </a:r>
            <a:endParaRPr lang="en-US" sz="1500" spc="-2" dirty="0">
              <a:solidFill>
                <a:srgbClr val="000000"/>
              </a:solidFill>
              <a:latin typeface="Calibri"/>
            </a:endParaRPr>
          </a:p>
          <a:p>
            <a:pPr algn="ctr">
              <a:lnSpc>
                <a:spcPts val="1845"/>
              </a:lnSpc>
            </a:pPr>
            <a:r>
              <a:rPr lang="zh-CN" altLang="en-US" sz="1500" spc="-2" dirty="0">
                <a:solidFill>
                  <a:srgbClr val="000000"/>
                </a:solidFill>
                <a:latin typeface="微軟正黑體"/>
                <a:ea typeface="微軟正黑體"/>
              </a:rPr>
              <a:t>進料檢驗流程</a:t>
            </a:r>
            <a:endParaRPr lang="en-US" sz="1500" spc="-2" dirty="0">
              <a:solidFill>
                <a:srgbClr val="000000"/>
              </a:solidFill>
              <a:latin typeface="Calibri"/>
            </a:endParaRPr>
          </a:p>
        </p:txBody>
      </p:sp>
      <p:cxnSp>
        <p:nvCxnSpPr>
          <p:cNvPr id="3767" name="肘形接點 103"/>
          <p:cNvCxnSpPr>
            <a:stCxn id="3768" idx="3"/>
            <a:endCxn id="3769" idx="1"/>
          </p:cNvCxnSpPr>
          <p:nvPr/>
        </p:nvCxnSpPr>
        <p:spPr>
          <a:xfrm flipV="1">
            <a:off x="1582740" y="2538392"/>
            <a:ext cx="1102140" cy="10802"/>
          </a:xfrm>
          <a:prstGeom prst="bentConnector3">
            <a:avLst>
              <a:gd name="adj1" fmla="val 50049"/>
            </a:avLst>
          </a:prstGeom>
          <a:ln w="0">
            <a:solidFill>
              <a:srgbClr val="000000"/>
            </a:solidFill>
            <a:tailEnd type="triangle" w="med" len="med"/>
          </a:ln>
        </p:spPr>
      </p:cxnSp>
      <p:cxnSp>
        <p:nvCxnSpPr>
          <p:cNvPr id="3770" name="肘形接點 103"/>
          <p:cNvCxnSpPr>
            <a:stCxn id="3769" idx="3"/>
            <a:endCxn id="3771" idx="1"/>
          </p:cNvCxnSpPr>
          <p:nvPr/>
        </p:nvCxnSpPr>
        <p:spPr>
          <a:xfrm flipV="1">
            <a:off x="4254660" y="2531641"/>
            <a:ext cx="1336564" cy="7021"/>
          </a:xfrm>
          <a:prstGeom prst="bentConnector3">
            <a:avLst>
              <a:gd name="adj1" fmla="val 50000"/>
            </a:avLst>
          </a:prstGeom>
          <a:ln w="0">
            <a:solidFill>
              <a:srgbClr val="000000"/>
            </a:solidFill>
            <a:tailEnd type="triangle" w="med" len="med"/>
          </a:ln>
        </p:spPr>
      </p:cxnSp>
      <p:cxnSp>
        <p:nvCxnSpPr>
          <p:cNvPr id="3772" name="肘形接點 103"/>
          <p:cNvCxnSpPr>
            <a:stCxn id="3769" idx="2"/>
            <a:endCxn id="3766" idx="0"/>
          </p:cNvCxnSpPr>
          <p:nvPr/>
        </p:nvCxnSpPr>
        <p:spPr>
          <a:xfrm rot="16200000" flipH="1">
            <a:off x="3295052" y="3221598"/>
            <a:ext cx="360776" cy="11880"/>
          </a:xfrm>
          <a:prstGeom prst="bentConnector3">
            <a:avLst>
              <a:gd name="adj1" fmla="val 50074"/>
            </a:avLst>
          </a:prstGeom>
          <a:ln w="0">
            <a:solidFill>
              <a:srgbClr val="000000"/>
            </a:solidFill>
            <a:tailEnd type="triangle" w="med" len="med"/>
          </a:ln>
        </p:spPr>
      </p:cxnSp>
      <p:sp>
        <p:nvSpPr>
          <p:cNvPr id="3768" name="流程圖: 換頁接點 52"/>
          <p:cNvSpPr/>
          <p:nvPr/>
        </p:nvSpPr>
        <p:spPr>
          <a:xfrm>
            <a:off x="1023300" y="2315877"/>
            <a:ext cx="559440" cy="466092"/>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en-US" spc="-2" dirty="0">
                <a:solidFill>
                  <a:srgbClr val="000000"/>
                </a:solidFill>
                <a:latin typeface="微軟正黑體"/>
                <a:ea typeface="微軟正黑體"/>
              </a:rPr>
              <a:t>P1</a:t>
            </a:r>
            <a:endParaRPr lang="en-US" spc="-2" dirty="0">
              <a:solidFill>
                <a:srgbClr val="000000"/>
              </a:solidFill>
              <a:latin typeface="Calibri"/>
            </a:endParaRPr>
          </a:p>
        </p:txBody>
      </p:sp>
      <p:sp>
        <p:nvSpPr>
          <p:cNvPr id="3769" name="流程圖: 決策 50"/>
          <p:cNvSpPr/>
          <p:nvPr/>
        </p:nvSpPr>
        <p:spPr>
          <a:xfrm>
            <a:off x="2684340" y="2029633"/>
            <a:ext cx="1570320" cy="1018057"/>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需要品質檢驗</a:t>
            </a:r>
            <a:endParaRPr lang="en-US" sz="1500" spc="-2" dirty="0">
              <a:solidFill>
                <a:srgbClr val="000000"/>
              </a:solidFill>
              <a:latin typeface="Calibri"/>
            </a:endParaRPr>
          </a:p>
        </p:txBody>
      </p:sp>
      <p:sp>
        <p:nvSpPr>
          <p:cNvPr id="3773" name="TextBox 46"/>
          <p:cNvSpPr/>
          <p:nvPr/>
        </p:nvSpPr>
        <p:spPr>
          <a:xfrm>
            <a:off x="3736260" y="3072534"/>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sp>
        <p:nvSpPr>
          <p:cNvPr id="3774" name="流程圖: 結束點 10"/>
          <p:cNvSpPr/>
          <p:nvPr/>
        </p:nvSpPr>
        <p:spPr>
          <a:xfrm>
            <a:off x="12144600" y="2150612"/>
            <a:ext cx="1796580" cy="781501"/>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結束</a:t>
            </a:r>
            <a:endParaRPr lang="en-US" sz="1500" spc="-2" dirty="0">
              <a:solidFill>
                <a:srgbClr val="000000"/>
              </a:solidFill>
              <a:latin typeface="Calibri"/>
            </a:endParaRPr>
          </a:p>
        </p:txBody>
      </p:sp>
      <p:sp>
        <p:nvSpPr>
          <p:cNvPr id="3775" name="TextBox 46"/>
          <p:cNvSpPr/>
          <p:nvPr/>
        </p:nvSpPr>
        <p:spPr>
          <a:xfrm>
            <a:off x="4636164" y="2170055"/>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sp>
        <p:nvSpPr>
          <p:cNvPr id="3776" name="流程圖: 決策 50"/>
          <p:cNvSpPr/>
          <p:nvPr/>
        </p:nvSpPr>
        <p:spPr>
          <a:xfrm>
            <a:off x="4319464" y="7736582"/>
            <a:ext cx="1787400" cy="1176842"/>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a:solidFill>
                  <a:srgbClr val="000000"/>
                </a:solidFill>
                <a:latin typeface="微軟正黑體"/>
                <a:ea typeface="微軟正黑體"/>
              </a:rPr>
              <a:t>退料報關</a:t>
            </a:r>
            <a:r>
              <a:rPr lang="en-US" sz="1500" spc="-2" dirty="0">
                <a:solidFill>
                  <a:srgbClr val="000000"/>
                </a:solidFill>
                <a:latin typeface="微軟正黑體"/>
                <a:ea typeface="微軟正黑體"/>
              </a:rPr>
              <a:t>?</a:t>
            </a:r>
            <a:endParaRPr lang="en-US" sz="1500" spc="-2" dirty="0">
              <a:solidFill>
                <a:srgbClr val="000000"/>
              </a:solidFill>
              <a:latin typeface="Calibri"/>
            </a:endParaRPr>
          </a:p>
        </p:txBody>
      </p:sp>
      <p:sp>
        <p:nvSpPr>
          <p:cNvPr id="3777" name="流程圖: 決策 50"/>
          <p:cNvSpPr/>
          <p:nvPr/>
        </p:nvSpPr>
        <p:spPr>
          <a:xfrm>
            <a:off x="2588220" y="4769476"/>
            <a:ext cx="1787400" cy="1176842"/>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品質判定</a:t>
            </a:r>
            <a:r>
              <a:rPr lang="en-US" sz="1500" spc="-2" dirty="0">
                <a:solidFill>
                  <a:srgbClr val="000000"/>
                </a:solidFill>
                <a:latin typeface="微軟正黑體"/>
                <a:ea typeface="微軟正黑體"/>
              </a:rPr>
              <a:t>?</a:t>
            </a:r>
            <a:endParaRPr lang="en-US" sz="1500" spc="-2" dirty="0">
              <a:solidFill>
                <a:srgbClr val="000000"/>
              </a:solidFill>
              <a:latin typeface="Calibri"/>
            </a:endParaRPr>
          </a:p>
        </p:txBody>
      </p:sp>
      <p:cxnSp>
        <p:nvCxnSpPr>
          <p:cNvPr id="3778" name="肘形接點 103"/>
          <p:cNvCxnSpPr>
            <a:stCxn id="3766" idx="2"/>
            <a:endCxn id="3777" idx="0"/>
          </p:cNvCxnSpPr>
          <p:nvPr/>
        </p:nvCxnSpPr>
        <p:spPr>
          <a:xfrm rot="16200000" flipH="1">
            <a:off x="3301532" y="4588548"/>
            <a:ext cx="360776" cy="1620"/>
          </a:xfrm>
          <a:prstGeom prst="bentConnector3">
            <a:avLst>
              <a:gd name="adj1" fmla="val 50224"/>
            </a:avLst>
          </a:prstGeom>
          <a:ln w="0">
            <a:solidFill>
              <a:srgbClr val="000000"/>
            </a:solidFill>
            <a:tailEnd type="triangle" w="med" len="med"/>
          </a:ln>
        </p:spPr>
      </p:cxnSp>
      <p:sp>
        <p:nvSpPr>
          <p:cNvPr id="3779" name="TextBox 46"/>
          <p:cNvSpPr/>
          <p:nvPr/>
        </p:nvSpPr>
        <p:spPr>
          <a:xfrm>
            <a:off x="3447360" y="6282790"/>
            <a:ext cx="7684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en-US" sz="1500" spc="-2" dirty="0">
                <a:solidFill>
                  <a:srgbClr val="000000"/>
                </a:solidFill>
                <a:latin typeface="Arial"/>
                <a:ea typeface="Arial"/>
              </a:rPr>
              <a:t>NG</a:t>
            </a:r>
            <a:endParaRPr lang="en-US" sz="1500" spc="-2" dirty="0">
              <a:solidFill>
                <a:srgbClr val="000000"/>
              </a:solidFill>
              <a:latin typeface="Calibri"/>
            </a:endParaRPr>
          </a:p>
        </p:txBody>
      </p:sp>
      <p:sp>
        <p:nvSpPr>
          <p:cNvPr id="3780" name="TextBox 46"/>
          <p:cNvSpPr/>
          <p:nvPr/>
        </p:nvSpPr>
        <p:spPr>
          <a:xfrm>
            <a:off x="4303800" y="4863451"/>
            <a:ext cx="77274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en-US" sz="1500" spc="-2" dirty="0">
                <a:solidFill>
                  <a:srgbClr val="000000"/>
                </a:solidFill>
                <a:latin typeface="Arial"/>
                <a:ea typeface="Arial"/>
              </a:rPr>
              <a:t>OK</a:t>
            </a:r>
            <a:endParaRPr lang="en-US" sz="1500" spc="-2" dirty="0">
              <a:solidFill>
                <a:srgbClr val="000000"/>
              </a:solidFill>
              <a:latin typeface="Calibri"/>
            </a:endParaRPr>
          </a:p>
        </p:txBody>
      </p:sp>
      <p:cxnSp>
        <p:nvCxnSpPr>
          <p:cNvPr id="3782" name="肘形接點 103"/>
          <p:cNvCxnSpPr>
            <a:stCxn id="3783" idx="3"/>
            <a:endCxn id="3784" idx="1"/>
          </p:cNvCxnSpPr>
          <p:nvPr/>
        </p:nvCxnSpPr>
        <p:spPr>
          <a:xfrm>
            <a:off x="7164784" y="6078797"/>
            <a:ext cx="743040" cy="570440"/>
          </a:xfrm>
          <a:prstGeom prst="bentConnector3">
            <a:avLst>
              <a:gd name="adj1" fmla="val 50000"/>
            </a:avLst>
          </a:prstGeom>
          <a:ln w="0">
            <a:solidFill>
              <a:srgbClr val="000000"/>
            </a:solidFill>
            <a:tailEnd type="triangle" w="med" len="med"/>
          </a:ln>
        </p:spPr>
      </p:cxnSp>
      <p:cxnSp>
        <p:nvCxnSpPr>
          <p:cNvPr id="3785" name="肘形接點 103"/>
          <p:cNvCxnSpPr>
            <a:cxnSpLocks/>
            <a:stCxn id="3777" idx="2"/>
            <a:endCxn id="3776" idx="1"/>
          </p:cNvCxnSpPr>
          <p:nvPr/>
        </p:nvCxnSpPr>
        <p:spPr>
          <a:xfrm rot="16200000" flipH="1">
            <a:off x="2711350" y="6716888"/>
            <a:ext cx="2378685" cy="837544"/>
          </a:xfrm>
          <a:prstGeom prst="bentConnector2">
            <a:avLst/>
          </a:prstGeom>
          <a:ln w="0">
            <a:solidFill>
              <a:srgbClr val="000000"/>
            </a:solidFill>
            <a:tailEnd type="triangle" w="med" len="med"/>
          </a:ln>
        </p:spPr>
      </p:cxnSp>
      <p:sp>
        <p:nvSpPr>
          <p:cNvPr id="3786" name="TextBox 46"/>
          <p:cNvSpPr/>
          <p:nvPr/>
        </p:nvSpPr>
        <p:spPr>
          <a:xfrm>
            <a:off x="7156144" y="6297912"/>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sp>
        <p:nvSpPr>
          <p:cNvPr id="3787" name="TextBox 46"/>
          <p:cNvSpPr/>
          <p:nvPr/>
        </p:nvSpPr>
        <p:spPr>
          <a:xfrm>
            <a:off x="6858982" y="7844324"/>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cxnSp>
        <p:nvCxnSpPr>
          <p:cNvPr id="3789" name="肘形接點 103"/>
          <p:cNvCxnSpPr>
            <a:cxnSpLocks/>
            <a:stCxn id="3776" idx="3"/>
            <a:endCxn id="74" idx="1"/>
          </p:cNvCxnSpPr>
          <p:nvPr/>
        </p:nvCxnSpPr>
        <p:spPr>
          <a:xfrm>
            <a:off x="6106864" y="8325003"/>
            <a:ext cx="1452072" cy="63050"/>
          </a:xfrm>
          <a:prstGeom prst="bentConnector3">
            <a:avLst>
              <a:gd name="adj1" fmla="val 50000"/>
            </a:avLst>
          </a:prstGeom>
          <a:ln w="0">
            <a:solidFill>
              <a:srgbClr val="000000"/>
            </a:solidFill>
            <a:tailEnd type="triangle" w="med" len="med"/>
          </a:ln>
        </p:spPr>
      </p:cxnSp>
      <p:graphicFrame>
        <p:nvGraphicFramePr>
          <p:cNvPr id="3790" name="表格 30"/>
          <p:cNvGraphicFramePr/>
          <p:nvPr>
            <p:extLst>
              <p:ext uri="{D42A27DB-BD31-4B8C-83A1-F6EECF244321}">
                <p14:modId xmlns:p14="http://schemas.microsoft.com/office/powerpoint/2010/main" val="695097809"/>
              </p:ext>
            </p:extLst>
          </p:nvPr>
        </p:nvGraphicFramePr>
        <p:xfrm>
          <a:off x="9943888" y="8943390"/>
          <a:ext cx="1797120" cy="1097448"/>
        </p:xfrm>
        <a:graphic>
          <a:graphicData uri="http://schemas.openxmlformats.org/drawingml/2006/table">
            <a:tbl>
              <a:tblPr/>
              <a:tblGrid>
                <a:gridCol w="898560">
                  <a:extLst>
                    <a:ext uri="{9D8B030D-6E8A-4147-A177-3AD203B41FA5}">
                      <a16:colId xmlns:a16="http://schemas.microsoft.com/office/drawing/2014/main" val="20000"/>
                    </a:ext>
                  </a:extLst>
                </a:gridCol>
                <a:gridCol w="898560">
                  <a:extLst>
                    <a:ext uri="{9D8B030D-6E8A-4147-A177-3AD203B41FA5}">
                      <a16:colId xmlns:a16="http://schemas.microsoft.com/office/drawing/2014/main" val="20001"/>
                    </a:ext>
                  </a:extLst>
                </a:gridCol>
              </a:tblGrid>
              <a:tr h="365816">
                <a:tc gridSpan="2">
                  <a:txBody>
                    <a:bodyPr/>
                    <a:lstStyle/>
                    <a:p>
                      <a:pPr algn="ctr">
                        <a:lnSpc>
                          <a:spcPct val="100000"/>
                        </a:lnSpc>
                      </a:pPr>
                      <a:r>
                        <a:rPr lang="en-GB" sz="1500" b="1" strike="noStrike" spc="-1">
                          <a:solidFill>
                            <a:schemeClr val="dk1"/>
                          </a:solidFill>
                          <a:latin typeface="微軟正黑體"/>
                          <a:ea typeface="微軟正黑體"/>
                        </a:rPr>
                        <a:t>ME21N</a:t>
                      </a:r>
                      <a:endParaRPr lang="en-US" sz="1500" b="0" strike="noStrike" spc="-1">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365816">
                <a:tc gridSpan="2">
                  <a:txBody>
                    <a:bodyPr/>
                    <a:lstStyle/>
                    <a:p>
                      <a:pPr algn="ctr">
                        <a:lnSpc>
                          <a:spcPct val="100000"/>
                        </a:lnSpc>
                      </a:pPr>
                      <a:r>
                        <a:rPr lang="zh-TW" sz="1500" b="0" strike="noStrike" spc="-1">
                          <a:solidFill>
                            <a:srgbClr val="000000"/>
                          </a:solidFill>
                          <a:latin typeface="微軟正黑體"/>
                          <a:ea typeface="微軟正黑體"/>
                        </a:rPr>
                        <a:t>建立採購單</a:t>
                      </a:r>
                      <a:endParaRPr lang="en-US" sz="1500" b="0" strike="noStrike" spc="-1">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65816">
                <a:tc>
                  <a:txBody>
                    <a:bodyPr/>
                    <a:lstStyle/>
                    <a:p>
                      <a:pPr algn="ctr">
                        <a:lnSpc>
                          <a:spcPct val="100000"/>
                        </a:lnSpc>
                      </a:pPr>
                      <a:r>
                        <a:rPr lang="en-GB" sz="1500" b="0" strike="noStrike" spc="-1">
                          <a:solidFill>
                            <a:srgbClr val="000000"/>
                          </a:solidFill>
                          <a:latin typeface="微軟正黑體"/>
                          <a:ea typeface="微軟正黑體"/>
                        </a:rPr>
                        <a:t>SAP</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a:solidFill>
                            <a:srgbClr val="000000"/>
                          </a:solidFill>
                          <a:latin typeface="微軟正黑體"/>
                          <a:ea typeface="微軟正黑體"/>
                        </a:rPr>
                        <a:t>手動</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sp>
        <p:nvSpPr>
          <p:cNvPr id="3791" name="流程圖: 換頁接點 52"/>
          <p:cNvSpPr/>
          <p:nvPr/>
        </p:nvSpPr>
        <p:spPr>
          <a:xfrm>
            <a:off x="12822840" y="9219372"/>
            <a:ext cx="559440" cy="466092"/>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en-US" spc="-2" dirty="0">
                <a:solidFill>
                  <a:srgbClr val="000000"/>
                </a:solidFill>
                <a:latin typeface="微軟正黑體"/>
                <a:ea typeface="微軟正黑體"/>
              </a:rPr>
              <a:t>P1-6</a:t>
            </a:r>
            <a:endParaRPr lang="en-US" spc="-2" dirty="0">
              <a:solidFill>
                <a:srgbClr val="000000"/>
              </a:solidFill>
              <a:latin typeface="Calibri"/>
            </a:endParaRPr>
          </a:p>
        </p:txBody>
      </p:sp>
      <p:cxnSp>
        <p:nvCxnSpPr>
          <p:cNvPr id="3792" name="肘形接點 103"/>
          <p:cNvCxnSpPr>
            <a:stCxn id="3790" idx="3"/>
            <a:endCxn id="3791" idx="1"/>
          </p:cNvCxnSpPr>
          <p:nvPr/>
        </p:nvCxnSpPr>
        <p:spPr>
          <a:xfrm flipV="1">
            <a:off x="11741008" y="9452418"/>
            <a:ext cx="1081832" cy="39696"/>
          </a:xfrm>
          <a:prstGeom prst="bentConnector3">
            <a:avLst>
              <a:gd name="adj1" fmla="val 50000"/>
            </a:avLst>
          </a:prstGeom>
          <a:ln w="0">
            <a:solidFill>
              <a:srgbClr val="000000"/>
            </a:solidFill>
            <a:tailEnd type="triangle" w="med" len="med"/>
          </a:ln>
        </p:spPr>
      </p:cxnSp>
      <p:sp>
        <p:nvSpPr>
          <p:cNvPr id="3784" name="流程圖: 預設處理作業 21"/>
          <p:cNvSpPr/>
          <p:nvPr/>
        </p:nvSpPr>
        <p:spPr>
          <a:xfrm>
            <a:off x="7907824" y="6030571"/>
            <a:ext cx="1812240" cy="1237331"/>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2820" tIns="76680" rIns="152820" bIns="76680" anchor="ctr">
            <a:noAutofit/>
          </a:bodyPr>
          <a:lstStyle/>
          <a:p>
            <a:pPr algn="ctr">
              <a:lnSpc>
                <a:spcPct val="100000"/>
              </a:lnSpc>
            </a:pPr>
            <a:r>
              <a:rPr lang="en-US" sz="1500" spc="-2" dirty="0">
                <a:solidFill>
                  <a:srgbClr val="000000"/>
                </a:solidFill>
                <a:latin typeface="微軟正黑體"/>
                <a:ea typeface="微軟正黑體"/>
              </a:rPr>
              <a:t>WMS</a:t>
            </a:r>
            <a:r>
              <a:rPr lang="zh-TW" altLang="en-US" sz="1500" spc="-2" dirty="0">
                <a:solidFill>
                  <a:srgbClr val="000000"/>
                </a:solidFill>
                <a:latin typeface="微軟正黑體"/>
                <a:ea typeface="微軟正黑體"/>
              </a:rPr>
              <a:t>系統</a:t>
            </a:r>
            <a:endParaRPr lang="en-US" sz="1500" spc="-2" dirty="0">
              <a:solidFill>
                <a:srgbClr val="000000"/>
              </a:solidFill>
              <a:latin typeface="Calibri"/>
            </a:endParaRPr>
          </a:p>
        </p:txBody>
      </p:sp>
      <p:grpSp>
        <p:nvGrpSpPr>
          <p:cNvPr id="2" name="Group 220"/>
          <p:cNvGrpSpPr/>
          <p:nvPr/>
        </p:nvGrpSpPr>
        <p:grpSpPr>
          <a:xfrm>
            <a:off x="6613288" y="5456611"/>
            <a:ext cx="532440" cy="407763"/>
            <a:chOff x="4362840" y="3124080"/>
            <a:chExt cx="354960" cy="271800"/>
          </a:xfrm>
        </p:grpSpPr>
        <p:sp>
          <p:nvSpPr>
            <p:cNvPr id="3794" name="Oval 221"/>
            <p:cNvSpPr/>
            <p:nvPr/>
          </p:nvSpPr>
          <p:spPr>
            <a:xfrm>
              <a:off x="4362840" y="3124080"/>
              <a:ext cx="273600" cy="27180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3795" name="TextBox 222"/>
            <p:cNvSpPr/>
            <p:nvPr/>
          </p:nvSpPr>
          <p:spPr>
            <a:xfrm>
              <a:off x="4362840" y="314460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2</a:t>
              </a:r>
              <a:endParaRPr lang="en-US" sz="1500" spc="-2" dirty="0">
                <a:solidFill>
                  <a:srgbClr val="000000"/>
                </a:solidFill>
                <a:latin typeface="Calibri"/>
              </a:endParaRPr>
            </a:p>
          </p:txBody>
        </p:sp>
      </p:grpSp>
      <p:cxnSp>
        <p:nvCxnSpPr>
          <p:cNvPr id="3801" name="肘形接點 103"/>
          <p:cNvCxnSpPr>
            <a:stCxn id="3777" idx="3"/>
            <a:endCxn id="3783" idx="0"/>
          </p:cNvCxnSpPr>
          <p:nvPr/>
        </p:nvCxnSpPr>
        <p:spPr>
          <a:xfrm>
            <a:off x="4375620" y="5357897"/>
            <a:ext cx="2004004" cy="290453"/>
          </a:xfrm>
          <a:prstGeom prst="bentConnector2">
            <a:avLst/>
          </a:prstGeom>
          <a:ln w="0">
            <a:solidFill>
              <a:srgbClr val="000000"/>
            </a:solidFill>
            <a:tailEnd type="triangle" w="med" len="med"/>
          </a:ln>
        </p:spPr>
      </p:cxnSp>
      <p:sp>
        <p:nvSpPr>
          <p:cNvPr id="3783" name="流程圖: 決策 50"/>
          <p:cNvSpPr/>
          <p:nvPr/>
        </p:nvSpPr>
        <p:spPr>
          <a:xfrm>
            <a:off x="5594464" y="5648350"/>
            <a:ext cx="1570320" cy="860893"/>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有</a:t>
            </a:r>
            <a:r>
              <a:rPr lang="en-US" sz="1500" spc="-2" dirty="0">
                <a:solidFill>
                  <a:srgbClr val="000000"/>
                </a:solidFill>
                <a:latin typeface="微軟正黑體"/>
                <a:ea typeface="微軟正黑體"/>
              </a:rPr>
              <a:t>WMS?</a:t>
            </a:r>
            <a:endParaRPr lang="en-US" sz="1500" spc="-2" dirty="0">
              <a:solidFill>
                <a:srgbClr val="000000"/>
              </a:solidFill>
              <a:latin typeface="Calibri"/>
            </a:endParaRPr>
          </a:p>
        </p:txBody>
      </p:sp>
      <p:cxnSp>
        <p:nvCxnSpPr>
          <p:cNvPr id="3803" name="肘形接點 103"/>
          <p:cNvCxnSpPr>
            <a:stCxn id="3783" idx="2"/>
            <a:endCxn id="3800" idx="1"/>
          </p:cNvCxnSpPr>
          <p:nvPr/>
        </p:nvCxnSpPr>
        <p:spPr>
          <a:xfrm rot="16200000" flipH="1">
            <a:off x="8769543" y="4119324"/>
            <a:ext cx="970018" cy="5749856"/>
          </a:xfrm>
          <a:prstGeom prst="bentConnector2">
            <a:avLst/>
          </a:prstGeom>
          <a:ln w="0">
            <a:solidFill>
              <a:srgbClr val="000000"/>
            </a:solidFill>
            <a:tailEnd type="triangle" w="med" len="med"/>
          </a:ln>
        </p:spPr>
      </p:cxnSp>
      <p:grpSp>
        <p:nvGrpSpPr>
          <p:cNvPr id="4" name="Group 220"/>
          <p:cNvGrpSpPr/>
          <p:nvPr/>
        </p:nvGrpSpPr>
        <p:grpSpPr>
          <a:xfrm>
            <a:off x="13254300" y="8940149"/>
            <a:ext cx="532440" cy="407763"/>
            <a:chOff x="8836200" y="5894280"/>
            <a:chExt cx="354960" cy="271800"/>
          </a:xfrm>
        </p:grpSpPr>
        <p:sp>
          <p:nvSpPr>
            <p:cNvPr id="3805" name="Oval 221"/>
            <p:cNvSpPr/>
            <p:nvPr/>
          </p:nvSpPr>
          <p:spPr>
            <a:xfrm>
              <a:off x="8836560" y="5894280"/>
              <a:ext cx="273600" cy="27180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3806" name="TextBox 222"/>
            <p:cNvSpPr/>
            <p:nvPr/>
          </p:nvSpPr>
          <p:spPr>
            <a:xfrm>
              <a:off x="8836200" y="591444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5</a:t>
              </a:r>
              <a:endParaRPr lang="en-US" sz="1500" spc="-2" dirty="0">
                <a:solidFill>
                  <a:srgbClr val="000000"/>
                </a:solidFill>
                <a:latin typeface="Calibri"/>
              </a:endParaRPr>
            </a:p>
          </p:txBody>
        </p:sp>
      </p:grpSp>
      <p:grpSp>
        <p:nvGrpSpPr>
          <p:cNvPr id="5" name="Group 220"/>
          <p:cNvGrpSpPr/>
          <p:nvPr/>
        </p:nvGrpSpPr>
        <p:grpSpPr>
          <a:xfrm>
            <a:off x="11563888" y="8567501"/>
            <a:ext cx="532440" cy="407763"/>
            <a:chOff x="7612200" y="5789880"/>
            <a:chExt cx="354960" cy="271800"/>
          </a:xfrm>
        </p:grpSpPr>
        <p:sp>
          <p:nvSpPr>
            <p:cNvPr id="3808" name="Oval 221"/>
            <p:cNvSpPr/>
            <p:nvPr/>
          </p:nvSpPr>
          <p:spPr>
            <a:xfrm>
              <a:off x="7612560" y="5789880"/>
              <a:ext cx="273600" cy="27180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3809" name="TextBox 222"/>
            <p:cNvSpPr/>
            <p:nvPr/>
          </p:nvSpPr>
          <p:spPr>
            <a:xfrm>
              <a:off x="7612200" y="581004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4</a:t>
              </a:r>
              <a:endParaRPr lang="en-US" sz="1500" spc="-2" dirty="0">
                <a:solidFill>
                  <a:srgbClr val="000000"/>
                </a:solidFill>
                <a:latin typeface="Calibri"/>
              </a:endParaRPr>
            </a:p>
          </p:txBody>
        </p:sp>
      </p:grpSp>
      <p:sp>
        <p:nvSpPr>
          <p:cNvPr id="3771" name="流程圖: 決策 50"/>
          <p:cNvSpPr/>
          <p:nvPr/>
        </p:nvSpPr>
        <p:spPr>
          <a:xfrm>
            <a:off x="5591224" y="2022612"/>
            <a:ext cx="1570320" cy="1018057"/>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有</a:t>
            </a:r>
            <a:r>
              <a:rPr lang="en-US" sz="1500" spc="-2" dirty="0">
                <a:solidFill>
                  <a:srgbClr val="000000"/>
                </a:solidFill>
                <a:latin typeface="微軟正黑體"/>
                <a:ea typeface="微軟正黑體"/>
              </a:rPr>
              <a:t>WMS?</a:t>
            </a:r>
            <a:endParaRPr lang="en-US" sz="1500" spc="-2" dirty="0">
              <a:solidFill>
                <a:srgbClr val="000000"/>
              </a:solidFill>
              <a:latin typeface="Calibri"/>
            </a:endParaRPr>
          </a:p>
        </p:txBody>
      </p:sp>
      <p:sp>
        <p:nvSpPr>
          <p:cNvPr id="3810" name="流程圖: 預設處理作業 21"/>
          <p:cNvSpPr/>
          <p:nvPr/>
        </p:nvSpPr>
        <p:spPr>
          <a:xfrm>
            <a:off x="7904584" y="2751725"/>
            <a:ext cx="1812240" cy="1237331"/>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2820" tIns="76680" rIns="152820" bIns="76680" anchor="ctr">
            <a:noAutofit/>
          </a:bodyPr>
          <a:lstStyle/>
          <a:p>
            <a:pPr algn="ctr">
              <a:lnSpc>
                <a:spcPct val="100000"/>
              </a:lnSpc>
            </a:pPr>
            <a:r>
              <a:rPr lang="en-US" sz="1500" spc="-2" dirty="0">
                <a:solidFill>
                  <a:srgbClr val="000000"/>
                </a:solidFill>
                <a:latin typeface="微軟正黑體"/>
                <a:ea typeface="微軟正黑體"/>
              </a:rPr>
              <a:t>WMS</a:t>
            </a:r>
            <a:r>
              <a:rPr lang="zh-TW" altLang="en-US" sz="1500" spc="-2" dirty="0">
                <a:solidFill>
                  <a:srgbClr val="000000"/>
                </a:solidFill>
                <a:latin typeface="微軟正黑體"/>
                <a:ea typeface="微軟正黑體"/>
              </a:rPr>
              <a:t>系統</a:t>
            </a:r>
            <a:endParaRPr lang="en-US" sz="1500" spc="-2" dirty="0">
              <a:solidFill>
                <a:srgbClr val="000000"/>
              </a:solidFill>
              <a:latin typeface="Calibri"/>
            </a:endParaRPr>
          </a:p>
        </p:txBody>
      </p:sp>
      <p:cxnSp>
        <p:nvCxnSpPr>
          <p:cNvPr id="3811" name="肘形接點 103"/>
          <p:cNvCxnSpPr>
            <a:stCxn id="3771" idx="2"/>
            <a:endCxn id="3810" idx="1"/>
          </p:cNvCxnSpPr>
          <p:nvPr/>
        </p:nvCxnSpPr>
        <p:spPr>
          <a:xfrm rot="16200000" flipH="1">
            <a:off x="6975759" y="2441295"/>
            <a:ext cx="329991" cy="1528740"/>
          </a:xfrm>
          <a:prstGeom prst="bentConnector2">
            <a:avLst/>
          </a:prstGeom>
          <a:ln w="0">
            <a:solidFill>
              <a:srgbClr val="000000"/>
            </a:solidFill>
            <a:tailEnd type="triangle" w="med" len="med"/>
          </a:ln>
        </p:spPr>
      </p:cxnSp>
      <p:sp>
        <p:nvSpPr>
          <p:cNvPr id="3812" name="TextBox 46"/>
          <p:cNvSpPr/>
          <p:nvPr/>
        </p:nvSpPr>
        <p:spPr>
          <a:xfrm>
            <a:off x="6423904" y="3016906"/>
            <a:ext cx="120852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cxnSp>
        <p:nvCxnSpPr>
          <p:cNvPr id="3813" name="Straight Connector 284"/>
          <p:cNvCxnSpPr/>
          <p:nvPr/>
        </p:nvCxnSpPr>
        <p:spPr>
          <a:xfrm>
            <a:off x="9790992" y="1375052"/>
            <a:ext cx="1080" cy="8617570"/>
          </a:xfrm>
          <a:prstGeom prst="straightConnector1">
            <a:avLst/>
          </a:prstGeom>
          <a:ln w="0">
            <a:solidFill>
              <a:srgbClr val="000000"/>
            </a:solidFill>
          </a:ln>
        </p:spPr>
      </p:cxnSp>
      <p:sp>
        <p:nvSpPr>
          <p:cNvPr id="3814" name="文字方塊 17"/>
          <p:cNvSpPr/>
          <p:nvPr/>
        </p:nvSpPr>
        <p:spPr>
          <a:xfrm>
            <a:off x="6704060" y="1375052"/>
            <a:ext cx="3016004" cy="397928"/>
          </a:xfrm>
          <a:prstGeom prst="rect">
            <a:avLst/>
          </a:prstGeom>
          <a:noFill/>
          <a:ln w="0">
            <a:noFill/>
          </a:ln>
        </p:spPr>
        <p:style>
          <a:lnRef idx="0">
            <a:scrgbClr r="0" g="0" b="0"/>
          </a:lnRef>
          <a:fillRef idx="0">
            <a:scrgbClr r="0" g="0" b="0"/>
          </a:fillRef>
          <a:effectRef idx="0">
            <a:scrgbClr r="0" g="0" b="0"/>
          </a:effectRef>
          <a:fontRef idx="minor"/>
        </p:style>
        <p:txBody>
          <a:bodyPr wrap="square" lIns="135000" tIns="67500" rIns="135000" bIns="67500" anchor="t">
            <a:spAutoFit/>
          </a:bodyPr>
          <a:lstStyle/>
          <a:p>
            <a:pPr algn="ctr">
              <a:lnSpc>
                <a:spcPct val="100000"/>
              </a:lnSpc>
            </a:pPr>
            <a:r>
              <a:rPr lang="zh-TW" altLang="en-US" sz="1700" spc="-2" dirty="0">
                <a:solidFill>
                  <a:srgbClr val="000000"/>
                </a:solidFill>
                <a:latin typeface="Arial"/>
                <a:ea typeface="Arial"/>
              </a:rPr>
              <a:t>倉管人員</a:t>
            </a:r>
            <a:endParaRPr lang="en-US" sz="1700" spc="-2" dirty="0">
              <a:solidFill>
                <a:srgbClr val="000000"/>
              </a:solidFill>
              <a:latin typeface="Calibri"/>
            </a:endParaRPr>
          </a:p>
        </p:txBody>
      </p:sp>
      <p:cxnSp>
        <p:nvCxnSpPr>
          <p:cNvPr id="3815" name="肘形接點 103"/>
          <p:cNvCxnSpPr>
            <a:stCxn id="3771" idx="3"/>
            <a:endCxn id="3774" idx="1"/>
          </p:cNvCxnSpPr>
          <p:nvPr/>
        </p:nvCxnSpPr>
        <p:spPr>
          <a:xfrm>
            <a:off x="7161544" y="2531641"/>
            <a:ext cx="4983056" cy="9722"/>
          </a:xfrm>
          <a:prstGeom prst="bentConnector3">
            <a:avLst>
              <a:gd name="adj1" fmla="val 50000"/>
            </a:avLst>
          </a:prstGeom>
          <a:ln w="0">
            <a:solidFill>
              <a:srgbClr val="000000"/>
            </a:solidFill>
            <a:tailEnd type="triangle" w="med" len="med"/>
          </a:ln>
        </p:spPr>
      </p:cxnSp>
      <p:sp>
        <p:nvSpPr>
          <p:cNvPr id="3816" name="TextBox 46"/>
          <p:cNvSpPr/>
          <p:nvPr/>
        </p:nvSpPr>
        <p:spPr>
          <a:xfrm>
            <a:off x="7179364" y="2205160"/>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graphicFrame>
        <p:nvGraphicFramePr>
          <p:cNvPr id="3817" name="表格 30"/>
          <p:cNvGraphicFramePr/>
          <p:nvPr>
            <p:extLst>
              <p:ext uri="{D42A27DB-BD31-4B8C-83A1-F6EECF244321}">
                <p14:modId xmlns:p14="http://schemas.microsoft.com/office/powerpoint/2010/main" val="1863637924"/>
              </p:ext>
            </p:extLst>
          </p:nvPr>
        </p:nvGraphicFramePr>
        <p:xfrm>
          <a:off x="7907824" y="4456228"/>
          <a:ext cx="1797120" cy="1097448"/>
        </p:xfrm>
        <a:graphic>
          <a:graphicData uri="http://schemas.openxmlformats.org/drawingml/2006/table">
            <a:tbl>
              <a:tblPr/>
              <a:tblGrid>
                <a:gridCol w="898560">
                  <a:extLst>
                    <a:ext uri="{9D8B030D-6E8A-4147-A177-3AD203B41FA5}">
                      <a16:colId xmlns:a16="http://schemas.microsoft.com/office/drawing/2014/main" val="20000"/>
                    </a:ext>
                  </a:extLst>
                </a:gridCol>
                <a:gridCol w="898560">
                  <a:extLst>
                    <a:ext uri="{9D8B030D-6E8A-4147-A177-3AD203B41FA5}">
                      <a16:colId xmlns:a16="http://schemas.microsoft.com/office/drawing/2014/main" val="20001"/>
                    </a:ext>
                  </a:extLst>
                </a:gridCol>
              </a:tblGrid>
              <a:tr h="365816">
                <a:tc gridSpan="2">
                  <a:txBody>
                    <a:bodyPr/>
                    <a:lstStyle/>
                    <a:p>
                      <a:pPr algn="ctr">
                        <a:lnSpc>
                          <a:spcPct val="100000"/>
                        </a:lnSpc>
                      </a:pPr>
                      <a:r>
                        <a:rPr lang="en-GB" sz="1500" b="1" strike="noStrike" spc="-1">
                          <a:solidFill>
                            <a:schemeClr val="dk1"/>
                          </a:solidFill>
                          <a:latin typeface="微軟正黑體"/>
                          <a:ea typeface="微軟正黑體"/>
                        </a:rPr>
                        <a:t>MIGO</a:t>
                      </a:r>
                      <a:endParaRPr lang="en-US" sz="1500" b="0" strike="noStrike" spc="-1">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365816">
                <a:tc gridSpan="2">
                  <a:txBody>
                    <a:bodyPr/>
                    <a:lstStyle/>
                    <a:p>
                      <a:pPr algn="ctr">
                        <a:lnSpc>
                          <a:spcPct val="100000"/>
                        </a:lnSpc>
                      </a:pPr>
                      <a:r>
                        <a:rPr lang="zh-TW" sz="1500" b="0" strike="noStrike" spc="-1">
                          <a:solidFill>
                            <a:srgbClr val="000000"/>
                          </a:solidFill>
                          <a:latin typeface="微軟正黑體"/>
                          <a:ea typeface="微軟正黑體"/>
                        </a:rPr>
                        <a:t>庫存調撥單</a:t>
                      </a:r>
                      <a:endParaRPr lang="en-US" sz="1500" b="0" strike="noStrike" spc="-1">
                        <a:solidFill>
                          <a:srgbClr val="000000"/>
                        </a:solidFill>
                        <a:latin typeface="Calibri"/>
                      </a:endParaRPr>
                    </a:p>
                  </a:txBody>
                  <a:tcPr marL="124200" marR="1242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65816">
                <a:tc>
                  <a:txBody>
                    <a:bodyPr/>
                    <a:lstStyle/>
                    <a:p>
                      <a:pPr algn="ctr">
                        <a:lnSpc>
                          <a:spcPct val="100000"/>
                        </a:lnSpc>
                      </a:pPr>
                      <a:r>
                        <a:rPr lang="en-GB" sz="1500" b="0" strike="noStrike" spc="-1">
                          <a:solidFill>
                            <a:srgbClr val="000000"/>
                          </a:solidFill>
                          <a:latin typeface="微軟正黑體"/>
                          <a:ea typeface="微軟正黑體"/>
                        </a:rPr>
                        <a:t>SAP</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a:lnSpc>
                          <a:spcPct val="100000"/>
                        </a:lnSpc>
                      </a:pPr>
                      <a:r>
                        <a:rPr lang="zh-TW" sz="1500" b="0" strike="noStrike" spc="-1">
                          <a:solidFill>
                            <a:srgbClr val="000000"/>
                          </a:solidFill>
                          <a:latin typeface="微軟正黑體"/>
                          <a:ea typeface="微軟正黑體"/>
                        </a:rPr>
                        <a:t>自動</a:t>
                      </a:r>
                      <a:endParaRPr lang="en-US" sz="1500" b="0" strike="noStrike" spc="-1">
                        <a:solidFill>
                          <a:srgbClr val="000000"/>
                        </a:solidFill>
                        <a:latin typeface="Calibri"/>
                      </a:endParaRPr>
                    </a:p>
                  </a:txBody>
                  <a:tcPr marL="54000" marR="54000" marT="68591" marB="68591">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cxnSp>
        <p:nvCxnSpPr>
          <p:cNvPr id="3818" name="肘形接點 103"/>
          <p:cNvCxnSpPr>
            <a:stCxn id="3810" idx="2"/>
            <a:endCxn id="3817" idx="0"/>
          </p:cNvCxnSpPr>
          <p:nvPr/>
        </p:nvCxnSpPr>
        <p:spPr>
          <a:xfrm rot="5400000">
            <a:off x="8574148" y="4220212"/>
            <a:ext cx="467712" cy="5400"/>
          </a:xfrm>
          <a:prstGeom prst="bentConnector3">
            <a:avLst>
              <a:gd name="adj1" fmla="val 50173"/>
            </a:avLst>
          </a:prstGeom>
          <a:ln w="0">
            <a:solidFill>
              <a:srgbClr val="000000"/>
            </a:solidFill>
            <a:tailEnd type="triangle" w="med" len="med"/>
          </a:ln>
        </p:spPr>
      </p:cxnSp>
      <p:grpSp>
        <p:nvGrpSpPr>
          <p:cNvPr id="6" name="Group 220"/>
          <p:cNvGrpSpPr/>
          <p:nvPr/>
        </p:nvGrpSpPr>
        <p:grpSpPr>
          <a:xfrm>
            <a:off x="9336312" y="4093212"/>
            <a:ext cx="532440" cy="407763"/>
            <a:chOff x="5973840" y="2853000"/>
            <a:chExt cx="354960" cy="271800"/>
          </a:xfrm>
        </p:grpSpPr>
        <p:sp>
          <p:nvSpPr>
            <p:cNvPr id="3820" name="Oval 221"/>
            <p:cNvSpPr/>
            <p:nvPr/>
          </p:nvSpPr>
          <p:spPr>
            <a:xfrm>
              <a:off x="5974200" y="2853000"/>
              <a:ext cx="273600" cy="27180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3821" name="TextBox 222"/>
            <p:cNvSpPr/>
            <p:nvPr/>
          </p:nvSpPr>
          <p:spPr>
            <a:xfrm>
              <a:off x="5973840" y="287316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1</a:t>
              </a:r>
              <a:endParaRPr lang="en-US" sz="1500" spc="-2" dirty="0">
                <a:solidFill>
                  <a:srgbClr val="000000"/>
                </a:solidFill>
                <a:latin typeface="Calibri"/>
              </a:endParaRPr>
            </a:p>
          </p:txBody>
        </p:sp>
      </p:grpSp>
      <p:sp>
        <p:nvSpPr>
          <p:cNvPr id="3822" name="TextBox 46"/>
          <p:cNvSpPr/>
          <p:nvPr/>
        </p:nvSpPr>
        <p:spPr>
          <a:xfrm>
            <a:off x="6442028" y="6765757"/>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否</a:t>
            </a:r>
            <a:endParaRPr lang="en-US" sz="1500" spc="-2" dirty="0">
              <a:solidFill>
                <a:srgbClr val="000000"/>
              </a:solidFill>
              <a:latin typeface="Calibri"/>
            </a:endParaRPr>
          </a:p>
        </p:txBody>
      </p:sp>
      <p:cxnSp>
        <p:nvCxnSpPr>
          <p:cNvPr id="3823" name="肘形接點 103"/>
          <p:cNvCxnSpPr>
            <a:stCxn id="3817" idx="3"/>
            <a:endCxn id="3774" idx="1"/>
          </p:cNvCxnSpPr>
          <p:nvPr/>
        </p:nvCxnSpPr>
        <p:spPr>
          <a:xfrm flipV="1">
            <a:off x="9704944" y="2541363"/>
            <a:ext cx="2439656" cy="2463589"/>
          </a:xfrm>
          <a:prstGeom prst="bentConnector3">
            <a:avLst>
              <a:gd name="adj1" fmla="val 50000"/>
            </a:avLst>
          </a:prstGeom>
          <a:ln w="0">
            <a:solidFill>
              <a:srgbClr val="000000"/>
            </a:solidFill>
            <a:tailEnd type="triangle" w="med" len="med"/>
          </a:ln>
        </p:spPr>
      </p:cxnSp>
      <p:cxnSp>
        <p:nvCxnSpPr>
          <p:cNvPr id="3824" name="肘形接點 103"/>
          <p:cNvCxnSpPr>
            <a:stCxn id="3784" idx="0"/>
            <a:endCxn id="3817" idx="2"/>
          </p:cNvCxnSpPr>
          <p:nvPr/>
        </p:nvCxnSpPr>
        <p:spPr>
          <a:xfrm rot="16200000" flipV="1">
            <a:off x="8572528" y="5788614"/>
            <a:ext cx="475273" cy="8640"/>
          </a:xfrm>
          <a:prstGeom prst="bentConnector3">
            <a:avLst>
              <a:gd name="adj1" fmla="val 59385"/>
            </a:avLst>
          </a:prstGeom>
          <a:ln w="0">
            <a:solidFill>
              <a:srgbClr val="000000"/>
            </a:solidFill>
            <a:tailEnd type="triangle" w="med" len="med"/>
          </a:ln>
        </p:spPr>
      </p:cxnSp>
      <p:sp>
        <p:nvSpPr>
          <p:cNvPr id="3800" name="流程圖: 結束點 227"/>
          <p:cNvSpPr/>
          <p:nvPr/>
        </p:nvSpPr>
        <p:spPr>
          <a:xfrm>
            <a:off x="12129480" y="7088510"/>
            <a:ext cx="1796580" cy="781501"/>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2820" tIns="76680" rIns="152820" bIns="76680" numCol="1" spcCol="0" anchor="ctr">
            <a:noAutofit/>
          </a:bodyPr>
          <a:lstStyle/>
          <a:p>
            <a:pPr algn="ctr">
              <a:lnSpc>
                <a:spcPct val="100000"/>
              </a:lnSpc>
            </a:pPr>
            <a:r>
              <a:rPr lang="zh-TW" altLang="en-US" sz="1500" spc="-2" dirty="0">
                <a:solidFill>
                  <a:srgbClr val="000000"/>
                </a:solidFill>
                <a:latin typeface="微軟正黑體"/>
                <a:ea typeface="微軟正黑體"/>
              </a:rPr>
              <a:t>結束</a:t>
            </a:r>
            <a:endParaRPr lang="en-US" sz="1500" spc="-2" dirty="0">
              <a:solidFill>
                <a:srgbClr val="000000"/>
              </a:solidFill>
              <a:latin typeface="Calibri"/>
            </a:endParaRPr>
          </a:p>
        </p:txBody>
      </p:sp>
      <p:grpSp>
        <p:nvGrpSpPr>
          <p:cNvPr id="7" name="Group 220"/>
          <p:cNvGrpSpPr/>
          <p:nvPr/>
        </p:nvGrpSpPr>
        <p:grpSpPr>
          <a:xfrm>
            <a:off x="5831632" y="7828482"/>
            <a:ext cx="532440" cy="407763"/>
            <a:chOff x="2447640" y="5368680"/>
            <a:chExt cx="354960" cy="271800"/>
          </a:xfrm>
        </p:grpSpPr>
        <p:sp>
          <p:nvSpPr>
            <p:cNvPr id="3826" name="Oval 221"/>
            <p:cNvSpPr/>
            <p:nvPr/>
          </p:nvSpPr>
          <p:spPr>
            <a:xfrm>
              <a:off x="2448000" y="5368680"/>
              <a:ext cx="273600" cy="27180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3827" name="TextBox 222"/>
            <p:cNvSpPr/>
            <p:nvPr/>
          </p:nvSpPr>
          <p:spPr>
            <a:xfrm>
              <a:off x="2447640" y="538920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3</a:t>
              </a:r>
              <a:endParaRPr lang="en-US" sz="1500" spc="-2" dirty="0">
                <a:solidFill>
                  <a:srgbClr val="000000"/>
                </a:solidFill>
                <a:latin typeface="Calibri"/>
              </a:endParaRPr>
            </a:p>
          </p:txBody>
        </p:sp>
      </p:grpSp>
      <p:cxnSp>
        <p:nvCxnSpPr>
          <p:cNvPr id="3828" name="肘形接點 103"/>
          <p:cNvCxnSpPr>
            <a:cxnSpLocks/>
            <a:stCxn id="3776" idx="2"/>
            <a:endCxn id="3790" idx="1"/>
          </p:cNvCxnSpPr>
          <p:nvPr/>
        </p:nvCxnSpPr>
        <p:spPr>
          <a:xfrm rot="16200000" flipH="1">
            <a:off x="7289181" y="6837407"/>
            <a:ext cx="578690" cy="4730724"/>
          </a:xfrm>
          <a:prstGeom prst="bentConnector2">
            <a:avLst/>
          </a:prstGeom>
          <a:ln w="0">
            <a:solidFill>
              <a:srgbClr val="000000"/>
            </a:solidFill>
            <a:tailEnd type="triangle" w="med" len="med"/>
          </a:ln>
        </p:spPr>
      </p:cxnSp>
      <p:sp>
        <p:nvSpPr>
          <p:cNvPr id="3829" name="TextBox 46"/>
          <p:cNvSpPr/>
          <p:nvPr/>
        </p:nvSpPr>
        <p:spPr>
          <a:xfrm>
            <a:off x="8692936" y="8459115"/>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sp>
        <p:nvSpPr>
          <p:cNvPr id="84"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a:solidFill>
                  <a:schemeClr val="dk1"/>
                </a:solidFill>
                <a:latin typeface="微軟正黑體"/>
                <a:ea typeface="微軟正黑體"/>
              </a:rPr>
              <a:t>2</a:t>
            </a:r>
            <a:endParaRPr lang="en-US" sz="1600" b="0" strike="noStrike" spc="-1" dirty="0">
              <a:solidFill>
                <a:srgbClr val="000000"/>
              </a:solidFill>
              <a:latin typeface="Calibri"/>
            </a:endParaRPr>
          </a:p>
        </p:txBody>
      </p:sp>
      <p:sp>
        <p:nvSpPr>
          <p:cNvPr id="72" name="TextBox 2"/>
          <p:cNvSpPr/>
          <p:nvPr/>
        </p:nvSpPr>
        <p:spPr>
          <a:xfrm>
            <a:off x="16716492" y="715138"/>
            <a:ext cx="1428696" cy="33710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en-US" sz="1600" b="0" strike="noStrike" spc="-1" dirty="0">
                <a:solidFill>
                  <a:schemeClr val="dk1"/>
                </a:solidFill>
                <a:latin typeface="微軟正黑體"/>
                <a:ea typeface="微軟正黑體"/>
              </a:rPr>
              <a:t>2025/08/02</a:t>
            </a:r>
            <a:endParaRPr lang="en-US" sz="1600" b="0" strike="noStrike" spc="-1" dirty="0">
              <a:solidFill>
                <a:srgbClr val="000000"/>
              </a:solidFill>
              <a:latin typeface="Calibri"/>
            </a:endParaRPr>
          </a:p>
        </p:txBody>
      </p:sp>
      <p:sp>
        <p:nvSpPr>
          <p:cNvPr id="74" name="流程圖: 預設處理作業 21"/>
          <p:cNvSpPr/>
          <p:nvPr/>
        </p:nvSpPr>
        <p:spPr>
          <a:xfrm>
            <a:off x="7558936" y="7887395"/>
            <a:ext cx="1812240" cy="1001315"/>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2820" tIns="76680" rIns="152820" bIns="76680" anchor="ctr">
            <a:noAutofit/>
          </a:bodyPr>
          <a:lstStyle/>
          <a:p>
            <a:pPr algn="ctr">
              <a:lnSpc>
                <a:spcPts val="1845"/>
              </a:lnSpc>
            </a:pPr>
            <a:r>
              <a:rPr lang="en-US" sz="1500" spc="-2" dirty="0">
                <a:solidFill>
                  <a:srgbClr val="000000"/>
                </a:solidFill>
                <a:latin typeface="微軟正黑體"/>
                <a:ea typeface="微軟正黑體"/>
              </a:rPr>
              <a:t>QM-IN-0010</a:t>
            </a:r>
            <a:endParaRPr lang="en-US" sz="1500" spc="-2" dirty="0">
              <a:solidFill>
                <a:srgbClr val="000000"/>
              </a:solidFill>
              <a:latin typeface="Calibri"/>
            </a:endParaRPr>
          </a:p>
          <a:p>
            <a:pPr algn="ctr">
              <a:lnSpc>
                <a:spcPts val="1845"/>
              </a:lnSpc>
            </a:pPr>
            <a:r>
              <a:rPr lang="zh-CN" altLang="en-US" sz="1500" spc="-2" dirty="0">
                <a:solidFill>
                  <a:srgbClr val="000000"/>
                </a:solidFill>
                <a:latin typeface="微軟正黑體"/>
                <a:ea typeface="微軟正黑體"/>
              </a:rPr>
              <a:t>進料檢驗流程</a:t>
            </a:r>
            <a:endParaRPr lang="en-US" sz="1500" spc="-2" dirty="0">
              <a:solidFill>
                <a:srgbClr val="000000"/>
              </a:solidFill>
              <a:latin typeface="Calibri"/>
            </a:endParaRPr>
          </a:p>
        </p:txBody>
      </p:sp>
      <p:grpSp>
        <p:nvGrpSpPr>
          <p:cNvPr id="3" name="Group 220"/>
          <p:cNvGrpSpPr/>
          <p:nvPr/>
        </p:nvGrpSpPr>
        <p:grpSpPr>
          <a:xfrm>
            <a:off x="9130572" y="7673081"/>
            <a:ext cx="532440" cy="407763"/>
            <a:chOff x="4298400" y="5208480"/>
            <a:chExt cx="354960" cy="271800"/>
          </a:xfrm>
        </p:grpSpPr>
        <p:sp>
          <p:nvSpPr>
            <p:cNvPr id="3797" name="Oval 221"/>
            <p:cNvSpPr/>
            <p:nvPr/>
          </p:nvSpPr>
          <p:spPr>
            <a:xfrm>
              <a:off x="4298760" y="5208480"/>
              <a:ext cx="273600" cy="27180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3798" name="TextBox 222"/>
            <p:cNvSpPr/>
            <p:nvPr/>
          </p:nvSpPr>
          <p:spPr>
            <a:xfrm>
              <a:off x="4298400" y="522864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5</a:t>
              </a:r>
              <a:endParaRPr lang="en-US" sz="1500" spc="-2" dirty="0">
                <a:solidFill>
                  <a:srgbClr val="000000"/>
                </a:solidFill>
                <a:latin typeface="Calibri"/>
              </a:endParaRPr>
            </a:p>
          </p:txBody>
        </p:sp>
      </p:grpSp>
      <p:cxnSp>
        <p:nvCxnSpPr>
          <p:cNvPr id="76" name="肘形接點 103"/>
          <p:cNvCxnSpPr>
            <a:stCxn id="74" idx="3"/>
            <a:endCxn id="3800" idx="1"/>
          </p:cNvCxnSpPr>
          <p:nvPr/>
        </p:nvCxnSpPr>
        <p:spPr>
          <a:xfrm flipV="1">
            <a:off x="9371176" y="7479261"/>
            <a:ext cx="2758304" cy="908792"/>
          </a:xfrm>
          <a:prstGeom prst="bentConnector3">
            <a:avLst>
              <a:gd name="adj1" fmla="val 50000"/>
            </a:avLst>
          </a:prstGeom>
          <a:ln w="0">
            <a:solidFill>
              <a:srgbClr val="000000"/>
            </a:solidFill>
            <a:tailEnd type="triangle" w="med" len="med"/>
          </a:ln>
        </p:spPr>
      </p:cxnSp>
      <p:sp>
        <p:nvSpPr>
          <p:cNvPr id="93" name="文字方塊 17">
            <a:extLst>
              <a:ext uri="{FF2B5EF4-FFF2-40B4-BE49-F238E27FC236}">
                <a16:creationId xmlns:a16="http://schemas.microsoft.com/office/drawing/2014/main" id="{97B79943-8E5B-4C15-8AB9-57903BDF8AD6}"/>
              </a:ext>
            </a:extLst>
          </p:cNvPr>
          <p:cNvSpPr/>
          <p:nvPr/>
        </p:nvSpPr>
        <p:spPr>
          <a:xfrm>
            <a:off x="4175448" y="1361990"/>
            <a:ext cx="1899806" cy="397928"/>
          </a:xfrm>
          <a:prstGeom prst="rect">
            <a:avLst/>
          </a:prstGeom>
          <a:noFill/>
          <a:ln w="0">
            <a:noFill/>
          </a:ln>
        </p:spPr>
        <p:style>
          <a:lnRef idx="0">
            <a:scrgbClr r="0" g="0" b="0"/>
          </a:lnRef>
          <a:fillRef idx="0">
            <a:scrgbClr r="0" g="0" b="0"/>
          </a:fillRef>
          <a:effectRef idx="0">
            <a:scrgbClr r="0" g="0" b="0"/>
          </a:effectRef>
          <a:fontRef idx="minor"/>
        </p:style>
        <p:txBody>
          <a:bodyPr wrap="square" lIns="135000" tIns="67500" rIns="135000" bIns="67500" anchor="t">
            <a:spAutoFit/>
          </a:bodyPr>
          <a:lstStyle/>
          <a:p>
            <a:pPr algn="ctr">
              <a:lnSpc>
                <a:spcPct val="100000"/>
              </a:lnSpc>
            </a:pPr>
            <a:r>
              <a:rPr lang="zh-TW" altLang="en-US" sz="1700" spc="-2" dirty="0">
                <a:solidFill>
                  <a:srgbClr val="000000"/>
                </a:solidFill>
                <a:latin typeface="Arial"/>
                <a:ea typeface="Arial"/>
              </a:rPr>
              <a:t>關務</a:t>
            </a:r>
            <a:endParaRPr lang="en-US" sz="1700" spc="-2" dirty="0">
              <a:solidFill>
                <a:srgbClr val="000000"/>
              </a:solidFill>
              <a:latin typeface="Calibri"/>
            </a:endParaRPr>
          </a:p>
        </p:txBody>
      </p:sp>
      <p:cxnSp>
        <p:nvCxnSpPr>
          <p:cNvPr id="94" name="Straight Connector 284">
            <a:extLst>
              <a:ext uri="{FF2B5EF4-FFF2-40B4-BE49-F238E27FC236}">
                <a16:creationId xmlns:a16="http://schemas.microsoft.com/office/drawing/2014/main" id="{D8E7832E-A3DE-450F-9CCB-6F9958636732}"/>
              </a:ext>
            </a:extLst>
          </p:cNvPr>
          <p:cNvCxnSpPr/>
          <p:nvPr/>
        </p:nvCxnSpPr>
        <p:spPr>
          <a:xfrm>
            <a:off x="5765149" y="1423268"/>
            <a:ext cx="1080" cy="8617570"/>
          </a:xfrm>
          <a:prstGeom prst="straightConnector1">
            <a:avLst/>
          </a:prstGeom>
          <a:ln w="0">
            <a:solidFill>
              <a:srgbClr val="000000"/>
            </a:solidFill>
          </a:ln>
        </p:spPr>
      </p:cxnSp>
      <p:sp>
        <p:nvSpPr>
          <p:cNvPr id="73" name="TextBox 46">
            <a:extLst>
              <a:ext uri="{FF2B5EF4-FFF2-40B4-BE49-F238E27FC236}">
                <a16:creationId xmlns:a16="http://schemas.microsoft.com/office/drawing/2014/main" id="{0FB0E9E9-B547-4FC7-BCC1-1F91513F3AA3}"/>
              </a:ext>
            </a:extLst>
          </p:cNvPr>
          <p:cNvSpPr/>
          <p:nvPr/>
        </p:nvSpPr>
        <p:spPr>
          <a:xfrm>
            <a:off x="5265050" y="9009542"/>
            <a:ext cx="403380" cy="367151"/>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zh-TW" altLang="en-US" sz="1500" spc="-2" dirty="0">
                <a:solidFill>
                  <a:srgbClr val="000000"/>
                </a:solidFill>
                <a:latin typeface="Arial"/>
                <a:ea typeface="Arial"/>
              </a:rPr>
              <a:t>是</a:t>
            </a:r>
            <a:endParaRPr lang="en-US" sz="1500" spc="-2" dirty="0">
              <a:solidFill>
                <a:srgbClr val="0000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1" name="Google Shape;204;p4"/>
          <p:cNvSpPr/>
          <p:nvPr/>
        </p:nvSpPr>
        <p:spPr>
          <a:xfrm>
            <a:off x="197100" y="1594866"/>
            <a:ext cx="17910720" cy="8399376"/>
          </a:xfrm>
          <a:prstGeom prst="rect">
            <a:avLst/>
          </a:prstGeom>
          <a:noFill/>
          <a:ln w="19050">
            <a:solidFill>
              <a:srgbClr val="000000"/>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pPr>
              <a:tabLst>
                <a:tab pos="0" algn="l"/>
              </a:tabLst>
            </a:pPr>
            <a:r>
              <a:rPr lang="zh-CN" altLang="en-US" sz="2400" spc="-2" dirty="0">
                <a:solidFill>
                  <a:schemeClr val="dk1"/>
                </a:solidFill>
                <a:latin typeface="Arial"/>
                <a:ea typeface="Arial"/>
              </a:rPr>
              <a:t>流程補充說明</a:t>
            </a:r>
            <a:r>
              <a:rPr lang="en-US" sz="2400" spc="-2" dirty="0">
                <a:solidFill>
                  <a:schemeClr val="dk1"/>
                </a:solidFill>
                <a:latin typeface="Arial"/>
                <a:ea typeface="Arial"/>
              </a:rPr>
              <a:t>:</a:t>
            </a:r>
            <a:endParaRPr lang="en-US" sz="2400" spc="-2" dirty="0">
              <a:solidFill>
                <a:srgbClr val="000000"/>
              </a:solidFill>
              <a:latin typeface="Calibri"/>
            </a:endParaRPr>
          </a:p>
          <a:p>
            <a:pPr>
              <a:tabLst>
                <a:tab pos="0" algn="l"/>
              </a:tabLst>
            </a:pPr>
            <a:endParaRPr lang="en-US" sz="2400" spc="-2" dirty="0">
              <a:solidFill>
                <a:srgbClr val="000000"/>
              </a:solidFill>
              <a:latin typeface="Calibri"/>
            </a:endParaRPr>
          </a:p>
          <a:p>
            <a:pPr>
              <a:tabLst>
                <a:tab pos="0" algn="l"/>
              </a:tabLst>
            </a:pPr>
            <a:r>
              <a:rPr lang="zh-TW" altLang="en-US" sz="2400" spc="-2" dirty="0">
                <a:solidFill>
                  <a:schemeClr val="dk1"/>
                </a:solidFill>
                <a:latin typeface="Arial"/>
                <a:ea typeface="Arial"/>
              </a:rPr>
              <a:t>與</a:t>
            </a:r>
            <a:r>
              <a:rPr lang="en-US" sz="2400" spc="-2" dirty="0">
                <a:solidFill>
                  <a:schemeClr val="dk1"/>
                </a:solidFill>
                <a:latin typeface="Arial"/>
                <a:ea typeface="Arial"/>
              </a:rPr>
              <a:t>WMS</a:t>
            </a:r>
            <a:r>
              <a:rPr lang="zh-TW" altLang="en-US" sz="2400" spc="-2" dirty="0">
                <a:solidFill>
                  <a:schemeClr val="dk1"/>
                </a:solidFill>
                <a:latin typeface="Arial"/>
                <a:ea typeface="Arial"/>
              </a:rPr>
              <a:t>介接說明補充 </a:t>
            </a:r>
            <a:endParaRPr lang="en-US" sz="2400" spc="-2" dirty="0">
              <a:solidFill>
                <a:srgbClr val="000000"/>
              </a:solidFill>
              <a:latin typeface="Calibri"/>
            </a:endParaRPr>
          </a:p>
          <a:p>
            <a:pPr>
              <a:tabLst>
                <a:tab pos="0" algn="l"/>
              </a:tabLst>
            </a:pPr>
            <a:endParaRPr lang="en-US" spc="-2" dirty="0">
              <a:solidFill>
                <a:srgbClr val="000000"/>
              </a:solidFill>
              <a:latin typeface="Calibri"/>
            </a:endParaRPr>
          </a:p>
        </p:txBody>
      </p:sp>
      <p:sp>
        <p:nvSpPr>
          <p:cNvPr id="3833" name="圓角矩形 28"/>
          <p:cNvSpPr/>
          <p:nvPr/>
        </p:nvSpPr>
        <p:spPr>
          <a:xfrm>
            <a:off x="16890120" y="8897333"/>
            <a:ext cx="1186920" cy="430987"/>
          </a:xfrm>
          <a:prstGeom prst="roundRect">
            <a:avLst>
              <a:gd name="adj" fmla="val 16667"/>
            </a:avLst>
          </a:prstGeom>
          <a:solidFill>
            <a:srgbClr val="FFC000"/>
          </a:solidFill>
          <a:ln>
            <a:solidFill>
              <a:srgbClr val="FFE299"/>
            </a:solidFill>
            <a:round/>
          </a:ln>
        </p:spPr>
        <p:style>
          <a:lnRef idx="2">
            <a:schemeClr val="accent1">
              <a:shade val="50000"/>
            </a:schemeClr>
          </a:lnRef>
          <a:fillRef idx="1">
            <a:schemeClr val="accent1"/>
          </a:fillRef>
          <a:effectRef idx="0">
            <a:schemeClr val="accent1"/>
          </a:effectRef>
          <a:fontRef idx="minor"/>
        </p:style>
        <p:txBody>
          <a:bodyPr lIns="135000" tIns="67500" rIns="135000" bIns="67500" anchor="ctr">
            <a:noAutofit/>
          </a:bodyPr>
          <a:lstStyle/>
          <a:p>
            <a:pPr algn="ctr">
              <a:lnSpc>
                <a:spcPct val="100000"/>
              </a:lnSpc>
            </a:pPr>
            <a:r>
              <a:rPr lang="en-US" sz="2100" b="1" spc="-2" dirty="0">
                <a:solidFill>
                  <a:schemeClr val="lt1"/>
                </a:solidFill>
                <a:latin typeface="微軟正黑體"/>
                <a:ea typeface="微軟正黑體"/>
              </a:rPr>
              <a:t>SAP</a:t>
            </a:r>
            <a:endParaRPr lang="en-US" sz="2100" spc="-2" dirty="0">
              <a:solidFill>
                <a:srgbClr val="000000"/>
              </a:solidFill>
              <a:latin typeface="Calibri"/>
            </a:endParaRPr>
          </a:p>
        </p:txBody>
      </p:sp>
      <p:sp>
        <p:nvSpPr>
          <p:cNvPr id="3834" name="圓角矩形 40"/>
          <p:cNvSpPr/>
          <p:nvPr/>
        </p:nvSpPr>
        <p:spPr>
          <a:xfrm>
            <a:off x="16890120" y="9401771"/>
            <a:ext cx="1186920" cy="430987"/>
          </a:xfrm>
          <a:prstGeom prst="roundRect">
            <a:avLst>
              <a:gd name="adj" fmla="val 16667"/>
            </a:avLst>
          </a:prstGeom>
          <a:solidFill>
            <a:schemeClr val="accent1">
              <a:lumMod val="75000"/>
            </a:schemeClr>
          </a:solidFill>
          <a:ln>
            <a:solidFill>
              <a:srgbClr val="C00000"/>
            </a:solidFill>
            <a:round/>
          </a:ln>
        </p:spPr>
        <p:style>
          <a:lnRef idx="2">
            <a:schemeClr val="accent3">
              <a:shade val="50000"/>
            </a:schemeClr>
          </a:lnRef>
          <a:fillRef idx="1">
            <a:schemeClr val="accent3"/>
          </a:fillRef>
          <a:effectRef idx="0">
            <a:schemeClr val="accent3"/>
          </a:effectRef>
          <a:fontRef idx="minor"/>
        </p:style>
        <p:txBody>
          <a:bodyPr lIns="135000" tIns="67500" rIns="135000" bIns="67500" anchor="ctr">
            <a:noAutofit/>
          </a:bodyPr>
          <a:lstStyle/>
          <a:p>
            <a:pPr algn="ctr">
              <a:lnSpc>
                <a:spcPct val="100000"/>
              </a:lnSpc>
            </a:pPr>
            <a:r>
              <a:rPr lang="en-US" sz="2100" b="1" spc="-2" dirty="0">
                <a:solidFill>
                  <a:schemeClr val="lt1"/>
                </a:solidFill>
                <a:latin typeface="微軟正黑體"/>
                <a:ea typeface="微軟正黑體"/>
              </a:rPr>
              <a:t>WMS</a:t>
            </a:r>
            <a:endParaRPr lang="en-US" sz="2100" spc="-2" dirty="0">
              <a:solidFill>
                <a:srgbClr val="000000"/>
              </a:solidFill>
              <a:latin typeface="Calibri"/>
            </a:endParaRPr>
          </a:p>
        </p:txBody>
      </p:sp>
      <p:sp>
        <p:nvSpPr>
          <p:cNvPr id="3835" name="圓角矩形 28"/>
          <p:cNvSpPr/>
          <p:nvPr/>
        </p:nvSpPr>
        <p:spPr>
          <a:xfrm>
            <a:off x="794880" y="3322593"/>
            <a:ext cx="2125980" cy="867914"/>
          </a:xfrm>
          <a:prstGeom prst="roundRect">
            <a:avLst>
              <a:gd name="adj" fmla="val 16667"/>
            </a:avLst>
          </a:prstGeom>
          <a:solidFill>
            <a:srgbClr val="FFC000"/>
          </a:solidFill>
          <a:ln>
            <a:solidFill>
              <a:srgbClr val="FFE299"/>
            </a:solidFill>
            <a:round/>
          </a:ln>
        </p:spPr>
        <p:style>
          <a:lnRef idx="2">
            <a:schemeClr val="accent1">
              <a:shade val="50000"/>
            </a:schemeClr>
          </a:lnRef>
          <a:fillRef idx="1">
            <a:schemeClr val="accent1"/>
          </a:fillRef>
          <a:effectRef idx="0">
            <a:schemeClr val="accent1"/>
          </a:effectRef>
          <a:fontRef idx="minor"/>
        </p:style>
        <p:txBody>
          <a:bodyPr lIns="135000" tIns="67500" rIns="135000" bIns="67500" anchor="ctr">
            <a:noAutofit/>
          </a:bodyPr>
          <a:lstStyle/>
          <a:p>
            <a:pPr algn="ctr">
              <a:lnSpc>
                <a:spcPct val="100000"/>
              </a:lnSpc>
            </a:pPr>
            <a:r>
              <a:rPr lang="zh-TW" altLang="en-US" sz="3000" b="1" spc="-2" dirty="0">
                <a:solidFill>
                  <a:schemeClr val="lt1"/>
                </a:solidFill>
                <a:latin typeface="微軟正黑體"/>
                <a:ea typeface="微軟正黑體"/>
              </a:rPr>
              <a:t>採購單</a:t>
            </a:r>
            <a:endParaRPr lang="en-US" sz="3000" spc="-2" dirty="0">
              <a:solidFill>
                <a:srgbClr val="000000"/>
              </a:solidFill>
              <a:latin typeface="Calibri"/>
            </a:endParaRPr>
          </a:p>
        </p:txBody>
      </p:sp>
      <p:cxnSp>
        <p:nvCxnSpPr>
          <p:cNvPr id="3836" name="接點: 肘形 10"/>
          <p:cNvCxnSpPr>
            <a:stCxn id="3835" idx="3"/>
            <a:endCxn id="3837" idx="1"/>
          </p:cNvCxnSpPr>
          <p:nvPr/>
        </p:nvCxnSpPr>
        <p:spPr>
          <a:xfrm flipV="1">
            <a:off x="2920860" y="3741158"/>
            <a:ext cx="1018980" cy="15662"/>
          </a:xfrm>
          <a:prstGeom prst="bentConnector3">
            <a:avLst>
              <a:gd name="adj1" fmla="val 50053"/>
            </a:avLst>
          </a:prstGeom>
          <a:ln w="0">
            <a:solidFill>
              <a:srgbClr val="D04A02"/>
            </a:solidFill>
            <a:tailEnd type="triangle" w="med" len="med"/>
          </a:ln>
        </p:spPr>
      </p:cxnSp>
      <p:sp>
        <p:nvSpPr>
          <p:cNvPr id="3837" name="圓角矩形 40"/>
          <p:cNvSpPr/>
          <p:nvPr/>
        </p:nvSpPr>
        <p:spPr>
          <a:xfrm>
            <a:off x="3939300" y="3307470"/>
            <a:ext cx="2134620" cy="867914"/>
          </a:xfrm>
          <a:prstGeom prst="roundRect">
            <a:avLst>
              <a:gd name="adj" fmla="val 16667"/>
            </a:avLst>
          </a:prstGeom>
          <a:solidFill>
            <a:schemeClr val="accent1">
              <a:lumMod val="75000"/>
            </a:schemeClr>
          </a:solidFill>
          <a:ln>
            <a:solidFill>
              <a:srgbClr val="C00000"/>
            </a:solidFill>
            <a:round/>
          </a:ln>
        </p:spPr>
        <p:style>
          <a:lnRef idx="2">
            <a:schemeClr val="accent3">
              <a:shade val="50000"/>
            </a:schemeClr>
          </a:lnRef>
          <a:fillRef idx="1">
            <a:schemeClr val="accent3"/>
          </a:fillRef>
          <a:effectRef idx="0">
            <a:schemeClr val="accent3"/>
          </a:effectRef>
          <a:fontRef idx="minor"/>
        </p:style>
        <p:txBody>
          <a:bodyPr lIns="135000" tIns="67500" rIns="135000" bIns="67500" anchor="ctr">
            <a:noAutofit/>
          </a:bodyPr>
          <a:lstStyle/>
          <a:p>
            <a:pPr algn="ctr">
              <a:lnSpc>
                <a:spcPct val="100000"/>
              </a:lnSpc>
            </a:pPr>
            <a:r>
              <a:rPr lang="en-US" sz="2700" b="1" spc="-2" dirty="0">
                <a:solidFill>
                  <a:schemeClr val="lt1"/>
                </a:solidFill>
                <a:latin typeface="微軟正黑體"/>
                <a:ea typeface="微軟正黑體"/>
              </a:rPr>
              <a:t>PDA-</a:t>
            </a:r>
            <a:r>
              <a:rPr lang="zh-TW" altLang="en-US" sz="2700" b="1" spc="-2" dirty="0">
                <a:solidFill>
                  <a:schemeClr val="lt1"/>
                </a:solidFill>
                <a:latin typeface="微軟正黑體"/>
                <a:ea typeface="微軟正黑體"/>
              </a:rPr>
              <a:t>收料</a:t>
            </a:r>
            <a:endParaRPr lang="en-US" sz="2700" spc="-2" dirty="0">
              <a:solidFill>
                <a:srgbClr val="000000"/>
              </a:solidFill>
              <a:latin typeface="Calibri"/>
            </a:endParaRPr>
          </a:p>
        </p:txBody>
      </p:sp>
      <p:grpSp>
        <p:nvGrpSpPr>
          <p:cNvPr id="2" name="Group 220"/>
          <p:cNvGrpSpPr/>
          <p:nvPr/>
        </p:nvGrpSpPr>
        <p:grpSpPr>
          <a:xfrm>
            <a:off x="3245400" y="3175150"/>
            <a:ext cx="532440" cy="407763"/>
            <a:chOff x="2163600" y="2116440"/>
            <a:chExt cx="354960" cy="271800"/>
          </a:xfrm>
        </p:grpSpPr>
        <p:sp>
          <p:nvSpPr>
            <p:cNvPr id="3839" name="Oval 221"/>
            <p:cNvSpPr/>
            <p:nvPr/>
          </p:nvSpPr>
          <p:spPr>
            <a:xfrm>
              <a:off x="2163960" y="2116440"/>
              <a:ext cx="273600" cy="27180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3840" name="TextBox 222"/>
            <p:cNvSpPr/>
            <p:nvPr/>
          </p:nvSpPr>
          <p:spPr>
            <a:xfrm>
              <a:off x="2163600" y="213660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1</a:t>
              </a:r>
              <a:endParaRPr lang="en-US" sz="1500" spc="-2" dirty="0">
                <a:solidFill>
                  <a:srgbClr val="000000"/>
                </a:solidFill>
                <a:latin typeface="Calibri"/>
              </a:endParaRPr>
            </a:p>
          </p:txBody>
        </p:sp>
      </p:grpSp>
      <p:graphicFrame>
        <p:nvGraphicFramePr>
          <p:cNvPr id="3841" name="表格 22"/>
          <p:cNvGraphicFramePr/>
          <p:nvPr/>
        </p:nvGraphicFramePr>
        <p:xfrm>
          <a:off x="1636200" y="7226316"/>
          <a:ext cx="13395780" cy="2225144"/>
        </p:xfrm>
        <a:graphic>
          <a:graphicData uri="http://schemas.openxmlformats.org/drawingml/2006/table">
            <a:tbl>
              <a:tblPr/>
              <a:tblGrid>
                <a:gridCol w="585900">
                  <a:extLst>
                    <a:ext uri="{9D8B030D-6E8A-4147-A177-3AD203B41FA5}">
                      <a16:colId xmlns:a16="http://schemas.microsoft.com/office/drawing/2014/main" val="20000"/>
                    </a:ext>
                  </a:extLst>
                </a:gridCol>
                <a:gridCol w="12809880">
                  <a:extLst>
                    <a:ext uri="{9D8B030D-6E8A-4147-A177-3AD203B41FA5}">
                      <a16:colId xmlns:a16="http://schemas.microsoft.com/office/drawing/2014/main" val="20001"/>
                    </a:ext>
                  </a:extLst>
                </a:gridCol>
              </a:tblGrid>
              <a:tr h="556286">
                <a:tc>
                  <a:txBody>
                    <a:bodyPr/>
                    <a:lstStyle/>
                    <a:p>
                      <a:pPr>
                        <a:lnSpc>
                          <a:spcPct val="100000"/>
                        </a:lnSpc>
                      </a:pPr>
                      <a:r>
                        <a:rPr lang="en-US" sz="2100" b="0" strike="noStrike" spc="-1">
                          <a:solidFill>
                            <a:srgbClr val="000000"/>
                          </a:solidFill>
                          <a:latin typeface="Arial"/>
                          <a:ea typeface="Arial"/>
                        </a:rPr>
                        <a:t>1</a:t>
                      </a:r>
                      <a:endParaRPr lang="en-US" sz="2100" b="0" strike="noStrike" spc="-1">
                        <a:solidFill>
                          <a:srgbClr val="000000"/>
                        </a:solidFill>
                        <a:latin typeface="Calibri"/>
                      </a:endParaRPr>
                    </a:p>
                  </a:txBody>
                  <a:tcPr marL="137160" marR="137160" marT="68591" marB="68591">
                    <a:lnL w="12240">
                      <a:noFill/>
                      <a:prstDash val="solid"/>
                    </a:lnL>
                    <a:lnR w="12240">
                      <a:noFill/>
                      <a:prstDash val="solid"/>
                    </a:lnR>
                    <a:lnT w="12240">
                      <a:noFill/>
                      <a:prstDash val="solid"/>
                    </a:lnT>
                    <a:lnB w="12240">
                      <a:noFill/>
                      <a:prstDash val="solid"/>
                    </a:lnB>
                    <a:noFill/>
                  </a:tcPr>
                </a:tc>
                <a:tc>
                  <a:txBody>
                    <a:bodyPr/>
                    <a:lstStyle/>
                    <a:p>
                      <a:pPr>
                        <a:lnSpc>
                          <a:spcPct val="100000"/>
                        </a:lnSpc>
                      </a:pPr>
                      <a:r>
                        <a:rPr lang="en-US" sz="2100" b="0" strike="noStrike" spc="-1">
                          <a:solidFill>
                            <a:srgbClr val="000000"/>
                          </a:solidFill>
                          <a:latin typeface="Arial"/>
                          <a:ea typeface="Arial"/>
                        </a:rPr>
                        <a:t>SAP</a:t>
                      </a:r>
                      <a:r>
                        <a:rPr lang="zh-TW" sz="2100" b="0" strike="noStrike" spc="-1">
                          <a:solidFill>
                            <a:srgbClr val="000000"/>
                          </a:solidFill>
                          <a:latin typeface="Arial"/>
                          <a:ea typeface="Arial"/>
                        </a:rPr>
                        <a:t>採購單的訂單資料拋給</a:t>
                      </a:r>
                      <a:r>
                        <a:rPr lang="en-US" sz="2100" b="0" strike="noStrike" spc="-1">
                          <a:solidFill>
                            <a:srgbClr val="000000"/>
                          </a:solidFill>
                          <a:latin typeface="Arial"/>
                          <a:ea typeface="Arial"/>
                        </a:rPr>
                        <a:t>WMS</a:t>
                      </a:r>
                      <a:endParaRPr lang="en-US" sz="2100" b="0" strike="noStrike" spc="-1">
                        <a:solidFill>
                          <a:srgbClr val="000000"/>
                        </a:solidFill>
                        <a:latin typeface="Calibri"/>
                      </a:endParaRPr>
                    </a:p>
                  </a:txBody>
                  <a:tcPr marL="137160" marR="137160" marT="68591" marB="68591">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0"/>
                  </a:ext>
                </a:extLst>
              </a:tr>
              <a:tr h="556286">
                <a:tc>
                  <a:txBody>
                    <a:bodyPr/>
                    <a:lstStyle/>
                    <a:p>
                      <a:pPr>
                        <a:lnSpc>
                          <a:spcPct val="100000"/>
                        </a:lnSpc>
                      </a:pPr>
                      <a:r>
                        <a:rPr lang="en-US" sz="2100" b="0" strike="noStrike" spc="-1">
                          <a:solidFill>
                            <a:srgbClr val="000000"/>
                          </a:solidFill>
                          <a:latin typeface="Arial"/>
                          <a:ea typeface="Arial"/>
                        </a:rPr>
                        <a:t>2</a:t>
                      </a:r>
                      <a:endParaRPr lang="en-US" sz="2100" b="0" strike="noStrike" spc="-1">
                        <a:solidFill>
                          <a:srgbClr val="000000"/>
                        </a:solidFill>
                        <a:latin typeface="Calibri"/>
                      </a:endParaRPr>
                    </a:p>
                  </a:txBody>
                  <a:tcPr marL="137160" marR="137160" marT="68591" marB="68591">
                    <a:lnL w="12240">
                      <a:noFill/>
                      <a:prstDash val="solid"/>
                    </a:lnL>
                    <a:lnR w="12240">
                      <a:noFill/>
                      <a:prstDash val="solid"/>
                    </a:lnR>
                    <a:lnT w="12240">
                      <a:noFill/>
                      <a:prstDash val="solid"/>
                    </a:lnT>
                    <a:lnB w="12240">
                      <a:noFill/>
                      <a:prstDash val="solid"/>
                    </a:lnB>
                    <a:noFill/>
                  </a:tcPr>
                </a:tc>
                <a:tc>
                  <a:txBody>
                    <a:bodyPr/>
                    <a:lstStyle/>
                    <a:p>
                      <a:pPr>
                        <a:lnSpc>
                          <a:spcPct val="100000"/>
                        </a:lnSpc>
                      </a:pPr>
                      <a:r>
                        <a:rPr lang="en-US" sz="2100" b="0" strike="noStrike" spc="-1">
                          <a:solidFill>
                            <a:srgbClr val="000000"/>
                          </a:solidFill>
                          <a:latin typeface="Arial"/>
                          <a:ea typeface="Arial"/>
                        </a:rPr>
                        <a:t>WMS</a:t>
                      </a:r>
                      <a:r>
                        <a:rPr lang="zh-TW" sz="2100" b="0" strike="noStrike" spc="-1">
                          <a:solidFill>
                            <a:srgbClr val="000000"/>
                          </a:solidFill>
                          <a:latin typeface="Arial"/>
                          <a:ea typeface="Arial"/>
                        </a:rPr>
                        <a:t>收料點收後，拋給</a:t>
                      </a:r>
                      <a:r>
                        <a:rPr lang="en-US" sz="2100" b="0" strike="noStrike" spc="-1">
                          <a:solidFill>
                            <a:srgbClr val="000000"/>
                          </a:solidFill>
                          <a:latin typeface="Arial"/>
                          <a:ea typeface="Arial"/>
                        </a:rPr>
                        <a:t>SAP</a:t>
                      </a:r>
                      <a:r>
                        <a:rPr lang="zh-TW" sz="2100" b="0" strike="noStrike" spc="-1">
                          <a:solidFill>
                            <a:srgbClr val="000000"/>
                          </a:solidFill>
                          <a:latin typeface="Arial"/>
                          <a:ea typeface="Arial"/>
                        </a:rPr>
                        <a:t>同步執行收料，有啟用檢驗批入待驗倉的品檢狀態，沒啟用入未限制狀態</a:t>
                      </a:r>
                      <a:endParaRPr lang="en-US" sz="2100" b="0" strike="noStrike" spc="-1">
                        <a:solidFill>
                          <a:srgbClr val="000000"/>
                        </a:solidFill>
                        <a:latin typeface="Calibri"/>
                      </a:endParaRPr>
                    </a:p>
                  </a:txBody>
                  <a:tcPr marL="137160" marR="137160" marT="68591" marB="68591">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1"/>
                  </a:ext>
                </a:extLst>
              </a:tr>
              <a:tr h="556286">
                <a:tc>
                  <a:txBody>
                    <a:bodyPr/>
                    <a:lstStyle/>
                    <a:p>
                      <a:pPr>
                        <a:lnSpc>
                          <a:spcPct val="100000"/>
                        </a:lnSpc>
                      </a:pPr>
                      <a:r>
                        <a:rPr lang="en-US" sz="2100" b="0" strike="noStrike" spc="-1">
                          <a:solidFill>
                            <a:srgbClr val="000000"/>
                          </a:solidFill>
                          <a:latin typeface="Arial"/>
                          <a:ea typeface="Arial"/>
                        </a:rPr>
                        <a:t>3</a:t>
                      </a:r>
                      <a:endParaRPr lang="en-US" sz="2100" b="0" strike="noStrike" spc="-1">
                        <a:solidFill>
                          <a:srgbClr val="000000"/>
                        </a:solidFill>
                        <a:latin typeface="Calibri"/>
                      </a:endParaRPr>
                    </a:p>
                  </a:txBody>
                  <a:tcPr marL="137160" marR="137160" marT="68591" marB="68591">
                    <a:lnL w="12240">
                      <a:noFill/>
                      <a:prstDash val="solid"/>
                    </a:lnL>
                    <a:lnR w="12240">
                      <a:noFill/>
                      <a:prstDash val="solid"/>
                    </a:lnR>
                    <a:lnT w="12240">
                      <a:noFill/>
                      <a:prstDash val="solid"/>
                    </a:lnT>
                    <a:lnB w="12240">
                      <a:noFill/>
                      <a:prstDash val="solid"/>
                    </a:lnB>
                    <a:noFill/>
                  </a:tcPr>
                </a:tc>
                <a:tc>
                  <a:txBody>
                    <a:bodyPr/>
                    <a:lstStyle/>
                    <a:p>
                      <a:pPr>
                        <a:lnSpc>
                          <a:spcPct val="100000"/>
                        </a:lnSpc>
                      </a:pPr>
                      <a:r>
                        <a:rPr lang="en-US" sz="2100" b="0" strike="noStrike" spc="-1">
                          <a:solidFill>
                            <a:srgbClr val="000000"/>
                          </a:solidFill>
                          <a:latin typeface="Arial"/>
                          <a:ea typeface="Arial"/>
                        </a:rPr>
                        <a:t>SAP</a:t>
                      </a:r>
                      <a:r>
                        <a:rPr lang="zh-TW" sz="2100" b="0" strike="noStrike" spc="-1">
                          <a:solidFill>
                            <a:srgbClr val="000000"/>
                          </a:solidFill>
                          <a:latin typeface="Arial"/>
                          <a:ea typeface="Arial"/>
                        </a:rPr>
                        <a:t>有啟用檢驗批時當檢驗完成需拋給</a:t>
                      </a:r>
                      <a:r>
                        <a:rPr lang="en-US" sz="2100" b="0" strike="noStrike" spc="-1">
                          <a:solidFill>
                            <a:srgbClr val="000000"/>
                          </a:solidFill>
                          <a:latin typeface="Arial"/>
                          <a:ea typeface="Arial"/>
                        </a:rPr>
                        <a:t>WMS</a:t>
                      </a:r>
                      <a:r>
                        <a:rPr lang="zh-TW" sz="2100" b="0" strike="noStrike" spc="-1">
                          <a:solidFill>
                            <a:srgbClr val="000000"/>
                          </a:solidFill>
                          <a:latin typeface="Arial"/>
                          <a:ea typeface="Arial"/>
                        </a:rPr>
                        <a:t>更新檢驗狀態</a:t>
                      </a:r>
                      <a:endParaRPr lang="en-US" sz="2100" b="0" strike="noStrike" spc="-1">
                        <a:solidFill>
                          <a:srgbClr val="000000"/>
                        </a:solidFill>
                        <a:latin typeface="Calibri"/>
                      </a:endParaRPr>
                    </a:p>
                  </a:txBody>
                  <a:tcPr marL="137160" marR="137160" marT="68591" marB="68591">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2"/>
                  </a:ext>
                </a:extLst>
              </a:tr>
              <a:tr h="556286">
                <a:tc>
                  <a:txBody>
                    <a:bodyPr/>
                    <a:lstStyle/>
                    <a:p>
                      <a:pPr>
                        <a:lnSpc>
                          <a:spcPct val="100000"/>
                        </a:lnSpc>
                      </a:pPr>
                      <a:r>
                        <a:rPr lang="en-US" sz="2100" b="0" strike="noStrike" spc="-1">
                          <a:solidFill>
                            <a:srgbClr val="000000"/>
                          </a:solidFill>
                          <a:latin typeface="Arial"/>
                          <a:ea typeface="Arial"/>
                        </a:rPr>
                        <a:t>4</a:t>
                      </a:r>
                      <a:endParaRPr lang="en-US" sz="2100" b="0" strike="noStrike" spc="-1">
                        <a:solidFill>
                          <a:srgbClr val="000000"/>
                        </a:solidFill>
                        <a:latin typeface="Calibri"/>
                      </a:endParaRPr>
                    </a:p>
                  </a:txBody>
                  <a:tcPr marL="137160" marR="137160" marT="68591" marB="68591">
                    <a:lnL w="12240">
                      <a:noFill/>
                      <a:prstDash val="solid"/>
                    </a:lnL>
                    <a:lnR w="12240">
                      <a:noFill/>
                      <a:prstDash val="solid"/>
                    </a:lnR>
                    <a:lnT w="12240">
                      <a:noFill/>
                      <a:prstDash val="solid"/>
                    </a:lnT>
                    <a:lnB w="12240">
                      <a:noFill/>
                      <a:prstDash val="solid"/>
                    </a:lnB>
                    <a:noFill/>
                  </a:tcPr>
                </a:tc>
                <a:tc>
                  <a:txBody>
                    <a:bodyPr/>
                    <a:lstStyle/>
                    <a:p>
                      <a:pPr>
                        <a:lnSpc>
                          <a:spcPct val="100000"/>
                        </a:lnSpc>
                      </a:pPr>
                      <a:r>
                        <a:rPr lang="en-US" sz="2100" b="0" strike="noStrike" spc="-1">
                          <a:solidFill>
                            <a:srgbClr val="000000"/>
                          </a:solidFill>
                          <a:latin typeface="Arial"/>
                          <a:ea typeface="Arial"/>
                        </a:rPr>
                        <a:t>WMS</a:t>
                      </a:r>
                      <a:r>
                        <a:rPr lang="zh-TW" sz="2100" b="0" strike="noStrike" spc="-1">
                          <a:solidFill>
                            <a:srgbClr val="000000"/>
                          </a:solidFill>
                          <a:latin typeface="Arial"/>
                          <a:ea typeface="Arial"/>
                        </a:rPr>
                        <a:t>上架完成後，拋給</a:t>
                      </a:r>
                      <a:r>
                        <a:rPr lang="en-US" sz="2100" b="0" strike="noStrike" spc="-1">
                          <a:solidFill>
                            <a:srgbClr val="000000"/>
                          </a:solidFill>
                          <a:latin typeface="Arial"/>
                          <a:ea typeface="Arial"/>
                        </a:rPr>
                        <a:t>SAP</a:t>
                      </a:r>
                      <a:r>
                        <a:rPr lang="zh-TW" sz="2100" b="0" strike="noStrike" spc="-1">
                          <a:solidFill>
                            <a:srgbClr val="000000"/>
                          </a:solidFill>
                          <a:latin typeface="Arial"/>
                          <a:ea typeface="Arial"/>
                        </a:rPr>
                        <a:t>執行從待驗倉調倉到實際的庫存倉</a:t>
                      </a:r>
                      <a:endParaRPr lang="en-US" sz="2100" b="0" strike="noStrike" spc="-1">
                        <a:solidFill>
                          <a:srgbClr val="000000"/>
                        </a:solidFill>
                        <a:latin typeface="Calibri"/>
                      </a:endParaRPr>
                    </a:p>
                  </a:txBody>
                  <a:tcPr marL="137160" marR="137160" marT="68591" marB="68591">
                    <a:lnL w="12240">
                      <a:noFill/>
                      <a:prstDash val="solid"/>
                    </a:lnL>
                    <a:lnR w="12240">
                      <a:noFill/>
                      <a:prstDash val="solid"/>
                    </a:lnR>
                    <a:lnT w="12240">
                      <a:noFill/>
                      <a:prstDash val="solid"/>
                    </a:lnT>
                    <a:lnB w="12240">
                      <a:noFill/>
                      <a:prstDash val="solid"/>
                    </a:lnB>
                    <a:noFill/>
                  </a:tcPr>
                </a:tc>
                <a:extLst>
                  <a:ext uri="{0D108BD9-81ED-4DB2-BD59-A6C34878D82A}">
                    <a16:rowId xmlns:a16="http://schemas.microsoft.com/office/drawing/2014/main" val="10003"/>
                  </a:ext>
                </a:extLst>
              </a:tr>
            </a:tbl>
          </a:graphicData>
        </a:graphic>
      </p:graphicFrame>
      <p:sp>
        <p:nvSpPr>
          <p:cNvPr id="3842" name="圓角矩形 28"/>
          <p:cNvSpPr/>
          <p:nvPr/>
        </p:nvSpPr>
        <p:spPr>
          <a:xfrm>
            <a:off x="6991380" y="3307470"/>
            <a:ext cx="2125980" cy="867914"/>
          </a:xfrm>
          <a:prstGeom prst="roundRect">
            <a:avLst>
              <a:gd name="adj" fmla="val 16667"/>
            </a:avLst>
          </a:prstGeom>
          <a:solidFill>
            <a:srgbClr val="FFC000"/>
          </a:solidFill>
          <a:ln>
            <a:solidFill>
              <a:srgbClr val="FFE299"/>
            </a:solidFill>
            <a:round/>
          </a:ln>
        </p:spPr>
        <p:style>
          <a:lnRef idx="2">
            <a:schemeClr val="accent1">
              <a:shade val="50000"/>
            </a:schemeClr>
          </a:lnRef>
          <a:fillRef idx="1">
            <a:schemeClr val="accent1"/>
          </a:fillRef>
          <a:effectRef idx="0">
            <a:schemeClr val="accent1"/>
          </a:effectRef>
          <a:fontRef idx="minor"/>
        </p:style>
        <p:txBody>
          <a:bodyPr lIns="135000" tIns="67500" rIns="135000" bIns="67500" anchor="ctr">
            <a:noAutofit/>
          </a:bodyPr>
          <a:lstStyle/>
          <a:p>
            <a:pPr algn="ctr">
              <a:lnSpc>
                <a:spcPct val="100000"/>
              </a:lnSpc>
            </a:pPr>
            <a:r>
              <a:rPr lang="zh-TW" altLang="en-US" sz="3000" b="1" spc="-2" dirty="0">
                <a:solidFill>
                  <a:schemeClr val="lt1"/>
                </a:solidFill>
                <a:latin typeface="微軟正黑體"/>
                <a:ea typeface="微軟正黑體"/>
              </a:rPr>
              <a:t>收料</a:t>
            </a:r>
            <a:endParaRPr lang="en-US" sz="3000" spc="-2" dirty="0">
              <a:solidFill>
                <a:srgbClr val="000000"/>
              </a:solidFill>
              <a:latin typeface="Calibri"/>
            </a:endParaRPr>
          </a:p>
        </p:txBody>
      </p:sp>
      <p:grpSp>
        <p:nvGrpSpPr>
          <p:cNvPr id="3" name="Group 220"/>
          <p:cNvGrpSpPr/>
          <p:nvPr/>
        </p:nvGrpSpPr>
        <p:grpSpPr>
          <a:xfrm>
            <a:off x="6246720" y="3137344"/>
            <a:ext cx="532440" cy="407763"/>
            <a:chOff x="4164480" y="2091240"/>
            <a:chExt cx="354960" cy="271800"/>
          </a:xfrm>
        </p:grpSpPr>
        <p:sp>
          <p:nvSpPr>
            <p:cNvPr id="3844" name="Oval 221"/>
            <p:cNvSpPr/>
            <p:nvPr/>
          </p:nvSpPr>
          <p:spPr>
            <a:xfrm>
              <a:off x="4164840" y="2091240"/>
              <a:ext cx="273600" cy="27180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3845" name="TextBox 222"/>
            <p:cNvSpPr/>
            <p:nvPr/>
          </p:nvSpPr>
          <p:spPr>
            <a:xfrm>
              <a:off x="4164480" y="211140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2</a:t>
              </a:r>
              <a:endParaRPr lang="en-US" sz="1500" spc="-2" dirty="0">
                <a:solidFill>
                  <a:srgbClr val="000000"/>
                </a:solidFill>
                <a:latin typeface="Calibri"/>
              </a:endParaRPr>
            </a:p>
          </p:txBody>
        </p:sp>
      </p:grpSp>
      <p:cxnSp>
        <p:nvCxnSpPr>
          <p:cNvPr id="3846" name="接點: 肘形 27"/>
          <p:cNvCxnSpPr>
            <a:stCxn id="3837" idx="3"/>
            <a:endCxn id="3842" idx="1"/>
          </p:cNvCxnSpPr>
          <p:nvPr/>
        </p:nvCxnSpPr>
        <p:spPr>
          <a:xfrm>
            <a:off x="6073920" y="3741157"/>
            <a:ext cx="918000" cy="540"/>
          </a:xfrm>
          <a:prstGeom prst="bentConnector2">
            <a:avLst/>
          </a:prstGeom>
          <a:ln w="0">
            <a:solidFill>
              <a:srgbClr val="D04A02"/>
            </a:solidFill>
            <a:tailEnd type="triangle" w="med" len="med"/>
          </a:ln>
        </p:spPr>
      </p:cxnSp>
      <p:sp>
        <p:nvSpPr>
          <p:cNvPr id="3847" name="圓角矩形 28"/>
          <p:cNvSpPr/>
          <p:nvPr/>
        </p:nvSpPr>
        <p:spPr>
          <a:xfrm>
            <a:off x="6990840" y="4704126"/>
            <a:ext cx="2125980" cy="867914"/>
          </a:xfrm>
          <a:prstGeom prst="roundRect">
            <a:avLst>
              <a:gd name="adj" fmla="val 16667"/>
            </a:avLst>
          </a:prstGeom>
          <a:solidFill>
            <a:srgbClr val="FFC000"/>
          </a:solidFill>
          <a:ln>
            <a:solidFill>
              <a:srgbClr val="FFE299"/>
            </a:solidFill>
            <a:round/>
          </a:ln>
        </p:spPr>
        <p:style>
          <a:lnRef idx="2">
            <a:schemeClr val="accent1">
              <a:shade val="50000"/>
            </a:schemeClr>
          </a:lnRef>
          <a:fillRef idx="1">
            <a:schemeClr val="accent1"/>
          </a:fillRef>
          <a:effectRef idx="0">
            <a:schemeClr val="accent1"/>
          </a:effectRef>
          <a:fontRef idx="minor"/>
        </p:style>
        <p:txBody>
          <a:bodyPr lIns="135000" tIns="67500" rIns="135000" bIns="67500" anchor="ctr">
            <a:noAutofit/>
          </a:bodyPr>
          <a:lstStyle/>
          <a:p>
            <a:pPr algn="ctr">
              <a:lnSpc>
                <a:spcPct val="100000"/>
              </a:lnSpc>
            </a:pPr>
            <a:r>
              <a:rPr lang="zh-TW" altLang="en-US" sz="3000" b="1" spc="-2" dirty="0">
                <a:solidFill>
                  <a:schemeClr val="lt1"/>
                </a:solidFill>
                <a:latin typeface="微軟正黑體"/>
                <a:ea typeface="微軟正黑體"/>
              </a:rPr>
              <a:t>品質檢驗</a:t>
            </a:r>
            <a:endParaRPr lang="en-US" sz="3000" spc="-2" dirty="0">
              <a:solidFill>
                <a:srgbClr val="000000"/>
              </a:solidFill>
              <a:latin typeface="Calibri"/>
            </a:endParaRPr>
          </a:p>
        </p:txBody>
      </p:sp>
      <p:cxnSp>
        <p:nvCxnSpPr>
          <p:cNvPr id="3848" name="接點: 肘形 32"/>
          <p:cNvCxnSpPr>
            <a:stCxn id="3842" idx="2"/>
            <a:endCxn id="3847" idx="0"/>
          </p:cNvCxnSpPr>
          <p:nvPr/>
        </p:nvCxnSpPr>
        <p:spPr>
          <a:xfrm rot="5400000">
            <a:off x="7788919" y="4439485"/>
            <a:ext cx="529282" cy="1080"/>
          </a:xfrm>
          <a:prstGeom prst="bentConnector3">
            <a:avLst>
              <a:gd name="adj1" fmla="val 50051"/>
            </a:avLst>
          </a:prstGeom>
          <a:ln w="0">
            <a:solidFill>
              <a:srgbClr val="D04A02"/>
            </a:solidFill>
            <a:tailEnd type="triangle" w="med" len="med"/>
          </a:ln>
        </p:spPr>
      </p:cxnSp>
      <p:sp>
        <p:nvSpPr>
          <p:cNvPr id="3849" name="圓角矩形 28"/>
          <p:cNvSpPr/>
          <p:nvPr/>
        </p:nvSpPr>
        <p:spPr>
          <a:xfrm>
            <a:off x="6994080" y="6044613"/>
            <a:ext cx="2125980" cy="867914"/>
          </a:xfrm>
          <a:prstGeom prst="roundRect">
            <a:avLst>
              <a:gd name="adj" fmla="val 16667"/>
            </a:avLst>
          </a:prstGeom>
          <a:solidFill>
            <a:srgbClr val="FFC000"/>
          </a:solidFill>
          <a:ln>
            <a:solidFill>
              <a:srgbClr val="FFE299"/>
            </a:solidFill>
            <a:round/>
          </a:ln>
        </p:spPr>
        <p:style>
          <a:lnRef idx="2">
            <a:schemeClr val="accent1">
              <a:shade val="50000"/>
            </a:schemeClr>
          </a:lnRef>
          <a:fillRef idx="1">
            <a:schemeClr val="accent1"/>
          </a:fillRef>
          <a:effectRef idx="0">
            <a:schemeClr val="accent1"/>
          </a:effectRef>
          <a:fontRef idx="minor"/>
        </p:style>
        <p:txBody>
          <a:bodyPr lIns="135000" tIns="67500" rIns="135000" bIns="67500" anchor="ctr">
            <a:noAutofit/>
          </a:bodyPr>
          <a:lstStyle/>
          <a:p>
            <a:pPr algn="ctr">
              <a:lnSpc>
                <a:spcPct val="100000"/>
              </a:lnSpc>
            </a:pPr>
            <a:r>
              <a:rPr lang="zh-TW" altLang="en-US" sz="3000" b="1" spc="-2" dirty="0">
                <a:solidFill>
                  <a:schemeClr val="lt1"/>
                </a:solidFill>
                <a:latin typeface="微軟正黑體"/>
                <a:ea typeface="微軟正黑體"/>
              </a:rPr>
              <a:t>檢驗判定</a:t>
            </a:r>
            <a:endParaRPr lang="en-US" sz="3000" spc="-2" dirty="0">
              <a:solidFill>
                <a:srgbClr val="000000"/>
              </a:solidFill>
              <a:latin typeface="Calibri"/>
            </a:endParaRPr>
          </a:p>
        </p:txBody>
      </p:sp>
      <p:cxnSp>
        <p:nvCxnSpPr>
          <p:cNvPr id="3850" name="接點: 肘形 36"/>
          <p:cNvCxnSpPr>
            <a:stCxn id="3847" idx="2"/>
            <a:endCxn id="3849" idx="0"/>
          </p:cNvCxnSpPr>
          <p:nvPr/>
        </p:nvCxnSpPr>
        <p:spPr>
          <a:xfrm rot="16200000" flipH="1">
            <a:off x="7819164" y="5806436"/>
            <a:ext cx="473113" cy="3780"/>
          </a:xfrm>
          <a:prstGeom prst="bentConnector3">
            <a:avLst>
              <a:gd name="adj1" fmla="val 50057"/>
            </a:avLst>
          </a:prstGeom>
          <a:ln w="0">
            <a:solidFill>
              <a:srgbClr val="D04A02"/>
            </a:solidFill>
            <a:tailEnd type="triangle" w="med" len="med"/>
          </a:ln>
        </p:spPr>
      </p:cxnSp>
      <p:sp>
        <p:nvSpPr>
          <p:cNvPr id="3851" name="圓角矩形 40"/>
          <p:cNvSpPr/>
          <p:nvPr/>
        </p:nvSpPr>
        <p:spPr>
          <a:xfrm>
            <a:off x="9663300" y="3326373"/>
            <a:ext cx="2134620" cy="867914"/>
          </a:xfrm>
          <a:prstGeom prst="roundRect">
            <a:avLst>
              <a:gd name="adj" fmla="val 16667"/>
            </a:avLst>
          </a:prstGeom>
          <a:solidFill>
            <a:schemeClr val="accent1">
              <a:lumMod val="75000"/>
            </a:schemeClr>
          </a:solidFill>
          <a:ln>
            <a:solidFill>
              <a:srgbClr val="C00000"/>
            </a:solidFill>
            <a:round/>
          </a:ln>
        </p:spPr>
        <p:style>
          <a:lnRef idx="2">
            <a:schemeClr val="accent3">
              <a:shade val="50000"/>
            </a:schemeClr>
          </a:lnRef>
          <a:fillRef idx="1">
            <a:schemeClr val="accent3"/>
          </a:fillRef>
          <a:effectRef idx="0">
            <a:schemeClr val="accent3"/>
          </a:effectRef>
          <a:fontRef idx="minor"/>
        </p:style>
        <p:txBody>
          <a:bodyPr lIns="135000" tIns="67500" rIns="135000" bIns="67500" anchor="ctr">
            <a:noAutofit/>
          </a:bodyPr>
          <a:lstStyle/>
          <a:p>
            <a:pPr algn="ctr">
              <a:lnSpc>
                <a:spcPct val="100000"/>
              </a:lnSpc>
            </a:pPr>
            <a:r>
              <a:rPr lang="zh-TW" altLang="en-US" sz="2700" b="1" spc="-2" dirty="0">
                <a:solidFill>
                  <a:schemeClr val="lt1"/>
                </a:solidFill>
                <a:latin typeface="微軟正黑體"/>
                <a:ea typeface="微軟正黑體"/>
              </a:rPr>
              <a:t>檢驗完成</a:t>
            </a:r>
            <a:endParaRPr lang="en-US" sz="2700" spc="-2" dirty="0">
              <a:solidFill>
                <a:srgbClr val="000000"/>
              </a:solidFill>
              <a:latin typeface="Calibri"/>
            </a:endParaRPr>
          </a:p>
        </p:txBody>
      </p:sp>
      <p:cxnSp>
        <p:nvCxnSpPr>
          <p:cNvPr id="3852" name="接點: 肘形 57"/>
          <p:cNvCxnSpPr>
            <a:stCxn id="3849" idx="3"/>
            <a:endCxn id="3851" idx="2"/>
          </p:cNvCxnSpPr>
          <p:nvPr/>
        </p:nvCxnSpPr>
        <p:spPr>
          <a:xfrm flipV="1">
            <a:off x="9120060" y="4194287"/>
            <a:ext cx="1610820" cy="2284553"/>
          </a:xfrm>
          <a:prstGeom prst="bentConnector2">
            <a:avLst/>
          </a:prstGeom>
          <a:ln w="0">
            <a:solidFill>
              <a:srgbClr val="D04A02"/>
            </a:solidFill>
            <a:tailEnd type="triangle" w="med" len="med"/>
          </a:ln>
        </p:spPr>
      </p:cxnSp>
      <p:grpSp>
        <p:nvGrpSpPr>
          <p:cNvPr id="4" name="Group 220"/>
          <p:cNvGrpSpPr/>
          <p:nvPr/>
        </p:nvGrpSpPr>
        <p:grpSpPr>
          <a:xfrm>
            <a:off x="10998720" y="4630135"/>
            <a:ext cx="532440" cy="407763"/>
            <a:chOff x="7332480" y="3086280"/>
            <a:chExt cx="354960" cy="271800"/>
          </a:xfrm>
        </p:grpSpPr>
        <p:sp>
          <p:nvSpPr>
            <p:cNvPr id="3854" name="Oval 221"/>
            <p:cNvSpPr/>
            <p:nvPr/>
          </p:nvSpPr>
          <p:spPr>
            <a:xfrm>
              <a:off x="7332480" y="3086280"/>
              <a:ext cx="273600" cy="27180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3855" name="TextBox 222"/>
            <p:cNvSpPr/>
            <p:nvPr/>
          </p:nvSpPr>
          <p:spPr>
            <a:xfrm>
              <a:off x="7332480" y="310644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3</a:t>
              </a:r>
              <a:endParaRPr lang="en-US" sz="1500" spc="-2" dirty="0">
                <a:solidFill>
                  <a:srgbClr val="000000"/>
                </a:solidFill>
                <a:latin typeface="Calibri"/>
              </a:endParaRPr>
            </a:p>
          </p:txBody>
        </p:sp>
      </p:grpSp>
      <p:cxnSp>
        <p:nvCxnSpPr>
          <p:cNvPr id="3856" name="接點: 肘形 63"/>
          <p:cNvCxnSpPr>
            <a:stCxn id="3842" idx="0"/>
            <a:endCxn id="3857" idx="0"/>
          </p:cNvCxnSpPr>
          <p:nvPr/>
        </p:nvCxnSpPr>
        <p:spPr>
          <a:xfrm rot="16200000" flipH="1">
            <a:off x="10836179" y="525392"/>
            <a:ext cx="18903" cy="5583060"/>
          </a:xfrm>
          <a:prstGeom prst="bentConnector3">
            <a:avLst>
              <a:gd name="adj1" fmla="val -1941176"/>
            </a:avLst>
          </a:prstGeom>
          <a:ln w="0">
            <a:solidFill>
              <a:srgbClr val="D04A02"/>
            </a:solidFill>
            <a:tailEnd type="triangle" w="med" len="med"/>
          </a:ln>
        </p:spPr>
      </p:cxnSp>
      <p:sp>
        <p:nvSpPr>
          <p:cNvPr id="3857" name="圓角矩形 28"/>
          <p:cNvSpPr/>
          <p:nvPr/>
        </p:nvSpPr>
        <p:spPr>
          <a:xfrm>
            <a:off x="12573900" y="3325833"/>
            <a:ext cx="2125980" cy="867914"/>
          </a:xfrm>
          <a:prstGeom prst="roundRect">
            <a:avLst>
              <a:gd name="adj" fmla="val 16667"/>
            </a:avLst>
          </a:prstGeom>
          <a:solidFill>
            <a:schemeClr val="accent1">
              <a:lumMod val="75000"/>
            </a:schemeClr>
          </a:solidFill>
          <a:ln>
            <a:solidFill>
              <a:srgbClr val="C00000"/>
            </a:solidFill>
            <a:round/>
          </a:ln>
        </p:spPr>
        <p:style>
          <a:lnRef idx="2">
            <a:schemeClr val="accent3">
              <a:shade val="50000"/>
            </a:schemeClr>
          </a:lnRef>
          <a:fillRef idx="1">
            <a:schemeClr val="accent3"/>
          </a:fillRef>
          <a:effectRef idx="0">
            <a:schemeClr val="accent3"/>
          </a:effectRef>
          <a:fontRef idx="minor"/>
        </p:style>
        <p:txBody>
          <a:bodyPr lIns="135000" tIns="67500" rIns="135000" bIns="67500" anchor="ctr">
            <a:noAutofit/>
          </a:bodyPr>
          <a:lstStyle/>
          <a:p>
            <a:pPr algn="ctr">
              <a:lnSpc>
                <a:spcPct val="100000"/>
              </a:lnSpc>
            </a:pPr>
            <a:r>
              <a:rPr lang="zh-TW" altLang="en-US" sz="2700" b="1" spc="-2" dirty="0">
                <a:solidFill>
                  <a:schemeClr val="lt1"/>
                </a:solidFill>
                <a:latin typeface="微軟正黑體"/>
                <a:ea typeface="微軟正黑體"/>
              </a:rPr>
              <a:t>上架完成</a:t>
            </a:r>
            <a:endParaRPr lang="en-US" sz="2700" spc="-2" dirty="0">
              <a:solidFill>
                <a:srgbClr val="000000"/>
              </a:solidFill>
              <a:latin typeface="Calibri"/>
            </a:endParaRPr>
          </a:p>
        </p:txBody>
      </p:sp>
      <p:cxnSp>
        <p:nvCxnSpPr>
          <p:cNvPr id="3858" name="接點: 肘形 67"/>
          <p:cNvCxnSpPr>
            <a:stCxn id="3851" idx="3"/>
            <a:endCxn id="3857" idx="1"/>
          </p:cNvCxnSpPr>
          <p:nvPr/>
        </p:nvCxnSpPr>
        <p:spPr>
          <a:xfrm flipV="1">
            <a:off x="11797920" y="3759520"/>
            <a:ext cx="776520" cy="1080"/>
          </a:xfrm>
          <a:prstGeom prst="bentConnector3">
            <a:avLst>
              <a:gd name="adj1" fmla="val 50104"/>
            </a:avLst>
          </a:prstGeom>
          <a:ln w="0">
            <a:solidFill>
              <a:srgbClr val="D04A02"/>
            </a:solidFill>
            <a:tailEnd type="triangle" w="med" len="med"/>
          </a:ln>
        </p:spPr>
      </p:cxnSp>
      <p:sp>
        <p:nvSpPr>
          <p:cNvPr id="3859" name="圓角矩形 40"/>
          <p:cNvSpPr/>
          <p:nvPr/>
        </p:nvSpPr>
        <p:spPr>
          <a:xfrm>
            <a:off x="15544440" y="3325833"/>
            <a:ext cx="2134620" cy="867914"/>
          </a:xfrm>
          <a:prstGeom prst="roundRect">
            <a:avLst>
              <a:gd name="adj" fmla="val 16667"/>
            </a:avLst>
          </a:prstGeom>
          <a:solidFill>
            <a:srgbClr val="FFC000"/>
          </a:solidFill>
          <a:ln>
            <a:solidFill>
              <a:srgbClr val="FFE299"/>
            </a:solidFill>
            <a:round/>
          </a:ln>
        </p:spPr>
        <p:style>
          <a:lnRef idx="2">
            <a:schemeClr val="accent1">
              <a:shade val="50000"/>
            </a:schemeClr>
          </a:lnRef>
          <a:fillRef idx="1">
            <a:schemeClr val="accent1"/>
          </a:fillRef>
          <a:effectRef idx="0">
            <a:schemeClr val="accent1"/>
          </a:effectRef>
          <a:fontRef idx="minor"/>
        </p:style>
        <p:txBody>
          <a:bodyPr lIns="135000" tIns="67500" rIns="135000" bIns="67500" anchor="ctr">
            <a:noAutofit/>
          </a:bodyPr>
          <a:lstStyle/>
          <a:p>
            <a:pPr algn="ctr">
              <a:lnSpc>
                <a:spcPct val="100000"/>
              </a:lnSpc>
            </a:pPr>
            <a:r>
              <a:rPr lang="zh-TW" altLang="en-US" sz="3000" b="1" spc="-2" dirty="0">
                <a:solidFill>
                  <a:schemeClr val="lt1"/>
                </a:solidFill>
                <a:latin typeface="微軟正黑體"/>
                <a:ea typeface="微軟正黑體"/>
              </a:rPr>
              <a:t>調倉</a:t>
            </a:r>
            <a:endParaRPr lang="en-US" sz="3000" spc="-2" dirty="0">
              <a:solidFill>
                <a:srgbClr val="000000"/>
              </a:solidFill>
              <a:latin typeface="Calibri"/>
            </a:endParaRPr>
          </a:p>
        </p:txBody>
      </p:sp>
      <p:cxnSp>
        <p:nvCxnSpPr>
          <p:cNvPr id="3860" name="接點: 肘形 73"/>
          <p:cNvCxnSpPr>
            <a:stCxn id="3857" idx="3"/>
            <a:endCxn id="3859" idx="1"/>
          </p:cNvCxnSpPr>
          <p:nvPr/>
        </p:nvCxnSpPr>
        <p:spPr>
          <a:xfrm>
            <a:off x="14699880" y="3759520"/>
            <a:ext cx="845100" cy="540"/>
          </a:xfrm>
          <a:prstGeom prst="bentConnector2">
            <a:avLst/>
          </a:prstGeom>
          <a:ln w="0">
            <a:solidFill>
              <a:srgbClr val="D04A02"/>
            </a:solidFill>
            <a:tailEnd type="triangle" w="med" len="med"/>
          </a:ln>
        </p:spPr>
      </p:cxnSp>
      <p:grpSp>
        <p:nvGrpSpPr>
          <p:cNvPr id="5" name="Group 220"/>
          <p:cNvGrpSpPr/>
          <p:nvPr/>
        </p:nvGrpSpPr>
        <p:grpSpPr>
          <a:xfrm>
            <a:off x="14912100" y="3160028"/>
            <a:ext cx="532440" cy="407763"/>
            <a:chOff x="9941400" y="2106360"/>
            <a:chExt cx="354960" cy="271800"/>
          </a:xfrm>
        </p:grpSpPr>
        <p:sp>
          <p:nvSpPr>
            <p:cNvPr id="3862" name="Oval 221"/>
            <p:cNvSpPr/>
            <p:nvPr/>
          </p:nvSpPr>
          <p:spPr>
            <a:xfrm>
              <a:off x="9941760" y="2106360"/>
              <a:ext cx="273600" cy="271800"/>
            </a:xfrm>
            <a:prstGeom prst="ellipse">
              <a:avLst/>
            </a:prstGeom>
            <a:solidFill>
              <a:schemeClr val="bg1"/>
            </a:solidFill>
            <a:ln>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2100" spc="-2" dirty="0">
                <a:solidFill>
                  <a:schemeClr val="lt1"/>
                </a:solidFill>
                <a:latin typeface="Arial"/>
                <a:ea typeface="Arial"/>
              </a:endParaRPr>
            </a:p>
          </p:txBody>
        </p:sp>
        <p:sp>
          <p:nvSpPr>
            <p:cNvPr id="3863" name="TextBox 222"/>
            <p:cNvSpPr/>
            <p:nvPr/>
          </p:nvSpPr>
          <p:spPr>
            <a:xfrm>
              <a:off x="9941400" y="2126520"/>
              <a:ext cx="354960" cy="21444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500" spc="-2" dirty="0">
                  <a:solidFill>
                    <a:srgbClr val="000000"/>
                  </a:solidFill>
                  <a:latin typeface="微軟正黑體"/>
                  <a:ea typeface="微軟正黑體"/>
                </a:rPr>
                <a:t>4</a:t>
              </a:r>
              <a:endParaRPr lang="en-US" sz="1500" spc="-2" dirty="0">
                <a:solidFill>
                  <a:srgbClr val="000000"/>
                </a:solidFill>
                <a:latin typeface="Calibri"/>
              </a:endParaRPr>
            </a:p>
          </p:txBody>
        </p:sp>
      </p:grpSp>
      <p:sp>
        <p:nvSpPr>
          <p:cNvPr id="36"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spc="-1" dirty="0">
                <a:solidFill>
                  <a:schemeClr val="dk1"/>
                </a:solidFill>
                <a:latin typeface="微軟正黑體"/>
                <a:ea typeface="微軟正黑體"/>
              </a:rPr>
              <a:t>3</a:t>
            </a:r>
            <a:endParaRPr lang="en-US" sz="1600" b="0" strike="noStrike" spc="-1" dirty="0">
              <a:solidFill>
                <a:srgbClr val="000000"/>
              </a:solidFill>
              <a:latin typeface="Calibri"/>
            </a:endParaRPr>
          </a:p>
        </p:txBody>
      </p:sp>
      <p:sp>
        <p:nvSpPr>
          <p:cNvPr id="37" name="文字方塊 3"/>
          <p:cNvSpPr/>
          <p:nvPr/>
        </p:nvSpPr>
        <p:spPr>
          <a:xfrm>
            <a:off x="2351160" y="820387"/>
            <a:ext cx="7217640" cy="459484"/>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en-US" sz="2100" b="1" spc="-2" dirty="0">
                <a:solidFill>
                  <a:srgbClr val="000000"/>
                </a:solidFill>
                <a:latin typeface="微軟正黑體"/>
                <a:ea typeface="微軟正黑體"/>
              </a:rPr>
              <a:t>MM-IM-0010</a:t>
            </a:r>
            <a:r>
              <a:rPr lang="zh-TW" altLang="en-US" sz="2100" b="1" spc="-2" dirty="0">
                <a:solidFill>
                  <a:srgbClr val="000000"/>
                </a:solidFill>
                <a:latin typeface="微軟正黑體"/>
                <a:ea typeface="微軟正黑體"/>
              </a:rPr>
              <a:t>採購單收貨流程</a:t>
            </a:r>
            <a:endParaRPr lang="en-US" sz="2100" b="1" spc="-2" dirty="0">
              <a:solidFill>
                <a:srgbClr val="00000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1" name="Google Shape;204;p4"/>
          <p:cNvSpPr/>
          <p:nvPr/>
        </p:nvSpPr>
        <p:spPr>
          <a:xfrm>
            <a:off x="197100" y="1594866"/>
            <a:ext cx="17910720" cy="8399376"/>
          </a:xfrm>
          <a:prstGeom prst="rect">
            <a:avLst/>
          </a:prstGeom>
          <a:noFill/>
          <a:ln w="19050">
            <a:solidFill>
              <a:srgbClr val="000000"/>
            </a:solidFill>
            <a:round/>
          </a:ln>
        </p:spPr>
        <p:style>
          <a:lnRef idx="0">
            <a:scrgbClr r="0" g="0" b="0"/>
          </a:lnRef>
          <a:fillRef idx="0">
            <a:scrgbClr r="0" g="0" b="0"/>
          </a:fillRef>
          <a:effectRef idx="0">
            <a:scrgbClr r="0" g="0" b="0"/>
          </a:effectRef>
          <a:fontRef idx="minor"/>
        </p:style>
        <p:txBody>
          <a:bodyPr lIns="135000" tIns="67500" rIns="135000" bIns="67500" anchor="t">
            <a:noAutofit/>
          </a:bodyPr>
          <a:lstStyle/>
          <a:p>
            <a:pPr>
              <a:tabLst>
                <a:tab pos="0" algn="l"/>
              </a:tabLst>
            </a:pPr>
            <a:r>
              <a:rPr lang="zh-CN" altLang="en-US" sz="2400" spc="-2" dirty="0">
                <a:solidFill>
                  <a:schemeClr val="dk1"/>
                </a:solidFill>
                <a:latin typeface="Arial"/>
                <a:ea typeface="Arial"/>
              </a:rPr>
              <a:t>流程補充說明</a:t>
            </a:r>
            <a:r>
              <a:rPr lang="en-US" sz="2400" spc="-2" dirty="0">
                <a:solidFill>
                  <a:schemeClr val="dk1"/>
                </a:solidFill>
                <a:latin typeface="Arial"/>
                <a:ea typeface="Arial"/>
              </a:rPr>
              <a:t>:</a:t>
            </a:r>
            <a:endParaRPr lang="en-US" sz="2400" spc="-2" dirty="0">
              <a:solidFill>
                <a:srgbClr val="000000"/>
              </a:solidFill>
              <a:latin typeface="Calibri"/>
            </a:endParaRPr>
          </a:p>
          <a:p>
            <a:pPr>
              <a:tabLst>
                <a:tab pos="0" algn="l"/>
              </a:tabLst>
            </a:pPr>
            <a:endParaRPr lang="en-US" sz="2400" spc="-2" dirty="0">
              <a:solidFill>
                <a:srgbClr val="000000"/>
              </a:solidFill>
              <a:latin typeface="Calibri"/>
            </a:endParaRPr>
          </a:p>
          <a:p>
            <a:pPr marL="457200" indent="-457200">
              <a:buAutoNum type="arabicPeriod"/>
              <a:tabLst>
                <a:tab pos="0" algn="l"/>
              </a:tabLst>
            </a:pPr>
            <a:r>
              <a:rPr lang="zh-TW" altLang="en-US" sz="2400" spc="-2" dirty="0">
                <a:solidFill>
                  <a:schemeClr val="dk1"/>
                </a:solidFill>
                <a:latin typeface="Arial"/>
                <a:ea typeface="Arial"/>
              </a:rPr>
              <a:t>發生廠商超交且超交的數量需要付款時，用原採購單需要超交的項次，對它增加新排程項目以補足超交數量，以便讓需要超交的項次採購量與實際交貨數量相符。 </a:t>
            </a:r>
            <a:endParaRPr lang="en-US" altLang="zh-TW" sz="2400" spc="-2" dirty="0">
              <a:solidFill>
                <a:schemeClr val="dk1"/>
              </a:solidFill>
              <a:latin typeface="Arial"/>
              <a:ea typeface="Arial"/>
            </a:endParaRPr>
          </a:p>
          <a:p>
            <a:pPr marL="457200" indent="-457200">
              <a:buAutoNum type="arabicPeriod"/>
              <a:tabLst>
                <a:tab pos="0" algn="l"/>
              </a:tabLst>
            </a:pPr>
            <a:r>
              <a:rPr lang="zh-TW" altLang="en-US" sz="2400" spc="-2" dirty="0">
                <a:solidFill>
                  <a:schemeClr val="dk1"/>
                </a:solidFill>
                <a:latin typeface="Arial"/>
                <a:ea typeface="Arial"/>
              </a:rPr>
              <a:t>超交的數量所屬的物料如果按銷售訂單項目作需求管理的，因為超交所增加的庫存，需要人為主動調撥至後續適用的銷售訂單項目，作爲</a:t>
            </a:r>
            <a:r>
              <a:rPr lang="en-US" altLang="zh-TW" sz="2400" spc="-2" dirty="0">
                <a:solidFill>
                  <a:schemeClr val="dk1"/>
                </a:solidFill>
                <a:latin typeface="Arial"/>
                <a:ea typeface="Arial"/>
              </a:rPr>
              <a:t>MRP</a:t>
            </a:r>
            <a:r>
              <a:rPr lang="zh-TW" altLang="en-US" sz="2400" spc="-2" dirty="0">
                <a:solidFill>
                  <a:schemeClr val="dk1"/>
                </a:solidFill>
                <a:latin typeface="Arial"/>
                <a:ea typeface="Arial"/>
              </a:rPr>
              <a:t>計算時的庫存抵用。</a:t>
            </a:r>
            <a:endParaRPr lang="en-US" altLang="zh-TW" sz="2400" spc="-2" dirty="0">
              <a:solidFill>
                <a:schemeClr val="dk1"/>
              </a:solidFill>
              <a:latin typeface="Arial"/>
              <a:ea typeface="Arial"/>
            </a:endParaRPr>
          </a:p>
          <a:p>
            <a:pPr>
              <a:tabLst>
                <a:tab pos="0" algn="l"/>
              </a:tabLst>
            </a:pPr>
            <a:endParaRPr lang="en-US" sz="2400" spc="-2" dirty="0">
              <a:solidFill>
                <a:srgbClr val="000000"/>
              </a:solidFill>
              <a:latin typeface="Calibri"/>
            </a:endParaRPr>
          </a:p>
          <a:p>
            <a:pPr>
              <a:tabLst>
                <a:tab pos="0" algn="l"/>
              </a:tabLst>
            </a:pPr>
            <a:endParaRPr lang="en-US" spc="-2" dirty="0">
              <a:solidFill>
                <a:srgbClr val="000000"/>
              </a:solidFill>
              <a:latin typeface="Calibri"/>
            </a:endParaRPr>
          </a:p>
        </p:txBody>
      </p:sp>
      <p:sp>
        <p:nvSpPr>
          <p:cNvPr id="36"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spc="-1" dirty="0">
                <a:solidFill>
                  <a:schemeClr val="dk1"/>
                </a:solidFill>
                <a:latin typeface="微軟正黑體"/>
                <a:ea typeface="微軟正黑體"/>
              </a:rPr>
              <a:t>4</a:t>
            </a:r>
            <a:endParaRPr lang="en-US" sz="1600" b="0" strike="noStrike" spc="-1" dirty="0">
              <a:solidFill>
                <a:srgbClr val="000000"/>
              </a:solidFill>
              <a:latin typeface="Calibri"/>
            </a:endParaRPr>
          </a:p>
        </p:txBody>
      </p:sp>
      <p:sp>
        <p:nvSpPr>
          <p:cNvPr id="37" name="文字方塊 3"/>
          <p:cNvSpPr/>
          <p:nvPr/>
        </p:nvSpPr>
        <p:spPr>
          <a:xfrm>
            <a:off x="2351160" y="820387"/>
            <a:ext cx="7217640" cy="459484"/>
          </a:xfrm>
          <a:prstGeom prst="rect">
            <a:avLst/>
          </a:prstGeom>
          <a:noFill/>
          <a:ln w="0">
            <a:noFill/>
          </a:ln>
        </p:spPr>
        <p:style>
          <a:lnRef idx="0">
            <a:scrgbClr r="0" g="0" b="0"/>
          </a:lnRef>
          <a:fillRef idx="0">
            <a:scrgbClr r="0" g="0" b="0"/>
          </a:fillRef>
          <a:effectRef idx="0">
            <a:scrgbClr r="0" g="0" b="0"/>
          </a:effectRef>
          <a:fontRef idx="minor"/>
        </p:style>
        <p:txBody>
          <a:bodyPr lIns="135000" tIns="67500" rIns="135000" bIns="67500" anchor="t">
            <a:spAutoFit/>
          </a:bodyPr>
          <a:lstStyle/>
          <a:p>
            <a:pPr>
              <a:lnSpc>
                <a:spcPct val="100000"/>
              </a:lnSpc>
            </a:pPr>
            <a:r>
              <a:rPr lang="en-US" sz="2100" b="1" spc="-2" dirty="0">
                <a:solidFill>
                  <a:srgbClr val="000000"/>
                </a:solidFill>
                <a:latin typeface="微軟正黑體"/>
                <a:ea typeface="微軟正黑體"/>
              </a:rPr>
              <a:t>MM-IM-0010</a:t>
            </a:r>
            <a:r>
              <a:rPr lang="zh-TW" altLang="en-US" sz="2100" b="1" spc="-2" dirty="0">
                <a:solidFill>
                  <a:srgbClr val="000000"/>
                </a:solidFill>
                <a:latin typeface="微軟正黑體"/>
                <a:ea typeface="微軟正黑體"/>
              </a:rPr>
              <a:t>採購單收貨流程</a:t>
            </a:r>
            <a:endParaRPr lang="en-US" sz="2100" b="1" spc="-2" dirty="0">
              <a:solidFill>
                <a:srgbClr val="000000"/>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extLst>
                    <a:ext uri="{9D8B030D-6E8A-4147-A177-3AD203B41FA5}">
                      <a16:colId xmlns:a16="http://schemas.microsoft.com/office/drawing/2014/main" val="20000"/>
                    </a:ext>
                  </a:extLst>
                </a:gridCol>
                <a:gridCol w="898560">
                  <a:extLst>
                    <a:ext uri="{9D8B030D-6E8A-4147-A177-3AD203B41FA5}">
                      <a16:colId xmlns:a16="http://schemas.microsoft.com/office/drawing/2014/main" val="20001"/>
                    </a:ext>
                  </a:extLst>
                </a:gridCol>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extLst>
                    <a:ext uri="{9D8B030D-6E8A-4147-A177-3AD203B41FA5}">
                      <a16:colId xmlns:a16="http://schemas.microsoft.com/office/drawing/2014/main" val="20000"/>
                    </a:ext>
                  </a:extLst>
                </a:gridCol>
                <a:gridCol w="898560">
                  <a:extLst>
                    <a:ext uri="{9D8B030D-6E8A-4147-A177-3AD203B41FA5}">
                      <a16:colId xmlns:a16="http://schemas.microsoft.com/office/drawing/2014/main" val="20001"/>
                    </a:ext>
                  </a:extLst>
                </a:gridCol>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15846</TotalTime>
  <Words>1086</Words>
  <Application>Microsoft Office PowerPoint</Application>
  <PresentationFormat>自訂</PresentationFormat>
  <Paragraphs>237</Paragraphs>
  <Slides>9</Slides>
  <Notes>1</Notes>
  <HiddenSlides>0</HiddenSlides>
  <MMClips>0</MMClips>
  <ScaleCrop>false</ScaleCrop>
  <HeadingPairs>
    <vt:vector size="6" baseType="variant">
      <vt:variant>
        <vt:lpstr>使用字型</vt:lpstr>
      </vt:variant>
      <vt:variant>
        <vt:i4>6</vt:i4>
      </vt:variant>
      <vt:variant>
        <vt:lpstr>佈景主題</vt:lpstr>
      </vt:variant>
      <vt:variant>
        <vt:i4>6</vt:i4>
      </vt:variant>
      <vt:variant>
        <vt:lpstr>投影片標題</vt:lpstr>
      </vt:variant>
      <vt:variant>
        <vt:i4>9</vt:i4>
      </vt:variant>
    </vt:vector>
  </HeadingPairs>
  <TitlesOfParts>
    <vt:vector size="21" baseType="lpstr">
      <vt:lpstr>Microsoft JhengHei</vt:lpstr>
      <vt:lpstr>Microsoft JhengHei</vt:lpstr>
      <vt:lpstr>Arial</vt:lpstr>
      <vt:lpstr>Calibri</vt:lpstr>
      <vt:lpstr>Symbol</vt:lpstr>
      <vt:lpstr>Wingdings</vt:lpstr>
      <vt:lpstr>Office 2013 - 2022 Theme</vt:lpstr>
      <vt:lpstr>Office 2013 - 2022 Theme</vt:lpstr>
      <vt:lpstr>Office 2013 - 2022 Theme</vt:lpstr>
      <vt:lpstr>Office 2013 - 2022 Theme</vt:lpstr>
      <vt:lpstr>Office 2013 - 2022 Theme</vt:lpstr>
      <vt:lpstr>Office 2013 - 2022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CH YEH</cp:lastModifiedBy>
  <cp:revision>123</cp:revision>
  <dcterms:created xsi:type="dcterms:W3CDTF">2023-05-31T01:27:04Z</dcterms:created>
  <dcterms:modified xsi:type="dcterms:W3CDTF">2025-08-02T02:32:08Z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