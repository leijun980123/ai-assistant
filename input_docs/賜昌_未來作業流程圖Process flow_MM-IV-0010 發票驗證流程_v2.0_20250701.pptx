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9.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8"/>
  </p:notesMasterIdLst>
  <p:sldIdLst>
    <p:sldId id="261" r:id="rId2"/>
    <p:sldId id="2147472997" r:id="rId3"/>
    <p:sldId id="257" r:id="rId4"/>
    <p:sldId id="2147375390" r:id="rId5"/>
    <p:sldId id="2147473000" r:id="rId6"/>
    <p:sldId id="2147375389" r:id="rId7"/>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8D7CC"/>
    <a:srgbClr val="F1CB78"/>
    <a:srgbClr val="A82415"/>
    <a:srgbClr val="BE5107"/>
    <a:srgbClr val="FFA92A"/>
    <a:srgbClr val="4472C4"/>
    <a:srgbClr val="70170F"/>
    <a:srgbClr val="FF9300"/>
    <a:srgbClr val="ED8278"/>
    <a:srgbClr val="C40A1A"/>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629" autoAdjust="0"/>
    <p:restoredTop sz="94142"/>
  </p:normalViewPr>
  <p:slideViewPr>
    <p:cSldViewPr snapToGrid="0">
      <p:cViewPr>
        <p:scale>
          <a:sx n="50" d="100"/>
          <a:sy n="50" d="100"/>
        </p:scale>
        <p:origin x="-264" y="8"/>
      </p:cViewPr>
      <p:guideLst>
        <p:guide orient="horz" pos="3240"/>
        <p:guide pos="576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pPr/>
              <a:t>2025/7/9</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pPr/>
              <a:t>‹#›</a:t>
            </a:fld>
            <a:endParaRPr kumimoji="1" lang="zh-TW" altLang="en-US"/>
          </a:p>
        </p:txBody>
      </p:sp>
    </p:spTree>
    <p:extLst>
      <p:ext uri="{BB962C8B-B14F-4D97-AF65-F5344CB8AC3E}">
        <p14:creationId xmlns="" xmlns:p14="http://schemas.microsoft.com/office/powerpoint/2010/main"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dirty="0"/>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pPr/>
              <a:t>1</a:t>
            </a:fld>
            <a:endParaRPr kumimoji="1" lang="zh-TW" altLang="en-US"/>
          </a:p>
        </p:txBody>
      </p:sp>
    </p:spTree>
    <p:extLst>
      <p:ext uri="{BB962C8B-B14F-4D97-AF65-F5344CB8AC3E}">
        <p14:creationId xmlns="" xmlns:p14="http://schemas.microsoft.com/office/powerpoint/2010/main"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9961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27138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dirty="0"/>
              <a:t>Click to edit Master title style</a:t>
            </a:r>
            <a:endParaRPr lang="en-US" dirty="0"/>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idx="1"/>
          </p:nvPr>
        </p:nvSpPr>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dirty="0"/>
              <a:t>Click to edit Master title style</a:t>
            </a:r>
            <a:endParaRPr lang="en-US" dirty="0"/>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7/9/2025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sz="half" idx="1"/>
          </p:nvPr>
        </p:nvSpPr>
        <p:spPr>
          <a:xfrm>
            <a:off x="1257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Content Placeholder 3"/>
          <p:cNvSpPr>
            <a:spLocks noGrp="1"/>
          </p:cNvSpPr>
          <p:nvPr>
            <p:ph sz="half" idx="2"/>
          </p:nvPr>
        </p:nvSpPr>
        <p:spPr>
          <a:xfrm>
            <a:off x="9258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7/9/2025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7/9/2025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7/9/2025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7/9/2025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dirty="0"/>
              <a:t>Click icon to add picture</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dirty="0"/>
              <a:t>Click to edit Master title style</a:t>
            </a:r>
            <a:endParaRPr lang="en-US" dirty="0"/>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 xmlns:a16="http://schemas.microsoft.com/office/drawing/2014/main" id="{E25844F4-1900-BFFB-A55D-854D27EE700E}"/>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 xmlns:p14="http://schemas.microsoft.com/office/powerpoint/2010/main"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 xmlns:a16="http://schemas.microsoft.com/office/drawing/2014/main" id="{1089C009-AC07-C46C-AE77-052C754A5BCD}"/>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3" y="2575"/>
            <a:ext cx="18287997" cy="10286015"/>
          </a:xfrm>
          <a:prstGeom prst="rect">
            <a:avLst/>
          </a:prstGeom>
        </p:spPr>
      </p:pic>
    </p:spTree>
    <p:extLst>
      <p:ext uri="{BB962C8B-B14F-4D97-AF65-F5344CB8AC3E}">
        <p14:creationId xmlns="" xmlns:p14="http://schemas.microsoft.com/office/powerpoint/2010/main"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1290"/>
            <a:ext cx="18288000" cy="10286015"/>
          </a:xfrm>
          <a:prstGeom prst="rect">
            <a:avLst/>
          </a:prstGeom>
        </p:spPr>
      </p:pic>
      <p:sp>
        <p:nvSpPr>
          <p:cNvPr id="2" name="TextBox 1">
            <a:extLst>
              <a:ext uri="{FF2B5EF4-FFF2-40B4-BE49-F238E27FC236}">
                <a16:creationId xmlns="" xmlns:a16="http://schemas.microsoft.com/office/drawing/2014/main"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 xmlns:a16="http://schemas.microsoft.com/office/drawing/2014/main"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dirty="0">
                <a:latin typeface="微軟正黑體" panose="020B0604030504040204" pitchFamily="34" charset="-120"/>
                <a:ea typeface="微軟正黑體" panose="020B0604030504040204" pitchFamily="34" charset="-120"/>
              </a:rPr>
              <a:t>裕榮昌科技股份有限公司台中分公司</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dirty="0">
                <a:latin typeface="微軟正黑體" panose="020B0604030504040204" pitchFamily="34" charset="-120"/>
                <a:ea typeface="微軟正黑體" panose="020B0604030504040204" pitchFamily="34" charset="-120"/>
              </a:rPr>
              <a:t>本份簡報係於</a:t>
            </a:r>
            <a:r>
              <a:rPr lang="en-US" altLang="zh-TW" sz="2400" b="1" dirty="0">
                <a:latin typeface="微軟正黑體" panose="020B0604030504040204" pitchFamily="34" charset="-120"/>
                <a:ea typeface="微軟正黑體" panose="020B0604030504040204" pitchFamily="34" charset="-120"/>
              </a:rPr>
              <a:t>2025</a:t>
            </a:r>
            <a:r>
              <a:rPr lang="zh-TW" altLang="en-US" sz="2400" b="1" dirty="0">
                <a:latin typeface="微軟正黑體" panose="020B0604030504040204" pitchFamily="34" charset="-120"/>
                <a:ea typeface="微軟正黑體" panose="020B0604030504040204" pitchFamily="34" charset="-120"/>
              </a:rPr>
              <a:t>年</a:t>
            </a:r>
            <a:r>
              <a:rPr lang="en-US" altLang="zh-TW" sz="2400" b="1" dirty="0">
                <a:latin typeface="微軟正黑體" panose="020B0604030504040204" pitchFamily="34" charset="-120"/>
                <a:ea typeface="微軟正黑體" panose="020B0604030504040204" pitchFamily="34" charset="-120"/>
              </a:rPr>
              <a:t>4</a:t>
            </a:r>
            <a:r>
              <a:rPr lang="zh-TW" altLang="en-US" sz="2400" b="1" dirty="0">
                <a:latin typeface="微軟正黑體" panose="020B0604030504040204" pitchFamily="34" charset="-120"/>
                <a:ea typeface="微軟正黑體" panose="020B0604030504040204" pitchFamily="34" charset="-120"/>
              </a:rPr>
              <a:t>月</a:t>
            </a:r>
            <a:r>
              <a:rPr lang="en-US" altLang="zh-TW" sz="2400" b="1" dirty="0">
                <a:latin typeface="微軟正黑體" panose="020B0604030504040204" pitchFamily="34" charset="-120"/>
                <a:ea typeface="微軟正黑體" panose="020B0604030504040204" pitchFamily="34" charset="-120"/>
              </a:rPr>
              <a:t>1</a:t>
            </a:r>
            <a:r>
              <a:rPr lang="zh-TW" altLang="en-US" sz="2400" b="1" dirty="0">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dirty="0">
              <a:latin typeface="微軟正黑體" panose="020B0604030504040204" pitchFamily="34" charset="-120"/>
              <a:ea typeface="微軟正黑體" panose="020B0604030504040204" pitchFamily="34" charset="-120"/>
            </a:endParaRPr>
          </a:p>
          <a:p>
            <a:pPr algn="just" fontAlgn="base"/>
            <a:r>
              <a:rPr lang="zh-TW" altLang="en-US" sz="2400" b="1" dirty="0">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dirty="0">
              <a:latin typeface="微軟正黑體" panose="020B0604030504040204" pitchFamily="34" charset="-120"/>
              <a:ea typeface="微軟正黑體" panose="020B0604030504040204" pitchFamily="34" charset="-120"/>
            </a:endParaRPr>
          </a:p>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 xmlns:p14="http://schemas.microsoft.com/office/powerpoint/2010/main"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1290"/>
            <a:ext cx="18288000" cy="10286015"/>
          </a:xfrm>
          <a:prstGeom prst="rect">
            <a:avLst/>
          </a:prstGeom>
        </p:spPr>
      </p:pic>
    </p:spTree>
    <p:extLst>
      <p:ext uri="{BB962C8B-B14F-4D97-AF65-F5344CB8AC3E}">
        <p14:creationId xmlns="" xmlns:p14="http://schemas.microsoft.com/office/powerpoint/2010/main"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2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lang="en-US"/>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 xmlns:a16="http://schemas.microsoft.com/office/drawing/2014/main"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 xmlns:a16="http://schemas.microsoft.com/office/drawing/2014/main"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Tree>
    <p:extLst>
      <p:ext uri="{BB962C8B-B14F-4D97-AF65-F5344CB8AC3E}">
        <p14:creationId xmlns="" xmlns:p14="http://schemas.microsoft.com/office/powerpoint/2010/main" val="1804427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 xmlns:a16="http://schemas.microsoft.com/office/drawing/2014/main" id="{DDE4C3EC-89CD-BB54-5F4C-D558F5C045CB}"/>
              </a:ext>
            </a:extLst>
          </p:cNvPr>
          <p:cNvGraphicFramePr/>
          <p:nvPr userDrawn="1">
            <p:extLst>
              <p:ext uri="{D42A27DB-BD31-4B8C-83A1-F6EECF244321}">
                <p14:modId xmlns="" xmlns:p14="http://schemas.microsoft.com/office/powerpoint/2010/main" val="3675913295"/>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 xmlns:a16="http://schemas.microsoft.com/office/drawing/2014/main" val="20000"/>
                    </a:ext>
                  </a:extLst>
                </a:gridCol>
                <a:gridCol w="11889371">
                  <a:extLst>
                    <a:ext uri="{9D8B030D-6E8A-4147-A177-3AD203B41FA5}">
                      <a16:colId xmlns="" xmlns:a16="http://schemas.microsoft.com/office/drawing/2014/main" val="20001"/>
                    </a:ext>
                  </a:extLst>
                </a:gridCol>
                <a:gridCol w="3819371">
                  <a:extLst>
                    <a:ext uri="{9D8B030D-6E8A-4147-A177-3AD203B41FA5}">
                      <a16:colId xmlns=""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438868285"/>
                  </a:ext>
                </a:extLst>
              </a:tr>
            </a:tbl>
          </a:graphicData>
        </a:graphic>
      </p:graphicFrame>
      <p:pic>
        <p:nvPicPr>
          <p:cNvPr id="3" name="Google Shape;37;p9" descr="A red and black logo&#10;&#10;Description automatically generated">
            <a:extLst>
              <a:ext uri="{FF2B5EF4-FFF2-40B4-BE49-F238E27FC236}">
                <a16:creationId xmlns=""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 xmlns:a16="http://schemas.microsoft.com/office/drawing/2014/main"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 xmlns:p14="http://schemas.microsoft.com/office/powerpoint/2010/main" val="197533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userDrawn="1">
  <p:cSld name="1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 xmlns:a16="http://schemas.microsoft.com/office/drawing/2014/main" id="{DDE4C3EC-89CD-BB54-5F4C-D558F5C045CB}"/>
              </a:ext>
            </a:extLst>
          </p:cNvPr>
          <p:cNvGraphicFramePr/>
          <p:nvPr userDrawn="1">
            <p:extLst>
              <p:ext uri="{D42A27DB-BD31-4B8C-83A1-F6EECF244321}">
                <p14:modId xmlns="" xmlns:p14="http://schemas.microsoft.com/office/powerpoint/2010/main" val="642626727"/>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 xmlns:a16="http://schemas.microsoft.com/office/drawing/2014/main" val="20000"/>
                    </a:ext>
                  </a:extLst>
                </a:gridCol>
                <a:gridCol w="9468940">
                  <a:extLst>
                    <a:ext uri="{9D8B030D-6E8A-4147-A177-3AD203B41FA5}">
                      <a16:colId xmlns="" xmlns:a16="http://schemas.microsoft.com/office/drawing/2014/main" val="20001"/>
                    </a:ext>
                  </a:extLst>
                </a:gridCol>
                <a:gridCol w="2420431">
                  <a:extLst>
                    <a:ext uri="{9D8B030D-6E8A-4147-A177-3AD203B41FA5}">
                      <a16:colId xmlns="" xmlns:a16="http://schemas.microsoft.com/office/drawing/2014/main" val="697488759"/>
                    </a:ext>
                  </a:extLst>
                </a:gridCol>
                <a:gridCol w="3819371">
                  <a:extLst>
                    <a:ext uri="{9D8B030D-6E8A-4147-A177-3AD203B41FA5}">
                      <a16:colId xmlns=""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zh-TW" altLang="en-US"/>
                    </a:p>
                  </a:txBody>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gridSpan="2">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endParaRPr lang="zh-TW" altLang="en-US"/>
                    </a:p>
                  </a:txBody>
                  <a:tcPr/>
                </a:tc>
                <a:tc vMerge="1">
                  <a:txBody>
                    <a:bodyPr/>
                    <a:lstStyle/>
                    <a:p>
                      <a:endParaRPr lang="en-US"/>
                    </a:p>
                  </a:txBody>
                  <a:tcPr/>
                </a:tc>
                <a:extLst>
                  <a:ext uri="{0D108BD9-81ED-4DB2-BD59-A6C34878D82A}">
                    <a16:rowId xmlns="" xmlns:a16="http://schemas.microsoft.com/office/drawing/2014/main" val="10001"/>
                  </a:ext>
                </a:extLst>
              </a:tr>
              <a:tr h="37022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Input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Output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lnSpc>
                          <a:spcPct val="100000"/>
                        </a:lnSpc>
                        <a:spcBef>
                          <a:spcPts val="0"/>
                        </a:spcBef>
                        <a:spcAft>
                          <a:spcPts val="0"/>
                        </a:spcAft>
                        <a:buClr>
                          <a:schemeClr val="dk1"/>
                        </a:buClr>
                        <a:buSzPts val="1000"/>
                        <a:buFont typeface="Arial"/>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Activities</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438868285"/>
                  </a:ext>
                </a:extLst>
              </a:tr>
              <a:tr h="8429160">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3940032794"/>
                  </a:ext>
                </a:extLst>
              </a:tr>
            </a:tbl>
          </a:graphicData>
        </a:graphic>
      </p:graphicFrame>
      <p:pic>
        <p:nvPicPr>
          <p:cNvPr id="3" name="Google Shape;37;p9" descr="A red and black logo&#10;&#10;Description automatically generated">
            <a:extLst>
              <a:ext uri="{FF2B5EF4-FFF2-40B4-BE49-F238E27FC236}">
                <a16:creationId xmlns=""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10" name="Google Shape;24;p8">
            <a:extLst>
              <a:ext uri="{FF2B5EF4-FFF2-40B4-BE49-F238E27FC236}">
                <a16:creationId xmlns="" xmlns:a16="http://schemas.microsoft.com/office/drawing/2014/main" id="{0448B46C-C68B-BB74-204F-0F458130E386}"/>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 xmlns:p14="http://schemas.microsoft.com/office/powerpoint/2010/main" val="341622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 xmlns:a16="http://schemas.microsoft.com/office/drawing/2014/main" id="{0B02BF32-51F7-DDF0-4455-62412D8BC839}"/>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 xmlns:p14="http://schemas.microsoft.com/office/powerpoint/2010/main" val="420461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pPr/>
              <a:t>7/9/2025</a:t>
            </a:fld>
            <a:endParaRPr lang="en-US" dirty="0"/>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3" r:id="rId16"/>
    <p:sldLayoutId id="2147483684" r:id="rId17"/>
    <p:sldLayoutId id="2147483682" r:id="rId18"/>
    <p:sldLayoutId id="2147483663" r:id="rId19"/>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 xmlns:a16="http://schemas.microsoft.com/office/drawing/2014/main"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dirty="0">
                <a:latin typeface="Microsoft JhengHei" panose="020B0604030504040204" pitchFamily="34" charset="-120"/>
                <a:ea typeface="Microsoft JhengHei" panose="020B0604030504040204" pitchFamily="34" charset="-120"/>
              </a:rPr>
              <a:t>賜昌集團 </a:t>
            </a:r>
            <a:r>
              <a:rPr lang="en-US" altLang="zh-TW" sz="4800" dirty="0">
                <a:latin typeface="Microsoft JhengHei" panose="020B0604030504040204" pitchFamily="34" charset="-120"/>
                <a:ea typeface="Microsoft JhengHei" panose="020B0604030504040204" pitchFamily="34" charset="-120"/>
              </a:rPr>
              <a:t>SAP</a:t>
            </a:r>
            <a:r>
              <a:rPr lang="zh-TW" altLang="en-US" sz="4800" dirty="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 xmlns:a16="http://schemas.microsoft.com/office/drawing/2014/main" id="{8859345E-AB13-0337-28A8-72F68FB71A83}"/>
              </a:ext>
            </a:extLst>
          </p:cNvPr>
          <p:cNvSpPr txBox="1"/>
          <p:nvPr/>
        </p:nvSpPr>
        <p:spPr>
          <a:xfrm>
            <a:off x="843407" y="7871570"/>
            <a:ext cx="2833853" cy="738664"/>
          </a:xfrm>
          <a:prstGeom prst="rect">
            <a:avLst/>
          </a:prstGeom>
          <a:noFill/>
        </p:spPr>
        <p:txBody>
          <a:bodyPr wrap="non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DSIT</a:t>
            </a:r>
          </a:p>
          <a:p>
            <a:r>
              <a:rPr kumimoji="1" lang="en-US" altLang="zh-TW" sz="2100" dirty="0" smtClean="0">
                <a:latin typeface="Microsoft JhengHei" panose="020B0604030504040204" pitchFamily="34" charset="-120"/>
                <a:ea typeface="Microsoft JhengHei" panose="020B0604030504040204" pitchFamily="34" charset="-120"/>
              </a:rPr>
              <a:t>2025/07/01</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4" name="矩形 1">
            <a:extLst>
              <a:ext uri="{FF2B5EF4-FFF2-40B4-BE49-F238E27FC236}">
                <a16:creationId xmlns="" xmlns:a16="http://schemas.microsoft.com/office/drawing/2014/main" id="{B99C6C67-25AF-0B71-AD21-378FF0D6B16C}"/>
              </a:ext>
            </a:extLst>
          </p:cNvPr>
          <p:cNvSpPr>
            <a:spLocks noChangeArrowheads="1"/>
          </p:cNvSpPr>
          <p:nvPr/>
        </p:nvSpPr>
        <p:spPr bwMode="auto">
          <a:xfrm>
            <a:off x="843405" y="6523311"/>
            <a:ext cx="653711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en-US" altLang="zh-TW" sz="3600" b="0" strike="noStrike" spc="-1" dirty="0">
                <a:solidFill>
                  <a:schemeClr val="dk1"/>
                </a:solidFill>
                <a:latin typeface="Microsoft JhengHei"/>
                <a:ea typeface="Microsoft JhengHei"/>
              </a:rPr>
              <a:t>MM-IV-0010</a:t>
            </a:r>
            <a:endParaRPr lang="zh-TW" altLang="en-US" sz="3600" b="0" dirty="0">
              <a:ea typeface="新細明體" panose="02020500000000000000" pitchFamily="18" charset="-120"/>
            </a:endParaRPr>
          </a:p>
        </p:txBody>
      </p:sp>
      <p:sp>
        <p:nvSpPr>
          <p:cNvPr id="5" name="矩形 1">
            <a:extLst>
              <a:ext uri="{FF2B5EF4-FFF2-40B4-BE49-F238E27FC236}">
                <a16:creationId xmlns="" xmlns:a16="http://schemas.microsoft.com/office/drawing/2014/main"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3600" b="0" spc="-1" dirty="0">
                <a:solidFill>
                  <a:schemeClr val="dk1"/>
                </a:solidFill>
                <a:latin typeface="Microsoft JhengHei"/>
                <a:ea typeface="Microsoft JhengHei"/>
              </a:rPr>
              <a:t>發票驗證流程</a:t>
            </a:r>
            <a:endParaRPr lang="zh-TW" altLang="en-US" sz="3600" b="0" dirty="0">
              <a:ea typeface="新細明體" panose="02020500000000000000" pitchFamily="18" charset="-120"/>
            </a:endParaRPr>
          </a:p>
        </p:txBody>
      </p:sp>
    </p:spTree>
    <p:extLst>
      <p:ext uri="{BB962C8B-B14F-4D97-AF65-F5344CB8AC3E}">
        <p14:creationId xmlns="" xmlns:p14="http://schemas.microsoft.com/office/powerpoint/2010/main"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030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90" name="Google Shape;190;p2"/>
          <p:cNvGraphicFramePr/>
          <p:nvPr>
            <p:extLst>
              <p:ext uri="{D42A27DB-BD31-4B8C-83A1-F6EECF244321}">
                <p14:modId xmlns="" xmlns:p14="http://schemas.microsoft.com/office/powerpoint/2010/main" val="634659457"/>
              </p:ext>
            </p:extLst>
          </p:nvPr>
        </p:nvGraphicFramePr>
        <p:xfrm>
          <a:off x="366269" y="1567509"/>
          <a:ext cx="17518777" cy="1512000"/>
        </p:xfrm>
        <a:graphic>
          <a:graphicData uri="http://schemas.openxmlformats.org/drawingml/2006/table">
            <a:tbl>
              <a:tblPr>
                <a:noFill/>
              </a:tblPr>
              <a:tblGrid>
                <a:gridCol w="2061420">
                  <a:extLst>
                    <a:ext uri="{9D8B030D-6E8A-4147-A177-3AD203B41FA5}">
                      <a16:colId xmlns="" xmlns:a16="http://schemas.microsoft.com/office/drawing/2014/main" val="1034483988"/>
                    </a:ext>
                  </a:extLst>
                </a:gridCol>
                <a:gridCol w="2061420">
                  <a:extLst>
                    <a:ext uri="{9D8B030D-6E8A-4147-A177-3AD203B41FA5}">
                      <a16:colId xmlns="" xmlns:a16="http://schemas.microsoft.com/office/drawing/2014/main" val="20000"/>
                    </a:ext>
                  </a:extLst>
                </a:gridCol>
                <a:gridCol w="8327926">
                  <a:extLst>
                    <a:ext uri="{9D8B030D-6E8A-4147-A177-3AD203B41FA5}">
                      <a16:colId xmlns="" xmlns:a16="http://schemas.microsoft.com/office/drawing/2014/main" val="20001"/>
                    </a:ext>
                  </a:extLst>
                </a:gridCol>
                <a:gridCol w="1423236">
                  <a:extLst>
                    <a:ext uri="{9D8B030D-6E8A-4147-A177-3AD203B41FA5}">
                      <a16:colId xmlns="" xmlns:a16="http://schemas.microsoft.com/office/drawing/2014/main" val="20002"/>
                    </a:ext>
                  </a:extLst>
                </a:gridCol>
                <a:gridCol w="634687">
                  <a:extLst>
                    <a:ext uri="{9D8B030D-6E8A-4147-A177-3AD203B41FA5}">
                      <a16:colId xmlns="" xmlns:a16="http://schemas.microsoft.com/office/drawing/2014/main" val="20003"/>
                    </a:ext>
                  </a:extLst>
                </a:gridCol>
                <a:gridCol w="1192442">
                  <a:extLst>
                    <a:ext uri="{9D8B030D-6E8A-4147-A177-3AD203B41FA5}">
                      <a16:colId xmlns="" xmlns:a16="http://schemas.microsoft.com/office/drawing/2014/main" val="2445255174"/>
                    </a:ext>
                  </a:extLst>
                </a:gridCol>
                <a:gridCol w="576988">
                  <a:extLst>
                    <a:ext uri="{9D8B030D-6E8A-4147-A177-3AD203B41FA5}">
                      <a16:colId xmlns="" xmlns:a16="http://schemas.microsoft.com/office/drawing/2014/main" val="3610384773"/>
                    </a:ext>
                  </a:extLst>
                </a:gridCol>
                <a:gridCol w="1240658">
                  <a:extLst>
                    <a:ext uri="{9D8B030D-6E8A-4147-A177-3AD203B41FA5}">
                      <a16:colId xmlns="" xmlns:a16="http://schemas.microsoft.com/office/drawing/2014/main" val="4169125416"/>
                    </a:ext>
                  </a:extLst>
                </a:gridCol>
              </a:tblGrid>
              <a:tr h="504000">
                <a:tc rowSpan="3">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文件基本訊息</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文件主題</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 To be_Business Process</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創建日期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gridSpan="4">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r>
                        <a:rPr lang="en-US" sz="1800" b="1" u="none" strike="noStrike" cap="none" dirty="0" smtClean="0">
                          <a:solidFill>
                            <a:schemeClr val="lt1"/>
                          </a:solidFill>
                          <a:latin typeface="Microsoft JhengHei"/>
                          <a:ea typeface="Microsoft JhengHei"/>
                          <a:cs typeface="Microsoft JhengHei"/>
                          <a:sym typeface="Microsoft JhengHei"/>
                        </a:rPr>
                        <a:t>2025/07/01</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err="1">
                          <a:solidFill>
                            <a:schemeClr val="lt1"/>
                          </a:solidFill>
                          <a:latin typeface="Microsoft JhengHei"/>
                          <a:ea typeface="Microsoft JhengHei"/>
                          <a:cs typeface="Microsoft JhengHei"/>
                          <a:sym typeface="Microsoft JhengHei"/>
                        </a:rPr>
                        <a:t>作者</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altLang="zh-TW" sz="1800" b="1" u="none" strike="noStrike" cap="none" dirty="0">
                          <a:solidFill>
                            <a:schemeClr val="dk1"/>
                          </a:solidFill>
                          <a:latin typeface="Microsoft JhengHei"/>
                          <a:ea typeface="Microsoft JhengHei"/>
                          <a:cs typeface="Microsoft JhengHei"/>
                          <a:sym typeface="Microsoft JhengHei"/>
                        </a:rPr>
                        <a:t>DSIT</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文件狀態</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Clr>
                          <a:schemeClr val="dk1"/>
                        </a:buClr>
                        <a:buSzPts val="1200"/>
                        <a:buFont typeface="Arimo"/>
                        <a:buNone/>
                      </a:pPr>
                      <a:r>
                        <a:rPr lang="en-US" sz="1800" b="1" u="none" strike="noStrike" cap="none" dirty="0" err="1">
                          <a:solidFill>
                            <a:schemeClr val="dk1"/>
                          </a:solidFill>
                          <a:latin typeface="Microsoft JhengHei"/>
                          <a:ea typeface="Microsoft JhengHei"/>
                          <a:cs typeface="Microsoft JhengHei"/>
                          <a:sym typeface="Microsoft JhengHei"/>
                        </a:rPr>
                        <a:t>草稿版</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r>
                        <a:rPr lang="x-none" sz="1800" b="1" u="none" strike="noStrike" cap="none" dirty="0">
                          <a:solidFill>
                            <a:schemeClr val="dk1"/>
                          </a:solidFill>
                          <a:latin typeface="Microsoft JhengHei"/>
                          <a:ea typeface="Microsoft JhengHei"/>
                          <a:cs typeface="Microsoft JhengHei"/>
                          <a:sym typeface="Microsoft JhengHei"/>
                        </a:rPr>
                        <a:t>V</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l" defTabSz="1371600" rtl="0" eaLnBrk="1" fontAlgn="auto" latinLnBrk="0" hangingPunct="1">
                        <a:lnSpc>
                          <a:spcPct val="166666"/>
                        </a:lnSpc>
                        <a:spcBef>
                          <a:spcPts val="0"/>
                        </a:spcBef>
                        <a:spcAft>
                          <a:spcPts val="0"/>
                        </a:spcAft>
                        <a:buClr>
                          <a:schemeClr val="dk1"/>
                        </a:buClr>
                        <a:buSzPts val="1200"/>
                        <a:buFont typeface="Arimo"/>
                        <a:buNone/>
                        <a:tabLst/>
                        <a:defRPr/>
                      </a:pPr>
                      <a:r>
                        <a:rPr lang="zh-TW" altLang="en-US" sz="1800" b="1" u="none" strike="noStrike" cap="none" dirty="0">
                          <a:solidFill>
                            <a:schemeClr val="dk1"/>
                          </a:solidFill>
                          <a:latin typeface="Microsoft JhengHei"/>
                          <a:ea typeface="Microsoft JhengHei"/>
                          <a:cs typeface="Microsoft JhengHei"/>
                          <a:sym typeface="Microsoft JhengHei"/>
                        </a:rPr>
                        <a:t>確認版</a:t>
                      </a: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04000">
                <a:tc vMerge="1">
                  <a:txBody>
                    <a:bodyPr/>
                    <a:lstStyle/>
                    <a:p>
                      <a:pPr marL="0" marR="0" lvl="0" indent="0" algn="l" rtl="0">
                        <a:lnSpc>
                          <a:spcPct val="166666"/>
                        </a:lnSpc>
                        <a:spcBef>
                          <a:spcPts val="0"/>
                        </a:spcBef>
                        <a:spcAft>
                          <a:spcPts val="0"/>
                        </a:spcAft>
                        <a:buNone/>
                      </a:pPr>
                      <a:endParaRPr sz="4100"/>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dirty="0"/>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endParaRPr lang="zh-TW" altLang="en-US" sz="1800" b="1"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版本</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gridSpan="4">
                  <a:txBody>
                    <a:bodyPr/>
                    <a:lstStyle/>
                    <a:p>
                      <a:pPr marL="0" marR="0" lvl="0" indent="0" algn="l" rtl="0">
                        <a:lnSpc>
                          <a:spcPct val="166666"/>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v2.0</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 xmlns:a16="http://schemas.microsoft.com/office/drawing/2014/main" val="10002"/>
                  </a:ext>
                </a:extLst>
              </a:tr>
            </a:tbl>
          </a:graphicData>
        </a:graphic>
      </p:graphicFrame>
      <p:graphicFrame>
        <p:nvGraphicFramePr>
          <p:cNvPr id="191" name="Google Shape;191;p2"/>
          <p:cNvGraphicFramePr/>
          <p:nvPr>
            <p:extLst>
              <p:ext uri="{D42A27DB-BD31-4B8C-83A1-F6EECF244321}">
                <p14:modId xmlns="" xmlns:p14="http://schemas.microsoft.com/office/powerpoint/2010/main" val="3644532040"/>
              </p:ext>
            </p:extLst>
          </p:nvPr>
        </p:nvGraphicFramePr>
        <p:xfrm>
          <a:off x="366270" y="3155451"/>
          <a:ext cx="17518775" cy="3149589"/>
        </p:xfrm>
        <a:graphic>
          <a:graphicData uri="http://schemas.openxmlformats.org/drawingml/2006/table">
            <a:tbl>
              <a:tblPr>
                <a:noFill/>
              </a:tblPr>
              <a:tblGrid>
                <a:gridCol w="2061420">
                  <a:extLst>
                    <a:ext uri="{9D8B030D-6E8A-4147-A177-3AD203B41FA5}">
                      <a16:colId xmlns="" xmlns:a16="http://schemas.microsoft.com/office/drawing/2014/main" val="2419195791"/>
                    </a:ext>
                  </a:extLst>
                </a:gridCol>
                <a:gridCol w="2061420">
                  <a:extLst>
                    <a:ext uri="{9D8B030D-6E8A-4147-A177-3AD203B41FA5}">
                      <a16:colId xmlns="" xmlns:a16="http://schemas.microsoft.com/office/drawing/2014/main" val="20000"/>
                    </a:ext>
                  </a:extLst>
                </a:gridCol>
                <a:gridCol w="8327988">
                  <a:extLst>
                    <a:ext uri="{9D8B030D-6E8A-4147-A177-3AD203B41FA5}">
                      <a16:colId xmlns="" xmlns:a16="http://schemas.microsoft.com/office/drawing/2014/main" val="20001"/>
                    </a:ext>
                  </a:extLst>
                </a:gridCol>
                <a:gridCol w="3270143">
                  <a:extLst>
                    <a:ext uri="{9D8B030D-6E8A-4147-A177-3AD203B41FA5}">
                      <a16:colId xmlns="" xmlns:a16="http://schemas.microsoft.com/office/drawing/2014/main" val="20002"/>
                    </a:ext>
                  </a:extLst>
                </a:gridCol>
                <a:gridCol w="1797804">
                  <a:extLst>
                    <a:ext uri="{9D8B030D-6E8A-4147-A177-3AD203B41FA5}">
                      <a16:colId xmlns="" xmlns:a16="http://schemas.microsoft.com/office/drawing/2014/main" val="20003"/>
                    </a:ext>
                  </a:extLst>
                </a:gridCol>
              </a:tblGrid>
              <a:tr h="428821">
                <a:tc rowSpan="6">
                  <a:txBody>
                    <a:bodyPr/>
                    <a:lstStyle/>
                    <a:p>
                      <a:pPr marL="0" marR="0" lvl="0" indent="0" algn="l" rtl="0">
                        <a:lnSpc>
                          <a:spcPct val="166666"/>
                        </a:lnSpc>
                        <a:spcBef>
                          <a:spcPts val="0"/>
                        </a:spcBef>
                        <a:spcAft>
                          <a:spcPts val="0"/>
                        </a:spcAft>
                        <a:buNone/>
                      </a:pPr>
                      <a:r>
                        <a:rPr lang="x-none"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文件版本</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版本號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變更說明(修改內容說明)</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修改人</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日期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extLst>
                  <a:ext uri="{0D108BD9-81ED-4DB2-BD59-A6C34878D82A}">
                    <a16:rowId xmlns="" xmlns:a16="http://schemas.microsoft.com/office/drawing/2014/main" val="10000"/>
                  </a:ext>
                </a:extLst>
              </a:tr>
              <a:tr h="590284">
                <a:tc vMerge="1">
                  <a:txBody>
                    <a:bodyPr/>
                    <a:lstStyle/>
                    <a:p>
                      <a:pPr marL="0" marR="0" lvl="0" indent="0" algn="l" rtl="0">
                        <a:lnSpc>
                          <a:spcPct val="166666"/>
                        </a:lnSpc>
                        <a:spcBef>
                          <a:spcPts val="0"/>
                        </a:spcBef>
                        <a:spcAft>
                          <a:spcPts val="0"/>
                        </a:spcAft>
                        <a:buNone/>
                      </a:pPr>
                      <a:endParaRPr sz="1800"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24626">
                <a:tc vMerge="1">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2"/>
                  </a:ext>
                </a:extLst>
              </a:tr>
              <a:tr h="524626">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3"/>
                  </a:ext>
                </a:extLst>
              </a:tr>
              <a:tr h="526822">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4"/>
                  </a:ext>
                </a:extLst>
              </a:tr>
              <a:tr h="428821">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endParaRPr sz="1800" b="1"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rtl="0">
                        <a:spcBef>
                          <a:spcPts val="0"/>
                        </a:spcBef>
                        <a:spcAft>
                          <a:spcPts val="0"/>
                        </a:spcAft>
                        <a:buNone/>
                      </a:pPr>
                      <a:endParaRPr sz="1800" b="1" i="0" u="none" strike="noStrike" cap="none" dirty="0">
                        <a:solidFill>
                          <a:srgbClr val="000000"/>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extLst>
                  <a:ext uri="{0D108BD9-81ED-4DB2-BD59-A6C34878D82A}">
                    <a16:rowId xmlns="" xmlns:a16="http://schemas.microsoft.com/office/drawing/2014/main" val="1342071289"/>
                  </a:ext>
                </a:extLst>
              </a:tr>
            </a:tbl>
          </a:graphicData>
        </a:graphic>
      </p:graphicFrame>
      <p:graphicFrame>
        <p:nvGraphicFramePr>
          <p:cNvPr id="192" name="Google Shape;192;p2"/>
          <p:cNvGraphicFramePr/>
          <p:nvPr>
            <p:extLst>
              <p:ext uri="{D42A27DB-BD31-4B8C-83A1-F6EECF244321}">
                <p14:modId xmlns="" xmlns:p14="http://schemas.microsoft.com/office/powerpoint/2010/main" val="2853513147"/>
              </p:ext>
            </p:extLst>
          </p:nvPr>
        </p:nvGraphicFramePr>
        <p:xfrm>
          <a:off x="366269" y="6255393"/>
          <a:ext cx="17518780" cy="504000"/>
        </p:xfrm>
        <a:graphic>
          <a:graphicData uri="http://schemas.openxmlformats.org/drawingml/2006/table">
            <a:tbl>
              <a:tblPr>
                <a:noFill/>
              </a:tblPr>
              <a:tblGrid>
                <a:gridCol w="2061420">
                  <a:extLst>
                    <a:ext uri="{9D8B030D-6E8A-4147-A177-3AD203B41FA5}">
                      <a16:colId xmlns="" xmlns:a16="http://schemas.microsoft.com/office/drawing/2014/main" val="2993713426"/>
                    </a:ext>
                  </a:extLst>
                </a:gridCol>
                <a:gridCol w="2066819">
                  <a:extLst>
                    <a:ext uri="{9D8B030D-6E8A-4147-A177-3AD203B41FA5}">
                      <a16:colId xmlns="" xmlns:a16="http://schemas.microsoft.com/office/drawing/2014/main" val="20000"/>
                    </a:ext>
                  </a:extLst>
                </a:gridCol>
                <a:gridCol w="1797521">
                  <a:extLst>
                    <a:ext uri="{9D8B030D-6E8A-4147-A177-3AD203B41FA5}">
                      <a16:colId xmlns="" xmlns:a16="http://schemas.microsoft.com/office/drawing/2014/main" val="20001"/>
                    </a:ext>
                  </a:extLst>
                </a:gridCol>
                <a:gridCol w="1932170">
                  <a:extLst>
                    <a:ext uri="{9D8B030D-6E8A-4147-A177-3AD203B41FA5}">
                      <a16:colId xmlns="" xmlns:a16="http://schemas.microsoft.com/office/drawing/2014/main" val="20002"/>
                    </a:ext>
                  </a:extLst>
                </a:gridCol>
                <a:gridCol w="1932170">
                  <a:extLst>
                    <a:ext uri="{9D8B030D-6E8A-4147-A177-3AD203B41FA5}">
                      <a16:colId xmlns="" xmlns:a16="http://schemas.microsoft.com/office/drawing/2014/main" val="20003"/>
                    </a:ext>
                  </a:extLst>
                </a:gridCol>
                <a:gridCol w="1932170">
                  <a:extLst>
                    <a:ext uri="{9D8B030D-6E8A-4147-A177-3AD203B41FA5}">
                      <a16:colId xmlns="" xmlns:a16="http://schemas.microsoft.com/office/drawing/2014/main" val="20004"/>
                    </a:ext>
                  </a:extLst>
                </a:gridCol>
                <a:gridCol w="1932170">
                  <a:extLst>
                    <a:ext uri="{9D8B030D-6E8A-4147-A177-3AD203B41FA5}">
                      <a16:colId xmlns="" xmlns:a16="http://schemas.microsoft.com/office/drawing/2014/main" val="20005"/>
                    </a:ext>
                  </a:extLst>
                </a:gridCol>
                <a:gridCol w="1932170">
                  <a:extLst>
                    <a:ext uri="{9D8B030D-6E8A-4147-A177-3AD203B41FA5}">
                      <a16:colId xmlns="" xmlns:a16="http://schemas.microsoft.com/office/drawing/2014/main" val="20006"/>
                    </a:ext>
                  </a:extLst>
                </a:gridCol>
                <a:gridCol w="1932170">
                  <a:extLst>
                    <a:ext uri="{9D8B030D-6E8A-4147-A177-3AD203B41FA5}">
                      <a16:colId xmlns="" xmlns:a16="http://schemas.microsoft.com/office/drawing/2014/main" val="20007"/>
                    </a:ext>
                  </a:extLst>
                </a:gridCol>
              </a:tblGrid>
              <a:tr h="504000">
                <a:tc>
                  <a:txBody>
                    <a:bodyPr/>
                    <a:lstStyle/>
                    <a:p>
                      <a:pPr marL="0" marR="0" lvl="0" indent="0" algn="l" rtl="0">
                        <a:lnSpc>
                          <a:spcPct val="150000"/>
                        </a:lnSpc>
                        <a:spcBef>
                          <a:spcPts val="0"/>
                        </a:spcBef>
                        <a:spcAft>
                          <a:spcPts val="0"/>
                        </a:spcAft>
                        <a:buNone/>
                      </a:pPr>
                      <a:r>
                        <a:rPr lang="x-none" sz="1800" b="1" u="none" strike="noStrike" cap="none">
                          <a:solidFill>
                            <a:schemeClr val="lt1"/>
                          </a:solidFill>
                          <a:latin typeface="Microsoft JhengHei"/>
                          <a:ea typeface="Microsoft JhengHei"/>
                          <a:cs typeface="Microsoft JhengHei"/>
                          <a:sym typeface="Microsoft JhengHei"/>
                        </a:rPr>
                        <a:t>機密等級</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極機密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內部使用</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V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一般</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extLst>
                  <a:ext uri="{0D108BD9-81ED-4DB2-BD59-A6C34878D82A}">
                    <a16:rowId xmlns="" xmlns:a16="http://schemas.microsoft.com/office/drawing/2014/main" val="10000"/>
                  </a:ext>
                </a:extLst>
              </a:tr>
            </a:tbl>
          </a:graphicData>
        </a:graphic>
      </p:graphicFrame>
      <p:graphicFrame>
        <p:nvGraphicFramePr>
          <p:cNvPr id="193" name="Google Shape;193;p2"/>
          <p:cNvGraphicFramePr/>
          <p:nvPr>
            <p:extLst>
              <p:ext uri="{D42A27DB-BD31-4B8C-83A1-F6EECF244321}">
                <p14:modId xmlns="" xmlns:p14="http://schemas.microsoft.com/office/powerpoint/2010/main" val="2533766799"/>
              </p:ext>
            </p:extLst>
          </p:nvPr>
        </p:nvGraphicFramePr>
        <p:xfrm>
          <a:off x="366270" y="6835335"/>
          <a:ext cx="17518773" cy="3195196"/>
        </p:xfrm>
        <a:graphic>
          <a:graphicData uri="http://schemas.openxmlformats.org/drawingml/2006/table">
            <a:tbl>
              <a:tblPr>
                <a:noFill/>
              </a:tblPr>
              <a:tblGrid>
                <a:gridCol w="2045751">
                  <a:extLst>
                    <a:ext uri="{9D8B030D-6E8A-4147-A177-3AD203B41FA5}">
                      <a16:colId xmlns="" xmlns:a16="http://schemas.microsoft.com/office/drawing/2014/main" val="1293584311"/>
                    </a:ext>
                  </a:extLst>
                </a:gridCol>
                <a:gridCol w="2066989">
                  <a:extLst>
                    <a:ext uri="{9D8B030D-6E8A-4147-A177-3AD203B41FA5}">
                      <a16:colId xmlns="" xmlns:a16="http://schemas.microsoft.com/office/drawing/2014/main" val="20000"/>
                    </a:ext>
                  </a:extLst>
                </a:gridCol>
                <a:gridCol w="8024943">
                  <a:extLst>
                    <a:ext uri="{9D8B030D-6E8A-4147-A177-3AD203B41FA5}">
                      <a16:colId xmlns="" xmlns:a16="http://schemas.microsoft.com/office/drawing/2014/main" val="20001"/>
                    </a:ext>
                  </a:extLst>
                </a:gridCol>
                <a:gridCol w="2861625">
                  <a:extLst>
                    <a:ext uri="{9D8B030D-6E8A-4147-A177-3AD203B41FA5}">
                      <a16:colId xmlns="" xmlns:a16="http://schemas.microsoft.com/office/drawing/2014/main" val="20002"/>
                    </a:ext>
                  </a:extLst>
                </a:gridCol>
                <a:gridCol w="2519465">
                  <a:extLst>
                    <a:ext uri="{9D8B030D-6E8A-4147-A177-3AD203B41FA5}">
                      <a16:colId xmlns="" xmlns:a16="http://schemas.microsoft.com/office/drawing/2014/main" val="20003"/>
                    </a:ext>
                  </a:extLst>
                </a:gridCol>
              </a:tblGrid>
              <a:tr h="504000">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審批</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角色</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姓名 與 職稱</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簽名</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extLst>
                  <a:ext uri="{0D108BD9-81ED-4DB2-BD59-A6C34878D82A}">
                    <a16:rowId xmlns=""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專案顧問</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04000">
                <a:tc vMerge="1">
                  <a:txBody>
                    <a:bodyPr/>
                    <a:lstStyle/>
                    <a:p>
                      <a:endParaRPr lang="zh-TW" altLang="en-US"/>
                    </a:p>
                  </a:txBody>
                  <a:tcPr>
                    <a:lnT w="12700" cap="flat" cmpd="sng" algn="ctr">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關鍵使用者</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2466057711"/>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流程負責人</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3"/>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資訊單位</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4"/>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專案經理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a:latin typeface="Microsoft JhengHei"/>
                          <a:ea typeface="Microsoft JhengHei"/>
                          <a:cs typeface="Microsoft JhengHei"/>
                          <a:sym typeface="Microsoft JhengHei"/>
                        </a:rPr>
                        <a:t> </a:t>
                      </a: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5"/>
                  </a:ext>
                </a:extLst>
              </a:tr>
            </a:tbl>
          </a:graphicData>
        </a:graphic>
      </p:graphicFrame>
      <p:sp>
        <p:nvSpPr>
          <p:cNvPr id="2" name="TextBox 1">
            <a:extLst>
              <a:ext uri="{FF2B5EF4-FFF2-40B4-BE49-F238E27FC236}">
                <a16:creationId xmlns="" xmlns:a16="http://schemas.microsoft.com/office/drawing/2014/main" id="{632BD657-D42C-B5C5-74AF-5218C346A770}"/>
              </a:ext>
            </a:extLst>
          </p:cNvPr>
          <p:cNvSpPr txBox="1"/>
          <p:nvPr/>
        </p:nvSpPr>
        <p:spPr>
          <a:xfrm>
            <a:off x="2456660" y="762478"/>
            <a:ext cx="8244896" cy="1153457"/>
          </a:xfrm>
          <a:prstGeom prst="rect">
            <a:avLst/>
          </a:prstGeom>
          <a:noFill/>
        </p:spPr>
        <p:txBody>
          <a:bodyPr wrap="square" rtlCol="0">
            <a:spAutoFit/>
          </a:bodyPr>
          <a:lstStyle>
            <a:defPPr>
              <a:defRPr lang="en-US"/>
            </a:defPPr>
            <a:lvl1pPr>
              <a:lnSpc>
                <a:spcPct val="166666"/>
              </a:lnSpc>
              <a:defRPr sz="2000" b="1">
                <a:solidFill>
                  <a:schemeClr val="dk1"/>
                </a:solidFill>
                <a:latin typeface="Microsoft JhengHei"/>
                <a:ea typeface="Microsoft JhengHei"/>
                <a:cs typeface="Microsoft JhengHei"/>
              </a:defRPr>
            </a:lvl1pPr>
          </a:lstStyle>
          <a:p>
            <a:r>
              <a:rPr lang="en-US" altLang="zh-TW" sz="2400" dirty="0"/>
              <a:t>MM-IV-0010 </a:t>
            </a:r>
            <a:r>
              <a:rPr lang="zh-TW" altLang="en-US" sz="2400" dirty="0"/>
              <a:t>發票驗證流程</a:t>
            </a:r>
          </a:p>
          <a:p>
            <a:endParaRPr lang="zh-TW" altLang="en-US" dirty="0"/>
          </a:p>
        </p:txBody>
      </p:sp>
      <p:sp>
        <p:nvSpPr>
          <p:cNvPr id="3" name="TextBox 2">
            <a:extLst>
              <a:ext uri="{FF2B5EF4-FFF2-40B4-BE49-F238E27FC236}">
                <a16:creationId xmlns="" xmlns:a16="http://schemas.microsoft.com/office/drawing/2014/main" id="{6B09882B-C884-419E-9EB0-7F4E083F29C0}"/>
              </a:ext>
            </a:extLst>
          </p:cNvPr>
          <p:cNvSpPr txBox="1"/>
          <p:nvPr/>
        </p:nvSpPr>
        <p:spPr>
          <a:xfrm>
            <a:off x="15598384" y="419496"/>
            <a:ext cx="551112" cy="346249"/>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0</a:t>
            </a:r>
            <a:endParaRPr lang="zh-TW" altLang="en-US" sz="16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 xmlns:a16="http://schemas.microsoft.com/office/drawing/2014/main" id="{83E6F622-2FBE-CC67-50FE-4ABD7D8B9696}"/>
              </a:ext>
            </a:extLst>
          </p:cNvPr>
          <p:cNvSpPr txBox="1"/>
          <p:nvPr/>
        </p:nvSpPr>
        <p:spPr>
          <a:xfrm>
            <a:off x="2430828" y="820878"/>
            <a:ext cx="7218711"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MM-IV-0010</a:t>
            </a:r>
            <a:r>
              <a:rPr lang="zh-TW" altLang="en-US" sz="2400" b="1" dirty="0">
                <a:latin typeface="微軟正黑體" panose="020B0604030504040204" pitchFamily="34" charset="-120"/>
                <a:ea typeface="微軟正黑體" panose="020B0604030504040204" pitchFamily="34" charset="-120"/>
              </a:rPr>
              <a:t>發票驗證流程</a:t>
            </a:r>
          </a:p>
        </p:txBody>
      </p: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265442" y="8319747"/>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34" name="文字方塊 17">
            <a:extLst>
              <a:ext uri="{FF2B5EF4-FFF2-40B4-BE49-F238E27FC236}">
                <a16:creationId xmlns="" xmlns:a16="http://schemas.microsoft.com/office/drawing/2014/main" id="{DE52170D-3194-E094-D743-3842F95326FE}"/>
              </a:ext>
            </a:extLst>
          </p:cNvPr>
          <p:cNvSpPr txBox="1"/>
          <p:nvPr/>
        </p:nvSpPr>
        <p:spPr>
          <a:xfrm>
            <a:off x="9649538" y="1384095"/>
            <a:ext cx="231432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財務</a:t>
            </a:r>
          </a:p>
        </p:txBody>
      </p:sp>
      <p:sp>
        <p:nvSpPr>
          <p:cNvPr id="227" name="TextBox 53">
            <a:extLst>
              <a:ext uri="{FF2B5EF4-FFF2-40B4-BE49-F238E27FC236}">
                <a16:creationId xmlns="" xmlns:a16="http://schemas.microsoft.com/office/drawing/2014/main" id="{DF940026-96D7-3867-6425-C228DF3D29BF}"/>
              </a:ext>
            </a:extLst>
          </p:cNvPr>
          <p:cNvSpPr txBox="1"/>
          <p:nvPr/>
        </p:nvSpPr>
        <p:spPr>
          <a:xfrm>
            <a:off x="14367310" y="2064631"/>
            <a:ext cx="3594197" cy="7017306"/>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收取廠商對帳單和發票進行</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發票驗證，核對系統所記錄驗收記錄與對帳單相符。完成對帳將文件暫存已完成。製程外包採購如果是最終次的請款，必須勾選最後發票宣告該採購項目已完成，以利於相關連的工單作結算。請款畫面上可沖帳預先建立的訂金文件。</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請款單經</a:t>
            </a:r>
            <a:r>
              <a:rPr lang="en-US" altLang="zh-TW" dirty="0">
                <a:latin typeface="微軟正黑體" panose="020B0604030504040204" pitchFamily="34" charset="-120"/>
                <a:ea typeface="微軟正黑體" panose="020B0604030504040204" pitchFamily="34" charset="-120"/>
              </a:rPr>
              <a:t>MM065</a:t>
            </a:r>
            <a:r>
              <a:rPr lang="zh-TW" altLang="en-US" dirty="0">
                <a:latin typeface="微軟正黑體" panose="020B0604030504040204" pitchFamily="34" charset="-120"/>
                <a:ea typeface="微軟正黑體" panose="020B0604030504040204" pitchFamily="34" charset="-120"/>
              </a:rPr>
              <a:t>匯入</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，發起簽核流程，並且將相關文件檔案作為附件。由</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按請款單內容區分不同簽核流程。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上進行簽核</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上被退件的請款單作廢刪除；種新起單發起新的簽核</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財務進行核對請款單</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相關証明文件和進行過帳</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，可由</a:t>
            </a:r>
            <a:r>
              <a:rPr lang="en-US" altLang="zh-TW" dirty="0">
                <a:latin typeface="微軟正黑體" panose="020B0604030504040204" pitchFamily="34" charset="-120"/>
                <a:ea typeface="微軟正黑體" panose="020B0604030504040204" pitchFamily="34" charset="-120"/>
              </a:rPr>
              <a:t>ZQFI016</a:t>
            </a:r>
            <a:r>
              <a:rPr lang="zh-TW" altLang="en-US" dirty="0">
                <a:latin typeface="微軟正黑體" panose="020B0604030504040204" pitchFamily="34" charset="-120"/>
                <a:ea typeface="微軟正黑體" panose="020B0604030504040204" pitchFamily="34" charset="-120"/>
              </a:rPr>
              <a:t>進行付款明細表列印</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p>
          <a:p>
            <a:endParaRPr lang="en-US" altLang="zh-TW" dirty="0"/>
          </a:p>
        </p:txBody>
      </p:sp>
      <p:sp>
        <p:nvSpPr>
          <p:cNvPr id="240" name="流程圖: 決策 50">
            <a:extLst>
              <a:ext uri="{FF2B5EF4-FFF2-40B4-BE49-F238E27FC236}">
                <a16:creationId xmlns="" xmlns:a16="http://schemas.microsoft.com/office/drawing/2014/main" id="{527C4236-AC24-9665-999E-BCB38749D459}"/>
              </a:ext>
            </a:extLst>
          </p:cNvPr>
          <p:cNvSpPr/>
          <p:nvPr/>
        </p:nvSpPr>
        <p:spPr bwMode="auto">
          <a:xfrm>
            <a:off x="6460897" y="6593855"/>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是否核淮</a:t>
            </a:r>
          </a:p>
        </p:txBody>
      </p:sp>
      <p:sp>
        <p:nvSpPr>
          <p:cNvPr id="241" name="文字方塊 240">
            <a:extLst>
              <a:ext uri="{FF2B5EF4-FFF2-40B4-BE49-F238E27FC236}">
                <a16:creationId xmlns="" xmlns:a16="http://schemas.microsoft.com/office/drawing/2014/main" id="{C1F79803-CD2F-DCBE-0376-1A2E7AAE8BD3}"/>
              </a:ext>
            </a:extLst>
          </p:cNvPr>
          <p:cNvSpPr txBox="1"/>
          <p:nvPr/>
        </p:nvSpPr>
        <p:spPr>
          <a:xfrm>
            <a:off x="8394229" y="6651378"/>
            <a:ext cx="53205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42" name="文字方塊 241">
            <a:extLst>
              <a:ext uri="{FF2B5EF4-FFF2-40B4-BE49-F238E27FC236}">
                <a16:creationId xmlns="" xmlns:a16="http://schemas.microsoft.com/office/drawing/2014/main" id="{118E9DFC-AE14-CF90-1E50-B05094B07A0E}"/>
              </a:ext>
            </a:extLst>
          </p:cNvPr>
          <p:cNvSpPr txBox="1"/>
          <p:nvPr/>
        </p:nvSpPr>
        <p:spPr>
          <a:xfrm>
            <a:off x="5996487" y="6651457"/>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cxnSp>
        <p:nvCxnSpPr>
          <p:cNvPr id="35" name="Straight Connector 284">
            <a:extLst>
              <a:ext uri="{FF2B5EF4-FFF2-40B4-BE49-F238E27FC236}">
                <a16:creationId xmlns="" xmlns:a16="http://schemas.microsoft.com/office/drawing/2014/main" id="{7A26E515-DBDF-0B46-731B-B3784E2FEC22}"/>
              </a:ext>
            </a:extLst>
          </p:cNvPr>
          <p:cNvCxnSpPr>
            <a:cxnSpLocks/>
          </p:cNvCxnSpPr>
          <p:nvPr/>
        </p:nvCxnSpPr>
        <p:spPr>
          <a:xfrm>
            <a:off x="5717759" y="1350757"/>
            <a:ext cx="0" cy="87871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文字方塊 17">
            <a:extLst>
              <a:ext uri="{FF2B5EF4-FFF2-40B4-BE49-F238E27FC236}">
                <a16:creationId xmlns="" xmlns:a16="http://schemas.microsoft.com/office/drawing/2014/main" id="{6DC2AA73-7823-FFEF-8D00-4A526AA88757}"/>
              </a:ext>
            </a:extLst>
          </p:cNvPr>
          <p:cNvSpPr txBox="1"/>
          <p:nvPr/>
        </p:nvSpPr>
        <p:spPr>
          <a:xfrm>
            <a:off x="2430828" y="1360005"/>
            <a:ext cx="3286926"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採購</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生管</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倉庫</a:t>
            </a:r>
          </a:p>
        </p:txBody>
      </p:sp>
      <p:cxnSp>
        <p:nvCxnSpPr>
          <p:cNvPr id="52" name="肘形接點 68">
            <a:extLst>
              <a:ext uri="{FF2B5EF4-FFF2-40B4-BE49-F238E27FC236}">
                <a16:creationId xmlns="" xmlns:a16="http://schemas.microsoft.com/office/drawing/2014/main" id="{38E00DE6-84AE-802B-524F-43D36DC6077E}"/>
              </a:ext>
            </a:extLst>
          </p:cNvPr>
          <p:cNvCxnSpPr>
            <a:cxnSpLocks/>
            <a:stCxn id="63" idx="1"/>
            <a:endCxn id="58" idx="1"/>
          </p:cNvCxnSpPr>
          <p:nvPr/>
        </p:nvCxnSpPr>
        <p:spPr>
          <a:xfrm rot="10800000" flipH="1">
            <a:off x="3110710" y="4652775"/>
            <a:ext cx="5955" cy="2300023"/>
          </a:xfrm>
          <a:prstGeom prst="bentConnector3">
            <a:avLst>
              <a:gd name="adj1" fmla="val -5396558"/>
            </a:avLst>
          </a:prstGeom>
          <a:ln>
            <a:tailEnd type="triangle"/>
          </a:ln>
        </p:spPr>
        <p:style>
          <a:lnRef idx="1">
            <a:schemeClr val="dk1"/>
          </a:lnRef>
          <a:fillRef idx="0">
            <a:schemeClr val="dk1"/>
          </a:fillRef>
          <a:effectRef idx="0">
            <a:schemeClr val="dk1"/>
          </a:effectRef>
          <a:fontRef idx="minor">
            <a:schemeClr val="tx1"/>
          </a:fontRef>
        </p:style>
      </p:cxnSp>
      <p:sp>
        <p:nvSpPr>
          <p:cNvPr id="75" name="流程圖: 結束點 8">
            <a:extLst>
              <a:ext uri="{FF2B5EF4-FFF2-40B4-BE49-F238E27FC236}">
                <a16:creationId xmlns="" xmlns:a16="http://schemas.microsoft.com/office/drawing/2014/main" id="{1FB9514E-6261-C7AC-D58E-6A5F2E6F81FD}"/>
              </a:ext>
            </a:extLst>
          </p:cNvPr>
          <p:cNvSpPr/>
          <p:nvPr/>
        </p:nvSpPr>
        <p:spPr bwMode="auto">
          <a:xfrm>
            <a:off x="379592" y="2519383"/>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cxnSp>
        <p:nvCxnSpPr>
          <p:cNvPr id="94" name="肘形接點 68">
            <a:extLst>
              <a:ext uri="{FF2B5EF4-FFF2-40B4-BE49-F238E27FC236}">
                <a16:creationId xmlns="" xmlns:a16="http://schemas.microsoft.com/office/drawing/2014/main" id="{6822E07E-AECF-9AB1-F51A-9AC881E39209}"/>
              </a:ext>
            </a:extLst>
          </p:cNvPr>
          <p:cNvCxnSpPr>
            <a:cxnSpLocks/>
            <a:stCxn id="240" idx="3"/>
            <a:endCxn id="53" idx="1"/>
          </p:cNvCxnSpPr>
          <p:nvPr/>
        </p:nvCxnSpPr>
        <p:spPr>
          <a:xfrm flipV="1">
            <a:off x="8302846" y="3811265"/>
            <a:ext cx="1530406" cy="313869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49" name="矩形 48"/>
          <p:cNvSpPr/>
          <p:nvPr/>
        </p:nvSpPr>
        <p:spPr>
          <a:xfrm>
            <a:off x="15459198" y="457957"/>
            <a:ext cx="34496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1 </a:t>
            </a:r>
            <a:endParaRPr lang="zh-TW" altLang="en-US" sz="1500" dirty="0"/>
          </a:p>
        </p:txBody>
      </p:sp>
      <p:graphicFrame>
        <p:nvGraphicFramePr>
          <p:cNvPr id="58"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116666" y="4033574"/>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GB" sz="1500" b="1" dirty="0">
                          <a:latin typeface="微軟正黑體" panose="020B0604030504040204" pitchFamily="34" charset="-120"/>
                          <a:ea typeface="微軟正黑體" panose="020B0604030504040204" pitchFamily="34" charset="-120"/>
                        </a:rPr>
                        <a:t>ZM</a:t>
                      </a:r>
                      <a:r>
                        <a:rPr lang="en-US" altLang="zh-TW" sz="1500" b="1" dirty="0">
                          <a:latin typeface="微軟正黑體" panose="020B0604030504040204" pitchFamily="34" charset="-120"/>
                          <a:ea typeface="微軟正黑體" panose="020B0604030504040204" pitchFamily="34" charset="-120"/>
                        </a:rPr>
                        <a:t>M065</a:t>
                      </a:r>
                      <a:endParaRPr lang="en-GB"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發起請款單</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59" name="Straight Connector 284">
            <a:extLst>
              <a:ext uri="{FF2B5EF4-FFF2-40B4-BE49-F238E27FC236}">
                <a16:creationId xmlns="" xmlns:a16="http://schemas.microsoft.com/office/drawing/2014/main" id="{7A26E515-DBDF-0B46-731B-B3784E2FEC22}"/>
              </a:ext>
            </a:extLst>
          </p:cNvPr>
          <p:cNvCxnSpPr>
            <a:cxnSpLocks/>
          </p:cNvCxnSpPr>
          <p:nvPr/>
        </p:nvCxnSpPr>
        <p:spPr>
          <a:xfrm>
            <a:off x="9632163" y="1330624"/>
            <a:ext cx="0" cy="88072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0" name="表格 30">
            <a:extLst>
              <a:ext uri="{FF2B5EF4-FFF2-40B4-BE49-F238E27FC236}">
                <a16:creationId xmlns="" xmlns:a16="http://schemas.microsoft.com/office/drawing/2014/main" id="{94474DA2-C417-6AE7-95EE-50C9649AB985}"/>
              </a:ext>
            </a:extLst>
          </p:cNvPr>
          <p:cNvGraphicFramePr>
            <a:graphicFrameLocks noGrp="1"/>
          </p:cNvGraphicFramePr>
          <p:nvPr>
            <p:extLst>
              <p:ext uri="{D42A27DB-BD31-4B8C-83A1-F6EECF244321}">
                <p14:modId xmlns="" xmlns:p14="http://schemas.microsoft.com/office/powerpoint/2010/main" val="1730620924"/>
              </p:ext>
            </p:extLst>
          </p:nvPr>
        </p:nvGraphicFramePr>
        <p:xfrm>
          <a:off x="6490020" y="4141286"/>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algn="ct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66" name="肘形接點 68">
            <a:extLst>
              <a:ext uri="{FF2B5EF4-FFF2-40B4-BE49-F238E27FC236}">
                <a16:creationId xmlns="" xmlns:a16="http://schemas.microsoft.com/office/drawing/2014/main" id="{6710C215-D2A9-AE8A-C825-CAB394FDF69B}"/>
              </a:ext>
            </a:extLst>
          </p:cNvPr>
          <p:cNvCxnSpPr>
            <a:cxnSpLocks/>
            <a:stCxn id="58" idx="3"/>
            <a:endCxn id="60" idx="1"/>
          </p:cNvCxnSpPr>
          <p:nvPr/>
        </p:nvCxnSpPr>
        <p:spPr>
          <a:xfrm flipV="1">
            <a:off x="4914498" y="4646186"/>
            <a:ext cx="1575522" cy="65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85" name="肘形接點 68">
            <a:extLst>
              <a:ext uri="{FF2B5EF4-FFF2-40B4-BE49-F238E27FC236}">
                <a16:creationId xmlns="" xmlns:a16="http://schemas.microsoft.com/office/drawing/2014/main" id="{6710C215-D2A9-AE8A-C825-CAB394FDF69B}"/>
              </a:ext>
            </a:extLst>
          </p:cNvPr>
          <p:cNvCxnSpPr>
            <a:cxnSpLocks/>
            <a:stCxn id="53" idx="2"/>
            <a:endCxn id="25" idx="1"/>
          </p:cNvCxnSpPr>
          <p:nvPr/>
        </p:nvCxnSpPr>
        <p:spPr>
          <a:xfrm rot="16200000" flipH="1">
            <a:off x="9362374" y="5807899"/>
            <a:ext cx="4280504" cy="152563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nvGrpSpPr>
          <p:cNvPr id="91" name="Group 220">
            <a:extLst>
              <a:ext uri="{FF2B5EF4-FFF2-40B4-BE49-F238E27FC236}">
                <a16:creationId xmlns="" xmlns:a16="http://schemas.microsoft.com/office/drawing/2014/main" id="{F06C1E01-1E50-31E0-B90E-A417B2F558D4}"/>
              </a:ext>
            </a:extLst>
          </p:cNvPr>
          <p:cNvGrpSpPr/>
          <p:nvPr/>
        </p:nvGrpSpPr>
        <p:grpSpPr>
          <a:xfrm>
            <a:off x="4645149" y="3811268"/>
            <a:ext cx="546270" cy="415762"/>
            <a:chOff x="5906472" y="1486857"/>
            <a:chExt cx="364180" cy="272361"/>
          </a:xfrm>
        </p:grpSpPr>
        <p:sp>
          <p:nvSpPr>
            <p:cNvPr id="92" name="Oval 221">
              <a:extLst>
                <a:ext uri="{FF2B5EF4-FFF2-40B4-BE49-F238E27FC236}">
                  <a16:creationId xmlns="" xmlns:a16="http://schemas.microsoft.com/office/drawing/2014/main" id="{47DB6AD9-1B12-F0F5-A5A9-A00C353E90F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3" name="TextBox 222">
              <a:extLst>
                <a:ext uri="{FF2B5EF4-FFF2-40B4-BE49-F238E27FC236}">
                  <a16:creationId xmlns="" xmlns:a16="http://schemas.microsoft.com/office/drawing/2014/main" id="{ABD438DB-1A5A-B791-C95C-0F54867C9DD3}"/>
                </a:ext>
              </a:extLst>
            </p:cNvPr>
            <p:cNvSpPr txBox="1"/>
            <p:nvPr/>
          </p:nvSpPr>
          <p:spPr>
            <a:xfrm>
              <a:off x="5915052"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95" name="Group 220">
            <a:extLst>
              <a:ext uri="{FF2B5EF4-FFF2-40B4-BE49-F238E27FC236}">
                <a16:creationId xmlns="" xmlns:a16="http://schemas.microsoft.com/office/drawing/2014/main" id="{8F9100A8-C49B-4A69-8C8C-1F7583CA5532}"/>
              </a:ext>
            </a:extLst>
          </p:cNvPr>
          <p:cNvGrpSpPr/>
          <p:nvPr/>
        </p:nvGrpSpPr>
        <p:grpSpPr>
          <a:xfrm>
            <a:off x="8109460" y="3844417"/>
            <a:ext cx="552143" cy="415761"/>
            <a:chOff x="5906472" y="1486857"/>
            <a:chExt cx="368095" cy="272361"/>
          </a:xfrm>
        </p:grpSpPr>
        <p:sp>
          <p:nvSpPr>
            <p:cNvPr id="96" name="Oval 221">
              <a:extLst>
                <a:ext uri="{FF2B5EF4-FFF2-40B4-BE49-F238E27FC236}">
                  <a16:creationId xmlns="" xmlns:a16="http://schemas.microsoft.com/office/drawing/2014/main"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7" name="TextBox 222">
              <a:extLst>
                <a:ext uri="{FF2B5EF4-FFF2-40B4-BE49-F238E27FC236}">
                  <a16:creationId xmlns="" xmlns:a16="http://schemas.microsoft.com/office/drawing/2014/main" id="{60D91B19-79E7-F88F-B376-D3C257050AE7}"/>
                </a:ext>
              </a:extLst>
            </p:cNvPr>
            <p:cNvSpPr txBox="1"/>
            <p:nvPr/>
          </p:nvSpPr>
          <p:spPr>
            <a:xfrm>
              <a:off x="5918967"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62"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114683" y="2314597"/>
          <a:ext cx="1797832" cy="120100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MIR7 </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3617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採購發票驗</a:t>
                      </a:r>
                      <a:r>
                        <a:rPr lang="zh-TW" altLang="en-US" sz="1400" dirty="0">
                          <a:latin typeface="微軟正黑體" panose="020B0604030504040204" pitchFamily="34" charset="-120"/>
                          <a:ea typeface="微軟正黑體" panose="020B0604030504040204" pitchFamily="34" charset="-120"/>
                        </a:rPr>
                        <a:t>證</a:t>
                      </a:r>
                      <a:r>
                        <a:rPr kumimoji="0" lang="zh-TW" altLang="en-US" sz="1400" dirty="0">
                          <a:latin typeface="微軟正黑體" panose="020B0604030504040204" pitchFamily="34" charset="-120"/>
                          <a:ea typeface="微軟正黑體" panose="020B0604030504040204" pitchFamily="34" charset="-120"/>
                        </a:rPr>
                        <a:t>，暫存為文件完成</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44" name="Group 220">
            <a:extLst>
              <a:ext uri="{FF2B5EF4-FFF2-40B4-BE49-F238E27FC236}">
                <a16:creationId xmlns="" xmlns:a16="http://schemas.microsoft.com/office/drawing/2014/main" id="{F4F96747-98B8-15CE-3B01-B9BC193ECFD4}"/>
              </a:ext>
            </a:extLst>
          </p:cNvPr>
          <p:cNvGrpSpPr/>
          <p:nvPr/>
        </p:nvGrpSpPr>
        <p:grpSpPr>
          <a:xfrm>
            <a:off x="4654909" y="2121036"/>
            <a:ext cx="544895" cy="415762"/>
            <a:chOff x="5906472" y="1486857"/>
            <a:chExt cx="363263" cy="272361"/>
          </a:xfrm>
        </p:grpSpPr>
        <p:sp>
          <p:nvSpPr>
            <p:cNvPr id="245" name="Oval 221">
              <a:extLst>
                <a:ext uri="{FF2B5EF4-FFF2-40B4-BE49-F238E27FC236}">
                  <a16:creationId xmlns="" xmlns:a16="http://schemas.microsoft.com/office/drawing/2014/main" id="{E3D6BBE9-8E14-1EFA-92FB-A9C2B272AB8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latin typeface="微軟正黑體" panose="020B0604030504040204" pitchFamily="34" charset="-120"/>
                <a:ea typeface="微軟正黑體" panose="020B0604030504040204" pitchFamily="34" charset="-120"/>
              </a:endParaRPr>
            </a:p>
          </p:txBody>
        </p:sp>
        <p:sp>
          <p:nvSpPr>
            <p:cNvPr id="247" name="TextBox 222">
              <a:extLst>
                <a:ext uri="{FF2B5EF4-FFF2-40B4-BE49-F238E27FC236}">
                  <a16:creationId xmlns="" xmlns:a16="http://schemas.microsoft.com/office/drawing/2014/main" id="{F79BADE0-8F69-47CB-92FE-2F81AD0C3C5E}"/>
                </a:ext>
              </a:extLst>
            </p:cNvPr>
            <p:cNvSpPr txBox="1"/>
            <p:nvPr/>
          </p:nvSpPr>
          <p:spPr>
            <a:xfrm>
              <a:off x="5914135"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63"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110711" y="6352294"/>
          <a:ext cx="1797832" cy="120100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0432">
                <a:tc gridSpan="2">
                  <a:txBody>
                    <a:bodyPr/>
                    <a:lstStyle/>
                    <a:p>
                      <a:pPr algn="ctr"/>
                      <a:r>
                        <a:rPr lang="en-US" altLang="zh-TW" sz="1400" b="1" dirty="0">
                          <a:solidFill>
                            <a:schemeClr val="tx1"/>
                          </a:solidFill>
                          <a:latin typeface="微軟正黑體" panose="020B0604030504040204" pitchFamily="34" charset="-120"/>
                          <a:ea typeface="微軟正黑體" panose="020B0604030504040204" pitchFamily="34" charset="-120"/>
                        </a:rPr>
                        <a:t>MIR7</a:t>
                      </a:r>
                      <a:endParaRPr lang="en-GB" sz="1400" b="1" dirty="0">
                        <a:solidFill>
                          <a:schemeClr val="tx1"/>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3617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進行文件刪除；</a:t>
                      </a:r>
                      <a:endParaRPr kumimoji="0" lang="en-US" altLang="zh-TW" sz="1400" dirty="0">
                        <a:latin typeface="微軟正黑體" panose="020B0604030504040204" pitchFamily="34" charset="-120"/>
                        <a:ea typeface="微軟正黑體" panose="020B0604030504040204" pitchFamily="34" charset="-120"/>
                      </a:endParaRPr>
                    </a:p>
                    <a:p>
                      <a:pPr algn="ctr" eaLnBrk="0" hangingPunct="0"/>
                      <a:r>
                        <a:rPr kumimoji="0" lang="zh-TW" altLang="en-US" sz="1400" dirty="0">
                          <a:latin typeface="微軟正黑體" panose="020B0604030504040204" pitchFamily="34" charset="-120"/>
                          <a:ea typeface="微軟正黑體" panose="020B0604030504040204" pitchFamily="34" charset="-120"/>
                        </a:rPr>
                        <a:t>重新起單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3" name="Group 220">
            <a:extLst>
              <a:ext uri="{FF2B5EF4-FFF2-40B4-BE49-F238E27FC236}">
                <a16:creationId xmlns="" xmlns:a16="http://schemas.microsoft.com/office/drawing/2014/main" id="{6BD4593D-7B62-69BC-EBA9-A0597D42211F}"/>
              </a:ext>
            </a:extLst>
          </p:cNvPr>
          <p:cNvGrpSpPr/>
          <p:nvPr/>
        </p:nvGrpSpPr>
        <p:grpSpPr>
          <a:xfrm>
            <a:off x="4655096" y="6147431"/>
            <a:ext cx="544895" cy="415762"/>
            <a:chOff x="5906472" y="1486857"/>
            <a:chExt cx="363263" cy="272361"/>
          </a:xfrm>
        </p:grpSpPr>
        <p:sp>
          <p:nvSpPr>
            <p:cNvPr id="5" name="Oval 221">
              <a:extLst>
                <a:ext uri="{FF2B5EF4-FFF2-40B4-BE49-F238E27FC236}">
                  <a16:creationId xmlns="" xmlns:a16="http://schemas.microsoft.com/office/drawing/2014/main" id="{43A01D02-9D73-CBE4-E38A-D129940CCF2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6" name="TextBox 222">
              <a:extLst>
                <a:ext uri="{FF2B5EF4-FFF2-40B4-BE49-F238E27FC236}">
                  <a16:creationId xmlns="" xmlns:a16="http://schemas.microsoft.com/office/drawing/2014/main" id="{070A876D-01DC-743B-6F25-63965C0F157C}"/>
                </a:ext>
              </a:extLst>
            </p:cNvPr>
            <p:cNvSpPr txBox="1"/>
            <p:nvPr/>
          </p:nvSpPr>
          <p:spPr>
            <a:xfrm>
              <a:off x="5914135"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sp>
        <p:nvSpPr>
          <p:cNvPr id="53" name="流程圖: 預設處理作業 21">
            <a:extLst>
              <a:ext uri="{FF2B5EF4-FFF2-40B4-BE49-F238E27FC236}">
                <a16:creationId xmlns="" xmlns:a16="http://schemas.microsoft.com/office/drawing/2014/main" id="{6AB8729A-A396-2BA6-E6B9-1B2A79082818}"/>
              </a:ext>
            </a:extLst>
          </p:cNvPr>
          <p:cNvSpPr/>
          <p:nvPr/>
        </p:nvSpPr>
        <p:spPr bwMode="auto">
          <a:xfrm>
            <a:off x="9833252" y="3192065"/>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FI-AP-0020</a:t>
            </a:r>
          </a:p>
          <a:p>
            <a:pPr algn="ctr" eaLnBrk="0" hangingPunct="0"/>
            <a:r>
              <a:rPr lang="zh-TW" altLang="en-US" sz="1500" dirty="0">
                <a:latin typeface="微軟正黑體" panose="020B0604030504040204" pitchFamily="34" charset="-120"/>
                <a:ea typeface="微軟正黑體" panose="020B0604030504040204" pitchFamily="34" charset="-120"/>
              </a:rPr>
              <a:t>採購相關之應付款</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過帳作業流程</a:t>
            </a:r>
          </a:p>
        </p:txBody>
      </p:sp>
      <p:grpSp>
        <p:nvGrpSpPr>
          <p:cNvPr id="13" name="Group 220">
            <a:extLst>
              <a:ext uri="{FF2B5EF4-FFF2-40B4-BE49-F238E27FC236}">
                <a16:creationId xmlns="" xmlns:a16="http://schemas.microsoft.com/office/drawing/2014/main" id="{8F9100A8-C49B-4A69-8C8C-1F7583CA5532}"/>
              </a:ext>
            </a:extLst>
          </p:cNvPr>
          <p:cNvGrpSpPr/>
          <p:nvPr/>
        </p:nvGrpSpPr>
        <p:grpSpPr>
          <a:xfrm>
            <a:off x="11419522" y="2988094"/>
            <a:ext cx="544343" cy="415761"/>
            <a:chOff x="5906472" y="1486857"/>
            <a:chExt cx="362895" cy="272361"/>
          </a:xfrm>
        </p:grpSpPr>
        <p:sp>
          <p:nvSpPr>
            <p:cNvPr id="17" name="Oval 221">
              <a:extLst>
                <a:ext uri="{FF2B5EF4-FFF2-40B4-BE49-F238E27FC236}">
                  <a16:creationId xmlns="" xmlns:a16="http://schemas.microsoft.com/office/drawing/2014/main"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8" name="TextBox 222">
              <a:extLst>
                <a:ext uri="{FF2B5EF4-FFF2-40B4-BE49-F238E27FC236}">
                  <a16:creationId xmlns="" xmlns:a16="http://schemas.microsoft.com/office/drawing/2014/main" id="{60D91B19-79E7-F88F-B376-D3C257050AE7}"/>
                </a:ext>
              </a:extLst>
            </p:cNvPr>
            <p:cNvSpPr txBox="1"/>
            <p:nvPr/>
          </p:nvSpPr>
          <p:spPr>
            <a:xfrm>
              <a:off x="5913767" y="1500167"/>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sp>
        <p:nvSpPr>
          <p:cNvPr id="8" name="文字方塊 17">
            <a:extLst>
              <a:ext uri="{FF2B5EF4-FFF2-40B4-BE49-F238E27FC236}">
                <a16:creationId xmlns="" xmlns:a16="http://schemas.microsoft.com/office/drawing/2014/main" id="{AC8125CD-34B4-757A-7942-BDBC52FF1024}"/>
              </a:ext>
            </a:extLst>
          </p:cNvPr>
          <p:cNvSpPr txBox="1"/>
          <p:nvPr/>
        </p:nvSpPr>
        <p:spPr>
          <a:xfrm>
            <a:off x="5717759" y="1362729"/>
            <a:ext cx="3897029"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單位主管</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權責主管</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財務主管                            </a:t>
            </a:r>
          </a:p>
        </p:txBody>
      </p:sp>
      <p:cxnSp>
        <p:nvCxnSpPr>
          <p:cNvPr id="10" name="直線單箭頭接點 9">
            <a:extLst>
              <a:ext uri="{FF2B5EF4-FFF2-40B4-BE49-F238E27FC236}">
                <a16:creationId xmlns="" xmlns:a16="http://schemas.microsoft.com/office/drawing/2014/main" id="{E70A7561-C762-F9DA-96A5-34531EC7FB29}"/>
              </a:ext>
            </a:extLst>
          </p:cNvPr>
          <p:cNvCxnSpPr>
            <a:cxnSpLocks/>
            <a:stCxn id="75" idx="3"/>
            <a:endCxn id="62" idx="1"/>
          </p:cNvCxnSpPr>
          <p:nvPr/>
        </p:nvCxnSpPr>
        <p:spPr>
          <a:xfrm>
            <a:off x="2177423" y="2910605"/>
            <a:ext cx="937260" cy="44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線單箭頭接點 13">
            <a:extLst>
              <a:ext uri="{FF2B5EF4-FFF2-40B4-BE49-F238E27FC236}">
                <a16:creationId xmlns="" xmlns:a16="http://schemas.microsoft.com/office/drawing/2014/main" id="{495BFB54-4180-B168-962D-1C5DD92C5D97}"/>
              </a:ext>
            </a:extLst>
          </p:cNvPr>
          <p:cNvCxnSpPr>
            <a:cxnSpLocks/>
            <a:stCxn id="62" idx="2"/>
            <a:endCxn id="58" idx="0"/>
          </p:cNvCxnSpPr>
          <p:nvPr/>
        </p:nvCxnSpPr>
        <p:spPr>
          <a:xfrm>
            <a:off x="4013599" y="3515603"/>
            <a:ext cx="1983" cy="517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線單箭頭接點 18">
            <a:extLst>
              <a:ext uri="{FF2B5EF4-FFF2-40B4-BE49-F238E27FC236}">
                <a16:creationId xmlns="" xmlns:a16="http://schemas.microsoft.com/office/drawing/2014/main" id="{10E52F05-FFB7-8249-258C-5F7D021C9D5E}"/>
              </a:ext>
            </a:extLst>
          </p:cNvPr>
          <p:cNvCxnSpPr>
            <a:cxnSpLocks/>
            <a:stCxn id="60" idx="2"/>
            <a:endCxn id="240" idx="0"/>
          </p:cNvCxnSpPr>
          <p:nvPr/>
        </p:nvCxnSpPr>
        <p:spPr>
          <a:xfrm flipH="1">
            <a:off x="7381872" y="5151086"/>
            <a:ext cx="7064" cy="1442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單箭頭接點 21">
            <a:extLst>
              <a:ext uri="{FF2B5EF4-FFF2-40B4-BE49-F238E27FC236}">
                <a16:creationId xmlns="" xmlns:a16="http://schemas.microsoft.com/office/drawing/2014/main" id="{B0A5A8C5-01EC-1304-FFC1-C0FBF569053E}"/>
              </a:ext>
            </a:extLst>
          </p:cNvPr>
          <p:cNvCxnSpPr>
            <a:cxnSpLocks/>
            <a:stCxn id="240" idx="1"/>
            <a:endCxn id="63" idx="3"/>
          </p:cNvCxnSpPr>
          <p:nvPr/>
        </p:nvCxnSpPr>
        <p:spPr>
          <a:xfrm flipH="1">
            <a:off x="4908543" y="6949955"/>
            <a:ext cx="1552354" cy="28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 xmlns:p14="http://schemas.microsoft.com/office/powerpoint/2010/main" val="3463177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673018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8">
            <a:extLst>
              <a:ext uri="{FF2B5EF4-FFF2-40B4-BE49-F238E27FC236}">
                <a16:creationId xmlns="" xmlns:a16="http://schemas.microsoft.com/office/drawing/2014/main" id="{6FA1EB1C-0C56-468D-DD3A-1AFF772D5B49}"/>
              </a:ext>
            </a:extLst>
          </p:cNvPr>
          <p:cNvSpPr/>
          <p:nvPr/>
        </p:nvSpPr>
        <p:spPr bwMode="auto">
          <a:xfrm>
            <a:off x="3242505" y="2150354"/>
            <a:ext cx="1797831" cy="51958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流程</a:t>
            </a:r>
          </a:p>
          <a:p>
            <a:pPr algn="ctr" eaLnBrk="0" hangingPunct="0"/>
            <a:r>
              <a:rPr lang="zh-TW" altLang="en-US" sz="1500">
                <a:latin typeface="微軟正黑體" panose="020B0604030504040204" pitchFamily="34" charset="-120"/>
                <a:ea typeface="微軟正黑體" panose="020B0604030504040204" pitchFamily="34" charset="-120"/>
              </a:rPr>
              <a:t>開始或結束點</a:t>
            </a:r>
          </a:p>
        </p:txBody>
      </p:sp>
      <p:sp>
        <p:nvSpPr>
          <p:cNvPr id="3" name="文字方塊 12">
            <a:extLst>
              <a:ext uri="{FF2B5EF4-FFF2-40B4-BE49-F238E27FC236}">
                <a16:creationId xmlns="" xmlns:a16="http://schemas.microsoft.com/office/drawing/2014/main" id="{C3ACBE9D-2638-0AA4-2866-6D3A3BDB15CB}"/>
              </a:ext>
            </a:extLst>
          </p:cNvPr>
          <p:cNvSpPr txBox="1"/>
          <p:nvPr/>
        </p:nvSpPr>
        <p:spPr>
          <a:xfrm>
            <a:off x="5511013" y="2833662"/>
            <a:ext cx="6013292" cy="1661993"/>
          </a:xfrm>
          <a:prstGeom prst="rect">
            <a:avLst/>
          </a:prstGeom>
          <a:noFill/>
          <a:ln>
            <a:noFill/>
          </a:ln>
        </p:spPr>
        <p:txBody>
          <a:bodyPr wrap="square" lIns="0" tIns="0" rIns="0" bIns="0" rtlCol="0">
            <a:spAutoFit/>
          </a:bodyPr>
          <a:lstStyle/>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上方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若本作業為系統交易請輸入該系統的交易代碼</a:t>
            </a:r>
            <a:endParaRPr lang="en-US" altLang="zh-TW" sz="1800">
              <a:solidFill>
                <a:srgbClr val="C00000"/>
              </a:solidFill>
              <a:latin typeface="微軟正黑體" panose="020B0604030504040204" pitchFamily="34" charset="-120"/>
              <a:ea typeface="微軟正黑體" panose="020B0604030504040204" pitchFamily="34" charset="-120"/>
            </a:endParaRP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中間區塊</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動作</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作業</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系統交易 的名稱</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左下方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此處請輸入系統名稱</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若非系統交易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請留空白</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右下方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有自動化程序</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請輸入自動</a:t>
            </a:r>
          </a:p>
          <a:p>
            <a:pPr marL="257202" indent="-257202">
              <a:buFont typeface="Arial" panose="020B0604020202020204" pitchFamily="34" charset="0"/>
              <a:buChar char="•"/>
            </a:pPr>
            <a:endParaRPr lang="zh-TW" altLang="en-US" sz="1800">
              <a:solidFill>
                <a:srgbClr val="C00000"/>
              </a:solidFill>
              <a:latin typeface="微軟正黑體" panose="020B0604030504040204" pitchFamily="34" charset="-120"/>
              <a:ea typeface="微軟正黑體" panose="020B0604030504040204" pitchFamily="34" charset="-120"/>
            </a:endParaRPr>
          </a:p>
        </p:txBody>
      </p:sp>
      <p:sp>
        <p:nvSpPr>
          <p:cNvPr id="4" name="文字方塊 15">
            <a:extLst>
              <a:ext uri="{FF2B5EF4-FFF2-40B4-BE49-F238E27FC236}">
                <a16:creationId xmlns="" xmlns:a16="http://schemas.microsoft.com/office/drawing/2014/main" id="{F1992E37-FBF2-71FC-3355-A44CD54F666E}"/>
              </a:ext>
            </a:extLst>
          </p:cNvPr>
          <p:cNvSpPr txBox="1"/>
          <p:nvPr/>
        </p:nvSpPr>
        <p:spPr>
          <a:xfrm>
            <a:off x="5511009" y="2296591"/>
            <a:ext cx="338991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流程起始點或結束點</a:t>
            </a:r>
          </a:p>
        </p:txBody>
      </p:sp>
      <p:sp>
        <p:nvSpPr>
          <p:cNvPr id="7" name="文字方塊 24">
            <a:extLst>
              <a:ext uri="{FF2B5EF4-FFF2-40B4-BE49-F238E27FC236}">
                <a16:creationId xmlns="" xmlns:a16="http://schemas.microsoft.com/office/drawing/2014/main" id="{D18486DA-E03C-9AF3-9A27-7A647D6A1B82}"/>
              </a:ext>
            </a:extLst>
          </p:cNvPr>
          <p:cNvSpPr txBox="1"/>
          <p:nvPr/>
        </p:nvSpPr>
        <p:spPr>
          <a:xfrm>
            <a:off x="2548723" y="1451160"/>
            <a:ext cx="5505642" cy="507831"/>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本區域請輸入部門或是工作職掌</a:t>
            </a:r>
            <a:r>
              <a:rPr lang="en-US" altLang="zh-TW" sz="1600">
                <a:latin typeface="微軟正黑體" panose="020B0604030504040204" pitchFamily="34" charset="-120"/>
                <a:ea typeface="微軟正黑體" panose="020B0604030504040204" pitchFamily="34" charset="-120"/>
              </a:rPr>
              <a:t>. </a:t>
            </a:r>
          </a:p>
          <a:p>
            <a:r>
              <a:rPr lang="zh-TW" altLang="en-US" sz="1600">
                <a:latin typeface="微軟正黑體" panose="020B0604030504040204" pitchFamily="34" charset="-120"/>
                <a:ea typeface="微軟正黑體" panose="020B0604030504040204" pitchFamily="34" charset="-120"/>
              </a:rPr>
              <a:t>例如</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業務處 或 業務處</a:t>
            </a:r>
            <a:r>
              <a:rPr lang="en-US" altLang="zh-TW" sz="1600">
                <a:latin typeface="微軟正黑體" panose="020B0604030504040204" pitchFamily="34" charset="-120"/>
                <a:ea typeface="微軟正黑體" panose="020B0604030504040204" pitchFamily="34" charset="-120"/>
              </a:rPr>
              <a:t>/</a:t>
            </a:r>
            <a:r>
              <a:rPr lang="zh-TW" altLang="en-US" sz="1600">
                <a:latin typeface="微軟正黑體" panose="020B0604030504040204" pitchFamily="34" charset="-120"/>
                <a:ea typeface="微軟正黑體" panose="020B0604030504040204" pitchFamily="34" charset="-120"/>
              </a:rPr>
              <a:t>業務經理 或 業務人員</a:t>
            </a:r>
          </a:p>
        </p:txBody>
      </p:sp>
      <p:sp>
        <p:nvSpPr>
          <p:cNvPr id="8" name="文字方塊 25">
            <a:extLst>
              <a:ext uri="{FF2B5EF4-FFF2-40B4-BE49-F238E27FC236}">
                <a16:creationId xmlns="" xmlns:a16="http://schemas.microsoft.com/office/drawing/2014/main" id="{3582A9EB-A5A2-F0E1-F6A8-1152902964CF}"/>
              </a:ext>
            </a:extLst>
          </p:cNvPr>
          <p:cNvSpPr txBox="1"/>
          <p:nvPr/>
        </p:nvSpPr>
        <p:spPr>
          <a:xfrm>
            <a:off x="240594" y="1840650"/>
            <a:ext cx="2069194"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本區塊用來說明本流程動作所需要的資料來源</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包含前置作業流程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sp>
        <p:nvSpPr>
          <p:cNvPr id="9" name="文字方塊 26">
            <a:extLst>
              <a:ext uri="{FF2B5EF4-FFF2-40B4-BE49-F238E27FC236}">
                <a16:creationId xmlns="" xmlns:a16="http://schemas.microsoft.com/office/drawing/2014/main" id="{56CB2E28-F31D-1D89-A5FB-F878E9724B60}"/>
              </a:ext>
            </a:extLst>
          </p:cNvPr>
          <p:cNvSpPr txBox="1"/>
          <p:nvPr/>
        </p:nvSpPr>
        <p:spPr>
          <a:xfrm>
            <a:off x="12055646" y="1856148"/>
            <a:ext cx="2086520"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本區塊用來說明本流程動作所會產出的結果</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包含後續作業流程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graphicFrame>
        <p:nvGraphicFramePr>
          <p:cNvPr id="10"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242505" y="3002420"/>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11" name="流程圖: 預設處理作業 21">
            <a:extLst>
              <a:ext uri="{FF2B5EF4-FFF2-40B4-BE49-F238E27FC236}">
                <a16:creationId xmlns="" xmlns:a16="http://schemas.microsoft.com/office/drawing/2014/main" id="{6AB8729A-A396-2BA6-E6B9-1B2A79082818}"/>
              </a:ext>
            </a:extLst>
          </p:cNvPr>
          <p:cNvSpPr/>
          <p:nvPr/>
        </p:nvSpPr>
        <p:spPr bwMode="auto">
          <a:xfrm>
            <a:off x="3242509" y="4808819"/>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XXX-001-02</a:t>
            </a:r>
          </a:p>
          <a:p>
            <a:pPr algn="ctr" eaLnBrk="0" hangingPunct="0"/>
            <a:r>
              <a:rPr lang="en-US" altLang="zh-TW" sz="1500">
                <a:latin typeface="微軟正黑體" panose="020B0604030504040204" pitchFamily="34" charset="-120"/>
                <a:ea typeface="微軟正黑體" panose="020B0604030504040204" pitchFamily="34" charset="-120"/>
              </a:rPr>
              <a:t>XXX</a:t>
            </a:r>
            <a:r>
              <a:rPr lang="zh-TW" altLang="en-US" sz="1500">
                <a:latin typeface="微軟正黑體" panose="020B0604030504040204" pitchFamily="34" charset="-120"/>
                <a:ea typeface="微軟正黑體" panose="020B0604030504040204" pitchFamily="34" charset="-120"/>
              </a:rPr>
              <a:t>作業流程</a:t>
            </a:r>
          </a:p>
        </p:txBody>
      </p:sp>
      <p:sp>
        <p:nvSpPr>
          <p:cNvPr id="12" name="流程圖: 文件 42">
            <a:extLst>
              <a:ext uri="{FF2B5EF4-FFF2-40B4-BE49-F238E27FC236}">
                <a16:creationId xmlns="" xmlns:a16="http://schemas.microsoft.com/office/drawing/2014/main" id="{91F9B27C-7F80-2BDA-7707-DDBD4E112805}"/>
              </a:ext>
            </a:extLst>
          </p:cNvPr>
          <p:cNvSpPr/>
          <p:nvPr/>
        </p:nvSpPr>
        <p:spPr bwMode="auto">
          <a:xfrm>
            <a:off x="3242505" y="6336001"/>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產出或投入</a:t>
            </a:r>
          </a:p>
          <a:p>
            <a:pPr algn="ctr" eaLnBrk="0" hangingPunct="0"/>
            <a:r>
              <a:rPr lang="zh-TW" altLang="en-US" sz="1500">
                <a:latin typeface="微軟正黑體" panose="020B0604030504040204" pitchFamily="34" charset="-120"/>
                <a:ea typeface="微軟正黑體" panose="020B0604030504040204" pitchFamily="34" charset="-120"/>
              </a:rPr>
              <a:t>文件</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報表</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表單</a:t>
            </a:r>
          </a:p>
        </p:txBody>
      </p:sp>
      <p:sp>
        <p:nvSpPr>
          <p:cNvPr id="13" name="文字方塊 46">
            <a:extLst>
              <a:ext uri="{FF2B5EF4-FFF2-40B4-BE49-F238E27FC236}">
                <a16:creationId xmlns="" xmlns:a16="http://schemas.microsoft.com/office/drawing/2014/main" id="{8E21E1D9-DCFA-D067-33E8-546CC2C7A8A1}"/>
              </a:ext>
            </a:extLst>
          </p:cNvPr>
          <p:cNvSpPr txBox="1"/>
          <p:nvPr/>
        </p:nvSpPr>
        <p:spPr>
          <a:xfrm>
            <a:off x="5568741" y="5289520"/>
            <a:ext cx="4104456"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於本流程中有關聯的流程編號與名稱</a:t>
            </a:r>
          </a:p>
        </p:txBody>
      </p:sp>
      <p:sp>
        <p:nvSpPr>
          <p:cNvPr id="14" name="文字方塊 47">
            <a:extLst>
              <a:ext uri="{FF2B5EF4-FFF2-40B4-BE49-F238E27FC236}">
                <a16:creationId xmlns="" xmlns:a16="http://schemas.microsoft.com/office/drawing/2014/main" id="{5B7CE1DA-2D6E-F4C0-11C8-08795CA4563E}"/>
              </a:ext>
            </a:extLst>
          </p:cNvPr>
          <p:cNvSpPr txBox="1"/>
          <p:nvPr/>
        </p:nvSpPr>
        <p:spPr>
          <a:xfrm>
            <a:off x="5568743" y="6418310"/>
            <a:ext cx="5313821"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於本流程中投入或是產出的文件</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報表</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表單名稱</a:t>
            </a:r>
          </a:p>
        </p:txBody>
      </p:sp>
      <p:sp>
        <p:nvSpPr>
          <p:cNvPr id="15" name="流程圖: 決策 50">
            <a:extLst>
              <a:ext uri="{FF2B5EF4-FFF2-40B4-BE49-F238E27FC236}">
                <a16:creationId xmlns="" xmlns:a16="http://schemas.microsoft.com/office/drawing/2014/main" id="{845AA0C2-CB36-2792-A054-5B69382FBD2D}"/>
              </a:ext>
            </a:extLst>
          </p:cNvPr>
          <p:cNvSpPr/>
          <p:nvPr/>
        </p:nvSpPr>
        <p:spPr bwMode="auto">
          <a:xfrm>
            <a:off x="7393953" y="7226480"/>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決策或判斷點</a:t>
            </a:r>
          </a:p>
        </p:txBody>
      </p:sp>
      <p:sp>
        <p:nvSpPr>
          <p:cNvPr id="16" name="流程圖: 接點 51">
            <a:extLst>
              <a:ext uri="{FF2B5EF4-FFF2-40B4-BE49-F238E27FC236}">
                <a16:creationId xmlns="" xmlns:a16="http://schemas.microsoft.com/office/drawing/2014/main" id="{1E4DE6F3-3BB0-2B05-BD87-45921D4C3C01}"/>
              </a:ext>
            </a:extLst>
          </p:cNvPr>
          <p:cNvSpPr/>
          <p:nvPr/>
        </p:nvSpPr>
        <p:spPr bwMode="auto">
          <a:xfrm>
            <a:off x="7989971" y="86460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7" name="流程圖: 換頁接點 52">
            <a:extLst>
              <a:ext uri="{FF2B5EF4-FFF2-40B4-BE49-F238E27FC236}">
                <a16:creationId xmlns="" xmlns:a16="http://schemas.microsoft.com/office/drawing/2014/main" id="{AC58EE03-29AB-852C-B954-3F203C7F24CB}"/>
              </a:ext>
            </a:extLst>
          </p:cNvPr>
          <p:cNvSpPr/>
          <p:nvPr/>
        </p:nvSpPr>
        <p:spPr bwMode="auto">
          <a:xfrm>
            <a:off x="8002556" y="941057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P2</a:t>
            </a:r>
            <a:endParaRPr lang="zh-TW" altLang="en-US" sz="1800">
              <a:latin typeface="微軟正黑體" panose="020B0604030504040204" pitchFamily="34" charset="-120"/>
              <a:ea typeface="微軟正黑體" panose="020B0604030504040204" pitchFamily="34" charset="-120"/>
            </a:endParaRPr>
          </a:p>
        </p:txBody>
      </p:sp>
      <p:sp>
        <p:nvSpPr>
          <p:cNvPr id="18" name="文字方塊 53">
            <a:extLst>
              <a:ext uri="{FF2B5EF4-FFF2-40B4-BE49-F238E27FC236}">
                <a16:creationId xmlns="" xmlns:a16="http://schemas.microsoft.com/office/drawing/2014/main" id="{3456038A-55BE-0A34-609A-F6B4AC23D1F1}"/>
              </a:ext>
            </a:extLst>
          </p:cNvPr>
          <p:cNvSpPr txBox="1"/>
          <p:nvPr/>
        </p:nvSpPr>
        <p:spPr>
          <a:xfrm>
            <a:off x="9526622" y="7716344"/>
            <a:ext cx="185663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決策或是判斷點</a:t>
            </a:r>
          </a:p>
        </p:txBody>
      </p:sp>
      <p:sp>
        <p:nvSpPr>
          <p:cNvPr id="19" name="文字方塊 54">
            <a:extLst>
              <a:ext uri="{FF2B5EF4-FFF2-40B4-BE49-F238E27FC236}">
                <a16:creationId xmlns="" xmlns:a16="http://schemas.microsoft.com/office/drawing/2014/main" id="{517E2A64-47A3-A953-7789-D0C0B645C2F1}"/>
              </a:ext>
            </a:extLst>
          </p:cNvPr>
          <p:cNvSpPr txBox="1"/>
          <p:nvPr/>
        </p:nvSpPr>
        <p:spPr>
          <a:xfrm>
            <a:off x="9571162" y="8696687"/>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同一頁面上的連結點</a:t>
            </a:r>
          </a:p>
        </p:txBody>
      </p:sp>
      <p:sp>
        <p:nvSpPr>
          <p:cNvPr id="20" name="文字方塊 55">
            <a:extLst>
              <a:ext uri="{FF2B5EF4-FFF2-40B4-BE49-F238E27FC236}">
                <a16:creationId xmlns="" xmlns:a16="http://schemas.microsoft.com/office/drawing/2014/main" id="{938B72A0-C4AB-D17D-D8C7-F599440CF29D}"/>
              </a:ext>
            </a:extLst>
          </p:cNvPr>
          <p:cNvSpPr txBox="1"/>
          <p:nvPr/>
        </p:nvSpPr>
        <p:spPr>
          <a:xfrm>
            <a:off x="9571162" y="9410572"/>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換頁之連接點</a:t>
            </a:r>
          </a:p>
        </p:txBody>
      </p:sp>
      <p:sp>
        <p:nvSpPr>
          <p:cNvPr id="21" name="文字方塊 21">
            <a:extLst>
              <a:ext uri="{FF2B5EF4-FFF2-40B4-BE49-F238E27FC236}">
                <a16:creationId xmlns="" xmlns:a16="http://schemas.microsoft.com/office/drawing/2014/main" id="{1F153670-BE85-306D-6126-9994ACD9935F}"/>
              </a:ext>
            </a:extLst>
          </p:cNvPr>
          <p:cNvSpPr txBox="1"/>
          <p:nvPr/>
        </p:nvSpPr>
        <p:spPr>
          <a:xfrm>
            <a:off x="16660678" y="226579"/>
            <a:ext cx="1392048"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本區塊之頁次</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日期會自動更新</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日期為最後一次更新日</a:t>
            </a:r>
          </a:p>
        </p:txBody>
      </p:sp>
      <p:sp>
        <p:nvSpPr>
          <p:cNvPr id="30" name="文字方塊 53">
            <a:extLst>
              <a:ext uri="{FF2B5EF4-FFF2-40B4-BE49-F238E27FC236}">
                <a16:creationId xmlns="" xmlns:a16="http://schemas.microsoft.com/office/drawing/2014/main" id="{7EE68195-4036-2753-C702-EBF7E6CFA458}"/>
              </a:ext>
            </a:extLst>
          </p:cNvPr>
          <p:cNvSpPr txBox="1"/>
          <p:nvPr/>
        </p:nvSpPr>
        <p:spPr>
          <a:xfrm>
            <a:off x="5545788" y="8023216"/>
            <a:ext cx="1557447" cy="553998"/>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說明號碼，位於右上角</a:t>
            </a:r>
          </a:p>
        </p:txBody>
      </p:sp>
      <p:graphicFrame>
        <p:nvGraphicFramePr>
          <p:cNvPr id="31" name="表格 30">
            <a:extLst>
              <a:ext uri="{FF2B5EF4-FFF2-40B4-BE49-F238E27FC236}">
                <a16:creationId xmlns="" xmlns:a16="http://schemas.microsoft.com/office/drawing/2014/main" id="{22A069D3-CB36-DA21-0023-3C294211F2A1}"/>
              </a:ext>
            </a:extLst>
          </p:cNvPr>
          <p:cNvGraphicFramePr>
            <a:graphicFrameLocks noGrp="1"/>
          </p:cNvGraphicFramePr>
          <p:nvPr/>
        </p:nvGraphicFramePr>
        <p:xfrm>
          <a:off x="3242505" y="8119564"/>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7" name="Group 232">
            <a:extLst>
              <a:ext uri="{FF2B5EF4-FFF2-40B4-BE49-F238E27FC236}">
                <a16:creationId xmlns="" xmlns:a16="http://schemas.microsoft.com/office/drawing/2014/main" id="{34DCA6AC-E460-4F91-E17A-E4D1D9383A32}"/>
              </a:ext>
            </a:extLst>
          </p:cNvPr>
          <p:cNvGrpSpPr/>
          <p:nvPr/>
        </p:nvGrpSpPr>
        <p:grpSpPr>
          <a:xfrm>
            <a:off x="4888172" y="7911842"/>
            <a:ext cx="557700" cy="408542"/>
            <a:chOff x="5906472" y="1486857"/>
            <a:chExt cx="371800" cy="272361"/>
          </a:xfrm>
        </p:grpSpPr>
        <p:sp>
          <p:nvSpPr>
            <p:cNvPr id="28"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4050"/>
            </a:p>
          </p:txBody>
        </p:sp>
        <p:sp>
          <p:nvSpPr>
            <p:cNvPr id="29"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a:latin typeface="微軟正黑體" panose="020B0604030504040204" pitchFamily="34" charset="-120"/>
                  <a:ea typeface="微軟正黑體" panose="020B0604030504040204" pitchFamily="34" charset="-120"/>
                </a:rPr>
                <a:t>1</a:t>
              </a:r>
              <a:endParaRPr lang="zh-TW" altLang="en-US" sz="1500">
                <a:latin typeface="微軟正黑體" panose="020B0604030504040204" pitchFamily="34" charset="-120"/>
                <a:ea typeface="微軟正黑體" panose="020B0604030504040204" pitchFamily="34" charset="-120"/>
              </a:endParaRPr>
            </a:p>
          </p:txBody>
        </p:sp>
      </p:grpSp>
      <p:grpSp>
        <p:nvGrpSpPr>
          <p:cNvPr id="5" name="Group 4">
            <a:extLst>
              <a:ext uri="{FF2B5EF4-FFF2-40B4-BE49-F238E27FC236}">
                <a16:creationId xmlns="" xmlns:a16="http://schemas.microsoft.com/office/drawing/2014/main" id="{C1E1D283-1843-CF62-4209-C268980982AA}"/>
              </a:ext>
            </a:extLst>
          </p:cNvPr>
          <p:cNvGrpSpPr/>
          <p:nvPr/>
        </p:nvGrpSpPr>
        <p:grpSpPr>
          <a:xfrm>
            <a:off x="10685297" y="835773"/>
            <a:ext cx="3401998" cy="423412"/>
            <a:chOff x="10685297" y="851013"/>
            <a:chExt cx="3401998" cy="423412"/>
          </a:xfrm>
        </p:grpSpPr>
        <p:grpSp>
          <p:nvGrpSpPr>
            <p:cNvPr id="25" name="Group 24">
              <a:extLst>
                <a:ext uri="{FF2B5EF4-FFF2-40B4-BE49-F238E27FC236}">
                  <a16:creationId xmlns="" xmlns:a16="http://schemas.microsoft.com/office/drawing/2014/main" id="{5A9886C6-C17B-051D-323D-045D45D51D03}"/>
                </a:ext>
              </a:extLst>
            </p:cNvPr>
            <p:cNvGrpSpPr/>
            <p:nvPr/>
          </p:nvGrpSpPr>
          <p:grpSpPr>
            <a:xfrm>
              <a:off x="10685297" y="851013"/>
              <a:ext cx="1291656" cy="423194"/>
              <a:chOff x="7091257" y="609842"/>
              <a:chExt cx="861104" cy="282129"/>
            </a:xfrm>
          </p:grpSpPr>
          <p:sp>
            <p:nvSpPr>
              <p:cNvPr id="35" name="文字方塊 21">
                <a:extLst>
                  <a:ext uri="{FF2B5EF4-FFF2-40B4-BE49-F238E27FC236}">
                    <a16:creationId xmlns="" xmlns:a16="http://schemas.microsoft.com/office/drawing/2014/main" id="{432DD89F-2DAD-3A56-1346-B1AF7181E7DD}"/>
                  </a:ext>
                </a:extLst>
              </p:cNvPr>
              <p:cNvSpPr txBox="1"/>
              <p:nvPr/>
            </p:nvSpPr>
            <p:spPr>
              <a:xfrm>
                <a:off x="7091257" y="609842"/>
                <a:ext cx="283411" cy="276998"/>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sp>
            <p:nvSpPr>
              <p:cNvPr id="36" name="文字方塊 22">
                <a:extLst>
                  <a:ext uri="{FF2B5EF4-FFF2-40B4-BE49-F238E27FC236}">
                    <a16:creationId xmlns="" xmlns:a16="http://schemas.microsoft.com/office/drawing/2014/main" id="{C6804075-CD1F-688A-16E7-A5FA26AA9965}"/>
                  </a:ext>
                </a:extLst>
              </p:cNvPr>
              <p:cNvSpPr txBox="1"/>
              <p:nvPr/>
            </p:nvSpPr>
            <p:spPr>
              <a:xfrm>
                <a:off x="7316290" y="625231"/>
                <a:ext cx="636071"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新流程</a:t>
                </a:r>
              </a:p>
            </p:txBody>
          </p:sp>
        </p:grpSp>
        <p:grpSp>
          <p:nvGrpSpPr>
            <p:cNvPr id="32" name="Group 31">
              <a:extLst>
                <a:ext uri="{FF2B5EF4-FFF2-40B4-BE49-F238E27FC236}">
                  <a16:creationId xmlns="" xmlns:a16="http://schemas.microsoft.com/office/drawing/2014/main" id="{9C909DE7-364E-C051-81B7-A9B0395CA373}"/>
                </a:ext>
              </a:extLst>
            </p:cNvPr>
            <p:cNvGrpSpPr/>
            <p:nvPr/>
          </p:nvGrpSpPr>
          <p:grpSpPr>
            <a:xfrm>
              <a:off x="11993820" y="858926"/>
              <a:ext cx="2093475" cy="415499"/>
              <a:chOff x="8168002" y="615119"/>
              <a:chExt cx="1395650" cy="276999"/>
            </a:xfrm>
          </p:grpSpPr>
          <p:sp>
            <p:nvSpPr>
              <p:cNvPr id="33" name="文字方塊 23">
                <a:extLst>
                  <a:ext uri="{FF2B5EF4-FFF2-40B4-BE49-F238E27FC236}">
                    <a16:creationId xmlns="" xmlns:a16="http://schemas.microsoft.com/office/drawing/2014/main" id="{B4233160-88DF-D04A-FED9-08D0065AAB4F}"/>
                  </a:ext>
                </a:extLst>
              </p:cNvPr>
              <p:cNvSpPr txBox="1"/>
              <p:nvPr/>
            </p:nvSpPr>
            <p:spPr>
              <a:xfrm>
                <a:off x="8414619" y="625231"/>
                <a:ext cx="1149033"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權責單位改變</a:t>
                </a:r>
              </a:p>
            </p:txBody>
          </p:sp>
          <p:sp>
            <p:nvSpPr>
              <p:cNvPr id="34" name="文字方塊 21">
                <a:extLst>
                  <a:ext uri="{FF2B5EF4-FFF2-40B4-BE49-F238E27FC236}">
                    <a16:creationId xmlns="" xmlns:a16="http://schemas.microsoft.com/office/drawing/2014/main" id="{2E1125B2-CD41-1A49-12C1-2EB4AF0DAA7F}"/>
                  </a:ext>
                </a:extLst>
              </p:cNvPr>
              <p:cNvSpPr txBox="1"/>
              <p:nvPr/>
            </p:nvSpPr>
            <p:spPr>
              <a:xfrm>
                <a:off x="8168002" y="615119"/>
                <a:ext cx="283411" cy="276999"/>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grpSp>
      </p:grpSp>
      <p:sp>
        <p:nvSpPr>
          <p:cNvPr id="37" name="TextBox 36">
            <a:extLst>
              <a:ext uri="{FF2B5EF4-FFF2-40B4-BE49-F238E27FC236}">
                <a16:creationId xmlns="" xmlns:a16="http://schemas.microsoft.com/office/drawing/2014/main" id="{D272B6E5-7242-B301-AF12-5963B687CE8C}"/>
              </a:ext>
            </a:extLst>
          </p:cNvPr>
          <p:cNvSpPr txBox="1"/>
          <p:nvPr/>
        </p:nvSpPr>
        <p:spPr>
          <a:xfrm>
            <a:off x="2521976" y="811465"/>
            <a:ext cx="8244896" cy="461665"/>
          </a:xfrm>
          <a:prstGeom prst="rect">
            <a:avLst/>
          </a:prstGeom>
          <a:solidFill>
            <a:srgbClr val="FFC000"/>
          </a:solidFill>
        </p:spPr>
        <p:txBody>
          <a:bodyPr wrap="square" rtlCol="0">
            <a:spAutoFit/>
          </a:bodyPr>
          <a:lstStyle/>
          <a:p>
            <a:r>
              <a:rPr lang="zh-TW" altLang="en-US" sz="2400" b="1" dirty="0">
                <a:latin typeface="Microsoft JhengHei" panose="020B0604030504040204" pitchFamily="34" charset="-120"/>
                <a:ea typeface="Microsoft JhengHei" panose="020B0604030504040204" pitchFamily="34" charset="-120"/>
              </a:rPr>
              <a:t>本區域請輸入”流程編碼”與 “流程名稱”</a:t>
            </a:r>
          </a:p>
        </p:txBody>
      </p:sp>
    </p:spTree>
    <p:extLst>
      <p:ext uri="{BB962C8B-B14F-4D97-AF65-F5344CB8AC3E}">
        <p14:creationId xmlns="" xmlns:p14="http://schemas.microsoft.com/office/powerpoint/2010/main" val="172713427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15682</TotalTime>
  <Words>560</Words>
  <Application>Microsoft Office PowerPoint</Application>
  <PresentationFormat>自訂</PresentationFormat>
  <Paragraphs>136</Paragraphs>
  <Slides>6</Slides>
  <Notes>4</Notes>
  <HiddenSlides>0</HiddenSlides>
  <MMClips>0</MMClips>
  <ScaleCrop>false</ScaleCrop>
  <HeadingPairs>
    <vt:vector size="4" baseType="variant">
      <vt:variant>
        <vt:lpstr>佈景主題</vt:lpstr>
      </vt:variant>
      <vt:variant>
        <vt:i4>1</vt:i4>
      </vt:variant>
      <vt:variant>
        <vt:lpstr>投影片標題</vt:lpstr>
      </vt:variant>
      <vt:variant>
        <vt:i4>6</vt:i4>
      </vt:variant>
    </vt:vector>
  </HeadingPairs>
  <TitlesOfParts>
    <vt:vector size="7" baseType="lpstr">
      <vt:lpstr>Office 2013 - 2022 Theme</vt:lpstr>
      <vt:lpstr>投影片 1</vt:lpstr>
      <vt:lpstr>投影片 2</vt:lpstr>
      <vt:lpstr>投影片 3</vt:lpstr>
      <vt:lpstr>投影片 4</vt:lpstr>
      <vt:lpstr>投影片 5</vt:lpstr>
      <vt:lpstr>投影片 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146</cp:revision>
  <dcterms:created xsi:type="dcterms:W3CDTF">2023-05-31T01:27:04Z</dcterms:created>
  <dcterms:modified xsi:type="dcterms:W3CDTF">2025-07-09T06:02:13Z</dcterms:modified>
</cp:coreProperties>
</file>