
<file path=[Content_Types].xml><?xml version="1.0" encoding="utf-8"?>
<Types xmlns="http://schemas.openxmlformats.org/package/2006/content-types">
  <Override PartName="/ppt/slideMasters/slideMaster3.xml" ContentType="application/vnd.openxmlformats-officedocument.presentationml.slideMaster+xml"/>
  <Override PartName="/ppt/slideLayouts/slideLayout39.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s/slide4.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slideLayouts/slideLayout64.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Override PartName="/ppt/slideLayouts/slideLayout53.xml" ContentType="application/vnd.openxmlformats-officedocument.presentationml.slideLayout+xml"/>
  <Override PartName="/ppt/slideLayouts/slideLayout62.xml" ContentType="application/vnd.openxmlformats-officedocument.presentationml.slideLayout+xml"/>
  <Override PartName="/ppt/slideLayouts/slideLayout73.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Layouts/slideLayout60.xml" ContentType="application/vnd.openxmlformats-officedocument.presentationml.slideLayout+xml"/>
  <Override PartName="/ppt/slideLayouts/slideLayout71.xml" ContentType="application/vnd.openxmlformats-officedocument.presentationml.slideLayout+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docProps/custom.xml" ContentType="application/vnd.openxmlformats-officedocument.custom-properties+xml"/>
  <Override PartName="/ppt/slideMasters/slideMaster6.xml" ContentType="application/vnd.openxmlformats-officedocument.presentationml.slideMaster+xml"/>
  <Override PartName="/ppt/slideMasters/slideMaster4.xml" ContentType="application/vnd.openxmlformats-officedocument.presentationml.slideMaster+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8.xml" ContentType="application/vnd.openxmlformats-officedocument.presentationml.slideLayout+xml"/>
  <Override PartName="/ppt/slideLayouts/slideLayout6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Layouts/slideLayout65.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63.xml" ContentType="application/vnd.openxmlformats-officedocument.presentationml.slideLayout+xml"/>
  <Override PartName="/ppt/slideLayouts/slideLayout72.xml" ContentType="application/vnd.openxmlformats-officedocument.presentationml.slideLayout+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ppt/slideLayouts/slideLayout70.xml" ContentType="application/vnd.openxmlformats-officedocument.presentationml.slideLayout+xml"/>
  <Override PartName="/docProps/app.xml" ContentType="application/vnd.openxmlformats-officedocument.extended-properties+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5.xml" ContentType="application/vnd.openxmlformats-officedocument.presentationml.slideMaster+xml"/>
  <Override PartName="/ppt/slideLayouts/slideLayout59.xml" ContentType="application/vnd.openxmlformats-officedocument.presentationml.slideLayout+xml"/>
  <Override PartName="/ppt/slideLayouts/slideLayout68.xml" ContentType="application/vnd.openxmlformats-officedocument.presentationml.slideLayout+xml"/>
  <Override PartName="/ppt/theme/theme7.xml" ContentType="application/vnd.openxmlformats-officedocument.them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Layouts/slideLayout66.xml" ContentType="application/vnd.openxmlformats-officedocument.presentationml.slideLayout+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5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9" r:id="rId1"/>
    <p:sldMasterId id="2147483921" r:id="rId2"/>
    <p:sldMasterId id="2147484103" r:id="rId3"/>
    <p:sldMasterId id="2147484207" r:id="rId4"/>
    <p:sldMasterId id="2147484285" r:id="rId5"/>
    <p:sldMasterId id="2147484467" r:id="rId6"/>
  </p:sldMasterIdLst>
  <p:notesMasterIdLst>
    <p:notesMasterId r:id="rId14"/>
  </p:notesMasterIdLst>
  <p:sldIdLst>
    <p:sldId id="256" r:id="rId7"/>
    <p:sldId id="257" r:id="rId8"/>
    <p:sldId id="258" r:id="rId9"/>
    <p:sldId id="271" r:id="rId10"/>
    <p:sldId id="272" r:id="rId11"/>
    <p:sldId id="263" r:id="rId12"/>
    <p:sldId id="264" r:id="rId13"/>
  </p:sldIdLst>
  <p:sldSz cx="18288000" cy="10288588"/>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30" autoAdjust="0"/>
    <p:restoredTop sz="94737" autoAdjust="0"/>
  </p:normalViewPr>
  <p:slideViewPr>
    <p:cSldViewPr>
      <p:cViewPr>
        <p:scale>
          <a:sx n="35" d="100"/>
          <a:sy n="35" d="100"/>
        </p:scale>
        <p:origin x="-1108" y="-496"/>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5" Type="http://schemas.openxmlformats.org/officeDocument/2006/relationships/slideMaster" Target="slideMasters/slideMaster5.xml"/><Relationship Id="rId15" Type="http://schemas.openxmlformats.org/officeDocument/2006/relationships/presProps" Target="presProps.xml"/><Relationship Id="rId10" Type="http://schemas.openxmlformats.org/officeDocument/2006/relationships/slide" Target="slides/slide4.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5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zh-TW" sz="4400" b="0" strike="noStrike" spc="-1">
                <a:solidFill>
                  <a:srgbClr val="000000"/>
                </a:solidFill>
                <a:latin typeface="Calibri"/>
              </a:rPr>
              <a:t>請按這裡移動投影片</a:t>
            </a:r>
            <a:endParaRPr lang="en-US" sz="4400" b="0" strike="noStrike" spc="-1">
              <a:solidFill>
                <a:srgbClr val="000000"/>
              </a:solidFill>
              <a:latin typeface="Calibri"/>
            </a:endParaRPr>
          </a:p>
        </p:txBody>
      </p:sp>
      <p:sp>
        <p:nvSpPr>
          <p:cNvPr id="285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zh-TW" sz="2000" b="0" strike="noStrike" spc="-1">
                <a:solidFill>
                  <a:srgbClr val="000000"/>
                </a:solidFill>
                <a:latin typeface="Calibri"/>
              </a:rPr>
              <a:t>請按這裡編輯備註格式</a:t>
            </a:r>
            <a:endParaRPr lang="en-US" sz="2000" b="0" strike="noStrike" spc="-1">
              <a:solidFill>
                <a:srgbClr val="000000"/>
              </a:solidFill>
              <a:latin typeface="Calibri"/>
            </a:endParaRPr>
          </a:p>
        </p:txBody>
      </p:sp>
      <p:sp>
        <p:nvSpPr>
          <p:cNvPr id="285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Calibri"/>
              </a:rPr>
              <a:t>&lt;頁首&gt;</a:t>
            </a:r>
          </a:p>
        </p:txBody>
      </p:sp>
      <p:sp>
        <p:nvSpPr>
          <p:cNvPr id="2853" name="PlaceHolder 4"/>
          <p:cNvSpPr>
            <a:spLocks noGrp="1"/>
          </p:cNvSpPr>
          <p:nvPr>
            <p:ph type="dt" idx="25"/>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Calibri"/>
              </a:defRPr>
            </a:lvl1pPr>
          </a:lstStyle>
          <a:p>
            <a:pPr indent="0" algn="r">
              <a:buNone/>
            </a:pPr>
            <a:r>
              <a:rPr lang="en-US" sz="1400" b="0" strike="noStrike" spc="-1">
                <a:solidFill>
                  <a:srgbClr val="000000"/>
                </a:solidFill>
                <a:latin typeface="Calibri"/>
              </a:rPr>
              <a:t>&lt;日期/時間&gt;</a:t>
            </a:r>
          </a:p>
        </p:txBody>
      </p:sp>
      <p:sp>
        <p:nvSpPr>
          <p:cNvPr id="2854" name="PlaceHolder 5"/>
          <p:cNvSpPr>
            <a:spLocks noGrp="1"/>
          </p:cNvSpPr>
          <p:nvPr>
            <p:ph type="ftr" idx="26"/>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&lt;頁尾&gt;</a:t>
            </a:r>
          </a:p>
        </p:txBody>
      </p:sp>
      <p:sp>
        <p:nvSpPr>
          <p:cNvPr id="2855" name="PlaceHolder 6"/>
          <p:cNvSpPr>
            <a:spLocks noGrp="1"/>
          </p:cNvSpPr>
          <p:nvPr>
            <p:ph type="sldNum" idx="27"/>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Calibri"/>
              </a:defRPr>
            </a:lvl1pPr>
          </a:lstStyle>
          <a:p>
            <a:pPr indent="0" algn="r">
              <a:buNone/>
            </a:pPr>
            <a:fld id="{FB232C99-2376-461D-B3FA-3C25B4154633}" type="slidenum">
              <a:rPr lang="en-US" sz="1400" b="0" strike="noStrike" spc="-1">
                <a:solidFill>
                  <a:srgbClr val="000000"/>
                </a:solidFill>
                <a:latin typeface="Calibri"/>
              </a:rPr>
              <a:pPr indent="0" algn="r">
                <a:buNone/>
              </a:pPr>
              <a:t>‹#›</a:t>
            </a:fld>
            <a:endParaRPr lang="en-US" sz="14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6" name="PlaceHolder 1"/>
          <p:cNvSpPr>
            <a:spLocks noGrp="1" noRot="1" noChangeAspect="1"/>
          </p:cNvSpPr>
          <p:nvPr>
            <p:ph type="sldImg"/>
          </p:nvPr>
        </p:nvSpPr>
        <p:spPr>
          <a:xfrm>
            <a:off x="685800" y="1143000"/>
            <a:ext cx="5486400" cy="3086100"/>
          </a:xfrm>
          <a:prstGeom prst="rect">
            <a:avLst/>
          </a:prstGeom>
          <a:ln w="0">
            <a:noFill/>
          </a:ln>
        </p:spPr>
      </p:sp>
      <p:sp>
        <p:nvSpPr>
          <p:cNvPr id="3007" name="PlaceHolder 2"/>
          <p:cNvSpPr>
            <a:spLocks noGrp="1"/>
          </p:cNvSpPr>
          <p:nvPr>
            <p:ph type="body"/>
          </p:nvPr>
        </p:nvSpPr>
        <p:spPr>
          <a:xfrm>
            <a:off x="685800" y="4400640"/>
            <a:ext cx="5485680" cy="359964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Calibri"/>
            </a:endParaRPr>
          </a:p>
        </p:txBody>
      </p:sp>
      <p:sp>
        <p:nvSpPr>
          <p:cNvPr id="3008" name="PlaceHolder 3"/>
          <p:cNvSpPr>
            <a:spLocks noGrp="1"/>
          </p:cNvSpPr>
          <p:nvPr>
            <p:ph type="sldNum" idx="28"/>
          </p:nvPr>
        </p:nvSpPr>
        <p:spPr>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Calibri"/>
              </a:defRPr>
            </a:lvl1pPr>
          </a:lstStyle>
          <a:p>
            <a:pPr indent="0" algn="r">
              <a:lnSpc>
                <a:spcPct val="100000"/>
              </a:lnSpc>
              <a:buNone/>
              <a:tabLst>
                <a:tab pos="0" algn="l"/>
              </a:tabLst>
            </a:pPr>
            <a:fld id="{1ABC4F31-EF1B-4B0A-996A-DE525BD4B68E}" type="slidenum">
              <a:rPr lang="en-US" sz="1200" b="0" strike="noStrike" spc="-1">
                <a:solidFill>
                  <a:srgbClr val="000000"/>
                </a:solidFill>
                <a:latin typeface="Calibri"/>
              </a:rPr>
              <a:pPr indent="0" algn="r">
                <a:lnSpc>
                  <a:spcPct val="100000"/>
                </a:lnSpc>
                <a:buNone/>
                <a:tabLst>
                  <a:tab pos="0" algn="l"/>
                </a:tabLst>
              </a:pPr>
              <a:t>1</a:t>
            </a:fld>
            <a:endParaRPr lang="en-US" sz="1200" b="0" strike="noStrike" spc="-1">
              <a:solidFill>
                <a:srgbClr val="000000"/>
              </a:solidFill>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5840851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2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5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5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6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6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87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7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8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9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6"/>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43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43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4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4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4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5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5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7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13"/>
          </p:nvPr>
        </p:nvSpPr>
        <p:spPr/>
        <p:txBody>
          <a:body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76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62"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13"/>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76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64"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13"/>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76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66"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67"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3"/>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76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13"/>
          </p:nvPr>
        </p:nvSpPr>
        <p:spPr/>
        <p:txBody>
          <a:body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769"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13"/>
          </p:nvPr>
        </p:nvSpPr>
        <p:spPr/>
        <p:txBody>
          <a:body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77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71"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72"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73"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3"/>
          </p:nvPr>
        </p:nvSpPr>
        <p:spPr/>
        <p:txBody>
          <a:body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7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75"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76"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77"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3"/>
          </p:nvPr>
        </p:nvSpPr>
        <p:spPr/>
        <p:txBody>
          <a:body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77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79"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8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81"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3"/>
          </p:nvPr>
        </p:nvSpPr>
        <p:spPr/>
        <p:txBody>
          <a:body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78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83"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84"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3"/>
          </p:nvPr>
        </p:nvSpPr>
        <p:spPr/>
        <p:txBody>
          <a:body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7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86"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87"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88"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89"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13"/>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79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91"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92"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93"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94"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95"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96"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13"/>
          </p:nvPr>
        </p:nvSpPr>
        <p:spPr/>
        <p:txBody>
          <a:body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39"/>
        <p:cNvGrpSpPr/>
        <p:nvPr/>
      </p:nvGrpSpPr>
      <p:grpSpPr>
        <a:xfrm>
          <a:off x="0" y="0"/>
          <a:ext cx="0" cy="0"/>
          <a:chOff x="0" y="0"/>
          <a:chExt cx="0" cy="0"/>
        </a:xfrm>
      </p:grpSpPr>
      <p:sp>
        <p:nvSpPr>
          <p:cNvPr id="40" name="Google Shape;40;p10"/>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graphicFrame>
        <p:nvGraphicFramePr>
          <p:cNvPr id="43" name="Google Shape;43;p10"/>
          <p:cNvGraphicFramePr/>
          <p:nvPr>
            <p:extLst>
              <p:ext uri="{D42A27DB-BD31-4B8C-83A1-F6EECF244321}">
                <p14:modId xmlns:p14="http://schemas.microsoft.com/office/powerpoint/2010/main" xmlns="" val="1351047670"/>
              </p:ext>
            </p:extLst>
          </p:nvPr>
        </p:nvGraphicFramePr>
        <p:xfrm>
          <a:off x="192504" y="180467"/>
          <a:ext cx="17917688" cy="1420720"/>
        </p:xfrm>
        <a:graphic>
          <a:graphicData uri="http://schemas.openxmlformats.org/drawingml/2006/table">
            <a:tbl>
              <a:tblPr>
                <a:noFill/>
              </a:tblPr>
              <a:tblGrid>
                <a:gridCol w="2126250">
                  <a:extLst>
                    <a:ext uri="{9D8B030D-6E8A-4147-A177-3AD203B41FA5}">
                      <a16:colId xmlns:a16="http://schemas.microsoft.com/office/drawing/2014/main" xmlns="" val="20000"/>
                    </a:ext>
                  </a:extLst>
                </a:gridCol>
                <a:gridCol w="13144425">
                  <a:extLst>
                    <a:ext uri="{9D8B030D-6E8A-4147-A177-3AD203B41FA5}">
                      <a16:colId xmlns:a16="http://schemas.microsoft.com/office/drawing/2014/main" xmlns="" val="20001"/>
                    </a:ext>
                  </a:extLst>
                </a:gridCol>
                <a:gridCol w="2647013">
                  <a:extLst>
                    <a:ext uri="{9D8B030D-6E8A-4147-A177-3AD203B41FA5}">
                      <a16:colId xmlns:a16="http://schemas.microsoft.com/office/drawing/2014/main" xmlns="" val="20002"/>
                    </a:ext>
                  </a:extLst>
                </a:gridCol>
              </a:tblGrid>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Company / 公司名稱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100" b="1" dirty="0">
                          <a:solidFill>
                            <a:schemeClr val="dk1"/>
                          </a:solidFill>
                          <a:latin typeface="Microsoft JhengHei"/>
                          <a:ea typeface="Microsoft JhengHei"/>
                          <a:cs typeface="Microsoft JhengHei"/>
                          <a:sym typeface="Microsoft JhengHei"/>
                        </a:rPr>
                        <a:t>Dean Shoes </a:t>
                      </a:r>
                      <a:r>
                        <a:rPr lang="zh-TW" altLang="en-US" sz="2100" b="1" dirty="0">
                          <a:solidFill>
                            <a:schemeClr val="dk1"/>
                          </a:solidFill>
                          <a:latin typeface="Microsoft JhengHei"/>
                          <a:ea typeface="Microsoft JhengHei"/>
                          <a:cs typeface="Microsoft JhengHei"/>
                          <a:sym typeface="Microsoft JhengHei"/>
                        </a:rPr>
                        <a:t>隆典集團</a:t>
                      </a: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endParaRPr sz="150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0000"/>
                  </a:ext>
                </a:extLst>
              </a:tr>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Process ID / Name</a:t>
                      </a:r>
                      <a:endParaRPr sz="2700"/>
                    </a:p>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流程代碼 / 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500" dirty="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a16="http://schemas.microsoft.com/office/drawing/2014/main" xmlns="" val="10001"/>
                  </a:ext>
                </a:extLst>
              </a:tr>
            </a:tbl>
          </a:graphicData>
        </a:graphic>
      </p:graphicFrame>
      <p:sp>
        <p:nvSpPr>
          <p:cNvPr id="44" name="Google Shape;44;p10"/>
          <p:cNvSpPr/>
          <p:nvPr/>
        </p:nvSpPr>
        <p:spPr>
          <a:xfrm>
            <a:off x="15493776" y="846424"/>
            <a:ext cx="2601720" cy="664224"/>
          </a:xfrm>
          <a:prstGeom prst="rect">
            <a:avLst/>
          </a:prstGeom>
          <a:noFill/>
          <a:ln>
            <a:noFill/>
          </a:ln>
        </p:spPr>
        <p:txBody>
          <a:bodyPr spcFirstLastPara="1" wrap="square" lIns="137138" tIns="68550" rIns="137138" bIns="68550" anchor="t" anchorCtr="0">
            <a:spAutoFit/>
          </a:bodyPr>
          <a:lstStyle/>
          <a:p>
            <a:pPr marL="0" marR="0" lvl="0" indent="0" algn="l" rtl="0">
              <a:lnSpc>
                <a:spcPct val="100000"/>
              </a:lnSpc>
              <a:spcBef>
                <a:spcPts val="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PAGE </a:t>
            </a:r>
            <a:r>
              <a:rPr lang="en-US" sz="1500" b="0" i="0" u="none" strike="noStrike" cap="none" dirty="0" err="1">
                <a:solidFill>
                  <a:schemeClr val="dk1"/>
                </a:solidFill>
                <a:latin typeface="Microsoft JhengHei"/>
                <a:ea typeface="Microsoft JhengHei"/>
                <a:cs typeface="Microsoft JhengHei"/>
                <a:sym typeface="Microsoft JhengHei"/>
              </a:rPr>
              <a:t>頁次</a:t>
            </a:r>
            <a:r>
              <a:rPr lang="en-US" sz="1500" b="0" i="0" u="none" strike="noStrike" cap="none" dirty="0">
                <a:solidFill>
                  <a:schemeClr val="dk1"/>
                </a:solidFill>
                <a:latin typeface="Microsoft JhengHei"/>
                <a:ea typeface="Microsoft JhengHei"/>
                <a:cs typeface="Microsoft JhengHei"/>
                <a:sym typeface="Microsoft JhengHei"/>
              </a:rPr>
              <a:t> ：</a:t>
            </a:r>
            <a:endParaRPr dirty="0"/>
          </a:p>
          <a:p>
            <a:pPr marL="0" marR="0" lvl="0" indent="0" algn="l" rtl="0">
              <a:lnSpc>
                <a:spcPct val="100000"/>
              </a:lnSpc>
              <a:spcBef>
                <a:spcPts val="45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Latest Update :</a:t>
            </a:r>
            <a:endParaRPr dirty="0"/>
          </a:p>
        </p:txBody>
      </p:sp>
      <p:sp>
        <p:nvSpPr>
          <p:cNvPr id="45" name="Google Shape;45;p10"/>
          <p:cNvSpPr txBox="1"/>
          <p:nvPr/>
        </p:nvSpPr>
        <p:spPr>
          <a:xfrm>
            <a:off x="16597995" y="740748"/>
            <a:ext cx="648072" cy="547772"/>
          </a:xfrm>
          <a:prstGeom prst="rect">
            <a:avLst/>
          </a:prstGeom>
          <a:noFill/>
          <a:ln>
            <a:noFill/>
          </a:ln>
        </p:spPr>
        <p:txBody>
          <a:bodyPr spcFirstLastPara="1" wrap="square" lIns="137138" tIns="68550" rIns="137138" bIns="68550" anchor="ctr" anchorCtr="0">
            <a:noAutofit/>
          </a:bodyPr>
          <a:lstStyle/>
          <a:p>
            <a:pPr marL="0" marR="0" lvl="0" indent="0" algn="r" rtl="0">
              <a:spcBef>
                <a:spcPts val="0"/>
              </a:spcBef>
              <a:spcAft>
                <a:spcPts val="0"/>
              </a:spcAft>
              <a:buNone/>
            </a:pPr>
            <a:endParaRPr sz="1500" b="0" i="0" u="none" strike="noStrike" cap="none" dirty="0">
              <a:solidFill>
                <a:srgbClr val="888888"/>
              </a:solidFill>
              <a:latin typeface="Arial"/>
              <a:ea typeface="Arial"/>
              <a:cs typeface="Arial"/>
              <a:sym typeface="Arial"/>
            </a:endParaRPr>
          </a:p>
        </p:txBody>
      </p:sp>
      <p:pic>
        <p:nvPicPr>
          <p:cNvPr id="46" name="Google Shape;46;p10" descr="A red and black logo&#10;&#10;Description automatically generated"/>
          <p:cNvPicPr preferRelativeResize="0"/>
          <p:nvPr/>
        </p:nvPicPr>
        <p:blipFill rotWithShape="1">
          <a:blip r:embed="rId2">
            <a:alphaModFix/>
          </a:blip>
          <a:srcRect/>
          <a:stretch/>
        </p:blipFill>
        <p:spPr>
          <a:xfrm>
            <a:off x="17304487" y="200232"/>
            <a:ext cx="785222" cy="684371"/>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18"/>
          </p:nvPr>
        </p:nvSpPr>
        <p:spPr/>
        <p:txBody>
          <a:body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1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01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1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2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02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2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2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3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03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0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0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5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18"/>
          </p:nvPr>
        </p:nvSpPr>
        <p:spPr/>
        <p:txBody>
          <a:body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58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2"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5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4"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5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6"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87"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58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589"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9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1"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2"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3"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5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5"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6"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7"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5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9"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1"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3"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4"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0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6"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7"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8"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9"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11"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2"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3"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4"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5"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6"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5" Type="http://schemas.openxmlformats.org/officeDocument/2006/relationships/image" Target="../media/image3.png"/><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theme" Target="../theme/theme5.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image" Target="../media/image3.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theme" Target="../theme/theme6.xml"/><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slideLayout" Target="../slideLayouts/slideLayout73.xml"/><Relationship Id="rId2" Type="http://schemas.openxmlformats.org/officeDocument/2006/relationships/slideLayout" Target="../slideLayouts/slideLayout63.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0" Type="http://schemas.openxmlformats.org/officeDocument/2006/relationships/slideLayout" Target="../slideLayouts/slideLayout71.xml"/><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2" name="圖片 8"/>
          <p:cNvPicPr/>
          <p:nvPr/>
        </p:nvPicPr>
        <p:blipFill>
          <a:blip r:embed="rId14"/>
          <a:stretch/>
        </p:blipFill>
        <p:spPr>
          <a:xfrm>
            <a:off x="0" y="0"/>
            <a:ext cx="18287280" cy="10287720"/>
          </a:xfrm>
          <a:prstGeom prst="rect">
            <a:avLst/>
          </a:prstGeom>
          <a:ln w="0">
            <a:noFill/>
          </a:ln>
        </p:spPr>
      </p:pic>
      <p:sp>
        <p:nvSpPr>
          <p:cNvPr id="2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8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50" name="圖片 2"/>
          <p:cNvPicPr/>
          <p:nvPr/>
        </p:nvPicPr>
        <p:blipFill>
          <a:blip r:embed="rId14"/>
          <a:stretch/>
        </p:blipFill>
        <p:spPr>
          <a:xfrm>
            <a:off x="0" y="1440"/>
            <a:ext cx="18287280" cy="10285200"/>
          </a:xfrm>
          <a:prstGeom prst="rect">
            <a:avLst/>
          </a:prstGeom>
          <a:ln w="0">
            <a:noFill/>
          </a:ln>
        </p:spPr>
      </p:pic>
      <p:sp>
        <p:nvSpPr>
          <p:cNvPr id="851" name="TextBox 1"/>
          <p:cNvSpPr/>
          <p:nvPr/>
        </p:nvSpPr>
        <p:spPr>
          <a:xfrm>
            <a:off x="660600" y="600840"/>
            <a:ext cx="3228840" cy="100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6000" b="1" strike="noStrike" spc="-1">
                <a:solidFill>
                  <a:schemeClr val="dk1"/>
                </a:solidFill>
                <a:latin typeface="Microsoft JhengHei"/>
                <a:ea typeface="Microsoft JhengHei"/>
              </a:rPr>
              <a:t>重要聲明</a:t>
            </a:r>
            <a:endParaRPr lang="en-US" sz="6000" b="0" strike="noStrike" spc="-1">
              <a:solidFill>
                <a:srgbClr val="000000"/>
              </a:solidFill>
              <a:latin typeface="Calibri"/>
            </a:endParaRPr>
          </a:p>
        </p:txBody>
      </p:sp>
      <p:sp>
        <p:nvSpPr>
          <p:cNvPr id="852" name="TextBox 3"/>
          <p:cNvSpPr/>
          <p:nvPr/>
        </p:nvSpPr>
        <p:spPr>
          <a:xfrm>
            <a:off x="561240" y="3205080"/>
            <a:ext cx="17165160" cy="338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rgbClr val="000000"/>
                </a:solidFill>
                <a:latin typeface="微軟正黑體"/>
                <a:ea typeface="微軟正黑體"/>
              </a:rPr>
              <a:t>本簡報依據</a:t>
            </a:r>
            <a:r>
              <a:rPr lang="zh-TW" sz="2400" b="1" strike="noStrike" spc="-1">
                <a:solidFill>
                  <a:schemeClr val="dk1"/>
                </a:solidFill>
                <a:latin typeface="微軟正黑體"/>
                <a:ea typeface="微軟正黑體"/>
              </a:rPr>
              <a:t>裕榮昌科技股份有限公司台中分公司</a:t>
            </a:r>
            <a:r>
              <a:rPr lang="zh-TW" sz="2400" b="1" strike="noStrike" spc="-1">
                <a:solidFill>
                  <a:srgbClr val="000000"/>
                </a:solidFill>
                <a:latin typeface="微軟正黑體"/>
                <a:ea typeface="微軟正黑體"/>
              </a:rPr>
              <a:t>之需求所編製。</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本份簡報係於</a:t>
            </a:r>
            <a:r>
              <a:rPr lang="en-US" sz="2400" b="1" strike="noStrike" spc="-1">
                <a:solidFill>
                  <a:schemeClr val="dk1"/>
                </a:solidFill>
                <a:latin typeface="微軟正黑體"/>
                <a:ea typeface="微軟正黑體"/>
              </a:rPr>
              <a:t>2025</a:t>
            </a:r>
            <a:r>
              <a:rPr lang="zh-TW" sz="2400" b="1" strike="noStrike" spc="-1">
                <a:solidFill>
                  <a:schemeClr val="dk1"/>
                </a:solidFill>
                <a:latin typeface="微軟正黑體"/>
                <a:ea typeface="微軟正黑體"/>
              </a:rPr>
              <a:t>年</a:t>
            </a:r>
            <a:r>
              <a:rPr lang="en-US" sz="2400" b="1" strike="noStrike" spc="-1">
                <a:solidFill>
                  <a:schemeClr val="dk1"/>
                </a:solidFill>
                <a:latin typeface="微軟正黑體"/>
                <a:ea typeface="微軟正黑體"/>
              </a:rPr>
              <a:t>4</a:t>
            </a:r>
            <a:r>
              <a:rPr lang="zh-TW" sz="2400" b="1" strike="noStrike" spc="-1">
                <a:solidFill>
                  <a:schemeClr val="dk1"/>
                </a:solidFill>
                <a:latin typeface="微軟正黑體"/>
                <a:ea typeface="微軟正黑體"/>
              </a:rPr>
              <a:t>月</a:t>
            </a:r>
            <a:r>
              <a:rPr lang="en-US" sz="2400" b="1" strike="noStrike" spc="-1">
                <a:solidFill>
                  <a:schemeClr val="dk1"/>
                </a:solidFill>
                <a:latin typeface="微軟正黑體"/>
                <a:ea typeface="微軟正黑體"/>
              </a:rPr>
              <a:t>1</a:t>
            </a:r>
            <a:r>
              <a:rPr lang="zh-TW" sz="2400" b="1" strike="noStrike" spc="-1">
                <a:solidFill>
                  <a:schemeClr val="dk1"/>
                </a:solidFill>
                <a:latin typeface="微軟正黑體"/>
                <a:ea typeface="微軟正黑體"/>
              </a:rPr>
              <a:t>日簽訂之服務委任合約製作完成，僅提供賜昌集團內部參考使用。</a:t>
            </a:r>
            <a:endParaRPr lang="en-US" sz="2400" b="0" strike="noStrike" spc="-1">
              <a:solidFill>
                <a:srgbClr val="000000"/>
              </a:solidFill>
              <a:latin typeface="Calibri"/>
            </a:endParaRPr>
          </a:p>
          <a:p>
            <a:pPr algn="just"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defTabSz="457200">
              <a:lnSpc>
                <a:spcPct val="100000"/>
              </a:lnSpc>
            </a:pPr>
            <a:r>
              <a:rPr lang="zh-TW" sz="2400" b="1" strike="noStrike" spc="-1">
                <a:solidFill>
                  <a:srgbClr val="000000"/>
                </a:solidFill>
                <a:latin typeface="微軟正黑體"/>
                <a:ea typeface="微軟正黑體"/>
              </a:rPr>
              <a:t>未經本公司書面同意，  貴公司以及專案所有成員不得將本簡報之全部或部分提供予任何第三人或使第三人得知其內容。</a:t>
            </a:r>
            <a:endParaRPr lang="en-US" sz="2400" b="0" strike="noStrike" spc="-1">
              <a:solidFill>
                <a:srgbClr val="000000"/>
              </a:solidFill>
              <a:latin typeface="Calibri"/>
            </a:endParaRPr>
          </a:p>
        </p:txBody>
      </p:sp>
      <p:sp>
        <p:nvSpPr>
          <p:cNvPr id="85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85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30" name="Google Shape;35;p9"/>
          <p:cNvGraphicFramePr/>
          <p:nvPr/>
        </p:nvGraphicFramePr>
        <p:xfrm>
          <a:off x="122400" y="114480"/>
          <a:ext cx="18019800" cy="10040760"/>
        </p:xfrm>
        <a:graphic>
          <a:graphicData uri="http://schemas.openxmlformats.org/drawingml/2006/table">
            <a:tbl>
              <a:tblPr/>
              <a:tblGrid>
                <a:gridCol w="2311200"/>
                <a:gridCol w="1188936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8799120">
                <a:tc gridSpan="3">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pic>
        <p:nvPicPr>
          <p:cNvPr id="1431" name="Google Shape;37;p9" descr="A red and black logo&#10;&#10;Description automatically generated"/>
          <p:cNvPicPr/>
          <p:nvPr/>
        </p:nvPicPr>
        <p:blipFill>
          <a:blip r:embed="rId14"/>
          <a:stretch/>
        </p:blipFill>
        <p:spPr>
          <a:xfrm>
            <a:off x="7067520" y="213120"/>
            <a:ext cx="482040" cy="419400"/>
          </a:xfrm>
          <a:prstGeom prst="rect">
            <a:avLst/>
          </a:prstGeom>
          <a:ln w="0">
            <a:noFill/>
          </a:ln>
        </p:spPr>
      </p:pic>
      <p:sp>
        <p:nvSpPr>
          <p:cNvPr id="1432" name="PlaceHolder 1"/>
          <p:cNvSpPr>
            <a:spLocks noGrp="1"/>
          </p:cNvSpPr>
          <p:nvPr>
            <p:ph type="dt" idx="6"/>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143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143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104" r:id="rId1"/>
    <p:sldLayoutId id="2147484105" r:id="rId2"/>
    <p:sldLayoutId id="2147484106" r:id="rId3"/>
    <p:sldLayoutId id="2147484107" r:id="rId4"/>
    <p:sldLayoutId id="2147484108" r:id="rId5"/>
    <p:sldLayoutId id="2147484109" r:id="rId6"/>
    <p:sldLayoutId id="2147484110" r:id="rId7"/>
    <p:sldLayoutId id="2147484111" r:id="rId8"/>
    <p:sldLayoutId id="2147484112" r:id="rId9"/>
    <p:sldLayoutId id="2147484113" r:id="rId10"/>
    <p:sldLayoutId id="2147484114" r:id="rId11"/>
    <p:sldLayoutId id="2147484115" r:id="rId12"/>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754" name="Google Shape;35;p9"/>
          <p:cNvGraphicFramePr/>
          <p:nvPr/>
        </p:nvGraphicFramePr>
        <p:xfrm>
          <a:off x="122400" y="114480"/>
          <a:ext cx="18019440" cy="10040760"/>
        </p:xfrm>
        <a:graphic>
          <a:graphicData uri="http://schemas.openxmlformats.org/drawingml/2006/table">
            <a:tbl>
              <a:tblPr/>
              <a:tblGrid>
                <a:gridCol w="2311200"/>
                <a:gridCol w="9468720"/>
                <a:gridCol w="242028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7008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Input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Output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Activities</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8429040">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bl>
          </a:graphicData>
        </a:graphic>
      </p:graphicFrame>
      <p:pic>
        <p:nvPicPr>
          <p:cNvPr id="1755" name="Google Shape;37;p9" descr="A red and black logo&#10;&#10;Description automatically generated"/>
          <p:cNvPicPr/>
          <p:nvPr/>
        </p:nvPicPr>
        <p:blipFill>
          <a:blip r:embed="rId15"/>
          <a:stretch/>
        </p:blipFill>
        <p:spPr>
          <a:xfrm>
            <a:off x="7067520" y="213120"/>
            <a:ext cx="482040" cy="419400"/>
          </a:xfrm>
          <a:prstGeom prst="rect">
            <a:avLst/>
          </a:prstGeom>
          <a:ln w="0">
            <a:noFill/>
          </a:ln>
        </p:spPr>
      </p:pic>
      <p:sp>
        <p:nvSpPr>
          <p:cNvPr id="1756" name="PlaceHolder 1"/>
          <p:cNvSpPr>
            <a:spLocks noGrp="1"/>
          </p:cNvSpPr>
          <p:nvPr>
            <p:ph type="title"/>
          </p:nvPr>
        </p:nvSpPr>
        <p:spPr>
          <a:xfrm>
            <a:off x="914400" y="410400"/>
            <a:ext cx="16458480" cy="1717200"/>
          </a:xfrm>
          <a:prstGeom prst="rect">
            <a:avLst/>
          </a:prstGeom>
          <a:noFill/>
          <a:ln w="0">
            <a:noFill/>
          </a:ln>
        </p:spPr>
        <p:txBody>
          <a:bodyPr lIns="0" tIns="0" rIns="0" bIns="0" anchor="ctr">
            <a:noAutofit/>
          </a:bodyPr>
          <a:lstStyle/>
          <a:p>
            <a:pPr indent="0">
              <a:buNone/>
            </a:pPr>
            <a:r>
              <a:rPr lang="zh-TW" sz="1800" b="0" strike="noStrike" spc="-1">
                <a:solidFill>
                  <a:srgbClr val="000000"/>
                </a:solidFill>
                <a:latin typeface="Calibri"/>
              </a:rPr>
              <a:t>請按這裡編輯題名文字格式</a:t>
            </a:r>
            <a:endParaRPr lang="en-US" sz="1800" b="0" strike="noStrike" spc="-1">
              <a:solidFill>
                <a:srgbClr val="000000"/>
              </a:solidFill>
              <a:latin typeface="Calibri"/>
            </a:endParaRPr>
          </a:p>
        </p:txBody>
      </p:sp>
      <p:sp>
        <p:nvSpPr>
          <p:cNvPr id="1757" name="PlaceHolder 2"/>
          <p:cNvSpPr>
            <a:spLocks noGrp="1"/>
          </p:cNvSpPr>
          <p:nvPr>
            <p:ph type="body"/>
          </p:nvPr>
        </p:nvSpPr>
        <p:spPr>
          <a:xfrm>
            <a:off x="914400" y="2407320"/>
            <a:ext cx="8031240" cy="5966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1800" b="0" strike="noStrike" spc="-1">
                <a:solidFill>
                  <a:srgbClr val="000000"/>
                </a:solidFill>
                <a:latin typeface="Calibri"/>
              </a:rPr>
              <a:t>請按這裡編輯大綱文字格式</a:t>
            </a:r>
            <a:endParaRPr lang="en-US" sz="18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1800" b="0" strike="noStrike" spc="-1">
                <a:solidFill>
                  <a:srgbClr val="000000"/>
                </a:solidFill>
                <a:latin typeface="Calibri"/>
              </a:rPr>
              <a:t>第二個大綱層次</a:t>
            </a:r>
            <a:endParaRPr lang="en-US" sz="1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1800" b="0" strike="noStrike" spc="-1">
                <a:solidFill>
                  <a:srgbClr val="000000"/>
                </a:solidFill>
                <a:latin typeface="Calibri"/>
              </a:rPr>
              <a:t>第三個大綱層次</a:t>
            </a:r>
            <a:endParaRPr lang="en-US" sz="18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1800" b="0" strike="noStrike" spc="-1">
                <a:solidFill>
                  <a:srgbClr val="000000"/>
                </a:solidFill>
                <a:latin typeface="Calibri"/>
              </a:rPr>
              <a:t>第四個大綱層次</a:t>
            </a:r>
            <a:endParaRPr lang="en-US" sz="18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1800" b="0" strike="noStrike" spc="-1">
                <a:solidFill>
                  <a:srgbClr val="000000"/>
                </a:solidFill>
                <a:latin typeface="Calibri"/>
              </a:rPr>
              <a:t>第五個大綱層次</a:t>
            </a:r>
            <a:endParaRPr lang="en-US" sz="18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1800" b="0" strike="noStrike" spc="-1">
                <a:solidFill>
                  <a:srgbClr val="000000"/>
                </a:solidFill>
                <a:latin typeface="Calibri"/>
              </a:rPr>
              <a:t>第六個大綱層次</a:t>
            </a:r>
            <a:endParaRPr lang="en-US" sz="18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1800" b="0" strike="noStrike" spc="-1">
                <a:solidFill>
                  <a:srgbClr val="000000"/>
                </a:solidFill>
                <a:latin typeface="Calibri"/>
              </a:rPr>
              <a:t>第七個大綱層次</a:t>
            </a:r>
            <a:endParaRPr lang="en-US" sz="1800" b="0" strike="noStrike" spc="-1">
              <a:solidFill>
                <a:srgbClr val="000000"/>
              </a:solidFill>
              <a:latin typeface="Calibri"/>
            </a:endParaRPr>
          </a:p>
        </p:txBody>
      </p:sp>
      <p:sp>
        <p:nvSpPr>
          <p:cNvPr id="1758" name="PlaceHolder 3"/>
          <p:cNvSpPr>
            <a:spLocks noGrp="1"/>
          </p:cNvSpPr>
          <p:nvPr>
            <p:ph type="body"/>
          </p:nvPr>
        </p:nvSpPr>
        <p:spPr>
          <a:xfrm>
            <a:off x="9348120" y="2407320"/>
            <a:ext cx="8031240" cy="2845440"/>
          </a:xfrm>
          <a:prstGeom prst="rect">
            <a:avLst/>
          </a:prstGeom>
          <a:noFill/>
          <a:ln w="0">
            <a:noFill/>
          </a:ln>
        </p:spPr>
        <p:txBody>
          <a:bodyPr lIns="0" tIns="0" rIns="0" bIns="0" anchor="t">
            <a:normAutofit fontScale="96666"/>
          </a:bodyPr>
          <a:lstStyle/>
          <a:p>
            <a:pPr marL="432000" indent="-324000">
              <a:spcBef>
                <a:spcPts val="1417"/>
              </a:spcBef>
              <a:buClr>
                <a:srgbClr val="000000"/>
              </a:buClr>
              <a:buSzPct val="45000"/>
              <a:buFont typeface="Wingdings" charset="2"/>
              <a:buChar char=""/>
            </a:pPr>
            <a:r>
              <a:rPr lang="zh-TW" sz="1800" b="0" strike="noStrike" spc="-1">
                <a:solidFill>
                  <a:srgbClr val="000000"/>
                </a:solidFill>
                <a:latin typeface="Calibri"/>
              </a:rPr>
              <a:t>請按這裡編輯大綱文字格式</a:t>
            </a:r>
            <a:endParaRPr lang="en-US" sz="18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1800" b="0" strike="noStrike" spc="-1">
                <a:solidFill>
                  <a:srgbClr val="000000"/>
                </a:solidFill>
                <a:latin typeface="Calibri"/>
              </a:rPr>
              <a:t>第二個大綱層次</a:t>
            </a:r>
            <a:endParaRPr lang="en-US" sz="1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1800" b="0" strike="noStrike" spc="-1">
                <a:solidFill>
                  <a:srgbClr val="000000"/>
                </a:solidFill>
                <a:latin typeface="Calibri"/>
              </a:rPr>
              <a:t>第三個大綱層次</a:t>
            </a:r>
            <a:endParaRPr lang="en-US" sz="18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1800" b="0" strike="noStrike" spc="-1">
                <a:solidFill>
                  <a:srgbClr val="000000"/>
                </a:solidFill>
                <a:latin typeface="Calibri"/>
              </a:rPr>
              <a:t>第四個大綱層次</a:t>
            </a:r>
            <a:endParaRPr lang="en-US" sz="18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1800" b="0" strike="noStrike" spc="-1">
                <a:solidFill>
                  <a:srgbClr val="000000"/>
                </a:solidFill>
                <a:latin typeface="Calibri"/>
              </a:rPr>
              <a:t>第五個大綱層次</a:t>
            </a:r>
            <a:endParaRPr lang="en-US" sz="18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1800" b="0" strike="noStrike" spc="-1">
                <a:solidFill>
                  <a:srgbClr val="000000"/>
                </a:solidFill>
                <a:latin typeface="Calibri"/>
              </a:rPr>
              <a:t>第六個大綱層次</a:t>
            </a:r>
            <a:endParaRPr lang="en-US" sz="18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1800" b="0" strike="noStrike" spc="-1">
                <a:solidFill>
                  <a:srgbClr val="000000"/>
                </a:solidFill>
                <a:latin typeface="Calibri"/>
              </a:rPr>
              <a:t>第七個大綱層次</a:t>
            </a:r>
            <a:endParaRPr lang="en-US" sz="1800" b="0" strike="noStrike" spc="-1">
              <a:solidFill>
                <a:srgbClr val="000000"/>
              </a:solidFill>
              <a:latin typeface="Calibri"/>
            </a:endParaRPr>
          </a:p>
        </p:txBody>
      </p:sp>
      <p:sp>
        <p:nvSpPr>
          <p:cNvPr id="1759" name="PlaceHolder 4"/>
          <p:cNvSpPr>
            <a:spLocks noGrp="1"/>
          </p:cNvSpPr>
          <p:nvPr>
            <p:ph type="body"/>
          </p:nvPr>
        </p:nvSpPr>
        <p:spPr>
          <a:xfrm>
            <a:off x="9348120" y="5523840"/>
            <a:ext cx="8031240" cy="2845440"/>
          </a:xfrm>
          <a:prstGeom prst="rect">
            <a:avLst/>
          </a:prstGeom>
          <a:noFill/>
          <a:ln w="0">
            <a:noFill/>
          </a:ln>
        </p:spPr>
        <p:txBody>
          <a:bodyPr lIns="0" tIns="0" rIns="0" bIns="0" anchor="t">
            <a:normAutofit fontScale="96666"/>
          </a:bodyPr>
          <a:lstStyle/>
          <a:p>
            <a:pPr marL="432000" indent="-324000">
              <a:spcBef>
                <a:spcPts val="1417"/>
              </a:spcBef>
              <a:buClr>
                <a:srgbClr val="000000"/>
              </a:buClr>
              <a:buSzPct val="45000"/>
              <a:buFont typeface="Wingdings" charset="2"/>
              <a:buChar char=""/>
            </a:pPr>
            <a:r>
              <a:rPr lang="zh-TW" sz="1800" b="0" strike="noStrike" spc="-1">
                <a:solidFill>
                  <a:srgbClr val="000000"/>
                </a:solidFill>
                <a:latin typeface="Calibri"/>
              </a:rPr>
              <a:t>請按這裡編輯大綱文字格式</a:t>
            </a:r>
            <a:endParaRPr lang="en-US" sz="18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1800" b="0" strike="noStrike" spc="-1">
                <a:solidFill>
                  <a:srgbClr val="000000"/>
                </a:solidFill>
                <a:latin typeface="Calibri"/>
              </a:rPr>
              <a:t>第二個大綱層次</a:t>
            </a:r>
            <a:endParaRPr lang="en-US" sz="1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1800" b="0" strike="noStrike" spc="-1">
                <a:solidFill>
                  <a:srgbClr val="000000"/>
                </a:solidFill>
                <a:latin typeface="Calibri"/>
              </a:rPr>
              <a:t>第三個大綱層次</a:t>
            </a:r>
            <a:endParaRPr lang="en-US" sz="18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1800" b="0" strike="noStrike" spc="-1">
                <a:solidFill>
                  <a:srgbClr val="000000"/>
                </a:solidFill>
                <a:latin typeface="Calibri"/>
              </a:rPr>
              <a:t>第四個大綱層次</a:t>
            </a:r>
            <a:endParaRPr lang="en-US" sz="18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1800" b="0" strike="noStrike" spc="-1">
                <a:solidFill>
                  <a:srgbClr val="000000"/>
                </a:solidFill>
                <a:latin typeface="Calibri"/>
              </a:rPr>
              <a:t>第五個大綱層次</a:t>
            </a:r>
            <a:endParaRPr lang="en-US" sz="18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1800" b="0" strike="noStrike" spc="-1">
                <a:solidFill>
                  <a:srgbClr val="000000"/>
                </a:solidFill>
                <a:latin typeface="Calibri"/>
              </a:rPr>
              <a:t>第六個大綱層次</a:t>
            </a:r>
            <a:endParaRPr lang="en-US" sz="18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1800" b="0" strike="noStrike" spc="-1">
                <a:solidFill>
                  <a:srgbClr val="000000"/>
                </a:solidFill>
                <a:latin typeface="Calibri"/>
              </a:rPr>
              <a:t>第七個大綱層次</a:t>
            </a:r>
            <a:endParaRPr lang="en-US" sz="1800" b="0" strike="noStrike" spc="-1">
              <a:solidFill>
                <a:srgbClr val="000000"/>
              </a:solidFill>
              <a:latin typeface="Calibri"/>
            </a:endParaRPr>
          </a:p>
        </p:txBody>
      </p:sp>
      <p:sp>
        <p:nvSpPr>
          <p:cNvPr id="1760" name="PlaceHolder 5"/>
          <p:cNvSpPr>
            <a:spLocks noGrp="1"/>
          </p:cNvSpPr>
          <p:nvPr>
            <p:ph type="dt" idx="13"/>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Tree>
  </p:cSld>
  <p:clrMap bg1="lt1" tx1="dk1" bg2="lt2" tx2="dk2" accent1="accent1" accent2="accent2" accent3="accent3" accent4="accent4" accent5="accent5" accent6="accent6" hlink="hlink" folHlink="folHlink"/>
  <p:sldLayoutIdLst>
    <p:sldLayoutId id="2147484208" r:id="rId1"/>
    <p:sldLayoutId id="2147484209" r:id="rId2"/>
    <p:sldLayoutId id="2147484210" r:id="rId3"/>
    <p:sldLayoutId id="2147484211" r:id="rId4"/>
    <p:sldLayoutId id="2147484212" r:id="rId5"/>
    <p:sldLayoutId id="2147484213" r:id="rId6"/>
    <p:sldLayoutId id="2147484214" r:id="rId7"/>
    <p:sldLayoutId id="2147484215" r:id="rId8"/>
    <p:sldLayoutId id="2147484216" r:id="rId9"/>
    <p:sldLayoutId id="2147484217" r:id="rId10"/>
    <p:sldLayoutId id="2147484218" r:id="rId11"/>
    <p:sldLayoutId id="2147484219" r:id="rId12"/>
    <p:sldLayoutId id="2147484480" r:id="rId13"/>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010" name="Google Shape;35;p9"/>
          <p:cNvGraphicFramePr/>
          <p:nvPr/>
        </p:nvGraphicFramePr>
        <p:xfrm>
          <a:off x="122400" y="114480"/>
          <a:ext cx="18019440" cy="10040760"/>
        </p:xfrm>
        <a:graphic>
          <a:graphicData uri="http://schemas.openxmlformats.org/drawingml/2006/table">
            <a:tbl>
              <a:tblPr/>
              <a:tblGrid>
                <a:gridCol w="2311200"/>
                <a:gridCol w="9468720"/>
                <a:gridCol w="242028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7008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Input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Output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Activities</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8429040">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bl>
          </a:graphicData>
        </a:graphic>
      </p:graphicFrame>
      <p:pic>
        <p:nvPicPr>
          <p:cNvPr id="2011" name="Google Shape;37;p9" descr="A red and black logo&#10;&#10;Description automatically generated"/>
          <p:cNvPicPr/>
          <p:nvPr/>
        </p:nvPicPr>
        <p:blipFill>
          <a:blip r:embed="rId14"/>
          <a:stretch/>
        </p:blipFill>
        <p:spPr>
          <a:xfrm>
            <a:off x="7067520" y="213120"/>
            <a:ext cx="482040" cy="419400"/>
          </a:xfrm>
          <a:prstGeom prst="rect">
            <a:avLst/>
          </a:prstGeom>
          <a:ln w="0">
            <a:noFill/>
          </a:ln>
        </p:spPr>
      </p:pic>
      <p:sp>
        <p:nvSpPr>
          <p:cNvPr id="2012" name="PlaceHolder 1"/>
          <p:cNvSpPr>
            <a:spLocks noGrp="1"/>
          </p:cNvSpPr>
          <p:nvPr>
            <p:ph type="dt" idx="18"/>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201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01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286" r:id="rId1"/>
    <p:sldLayoutId id="2147484287" r:id="rId2"/>
    <p:sldLayoutId id="2147484288" r:id="rId3"/>
    <p:sldLayoutId id="2147484289" r:id="rId4"/>
    <p:sldLayoutId id="2147484290" r:id="rId5"/>
    <p:sldLayoutId id="2147484291" r:id="rId6"/>
    <p:sldLayoutId id="2147484292" r:id="rId7"/>
    <p:sldLayoutId id="2147484293" r:id="rId8"/>
    <p:sldLayoutId id="2147484294" r:id="rId9"/>
    <p:sldLayoutId id="2147484295" r:id="rId10"/>
    <p:sldLayoutId id="2147484296" r:id="rId11"/>
    <p:sldLayoutId id="2147484297" r:id="rId12"/>
  </p:sldLayoutIdLst>
  <p:txStyles>
    <p:titleStyle/>
    <p:bodyStyle/>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78" name="圖片 4"/>
          <p:cNvPicPr/>
          <p:nvPr/>
        </p:nvPicPr>
        <p:blipFill>
          <a:blip r:embed="rId14"/>
          <a:stretch/>
        </p:blipFill>
        <p:spPr>
          <a:xfrm>
            <a:off x="0" y="0"/>
            <a:ext cx="18287280" cy="10287720"/>
          </a:xfrm>
          <a:prstGeom prst="rect">
            <a:avLst/>
          </a:prstGeom>
          <a:ln w="0">
            <a:noFill/>
          </a:ln>
        </p:spPr>
      </p:pic>
      <p:sp>
        <p:nvSpPr>
          <p:cNvPr id="25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580"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468" r:id="rId1"/>
    <p:sldLayoutId id="2147484469" r:id="rId2"/>
    <p:sldLayoutId id="2147484470" r:id="rId3"/>
    <p:sldLayoutId id="2147484471" r:id="rId4"/>
    <p:sldLayoutId id="2147484472" r:id="rId5"/>
    <p:sldLayoutId id="2147484473" r:id="rId6"/>
    <p:sldLayoutId id="2147484474" r:id="rId7"/>
    <p:sldLayoutId id="2147484475" r:id="rId8"/>
    <p:sldLayoutId id="2147484476" r:id="rId9"/>
    <p:sldLayoutId id="2147484477" r:id="rId10"/>
    <p:sldLayoutId id="2147484478" r:id="rId11"/>
    <p:sldLayoutId id="2147484479"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 name="矩形 1"/>
          <p:cNvSpPr/>
          <p:nvPr/>
        </p:nvSpPr>
        <p:spPr>
          <a:xfrm>
            <a:off x="843480" y="5144400"/>
            <a:ext cx="6536520" cy="155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4800" b="1" strike="noStrike" spc="-1">
                <a:solidFill>
                  <a:schemeClr val="dk1"/>
                </a:solidFill>
                <a:latin typeface="Microsoft JhengHei"/>
                <a:ea typeface="Microsoft JhengHei"/>
              </a:rPr>
              <a:t>賜昌集團 </a:t>
            </a:r>
            <a:r>
              <a:rPr lang="en-US" sz="4800" b="1" strike="noStrike" spc="-1">
                <a:solidFill>
                  <a:schemeClr val="dk1"/>
                </a:solidFill>
                <a:latin typeface="Microsoft JhengHei"/>
                <a:ea typeface="Microsoft JhengHei"/>
              </a:rPr>
              <a:t>SAP</a:t>
            </a:r>
            <a:r>
              <a:rPr lang="zh-TW" sz="4800" b="1" strike="noStrike" spc="-1">
                <a:solidFill>
                  <a:schemeClr val="dk1"/>
                </a:solidFill>
                <a:latin typeface="Microsoft JhengHei"/>
                <a:ea typeface="Microsoft JhengHei"/>
              </a:rPr>
              <a:t>推進中心</a:t>
            </a:r>
            <a:endParaRPr lang="en-US" sz="4800" b="0" strike="noStrike" spc="-1">
              <a:solidFill>
                <a:srgbClr val="000000"/>
              </a:solidFill>
              <a:latin typeface="Calibri"/>
            </a:endParaRPr>
          </a:p>
        </p:txBody>
      </p:sp>
      <p:sp>
        <p:nvSpPr>
          <p:cNvPr id="2857" name="TextBox 2"/>
          <p:cNvSpPr/>
          <p:nvPr/>
        </p:nvSpPr>
        <p:spPr>
          <a:xfrm>
            <a:off x="852840" y="7871400"/>
            <a:ext cx="2828380" cy="73721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dirty="0">
                <a:solidFill>
                  <a:schemeClr val="dk1"/>
                </a:solidFill>
                <a:latin typeface="Microsoft JhengHei"/>
                <a:ea typeface="Microsoft JhengHei"/>
              </a:rPr>
              <a:t>Presentation by </a:t>
            </a:r>
            <a:r>
              <a:rPr lang="en-US" sz="2100" b="1" strike="noStrike" spc="-1" dirty="0">
                <a:solidFill>
                  <a:schemeClr val="dk1"/>
                </a:solidFill>
                <a:latin typeface="Microsoft JhengHei"/>
                <a:ea typeface="Microsoft JhengHei"/>
              </a:rPr>
              <a:t>DSIT</a:t>
            </a:r>
            <a:endParaRPr lang="en-US" sz="2100" b="0" strike="noStrike" spc="-1" dirty="0">
              <a:solidFill>
                <a:srgbClr val="000000"/>
              </a:solidFill>
              <a:latin typeface="Calibri"/>
            </a:endParaRPr>
          </a:p>
          <a:p>
            <a:pPr defTabSz="457200">
              <a:lnSpc>
                <a:spcPct val="100000"/>
              </a:lnSpc>
            </a:pPr>
            <a:r>
              <a:rPr lang="en-US" sz="2100" b="0" strike="noStrike" spc="-1" dirty="0" smtClean="0">
                <a:solidFill>
                  <a:schemeClr val="dk1"/>
                </a:solidFill>
                <a:latin typeface="Microsoft JhengHei"/>
                <a:ea typeface="Microsoft JhengHei"/>
              </a:rPr>
              <a:t>2025/06/30</a:t>
            </a:r>
            <a:endParaRPr lang="en-US" sz="2100" b="0" strike="noStrike" spc="-1" dirty="0">
              <a:solidFill>
                <a:srgbClr val="000000"/>
              </a:solidFill>
              <a:latin typeface="Calibri"/>
            </a:endParaRPr>
          </a:p>
        </p:txBody>
      </p:sp>
      <p:sp>
        <p:nvSpPr>
          <p:cNvPr id="2858" name="矩形 1"/>
          <p:cNvSpPr/>
          <p:nvPr/>
        </p:nvSpPr>
        <p:spPr>
          <a:xfrm>
            <a:off x="843480" y="652320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3600" b="0" strike="noStrike" spc="-1" dirty="0" smtClean="0">
                <a:solidFill>
                  <a:schemeClr val="dk1"/>
                </a:solidFill>
                <a:latin typeface="Microsoft JhengHei"/>
                <a:ea typeface="Microsoft JhengHei"/>
              </a:rPr>
              <a:t>MM-MA-0020</a:t>
            </a:r>
            <a:endParaRPr lang="en-US" sz="3600" b="0" strike="noStrike" spc="-1" dirty="0">
              <a:solidFill>
                <a:srgbClr val="000000"/>
              </a:solidFill>
              <a:latin typeface="Calibri"/>
            </a:endParaRPr>
          </a:p>
        </p:txBody>
      </p:sp>
      <p:sp>
        <p:nvSpPr>
          <p:cNvPr id="2859" name="矩形 1"/>
          <p:cNvSpPr/>
          <p:nvPr/>
        </p:nvSpPr>
        <p:spPr>
          <a:xfrm>
            <a:off x="843480" y="717912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altLang="en-US" sz="3600" b="0" strike="noStrike" spc="-1" dirty="0" smtClean="0">
                <a:solidFill>
                  <a:schemeClr val="dk1"/>
                </a:solidFill>
                <a:latin typeface="Microsoft JhengHei"/>
                <a:ea typeface="Microsoft JhengHei"/>
              </a:rPr>
              <a:t>供應商</a:t>
            </a:r>
            <a:r>
              <a:rPr lang="zh-TW" sz="3600" b="0" strike="noStrike" spc="-1" dirty="0" smtClean="0">
                <a:solidFill>
                  <a:schemeClr val="dk1"/>
                </a:solidFill>
                <a:latin typeface="Microsoft JhengHei"/>
                <a:ea typeface="Microsoft JhengHei"/>
              </a:rPr>
              <a:t>主檔維護流程</a:t>
            </a:r>
            <a:endParaRPr lang="en-US" sz="3600" b="0" strike="noStrike" spc="-1" dirty="0">
              <a:solidFill>
                <a:srgbClr val="000000"/>
              </a:solidFill>
              <a:latin typeface="Calibri"/>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0" name="Google Shape;190;p2"/>
          <p:cNvGraphicFramePr/>
          <p:nvPr/>
        </p:nvGraphicFramePr>
        <p:xfrm>
          <a:off x="366120" y="1567440"/>
          <a:ext cx="17517960" cy="1640397"/>
        </p:xfrm>
        <a:graphic>
          <a:graphicData uri="http://schemas.openxmlformats.org/drawingml/2006/table">
            <a:tbl>
              <a:tblPr/>
              <a:tblGrid>
                <a:gridCol w="2061360"/>
                <a:gridCol w="2061360"/>
                <a:gridCol w="8327880"/>
                <a:gridCol w="1423080"/>
                <a:gridCol w="634680"/>
                <a:gridCol w="1192320"/>
                <a:gridCol w="576720"/>
                <a:gridCol w="1240560"/>
              </a:tblGrid>
              <a:tr h="504000">
                <a:tc rowSpan="3">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文件基本訊息</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文件主題</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a:solidFill>
                            <a:schemeClr val="lt1"/>
                          </a:solidFill>
                          <a:latin typeface="Microsoft JhengHei"/>
                          <a:ea typeface="Microsoft JhengHei"/>
                        </a:rPr>
                        <a:t> To be_Business Process</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a:solidFill>
                            <a:schemeClr val="lt1"/>
                          </a:solidFill>
                          <a:latin typeface="Microsoft JhengHei"/>
                          <a:ea typeface="Microsoft JhengHei"/>
                        </a:rPr>
                        <a:t>創建日期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gridSpan="4">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a:t>
                      </a:r>
                      <a:r>
                        <a:rPr lang="en-US" sz="1800" b="1" strike="noStrike" spc="-1" dirty="0" smtClean="0">
                          <a:solidFill>
                            <a:schemeClr val="lt1"/>
                          </a:solidFill>
                          <a:latin typeface="Microsoft JhengHei"/>
                          <a:ea typeface="Microsoft JhengHei"/>
                        </a:rPr>
                        <a:t>2025/06/30</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dirty="0">
                          <a:solidFill>
                            <a:schemeClr val="lt1"/>
                          </a:solidFill>
                          <a:latin typeface="Microsoft JhengHei"/>
                          <a:ea typeface="Microsoft JhengHei"/>
                        </a:rPr>
                        <a:t>作者</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dirty="0" smtClean="0">
                          <a:solidFill>
                            <a:schemeClr val="dk1"/>
                          </a:solidFill>
                          <a:latin typeface="Microsoft JhengHei"/>
                          <a:ea typeface="Microsoft JhengHei"/>
                        </a:rPr>
                        <a:t>DSIT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文件狀態</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marL="0" marR="0" indent="0" algn="ctr" defTabSz="914400" eaLnBrk="1" fontAlgn="auto" latinLnBrk="0" hangingPunct="1">
                        <a:lnSpc>
                          <a:spcPct val="100000"/>
                        </a:lnSpc>
                        <a:spcBef>
                          <a:spcPts val="0"/>
                        </a:spcBef>
                        <a:spcAft>
                          <a:spcPts val="0"/>
                        </a:spcAft>
                        <a:buClrTx/>
                        <a:buSzTx/>
                        <a:buFontTx/>
                        <a:buNone/>
                        <a:tabLst/>
                        <a:defRPr/>
                      </a:pPr>
                      <a:endParaRPr lang="en-US" sz="1800" b="0" strike="noStrike" spc="-1" dirty="0" smtClean="0">
                        <a:solidFill>
                          <a:srgbClr val="000000"/>
                        </a:solidFill>
                        <a:latin typeface="+mn-lt"/>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草稿版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r>
                        <a:rPr lang="x-none" sz="1800" b="1" strike="noStrike" spc="-1" dirty="0">
                          <a:solidFill>
                            <a:schemeClr val="dk1"/>
                          </a:solidFill>
                          <a:latin typeface="Microsoft JhengHei"/>
                          <a:ea typeface="Microsoft JhengHei"/>
                        </a:rPr>
                        <a:t>V</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確認版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版本</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gridSpan="4">
                  <a:txBody>
                    <a:bodyPr/>
                    <a:lstStyle/>
                    <a:p>
                      <a:pPr defTabSz="1371600">
                        <a:lnSpc>
                          <a:spcPct val="166000"/>
                        </a:lnSpc>
                        <a:tabLst>
                          <a:tab pos="0" algn="l"/>
                        </a:tabLst>
                      </a:pPr>
                      <a:r>
                        <a:rPr lang="en-US" sz="1800" b="1" strike="noStrike" spc="-1" dirty="0">
                          <a:solidFill>
                            <a:schemeClr val="dk1"/>
                          </a:solidFill>
                          <a:latin typeface="Microsoft JhengHei"/>
                          <a:ea typeface="Microsoft JhengHei"/>
                        </a:rPr>
                        <a:t> </a:t>
                      </a:r>
                      <a:r>
                        <a:rPr lang="en-US" sz="1800" b="1" strike="noStrike" spc="-1" dirty="0" smtClean="0">
                          <a:solidFill>
                            <a:schemeClr val="dk1"/>
                          </a:solidFill>
                          <a:latin typeface="Microsoft JhengHei"/>
                          <a:ea typeface="Microsoft JhengHei"/>
                        </a:rPr>
                        <a:t>v2.0</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graphicFrame>
        <p:nvGraphicFramePr>
          <p:cNvPr id="2861" name="Google Shape;191;p2"/>
          <p:cNvGraphicFramePr/>
          <p:nvPr/>
        </p:nvGraphicFramePr>
        <p:xfrm>
          <a:off x="366120" y="3155400"/>
          <a:ext cx="17517960" cy="3195196"/>
        </p:xfrm>
        <a:graphic>
          <a:graphicData uri="http://schemas.openxmlformats.org/drawingml/2006/table">
            <a:tbl>
              <a:tblPr/>
              <a:tblGrid>
                <a:gridCol w="2061360"/>
                <a:gridCol w="2061360"/>
                <a:gridCol w="8327880"/>
                <a:gridCol w="3269880"/>
                <a:gridCol w="17974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文件版本</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版本號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變更說明</a:t>
                      </a:r>
                      <a:r>
                        <a:rPr lang="en-US" sz="1800" b="1" strike="noStrike" spc="-1" dirty="0">
                          <a:solidFill>
                            <a:schemeClr val="lt1"/>
                          </a:solidFill>
                          <a:latin typeface="Microsoft JhengHei"/>
                          <a:ea typeface="Microsoft JhengHei"/>
                        </a:rPr>
                        <a:t>(</a:t>
                      </a:r>
                      <a:r>
                        <a:rPr lang="zh-TW" sz="1800" b="1" strike="noStrike" spc="-1" dirty="0">
                          <a:solidFill>
                            <a:schemeClr val="lt1"/>
                          </a:solidFill>
                          <a:latin typeface="Microsoft JhengHei"/>
                          <a:ea typeface="Microsoft JhengHei"/>
                        </a:rPr>
                        <a:t>修改內容說明</a:t>
                      </a:r>
                      <a:r>
                        <a:rPr lang="en-US" sz="1800" b="1" strike="noStrike" spc="-1" dirty="0">
                          <a:solidFill>
                            <a:schemeClr val="lt1"/>
                          </a:solidFill>
                          <a:latin typeface="Microsoft JhengHei"/>
                          <a:ea typeface="Microsoft JhengHei"/>
                        </a:rPr>
                        <a: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修改人</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00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bl>
          </a:graphicData>
        </a:graphic>
      </p:graphicFrame>
      <p:graphicFrame>
        <p:nvGraphicFramePr>
          <p:cNvPr id="2862" name="Google Shape;192;p2"/>
          <p:cNvGraphicFramePr/>
          <p:nvPr/>
        </p:nvGraphicFramePr>
        <p:xfrm>
          <a:off x="366120" y="6255360"/>
          <a:ext cx="17518320" cy="504000"/>
        </p:xfrm>
        <a:graphic>
          <a:graphicData uri="http://schemas.openxmlformats.org/drawingml/2006/table">
            <a:tbl>
              <a:tblPr/>
              <a:tblGrid>
                <a:gridCol w="2061360"/>
                <a:gridCol w="2066760"/>
                <a:gridCol w="1797480"/>
                <a:gridCol w="1932120"/>
                <a:gridCol w="1932120"/>
                <a:gridCol w="1932120"/>
                <a:gridCol w="1932120"/>
                <a:gridCol w="1932120"/>
                <a:gridCol w="1932120"/>
              </a:tblGrid>
              <a:tr h="504000">
                <a:tc>
                  <a:txBody>
                    <a:bodyPr/>
                    <a:lstStyle/>
                    <a:p>
                      <a:pPr defTabSz="1371600">
                        <a:lnSpc>
                          <a:spcPct val="150000"/>
                        </a:lnSpc>
                        <a:tabLst>
                          <a:tab pos="0" algn="l"/>
                        </a:tabLst>
                      </a:pPr>
                      <a:r>
                        <a:rPr lang="zh-TW" sz="1800" b="1" strike="noStrike" spc="-1">
                          <a:solidFill>
                            <a:schemeClr val="lt1"/>
                          </a:solidFill>
                          <a:latin typeface="Microsoft JhengHei"/>
                          <a:ea typeface="Microsoft JhengHei"/>
                        </a:rPr>
                        <a:t>機密等級</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極機密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內部使用</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V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一般</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r>
            </a:tbl>
          </a:graphicData>
        </a:graphic>
      </p:graphicFrame>
      <p:graphicFrame>
        <p:nvGraphicFramePr>
          <p:cNvPr id="2863" name="Google Shape;193;p2"/>
          <p:cNvGraphicFramePr/>
          <p:nvPr/>
        </p:nvGraphicFramePr>
        <p:xfrm>
          <a:off x="366120" y="6835320"/>
          <a:ext cx="17517600" cy="3237995"/>
        </p:xfrm>
        <a:graphic>
          <a:graphicData uri="http://schemas.openxmlformats.org/drawingml/2006/table">
            <a:tbl>
              <a:tblPr/>
              <a:tblGrid>
                <a:gridCol w="2045520"/>
                <a:gridCol w="2066760"/>
                <a:gridCol w="8024760"/>
                <a:gridCol w="2861280"/>
                <a:gridCol w="25192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審批</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角色</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姓名 與 職稱</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簽名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專案顧問</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en-US" sz="1800" b="1" strike="noStrike" spc="-1" dirty="0" smtClean="0">
                          <a:solidFill>
                            <a:schemeClr val="dk1"/>
                          </a:solidFill>
                          <a:latin typeface="Microsoft JhengHei"/>
                          <a:ea typeface="Microsoft JhengHei"/>
                        </a:rPr>
                        <a:t>Robert</a:t>
                      </a:r>
                      <a:r>
                        <a:rPr lang="en-US" sz="1800" b="1" strike="noStrike" spc="-1" baseline="0" dirty="0" smtClean="0">
                          <a:solidFill>
                            <a:schemeClr val="dk1"/>
                          </a:solidFill>
                          <a:latin typeface="Microsoft JhengHei"/>
                          <a:ea typeface="Microsoft JhengHei"/>
                        </a:rPr>
                        <a:t> Chou/</a:t>
                      </a:r>
                      <a:r>
                        <a:rPr lang="en-US" sz="1800" b="1" strike="noStrike" spc="-1" dirty="0" smtClean="0">
                          <a:solidFill>
                            <a:schemeClr val="dk1"/>
                          </a:solidFill>
                          <a:latin typeface="Microsoft JhengHei"/>
                          <a:ea typeface="Microsoft JhengHei"/>
                        </a:rPr>
                        <a:t>Vincent</a:t>
                      </a:r>
                      <a:r>
                        <a:rPr lang="en-US" sz="1800" b="1" strike="noStrike" spc="-1" baseline="0" dirty="0" smtClean="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關鍵使用者</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1"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流程負責人</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資訊單位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專案經理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a:solidFill>
                            <a:schemeClr val="dk1"/>
                          </a:solidFill>
                          <a:latin typeface="Microsoft JhengHei"/>
                          <a:ea typeface="Microsoft JhengHei"/>
                        </a:rPr>
                        <a:t>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bl>
          </a:graphicData>
        </a:graphic>
      </p:graphicFrame>
      <p:sp>
        <p:nvSpPr>
          <p:cNvPr id="2864" name="TextBox 1"/>
          <p:cNvSpPr/>
          <p:nvPr/>
        </p:nvSpPr>
        <p:spPr>
          <a:xfrm>
            <a:off x="2521800" y="811440"/>
            <a:ext cx="8244000" cy="4602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altLang="zh-TW" sz="2400" spc="-1" dirty="0" smtClean="0">
                <a:solidFill>
                  <a:schemeClr val="dk1"/>
                </a:solidFill>
                <a:latin typeface="Microsoft JhengHei"/>
                <a:ea typeface="Microsoft JhengHei"/>
              </a:rPr>
              <a:t>MM-MA-0020</a:t>
            </a:r>
            <a:r>
              <a:rPr lang="zh-TW" altLang="en-US" sz="2400" spc="-1" dirty="0" smtClean="0">
                <a:solidFill>
                  <a:schemeClr val="dk1"/>
                </a:solidFill>
                <a:latin typeface="Microsoft JhengHei"/>
                <a:ea typeface="Microsoft JhengHei"/>
              </a:rPr>
              <a:t> 供應商主檔維護流程</a:t>
            </a:r>
            <a:endParaRPr lang="en-US" sz="2400" b="0" strike="noStrike" spc="-1" dirty="0">
              <a:solidFill>
                <a:srgbClr val="000000"/>
              </a:solidFill>
              <a:latin typeface="Calibri"/>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6" name="TextBox 5">
            <a:extLst>
              <a:ext uri="{FF2B5EF4-FFF2-40B4-BE49-F238E27FC236}">
                <a16:creationId xmlns:a16="http://schemas.microsoft.com/office/drawing/2014/main" xmlns="" id="{238B242A-CC2E-D67E-2554-50511ED99943}"/>
              </a:ext>
            </a:extLst>
          </p:cNvPr>
          <p:cNvSpPr txBox="1"/>
          <p:nvPr/>
        </p:nvSpPr>
        <p:spPr>
          <a:xfrm>
            <a:off x="2235959" y="947723"/>
            <a:ext cx="13249406" cy="415498"/>
          </a:xfrm>
          <a:prstGeom prst="rect">
            <a:avLst/>
          </a:prstGeom>
          <a:noFill/>
        </p:spPr>
        <p:txBody>
          <a:bodyPr wrap="square" lIns="137160" tIns="68580" rIns="137160" bIns="68580" rtlCol="0">
            <a:spAutoFit/>
          </a:bodyPr>
          <a:lstStyle/>
          <a:p>
            <a:endParaRPr lang="zh-TW" altLang="en-US" dirty="0"/>
          </a:p>
        </p:txBody>
      </p:sp>
      <p:sp>
        <p:nvSpPr>
          <p:cNvPr id="7" name="TextBox 6">
            <a:extLst>
              <a:ext uri="{FF2B5EF4-FFF2-40B4-BE49-F238E27FC236}">
                <a16:creationId xmlns:a16="http://schemas.microsoft.com/office/drawing/2014/main" xmlns="" id="{5EEB26F3-F15C-7258-8E5F-2B96D4F1F2CD}"/>
              </a:ext>
            </a:extLst>
          </p:cNvPr>
          <p:cNvSpPr txBox="1"/>
          <p:nvPr/>
        </p:nvSpPr>
        <p:spPr>
          <a:xfrm>
            <a:off x="2324142" y="873991"/>
            <a:ext cx="13106402" cy="415498"/>
          </a:xfrm>
          <a:prstGeom prst="rect">
            <a:avLst/>
          </a:prstGeom>
          <a:noFill/>
        </p:spPr>
        <p:txBody>
          <a:bodyPr wrap="square" lIns="137160" tIns="68580" rIns="137160" bIns="68580" rtlCol="0">
            <a:spAutoFit/>
          </a:bodyPr>
          <a:lstStyle/>
          <a:p>
            <a:r>
              <a:rPr lang="en-US" altLang="zh-TW" b="1" spc="-1" dirty="0" smtClean="0">
                <a:solidFill>
                  <a:schemeClr val="dk1"/>
                </a:solidFill>
                <a:latin typeface="Microsoft JhengHei"/>
                <a:ea typeface="Microsoft JhengHei"/>
              </a:rPr>
              <a:t>M</a:t>
            </a:r>
            <a:r>
              <a:rPr lang="en-US" b="1" spc="-1" dirty="0" smtClean="0">
                <a:solidFill>
                  <a:schemeClr val="dk1"/>
                </a:solidFill>
                <a:latin typeface="Microsoft JhengHei"/>
                <a:ea typeface="Microsoft JhengHei"/>
              </a:rPr>
              <a:t>M-</a:t>
            </a:r>
            <a:r>
              <a:rPr lang="en-US" altLang="zh-TW" b="1" spc="-1" dirty="0" smtClean="0">
                <a:solidFill>
                  <a:schemeClr val="dk1"/>
                </a:solidFill>
                <a:latin typeface="Microsoft JhengHei"/>
                <a:ea typeface="Microsoft JhengHei"/>
              </a:rPr>
              <a:t>MA-0020 </a:t>
            </a:r>
            <a:r>
              <a:rPr lang="zh-TW" altLang="en-US" b="1" spc="-1" dirty="0">
                <a:solidFill>
                  <a:schemeClr val="dk1"/>
                </a:solidFill>
                <a:latin typeface="Microsoft JhengHei"/>
                <a:ea typeface="Microsoft JhengHei"/>
              </a:rPr>
              <a:t>供應商主檔</a:t>
            </a:r>
            <a:r>
              <a:rPr lang="zh-TW" altLang="en-US" b="1" spc="-1" dirty="0" smtClean="0">
                <a:solidFill>
                  <a:schemeClr val="dk1"/>
                </a:solidFill>
                <a:latin typeface="Microsoft JhengHei"/>
                <a:ea typeface="Microsoft JhengHei"/>
              </a:rPr>
              <a:t>維護流程</a:t>
            </a:r>
            <a:endParaRPr lang="zh-TW" altLang="en-US" b="1" spc="-1" dirty="0">
              <a:solidFill>
                <a:schemeClr val="dk1"/>
              </a:solidFill>
              <a:latin typeface="Microsoft JhengHei"/>
              <a:ea typeface="Microsoft JhengHei"/>
            </a:endParaRPr>
          </a:p>
        </p:txBody>
      </p:sp>
      <p:sp>
        <p:nvSpPr>
          <p:cNvPr id="238" name="TextBox 237">
            <a:extLst>
              <a:ext uri="{FF2B5EF4-FFF2-40B4-BE49-F238E27FC236}">
                <a16:creationId xmlns:a16="http://schemas.microsoft.com/office/drawing/2014/main" xmlns="" id="{071671AB-2F16-738E-9923-0CAD7FC32CC3}"/>
              </a:ext>
            </a:extLst>
          </p:cNvPr>
          <p:cNvSpPr txBox="1"/>
          <p:nvPr/>
        </p:nvSpPr>
        <p:spPr>
          <a:xfrm>
            <a:off x="14325600" y="1783341"/>
            <a:ext cx="3771894" cy="7340471"/>
          </a:xfrm>
          <a:prstGeom prst="rect">
            <a:avLst/>
          </a:prstGeom>
          <a:noFill/>
        </p:spPr>
        <p:txBody>
          <a:bodyPr wrap="square" lIns="137160" tIns="68580" rIns="137160" bIns="68580" rtlCol="0">
            <a:spAutoFit/>
          </a:bodyPr>
          <a:lstStyle/>
          <a:p>
            <a:r>
              <a:rPr lang="en-US" altLang="zh-TW" dirty="0">
                <a:latin typeface="微軟正黑體" panose="020B0604030504040204" pitchFamily="34" charset="-120"/>
                <a:ea typeface="微軟正黑體" panose="020B0604030504040204" pitchFamily="34" charset="-120"/>
              </a:rPr>
              <a:t>1. </a:t>
            </a:r>
            <a:r>
              <a:rPr lang="zh-TW" altLang="en-US" dirty="0">
                <a:latin typeface="微軟正黑體" panose="020B0604030504040204" pitchFamily="34" charset="-120"/>
                <a:ea typeface="微軟正黑體" panose="020B0604030504040204" pitchFamily="34" charset="-120"/>
              </a:rPr>
              <a:t>當有新建或更改業務夥伴的需求，與客戶</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供應商先行核對申請文件並確認內容是否正確</a:t>
            </a:r>
            <a:endParaRPr lang="en-US" altLang="zh-TW" dirty="0">
              <a:latin typeface="微軟正黑體" panose="020B0604030504040204" pitchFamily="34" charset="-120"/>
              <a:ea typeface="微軟正黑體" panose="020B0604030504040204" pitchFamily="34" charset="-120"/>
            </a:endParaRPr>
          </a:p>
          <a:p>
            <a:pPr marL="257175" lvl="1" indent="-257175">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原材廠商</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開發</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採購申請</a:t>
            </a:r>
            <a:endParaRPr lang="en-US" altLang="zh-TW" dirty="0">
              <a:latin typeface="微軟正黑體" panose="020B0604030504040204" pitchFamily="34" charset="-120"/>
              <a:ea typeface="微軟正黑體" panose="020B0604030504040204" pitchFamily="34" charset="-120"/>
            </a:endParaRPr>
          </a:p>
          <a:p>
            <a:pPr marL="257175" lvl="1" indent="-257175">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加工廠商</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開發</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生管</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廠務</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採購申請</a:t>
            </a:r>
            <a:endParaRPr lang="en-US" altLang="zh-TW" dirty="0">
              <a:latin typeface="微軟正黑體" panose="020B0604030504040204" pitchFamily="34" charset="-120"/>
              <a:ea typeface="微軟正黑體" panose="020B0604030504040204" pitchFamily="34" charset="-120"/>
            </a:endParaRPr>
          </a:p>
          <a:p>
            <a:pPr marL="257175" lvl="1" indent="-257175">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庶務廠商</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庶務採購</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廠區主管室</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資訊單位申請</a:t>
            </a:r>
            <a:r>
              <a:rPr lang="en-US" altLang="zh-TW" dirty="0">
                <a:latin typeface="微軟正黑體" panose="020B0604030504040204" pitchFamily="34" charset="-120"/>
                <a:ea typeface="微軟正黑體" panose="020B0604030504040204" pitchFamily="34" charset="-120"/>
              </a:rPr>
              <a:t>..</a:t>
            </a:r>
          </a:p>
          <a:p>
            <a:r>
              <a:rPr lang="en-US" altLang="zh-TW" dirty="0">
                <a:latin typeface="微軟正黑體" panose="020B0604030504040204" pitchFamily="34" charset="-120"/>
                <a:ea typeface="微軟正黑體" panose="020B0604030504040204" pitchFamily="34" charset="-120"/>
              </a:rPr>
              <a:t>2. </a:t>
            </a:r>
            <a:r>
              <a:rPr lang="zh-TW" altLang="en-US" dirty="0">
                <a:latin typeface="微軟正黑體" panose="020B0604030504040204" pitchFamily="34" charset="-120"/>
                <a:ea typeface="微軟正黑體" panose="020B0604030504040204" pitchFamily="34" charset="-120"/>
              </a:rPr>
              <a:t>申請人在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上發起電子簽核流程，依</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畫面輸入資料，並將客戶</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供應商提供的原始申請文件作附件</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3. </a:t>
            </a:r>
            <a:r>
              <a:rPr lang="zh-TW" altLang="en-US" dirty="0">
                <a:latin typeface="微軟正黑體" panose="020B0604030504040204" pitchFamily="34" charset="-120"/>
                <a:ea typeface="微軟正黑體" panose="020B0604030504040204" pitchFamily="34" charset="-120"/>
              </a:rPr>
              <a:t>由</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簽核流程關連的責任單位至</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負責審核，並檢查所申請的供應商是否重覆</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可以稅務編號是否有重覆</a:t>
            </a:r>
            <a:r>
              <a:rPr lang="en-US" altLang="zh-TW" dirty="0">
                <a:latin typeface="微軟正黑體" panose="020B0604030504040204" pitchFamily="34" charset="-120"/>
                <a:ea typeface="微軟正黑體" panose="020B0604030504040204" pitchFamily="34" charset="-120"/>
              </a:rPr>
              <a:t>)</a:t>
            </a:r>
          </a:p>
          <a:p>
            <a:r>
              <a:rPr lang="en-US" altLang="zh-TW" dirty="0">
                <a:latin typeface="微軟正黑體" panose="020B0604030504040204" pitchFamily="34" charset="-120"/>
                <a:ea typeface="微軟正黑體" panose="020B0604030504040204" pitchFamily="34" charset="-120"/>
              </a:rPr>
              <a:t>4. </a:t>
            </a:r>
            <a:r>
              <a:rPr lang="zh-TW" altLang="en-US" dirty="0">
                <a:latin typeface="微軟正黑體" panose="020B0604030504040204" pitchFamily="34" charset="-120"/>
                <a:ea typeface="微軟正黑體" panose="020B0604030504040204" pitchFamily="34" charset="-120"/>
              </a:rPr>
              <a:t>財務單位至</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負責審核銀行、付款等相關重要資料。</a:t>
            </a:r>
          </a:p>
          <a:p>
            <a:r>
              <a:rPr lang="en-US" altLang="zh-TW" dirty="0">
                <a:latin typeface="微軟正黑體" panose="020B0604030504040204" pitchFamily="34" charset="-120"/>
                <a:ea typeface="微軟正黑體" panose="020B0604030504040204" pitchFamily="34" charset="-120"/>
              </a:rPr>
              <a:t>5. BPM</a:t>
            </a:r>
            <a:r>
              <a:rPr lang="zh-TW" altLang="en-US" dirty="0">
                <a:latin typeface="微軟正黑體" panose="020B0604030504040204" pitchFamily="34" charset="-120"/>
                <a:ea typeface="微軟正黑體" panose="020B0604030504040204" pitchFamily="34" charset="-120"/>
              </a:rPr>
              <a:t>簽核完成後，由編碼中心將申請完成的單據輸入</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建立</a:t>
            </a:r>
            <a:r>
              <a:rPr lang="en-US" altLang="zh-TW" dirty="0">
                <a:latin typeface="微軟正黑體" panose="020B0604030504040204" pitchFamily="34" charset="-120"/>
                <a:ea typeface="微軟正黑體" panose="020B0604030504040204" pitchFamily="34" charset="-120"/>
              </a:rPr>
              <a:t>BP</a:t>
            </a:r>
            <a:r>
              <a:rPr lang="zh-TW" altLang="en-US" dirty="0">
                <a:latin typeface="微軟正黑體" panose="020B0604030504040204" pitchFamily="34" charset="-120"/>
                <a:ea typeface="微軟正黑體" panose="020B0604030504040204" pitchFamily="34" charset="-120"/>
              </a:rPr>
              <a:t>。輸入資料發生異常時，收集系統回報錯誤訊息，並與申請者確認</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6. DCC</a:t>
            </a:r>
            <a:r>
              <a:rPr lang="zh-TW" altLang="en-US" dirty="0">
                <a:latin typeface="微軟正黑體" panose="020B0604030504040204" pitchFamily="34" charset="-120"/>
                <a:ea typeface="微軟正黑體" panose="020B0604030504040204" pitchFamily="34" charset="-120"/>
              </a:rPr>
              <a:t>完成建立後通知需求單位在</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確認資料</a:t>
            </a:r>
            <a:endParaRPr lang="en-US" altLang="zh-TW" dirty="0">
              <a:latin typeface="微軟正黑體" panose="020B0604030504040204" pitchFamily="34" charset="-120"/>
              <a:ea typeface="微軟正黑體" panose="020B0604030504040204" pitchFamily="34" charset="-120"/>
            </a:endParaRPr>
          </a:p>
          <a:p>
            <a:endParaRPr lang="en-US" altLang="zh-TW" dirty="0">
              <a:latin typeface="微軟正黑體" panose="020B0604030504040204" pitchFamily="34" charset="-120"/>
              <a:ea typeface="微軟正黑體" panose="020B0604030504040204" pitchFamily="34" charset="-120"/>
            </a:endParaRPr>
          </a:p>
          <a:p>
            <a:pPr lvl="1"/>
            <a:endParaRPr lang="en-US" altLang="zh-TW" dirty="0">
              <a:latin typeface="微軟正黑體" panose="020B0604030504040204" pitchFamily="34" charset="-120"/>
              <a:ea typeface="微軟正黑體" panose="020B0604030504040204" pitchFamily="34" charset="-120"/>
            </a:endParaRPr>
          </a:p>
        </p:txBody>
      </p:sp>
      <p:sp>
        <p:nvSpPr>
          <p:cNvPr id="278" name="文字方塊 17">
            <a:extLst>
              <a:ext uri="{FF2B5EF4-FFF2-40B4-BE49-F238E27FC236}">
                <a16:creationId xmlns:a16="http://schemas.microsoft.com/office/drawing/2014/main" xmlns="" id="{7A0EFEB7-EB28-6BC4-27CF-5865C41DB0C2}"/>
              </a:ext>
            </a:extLst>
          </p:cNvPr>
          <p:cNvSpPr txBox="1"/>
          <p:nvPr/>
        </p:nvSpPr>
        <p:spPr>
          <a:xfrm>
            <a:off x="2493954" y="1390860"/>
            <a:ext cx="2511090" cy="400110"/>
          </a:xfrm>
          <a:prstGeom prst="rect">
            <a:avLst/>
          </a:prstGeom>
          <a:noFill/>
        </p:spPr>
        <p:txBody>
          <a:bodyPr wrap="square" lIns="137160" tIns="68580" rIns="137160" bIns="68580" rtlCol="0">
            <a:spAutoFit/>
          </a:bodyPr>
          <a:lstStyle/>
          <a:p>
            <a:pPr algn="ctr"/>
            <a:r>
              <a:rPr lang="zh-TW" altLang="en-US" sz="1700" dirty="0"/>
              <a:t>開需求單位</a:t>
            </a:r>
          </a:p>
        </p:txBody>
      </p:sp>
      <p:cxnSp>
        <p:nvCxnSpPr>
          <p:cNvPr id="280" name="Straight Connector 279">
            <a:extLst>
              <a:ext uri="{FF2B5EF4-FFF2-40B4-BE49-F238E27FC236}">
                <a16:creationId xmlns:a16="http://schemas.microsoft.com/office/drawing/2014/main" xmlns="" id="{AF8B2499-CE7D-B6ED-9956-03AE40A11704}"/>
              </a:ext>
            </a:extLst>
          </p:cNvPr>
          <p:cNvCxnSpPr>
            <a:cxnSpLocks/>
          </p:cNvCxnSpPr>
          <p:nvPr/>
        </p:nvCxnSpPr>
        <p:spPr>
          <a:xfrm>
            <a:off x="5005044" y="1403478"/>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流程圖: 結束點 8">
            <a:extLst>
              <a:ext uri="{FF2B5EF4-FFF2-40B4-BE49-F238E27FC236}">
                <a16:creationId xmlns:a16="http://schemas.microsoft.com/office/drawing/2014/main" xmlns="" id="{1EA55109-301E-DDE7-7906-F65B4C1B6E88}"/>
              </a:ext>
            </a:extLst>
          </p:cNvPr>
          <p:cNvSpPr/>
          <p:nvPr/>
        </p:nvSpPr>
        <p:spPr bwMode="auto">
          <a:xfrm>
            <a:off x="325715" y="2640615"/>
            <a:ext cx="1797831" cy="519665"/>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流程開始</a:t>
            </a:r>
          </a:p>
        </p:txBody>
      </p:sp>
      <p:graphicFrame>
        <p:nvGraphicFramePr>
          <p:cNvPr id="22" name="表格 30">
            <a:extLst>
              <a:ext uri="{FF2B5EF4-FFF2-40B4-BE49-F238E27FC236}">
                <a16:creationId xmlns:a16="http://schemas.microsoft.com/office/drawing/2014/main" xmlns="" id="{E41887EA-20A4-DC7F-9481-97C9AB9FBA37}"/>
              </a:ext>
            </a:extLst>
          </p:cNvPr>
          <p:cNvGraphicFramePr>
            <a:graphicFrameLocks noGrp="1"/>
          </p:cNvGraphicFramePr>
          <p:nvPr>
            <p:extLst>
              <p:ext uri="{D42A27DB-BD31-4B8C-83A1-F6EECF244321}">
                <p14:modId xmlns:p14="http://schemas.microsoft.com/office/powerpoint/2010/main" xmlns="" val="3283389952"/>
              </p:ext>
            </p:extLst>
          </p:nvPr>
        </p:nvGraphicFramePr>
        <p:xfrm>
          <a:off x="2807475" y="4294173"/>
          <a:ext cx="1797832" cy="1238591"/>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52">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87">
                <a:tc gridSpan="2">
                  <a:txBody>
                    <a:bodyPr/>
                    <a:lstStyle/>
                    <a:p>
                      <a:pPr algn="ctr"/>
                      <a:r>
                        <a:rPr lang="zh-TW" altLang="en-US" sz="1500" dirty="0">
                          <a:latin typeface="微軟正黑體" panose="020B0604030504040204" pitchFamily="34" charset="-120"/>
                          <a:ea typeface="微軟正黑體" panose="020B0604030504040204" pitchFamily="34" charset="-120"/>
                        </a:rPr>
                        <a:t>新建和更改</a:t>
                      </a:r>
                      <a:r>
                        <a:rPr lang="en-US" altLang="zh-TW" sz="1500" dirty="0">
                          <a:latin typeface="微軟正黑體" panose="020B0604030504040204" pitchFamily="34" charset="-120"/>
                          <a:ea typeface="微軟正黑體" panose="020B0604030504040204" pitchFamily="34" charset="-120"/>
                        </a:rPr>
                        <a:t>BP</a:t>
                      </a:r>
                      <a:r>
                        <a:rPr lang="zh-TW" altLang="en-US" sz="1500" dirty="0">
                          <a:latin typeface="微軟正黑體" panose="020B0604030504040204" pitchFamily="34" charset="-120"/>
                          <a:ea typeface="微軟正黑體" panose="020B0604030504040204" pitchFamily="34" charset="-120"/>
                        </a:rPr>
                        <a:t>時於</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填寫</a:t>
                      </a:r>
                      <a:r>
                        <a:rPr lang="en-US" altLang="zh-TW" sz="1500" dirty="0">
                          <a:latin typeface="微軟正黑體" panose="020B0604030504040204" pitchFamily="34" charset="-120"/>
                          <a:ea typeface="微軟正黑體" panose="020B0604030504040204" pitchFamily="34" charset="-120"/>
                        </a:rPr>
                        <a:t>&amp;</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aphicFrame>
        <p:nvGraphicFramePr>
          <p:cNvPr id="24" name="表格 30">
            <a:extLst>
              <a:ext uri="{FF2B5EF4-FFF2-40B4-BE49-F238E27FC236}">
                <a16:creationId xmlns:a16="http://schemas.microsoft.com/office/drawing/2014/main" xmlns="" id="{989E1581-C431-6563-8E92-3F3EEA8A7C68}"/>
              </a:ext>
            </a:extLst>
          </p:cNvPr>
          <p:cNvGraphicFramePr>
            <a:graphicFrameLocks noGrp="1"/>
          </p:cNvGraphicFramePr>
          <p:nvPr>
            <p:extLst>
              <p:ext uri="{D42A27DB-BD31-4B8C-83A1-F6EECF244321}">
                <p14:modId xmlns:p14="http://schemas.microsoft.com/office/powerpoint/2010/main" xmlns="" val="668471004"/>
              </p:ext>
            </p:extLst>
          </p:nvPr>
        </p:nvGraphicFramePr>
        <p:xfrm>
          <a:off x="7671852" y="4413456"/>
          <a:ext cx="1797832" cy="1009956"/>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52">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algn="ct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審核</a:t>
                      </a:r>
                      <a:endParaRPr lang="en-US" altLang="zh-TW"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aphicFrame>
        <p:nvGraphicFramePr>
          <p:cNvPr id="26" name="表格 30">
            <a:extLst>
              <a:ext uri="{FF2B5EF4-FFF2-40B4-BE49-F238E27FC236}">
                <a16:creationId xmlns:a16="http://schemas.microsoft.com/office/drawing/2014/main" xmlns="" id="{BE9EF86E-5612-B9A9-BB48-F5E0DF750F40}"/>
              </a:ext>
            </a:extLst>
          </p:cNvPr>
          <p:cNvGraphicFramePr>
            <a:graphicFrameLocks noGrp="1"/>
          </p:cNvGraphicFramePr>
          <p:nvPr>
            <p:extLst>
              <p:ext uri="{D42A27DB-BD31-4B8C-83A1-F6EECF244321}">
                <p14:modId xmlns:p14="http://schemas.microsoft.com/office/powerpoint/2010/main" xmlns="" val="2330714875"/>
              </p:ext>
            </p:extLst>
          </p:nvPr>
        </p:nvGraphicFramePr>
        <p:xfrm>
          <a:off x="10047707" y="4294173"/>
          <a:ext cx="1797832" cy="1238591"/>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52">
                <a:tc gridSpan="2">
                  <a:txBody>
                    <a:bodyPr/>
                    <a:lstStyle/>
                    <a:p>
                      <a:pPr algn="ctr"/>
                      <a:r>
                        <a:rPr lang="en-US" altLang="zh-TW" sz="1500" b="1" dirty="0">
                          <a:latin typeface="微軟正黑體" panose="020B0604030504040204" pitchFamily="34" charset="-120"/>
                          <a:ea typeface="微軟正黑體" panose="020B0604030504040204" pitchFamily="34" charset="-120"/>
                        </a:rPr>
                        <a:t>ZMMR001</a:t>
                      </a:r>
                      <a:endParaRPr lang="en-GB" sz="1500" b="1"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87">
                <a:tc gridSpan="2">
                  <a:txBody>
                    <a:bodyPr/>
                    <a:lstStyle/>
                    <a:p>
                      <a:pPr algn="ctr"/>
                      <a:r>
                        <a:rPr lang="zh-TW" altLang="en-US" sz="1500" dirty="0">
                          <a:latin typeface="微軟正黑體" panose="020B0604030504040204" pitchFamily="34" charset="-120"/>
                          <a:ea typeface="微軟正黑體" panose="020B0604030504040204" pitchFamily="34" charset="-120"/>
                        </a:rPr>
                        <a:t>將</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申請完成的資料輸入</a:t>
                      </a:r>
                      <a:r>
                        <a:rPr lang="en-US" altLang="zh-TW" sz="1500" dirty="0">
                          <a:latin typeface="微軟正黑體" panose="020B0604030504040204" pitchFamily="34" charset="-120"/>
                          <a:ea typeface="微軟正黑體" panose="020B0604030504040204" pitchFamily="34" charset="-120"/>
                        </a:rPr>
                        <a:t>SAP</a:t>
                      </a: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35" name="Straight Connector 34">
            <a:extLst>
              <a:ext uri="{FF2B5EF4-FFF2-40B4-BE49-F238E27FC236}">
                <a16:creationId xmlns:a16="http://schemas.microsoft.com/office/drawing/2014/main" xmlns="" id="{E4FE21D0-A7C2-63DF-649B-944DB0ABF735}"/>
              </a:ext>
            </a:extLst>
          </p:cNvPr>
          <p:cNvCxnSpPr>
            <a:cxnSpLocks/>
          </p:cNvCxnSpPr>
          <p:nvPr/>
        </p:nvCxnSpPr>
        <p:spPr>
          <a:xfrm>
            <a:off x="9625918" y="1390861"/>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37" name="表格 30">
            <a:extLst>
              <a:ext uri="{FF2B5EF4-FFF2-40B4-BE49-F238E27FC236}">
                <a16:creationId xmlns:a16="http://schemas.microsoft.com/office/drawing/2014/main" xmlns="" id="{763E8509-E05A-201F-6D54-3C2B26B58DF0}"/>
              </a:ext>
            </a:extLst>
          </p:cNvPr>
          <p:cNvGraphicFramePr>
            <a:graphicFrameLocks noGrp="1"/>
          </p:cNvGraphicFramePr>
          <p:nvPr>
            <p:extLst>
              <p:ext uri="{D42A27DB-BD31-4B8C-83A1-F6EECF244321}">
                <p14:modId xmlns:p14="http://schemas.microsoft.com/office/powerpoint/2010/main" xmlns="" val="3556436025"/>
              </p:ext>
            </p:extLst>
          </p:nvPr>
        </p:nvGraphicFramePr>
        <p:xfrm>
          <a:off x="2807475" y="7544351"/>
          <a:ext cx="1797832" cy="1238591"/>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52">
                <a:tc gridSpan="2">
                  <a:txBody>
                    <a:bodyPr/>
                    <a:lstStyle/>
                    <a:p>
                      <a:pPr algn="ctr"/>
                      <a:r>
                        <a:rPr lang="en-US" altLang="zh-TW" sz="1500" b="1" dirty="0">
                          <a:latin typeface="微軟正黑體" panose="020B0604030504040204" pitchFamily="34" charset="-120"/>
                          <a:ea typeface="微軟正黑體" panose="020B0604030504040204" pitchFamily="34" charset="-120"/>
                        </a:rPr>
                        <a:t>BP</a:t>
                      </a:r>
                      <a:endParaRPr lang="en-GB" sz="1500" b="1"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87">
                <a:tc gridSpan="2">
                  <a:txBody>
                    <a:bodyPr/>
                    <a:lstStyle/>
                    <a:p>
                      <a:pPr algn="ctr"/>
                      <a:r>
                        <a:rPr lang="zh-TW" altLang="en-US" sz="1500" dirty="0">
                          <a:latin typeface="微軟正黑體" panose="020B0604030504040204" pitchFamily="34" charset="-120"/>
                          <a:ea typeface="微軟正黑體" panose="020B0604030504040204" pitchFamily="34" charset="-120"/>
                        </a:rPr>
                        <a:t>需求單位在</a:t>
                      </a:r>
                      <a:r>
                        <a:rPr lang="en-US" altLang="zh-TW" sz="1500" dirty="0">
                          <a:latin typeface="微軟正黑體" panose="020B0604030504040204" pitchFamily="34" charset="-120"/>
                          <a:ea typeface="微軟正黑體" panose="020B0604030504040204" pitchFamily="34" charset="-120"/>
                        </a:rPr>
                        <a:t>SAP</a:t>
                      </a:r>
                      <a:r>
                        <a:rPr lang="zh-TW" altLang="en-US" sz="1500" dirty="0">
                          <a:latin typeface="微軟正黑體" panose="020B0604030504040204" pitchFamily="34" charset="-120"/>
                          <a:ea typeface="微軟正黑體" panose="020B0604030504040204" pitchFamily="34" charset="-120"/>
                        </a:rPr>
                        <a:t>系統確認</a:t>
                      </a:r>
                      <a:r>
                        <a:rPr lang="en-US" altLang="zh-TW" sz="1500" dirty="0">
                          <a:latin typeface="微軟正黑體" panose="020B0604030504040204" pitchFamily="34" charset="-120"/>
                          <a:ea typeface="微軟正黑體" panose="020B0604030504040204" pitchFamily="34" charset="-120"/>
                        </a:rPr>
                        <a:t>BP</a:t>
                      </a:r>
                      <a:r>
                        <a:rPr lang="zh-TW" altLang="en-US" sz="1500" dirty="0">
                          <a:latin typeface="微軟正黑體" panose="020B0604030504040204" pitchFamily="34" charset="-120"/>
                          <a:ea typeface="微軟正黑體" panose="020B0604030504040204" pitchFamily="34" charset="-120"/>
                        </a:rPr>
                        <a:t>資料</a:t>
                      </a:r>
                      <a:endParaRPr lang="en-US" altLang="zh-TW"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sp>
        <p:nvSpPr>
          <p:cNvPr id="40" name="流程圖: 結束點 8">
            <a:extLst>
              <a:ext uri="{FF2B5EF4-FFF2-40B4-BE49-F238E27FC236}">
                <a16:creationId xmlns:a16="http://schemas.microsoft.com/office/drawing/2014/main" xmlns="" id="{C555381F-4C87-703D-AD13-65E4222D3193}"/>
              </a:ext>
            </a:extLst>
          </p:cNvPr>
          <p:cNvSpPr/>
          <p:nvPr/>
        </p:nvSpPr>
        <p:spPr bwMode="auto">
          <a:xfrm>
            <a:off x="12286145" y="7982215"/>
            <a:ext cx="1797831" cy="519665"/>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流程結束</a:t>
            </a:r>
          </a:p>
        </p:txBody>
      </p:sp>
      <p:cxnSp>
        <p:nvCxnSpPr>
          <p:cNvPr id="41" name="接點: 肘形 14">
            <a:extLst>
              <a:ext uri="{FF2B5EF4-FFF2-40B4-BE49-F238E27FC236}">
                <a16:creationId xmlns:a16="http://schemas.microsoft.com/office/drawing/2014/main" xmlns="" id="{510F6E8F-12C0-DAD3-1C41-55B25CC254C0}"/>
              </a:ext>
            </a:extLst>
          </p:cNvPr>
          <p:cNvCxnSpPr>
            <a:cxnSpLocks/>
            <a:stCxn id="292" idx="3"/>
            <a:endCxn id="24" idx="1"/>
          </p:cNvCxnSpPr>
          <p:nvPr/>
        </p:nvCxnSpPr>
        <p:spPr>
          <a:xfrm>
            <a:off x="7032423" y="4918434"/>
            <a:ext cx="639429" cy="0"/>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7" name="接點: 肘形 14">
            <a:extLst>
              <a:ext uri="{FF2B5EF4-FFF2-40B4-BE49-F238E27FC236}">
                <a16:creationId xmlns:a16="http://schemas.microsoft.com/office/drawing/2014/main" xmlns="" id="{E2F3CDB1-00E7-C18D-A0B6-A3EE6A18836C}"/>
              </a:ext>
            </a:extLst>
          </p:cNvPr>
          <p:cNvCxnSpPr>
            <a:cxnSpLocks/>
            <a:stCxn id="24" idx="3"/>
            <a:endCxn id="26" idx="1"/>
          </p:cNvCxnSpPr>
          <p:nvPr/>
        </p:nvCxnSpPr>
        <p:spPr>
          <a:xfrm flipV="1">
            <a:off x="9469684" y="4913468"/>
            <a:ext cx="578024" cy="4966"/>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1" name="接點: 肘形 14">
            <a:extLst>
              <a:ext uri="{FF2B5EF4-FFF2-40B4-BE49-F238E27FC236}">
                <a16:creationId xmlns:a16="http://schemas.microsoft.com/office/drawing/2014/main" xmlns="" id="{B3AB7A1B-B657-3203-A6DD-4111EC0A28B9}"/>
              </a:ext>
            </a:extLst>
          </p:cNvPr>
          <p:cNvCxnSpPr>
            <a:cxnSpLocks/>
          </p:cNvCxnSpPr>
          <p:nvPr/>
        </p:nvCxnSpPr>
        <p:spPr>
          <a:xfrm rot="10800000" flipV="1">
            <a:off x="10858512" y="6358740"/>
            <a:ext cx="6323921" cy="78426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54" name="接點: 肘形 14">
            <a:extLst>
              <a:ext uri="{FF2B5EF4-FFF2-40B4-BE49-F238E27FC236}">
                <a16:creationId xmlns:a16="http://schemas.microsoft.com/office/drawing/2014/main" xmlns="" id="{DA563686-76FF-5FEE-BD3B-1BB8D9FA0212}"/>
              </a:ext>
            </a:extLst>
          </p:cNvPr>
          <p:cNvCxnSpPr>
            <a:cxnSpLocks/>
            <a:endCxn id="40" idx="1"/>
          </p:cNvCxnSpPr>
          <p:nvPr/>
        </p:nvCxnSpPr>
        <p:spPr>
          <a:xfrm>
            <a:off x="4571968" y="8227079"/>
            <a:ext cx="7714177" cy="14969"/>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34" name="接點: 肘形 14">
            <a:extLst>
              <a:ext uri="{FF2B5EF4-FFF2-40B4-BE49-F238E27FC236}">
                <a16:creationId xmlns:a16="http://schemas.microsoft.com/office/drawing/2014/main" xmlns="" id="{01AFC1CD-2DE6-8B82-CC55-0BC6C4A74A64}"/>
              </a:ext>
            </a:extLst>
          </p:cNvPr>
          <p:cNvCxnSpPr>
            <a:cxnSpLocks/>
            <a:stCxn id="21" idx="3"/>
            <a:endCxn id="244" idx="1"/>
          </p:cNvCxnSpPr>
          <p:nvPr/>
        </p:nvCxnSpPr>
        <p:spPr>
          <a:xfrm>
            <a:off x="2123546" y="2900447"/>
            <a:ext cx="683930" cy="0"/>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244" name="表格 30">
            <a:extLst>
              <a:ext uri="{FF2B5EF4-FFF2-40B4-BE49-F238E27FC236}">
                <a16:creationId xmlns:a16="http://schemas.microsoft.com/office/drawing/2014/main" xmlns="" id="{43F5D8A9-0287-2C68-8085-F62A53BAF4D4}"/>
              </a:ext>
            </a:extLst>
          </p:cNvPr>
          <p:cNvGraphicFramePr>
            <a:graphicFrameLocks noGrp="1"/>
          </p:cNvGraphicFramePr>
          <p:nvPr>
            <p:extLst>
              <p:ext uri="{D42A27DB-BD31-4B8C-83A1-F6EECF244321}">
                <p14:modId xmlns:p14="http://schemas.microsoft.com/office/powerpoint/2010/main" xmlns="" val="3953563680"/>
              </p:ext>
            </p:extLst>
          </p:nvPr>
        </p:nvGraphicFramePr>
        <p:xfrm>
          <a:off x="2807475" y="2281152"/>
          <a:ext cx="1797832" cy="1238591"/>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52">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87">
                <a:tc gridSpan="2">
                  <a:txBody>
                    <a:bodyPr/>
                    <a:lstStyle/>
                    <a:p>
                      <a:pPr algn="ctr"/>
                      <a:r>
                        <a:rPr lang="zh-TW" altLang="en-US" sz="1500" dirty="0">
                          <a:latin typeface="微軟正黑體" panose="020B0604030504040204" pitchFamily="34" charset="-120"/>
                          <a:ea typeface="微軟正黑體" panose="020B0604030504040204" pitchFamily="34" charset="-120"/>
                        </a:rPr>
                        <a:t>與客戶</a:t>
                      </a:r>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供應商核對申請文件</a:t>
                      </a:r>
                      <a:endParaRPr lang="en-US" altLang="zh-TW"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zh-TW" altLang="en-US" sz="1500" dirty="0">
                          <a:latin typeface="微軟正黑體" panose="020B0604030504040204" pitchFamily="34" charset="-120"/>
                          <a:ea typeface="微軟正黑體" panose="020B0604030504040204" pitchFamily="34" charset="-120"/>
                        </a:rPr>
                        <a:t>線外</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249" name="接點: 肘形 14">
            <a:extLst>
              <a:ext uri="{FF2B5EF4-FFF2-40B4-BE49-F238E27FC236}">
                <a16:creationId xmlns:a16="http://schemas.microsoft.com/office/drawing/2014/main" xmlns="" id="{7DE28240-E800-9F64-CC65-98355FAC7E15}"/>
              </a:ext>
            </a:extLst>
          </p:cNvPr>
          <p:cNvCxnSpPr>
            <a:cxnSpLocks/>
            <a:stCxn id="244" idx="2"/>
            <a:endCxn id="22" idx="0"/>
          </p:cNvCxnSpPr>
          <p:nvPr/>
        </p:nvCxnSpPr>
        <p:spPr>
          <a:xfrm>
            <a:off x="3706391" y="3519744"/>
            <a:ext cx="0" cy="774430"/>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2" name="Group 260">
            <a:extLst>
              <a:ext uri="{FF2B5EF4-FFF2-40B4-BE49-F238E27FC236}">
                <a16:creationId xmlns:a16="http://schemas.microsoft.com/office/drawing/2014/main" xmlns="" id="{5431CBC9-9487-9ACA-E81B-E83C8F84197B}"/>
              </a:ext>
            </a:extLst>
          </p:cNvPr>
          <p:cNvGrpSpPr/>
          <p:nvPr/>
        </p:nvGrpSpPr>
        <p:grpSpPr>
          <a:xfrm>
            <a:off x="4423146" y="2053280"/>
            <a:ext cx="557700" cy="408605"/>
            <a:chOff x="5906472" y="1486857"/>
            <a:chExt cx="371800" cy="272361"/>
          </a:xfrm>
        </p:grpSpPr>
        <p:sp>
          <p:nvSpPr>
            <p:cNvPr id="262" name="Oval 261">
              <a:extLst>
                <a:ext uri="{FF2B5EF4-FFF2-40B4-BE49-F238E27FC236}">
                  <a16:creationId xmlns:a16="http://schemas.microsoft.com/office/drawing/2014/main" xmlns="" id="{6DCB41D8-EC9E-3429-B681-EDB6C910C076}"/>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63" name="TextBox 262">
              <a:extLst>
                <a:ext uri="{FF2B5EF4-FFF2-40B4-BE49-F238E27FC236}">
                  <a16:creationId xmlns:a16="http://schemas.microsoft.com/office/drawing/2014/main" xmlns="" id="{24E4D32D-A43C-DAF1-2392-074A554BEC2C}"/>
                </a:ext>
              </a:extLst>
            </p:cNvPr>
            <p:cNvSpPr txBox="1"/>
            <p:nvPr/>
          </p:nvSpPr>
          <p:spPr>
            <a:xfrm>
              <a:off x="5922672" y="1499926"/>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pSp>
        <p:nvGrpSpPr>
          <p:cNvPr id="4" name="Group 263">
            <a:extLst>
              <a:ext uri="{FF2B5EF4-FFF2-40B4-BE49-F238E27FC236}">
                <a16:creationId xmlns:a16="http://schemas.microsoft.com/office/drawing/2014/main" xmlns="" id="{40254E2B-9531-EB8C-C21F-527367A8D4F3}"/>
              </a:ext>
            </a:extLst>
          </p:cNvPr>
          <p:cNvGrpSpPr/>
          <p:nvPr/>
        </p:nvGrpSpPr>
        <p:grpSpPr>
          <a:xfrm>
            <a:off x="4423575" y="4032897"/>
            <a:ext cx="557700" cy="408605"/>
            <a:chOff x="5906472" y="1486857"/>
            <a:chExt cx="371800" cy="272361"/>
          </a:xfrm>
        </p:grpSpPr>
        <p:sp>
          <p:nvSpPr>
            <p:cNvPr id="265" name="Oval 264">
              <a:extLst>
                <a:ext uri="{FF2B5EF4-FFF2-40B4-BE49-F238E27FC236}">
                  <a16:creationId xmlns:a16="http://schemas.microsoft.com/office/drawing/2014/main" xmlns="" id="{F41A526B-C11B-BB05-9750-71F8F18F241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66" name="TextBox 265">
              <a:extLst>
                <a:ext uri="{FF2B5EF4-FFF2-40B4-BE49-F238E27FC236}">
                  <a16:creationId xmlns:a16="http://schemas.microsoft.com/office/drawing/2014/main" xmlns="" id="{5DCA4AE4-DC45-3001-490C-85916F36835B}"/>
                </a:ext>
              </a:extLst>
            </p:cNvPr>
            <p:cNvSpPr txBox="1"/>
            <p:nvPr/>
          </p:nvSpPr>
          <p:spPr>
            <a:xfrm>
              <a:off x="5922672" y="1499926"/>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nvGrpSpPr>
          <p:cNvPr id="12" name="Group 272">
            <a:extLst>
              <a:ext uri="{FF2B5EF4-FFF2-40B4-BE49-F238E27FC236}">
                <a16:creationId xmlns:a16="http://schemas.microsoft.com/office/drawing/2014/main" xmlns="" id="{D112D0ED-4423-FD36-5A56-0A937923AD91}"/>
              </a:ext>
            </a:extLst>
          </p:cNvPr>
          <p:cNvGrpSpPr/>
          <p:nvPr/>
        </p:nvGrpSpPr>
        <p:grpSpPr>
          <a:xfrm>
            <a:off x="9213588" y="4152514"/>
            <a:ext cx="548175" cy="408605"/>
            <a:chOff x="5906472" y="1486857"/>
            <a:chExt cx="365450" cy="272361"/>
          </a:xfrm>
        </p:grpSpPr>
        <p:sp>
          <p:nvSpPr>
            <p:cNvPr id="274" name="Oval 273">
              <a:extLst>
                <a:ext uri="{FF2B5EF4-FFF2-40B4-BE49-F238E27FC236}">
                  <a16:creationId xmlns:a16="http://schemas.microsoft.com/office/drawing/2014/main" xmlns="" id="{F77D823E-DDAA-6FAF-4BD3-F39F42824F0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75" name="TextBox 274">
              <a:extLst>
                <a:ext uri="{FF2B5EF4-FFF2-40B4-BE49-F238E27FC236}">
                  <a16:creationId xmlns:a16="http://schemas.microsoft.com/office/drawing/2014/main" xmlns="" id="{93555088-B26A-6060-854A-50A406E56129}"/>
                </a:ext>
              </a:extLst>
            </p:cNvPr>
            <p:cNvSpPr txBox="1"/>
            <p:nvPr/>
          </p:nvSpPr>
          <p:spPr>
            <a:xfrm>
              <a:off x="5916322" y="1499926"/>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nvGrpSpPr>
          <p:cNvPr id="13" name="Group 275">
            <a:extLst>
              <a:ext uri="{FF2B5EF4-FFF2-40B4-BE49-F238E27FC236}">
                <a16:creationId xmlns:a16="http://schemas.microsoft.com/office/drawing/2014/main" xmlns="" id="{116545AD-28B7-EEA4-6558-F4443F9BD6FC}"/>
              </a:ext>
            </a:extLst>
          </p:cNvPr>
          <p:cNvGrpSpPr/>
          <p:nvPr/>
        </p:nvGrpSpPr>
        <p:grpSpPr>
          <a:xfrm>
            <a:off x="4271456" y="7300589"/>
            <a:ext cx="557700" cy="408605"/>
            <a:chOff x="5906472" y="1486857"/>
            <a:chExt cx="371800" cy="272361"/>
          </a:xfrm>
        </p:grpSpPr>
        <p:sp>
          <p:nvSpPr>
            <p:cNvPr id="277" name="Oval 276">
              <a:extLst>
                <a:ext uri="{FF2B5EF4-FFF2-40B4-BE49-F238E27FC236}">
                  <a16:creationId xmlns:a16="http://schemas.microsoft.com/office/drawing/2014/main" xmlns="" id="{8FA2EC34-4E9C-713C-D080-6120C0F903F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1" name="TextBox 280">
              <a:extLst>
                <a:ext uri="{FF2B5EF4-FFF2-40B4-BE49-F238E27FC236}">
                  <a16:creationId xmlns:a16="http://schemas.microsoft.com/office/drawing/2014/main" xmlns="" id="{FD82FED9-19AD-8346-E915-8F79409B0F11}"/>
                </a:ext>
              </a:extLst>
            </p:cNvPr>
            <p:cNvSpPr txBox="1"/>
            <p:nvPr/>
          </p:nvSpPr>
          <p:spPr>
            <a:xfrm>
              <a:off x="5922672" y="1499926"/>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cxnSp>
        <p:nvCxnSpPr>
          <p:cNvPr id="285" name="Straight Connector 284">
            <a:extLst>
              <a:ext uri="{FF2B5EF4-FFF2-40B4-BE49-F238E27FC236}">
                <a16:creationId xmlns:a16="http://schemas.microsoft.com/office/drawing/2014/main" xmlns="" id="{9D2950C1-BBEA-5044-076C-BF9E2D89ADE3}"/>
              </a:ext>
            </a:extLst>
          </p:cNvPr>
          <p:cNvCxnSpPr>
            <a:cxnSpLocks/>
          </p:cNvCxnSpPr>
          <p:nvPr/>
        </p:nvCxnSpPr>
        <p:spPr>
          <a:xfrm>
            <a:off x="7326507" y="1400404"/>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6" name="文字方塊 17">
            <a:extLst>
              <a:ext uri="{FF2B5EF4-FFF2-40B4-BE49-F238E27FC236}">
                <a16:creationId xmlns:a16="http://schemas.microsoft.com/office/drawing/2014/main" xmlns="" id="{5E576842-6761-4D3D-FF22-021460D82569}"/>
              </a:ext>
            </a:extLst>
          </p:cNvPr>
          <p:cNvSpPr txBox="1"/>
          <p:nvPr/>
        </p:nvSpPr>
        <p:spPr>
          <a:xfrm>
            <a:off x="9625917" y="1409460"/>
            <a:ext cx="2249757" cy="400110"/>
          </a:xfrm>
          <a:prstGeom prst="rect">
            <a:avLst/>
          </a:prstGeom>
          <a:noFill/>
        </p:spPr>
        <p:txBody>
          <a:bodyPr wrap="square" lIns="137160" tIns="68580" rIns="137160" bIns="68580" rtlCol="0">
            <a:spAutoFit/>
          </a:bodyPr>
          <a:lstStyle/>
          <a:p>
            <a:pPr algn="ctr"/>
            <a:r>
              <a:rPr lang="zh-TW" altLang="en-US" sz="1700" dirty="0"/>
              <a:t>編碼中心</a:t>
            </a:r>
          </a:p>
        </p:txBody>
      </p:sp>
      <p:sp>
        <p:nvSpPr>
          <p:cNvPr id="287" name="文字方塊 17">
            <a:extLst>
              <a:ext uri="{FF2B5EF4-FFF2-40B4-BE49-F238E27FC236}">
                <a16:creationId xmlns:a16="http://schemas.microsoft.com/office/drawing/2014/main" xmlns="" id="{5413A1FB-11A4-CA3A-87D5-BB57E00ED3FF}"/>
              </a:ext>
            </a:extLst>
          </p:cNvPr>
          <p:cNvSpPr txBox="1"/>
          <p:nvPr/>
        </p:nvSpPr>
        <p:spPr>
          <a:xfrm>
            <a:off x="5005045" y="1388475"/>
            <a:ext cx="2342678" cy="400110"/>
          </a:xfrm>
          <a:prstGeom prst="rect">
            <a:avLst/>
          </a:prstGeom>
          <a:noFill/>
        </p:spPr>
        <p:txBody>
          <a:bodyPr wrap="square" lIns="137160" tIns="68580" rIns="137160" bIns="68580" rtlCol="0">
            <a:spAutoFit/>
          </a:bodyPr>
          <a:lstStyle/>
          <a:p>
            <a:pPr algn="ctr"/>
            <a:r>
              <a:rPr lang="zh-TW" altLang="en-US" sz="1700" dirty="0"/>
              <a:t>責任單位</a:t>
            </a:r>
          </a:p>
        </p:txBody>
      </p:sp>
      <p:sp>
        <p:nvSpPr>
          <p:cNvPr id="288" name="文字方塊 17">
            <a:extLst>
              <a:ext uri="{FF2B5EF4-FFF2-40B4-BE49-F238E27FC236}">
                <a16:creationId xmlns:a16="http://schemas.microsoft.com/office/drawing/2014/main" xmlns="" id="{F5A306C1-4574-5D7D-9501-436CE18F0C6E}"/>
              </a:ext>
            </a:extLst>
          </p:cNvPr>
          <p:cNvSpPr txBox="1"/>
          <p:nvPr/>
        </p:nvSpPr>
        <p:spPr>
          <a:xfrm>
            <a:off x="7347296" y="1381733"/>
            <a:ext cx="2278623" cy="403288"/>
          </a:xfrm>
          <a:prstGeom prst="rect">
            <a:avLst/>
          </a:prstGeom>
          <a:noFill/>
        </p:spPr>
        <p:txBody>
          <a:bodyPr wrap="square" lIns="137160" tIns="68580" rIns="137160" bIns="68580" rtlCol="0">
            <a:spAutoFit/>
          </a:bodyPr>
          <a:lstStyle/>
          <a:p>
            <a:pPr algn="ctr"/>
            <a:r>
              <a:rPr lang="zh-TW" altLang="en-US" sz="1700" dirty="0"/>
              <a:t>財務單位</a:t>
            </a:r>
          </a:p>
        </p:txBody>
      </p:sp>
      <p:graphicFrame>
        <p:nvGraphicFramePr>
          <p:cNvPr id="292" name="表格 30">
            <a:extLst>
              <a:ext uri="{FF2B5EF4-FFF2-40B4-BE49-F238E27FC236}">
                <a16:creationId xmlns:a16="http://schemas.microsoft.com/office/drawing/2014/main" xmlns="" id="{9224FF16-AB39-6BE9-9B24-1FA7F0F6E0AC}"/>
              </a:ext>
            </a:extLst>
          </p:cNvPr>
          <p:cNvGraphicFramePr>
            <a:graphicFrameLocks noGrp="1"/>
          </p:cNvGraphicFramePr>
          <p:nvPr>
            <p:extLst>
              <p:ext uri="{D42A27DB-BD31-4B8C-83A1-F6EECF244321}">
                <p14:modId xmlns:p14="http://schemas.microsoft.com/office/powerpoint/2010/main" xmlns="" val="753397422"/>
              </p:ext>
            </p:extLst>
          </p:nvPr>
        </p:nvGraphicFramePr>
        <p:xfrm>
          <a:off x="5234592" y="4413456"/>
          <a:ext cx="1797832" cy="1009956"/>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52">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algn="ct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審核</a:t>
                      </a:r>
                      <a:endParaRPr lang="en-US" altLang="zh-TW"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14" name="Group 293">
            <a:extLst>
              <a:ext uri="{FF2B5EF4-FFF2-40B4-BE49-F238E27FC236}">
                <a16:creationId xmlns:a16="http://schemas.microsoft.com/office/drawing/2014/main" xmlns="" id="{87692DC1-785A-A1D9-2203-7646C5C01629}"/>
              </a:ext>
            </a:extLst>
          </p:cNvPr>
          <p:cNvGrpSpPr/>
          <p:nvPr/>
        </p:nvGrpSpPr>
        <p:grpSpPr>
          <a:xfrm>
            <a:off x="6774824" y="4097775"/>
            <a:ext cx="557700" cy="408605"/>
            <a:chOff x="5906472" y="1486857"/>
            <a:chExt cx="371800" cy="272361"/>
          </a:xfrm>
        </p:grpSpPr>
        <p:sp>
          <p:nvSpPr>
            <p:cNvPr id="295" name="Oval 294">
              <a:extLst>
                <a:ext uri="{FF2B5EF4-FFF2-40B4-BE49-F238E27FC236}">
                  <a16:creationId xmlns:a16="http://schemas.microsoft.com/office/drawing/2014/main" xmlns="" id="{2DD57CF2-CF21-6D55-2787-EAB75FA5762D}"/>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6" name="TextBox 295">
              <a:extLst>
                <a:ext uri="{FF2B5EF4-FFF2-40B4-BE49-F238E27FC236}">
                  <a16:creationId xmlns:a16="http://schemas.microsoft.com/office/drawing/2014/main" xmlns="" id="{7E6A300E-6136-18C2-E8EA-1C3AD46EFB5F}"/>
                </a:ext>
              </a:extLst>
            </p:cNvPr>
            <p:cNvSpPr txBox="1"/>
            <p:nvPr/>
          </p:nvSpPr>
          <p:spPr>
            <a:xfrm>
              <a:off x="5922672" y="1499926"/>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cxnSp>
        <p:nvCxnSpPr>
          <p:cNvPr id="297" name="接點: 肘形 14">
            <a:extLst>
              <a:ext uri="{FF2B5EF4-FFF2-40B4-BE49-F238E27FC236}">
                <a16:creationId xmlns:a16="http://schemas.microsoft.com/office/drawing/2014/main" xmlns="" id="{298197BF-FF04-3659-48C6-9B9F7E0D1D6F}"/>
              </a:ext>
            </a:extLst>
          </p:cNvPr>
          <p:cNvCxnSpPr>
            <a:cxnSpLocks/>
            <a:stCxn id="22" idx="3"/>
            <a:endCxn id="292" idx="1"/>
          </p:cNvCxnSpPr>
          <p:nvPr/>
        </p:nvCxnSpPr>
        <p:spPr>
          <a:xfrm>
            <a:off x="4605306" y="4913468"/>
            <a:ext cx="629286" cy="4966"/>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9" name="流程圖: 決策 50">
            <a:extLst>
              <a:ext uri="{FF2B5EF4-FFF2-40B4-BE49-F238E27FC236}">
                <a16:creationId xmlns:a16="http://schemas.microsoft.com/office/drawing/2014/main" xmlns="" id="{34BCC42F-14F5-2B1F-326E-1C8B84B35575}"/>
              </a:ext>
            </a:extLst>
          </p:cNvPr>
          <p:cNvSpPr/>
          <p:nvPr/>
        </p:nvSpPr>
        <p:spPr bwMode="auto">
          <a:xfrm>
            <a:off x="10030311" y="6171021"/>
            <a:ext cx="1841949" cy="1178126"/>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匯入資料發生異常</a:t>
            </a:r>
          </a:p>
        </p:txBody>
      </p:sp>
      <p:cxnSp>
        <p:nvCxnSpPr>
          <p:cNvPr id="11" name="接點: 肘形 14">
            <a:extLst>
              <a:ext uri="{FF2B5EF4-FFF2-40B4-BE49-F238E27FC236}">
                <a16:creationId xmlns:a16="http://schemas.microsoft.com/office/drawing/2014/main" xmlns="" id="{558CB31F-58E9-F867-6629-DEEBE98AE0C0}"/>
              </a:ext>
            </a:extLst>
          </p:cNvPr>
          <p:cNvCxnSpPr>
            <a:cxnSpLocks/>
            <a:stCxn id="9" idx="3"/>
            <a:endCxn id="244" idx="3"/>
          </p:cNvCxnSpPr>
          <p:nvPr/>
        </p:nvCxnSpPr>
        <p:spPr>
          <a:xfrm flipH="1" flipV="1">
            <a:off x="4605306" y="2900447"/>
            <a:ext cx="7266954" cy="3859637"/>
          </a:xfrm>
          <a:prstGeom prst="bentConnector3">
            <a:avLst>
              <a:gd name="adj1" fmla="val -4719"/>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 name="接點: 肘形 14">
            <a:extLst>
              <a:ext uri="{FF2B5EF4-FFF2-40B4-BE49-F238E27FC236}">
                <a16:creationId xmlns:a16="http://schemas.microsoft.com/office/drawing/2014/main" xmlns="" id="{1D6724F4-27B7-8345-D997-1D7791E31C99}"/>
              </a:ext>
            </a:extLst>
          </p:cNvPr>
          <p:cNvCxnSpPr>
            <a:cxnSpLocks/>
            <a:stCxn id="26" idx="2"/>
            <a:endCxn id="9" idx="0"/>
          </p:cNvCxnSpPr>
          <p:nvPr/>
        </p:nvCxnSpPr>
        <p:spPr>
          <a:xfrm>
            <a:off x="10946623" y="5532765"/>
            <a:ext cx="4664" cy="638257"/>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5" name="文字方塊 24">
            <a:extLst>
              <a:ext uri="{FF2B5EF4-FFF2-40B4-BE49-F238E27FC236}">
                <a16:creationId xmlns:a16="http://schemas.microsoft.com/office/drawing/2014/main" xmlns="" id="{1920837A-8F86-1EB3-61C6-220488971FEA}"/>
              </a:ext>
            </a:extLst>
          </p:cNvPr>
          <p:cNvSpPr txBox="1"/>
          <p:nvPr/>
        </p:nvSpPr>
        <p:spPr>
          <a:xfrm>
            <a:off x="12184912" y="6000773"/>
            <a:ext cx="839972" cy="392476"/>
          </a:xfrm>
          <a:prstGeom prst="rect">
            <a:avLst/>
          </a:prstGeom>
          <a:noFill/>
        </p:spPr>
        <p:txBody>
          <a:bodyPr wrap="square" lIns="137160" tIns="68580" rIns="137160" bIns="68580">
            <a:spAutoFit/>
          </a:bodyPr>
          <a:lstStyle/>
          <a:p>
            <a:r>
              <a:rPr lang="zh-TW" altLang="en-US" sz="1600" dirty="0">
                <a:latin typeface="微軟正黑體" panose="020B0604030504040204" pitchFamily="34" charset="-120"/>
                <a:ea typeface="微軟正黑體" panose="020B0604030504040204" pitchFamily="34" charset="-120"/>
              </a:rPr>
              <a:t>是</a:t>
            </a:r>
            <a:endParaRPr lang="zh-TW" altLang="en-US" sz="1600" dirty="0"/>
          </a:p>
        </p:txBody>
      </p:sp>
      <p:sp>
        <p:nvSpPr>
          <p:cNvPr id="27" name="文字方塊 26">
            <a:extLst>
              <a:ext uri="{FF2B5EF4-FFF2-40B4-BE49-F238E27FC236}">
                <a16:creationId xmlns:a16="http://schemas.microsoft.com/office/drawing/2014/main" xmlns="" id="{F48E290A-B9E0-84AA-9757-1851C7566282}"/>
              </a:ext>
            </a:extLst>
          </p:cNvPr>
          <p:cNvSpPr txBox="1"/>
          <p:nvPr/>
        </p:nvSpPr>
        <p:spPr>
          <a:xfrm>
            <a:off x="9532088" y="6367653"/>
            <a:ext cx="839972" cy="392476"/>
          </a:xfrm>
          <a:prstGeom prst="rect">
            <a:avLst/>
          </a:prstGeom>
          <a:noFill/>
        </p:spPr>
        <p:txBody>
          <a:bodyPr wrap="square" lIns="137160" tIns="68580" rIns="137160" bIns="68580">
            <a:spAutoFit/>
          </a:bodyPr>
          <a:lstStyle/>
          <a:p>
            <a:r>
              <a:rPr lang="zh-TW" altLang="en-US" sz="1600" dirty="0">
                <a:latin typeface="微軟正黑體" panose="020B0604030504040204" pitchFamily="34" charset="-120"/>
                <a:ea typeface="微軟正黑體" panose="020B0604030504040204" pitchFamily="34" charset="-120"/>
              </a:rPr>
              <a:t>否</a:t>
            </a:r>
            <a:endParaRPr lang="zh-TW" altLang="en-US" sz="1600" dirty="0"/>
          </a:p>
        </p:txBody>
      </p:sp>
      <p:grpSp>
        <p:nvGrpSpPr>
          <p:cNvPr id="18" name="Group 272">
            <a:extLst>
              <a:ext uri="{FF2B5EF4-FFF2-40B4-BE49-F238E27FC236}">
                <a16:creationId xmlns:a16="http://schemas.microsoft.com/office/drawing/2014/main" xmlns="" id="{D112D0ED-4423-FD36-5A56-0A937923AD91}"/>
              </a:ext>
            </a:extLst>
          </p:cNvPr>
          <p:cNvGrpSpPr/>
          <p:nvPr/>
        </p:nvGrpSpPr>
        <p:grpSpPr>
          <a:xfrm>
            <a:off x="11551077" y="4016303"/>
            <a:ext cx="548175" cy="408605"/>
            <a:chOff x="5906472" y="1486857"/>
            <a:chExt cx="365450" cy="272361"/>
          </a:xfrm>
        </p:grpSpPr>
        <p:sp>
          <p:nvSpPr>
            <p:cNvPr id="69" name="Oval 273">
              <a:extLst>
                <a:ext uri="{FF2B5EF4-FFF2-40B4-BE49-F238E27FC236}">
                  <a16:creationId xmlns:a16="http://schemas.microsoft.com/office/drawing/2014/main" xmlns="" id="{F77D823E-DDAA-6FAF-4BD3-F39F42824F0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0" name="TextBox 274">
              <a:extLst>
                <a:ext uri="{FF2B5EF4-FFF2-40B4-BE49-F238E27FC236}">
                  <a16:creationId xmlns:a16="http://schemas.microsoft.com/office/drawing/2014/main" xmlns="" id="{93555088-B26A-6060-854A-50A406E56129}"/>
                </a:ext>
              </a:extLst>
            </p:cNvPr>
            <p:cNvSpPr txBox="1"/>
            <p:nvPr/>
          </p:nvSpPr>
          <p:spPr>
            <a:xfrm>
              <a:off x="5916322" y="1499926"/>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cxnSp>
        <p:nvCxnSpPr>
          <p:cNvPr id="63" name="接點: 肘形 14">
            <a:extLst>
              <a:ext uri="{FF2B5EF4-FFF2-40B4-BE49-F238E27FC236}">
                <a16:creationId xmlns:a16="http://schemas.microsoft.com/office/drawing/2014/main" xmlns="" id="{B3AB7A1B-B657-3203-A6DD-4111EC0A28B9}"/>
              </a:ext>
            </a:extLst>
          </p:cNvPr>
          <p:cNvCxnSpPr>
            <a:cxnSpLocks/>
            <a:stCxn id="9" idx="1"/>
          </p:cNvCxnSpPr>
          <p:nvPr/>
        </p:nvCxnSpPr>
        <p:spPr>
          <a:xfrm rot="10800000" flipV="1">
            <a:off x="3714713" y="6760083"/>
            <a:ext cx="6315598" cy="813101"/>
          </a:xfrm>
          <a:prstGeom prst="bentConnector3">
            <a:avLst>
              <a:gd name="adj1" fmla="val 10021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83"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1</a:t>
            </a:r>
            <a:endParaRPr lang="en-US" sz="1600" b="0" strike="noStrike" spc="-1" dirty="0">
              <a:solidFill>
                <a:srgbClr val="000000"/>
              </a:solidFill>
              <a:latin typeface="Calibri"/>
            </a:endParaRPr>
          </a:p>
        </p:txBody>
      </p:sp>
    </p:spTree>
    <p:extLst>
      <p:ext uri="{BB962C8B-B14F-4D97-AF65-F5344CB8AC3E}">
        <p14:creationId xmlns:p14="http://schemas.microsoft.com/office/powerpoint/2010/main" xmlns="" val="31556011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97114" y="1594875"/>
            <a:ext cx="17911883" cy="8400709"/>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en-US" sz="2400" dirty="0" err="1">
                <a:solidFill>
                  <a:schemeClr val="dk1"/>
                </a:solidFill>
                <a:latin typeface="Arial"/>
                <a:ea typeface="Arial"/>
                <a:cs typeface="Arial"/>
                <a:sym typeface="Arial"/>
              </a:rPr>
              <a:t>流程補充說明</a:t>
            </a:r>
            <a:r>
              <a:rPr lang="en-US" sz="2400" dirty="0">
                <a:solidFill>
                  <a:schemeClr val="dk1"/>
                </a:solidFill>
                <a:latin typeface="Arial"/>
                <a:ea typeface="Arial"/>
                <a:cs typeface="Arial"/>
                <a:sym typeface="Arial"/>
              </a:rPr>
              <a:t>: </a:t>
            </a:r>
            <a:endParaRPr dirty="0"/>
          </a:p>
          <a:p>
            <a:endParaRPr dirty="0">
              <a:solidFill>
                <a:schemeClr val="dk1"/>
              </a:solidFill>
              <a:latin typeface="Arial"/>
              <a:ea typeface="Arial"/>
              <a:cs typeface="Arial"/>
              <a:sym typeface="Arial"/>
            </a:endParaRPr>
          </a:p>
        </p:txBody>
      </p:sp>
      <p:sp>
        <p:nvSpPr>
          <p:cNvPr id="4" name="TextBox 53">
            <a:extLst>
              <a:ext uri="{FF2B5EF4-FFF2-40B4-BE49-F238E27FC236}">
                <a16:creationId xmlns:a16="http://schemas.microsoft.com/office/drawing/2014/main" xmlns="" id="{DF940026-96D7-3867-6425-C228DF3D29BF}"/>
              </a:ext>
            </a:extLst>
          </p:cNvPr>
          <p:cNvSpPr txBox="1"/>
          <p:nvPr/>
        </p:nvSpPr>
        <p:spPr>
          <a:xfrm>
            <a:off x="369737" y="2243089"/>
            <a:ext cx="17378475" cy="1800493"/>
          </a:xfrm>
          <a:prstGeom prst="rect">
            <a:avLst/>
          </a:prstGeom>
          <a:noFill/>
        </p:spPr>
        <p:txBody>
          <a:bodyPr wrap="square" lIns="137160" tIns="68580" rIns="137160" bIns="68580" rtlCol="0">
            <a:spAutoFit/>
          </a:bodyPr>
          <a:lstStyle/>
          <a:p>
            <a:pPr marL="342900" indent="-342900">
              <a:buFont typeface="+mj-lt"/>
              <a:buAutoNum type="arabicPeriod"/>
            </a:pPr>
            <a:r>
              <a:rPr lang="zh-TW" altLang="en-US" dirty="0"/>
              <a:t>針對加入</a:t>
            </a:r>
            <a:r>
              <a:rPr lang="en-US" altLang="zh-TW" dirty="0"/>
              <a:t>DS B2B</a:t>
            </a:r>
            <a:r>
              <a:rPr lang="zh-TW" altLang="en-US" dirty="0"/>
              <a:t>平台作交期</a:t>
            </a:r>
            <a:r>
              <a:rPr lang="en-US" altLang="zh-TW" dirty="0"/>
              <a:t>/</a:t>
            </a:r>
            <a:r>
              <a:rPr lang="zh-TW" altLang="en-US" dirty="0"/>
              <a:t>價格回覆的廠商，在供應商主檔上作標示</a:t>
            </a:r>
            <a:r>
              <a:rPr lang="en-US" altLang="zh-TW" dirty="0"/>
              <a:t>(</a:t>
            </a:r>
            <a:r>
              <a:rPr lang="zh-TW" altLang="en-US" dirty="0"/>
              <a:t>輸入在「按供應商的訂單輸入」欄位</a:t>
            </a:r>
            <a:r>
              <a:rPr lang="en-US" altLang="zh-TW" dirty="0"/>
              <a:t>)</a:t>
            </a:r>
            <a:r>
              <a:rPr lang="zh-TW" altLang="en-US" dirty="0"/>
              <a:t>。</a:t>
            </a:r>
            <a:endParaRPr lang="en-US" altLang="zh-TW" dirty="0"/>
          </a:p>
          <a:p>
            <a:pPr marL="342900" indent="-342900">
              <a:buFont typeface="+mj-lt"/>
              <a:buAutoNum type="arabicPeriod"/>
            </a:pPr>
            <a:r>
              <a:rPr lang="zh-TW" altLang="en-US" dirty="0"/>
              <a:t>申請供應商的</a:t>
            </a:r>
            <a:r>
              <a:rPr lang="en-US" altLang="zh-TW" dirty="0"/>
              <a:t>EXCEL </a:t>
            </a:r>
            <a:r>
              <a:rPr lang="zh-TW" altLang="en-US" dirty="0"/>
              <a:t> 檔案上的關鍵欄位作選單功能</a:t>
            </a:r>
            <a:endParaRPr lang="en-US" altLang="zh-TW" dirty="0"/>
          </a:p>
          <a:p>
            <a:pPr marL="342900" indent="-342900">
              <a:buFont typeface="+mj-lt"/>
              <a:buAutoNum type="arabicPeriod"/>
            </a:pPr>
            <a:r>
              <a:rPr lang="en-US" altLang="zh-TW" dirty="0"/>
              <a:t>BPM</a:t>
            </a:r>
            <a:r>
              <a:rPr lang="zh-TW" altLang="en-US" dirty="0"/>
              <a:t>也適當加入讀</a:t>
            </a:r>
            <a:r>
              <a:rPr lang="en-US" altLang="zh-TW" dirty="0"/>
              <a:t>EXCEL</a:t>
            </a:r>
            <a:r>
              <a:rPr lang="zh-TW" altLang="en-US" dirty="0"/>
              <a:t>功能，檢查重要欄位，避因資料錯誤造成編碼中心轉入資料時，頻繁發生資料錯誤而退件重簽</a:t>
            </a:r>
            <a:endParaRPr lang="en-US" altLang="zh-TW" dirty="0"/>
          </a:p>
          <a:p>
            <a:pPr marL="342900" indent="-342900">
              <a:buFont typeface="+mj-lt"/>
              <a:buAutoNum type="arabicPeriod"/>
            </a:pPr>
            <a:r>
              <a:rPr lang="en-US" altLang="zh-TW" dirty="0"/>
              <a:t>BPM</a:t>
            </a:r>
            <a:r>
              <a:rPr lang="zh-TW" altLang="en-US" dirty="0"/>
              <a:t>上已有不同種類供應商申簽核流程</a:t>
            </a:r>
            <a:endParaRPr lang="en-US" altLang="zh-TW" dirty="0"/>
          </a:p>
          <a:p>
            <a:endParaRPr lang="en-US" altLang="zh-TW" dirty="0"/>
          </a:p>
          <a:p>
            <a:endParaRPr lang="zh-TW" altLang="en-US" dirty="0"/>
          </a:p>
        </p:txBody>
      </p:sp>
      <p:sp>
        <p:nvSpPr>
          <p:cNvPr id="6" name="TextBox 6">
            <a:extLst>
              <a:ext uri="{FF2B5EF4-FFF2-40B4-BE49-F238E27FC236}">
                <a16:creationId xmlns:a16="http://schemas.microsoft.com/office/drawing/2014/main" xmlns="" id="{5EEB26F3-F15C-7258-8E5F-2B96D4F1F2CD}"/>
              </a:ext>
            </a:extLst>
          </p:cNvPr>
          <p:cNvSpPr txBox="1"/>
          <p:nvPr/>
        </p:nvSpPr>
        <p:spPr>
          <a:xfrm>
            <a:off x="2324142" y="873991"/>
            <a:ext cx="13106402" cy="415498"/>
          </a:xfrm>
          <a:prstGeom prst="rect">
            <a:avLst/>
          </a:prstGeom>
          <a:noFill/>
        </p:spPr>
        <p:txBody>
          <a:bodyPr wrap="square" lIns="137160" tIns="68580" rIns="137160" bIns="68580" rtlCol="0">
            <a:spAutoFit/>
          </a:bodyPr>
          <a:lstStyle/>
          <a:p>
            <a:r>
              <a:rPr lang="en-US" altLang="zh-TW" b="1" spc="-1" dirty="0" smtClean="0">
                <a:solidFill>
                  <a:schemeClr val="dk1"/>
                </a:solidFill>
                <a:latin typeface="Microsoft JhengHei"/>
                <a:ea typeface="Microsoft JhengHei"/>
              </a:rPr>
              <a:t>M</a:t>
            </a:r>
            <a:r>
              <a:rPr lang="en-US" b="1" spc="-1" dirty="0" smtClean="0">
                <a:solidFill>
                  <a:schemeClr val="dk1"/>
                </a:solidFill>
                <a:latin typeface="Microsoft JhengHei"/>
                <a:ea typeface="Microsoft JhengHei"/>
              </a:rPr>
              <a:t>M-</a:t>
            </a:r>
            <a:r>
              <a:rPr lang="en-US" altLang="zh-TW" b="1" spc="-1" dirty="0" smtClean="0">
                <a:solidFill>
                  <a:schemeClr val="dk1"/>
                </a:solidFill>
                <a:latin typeface="Microsoft JhengHei"/>
                <a:ea typeface="Microsoft JhengHei"/>
              </a:rPr>
              <a:t>MA-0020 </a:t>
            </a:r>
            <a:r>
              <a:rPr lang="zh-TW" altLang="en-US" b="1" spc="-1" dirty="0">
                <a:solidFill>
                  <a:schemeClr val="dk1"/>
                </a:solidFill>
                <a:latin typeface="Microsoft JhengHei"/>
                <a:ea typeface="Microsoft JhengHei"/>
              </a:rPr>
              <a:t>供應商主</a:t>
            </a:r>
            <a:r>
              <a:rPr lang="zh-TW" altLang="en-US" b="1" spc="-1">
                <a:solidFill>
                  <a:schemeClr val="dk1"/>
                </a:solidFill>
                <a:latin typeface="Microsoft JhengHei"/>
                <a:ea typeface="Microsoft JhengHei"/>
              </a:rPr>
              <a:t>檔</a:t>
            </a:r>
            <a:r>
              <a:rPr lang="zh-TW" altLang="en-US" b="1" spc="-1" smtClean="0">
                <a:solidFill>
                  <a:schemeClr val="dk1"/>
                </a:solidFill>
                <a:latin typeface="Microsoft JhengHei"/>
                <a:ea typeface="Microsoft JhengHei"/>
              </a:rPr>
              <a:t>維護流程</a:t>
            </a:r>
            <a:endParaRPr lang="zh-TW" altLang="en-US" b="1" spc="-1" dirty="0">
              <a:solidFill>
                <a:schemeClr val="dk1"/>
              </a:solidFill>
              <a:latin typeface="Microsoft JhengHei"/>
              <a:ea typeface="Microsoft JhengHei"/>
            </a:endParaRPr>
          </a:p>
        </p:txBody>
      </p:sp>
      <p:sp>
        <p:nvSpPr>
          <p:cNvPr id="7"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2</a:t>
            </a:r>
            <a:endParaRPr lang="en-US" sz="1600" b="0" strike="noStrike" spc="-1" dirty="0">
              <a:solidFill>
                <a:srgbClr val="000000"/>
              </a:solidFill>
              <a:latin typeface="Calibri"/>
            </a:endParaRPr>
          </a:p>
        </p:txBody>
      </p:sp>
    </p:spTree>
    <p:extLst>
      <p:ext uri="{BB962C8B-B14F-4D97-AF65-F5344CB8AC3E}">
        <p14:creationId xmlns:p14="http://schemas.microsoft.com/office/powerpoint/2010/main" xmlns="" val="32414942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5" name="流程圖: 結束點 8"/>
          <p:cNvSpPr/>
          <p:nvPr/>
        </p:nvSpPr>
        <p:spPr>
          <a:xfrm>
            <a:off x="3242520" y="2150280"/>
            <a:ext cx="1797120" cy="518760"/>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流程</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開始或結束點</a:t>
            </a:r>
            <a:endParaRPr lang="en-US" sz="1500" b="0" strike="noStrike" spc="-1">
              <a:solidFill>
                <a:srgbClr val="000000"/>
              </a:solidFill>
              <a:latin typeface="Calibri"/>
            </a:endParaRPr>
          </a:p>
        </p:txBody>
      </p:sp>
      <p:sp>
        <p:nvSpPr>
          <p:cNvPr id="2976" name="文字方塊 12"/>
          <p:cNvSpPr/>
          <p:nvPr/>
        </p:nvSpPr>
        <p:spPr>
          <a:xfrm>
            <a:off x="5510880" y="2833560"/>
            <a:ext cx="601272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上方</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若本作業為系統交易請輸入該系統的交易代碼</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中間區塊</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動作</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作業</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系統交易 的名稱</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左下方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此處請輸入系統名稱</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若非系統交易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請留空白</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右下方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有自動化程序</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請輸入自動</a:t>
            </a:r>
            <a:endParaRPr lang="en-US" sz="1800" b="0" strike="noStrike" spc="-1">
              <a:solidFill>
                <a:srgbClr val="000000"/>
              </a:solidFill>
              <a:latin typeface="Calibri"/>
            </a:endParaRPr>
          </a:p>
          <a:p>
            <a:pPr defTabSz="457200">
              <a:lnSpc>
                <a:spcPct val="100000"/>
              </a:lnSpc>
            </a:pPr>
            <a:endParaRPr lang="en-US" sz="1800" b="0" strike="noStrike" spc="-1">
              <a:solidFill>
                <a:srgbClr val="000000"/>
              </a:solidFill>
              <a:latin typeface="Calibri"/>
            </a:endParaRPr>
          </a:p>
        </p:txBody>
      </p:sp>
      <p:sp>
        <p:nvSpPr>
          <p:cNvPr id="2977" name="文字方塊 15"/>
          <p:cNvSpPr/>
          <p:nvPr/>
        </p:nvSpPr>
        <p:spPr>
          <a:xfrm>
            <a:off x="5510880" y="2296440"/>
            <a:ext cx="33890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流程起始點或結束點</a:t>
            </a:r>
            <a:endParaRPr lang="en-US" sz="1800" b="0" strike="noStrike" spc="-1">
              <a:solidFill>
                <a:srgbClr val="000000"/>
              </a:solidFill>
              <a:latin typeface="Calibri"/>
            </a:endParaRPr>
          </a:p>
        </p:txBody>
      </p:sp>
      <p:sp>
        <p:nvSpPr>
          <p:cNvPr id="2978" name="文字方塊 24"/>
          <p:cNvSpPr/>
          <p:nvPr/>
        </p:nvSpPr>
        <p:spPr>
          <a:xfrm>
            <a:off x="2548800" y="1451160"/>
            <a:ext cx="5504760" cy="48744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本區域請輸入部門或是工作職掌</a:t>
            </a:r>
            <a:r>
              <a:rPr lang="en-US" sz="1600" b="0" strike="noStrike" spc="-1">
                <a:solidFill>
                  <a:schemeClr val="dk1"/>
                </a:solidFill>
                <a:latin typeface="微軟正黑體"/>
                <a:ea typeface="微軟正黑體"/>
              </a:rPr>
              <a:t>. </a:t>
            </a:r>
            <a:endParaRPr lang="en-US" sz="1600" b="0" strike="noStrike" spc="-1">
              <a:solidFill>
                <a:srgbClr val="000000"/>
              </a:solidFill>
              <a:latin typeface="Calibri"/>
            </a:endParaRPr>
          </a:p>
          <a:p>
            <a:pPr defTabSz="457200">
              <a:lnSpc>
                <a:spcPct val="100000"/>
              </a:lnSpc>
            </a:pPr>
            <a:r>
              <a:rPr lang="zh-TW" sz="1600" b="0" strike="noStrike" spc="-1">
                <a:solidFill>
                  <a:schemeClr val="dk1"/>
                </a:solidFill>
                <a:latin typeface="微軟正黑體"/>
                <a:ea typeface="微軟正黑體"/>
              </a:rPr>
              <a:t>例如</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業務處 或 業務處</a:t>
            </a:r>
            <a:r>
              <a:rPr lang="en-US" sz="1600" b="0" strike="noStrike" spc="-1">
                <a:solidFill>
                  <a:schemeClr val="dk1"/>
                </a:solidFill>
                <a:latin typeface="微軟正黑體"/>
                <a:ea typeface="微軟正黑體"/>
              </a:rPr>
              <a:t>/</a:t>
            </a:r>
            <a:r>
              <a:rPr lang="zh-TW" sz="1600" b="0" strike="noStrike" spc="-1">
                <a:solidFill>
                  <a:schemeClr val="dk1"/>
                </a:solidFill>
                <a:latin typeface="微軟正黑體"/>
                <a:ea typeface="微軟正黑體"/>
              </a:rPr>
              <a:t>業務經理 或 業務人員</a:t>
            </a:r>
            <a:endParaRPr lang="en-US" sz="1600" b="0" strike="noStrike" spc="-1">
              <a:solidFill>
                <a:srgbClr val="000000"/>
              </a:solidFill>
              <a:latin typeface="Calibri"/>
            </a:endParaRPr>
          </a:p>
        </p:txBody>
      </p:sp>
      <p:sp>
        <p:nvSpPr>
          <p:cNvPr id="2979" name="文字方塊 25"/>
          <p:cNvSpPr/>
          <p:nvPr/>
        </p:nvSpPr>
        <p:spPr>
          <a:xfrm>
            <a:off x="240480" y="1840680"/>
            <a:ext cx="206856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本區塊用來說明本流程動作所需要的資料來源</a:t>
            </a:r>
            <a:r>
              <a:rPr lang="en-US" sz="1600" b="0" strike="noStrike" spc="-1">
                <a:solidFill>
                  <a:schemeClr val="dk1"/>
                </a:solidFill>
                <a:latin typeface="微軟正黑體"/>
                <a:ea typeface="微軟正黑體"/>
              </a:rPr>
              <a:t> 包含前置作業流程,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sp>
        <p:nvSpPr>
          <p:cNvPr id="2980" name="文字方塊 26"/>
          <p:cNvSpPr/>
          <p:nvPr/>
        </p:nvSpPr>
        <p:spPr>
          <a:xfrm>
            <a:off x="12055680" y="1856160"/>
            <a:ext cx="208584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本區塊用來說明本流程動作所會產出的結果</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包含後續作業流程</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graphicFrame>
        <p:nvGraphicFramePr>
          <p:cNvPr id="2981" name="表格 30"/>
          <p:cNvGraphicFramePr/>
          <p:nvPr/>
        </p:nvGraphicFramePr>
        <p:xfrm>
          <a:off x="3242520" y="300240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sp>
        <p:nvSpPr>
          <p:cNvPr id="2982" name="流程圖: 預設處理作業 21"/>
          <p:cNvSpPr/>
          <p:nvPr/>
        </p:nvSpPr>
        <p:spPr>
          <a:xfrm>
            <a:off x="3242520" y="4808880"/>
            <a:ext cx="1812240" cy="1237680"/>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lnSpc>
                <a:spcPct val="100000"/>
              </a:lnSpc>
            </a:pPr>
            <a:r>
              <a:rPr lang="en-US" sz="1500" b="0" strike="noStrike" spc="-1">
                <a:solidFill>
                  <a:schemeClr val="dk1"/>
                </a:solidFill>
                <a:latin typeface="微軟正黑體"/>
                <a:ea typeface="微軟正黑體"/>
              </a:rPr>
              <a:t>XXX-001-02</a:t>
            </a:r>
            <a:endParaRPr lang="en-US" sz="1500" b="0" strike="noStrike" spc="-1">
              <a:solidFill>
                <a:srgbClr val="000000"/>
              </a:solidFill>
              <a:latin typeface="Calibri"/>
            </a:endParaRPr>
          </a:p>
          <a:p>
            <a:pPr algn="ctr" defTabSz="457200">
              <a:lnSpc>
                <a:spcPct val="100000"/>
              </a:lnSpc>
            </a:pPr>
            <a:r>
              <a:rPr lang="en-US" sz="1500" b="0" strike="noStrike" spc="-1">
                <a:solidFill>
                  <a:schemeClr val="dk1"/>
                </a:solidFill>
                <a:latin typeface="微軟正黑體"/>
                <a:ea typeface="微軟正黑體"/>
              </a:rPr>
              <a:t>XXX</a:t>
            </a:r>
            <a:r>
              <a:rPr lang="zh-TW" sz="1500" b="0" strike="noStrike" spc="-1">
                <a:solidFill>
                  <a:schemeClr val="dk1"/>
                </a:solidFill>
                <a:latin typeface="微軟正黑體"/>
                <a:ea typeface="微軟正黑體"/>
              </a:rPr>
              <a:t>作業流程</a:t>
            </a:r>
            <a:endParaRPr lang="en-US" sz="1500" b="0" strike="noStrike" spc="-1">
              <a:solidFill>
                <a:srgbClr val="000000"/>
              </a:solidFill>
              <a:latin typeface="Calibri"/>
            </a:endParaRPr>
          </a:p>
        </p:txBody>
      </p:sp>
      <p:sp>
        <p:nvSpPr>
          <p:cNvPr id="2983" name="流程圖: 文件 42"/>
          <p:cNvSpPr/>
          <p:nvPr/>
        </p:nvSpPr>
        <p:spPr>
          <a:xfrm>
            <a:off x="3242520" y="6336000"/>
            <a:ext cx="1841400" cy="1237680"/>
          </a:xfrm>
          <a:prstGeom prst="flowChartDocument">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產出或投入</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文件</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報表</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表單</a:t>
            </a:r>
            <a:endParaRPr lang="en-US" sz="1500" b="0" strike="noStrike" spc="-1">
              <a:solidFill>
                <a:srgbClr val="000000"/>
              </a:solidFill>
              <a:latin typeface="Calibri"/>
            </a:endParaRPr>
          </a:p>
        </p:txBody>
      </p:sp>
      <p:sp>
        <p:nvSpPr>
          <p:cNvPr id="2984" name="文字方塊 46"/>
          <p:cNvSpPr/>
          <p:nvPr/>
        </p:nvSpPr>
        <p:spPr>
          <a:xfrm>
            <a:off x="5568840" y="5289480"/>
            <a:ext cx="41036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於本流程中有關聯的流程編號與名稱</a:t>
            </a:r>
            <a:endParaRPr lang="en-US" sz="1800" b="0" strike="noStrike" spc="-1">
              <a:solidFill>
                <a:srgbClr val="000000"/>
              </a:solidFill>
              <a:latin typeface="Calibri"/>
            </a:endParaRPr>
          </a:p>
        </p:txBody>
      </p:sp>
      <p:sp>
        <p:nvSpPr>
          <p:cNvPr id="2985" name="文字方塊 47"/>
          <p:cNvSpPr/>
          <p:nvPr/>
        </p:nvSpPr>
        <p:spPr>
          <a:xfrm>
            <a:off x="5568840" y="6418440"/>
            <a:ext cx="53132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於本流程中投入或是產出的文件</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報表</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表單名稱</a:t>
            </a:r>
            <a:endParaRPr lang="en-US" sz="1800" b="0" strike="noStrike" spc="-1">
              <a:solidFill>
                <a:srgbClr val="000000"/>
              </a:solidFill>
              <a:latin typeface="Calibri"/>
            </a:endParaRPr>
          </a:p>
        </p:txBody>
      </p:sp>
      <p:sp>
        <p:nvSpPr>
          <p:cNvPr id="2986" name="流程圖: 決策 50"/>
          <p:cNvSpPr/>
          <p:nvPr/>
        </p:nvSpPr>
        <p:spPr>
          <a:xfrm>
            <a:off x="7394040" y="7226640"/>
            <a:ext cx="1841400" cy="117720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決策或判斷點</a:t>
            </a:r>
            <a:endParaRPr lang="en-US" sz="1500" b="0" strike="noStrike" spc="-1">
              <a:solidFill>
                <a:srgbClr val="000000"/>
              </a:solidFill>
              <a:latin typeface="Calibri"/>
            </a:endParaRPr>
          </a:p>
        </p:txBody>
      </p:sp>
      <p:sp>
        <p:nvSpPr>
          <p:cNvPr id="2987" name="流程圖: 接點 51"/>
          <p:cNvSpPr/>
          <p:nvPr/>
        </p:nvSpPr>
        <p:spPr>
          <a:xfrm>
            <a:off x="7989840" y="8646120"/>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sp>
        <p:nvSpPr>
          <p:cNvPr id="2988" name="流程圖: 換頁接點 52"/>
          <p:cNvSpPr/>
          <p:nvPr/>
        </p:nvSpPr>
        <p:spPr>
          <a:xfrm>
            <a:off x="8002440" y="9410400"/>
            <a:ext cx="559800" cy="466560"/>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P2</a:t>
            </a:r>
            <a:endParaRPr lang="en-US" sz="1800" b="0" strike="noStrike" spc="-1">
              <a:solidFill>
                <a:srgbClr val="000000"/>
              </a:solidFill>
              <a:latin typeface="Calibri"/>
            </a:endParaRPr>
          </a:p>
        </p:txBody>
      </p:sp>
      <p:sp>
        <p:nvSpPr>
          <p:cNvPr id="2989" name="文字方塊 53"/>
          <p:cNvSpPr/>
          <p:nvPr/>
        </p:nvSpPr>
        <p:spPr>
          <a:xfrm>
            <a:off x="9526680" y="7716240"/>
            <a:ext cx="185580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決策或是判斷點</a:t>
            </a:r>
            <a:endParaRPr lang="en-US" sz="1800" b="0" strike="noStrike" spc="-1">
              <a:solidFill>
                <a:srgbClr val="000000"/>
              </a:solidFill>
              <a:latin typeface="Calibri"/>
            </a:endParaRPr>
          </a:p>
        </p:txBody>
      </p:sp>
      <p:sp>
        <p:nvSpPr>
          <p:cNvPr id="2990" name="文字方塊 54"/>
          <p:cNvSpPr/>
          <p:nvPr/>
        </p:nvSpPr>
        <p:spPr>
          <a:xfrm>
            <a:off x="9571320" y="869652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同一頁面上的連結點</a:t>
            </a:r>
            <a:endParaRPr lang="en-US" sz="1800" b="0" strike="noStrike" spc="-1">
              <a:solidFill>
                <a:srgbClr val="000000"/>
              </a:solidFill>
              <a:latin typeface="Calibri"/>
            </a:endParaRPr>
          </a:p>
        </p:txBody>
      </p:sp>
      <p:sp>
        <p:nvSpPr>
          <p:cNvPr id="2991" name="文字方塊 55"/>
          <p:cNvSpPr/>
          <p:nvPr/>
        </p:nvSpPr>
        <p:spPr>
          <a:xfrm>
            <a:off x="9571320" y="941040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換頁之連接點</a:t>
            </a:r>
            <a:endParaRPr lang="en-US" sz="1800" b="0" strike="noStrike" spc="-1">
              <a:solidFill>
                <a:srgbClr val="000000"/>
              </a:solidFill>
              <a:latin typeface="Calibri"/>
            </a:endParaRPr>
          </a:p>
        </p:txBody>
      </p:sp>
      <p:sp>
        <p:nvSpPr>
          <p:cNvPr id="2992" name="文字方塊 21"/>
          <p:cNvSpPr/>
          <p:nvPr/>
        </p:nvSpPr>
        <p:spPr>
          <a:xfrm>
            <a:off x="16660800" y="226440"/>
            <a:ext cx="139140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本區塊之頁次</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日期會自動更新</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日期為最後一次更新日</a:t>
            </a:r>
            <a:endParaRPr lang="en-US" sz="1600" b="0" strike="noStrike" spc="-1">
              <a:solidFill>
                <a:srgbClr val="000000"/>
              </a:solidFill>
              <a:latin typeface="Calibri"/>
            </a:endParaRPr>
          </a:p>
        </p:txBody>
      </p:sp>
      <p:sp>
        <p:nvSpPr>
          <p:cNvPr id="2993" name="文字方塊 53"/>
          <p:cNvSpPr/>
          <p:nvPr/>
        </p:nvSpPr>
        <p:spPr>
          <a:xfrm>
            <a:off x="5545800" y="8023320"/>
            <a:ext cx="1556640" cy="54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說明號碼，位於右上角</a:t>
            </a:r>
            <a:endParaRPr lang="en-US" sz="1800" b="0" strike="noStrike" spc="-1">
              <a:solidFill>
                <a:srgbClr val="000000"/>
              </a:solidFill>
              <a:latin typeface="Calibri"/>
            </a:endParaRPr>
          </a:p>
        </p:txBody>
      </p:sp>
      <p:graphicFrame>
        <p:nvGraphicFramePr>
          <p:cNvPr id="2994" name="表格 30"/>
          <p:cNvGraphicFramePr/>
          <p:nvPr/>
        </p:nvGraphicFramePr>
        <p:xfrm>
          <a:off x="3242520" y="811944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grpSp>
        <p:nvGrpSpPr>
          <p:cNvPr id="2995" name="Group 232"/>
          <p:cNvGrpSpPr/>
          <p:nvPr/>
        </p:nvGrpSpPr>
        <p:grpSpPr>
          <a:xfrm>
            <a:off x="4888080" y="7911720"/>
            <a:ext cx="557280" cy="407880"/>
            <a:chOff x="4888080" y="7911720"/>
            <a:chExt cx="557280" cy="407880"/>
          </a:xfrm>
        </p:grpSpPr>
        <p:sp>
          <p:nvSpPr>
            <p:cNvPr id="2996" name="Oval 233"/>
            <p:cNvSpPr/>
            <p:nvPr/>
          </p:nvSpPr>
          <p:spPr>
            <a:xfrm>
              <a:off x="4888080" y="7911720"/>
              <a:ext cx="410760" cy="40788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4050" b="0" strike="noStrike" spc="-1">
                <a:solidFill>
                  <a:schemeClr val="lt1"/>
                </a:solidFill>
                <a:latin typeface="Calibri"/>
              </a:endParaRPr>
            </a:p>
          </p:txBody>
        </p:sp>
        <p:sp>
          <p:nvSpPr>
            <p:cNvPr id="2997" name="TextBox 234"/>
            <p:cNvSpPr/>
            <p:nvPr/>
          </p:nvSpPr>
          <p:spPr>
            <a:xfrm>
              <a:off x="4912560" y="7931520"/>
              <a:ext cx="5328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500" b="0" strike="noStrike" spc="-1">
                  <a:solidFill>
                    <a:schemeClr val="dk1"/>
                  </a:solidFill>
                  <a:latin typeface="微軟正黑體"/>
                  <a:ea typeface="微軟正黑體"/>
                </a:rPr>
                <a:t>1</a:t>
              </a:r>
              <a:endParaRPr lang="en-US" sz="1500" b="0" strike="noStrike" spc="-1">
                <a:solidFill>
                  <a:srgbClr val="000000"/>
                </a:solidFill>
                <a:latin typeface="Calibri"/>
              </a:endParaRPr>
            </a:p>
          </p:txBody>
        </p:sp>
      </p:grpSp>
      <p:grpSp>
        <p:nvGrpSpPr>
          <p:cNvPr id="2998" name="Group 4"/>
          <p:cNvGrpSpPr/>
          <p:nvPr/>
        </p:nvGrpSpPr>
        <p:grpSpPr>
          <a:xfrm>
            <a:off x="10674360" y="835920"/>
            <a:ext cx="3404880" cy="417600"/>
            <a:chOff x="10674360" y="835920"/>
            <a:chExt cx="3404880" cy="417600"/>
          </a:xfrm>
        </p:grpSpPr>
        <p:grpSp>
          <p:nvGrpSpPr>
            <p:cNvPr id="2999" name="Group 24"/>
            <p:cNvGrpSpPr/>
            <p:nvPr/>
          </p:nvGrpSpPr>
          <p:grpSpPr>
            <a:xfrm>
              <a:off x="10674360" y="835920"/>
              <a:ext cx="1297080" cy="417600"/>
              <a:chOff x="10674360" y="835920"/>
              <a:chExt cx="1297080" cy="417600"/>
            </a:xfrm>
          </p:grpSpPr>
          <p:sp>
            <p:nvSpPr>
              <p:cNvPr id="3000" name="文字方塊 21"/>
              <p:cNvSpPr/>
              <p:nvPr/>
            </p:nvSpPr>
            <p:spPr>
              <a:xfrm>
                <a:off x="10674360" y="83592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sp>
            <p:nvSpPr>
              <p:cNvPr id="3001" name="文字方塊 22"/>
              <p:cNvSpPr/>
              <p:nvPr/>
            </p:nvSpPr>
            <p:spPr>
              <a:xfrm>
                <a:off x="11027160" y="858960"/>
                <a:ext cx="94428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新流程</a:t>
                </a:r>
                <a:endParaRPr lang="en-US" sz="2000" b="0" strike="noStrike" spc="-1">
                  <a:solidFill>
                    <a:srgbClr val="000000"/>
                  </a:solidFill>
                  <a:latin typeface="Calibri"/>
                </a:endParaRPr>
              </a:p>
            </p:txBody>
          </p:sp>
        </p:grpSp>
        <p:grpSp>
          <p:nvGrpSpPr>
            <p:cNvPr id="3002" name="Group 31"/>
            <p:cNvGrpSpPr/>
            <p:nvPr/>
          </p:nvGrpSpPr>
          <p:grpSpPr>
            <a:xfrm>
              <a:off x="11982960" y="843840"/>
              <a:ext cx="2096280" cy="409680"/>
              <a:chOff x="11982960" y="843840"/>
              <a:chExt cx="2096280" cy="409680"/>
            </a:xfrm>
          </p:grpSpPr>
          <p:sp>
            <p:nvSpPr>
              <p:cNvPr id="3003" name="文字方塊 23"/>
              <p:cNvSpPr/>
              <p:nvPr/>
            </p:nvSpPr>
            <p:spPr>
              <a:xfrm>
                <a:off x="12371400" y="858960"/>
                <a:ext cx="170784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權責單位改變</a:t>
                </a:r>
                <a:endParaRPr lang="en-US" sz="2000" b="0" strike="noStrike" spc="-1">
                  <a:solidFill>
                    <a:srgbClr val="000000"/>
                  </a:solidFill>
                  <a:latin typeface="Calibri"/>
                </a:endParaRPr>
              </a:p>
            </p:txBody>
          </p:sp>
          <p:sp>
            <p:nvSpPr>
              <p:cNvPr id="3004" name="文字方塊 21"/>
              <p:cNvSpPr/>
              <p:nvPr/>
            </p:nvSpPr>
            <p:spPr>
              <a:xfrm>
                <a:off x="11982960" y="84384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grpSp>
      </p:grpSp>
      <p:sp>
        <p:nvSpPr>
          <p:cNvPr id="3005" name="TextBox 36"/>
          <p:cNvSpPr/>
          <p:nvPr/>
        </p:nvSpPr>
        <p:spPr>
          <a:xfrm>
            <a:off x="2521800" y="811440"/>
            <a:ext cx="8244000" cy="45540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chemeClr val="dk1"/>
                </a:solidFill>
                <a:latin typeface="Microsoft JhengHei"/>
                <a:ea typeface="Microsoft JhengHei"/>
              </a:rPr>
              <a:t>本區域請輸入”流程編碼”與 “流程名稱”</a:t>
            </a:r>
            <a:endParaRPr lang="en-US" sz="2400" b="0" strike="noStrike" spc="-1">
              <a:solidFill>
                <a:srgbClr val="000000"/>
              </a:solidFill>
              <a:latin typeface="Calibri"/>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15692</TotalTime>
  <Words>718</Words>
  <Application>Collabora_Office/23.05.5.4$Linux_X86_64 LibreOffice_project/1681200a96e5ffa1bee996c23ec760042f91abfa</Application>
  <PresentationFormat>自訂</PresentationFormat>
  <Paragraphs>145</Paragraphs>
  <Slides>7</Slides>
  <Notes>3</Notes>
  <HiddenSlides>0</HiddenSlides>
  <MMClips>0</MMClips>
  <ScaleCrop>false</ScaleCrop>
  <HeadingPairs>
    <vt:vector size="4" baseType="variant">
      <vt:variant>
        <vt:lpstr>佈景主題</vt:lpstr>
      </vt:variant>
      <vt:variant>
        <vt:i4>6</vt:i4>
      </vt:variant>
      <vt:variant>
        <vt:lpstr>投影片標題</vt:lpstr>
      </vt:variant>
      <vt:variant>
        <vt:i4>7</vt:i4>
      </vt:variant>
    </vt:vector>
  </HeadingPairs>
  <TitlesOfParts>
    <vt:vector size="13" baseType="lpstr">
      <vt:lpstr>Office 2013 - 2022 Theme</vt:lpstr>
      <vt:lpstr>Office 2013 - 2022 Theme</vt:lpstr>
      <vt:lpstr>Office 2013 - 2022 Theme</vt:lpstr>
      <vt:lpstr>Office 2013 - 2022 Theme</vt:lpstr>
      <vt:lpstr>Office 2013 - 2022 Theme</vt:lpstr>
      <vt:lpstr>Office 2013 - 2022 Theme</vt:lpstr>
      <vt:lpstr>投影片 1</vt:lpstr>
      <vt:lpstr>投影片 2</vt:lpstr>
      <vt:lpstr>投影片 3</vt:lpstr>
      <vt:lpstr>投影片 4</vt:lpstr>
      <vt:lpstr>投影片 5</vt:lpstr>
      <vt:lpstr>投影片 6</vt:lpstr>
      <vt:lpstr>投影片 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117</cp:revision>
  <dcterms:created xsi:type="dcterms:W3CDTF">2023-05-31T01:27:04Z</dcterms:created>
  <dcterms:modified xsi:type="dcterms:W3CDTF">2025-07-06T12:35:53Z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Custom</vt:lpwstr>
  </property>
  <property fmtid="{D5CDD505-2E9C-101B-9397-08002B2CF9AE}" pid="4" name="Slides">
    <vt:i4>9</vt:i4>
  </property>
</Properties>
</file>