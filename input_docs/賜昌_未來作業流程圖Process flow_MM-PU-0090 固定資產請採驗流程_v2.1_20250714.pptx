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6"/>
  </p:notesMasterIdLst>
  <p:sldIdLst>
    <p:sldId id="261" r:id="rId2"/>
    <p:sldId id="2147472997" r:id="rId3"/>
    <p:sldId id="257" r:id="rId4"/>
    <p:sldId id="275" r:id="rId5"/>
    <p:sldId id="2147375392" r:id="rId6"/>
    <p:sldId id="2147375391" r:id="rId7"/>
    <p:sldId id="2147375393" r:id="rId8"/>
    <p:sldId id="2147375394" r:id="rId9"/>
    <p:sldId id="2147375395" r:id="rId10"/>
    <p:sldId id="2147375397" r:id="rId11"/>
    <p:sldId id="2147375399" r:id="rId12"/>
    <p:sldId id="2147375396" r:id="rId13"/>
    <p:sldId id="2147473000" r:id="rId14"/>
    <p:sldId id="2147375389" r:id="rId15"/>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629" autoAdjust="0"/>
    <p:restoredTop sz="94142"/>
  </p:normalViewPr>
  <p:slideViewPr>
    <p:cSldViewPr snapToGrid="0">
      <p:cViewPr>
        <p:scale>
          <a:sx n="52" d="100"/>
          <a:sy n="52" d="100"/>
        </p:scale>
        <p:origin x="-144" y="-84"/>
      </p:cViewPr>
      <p:guideLst>
        <p:guide orient="horz" pos="3240"/>
        <p:guide pos="576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2025/7/15</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 xmlns:p14="http://schemas.microsoft.com/office/powerpoint/2010/main"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 xmlns:p14="http://schemas.microsoft.com/office/powerpoint/2010/main"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996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518398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902090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724625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635925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908362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9961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902090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 xmlns:a16="http://schemas.microsoft.com/office/drawing/2014/main" id="{E25844F4-1900-BFFB-A55D-854D27EE700E}"/>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 xmlns:a16="http://schemas.microsoft.com/office/drawing/2014/main" id="{1089C009-AC07-C46C-AE77-052C754A5BCD}"/>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3" y="2575"/>
            <a:ext cx="18287997" cy="10286015"/>
          </a:xfrm>
          <a:prstGeom prst="rect">
            <a:avLst/>
          </a:prstGeom>
        </p:spPr>
      </p:pic>
    </p:spTree>
    <p:extLst>
      <p:ext uri="{BB962C8B-B14F-4D97-AF65-F5344CB8AC3E}">
        <p14:creationId xmlns="" xmlns:p14="http://schemas.microsoft.com/office/powerpoint/2010/main"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
        <p:nvSpPr>
          <p:cNvPr id="2" name="TextBox 1">
            <a:extLst>
              <a:ext uri="{FF2B5EF4-FFF2-40B4-BE49-F238E27FC236}">
                <a16:creationId xmlns="" xmlns:a16="http://schemas.microsoft.com/office/drawing/2014/main"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 xmlns:a16="http://schemas.microsoft.com/office/drawing/2014/main"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 xmlns:p14="http://schemas.microsoft.com/office/powerpoint/2010/main"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Tree>
    <p:extLst>
      <p:ext uri="{BB962C8B-B14F-4D97-AF65-F5344CB8AC3E}">
        <p14:creationId xmlns="" xmlns:p14="http://schemas.microsoft.com/office/powerpoint/2010/main"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 xmlns:a16="http://schemas.microsoft.com/office/drawing/2014/main"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 xmlns:a16="http://schemas.microsoft.com/office/drawing/2014/main"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 xmlns:p14="http://schemas.microsoft.com/office/powerpoint/2010/main"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3675913295"/>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11889371">
                  <a:extLst>
                    <a:ext uri="{9D8B030D-6E8A-4147-A177-3AD203B41FA5}">
                      <a16:colId xmlns="" xmlns:a16="http://schemas.microsoft.com/office/drawing/2014/main" val="20001"/>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 xmlns:a16="http://schemas.microsoft.com/office/drawing/2014/main"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642626727"/>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9468940">
                  <a:extLst>
                    <a:ext uri="{9D8B030D-6E8A-4147-A177-3AD203B41FA5}">
                      <a16:colId xmlns="" xmlns:a16="http://schemas.microsoft.com/office/drawing/2014/main" val="20001"/>
                    </a:ext>
                  </a:extLst>
                </a:gridCol>
                <a:gridCol w="2420431">
                  <a:extLst>
                    <a:ext uri="{9D8B030D-6E8A-4147-A177-3AD203B41FA5}">
                      <a16:colId xmlns="" xmlns:a16="http://schemas.microsoft.com/office/drawing/2014/main" val="697488759"/>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 xmlns:a16="http://schemas.microsoft.com/office/drawing/2014/main"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3940032794"/>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 xmlns:a16="http://schemas.microsoft.com/office/drawing/2014/main"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 xmlns:a16="http://schemas.microsoft.com/office/drawing/2014/main" id="{0B02BF32-51F7-DDF0-4455-62412D8BC839}"/>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7/15/2025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 xmlns:a16="http://schemas.microsoft.com/office/drawing/2014/main"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 xmlns:a16="http://schemas.microsoft.com/office/drawing/2014/main"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dirty="0" smtClean="0">
                <a:latin typeface="Microsoft JhengHei" panose="020B0604030504040204" pitchFamily="34" charset="-120"/>
                <a:ea typeface="Microsoft JhengHei" panose="020B0604030504040204" pitchFamily="34" charset="-120"/>
              </a:rPr>
              <a:t>2025/07/01</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 xmlns:a16="http://schemas.microsoft.com/office/drawing/2014/main"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a:t>
            </a:r>
            <a:r>
              <a:rPr lang="en-US" altLang="zh-TW" sz="3600" b="0" spc="-1" dirty="0">
                <a:solidFill>
                  <a:schemeClr val="dk1"/>
                </a:solidFill>
                <a:latin typeface="Microsoft JhengHei"/>
                <a:ea typeface="Microsoft JhengHei"/>
              </a:rPr>
              <a:t>PU</a:t>
            </a:r>
            <a:r>
              <a:rPr lang="en-US" altLang="zh-TW" sz="3600" b="0" strike="noStrike" spc="-1" dirty="0">
                <a:solidFill>
                  <a:schemeClr val="dk1"/>
                </a:solidFill>
                <a:latin typeface="Microsoft JhengHei"/>
                <a:ea typeface="Microsoft JhengHei"/>
              </a:rPr>
              <a:t>-0090</a:t>
            </a:r>
            <a:endParaRPr lang="zh-TW" altLang="en-US" sz="3600" b="0" dirty="0">
              <a:ea typeface="新細明體" panose="02020500000000000000" pitchFamily="18" charset="-120"/>
            </a:endParaRPr>
          </a:p>
        </p:txBody>
      </p:sp>
      <p:sp>
        <p:nvSpPr>
          <p:cNvPr id="5" name="矩形 1">
            <a:extLst>
              <a:ext uri="{FF2B5EF4-FFF2-40B4-BE49-F238E27FC236}">
                <a16:creationId xmlns="" xmlns:a16="http://schemas.microsoft.com/office/drawing/2014/main"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pc="-1" dirty="0">
                <a:solidFill>
                  <a:schemeClr val="dk1"/>
                </a:solidFill>
                <a:latin typeface="Microsoft JhengHei"/>
                <a:ea typeface="Microsoft JhengHei"/>
              </a:rPr>
              <a:t>固定資產請採驗流程</a:t>
            </a:r>
          </a:p>
        </p:txBody>
      </p:sp>
    </p:spTree>
    <p:extLst>
      <p:ext uri="{BB962C8B-B14F-4D97-AF65-F5344CB8AC3E}">
        <p14:creationId xmlns="" xmlns:p14="http://schemas.microsoft.com/office/powerpoint/2010/main"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030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 xmlns:p14="http://schemas.microsoft.com/office/powerpoint/2010/main" val="1750050027"/>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 xmlns:a16="http://schemas.microsoft.com/office/drawing/2014/main" val="1034483988"/>
                    </a:ext>
                  </a:extLst>
                </a:gridCol>
                <a:gridCol w="2061420">
                  <a:extLst>
                    <a:ext uri="{9D8B030D-6E8A-4147-A177-3AD203B41FA5}">
                      <a16:colId xmlns="" xmlns:a16="http://schemas.microsoft.com/office/drawing/2014/main" val="20000"/>
                    </a:ext>
                  </a:extLst>
                </a:gridCol>
                <a:gridCol w="8327926">
                  <a:extLst>
                    <a:ext uri="{9D8B030D-6E8A-4147-A177-3AD203B41FA5}">
                      <a16:colId xmlns="" xmlns:a16="http://schemas.microsoft.com/office/drawing/2014/main" val="20001"/>
                    </a:ext>
                  </a:extLst>
                </a:gridCol>
                <a:gridCol w="1423236">
                  <a:extLst>
                    <a:ext uri="{9D8B030D-6E8A-4147-A177-3AD203B41FA5}">
                      <a16:colId xmlns="" xmlns:a16="http://schemas.microsoft.com/office/drawing/2014/main" val="20002"/>
                    </a:ext>
                  </a:extLst>
                </a:gridCol>
                <a:gridCol w="634687">
                  <a:extLst>
                    <a:ext uri="{9D8B030D-6E8A-4147-A177-3AD203B41FA5}">
                      <a16:colId xmlns="" xmlns:a16="http://schemas.microsoft.com/office/drawing/2014/main" val="20003"/>
                    </a:ext>
                  </a:extLst>
                </a:gridCol>
                <a:gridCol w="1192442">
                  <a:extLst>
                    <a:ext uri="{9D8B030D-6E8A-4147-A177-3AD203B41FA5}">
                      <a16:colId xmlns="" xmlns:a16="http://schemas.microsoft.com/office/drawing/2014/main" val="2445255174"/>
                    </a:ext>
                  </a:extLst>
                </a:gridCol>
                <a:gridCol w="576988">
                  <a:extLst>
                    <a:ext uri="{9D8B030D-6E8A-4147-A177-3AD203B41FA5}">
                      <a16:colId xmlns="" xmlns:a16="http://schemas.microsoft.com/office/drawing/2014/main" val="3610384773"/>
                    </a:ext>
                  </a:extLst>
                </a:gridCol>
                <a:gridCol w="1240658">
                  <a:extLst>
                    <a:ext uri="{9D8B030D-6E8A-4147-A177-3AD203B41FA5}">
                      <a16:colId xmlns="" xmlns:a16="http://schemas.microsoft.com/office/drawing/2014/main"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smtClean="0">
                          <a:solidFill>
                            <a:schemeClr val="lt1"/>
                          </a:solidFill>
                          <a:latin typeface="Microsoft JhengHei"/>
                          <a:ea typeface="Microsoft JhengHei"/>
                          <a:cs typeface="Microsoft JhengHei"/>
                          <a:sym typeface="Microsoft JhengHei"/>
                        </a:rPr>
                        <a:t>2025/07/01</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altLang="zh-TW" sz="1800" b="1" u="none" strike="noStrike" cap="none" dirty="0">
                          <a:solidFill>
                            <a:schemeClr val="dk1"/>
                          </a:solidFill>
                          <a:latin typeface="Microsoft JhengHei"/>
                          <a:ea typeface="Microsoft JhengHei"/>
                          <a:cs typeface="Microsoft JhengHei"/>
                          <a:sym typeface="Microsoft JhengHei"/>
                        </a:rPr>
                        <a:t>DSIT</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r>
                        <a:rPr lang="x-none" sz="1800" b="1" u="none" strike="noStrike" cap="none" dirty="0">
                          <a:solidFill>
                            <a:schemeClr val="dk1"/>
                          </a:solidFill>
                          <a:latin typeface="Microsoft JhengHei"/>
                          <a:ea typeface="Microsoft JhengHei"/>
                          <a:cs typeface="Microsoft JhengHei"/>
                          <a:sym typeface="Microsoft JhengHei"/>
                        </a:rPr>
                        <a:t>V</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a:t>
                      </a:r>
                      <a:r>
                        <a:rPr lang="en-US" sz="1800" b="1" u="none" strike="noStrike" cap="none" dirty="0" smtClean="0">
                          <a:solidFill>
                            <a:schemeClr val="dk1"/>
                          </a:solidFill>
                          <a:latin typeface="Microsoft JhengHei"/>
                          <a:ea typeface="Microsoft JhengHei"/>
                          <a:cs typeface="Microsoft JhengHei"/>
                          <a:sym typeface="Microsoft JhengHei"/>
                        </a:rPr>
                        <a:t>v2.1</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2"/>
                  </a:ext>
                </a:extLst>
              </a:tr>
            </a:tbl>
          </a:graphicData>
        </a:graphic>
      </p:graphicFrame>
      <p:graphicFrame>
        <p:nvGraphicFramePr>
          <p:cNvPr id="191" name="Google Shape;191;p2"/>
          <p:cNvGraphicFramePr/>
          <p:nvPr>
            <p:extLst>
              <p:ext uri="{D42A27DB-BD31-4B8C-83A1-F6EECF244321}">
                <p14:modId xmlns="" xmlns:p14="http://schemas.microsoft.com/office/powerpoint/2010/main" val="3644532040"/>
              </p:ext>
            </p:extLst>
          </p:nvPr>
        </p:nvGraphicFramePr>
        <p:xfrm>
          <a:off x="366270" y="3155451"/>
          <a:ext cx="17518775" cy="3149589"/>
        </p:xfrm>
        <a:graphic>
          <a:graphicData uri="http://schemas.openxmlformats.org/drawingml/2006/table">
            <a:tbl>
              <a:tblPr>
                <a:noFill/>
              </a:tblPr>
              <a:tblGrid>
                <a:gridCol w="2061420">
                  <a:extLst>
                    <a:ext uri="{9D8B030D-6E8A-4147-A177-3AD203B41FA5}">
                      <a16:colId xmlns="" xmlns:a16="http://schemas.microsoft.com/office/drawing/2014/main" val="2419195791"/>
                    </a:ext>
                  </a:extLst>
                </a:gridCol>
                <a:gridCol w="2061420">
                  <a:extLst>
                    <a:ext uri="{9D8B030D-6E8A-4147-A177-3AD203B41FA5}">
                      <a16:colId xmlns="" xmlns:a16="http://schemas.microsoft.com/office/drawing/2014/main" val="20000"/>
                    </a:ext>
                  </a:extLst>
                </a:gridCol>
                <a:gridCol w="8327988">
                  <a:extLst>
                    <a:ext uri="{9D8B030D-6E8A-4147-A177-3AD203B41FA5}">
                      <a16:colId xmlns="" xmlns:a16="http://schemas.microsoft.com/office/drawing/2014/main" val="20001"/>
                    </a:ext>
                  </a:extLst>
                </a:gridCol>
                <a:gridCol w="3270143">
                  <a:extLst>
                    <a:ext uri="{9D8B030D-6E8A-4147-A177-3AD203B41FA5}">
                      <a16:colId xmlns="" xmlns:a16="http://schemas.microsoft.com/office/drawing/2014/main" val="20002"/>
                    </a:ext>
                  </a:extLst>
                </a:gridCol>
                <a:gridCol w="1797804">
                  <a:extLst>
                    <a:ext uri="{9D8B030D-6E8A-4147-A177-3AD203B41FA5}">
                      <a16:colId xmlns="" xmlns:a16="http://schemas.microsoft.com/office/drawing/2014/main"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r>
                        <a:rPr lang="zh-TW" altLang="en-US" sz="1800" b="1" strike="noStrike" spc="-1" dirty="0" smtClean="0">
                          <a:solidFill>
                            <a:srgbClr val="000000"/>
                          </a:solidFill>
                          <a:latin typeface="Microsoft JhengHei" panose="020B0604030504040204" pitchFamily="34" charset="-120"/>
                          <a:ea typeface="Microsoft JhengHei" panose="020B0604030504040204" pitchFamily="34" charset="-120"/>
                        </a:rPr>
                        <a:t>調整</a:t>
                      </a:r>
                      <a:r>
                        <a:rPr lang="zh-TW" altLang="en-US" sz="1800" dirty="0" smtClean="0">
                          <a:latin typeface="微軟正黑體" panose="020B0604030504040204" pitchFamily="34" charset="-120"/>
                          <a:ea typeface="微軟正黑體" panose="020B0604030504040204" pitchFamily="34" charset="-120"/>
                        </a:rPr>
                        <a:t>楦頭流程為楦頭</a:t>
                      </a:r>
                      <a:r>
                        <a:rPr lang="en-US" altLang="zh-TW" sz="1800" dirty="0" smtClean="0">
                          <a:latin typeface="微軟正黑體" panose="020B0604030504040204" pitchFamily="34" charset="-120"/>
                          <a:ea typeface="微軟正黑體" panose="020B0604030504040204" pitchFamily="34" charset="-120"/>
                        </a:rPr>
                        <a:t>/</a:t>
                      </a:r>
                      <a:r>
                        <a:rPr lang="zh-TW" altLang="en-US" sz="1800" dirty="0" smtClean="0">
                          <a:latin typeface="微軟正黑體" panose="020B0604030504040204" pitchFamily="34" charset="-120"/>
                          <a:ea typeface="微軟正黑體" panose="020B0604030504040204" pitchFamily="34" charset="-120"/>
                        </a:rPr>
                        <a:t>模具 共用，修改成用</a:t>
                      </a:r>
                      <a:r>
                        <a:rPr lang="en-US" altLang="zh-TW" sz="1800" dirty="0" smtClean="0">
                          <a:latin typeface="微軟正黑體" panose="020B0604030504040204" pitchFamily="34" charset="-120"/>
                          <a:ea typeface="微軟正黑體" panose="020B0604030504040204" pitchFamily="34" charset="-120"/>
                        </a:rPr>
                        <a:t>101</a:t>
                      </a:r>
                      <a:r>
                        <a:rPr lang="zh-TW" altLang="en-US" sz="1800" dirty="0" smtClean="0">
                          <a:latin typeface="微軟正黑體" panose="020B0604030504040204" pitchFamily="34" charset="-120"/>
                          <a:ea typeface="微軟正黑體" panose="020B0604030504040204" pitchFamily="34" charset="-120"/>
                        </a:rPr>
                        <a:t>收貨</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r>
                        <a:rPr lang="en-US" altLang="zh-TW" sz="1800" b="0" strike="noStrike" spc="-1" dirty="0" smtClean="0">
                          <a:solidFill>
                            <a:schemeClr val="dk1"/>
                          </a:solidFill>
                          <a:latin typeface="Microsoft JhengHei"/>
                          <a:ea typeface="Microsoft JhengHei"/>
                        </a:rPr>
                        <a:t>Vincent</a:t>
                      </a:r>
                      <a:r>
                        <a:rPr lang="en-US" altLang="zh-TW" sz="1800" b="0" strike="noStrike" spc="-1" baseline="0" dirty="0" smtClean="0">
                          <a:solidFill>
                            <a:schemeClr val="dk1"/>
                          </a:solidFill>
                          <a:latin typeface="Microsoft JhengHei"/>
                          <a:ea typeface="Microsoft JhengHei"/>
                        </a:rPr>
                        <a:t> Yeh</a:t>
                      </a: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r>
                        <a:rPr lang="en-US" sz="1800" b="1" strike="noStrike" spc="-1" dirty="0" smtClean="0">
                          <a:solidFill>
                            <a:srgbClr val="000000"/>
                          </a:solidFill>
                          <a:latin typeface="Microsoft JhengHei" panose="020B0604030504040204" pitchFamily="34" charset="-120"/>
                          <a:ea typeface="Microsoft JhengHei" panose="020B0604030504040204" pitchFamily="34" charset="-120"/>
                        </a:rPr>
                        <a:t>2025/07/14</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 xmlns:a16="http://schemas.microsoft.com/office/drawing/2014/main" val="1342071289"/>
                  </a:ext>
                </a:extLst>
              </a:tr>
            </a:tbl>
          </a:graphicData>
        </a:graphic>
      </p:graphicFrame>
      <p:graphicFrame>
        <p:nvGraphicFramePr>
          <p:cNvPr id="192" name="Google Shape;192;p2"/>
          <p:cNvGraphicFramePr/>
          <p:nvPr>
            <p:extLst>
              <p:ext uri="{D42A27DB-BD31-4B8C-83A1-F6EECF244321}">
                <p14:modId xmlns="" xmlns:p14="http://schemas.microsoft.com/office/powerpoint/2010/main"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 xmlns:a16="http://schemas.microsoft.com/office/drawing/2014/main" val="2993713426"/>
                    </a:ext>
                  </a:extLst>
                </a:gridCol>
                <a:gridCol w="2066819">
                  <a:extLst>
                    <a:ext uri="{9D8B030D-6E8A-4147-A177-3AD203B41FA5}">
                      <a16:colId xmlns="" xmlns:a16="http://schemas.microsoft.com/office/drawing/2014/main" val="20000"/>
                    </a:ext>
                  </a:extLst>
                </a:gridCol>
                <a:gridCol w="1797521">
                  <a:extLst>
                    <a:ext uri="{9D8B030D-6E8A-4147-A177-3AD203B41FA5}">
                      <a16:colId xmlns="" xmlns:a16="http://schemas.microsoft.com/office/drawing/2014/main" val="20001"/>
                    </a:ext>
                  </a:extLst>
                </a:gridCol>
                <a:gridCol w="1932170">
                  <a:extLst>
                    <a:ext uri="{9D8B030D-6E8A-4147-A177-3AD203B41FA5}">
                      <a16:colId xmlns="" xmlns:a16="http://schemas.microsoft.com/office/drawing/2014/main" val="20002"/>
                    </a:ext>
                  </a:extLst>
                </a:gridCol>
                <a:gridCol w="1932170">
                  <a:extLst>
                    <a:ext uri="{9D8B030D-6E8A-4147-A177-3AD203B41FA5}">
                      <a16:colId xmlns="" xmlns:a16="http://schemas.microsoft.com/office/drawing/2014/main" val="20003"/>
                    </a:ext>
                  </a:extLst>
                </a:gridCol>
                <a:gridCol w="1932170">
                  <a:extLst>
                    <a:ext uri="{9D8B030D-6E8A-4147-A177-3AD203B41FA5}">
                      <a16:colId xmlns="" xmlns:a16="http://schemas.microsoft.com/office/drawing/2014/main" val="20004"/>
                    </a:ext>
                  </a:extLst>
                </a:gridCol>
                <a:gridCol w="1932170">
                  <a:extLst>
                    <a:ext uri="{9D8B030D-6E8A-4147-A177-3AD203B41FA5}">
                      <a16:colId xmlns="" xmlns:a16="http://schemas.microsoft.com/office/drawing/2014/main" val="20005"/>
                    </a:ext>
                  </a:extLst>
                </a:gridCol>
                <a:gridCol w="1932170">
                  <a:extLst>
                    <a:ext uri="{9D8B030D-6E8A-4147-A177-3AD203B41FA5}">
                      <a16:colId xmlns="" xmlns:a16="http://schemas.microsoft.com/office/drawing/2014/main" val="20006"/>
                    </a:ext>
                  </a:extLst>
                </a:gridCol>
                <a:gridCol w="1932170">
                  <a:extLst>
                    <a:ext uri="{9D8B030D-6E8A-4147-A177-3AD203B41FA5}">
                      <a16:colId xmlns="" xmlns:a16="http://schemas.microsoft.com/office/drawing/2014/main"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 xmlns:a16="http://schemas.microsoft.com/office/drawing/2014/main" val="10000"/>
                  </a:ext>
                </a:extLst>
              </a:tr>
            </a:tbl>
          </a:graphicData>
        </a:graphic>
      </p:graphicFrame>
      <p:graphicFrame>
        <p:nvGraphicFramePr>
          <p:cNvPr id="193" name="Google Shape;193;p2"/>
          <p:cNvGraphicFramePr/>
          <p:nvPr>
            <p:extLst>
              <p:ext uri="{D42A27DB-BD31-4B8C-83A1-F6EECF244321}">
                <p14:modId xmlns="" xmlns:p14="http://schemas.microsoft.com/office/powerpoint/2010/main" val="2533766799"/>
              </p:ext>
            </p:extLst>
          </p:nvPr>
        </p:nvGraphicFramePr>
        <p:xfrm>
          <a:off x="366270" y="6835335"/>
          <a:ext cx="17518773" cy="3195196"/>
        </p:xfrm>
        <a:graphic>
          <a:graphicData uri="http://schemas.openxmlformats.org/drawingml/2006/table">
            <a:tbl>
              <a:tblPr>
                <a:noFill/>
              </a:tblPr>
              <a:tblGrid>
                <a:gridCol w="2045751">
                  <a:extLst>
                    <a:ext uri="{9D8B030D-6E8A-4147-A177-3AD203B41FA5}">
                      <a16:colId xmlns="" xmlns:a16="http://schemas.microsoft.com/office/drawing/2014/main" val="1293584311"/>
                    </a:ext>
                  </a:extLst>
                </a:gridCol>
                <a:gridCol w="2066989">
                  <a:extLst>
                    <a:ext uri="{9D8B030D-6E8A-4147-A177-3AD203B41FA5}">
                      <a16:colId xmlns="" xmlns:a16="http://schemas.microsoft.com/office/drawing/2014/main" val="20000"/>
                    </a:ext>
                  </a:extLst>
                </a:gridCol>
                <a:gridCol w="8024943">
                  <a:extLst>
                    <a:ext uri="{9D8B030D-6E8A-4147-A177-3AD203B41FA5}">
                      <a16:colId xmlns="" xmlns:a16="http://schemas.microsoft.com/office/drawing/2014/main" val="20001"/>
                    </a:ext>
                  </a:extLst>
                </a:gridCol>
                <a:gridCol w="2861625">
                  <a:extLst>
                    <a:ext uri="{9D8B030D-6E8A-4147-A177-3AD203B41FA5}">
                      <a16:colId xmlns="" xmlns:a16="http://schemas.microsoft.com/office/drawing/2014/main" val="20002"/>
                    </a:ext>
                  </a:extLst>
                </a:gridCol>
                <a:gridCol w="2519465">
                  <a:extLst>
                    <a:ext uri="{9D8B030D-6E8A-4147-A177-3AD203B41FA5}">
                      <a16:colId xmlns="" xmlns:a16="http://schemas.microsoft.com/office/drawing/2014/main"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endParaRPr lang="en-US" sz="1800" b="1" strike="noStrike" spc="-1" dirty="0">
                        <a:solidFill>
                          <a:schemeClr val="dk1"/>
                        </a:solidFill>
                        <a:latin typeface="Microsoft JhengHei"/>
                        <a:ea typeface="Microsoft JhengHei"/>
                      </a:endParaRPr>
                    </a:p>
                  </a:txBody>
                  <a:tcPr marL="102600" marR="10260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5"/>
                  </a:ext>
                </a:extLst>
              </a:tr>
            </a:tbl>
          </a:graphicData>
        </a:graphic>
      </p:graphicFrame>
      <p:sp>
        <p:nvSpPr>
          <p:cNvPr id="2" name="TextBox 1">
            <a:extLst>
              <a:ext uri="{FF2B5EF4-FFF2-40B4-BE49-F238E27FC236}">
                <a16:creationId xmlns="" xmlns:a16="http://schemas.microsoft.com/office/drawing/2014/main" id="{632BD657-D42C-B5C5-74AF-5218C346A770}"/>
              </a:ext>
            </a:extLst>
          </p:cNvPr>
          <p:cNvSpPr txBox="1"/>
          <p:nvPr/>
        </p:nvSpPr>
        <p:spPr>
          <a:xfrm>
            <a:off x="2456660" y="762478"/>
            <a:ext cx="8244896" cy="1153457"/>
          </a:xfrm>
          <a:prstGeom prst="rect">
            <a:avLst/>
          </a:prstGeom>
          <a:noFill/>
        </p:spPr>
        <p:txBody>
          <a:bodyPr wrap="square" rtlCol="0">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dirty="0"/>
              <a:t>MM-PU-0090 </a:t>
            </a:r>
            <a:r>
              <a:rPr lang="zh-TW" altLang="en-US" sz="2400" dirty="0"/>
              <a:t>固定資產請採驗流程</a:t>
            </a:r>
          </a:p>
          <a:p>
            <a:endParaRPr lang="zh-TW" altLang="en-US" dirty="0"/>
          </a:p>
        </p:txBody>
      </p:sp>
      <p:sp>
        <p:nvSpPr>
          <p:cNvPr id="3" name="TextBox 2">
            <a:extLst>
              <a:ext uri="{FF2B5EF4-FFF2-40B4-BE49-F238E27FC236}">
                <a16:creationId xmlns="" xmlns:a16="http://schemas.microsoft.com/office/drawing/2014/main" id="{6B09882B-C884-419E-9EB0-7F4E083F29C0}"/>
              </a:ext>
            </a:extLst>
          </p:cNvPr>
          <p:cNvSpPr txBox="1"/>
          <p:nvPr/>
        </p:nvSpPr>
        <p:spPr>
          <a:xfrm>
            <a:off x="16643413" y="697082"/>
            <a:ext cx="1464973" cy="338554"/>
          </a:xfrm>
          <a:prstGeom prst="rect">
            <a:avLst/>
          </a:prstGeom>
          <a:noFill/>
        </p:spPr>
        <p:txBody>
          <a:bodyPr wrap="square" rtlCol="0">
            <a:spAutoFit/>
          </a:bodyPr>
          <a:lstStyle/>
          <a:p>
            <a:r>
              <a:rPr lang="en-US" altLang="zh-TW" sz="1600" dirty="0" smtClean="0">
                <a:latin typeface="微軟正黑體" panose="020B0604030504040204" pitchFamily="34" charset="-120"/>
                <a:ea typeface="微軟正黑體" panose="020B0604030504040204" pitchFamily="34" charset="-120"/>
              </a:rPr>
              <a:t>2025/07/14</a:t>
            </a:r>
            <a:endParaRPr lang="zh-TW" altLang="en-US" sz="1600" dirty="0">
              <a:latin typeface="微軟正黑體" panose="020B0604030504040204" pitchFamily="34" charset="-120"/>
              <a:ea typeface="微軟正黑體" panose="020B0604030504040204" pitchFamily="34" charset="-12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 xmlns:a16="http://schemas.microsoft.com/office/drawing/2014/main" id="{83E6F622-2FBE-CC67-50FE-4ABD7D8B9696}"/>
              </a:ext>
            </a:extLst>
          </p:cNvPr>
          <p:cNvSpPr txBox="1"/>
          <p:nvPr/>
        </p:nvSpPr>
        <p:spPr>
          <a:xfrm>
            <a:off x="2444080" y="794373"/>
            <a:ext cx="857159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MM-PU-0090-01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機器設備</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444079" y="1363613"/>
            <a:ext cx="2241401"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需求單位</a:t>
            </a:r>
          </a:p>
        </p:txBody>
      </p:sp>
      <p:graphicFrame>
        <p:nvGraphicFramePr>
          <p:cNvPr id="30" name="表格 30">
            <a:extLst>
              <a:ext uri="{FF2B5EF4-FFF2-40B4-BE49-F238E27FC236}">
                <a16:creationId xmlns="" xmlns:a16="http://schemas.microsoft.com/office/drawing/2014/main" id="{18197701-0564-3E2B-648E-413A6C8BBE0A}"/>
              </a:ext>
            </a:extLst>
          </p:cNvPr>
          <p:cNvGraphicFramePr>
            <a:graphicFrameLocks noGrp="1"/>
          </p:cNvGraphicFramePr>
          <p:nvPr/>
        </p:nvGraphicFramePr>
        <p:xfrm>
          <a:off x="2626962" y="2006500"/>
          <a:ext cx="1941772" cy="1397740"/>
        </p:xfrm>
        <a:graphic>
          <a:graphicData uri="http://schemas.openxmlformats.org/drawingml/2006/table">
            <a:tbl>
              <a:tblPr>
                <a:tableStyleId>{5940675A-B579-460E-94D1-54222C63F5DA}</a:tableStyleId>
              </a:tblPr>
              <a:tblGrid>
                <a:gridCol w="970886">
                  <a:extLst>
                    <a:ext uri="{9D8B030D-6E8A-4147-A177-3AD203B41FA5}">
                      <a16:colId xmlns="" xmlns:a16="http://schemas.microsoft.com/office/drawing/2014/main" val="3433979995"/>
                    </a:ext>
                  </a:extLst>
                </a:gridCol>
                <a:gridCol w="97088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ME51N</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748146">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建立機器設備請購單</a:t>
                      </a:r>
                      <a:r>
                        <a:rPr kumimoji="0" lang="en-US" altLang="zh-TW" sz="1400" dirty="0">
                          <a:latin typeface="微軟正黑體" panose="020B0604030504040204" pitchFamily="34" charset="-120"/>
                          <a:ea typeface="微軟正黑體" panose="020B0604030504040204" pitchFamily="34" charset="-120"/>
                        </a:rPr>
                        <a:t>;</a:t>
                      </a:r>
                      <a:r>
                        <a:rPr kumimoji="0" lang="zh-TW" altLang="en-US" sz="1400" dirty="0">
                          <a:latin typeface="微軟正黑體" panose="020B0604030504040204" pitchFamily="34" charset="-120"/>
                          <a:ea typeface="微軟正黑體" panose="020B0604030504040204" pitchFamily="34" charset="-120"/>
                        </a:rPr>
                        <a:t>建立資產主檔</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31" name="Group 220">
            <a:extLst>
              <a:ext uri="{FF2B5EF4-FFF2-40B4-BE49-F238E27FC236}">
                <a16:creationId xmlns="" xmlns:a16="http://schemas.microsoft.com/office/drawing/2014/main" id="{A9B401BC-DE49-5FC0-6565-D216316A23DA}"/>
              </a:ext>
            </a:extLst>
          </p:cNvPr>
          <p:cNvGrpSpPr/>
          <p:nvPr/>
        </p:nvGrpSpPr>
        <p:grpSpPr>
          <a:xfrm>
            <a:off x="4367707" y="1793170"/>
            <a:ext cx="545669" cy="408542"/>
            <a:chOff x="5906472" y="1486857"/>
            <a:chExt cx="363779" cy="272361"/>
          </a:xfrm>
        </p:grpSpPr>
        <p:sp>
          <p:nvSpPr>
            <p:cNvPr id="32"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 xmlns:a16="http://schemas.microsoft.com/office/drawing/2014/main" id="{38213EC1-2A6F-CC6F-9F41-D87C1E84A2C8}"/>
                </a:ext>
              </a:extLst>
            </p:cNvPr>
            <p:cNvSpPr txBox="1"/>
            <p:nvPr/>
          </p:nvSpPr>
          <p:spPr>
            <a:xfrm>
              <a:off x="5914651" y="1498612"/>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15" name="表格 30">
            <a:extLst>
              <a:ext uri="{FF2B5EF4-FFF2-40B4-BE49-F238E27FC236}">
                <a16:creationId xmlns="" xmlns:a16="http://schemas.microsoft.com/office/drawing/2014/main" id="{DD4D6B14-D3B2-B7AE-AA9C-20D4B4848A80}"/>
              </a:ext>
            </a:extLst>
          </p:cNvPr>
          <p:cNvGraphicFramePr>
            <a:graphicFrameLocks noGrp="1"/>
          </p:cNvGraphicFramePr>
          <p:nvPr/>
        </p:nvGraphicFramePr>
        <p:xfrm>
          <a:off x="4882335" y="5095832"/>
          <a:ext cx="1800526" cy="1073844"/>
        </p:xfrm>
        <a:graphic>
          <a:graphicData uri="http://schemas.openxmlformats.org/drawingml/2006/table">
            <a:tbl>
              <a:tblPr>
                <a:tableStyleId>{5940675A-B579-460E-94D1-54222C63F5DA}</a:tableStyleId>
              </a:tblPr>
              <a:tblGrid>
                <a:gridCol w="900263">
                  <a:extLst>
                    <a:ext uri="{9D8B030D-6E8A-4147-A177-3AD203B41FA5}">
                      <a16:colId xmlns="" xmlns:a16="http://schemas.microsoft.com/office/drawing/2014/main" val="3433979995"/>
                    </a:ext>
                  </a:extLst>
                </a:gridCol>
                <a:gridCol w="900263">
                  <a:extLst>
                    <a:ext uri="{9D8B030D-6E8A-4147-A177-3AD203B41FA5}">
                      <a16:colId xmlns="" xmlns:a16="http://schemas.microsoft.com/office/drawing/2014/main"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71484">
                <a:tc gridSpan="2">
                  <a:txBody>
                    <a:bodyPr/>
                    <a:lstStyle/>
                    <a:p>
                      <a:pPr algn="ctr"/>
                      <a:r>
                        <a:rPr lang="zh-TW" altLang="en-US" sz="1500" dirty="0">
                          <a:latin typeface="微軟正黑體" panose="020B0604030504040204" pitchFamily="34" charset="-120"/>
                          <a:ea typeface="微軟正黑體" panose="020B0604030504040204" pitchFamily="34" charset="-120"/>
                        </a:rPr>
                        <a:t>簽核請購單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34" name="文字方塊 17">
            <a:extLst>
              <a:ext uri="{FF2B5EF4-FFF2-40B4-BE49-F238E27FC236}">
                <a16:creationId xmlns="" xmlns:a16="http://schemas.microsoft.com/office/drawing/2014/main" id="{DE52170D-3194-E094-D743-3842F95326FE}"/>
              </a:ext>
            </a:extLst>
          </p:cNvPr>
          <p:cNvSpPr txBox="1"/>
          <p:nvPr/>
        </p:nvSpPr>
        <p:spPr>
          <a:xfrm>
            <a:off x="9072613" y="1363755"/>
            <a:ext cx="2809794"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總公司機器統購</a:t>
            </a:r>
          </a:p>
        </p:txBody>
      </p:sp>
      <p:cxnSp>
        <p:nvCxnSpPr>
          <p:cNvPr id="3" name="肘形接點 68">
            <a:extLst>
              <a:ext uri="{FF2B5EF4-FFF2-40B4-BE49-F238E27FC236}">
                <a16:creationId xmlns="" xmlns:a16="http://schemas.microsoft.com/office/drawing/2014/main" id="{5D236408-3F02-99D0-9ECC-DC4D4E746909}"/>
              </a:ext>
            </a:extLst>
          </p:cNvPr>
          <p:cNvCxnSpPr>
            <a:cxnSpLocks/>
            <a:stCxn id="30" idx="2"/>
            <a:endCxn id="24" idx="0"/>
          </p:cNvCxnSpPr>
          <p:nvPr/>
        </p:nvCxnSpPr>
        <p:spPr>
          <a:xfrm rot="16200000" flipH="1">
            <a:off x="3400042" y="3602045"/>
            <a:ext cx="396711" cy="109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4" name="表格 30">
            <a:extLst>
              <a:ext uri="{FF2B5EF4-FFF2-40B4-BE49-F238E27FC236}">
                <a16:creationId xmlns="" xmlns:a16="http://schemas.microsoft.com/office/drawing/2014/main" id="{DB7A0832-7D21-1719-AE8D-90899BF1A64F}"/>
              </a:ext>
            </a:extLst>
          </p:cNvPr>
          <p:cNvGraphicFramePr>
            <a:graphicFrameLocks noGrp="1"/>
          </p:cNvGraphicFramePr>
          <p:nvPr/>
        </p:nvGraphicFramePr>
        <p:xfrm>
          <a:off x="2632449" y="3800951"/>
          <a:ext cx="1932996" cy="1184439"/>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3433979995"/>
                    </a:ext>
                  </a:extLst>
                </a:gridCol>
                <a:gridCol w="966498">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a:t>
                      </a:r>
                      <a:r>
                        <a:rPr lang="en-US" altLang="zh-TW" sz="1500" b="1" dirty="0">
                          <a:solidFill>
                            <a:schemeClr val="tx1"/>
                          </a:solidFill>
                          <a:latin typeface="微軟正黑體" panose="020B0604030504040204" pitchFamily="34" charset="-120"/>
                          <a:ea typeface="微軟正黑體" panose="020B0604030504040204" pitchFamily="34" charset="-120"/>
                        </a:rPr>
                        <a:t>M017</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7" name="肘形接點 68">
            <a:extLst>
              <a:ext uri="{FF2B5EF4-FFF2-40B4-BE49-F238E27FC236}">
                <a16:creationId xmlns="" xmlns:a16="http://schemas.microsoft.com/office/drawing/2014/main" id="{4D315B82-E1CA-313C-D4BB-3BBD9FD7F973}"/>
              </a:ext>
            </a:extLst>
          </p:cNvPr>
          <p:cNvCxnSpPr>
            <a:cxnSpLocks/>
            <a:stCxn id="24" idx="2"/>
            <a:endCxn id="15" idx="1"/>
          </p:cNvCxnSpPr>
          <p:nvPr/>
        </p:nvCxnSpPr>
        <p:spPr>
          <a:xfrm rot="16200000" flipH="1">
            <a:off x="3916959" y="4667378"/>
            <a:ext cx="647364" cy="128338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 xmlns:a16="http://schemas.microsoft.com/office/drawing/2014/main" id="{8037CA89-DBE3-1441-8E4C-7EA04E993D61}"/>
              </a:ext>
            </a:extLst>
          </p:cNvPr>
          <p:cNvSpPr/>
          <p:nvPr/>
        </p:nvSpPr>
        <p:spPr bwMode="auto">
          <a:xfrm>
            <a:off x="4864998" y="7003040"/>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51" name="肘形接點 68">
            <a:extLst>
              <a:ext uri="{FF2B5EF4-FFF2-40B4-BE49-F238E27FC236}">
                <a16:creationId xmlns="" xmlns:a16="http://schemas.microsoft.com/office/drawing/2014/main" id="{2AA47122-2BF1-7633-656B-9B6710026CD9}"/>
              </a:ext>
            </a:extLst>
          </p:cNvPr>
          <p:cNvCxnSpPr>
            <a:cxnSpLocks/>
            <a:stCxn id="66" idx="3"/>
            <a:endCxn id="11" idx="1"/>
          </p:cNvCxnSpPr>
          <p:nvPr/>
        </p:nvCxnSpPr>
        <p:spPr>
          <a:xfrm flipV="1">
            <a:off x="8756700" y="4234727"/>
            <a:ext cx="870474" cy="4116339"/>
          </a:xfrm>
          <a:prstGeom prst="bentConnector3">
            <a:avLst>
              <a:gd name="adj1" fmla="val 62179"/>
            </a:avLst>
          </a:prstGeom>
          <a:ln>
            <a:tailEnd type="triangle"/>
          </a:ln>
        </p:spPr>
        <p:style>
          <a:lnRef idx="1">
            <a:schemeClr val="dk1"/>
          </a:lnRef>
          <a:fillRef idx="0">
            <a:schemeClr val="dk1"/>
          </a:fillRef>
          <a:effectRef idx="0">
            <a:schemeClr val="dk1"/>
          </a:effectRef>
          <a:fontRef idx="minor">
            <a:schemeClr val="tx1"/>
          </a:fontRef>
        </p:style>
      </p:cxnSp>
      <p:sp>
        <p:nvSpPr>
          <p:cNvPr id="210" name="文字方塊 17">
            <a:extLst>
              <a:ext uri="{FF2B5EF4-FFF2-40B4-BE49-F238E27FC236}">
                <a16:creationId xmlns="" xmlns:a16="http://schemas.microsoft.com/office/drawing/2014/main" id="{306A0461-FB0A-6B8E-26F4-F4121B822258}"/>
              </a:ext>
            </a:extLst>
          </p:cNvPr>
          <p:cNvSpPr txBox="1"/>
          <p:nvPr/>
        </p:nvSpPr>
        <p:spPr>
          <a:xfrm>
            <a:off x="4682475" y="1364107"/>
            <a:ext cx="4390138" cy="345755"/>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品牌主管</a:t>
            </a:r>
          </a:p>
        </p:txBody>
      </p:sp>
      <p:sp>
        <p:nvSpPr>
          <p:cNvPr id="7" name="流程圖: 結束點 8">
            <a:extLst>
              <a:ext uri="{FF2B5EF4-FFF2-40B4-BE49-F238E27FC236}">
                <a16:creationId xmlns="" xmlns:a16="http://schemas.microsoft.com/office/drawing/2014/main" id="{A0DBA237-CDB5-528B-0345-5BE2CBAC9775}"/>
              </a:ext>
            </a:extLst>
          </p:cNvPr>
          <p:cNvSpPr/>
          <p:nvPr/>
        </p:nvSpPr>
        <p:spPr bwMode="auto">
          <a:xfrm>
            <a:off x="262373" y="2308605"/>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193" name="流程圖: 換頁接點 52">
            <a:extLst>
              <a:ext uri="{FF2B5EF4-FFF2-40B4-BE49-F238E27FC236}">
                <a16:creationId xmlns="" xmlns:a16="http://schemas.microsoft.com/office/drawing/2014/main" id="{81294BE7-C300-D1CD-4376-34B54DFCC2AF}"/>
              </a:ext>
            </a:extLst>
          </p:cNvPr>
          <p:cNvSpPr/>
          <p:nvPr/>
        </p:nvSpPr>
        <p:spPr bwMode="auto">
          <a:xfrm>
            <a:off x="12903028" y="7239979"/>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sp>
        <p:nvSpPr>
          <p:cNvPr id="195" name="文字方塊 194">
            <a:extLst>
              <a:ext uri="{FF2B5EF4-FFF2-40B4-BE49-F238E27FC236}">
                <a16:creationId xmlns="" xmlns:a16="http://schemas.microsoft.com/office/drawing/2014/main" id="{6FB1FA4C-3B8A-FBB5-B280-85555F843464}"/>
              </a:ext>
            </a:extLst>
          </p:cNvPr>
          <p:cNvSpPr txBox="1"/>
          <p:nvPr/>
        </p:nvSpPr>
        <p:spPr>
          <a:xfrm>
            <a:off x="5811191" y="782477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6" name="文字方塊 195">
            <a:extLst>
              <a:ext uri="{FF2B5EF4-FFF2-40B4-BE49-F238E27FC236}">
                <a16:creationId xmlns="" xmlns:a16="http://schemas.microsoft.com/office/drawing/2014/main" id="{29D95A87-8E81-E79E-403B-C860DCAF45F5}"/>
              </a:ext>
            </a:extLst>
          </p:cNvPr>
          <p:cNvSpPr txBox="1"/>
          <p:nvPr/>
        </p:nvSpPr>
        <p:spPr>
          <a:xfrm>
            <a:off x="6696974" y="7104114"/>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 name="TextBox 53">
            <a:extLst>
              <a:ext uri="{FF2B5EF4-FFF2-40B4-BE49-F238E27FC236}">
                <a16:creationId xmlns="" xmlns:a16="http://schemas.microsoft.com/office/drawing/2014/main" id="{B72E3EFF-4B3C-A9C8-E3E4-F926D0F3D738}"/>
              </a:ext>
            </a:extLst>
          </p:cNvPr>
          <p:cNvSpPr txBox="1"/>
          <p:nvPr/>
        </p:nvSpPr>
        <p:spPr>
          <a:xfrm>
            <a:off x="14380627" y="1909363"/>
            <a:ext cx="3594197" cy="8402300"/>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建立機器設備請購單</a:t>
            </a:r>
            <a:r>
              <a:rPr lang="en-US" altLang="zh-TW" dirty="0">
                <a:latin typeface="微軟正黑體" panose="020B0604030504040204" pitchFamily="34" charset="-120"/>
                <a:ea typeface="微軟正黑體" panose="020B0604030504040204" pitchFamily="34" charset="-120"/>
              </a:rPr>
              <a:t>;</a:t>
            </a:r>
            <a:r>
              <a:rPr lang="zh-TW" altLang="en-US" dirty="0">
                <a:highlight>
                  <a:srgbClr val="FFFF00"/>
                </a:highlight>
                <a:latin typeface="微軟正黑體" panose="020B0604030504040204" pitchFamily="34" charset="-120"/>
                <a:ea typeface="微軟正黑體" panose="020B0604030504040204" pitchFamily="34" charset="-120"/>
              </a:rPr>
              <a:t>選擇正確的物料群組，建立資產主檔時，讓系統自動引導帶出</a:t>
            </a:r>
            <a:r>
              <a:rPr lang="en-US" altLang="zh-TW" dirty="0">
                <a:highlight>
                  <a:srgbClr val="FFFF00"/>
                </a:highlight>
                <a:latin typeface="微軟正黑體" panose="020B0604030504040204" pitchFamily="34" charset="-120"/>
                <a:ea typeface="微軟正黑體" panose="020B0604030504040204" pitchFamily="34" charset="-120"/>
              </a:rPr>
              <a:t>M</a:t>
            </a:r>
            <a:r>
              <a:rPr lang="zh-TW" altLang="en-US" dirty="0">
                <a:highlight>
                  <a:srgbClr val="FFFF00"/>
                </a:highlight>
                <a:latin typeface="微軟正黑體" panose="020B0604030504040204" pitchFamily="34" charset="-120"/>
                <a:ea typeface="微軟正黑體" panose="020B0604030504040204" pitchFamily="34" charset="-120"/>
              </a:rPr>
              <a:t>類預付設備款。</a:t>
            </a:r>
            <a:r>
              <a:rPr lang="zh-TW" altLang="en-US" dirty="0">
                <a:latin typeface="微軟正黑體" panose="020B0604030504040204" pitchFamily="34" charset="-120"/>
                <a:ea typeface="微軟正黑體" panose="020B0604030504040204" pitchFamily="34" charset="-120"/>
              </a:rPr>
              <a:t>首次購買時無物料主檔可供選用，只能建立無料號的機器設備請購單。固定資產請購時，需要填內部訂單號碼作預算管理。</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用程式</a:t>
            </a:r>
            <a:r>
              <a:rPr lang="en-US" altLang="zh-TW" dirty="0">
                <a:latin typeface="微軟正黑體" panose="020B0604030504040204" pitchFamily="34" charset="-120"/>
                <a:ea typeface="微軟正黑體" panose="020B0604030504040204" pitchFamily="34" charset="-120"/>
              </a:rPr>
              <a:t>ZMM017</a:t>
            </a:r>
            <a:r>
              <a:rPr lang="zh-TW" altLang="en-US" dirty="0">
                <a:latin typeface="微軟正黑體" panose="020B0604030504040204" pitchFamily="34" charset="-120"/>
                <a:ea typeface="微軟正黑體" panose="020B0604030504040204" pitchFamily="34" charset="-120"/>
              </a:rPr>
              <a:t>將請購單上傳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highlight>
                  <a:srgbClr val="FFFF00"/>
                </a:highlight>
                <a:latin typeface="微軟正黑體" panose="020B0604030504040204" pitchFamily="34" charset="-120"/>
                <a:ea typeface="微軟正黑體" panose="020B0604030504040204" pitchFamily="34" charset="-120"/>
              </a:rPr>
              <a:t>BPM</a:t>
            </a:r>
            <a:r>
              <a:rPr lang="zh-TW" altLang="en-US" dirty="0">
                <a:highlight>
                  <a:srgbClr val="FFFF00"/>
                </a:highlight>
                <a:latin typeface="微軟正黑體" panose="020B0604030504040204" pitchFamily="34" charset="-120"/>
                <a:ea typeface="微軟正黑體" panose="020B0604030504040204" pitchFamily="34" charset="-120"/>
              </a:rPr>
              <a:t>簽核首關為資產組人員，檢核資產類別是否正確，再依序</a:t>
            </a:r>
            <a:r>
              <a:rPr lang="zh-TW" altLang="en-US" dirty="0">
                <a:latin typeface="微軟正黑體" panose="020B0604030504040204" pitchFamily="34" charset="-120"/>
                <a:ea typeface="微軟正黑體" panose="020B0604030504040204" pitchFamily="34" charset="-120"/>
              </a:rPr>
              <a:t>由主管在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通過簽核的採購單透過程式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建立機器設備物料主檔，並且在物料主檔分類上記錄機器設備所需的屬性資料。通知廠區採購新的物料編號。</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在此流程中完成詢價單簽核流程並產生價格主檔</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簽核駁回的採購單透過程式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拒絕核發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p>
        </p:txBody>
      </p:sp>
      <p:grpSp>
        <p:nvGrpSpPr>
          <p:cNvPr id="5" name="Group 220">
            <a:extLst>
              <a:ext uri="{FF2B5EF4-FFF2-40B4-BE49-F238E27FC236}">
                <a16:creationId xmlns="" xmlns:a16="http://schemas.microsoft.com/office/drawing/2014/main" id="{33DE9BA6-990E-DE54-C6C1-2FDFC3EF39E7}"/>
              </a:ext>
            </a:extLst>
          </p:cNvPr>
          <p:cNvGrpSpPr/>
          <p:nvPr/>
        </p:nvGrpSpPr>
        <p:grpSpPr>
          <a:xfrm>
            <a:off x="6465188" y="4867643"/>
            <a:ext cx="558369" cy="415761"/>
            <a:chOff x="5906472" y="1486857"/>
            <a:chExt cx="372246" cy="272361"/>
          </a:xfrm>
        </p:grpSpPr>
        <p:sp>
          <p:nvSpPr>
            <p:cNvPr id="9" name="Oval 221">
              <a:extLst>
                <a:ext uri="{FF2B5EF4-FFF2-40B4-BE49-F238E27FC236}">
                  <a16:creationId xmlns="" xmlns:a16="http://schemas.microsoft.com/office/drawing/2014/main"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0" name="TextBox 222">
              <a:extLst>
                <a:ext uri="{FF2B5EF4-FFF2-40B4-BE49-F238E27FC236}">
                  <a16:creationId xmlns="" xmlns:a16="http://schemas.microsoft.com/office/drawing/2014/main" id="{C4D33436-02F5-686F-699E-8597EF0E4654}"/>
                </a:ext>
              </a:extLst>
            </p:cNvPr>
            <p:cNvSpPr txBox="1"/>
            <p:nvPr/>
          </p:nvSpPr>
          <p:spPr>
            <a:xfrm>
              <a:off x="592311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11" name="流程圖: 預設處理作業 21">
            <a:extLst>
              <a:ext uri="{FF2B5EF4-FFF2-40B4-BE49-F238E27FC236}">
                <a16:creationId xmlns="" xmlns:a16="http://schemas.microsoft.com/office/drawing/2014/main" id="{437DE4D2-167A-5B0F-4D29-C55BF6E9C12F}"/>
              </a:ext>
            </a:extLst>
          </p:cNvPr>
          <p:cNvSpPr/>
          <p:nvPr/>
        </p:nvSpPr>
        <p:spPr bwMode="auto">
          <a:xfrm>
            <a:off x="9627174" y="3615527"/>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MM-MA-0010-02</a:t>
            </a:r>
          </a:p>
          <a:p>
            <a:pPr algn="ctr" eaLnBrk="0" hangingPunct="0"/>
            <a:r>
              <a:rPr lang="zh-TW" altLang="en-US" sz="1500" dirty="0">
                <a:latin typeface="微軟正黑體" panose="020B0604030504040204" pitchFamily="34" charset="-120"/>
                <a:ea typeface="微軟正黑體" panose="020B0604030504040204" pitchFamily="34" charset="-120"/>
              </a:rPr>
              <a:t>物料主檔</a:t>
            </a:r>
            <a:r>
              <a:rPr lang="en-US" altLang="zh-TW" sz="1500" dirty="0">
                <a:latin typeface="微軟正黑體" panose="020B0604030504040204" pitchFamily="34" charset="-120"/>
                <a:ea typeface="微軟正黑體" panose="020B0604030504040204" pitchFamily="34" charset="-120"/>
              </a:rPr>
              <a:t>-</a:t>
            </a:r>
          </a:p>
          <a:p>
            <a:pPr algn="ctr" eaLnBrk="0" hangingPunct="0"/>
            <a:r>
              <a:rPr lang="zh-TW" altLang="en-US" sz="1500" dirty="0">
                <a:latin typeface="微軟正黑體" panose="020B0604030504040204" pitchFamily="34" charset="-120"/>
                <a:ea typeface="微軟正黑體" panose="020B0604030504040204" pitchFamily="34" charset="-120"/>
              </a:rPr>
              <a:t>建檔流程</a:t>
            </a:r>
            <a:endParaRPr lang="en-US" altLang="zh-TW" sz="1500" dirty="0">
              <a:latin typeface="微軟正黑體" panose="020B0604030504040204" pitchFamily="34" charset="-120"/>
              <a:ea typeface="微軟正黑體" panose="020B0604030504040204" pitchFamily="34" charset="-120"/>
            </a:endParaRP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245" name="肘形接點 68">
            <a:extLst>
              <a:ext uri="{FF2B5EF4-FFF2-40B4-BE49-F238E27FC236}">
                <a16:creationId xmlns="" xmlns:a16="http://schemas.microsoft.com/office/drawing/2014/main" id="{93B41F5C-6F29-27A3-5DF3-9768C1D35ECA}"/>
              </a:ext>
            </a:extLst>
          </p:cNvPr>
          <p:cNvCxnSpPr>
            <a:cxnSpLocks/>
            <a:stCxn id="11" idx="2"/>
            <a:endCxn id="73" idx="0"/>
          </p:cNvCxnSpPr>
          <p:nvPr/>
        </p:nvCxnSpPr>
        <p:spPr>
          <a:xfrm rot="16200000" flipH="1">
            <a:off x="10222431" y="5123134"/>
            <a:ext cx="538737" cy="32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63" name="流程圖: 結束點 8">
            <a:extLst>
              <a:ext uri="{FF2B5EF4-FFF2-40B4-BE49-F238E27FC236}">
                <a16:creationId xmlns="" xmlns:a16="http://schemas.microsoft.com/office/drawing/2014/main" id="{A8F2E797-9B58-4468-C0C3-57206032ACC8}"/>
              </a:ext>
            </a:extLst>
          </p:cNvPr>
          <p:cNvSpPr/>
          <p:nvPr/>
        </p:nvSpPr>
        <p:spPr bwMode="auto">
          <a:xfrm>
            <a:off x="12142197" y="8942385"/>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274" name="肘形接點 68">
            <a:extLst>
              <a:ext uri="{FF2B5EF4-FFF2-40B4-BE49-F238E27FC236}">
                <a16:creationId xmlns="" xmlns:a16="http://schemas.microsoft.com/office/drawing/2014/main" id="{43DC4C85-1AB2-73CA-1BEA-B222BB7D613F}"/>
              </a:ext>
            </a:extLst>
          </p:cNvPr>
          <p:cNvCxnSpPr>
            <a:cxnSpLocks/>
            <a:stCxn id="73" idx="2"/>
            <a:endCxn id="193" idx="0"/>
          </p:cNvCxnSpPr>
          <p:nvPr/>
        </p:nvCxnSpPr>
        <p:spPr>
          <a:xfrm rot="16200000" flipH="1">
            <a:off x="11533195" y="5589831"/>
            <a:ext cx="608915" cy="269138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282" name="Group 220">
            <a:extLst>
              <a:ext uri="{FF2B5EF4-FFF2-40B4-BE49-F238E27FC236}">
                <a16:creationId xmlns="" xmlns:a16="http://schemas.microsoft.com/office/drawing/2014/main" id="{0BD2C8C4-0B4D-5996-F905-28B42D93FFFF}"/>
              </a:ext>
            </a:extLst>
          </p:cNvPr>
          <p:cNvGrpSpPr/>
          <p:nvPr/>
        </p:nvGrpSpPr>
        <p:grpSpPr>
          <a:xfrm>
            <a:off x="11111487" y="3401780"/>
            <a:ext cx="547418" cy="415762"/>
            <a:chOff x="5906472" y="1486857"/>
            <a:chExt cx="364945" cy="272361"/>
          </a:xfrm>
        </p:grpSpPr>
        <p:sp>
          <p:nvSpPr>
            <p:cNvPr id="283" name="Oval 221">
              <a:extLst>
                <a:ext uri="{FF2B5EF4-FFF2-40B4-BE49-F238E27FC236}">
                  <a16:creationId xmlns="" xmlns:a16="http://schemas.microsoft.com/office/drawing/2014/main" id="{CB70F267-BADF-9A72-825D-DA35BEBA724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84" name="TextBox 222">
              <a:extLst>
                <a:ext uri="{FF2B5EF4-FFF2-40B4-BE49-F238E27FC236}">
                  <a16:creationId xmlns="" xmlns:a16="http://schemas.microsoft.com/office/drawing/2014/main" id="{830FB61F-6965-AA2B-54FE-CEB201AE835B}"/>
                </a:ext>
              </a:extLst>
            </p:cNvPr>
            <p:cNvSpPr txBox="1"/>
            <p:nvPr/>
          </p:nvSpPr>
          <p:spPr>
            <a:xfrm>
              <a:off x="5915817"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cxnSp>
        <p:nvCxnSpPr>
          <p:cNvPr id="50" name="Straight Connector 284">
            <a:extLst>
              <a:ext uri="{FF2B5EF4-FFF2-40B4-BE49-F238E27FC236}">
                <a16:creationId xmlns="" xmlns:a16="http://schemas.microsoft.com/office/drawing/2014/main" id="{CCB3D035-826A-6F8E-1D15-1A3E96F62413}"/>
              </a:ext>
            </a:extLst>
          </p:cNvPr>
          <p:cNvCxnSpPr>
            <a:cxnSpLocks/>
          </p:cNvCxnSpPr>
          <p:nvPr/>
        </p:nvCxnSpPr>
        <p:spPr>
          <a:xfrm>
            <a:off x="4685481" y="1353636"/>
            <a:ext cx="0" cy="87975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284">
            <a:extLst>
              <a:ext uri="{FF2B5EF4-FFF2-40B4-BE49-F238E27FC236}">
                <a16:creationId xmlns="" xmlns:a16="http://schemas.microsoft.com/office/drawing/2014/main" id="{CCB3D035-826A-6F8E-1D15-1A3E96F62413}"/>
              </a:ext>
            </a:extLst>
          </p:cNvPr>
          <p:cNvCxnSpPr>
            <a:cxnSpLocks/>
          </p:cNvCxnSpPr>
          <p:nvPr/>
        </p:nvCxnSpPr>
        <p:spPr>
          <a:xfrm>
            <a:off x="9075626" y="1350779"/>
            <a:ext cx="0" cy="88003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肘形接點 68">
            <a:extLst>
              <a:ext uri="{FF2B5EF4-FFF2-40B4-BE49-F238E27FC236}">
                <a16:creationId xmlns="" xmlns:a16="http://schemas.microsoft.com/office/drawing/2014/main" id="{E6DDA5A3-E6DF-5F58-0F3D-691C20C6801E}"/>
              </a:ext>
            </a:extLst>
          </p:cNvPr>
          <p:cNvCxnSpPr>
            <a:cxnSpLocks/>
            <a:stCxn id="35" idx="3"/>
            <a:endCxn id="66" idx="0"/>
          </p:cNvCxnSpPr>
          <p:nvPr/>
        </p:nvCxnSpPr>
        <p:spPr>
          <a:xfrm>
            <a:off x="6706947" y="7359140"/>
            <a:ext cx="1150837" cy="48702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4" name="Google Shape;198;p3"/>
          <p:cNvSpPr txBox="1">
            <a:spLocks/>
          </p:cNvSpPr>
          <p:nvPr/>
        </p:nvSpPr>
        <p:spPr>
          <a:xfrm>
            <a:off x="15399027" y="487206"/>
            <a:ext cx="280050" cy="215157"/>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a:t>1</a:t>
            </a:r>
            <a:endParaRPr lang="en-US" sz="1500" dirty="0"/>
          </a:p>
        </p:txBody>
      </p:sp>
      <p:grpSp>
        <p:nvGrpSpPr>
          <p:cNvPr id="36" name="Group 220">
            <a:extLst>
              <a:ext uri="{FF2B5EF4-FFF2-40B4-BE49-F238E27FC236}">
                <a16:creationId xmlns="" xmlns:a16="http://schemas.microsoft.com/office/drawing/2014/main" id="{49B965EA-5488-20F5-FB4A-DE694754D613}"/>
              </a:ext>
            </a:extLst>
          </p:cNvPr>
          <p:cNvGrpSpPr/>
          <p:nvPr/>
        </p:nvGrpSpPr>
        <p:grpSpPr>
          <a:xfrm>
            <a:off x="4340204" y="3576560"/>
            <a:ext cx="556821" cy="408542"/>
            <a:chOff x="5906472" y="1486857"/>
            <a:chExt cx="371214" cy="272361"/>
          </a:xfrm>
        </p:grpSpPr>
        <p:sp>
          <p:nvSpPr>
            <p:cNvPr id="37" name="Oval 221">
              <a:extLst>
                <a:ext uri="{FF2B5EF4-FFF2-40B4-BE49-F238E27FC236}">
                  <a16:creationId xmlns="" xmlns:a16="http://schemas.microsoft.com/office/drawing/2014/main" id="{D7BB0CC3-1FCC-825A-8223-1DF8E8AA32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8" name="TextBox 222">
              <a:extLst>
                <a:ext uri="{FF2B5EF4-FFF2-40B4-BE49-F238E27FC236}">
                  <a16:creationId xmlns="" xmlns:a16="http://schemas.microsoft.com/office/drawing/2014/main" id="{AA6B41EE-F383-4448-3FC3-5177F4E9C325}"/>
                </a:ext>
              </a:extLst>
            </p:cNvPr>
            <p:cNvSpPr txBox="1"/>
            <p:nvPr/>
          </p:nvSpPr>
          <p:spPr>
            <a:xfrm>
              <a:off x="5922086"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66"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6958868" y="7846166"/>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核發請購單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68" name="表格 30">
            <a:extLst>
              <a:ext uri="{FF2B5EF4-FFF2-40B4-BE49-F238E27FC236}">
                <a16:creationId xmlns="" xmlns:a16="http://schemas.microsoft.com/office/drawing/2014/main" id="{94474DA2-C417-6AE7-95EE-50C9649AB985}"/>
              </a:ext>
            </a:extLst>
          </p:cNvPr>
          <p:cNvGraphicFramePr>
            <a:graphicFrameLocks noGrp="1"/>
          </p:cNvGraphicFramePr>
          <p:nvPr>
            <p:extLst>
              <p:ext uri="{D42A27DB-BD31-4B8C-83A1-F6EECF244321}">
                <p14:modId xmlns="" xmlns:p14="http://schemas.microsoft.com/office/powerpoint/2010/main" val="4272937869"/>
              </p:ext>
            </p:extLst>
          </p:nvPr>
        </p:nvGraphicFramePr>
        <p:xfrm>
          <a:off x="4886424" y="8716456"/>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更新</a:t>
                      </a:r>
                      <a:r>
                        <a:rPr kumimoji="0" lang="en-US" altLang="zh-TW" sz="1500" dirty="0">
                          <a:latin typeface="微軟正黑體" panose="020B0604030504040204" pitchFamily="34" charset="-120"/>
                          <a:ea typeface="微軟正黑體" panose="020B0604030504040204" pitchFamily="34" charset="-120"/>
                        </a:rPr>
                        <a:t>SAP </a:t>
                      </a:r>
                      <a:r>
                        <a:rPr kumimoji="0" lang="zh-TW" altLang="en-US" sz="1500" dirty="0">
                          <a:latin typeface="微軟正黑體" panose="020B0604030504040204" pitchFamily="34" charset="-120"/>
                          <a:ea typeface="微軟正黑體" panose="020B0604030504040204" pitchFamily="34" charset="-120"/>
                        </a:rPr>
                        <a:t>請購單，刪除標記</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12" name="Group 220">
            <a:extLst>
              <a:ext uri="{FF2B5EF4-FFF2-40B4-BE49-F238E27FC236}">
                <a16:creationId xmlns="" xmlns:a16="http://schemas.microsoft.com/office/drawing/2014/main" id="{9F128FF6-A533-AD66-E783-59326744DB4F}"/>
              </a:ext>
            </a:extLst>
          </p:cNvPr>
          <p:cNvGrpSpPr/>
          <p:nvPr/>
        </p:nvGrpSpPr>
        <p:grpSpPr>
          <a:xfrm>
            <a:off x="8521820" y="7625812"/>
            <a:ext cx="556821" cy="408542"/>
            <a:chOff x="5906472" y="1486857"/>
            <a:chExt cx="371214" cy="272361"/>
          </a:xfrm>
        </p:grpSpPr>
        <p:sp>
          <p:nvSpPr>
            <p:cNvPr id="13" name="Oval 221">
              <a:extLst>
                <a:ext uri="{FF2B5EF4-FFF2-40B4-BE49-F238E27FC236}">
                  <a16:creationId xmlns="" xmlns:a16="http://schemas.microsoft.com/office/drawing/2014/main" id="{80168108-106B-2C4B-41AE-D7B2634E928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6" name="TextBox 222">
              <a:extLst>
                <a:ext uri="{FF2B5EF4-FFF2-40B4-BE49-F238E27FC236}">
                  <a16:creationId xmlns="" xmlns:a16="http://schemas.microsoft.com/office/drawing/2014/main" id="{EC906020-C32F-1BC7-D654-A9E0F12AAC24}"/>
                </a:ext>
              </a:extLst>
            </p:cNvPr>
            <p:cNvSpPr txBox="1"/>
            <p:nvPr/>
          </p:nvSpPr>
          <p:spPr>
            <a:xfrm>
              <a:off x="5922086"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29" name="Group 220">
            <a:extLst>
              <a:ext uri="{FF2B5EF4-FFF2-40B4-BE49-F238E27FC236}">
                <a16:creationId xmlns="" xmlns:a16="http://schemas.microsoft.com/office/drawing/2014/main" id="{85F6DF8D-D513-CACE-C82D-6152F1C67FAA}"/>
              </a:ext>
            </a:extLst>
          </p:cNvPr>
          <p:cNvGrpSpPr/>
          <p:nvPr/>
        </p:nvGrpSpPr>
        <p:grpSpPr>
          <a:xfrm>
            <a:off x="6432806" y="8507302"/>
            <a:ext cx="541488" cy="408542"/>
            <a:chOff x="5906472" y="1486857"/>
            <a:chExt cx="360992" cy="272361"/>
          </a:xfrm>
        </p:grpSpPr>
        <p:sp>
          <p:nvSpPr>
            <p:cNvPr id="224" name="Oval 221">
              <a:extLst>
                <a:ext uri="{FF2B5EF4-FFF2-40B4-BE49-F238E27FC236}">
                  <a16:creationId xmlns="" xmlns:a16="http://schemas.microsoft.com/office/drawing/2014/main" id="{7090D349-92C2-9A4C-0E14-34148CF8A77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225" name="TextBox 222">
              <a:extLst>
                <a:ext uri="{FF2B5EF4-FFF2-40B4-BE49-F238E27FC236}">
                  <a16:creationId xmlns="" xmlns:a16="http://schemas.microsoft.com/office/drawing/2014/main" id="{9D762527-7F41-2EE2-42B0-511681EE229D}"/>
                </a:ext>
              </a:extLst>
            </p:cNvPr>
            <p:cNvSpPr txBox="1"/>
            <p:nvPr/>
          </p:nvSpPr>
          <p:spPr>
            <a:xfrm>
              <a:off x="5911864"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73" name="流程圖: 預設處理作業 21">
            <a:extLst>
              <a:ext uri="{FF2B5EF4-FFF2-40B4-BE49-F238E27FC236}">
                <a16:creationId xmlns="" xmlns:a16="http://schemas.microsoft.com/office/drawing/2014/main" id="{437DE4D2-167A-5B0F-4D29-C55BF6E9C12F}"/>
              </a:ext>
            </a:extLst>
          </p:cNvPr>
          <p:cNvSpPr/>
          <p:nvPr/>
        </p:nvSpPr>
        <p:spPr bwMode="auto">
          <a:xfrm>
            <a:off x="9627498" y="5392664"/>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MM-PU-0010</a:t>
            </a:r>
          </a:p>
          <a:p>
            <a:pPr algn="ctr" eaLnBrk="0" hangingPunct="0"/>
            <a:r>
              <a:rPr lang="zh-TW" altLang="en-US" sz="1500" dirty="0">
                <a:latin typeface="微軟正黑體" panose="020B0604030504040204" pitchFamily="34" charset="-120"/>
                <a:ea typeface="微軟正黑體" panose="020B0604030504040204" pitchFamily="34" charset="-120"/>
              </a:rPr>
              <a:t>詢報價更新</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價格主檔</a:t>
            </a:r>
          </a:p>
        </p:txBody>
      </p:sp>
      <p:grpSp>
        <p:nvGrpSpPr>
          <p:cNvPr id="285" name="Group 220">
            <a:extLst>
              <a:ext uri="{FF2B5EF4-FFF2-40B4-BE49-F238E27FC236}">
                <a16:creationId xmlns="" xmlns:a16="http://schemas.microsoft.com/office/drawing/2014/main" id="{7CD0E319-17AE-E4AB-6055-9D3E8B4E2238}"/>
              </a:ext>
            </a:extLst>
          </p:cNvPr>
          <p:cNvGrpSpPr/>
          <p:nvPr/>
        </p:nvGrpSpPr>
        <p:grpSpPr>
          <a:xfrm>
            <a:off x="11108998" y="5154982"/>
            <a:ext cx="559344" cy="415761"/>
            <a:chOff x="5906472" y="1486857"/>
            <a:chExt cx="372896" cy="272361"/>
          </a:xfrm>
        </p:grpSpPr>
        <p:sp>
          <p:nvSpPr>
            <p:cNvPr id="286" name="Oval 221">
              <a:extLst>
                <a:ext uri="{FF2B5EF4-FFF2-40B4-BE49-F238E27FC236}">
                  <a16:creationId xmlns="" xmlns:a16="http://schemas.microsoft.com/office/drawing/2014/main" id="{5A690108-5F93-794F-3365-46815A5AD4B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87" name="TextBox 222">
              <a:extLst>
                <a:ext uri="{FF2B5EF4-FFF2-40B4-BE49-F238E27FC236}">
                  <a16:creationId xmlns="" xmlns:a16="http://schemas.microsoft.com/office/drawing/2014/main" id="{839A2228-26F2-3D6A-A51A-643C6B50277B}"/>
                </a:ext>
              </a:extLst>
            </p:cNvPr>
            <p:cNvSpPr txBox="1"/>
            <p:nvPr/>
          </p:nvSpPr>
          <p:spPr>
            <a:xfrm>
              <a:off x="592376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cxnSp>
        <p:nvCxnSpPr>
          <p:cNvPr id="8" name="直線單箭頭接點 7">
            <a:extLst>
              <a:ext uri="{FF2B5EF4-FFF2-40B4-BE49-F238E27FC236}">
                <a16:creationId xmlns="" xmlns:a16="http://schemas.microsoft.com/office/drawing/2014/main" id="{83ECBFDE-29B2-86AA-4A77-69B06BED93CA}"/>
              </a:ext>
            </a:extLst>
          </p:cNvPr>
          <p:cNvCxnSpPr>
            <a:cxnSpLocks/>
            <a:stCxn id="68" idx="3"/>
            <a:endCxn id="263" idx="1"/>
          </p:cNvCxnSpPr>
          <p:nvPr/>
        </p:nvCxnSpPr>
        <p:spPr>
          <a:xfrm flipV="1">
            <a:off x="6684256" y="9333607"/>
            <a:ext cx="5457941" cy="2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單箭頭接點 21">
            <a:extLst>
              <a:ext uri="{FF2B5EF4-FFF2-40B4-BE49-F238E27FC236}">
                <a16:creationId xmlns="" xmlns:a16="http://schemas.microsoft.com/office/drawing/2014/main" id="{8FBBD342-E06E-DEAB-0A9F-BB44385C53D2}"/>
              </a:ext>
            </a:extLst>
          </p:cNvPr>
          <p:cNvCxnSpPr>
            <a:cxnSpLocks/>
            <a:stCxn id="7" idx="3"/>
            <a:endCxn id="30" idx="1"/>
          </p:cNvCxnSpPr>
          <p:nvPr/>
        </p:nvCxnSpPr>
        <p:spPr>
          <a:xfrm>
            <a:off x="2060204" y="2699827"/>
            <a:ext cx="566758" cy="55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直線單箭頭接點 39">
            <a:extLst>
              <a:ext uri="{FF2B5EF4-FFF2-40B4-BE49-F238E27FC236}">
                <a16:creationId xmlns="" xmlns:a16="http://schemas.microsoft.com/office/drawing/2014/main" id="{0632A1D5-EC40-36F5-35B3-8526241E1A8D}"/>
              </a:ext>
            </a:extLst>
          </p:cNvPr>
          <p:cNvCxnSpPr>
            <a:cxnSpLocks/>
            <a:stCxn id="15" idx="2"/>
            <a:endCxn id="35" idx="0"/>
          </p:cNvCxnSpPr>
          <p:nvPr/>
        </p:nvCxnSpPr>
        <p:spPr>
          <a:xfrm>
            <a:off x="5782598" y="6169676"/>
            <a:ext cx="3375" cy="8333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線單箭頭接點 42">
            <a:extLst>
              <a:ext uri="{FF2B5EF4-FFF2-40B4-BE49-F238E27FC236}">
                <a16:creationId xmlns="" xmlns:a16="http://schemas.microsoft.com/office/drawing/2014/main" id="{110B4403-26FD-03C9-F34F-E4466338E5E1}"/>
              </a:ext>
            </a:extLst>
          </p:cNvPr>
          <p:cNvCxnSpPr>
            <a:cxnSpLocks/>
            <a:stCxn id="35" idx="2"/>
            <a:endCxn id="68" idx="0"/>
          </p:cNvCxnSpPr>
          <p:nvPr/>
        </p:nvCxnSpPr>
        <p:spPr>
          <a:xfrm flipH="1">
            <a:off x="5785340" y="7715240"/>
            <a:ext cx="633" cy="10012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34078046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 xmlns:a16="http://schemas.microsoft.com/office/drawing/2014/main" id="{83E6F622-2FBE-CC67-50FE-4ABD7D8B9696}"/>
              </a:ext>
            </a:extLst>
          </p:cNvPr>
          <p:cNvSpPr txBox="1"/>
          <p:nvPr/>
        </p:nvSpPr>
        <p:spPr>
          <a:xfrm>
            <a:off x="2444080" y="794373"/>
            <a:ext cx="11046632"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MM-PU-0090-01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機器設備</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430541" y="1360960"/>
            <a:ext cx="3433108"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廠區採購</a:t>
            </a: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142197" y="8799270"/>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30" name="表格 30">
            <a:extLst>
              <a:ext uri="{FF2B5EF4-FFF2-40B4-BE49-F238E27FC236}">
                <a16:creationId xmlns="" xmlns:a16="http://schemas.microsoft.com/office/drawing/2014/main" id="{18197701-0564-3E2B-648E-413A6C8BBE0A}"/>
              </a:ext>
            </a:extLst>
          </p:cNvPr>
          <p:cNvGraphicFramePr>
            <a:graphicFrameLocks noGrp="1"/>
          </p:cNvGraphicFramePr>
          <p:nvPr/>
        </p:nvGraphicFramePr>
        <p:xfrm>
          <a:off x="3192113" y="3658800"/>
          <a:ext cx="1797832" cy="1274501"/>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a:t>
                      </a:r>
                      <a:r>
                        <a:rPr lang="en-US" altLang="zh-TW" sz="1500" b="1" dirty="0">
                          <a:solidFill>
                            <a:schemeClr val="tx1"/>
                          </a:solidFill>
                          <a:latin typeface="微軟正黑體" panose="020B0604030504040204" pitchFamily="34" charset="-120"/>
                          <a:ea typeface="微軟正黑體" panose="020B0604030504040204" pitchFamily="34" charset="-120"/>
                        </a:rPr>
                        <a:t>M005</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601301">
                <a:tc gridSpan="2">
                  <a:txBody>
                    <a:bodyPr/>
                    <a:lstStyle/>
                    <a:p>
                      <a:pPr algn="ctr"/>
                      <a:r>
                        <a:rPr lang="zh-TW" altLang="en-US" sz="1500" dirty="0">
                          <a:latin typeface="微軟正黑體" panose="020B0604030504040204" pitchFamily="34" charset="-120"/>
                          <a:ea typeface="微軟正黑體" panose="020B0604030504040204" pitchFamily="34" charset="-120"/>
                        </a:rPr>
                        <a:t>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15" name="表格 30">
            <a:extLst>
              <a:ext uri="{FF2B5EF4-FFF2-40B4-BE49-F238E27FC236}">
                <a16:creationId xmlns="" xmlns:a16="http://schemas.microsoft.com/office/drawing/2014/main" id="{DD4D6B14-D3B2-B7AE-AA9C-20D4B4848A80}"/>
              </a:ext>
            </a:extLst>
          </p:cNvPr>
          <p:cNvGraphicFramePr>
            <a:graphicFrameLocks noGrp="1"/>
          </p:cNvGraphicFramePr>
          <p:nvPr>
            <p:extLst>
              <p:ext uri="{D42A27DB-BD31-4B8C-83A1-F6EECF244321}">
                <p14:modId xmlns="" xmlns:p14="http://schemas.microsoft.com/office/powerpoint/2010/main" val="2287228207"/>
              </p:ext>
            </p:extLst>
          </p:nvPr>
        </p:nvGraphicFramePr>
        <p:xfrm>
          <a:off x="6488450" y="3650070"/>
          <a:ext cx="1800526" cy="1296720"/>
        </p:xfrm>
        <a:graphic>
          <a:graphicData uri="http://schemas.openxmlformats.org/drawingml/2006/table">
            <a:tbl>
              <a:tblPr>
                <a:tableStyleId>{5940675A-B579-460E-94D1-54222C63F5DA}</a:tableStyleId>
              </a:tblPr>
              <a:tblGrid>
                <a:gridCol w="900263">
                  <a:extLst>
                    <a:ext uri="{9D8B030D-6E8A-4147-A177-3AD203B41FA5}">
                      <a16:colId xmlns="" xmlns:a16="http://schemas.microsoft.com/office/drawing/2014/main" val="3433979995"/>
                    </a:ext>
                  </a:extLst>
                </a:gridCol>
                <a:gridCol w="900263">
                  <a:extLst>
                    <a:ext uri="{9D8B030D-6E8A-4147-A177-3AD203B41FA5}">
                      <a16:colId xmlns="" xmlns:a16="http://schemas.microsoft.com/office/drawing/2014/main"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94360">
                <a:tc gridSpan="2">
                  <a:txBody>
                    <a:bodyPr/>
                    <a:lstStyle/>
                    <a:p>
                      <a:pPr algn="ctr"/>
                      <a:r>
                        <a:rPr lang="zh-TW" altLang="en-US" sz="1500" dirty="0">
                          <a:latin typeface="微軟正黑體" panose="020B0604030504040204" pitchFamily="34" charset="-120"/>
                          <a:ea typeface="微軟正黑體" panose="020B0604030504040204" pitchFamily="34" charset="-120"/>
                        </a:rPr>
                        <a:t>簽核</a:t>
                      </a:r>
                      <a:r>
                        <a:rPr kumimoji="0" lang="zh-TW" altLang="en-US" sz="1500" dirty="0">
                          <a:latin typeface="微軟正黑體" panose="020B0604030504040204" pitchFamily="34" charset="-120"/>
                          <a:ea typeface="微軟正黑體" panose="020B0604030504040204" pitchFamily="34" charset="-120"/>
                        </a:rPr>
                        <a:t>資本支出單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57" name="肘形接點 68">
            <a:extLst>
              <a:ext uri="{FF2B5EF4-FFF2-40B4-BE49-F238E27FC236}">
                <a16:creationId xmlns="" xmlns:a16="http://schemas.microsoft.com/office/drawing/2014/main" id="{8E184E7B-49D4-0B0F-DFF1-32CCB2A9AB0C}"/>
              </a:ext>
            </a:extLst>
          </p:cNvPr>
          <p:cNvCxnSpPr>
            <a:cxnSpLocks/>
            <a:stCxn id="15" idx="2"/>
            <a:endCxn id="35" idx="0"/>
          </p:cNvCxnSpPr>
          <p:nvPr/>
        </p:nvCxnSpPr>
        <p:spPr>
          <a:xfrm rot="16200000" flipH="1">
            <a:off x="7190212" y="5145291"/>
            <a:ext cx="398112" cy="111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 xmlns:a16="http://schemas.microsoft.com/office/drawing/2014/main" id="{8037CA89-DBE3-1441-8E4C-7EA04E993D61}"/>
              </a:ext>
            </a:extLst>
          </p:cNvPr>
          <p:cNvSpPr/>
          <p:nvPr/>
        </p:nvSpPr>
        <p:spPr bwMode="auto">
          <a:xfrm>
            <a:off x="6468848" y="5344902"/>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sp>
        <p:nvSpPr>
          <p:cNvPr id="55" name="文字方塊 54">
            <a:extLst>
              <a:ext uri="{FF2B5EF4-FFF2-40B4-BE49-F238E27FC236}">
                <a16:creationId xmlns="" xmlns:a16="http://schemas.microsoft.com/office/drawing/2014/main" id="{B106DB5A-3C2B-C42B-E706-9F53E0CA364F}"/>
              </a:ext>
            </a:extLst>
          </p:cNvPr>
          <p:cNvSpPr txBox="1"/>
          <p:nvPr/>
        </p:nvSpPr>
        <p:spPr>
          <a:xfrm>
            <a:off x="11614212" y="6599762"/>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56" name="文字方塊 55">
            <a:extLst>
              <a:ext uri="{FF2B5EF4-FFF2-40B4-BE49-F238E27FC236}">
                <a16:creationId xmlns="" xmlns:a16="http://schemas.microsoft.com/office/drawing/2014/main" id="{7BDD8B3B-9FC5-B431-B92A-CADEB291222C}"/>
              </a:ext>
            </a:extLst>
          </p:cNvPr>
          <p:cNvSpPr txBox="1"/>
          <p:nvPr/>
        </p:nvSpPr>
        <p:spPr>
          <a:xfrm>
            <a:off x="8746542" y="7385698"/>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210" name="文字方塊 17">
            <a:extLst>
              <a:ext uri="{FF2B5EF4-FFF2-40B4-BE49-F238E27FC236}">
                <a16:creationId xmlns="" xmlns:a16="http://schemas.microsoft.com/office/drawing/2014/main" id="{306A0461-FB0A-6B8E-26F4-F4121B822258}"/>
              </a:ext>
            </a:extLst>
          </p:cNvPr>
          <p:cNvSpPr txBox="1"/>
          <p:nvPr/>
        </p:nvSpPr>
        <p:spPr>
          <a:xfrm>
            <a:off x="5863649" y="1362780"/>
            <a:ext cx="374438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高階主管</a:t>
            </a:r>
          </a:p>
        </p:txBody>
      </p:sp>
      <p:graphicFrame>
        <p:nvGraphicFramePr>
          <p:cNvPr id="238" name="表格 30">
            <a:extLst>
              <a:ext uri="{FF2B5EF4-FFF2-40B4-BE49-F238E27FC236}">
                <a16:creationId xmlns="" xmlns:a16="http://schemas.microsoft.com/office/drawing/2014/main" id="{AFF9763D-0DA0-D7C1-DED2-F1F470C624C4}"/>
              </a:ext>
            </a:extLst>
          </p:cNvPr>
          <p:cNvGraphicFramePr>
            <a:graphicFrameLocks noGrp="1"/>
          </p:cNvGraphicFramePr>
          <p:nvPr>
            <p:extLst>
              <p:ext uri="{D42A27DB-BD31-4B8C-83A1-F6EECF244321}">
                <p14:modId xmlns="" xmlns:p14="http://schemas.microsoft.com/office/powerpoint/2010/main" val="1473276999"/>
              </p:ext>
            </p:extLst>
          </p:nvPr>
        </p:nvGraphicFramePr>
        <p:xfrm>
          <a:off x="9914244" y="5275345"/>
          <a:ext cx="1797832" cy="112098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418620">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240" name="表格 30">
            <a:extLst>
              <a:ext uri="{FF2B5EF4-FFF2-40B4-BE49-F238E27FC236}">
                <a16:creationId xmlns="" xmlns:a16="http://schemas.microsoft.com/office/drawing/2014/main" id="{D50514A0-AA46-1916-EFBB-5F1C0FA347E6}"/>
              </a:ext>
            </a:extLst>
          </p:cNvPr>
          <p:cNvGraphicFramePr>
            <a:graphicFrameLocks noGrp="1"/>
          </p:cNvGraphicFramePr>
          <p:nvPr/>
        </p:nvGraphicFramePr>
        <p:xfrm>
          <a:off x="3149420" y="7606319"/>
          <a:ext cx="1868214" cy="1184439"/>
        </p:xfrm>
        <a:graphic>
          <a:graphicData uri="http://schemas.openxmlformats.org/drawingml/2006/table">
            <a:tbl>
              <a:tblPr>
                <a:tableStyleId>{5940675A-B579-460E-94D1-54222C63F5DA}</a:tableStyleId>
              </a:tblPr>
              <a:tblGrid>
                <a:gridCol w="934107">
                  <a:extLst>
                    <a:ext uri="{9D8B030D-6E8A-4147-A177-3AD203B41FA5}">
                      <a16:colId xmlns="" xmlns:a16="http://schemas.microsoft.com/office/drawing/2014/main" val="3433979995"/>
                    </a:ext>
                  </a:extLst>
                </a:gridCol>
                <a:gridCol w="934107">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ZMM019</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採購單發起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41" name="肘形接點 68">
            <a:extLst>
              <a:ext uri="{FF2B5EF4-FFF2-40B4-BE49-F238E27FC236}">
                <a16:creationId xmlns="" xmlns:a16="http://schemas.microsoft.com/office/drawing/2014/main" id="{A46CDCFE-67EF-4E51-A944-F4A0C09EC5BD}"/>
              </a:ext>
            </a:extLst>
          </p:cNvPr>
          <p:cNvCxnSpPr>
            <a:cxnSpLocks/>
            <a:stCxn id="240" idx="3"/>
            <a:endCxn id="238" idx="1"/>
          </p:cNvCxnSpPr>
          <p:nvPr/>
        </p:nvCxnSpPr>
        <p:spPr>
          <a:xfrm flipV="1">
            <a:off x="5017634" y="5835835"/>
            <a:ext cx="4896610" cy="2362703"/>
          </a:xfrm>
          <a:prstGeom prst="bentConnector3">
            <a:avLst>
              <a:gd name="adj1" fmla="val 66509"/>
            </a:avLst>
          </a:prstGeom>
          <a:ln>
            <a:tailEnd type="triangle"/>
          </a:ln>
        </p:spPr>
        <p:style>
          <a:lnRef idx="1">
            <a:schemeClr val="dk1"/>
          </a:lnRef>
          <a:fillRef idx="0">
            <a:schemeClr val="dk1"/>
          </a:fillRef>
          <a:effectRef idx="0">
            <a:schemeClr val="dk1"/>
          </a:effectRef>
          <a:fontRef idx="minor">
            <a:schemeClr val="tx1"/>
          </a:fontRef>
        </p:style>
      </p:cxnSp>
      <p:sp>
        <p:nvSpPr>
          <p:cNvPr id="47" name="流程圖: 決策 50">
            <a:extLst>
              <a:ext uri="{FF2B5EF4-FFF2-40B4-BE49-F238E27FC236}">
                <a16:creationId xmlns="" xmlns:a16="http://schemas.microsoft.com/office/drawing/2014/main" id="{4211AE0E-E934-C866-6745-99857AA1659D}"/>
              </a:ext>
            </a:extLst>
          </p:cNvPr>
          <p:cNvSpPr/>
          <p:nvPr/>
        </p:nvSpPr>
        <p:spPr bwMode="auto">
          <a:xfrm>
            <a:off x="9889842" y="6803204"/>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50" name="肘形接點 68">
            <a:extLst>
              <a:ext uri="{FF2B5EF4-FFF2-40B4-BE49-F238E27FC236}">
                <a16:creationId xmlns="" xmlns:a16="http://schemas.microsoft.com/office/drawing/2014/main" id="{132B4FAF-6538-8C69-D0DE-40BD508AF11A}"/>
              </a:ext>
            </a:extLst>
          </p:cNvPr>
          <p:cNvCxnSpPr>
            <a:cxnSpLocks/>
            <a:stCxn id="11" idx="3"/>
            <a:endCxn id="25" idx="1"/>
          </p:cNvCxnSpPr>
          <p:nvPr/>
        </p:nvCxnSpPr>
        <p:spPr>
          <a:xfrm>
            <a:off x="9445332" y="9189522"/>
            <a:ext cx="2696865" cy="97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93" name="流程圖: 換頁接點 52">
            <a:extLst>
              <a:ext uri="{FF2B5EF4-FFF2-40B4-BE49-F238E27FC236}">
                <a16:creationId xmlns="" xmlns:a16="http://schemas.microsoft.com/office/drawing/2014/main" id="{81294BE7-C300-D1CD-4376-34B54DFCC2AF}"/>
              </a:ext>
            </a:extLst>
          </p:cNvPr>
          <p:cNvSpPr/>
          <p:nvPr/>
        </p:nvSpPr>
        <p:spPr bwMode="auto">
          <a:xfrm>
            <a:off x="12616391" y="6931216"/>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P3</a:t>
            </a:r>
            <a:endParaRPr lang="zh-TW" altLang="en-US" dirty="0">
              <a:latin typeface="微軟正黑體" panose="020B0604030504040204" pitchFamily="34" charset="-120"/>
              <a:ea typeface="微軟正黑體" panose="020B0604030504040204" pitchFamily="34" charset="-120"/>
            </a:endParaRPr>
          </a:p>
        </p:txBody>
      </p:sp>
      <p:sp>
        <p:nvSpPr>
          <p:cNvPr id="195" name="文字方塊 194">
            <a:extLst>
              <a:ext uri="{FF2B5EF4-FFF2-40B4-BE49-F238E27FC236}">
                <a16:creationId xmlns="" xmlns:a16="http://schemas.microsoft.com/office/drawing/2014/main" id="{6FB1FA4C-3B8A-FBB5-B280-85555F843464}"/>
              </a:ext>
            </a:extLst>
          </p:cNvPr>
          <p:cNvSpPr txBox="1"/>
          <p:nvPr/>
        </p:nvSpPr>
        <p:spPr>
          <a:xfrm>
            <a:off x="7397768" y="620589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6" name="文字方塊 195">
            <a:extLst>
              <a:ext uri="{FF2B5EF4-FFF2-40B4-BE49-F238E27FC236}">
                <a16:creationId xmlns="" xmlns:a16="http://schemas.microsoft.com/office/drawing/2014/main" id="{29D95A87-8E81-E79E-403B-C860DCAF45F5}"/>
              </a:ext>
            </a:extLst>
          </p:cNvPr>
          <p:cNvSpPr txBox="1"/>
          <p:nvPr/>
        </p:nvSpPr>
        <p:spPr>
          <a:xfrm>
            <a:off x="6099354" y="5405549"/>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8" name="文字方塊 17">
            <a:extLst>
              <a:ext uri="{FF2B5EF4-FFF2-40B4-BE49-F238E27FC236}">
                <a16:creationId xmlns="" xmlns:a16="http://schemas.microsoft.com/office/drawing/2014/main" id="{BBC38995-B8DF-63A0-4401-9FE50A36E787}"/>
              </a:ext>
            </a:extLst>
          </p:cNvPr>
          <p:cNvSpPr txBox="1"/>
          <p:nvPr/>
        </p:nvSpPr>
        <p:spPr>
          <a:xfrm>
            <a:off x="9608035" y="1368691"/>
            <a:ext cx="2312840"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sp>
        <p:nvSpPr>
          <p:cNvPr id="2" name="TextBox 53">
            <a:extLst>
              <a:ext uri="{FF2B5EF4-FFF2-40B4-BE49-F238E27FC236}">
                <a16:creationId xmlns="" xmlns:a16="http://schemas.microsoft.com/office/drawing/2014/main" id="{B72E3EFF-4B3C-A9C8-E3E4-F926D0F3D738}"/>
              </a:ext>
            </a:extLst>
          </p:cNvPr>
          <p:cNvSpPr txBox="1"/>
          <p:nvPr/>
        </p:nvSpPr>
        <p:spPr>
          <a:xfrm>
            <a:off x="14380627" y="2064631"/>
            <a:ext cx="3594197" cy="8679299"/>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廠區採購更新請購單，首次請購的新機器需補填物料主檔編號。有物料主檔的情況才能指派價格主檔</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廠區將已經維護好物料主檔編號的請購單，以程式</a:t>
            </a:r>
            <a:r>
              <a:rPr lang="en-US" altLang="zh-TW" dirty="0">
                <a:latin typeface="微軟正黑體" panose="020B0604030504040204" pitchFamily="34" charset="-120"/>
                <a:ea typeface="微軟正黑體" panose="020B0604030504040204" pitchFamily="34" charset="-120"/>
              </a:rPr>
              <a:t>ZMM017</a:t>
            </a:r>
            <a:r>
              <a:rPr lang="zh-TW" altLang="en-US" dirty="0">
                <a:latin typeface="微軟正黑體" panose="020B0604030504040204" pitchFamily="34" charset="-120"/>
                <a:ea typeface="微軟正黑體" panose="020B0604030504040204" pitchFamily="34" charset="-120"/>
              </a:rPr>
              <a:t>發起</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資本支出單簽核流程</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上簽核資本支出單 。主管未核準的資本支出單會通知到原申請人進行刪單處理。</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採購進行請購單轉採購單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用程式</a:t>
            </a:r>
            <a:r>
              <a:rPr lang="en-US" altLang="zh-TW" dirty="0">
                <a:latin typeface="微軟正黑體" panose="020B0604030504040204" pitchFamily="34" charset="-120"/>
                <a:ea typeface="微軟正黑體" panose="020B0604030504040204" pitchFamily="34" charset="-120"/>
              </a:rPr>
              <a:t>ZMM019</a:t>
            </a:r>
            <a:r>
              <a:rPr lang="zh-TW" altLang="en-US" dirty="0">
                <a:latin typeface="微軟正黑體" panose="020B0604030504040204" pitchFamily="34" charset="-120"/>
                <a:ea typeface="微軟正黑體" panose="020B0604030504040204" pitchFamily="34" charset="-120"/>
              </a:rPr>
              <a:t>將採購單上傳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簽核未通過，透過程式</a:t>
            </a:r>
            <a:r>
              <a:rPr lang="en-US" altLang="zh-TW" dirty="0">
                <a:latin typeface="微軟正黑體" panose="020B0604030504040204" pitchFamily="34" charset="-120"/>
                <a:ea typeface="微軟正黑體" panose="020B0604030504040204" pitchFamily="34" charset="-120"/>
              </a:rPr>
              <a:t>ZMM006</a:t>
            </a:r>
            <a:r>
              <a:rPr lang="zh-TW" altLang="en-US" dirty="0">
                <a:latin typeface="微軟正黑體" panose="020B0604030504040204" pitchFamily="34" charset="-120"/>
                <a:ea typeface="微軟正黑體" panose="020B0604030504040204" pitchFamily="34" charset="-120"/>
              </a:rPr>
              <a:t>將採購單標記為刪除，一並刪關連請購單。</a:t>
            </a:r>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en-US" altLang="zh-TW" dirty="0"/>
          </a:p>
        </p:txBody>
      </p:sp>
      <p:sp>
        <p:nvSpPr>
          <p:cNvPr id="12" name="流程圖: 換頁接點 52">
            <a:extLst>
              <a:ext uri="{FF2B5EF4-FFF2-40B4-BE49-F238E27FC236}">
                <a16:creationId xmlns="" xmlns:a16="http://schemas.microsoft.com/office/drawing/2014/main" id="{448D21C5-C439-7966-729A-8E00EDEAE2A6}"/>
              </a:ext>
            </a:extLst>
          </p:cNvPr>
          <p:cNvSpPr/>
          <p:nvPr/>
        </p:nvSpPr>
        <p:spPr bwMode="auto">
          <a:xfrm>
            <a:off x="976415" y="2482571"/>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grpSp>
        <p:nvGrpSpPr>
          <p:cNvPr id="244" name="Group 220">
            <a:extLst>
              <a:ext uri="{FF2B5EF4-FFF2-40B4-BE49-F238E27FC236}">
                <a16:creationId xmlns="" xmlns:a16="http://schemas.microsoft.com/office/drawing/2014/main" id="{B5FE5C15-35AB-68F5-E353-F8A18C9C555A}"/>
              </a:ext>
            </a:extLst>
          </p:cNvPr>
          <p:cNvGrpSpPr/>
          <p:nvPr/>
        </p:nvGrpSpPr>
        <p:grpSpPr>
          <a:xfrm>
            <a:off x="4770138" y="7425150"/>
            <a:ext cx="546786" cy="415759"/>
            <a:chOff x="5906472" y="1486857"/>
            <a:chExt cx="364524" cy="272361"/>
          </a:xfrm>
        </p:grpSpPr>
        <p:sp>
          <p:nvSpPr>
            <p:cNvPr id="246" name="Oval 221">
              <a:extLst>
                <a:ext uri="{FF2B5EF4-FFF2-40B4-BE49-F238E27FC236}">
                  <a16:creationId xmlns="" xmlns:a16="http://schemas.microsoft.com/office/drawing/2014/main" id="{4BDC1F77-9896-B2CA-83E6-8EC9E56DD326}"/>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7" name="TextBox 222">
              <a:extLst>
                <a:ext uri="{FF2B5EF4-FFF2-40B4-BE49-F238E27FC236}">
                  <a16:creationId xmlns="" xmlns:a16="http://schemas.microsoft.com/office/drawing/2014/main" id="{3C1970B3-7168-C4BB-89C7-ED51993BA15F}"/>
                </a:ext>
              </a:extLst>
            </p:cNvPr>
            <p:cNvSpPr txBox="1"/>
            <p:nvPr/>
          </p:nvSpPr>
          <p:spPr>
            <a:xfrm>
              <a:off x="5915396" y="1501945"/>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sp>
        <p:nvSpPr>
          <p:cNvPr id="255" name="流程圖: 接點 51">
            <a:extLst>
              <a:ext uri="{FF2B5EF4-FFF2-40B4-BE49-F238E27FC236}">
                <a16:creationId xmlns="" xmlns:a16="http://schemas.microsoft.com/office/drawing/2014/main" id="{10FB8D8A-3FFE-6EBC-DE5E-86A028B056BA}"/>
              </a:ext>
            </a:extLst>
          </p:cNvPr>
          <p:cNvSpPr/>
          <p:nvPr/>
        </p:nvSpPr>
        <p:spPr bwMode="auto">
          <a:xfrm>
            <a:off x="7198661" y="7020864"/>
            <a:ext cx="380102" cy="390197"/>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b="1" dirty="0">
                <a:latin typeface="微軟正黑體" panose="020B0604030504040204" pitchFamily="34" charset="-120"/>
                <a:ea typeface="微軟正黑體" panose="020B0604030504040204" pitchFamily="34" charset="-120"/>
              </a:rPr>
              <a:t>A</a:t>
            </a:r>
            <a:endParaRPr lang="zh-TW" altLang="en-US" b="1" dirty="0">
              <a:latin typeface="微軟正黑體" panose="020B0604030504040204" pitchFamily="34" charset="-120"/>
              <a:ea typeface="微軟正黑體" panose="020B0604030504040204" pitchFamily="34" charset="-120"/>
            </a:endParaRPr>
          </a:p>
        </p:txBody>
      </p:sp>
      <p:sp>
        <p:nvSpPr>
          <p:cNvPr id="3" name="流程圖: 接點 51">
            <a:extLst>
              <a:ext uri="{FF2B5EF4-FFF2-40B4-BE49-F238E27FC236}">
                <a16:creationId xmlns="" xmlns:a16="http://schemas.microsoft.com/office/drawing/2014/main" id="{B983F568-C2D2-8BF3-2697-A407CAF7AB51}"/>
              </a:ext>
            </a:extLst>
          </p:cNvPr>
          <p:cNvSpPr/>
          <p:nvPr/>
        </p:nvSpPr>
        <p:spPr bwMode="auto">
          <a:xfrm>
            <a:off x="12842917" y="7853419"/>
            <a:ext cx="380102" cy="390197"/>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59" name="Straight Connector 284">
            <a:extLst>
              <a:ext uri="{FF2B5EF4-FFF2-40B4-BE49-F238E27FC236}">
                <a16:creationId xmlns="" xmlns:a16="http://schemas.microsoft.com/office/drawing/2014/main" id="{CCB3D035-826A-6F8E-1D15-1A3E96F62413}"/>
              </a:ext>
            </a:extLst>
          </p:cNvPr>
          <p:cNvCxnSpPr>
            <a:cxnSpLocks/>
          </p:cNvCxnSpPr>
          <p:nvPr/>
        </p:nvCxnSpPr>
        <p:spPr>
          <a:xfrm>
            <a:off x="5863649" y="1340384"/>
            <a:ext cx="0" cy="8810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284">
            <a:extLst>
              <a:ext uri="{FF2B5EF4-FFF2-40B4-BE49-F238E27FC236}">
                <a16:creationId xmlns="" xmlns:a16="http://schemas.microsoft.com/office/drawing/2014/main" id="{CCB3D035-826A-6F8E-1D15-1A3E96F62413}"/>
              </a:ext>
            </a:extLst>
          </p:cNvPr>
          <p:cNvCxnSpPr>
            <a:cxnSpLocks/>
          </p:cNvCxnSpPr>
          <p:nvPr/>
        </p:nvCxnSpPr>
        <p:spPr>
          <a:xfrm>
            <a:off x="9599859" y="1352403"/>
            <a:ext cx="0" cy="87987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表格 30">
            <a:extLst>
              <a:ext uri="{FF2B5EF4-FFF2-40B4-BE49-F238E27FC236}">
                <a16:creationId xmlns="" xmlns:a16="http://schemas.microsoft.com/office/drawing/2014/main" id="{B46B8FA7-437E-6378-815F-BD7F85554DB2}"/>
              </a:ext>
            </a:extLst>
          </p:cNvPr>
          <p:cNvGraphicFramePr>
            <a:graphicFrameLocks noGrp="1"/>
          </p:cNvGraphicFramePr>
          <p:nvPr/>
        </p:nvGraphicFramePr>
        <p:xfrm>
          <a:off x="7647500" y="8490652"/>
          <a:ext cx="1797832" cy="139774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748146">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16" name="肘形接點 68">
            <a:extLst>
              <a:ext uri="{FF2B5EF4-FFF2-40B4-BE49-F238E27FC236}">
                <a16:creationId xmlns="" xmlns:a16="http://schemas.microsoft.com/office/drawing/2014/main" id="{09C53CB7-1793-9E77-4F6C-9F50594C8C72}"/>
              </a:ext>
            </a:extLst>
          </p:cNvPr>
          <p:cNvCxnSpPr>
            <a:cxnSpLocks/>
            <a:stCxn id="47" idx="1"/>
            <a:endCxn id="11" idx="0"/>
          </p:cNvCxnSpPr>
          <p:nvPr/>
        </p:nvCxnSpPr>
        <p:spPr>
          <a:xfrm rot="10800000" flipV="1">
            <a:off x="8546416" y="7159304"/>
            <a:ext cx="1343426" cy="133134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nvGrpSpPr>
          <p:cNvPr id="22" name="Group 220">
            <a:extLst>
              <a:ext uri="{FF2B5EF4-FFF2-40B4-BE49-F238E27FC236}">
                <a16:creationId xmlns="" xmlns:a16="http://schemas.microsoft.com/office/drawing/2014/main" id="{5DAF5F32-1A6D-8CD3-B7CA-4109875A6785}"/>
              </a:ext>
            </a:extLst>
          </p:cNvPr>
          <p:cNvGrpSpPr/>
          <p:nvPr/>
        </p:nvGrpSpPr>
        <p:grpSpPr>
          <a:xfrm>
            <a:off x="9180204" y="8259766"/>
            <a:ext cx="546285" cy="408542"/>
            <a:chOff x="5906472" y="1486857"/>
            <a:chExt cx="364190" cy="272361"/>
          </a:xfrm>
        </p:grpSpPr>
        <p:sp>
          <p:nvSpPr>
            <p:cNvPr id="23" name="Oval 221">
              <a:extLst>
                <a:ext uri="{FF2B5EF4-FFF2-40B4-BE49-F238E27FC236}">
                  <a16:creationId xmlns="" xmlns:a16="http://schemas.microsoft.com/office/drawing/2014/main" id="{0A88AE4F-F335-D64C-2DB6-610BDDF76EC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 name="TextBox 222">
              <a:extLst>
                <a:ext uri="{FF2B5EF4-FFF2-40B4-BE49-F238E27FC236}">
                  <a16:creationId xmlns="" xmlns:a16="http://schemas.microsoft.com/office/drawing/2014/main" id="{551C0B92-A3CE-0806-7D0C-ADA6D7B8F0D7}"/>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64" name="Google Shape;198;p3"/>
          <p:cNvSpPr txBox="1">
            <a:spLocks/>
          </p:cNvSpPr>
          <p:nvPr/>
        </p:nvSpPr>
        <p:spPr>
          <a:xfrm>
            <a:off x="15425530" y="500460"/>
            <a:ext cx="253546" cy="201905"/>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2</a:t>
            </a:r>
          </a:p>
        </p:txBody>
      </p:sp>
      <p:graphicFrame>
        <p:nvGraphicFramePr>
          <p:cNvPr id="70"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185646" y="5208911"/>
          <a:ext cx="1797832" cy="98764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ME58</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043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請購單轉採購單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13" name="Group 220">
            <a:extLst>
              <a:ext uri="{FF2B5EF4-FFF2-40B4-BE49-F238E27FC236}">
                <a16:creationId xmlns="" xmlns:a16="http://schemas.microsoft.com/office/drawing/2014/main" id="{8F9100A8-C49B-4A69-8C8C-1F7583CA5532}"/>
              </a:ext>
            </a:extLst>
          </p:cNvPr>
          <p:cNvGrpSpPr/>
          <p:nvPr/>
        </p:nvGrpSpPr>
        <p:grpSpPr>
          <a:xfrm>
            <a:off x="4762576" y="4987373"/>
            <a:ext cx="548048" cy="415759"/>
            <a:chOff x="5906472" y="1486857"/>
            <a:chExt cx="365365" cy="272361"/>
          </a:xfrm>
        </p:grpSpPr>
        <p:sp>
          <p:nvSpPr>
            <p:cNvPr id="17" name="Oval 221">
              <a:extLst>
                <a:ext uri="{FF2B5EF4-FFF2-40B4-BE49-F238E27FC236}">
                  <a16:creationId xmlns="" xmlns:a16="http://schemas.microsoft.com/office/drawing/2014/main"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 xmlns:a16="http://schemas.microsoft.com/office/drawing/2014/main" id="{60D91B19-79E7-F88F-B376-D3C257050AE7}"/>
                </a:ext>
              </a:extLst>
            </p:cNvPr>
            <p:cNvSpPr txBox="1"/>
            <p:nvPr/>
          </p:nvSpPr>
          <p:spPr>
            <a:xfrm>
              <a:off x="5916237" y="1513063"/>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36" name="Group 220">
            <a:extLst>
              <a:ext uri="{FF2B5EF4-FFF2-40B4-BE49-F238E27FC236}">
                <a16:creationId xmlns="" xmlns:a16="http://schemas.microsoft.com/office/drawing/2014/main" id="{49B965EA-5488-20F5-FB4A-DE694754D613}"/>
              </a:ext>
            </a:extLst>
          </p:cNvPr>
          <p:cNvGrpSpPr/>
          <p:nvPr/>
        </p:nvGrpSpPr>
        <p:grpSpPr>
          <a:xfrm>
            <a:off x="4697327" y="3454529"/>
            <a:ext cx="547418" cy="408542"/>
            <a:chOff x="5906472" y="1486857"/>
            <a:chExt cx="364945" cy="272361"/>
          </a:xfrm>
        </p:grpSpPr>
        <p:sp>
          <p:nvSpPr>
            <p:cNvPr id="37" name="Oval 221">
              <a:extLst>
                <a:ext uri="{FF2B5EF4-FFF2-40B4-BE49-F238E27FC236}">
                  <a16:creationId xmlns="" xmlns:a16="http://schemas.microsoft.com/office/drawing/2014/main" id="{D7BB0CC3-1FCC-825A-8223-1DF8E8AA32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8" name="TextBox 222">
              <a:extLst>
                <a:ext uri="{FF2B5EF4-FFF2-40B4-BE49-F238E27FC236}">
                  <a16:creationId xmlns="" xmlns:a16="http://schemas.microsoft.com/office/drawing/2014/main" id="{AA6B41EE-F383-4448-3FC3-5177F4E9C325}"/>
                </a:ext>
              </a:extLst>
            </p:cNvPr>
            <p:cNvSpPr txBox="1"/>
            <p:nvPr/>
          </p:nvSpPr>
          <p:spPr>
            <a:xfrm>
              <a:off x="5915817"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73"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192113" y="2013512"/>
          <a:ext cx="1797832" cy="141436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ME52N</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74191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更新請購單</a:t>
                      </a:r>
                      <a:r>
                        <a:rPr kumimoji="0" lang="en-US" altLang="zh-TW" sz="1400" dirty="0">
                          <a:latin typeface="微軟正黑體" panose="020B0604030504040204" pitchFamily="34" charset="-120"/>
                          <a:ea typeface="微軟正黑體" panose="020B0604030504040204" pitchFamily="34" charset="-120"/>
                        </a:rPr>
                        <a:t>(</a:t>
                      </a:r>
                      <a:r>
                        <a:rPr kumimoji="0" lang="zh-TW" altLang="en-US" sz="1400" dirty="0">
                          <a:latin typeface="微軟正黑體" panose="020B0604030504040204" pitchFamily="34" charset="-120"/>
                          <a:ea typeface="微軟正黑體" panose="020B0604030504040204" pitchFamily="34" charset="-120"/>
                        </a:rPr>
                        <a:t>填寫新建立物料主檔編號</a:t>
                      </a:r>
                      <a:r>
                        <a:rPr kumimoji="0" lang="en-US" altLang="zh-TW" sz="1400" dirty="0">
                          <a:latin typeface="微軟正黑體" panose="020B0604030504040204" pitchFamily="34" charset="-120"/>
                          <a:ea typeface="微軟正黑體" panose="020B0604030504040204" pitchFamily="34" charset="-120"/>
                        </a:rPr>
                        <a:t>)</a:t>
                      </a:r>
                      <a:r>
                        <a:rPr kumimoji="0" lang="zh-TW" altLang="en-US" sz="1400" dirty="0">
                          <a:latin typeface="微軟正黑體" panose="020B0604030504040204" pitchFamily="34" charset="-120"/>
                          <a:ea typeface="微軟正黑體" panose="020B0604030504040204" pitchFamily="34" charset="-120"/>
                        </a:rPr>
                        <a:t>指派價格</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5" name="Group 220">
            <a:extLst>
              <a:ext uri="{FF2B5EF4-FFF2-40B4-BE49-F238E27FC236}">
                <a16:creationId xmlns="" xmlns:a16="http://schemas.microsoft.com/office/drawing/2014/main" id="{33DE9BA6-990E-DE54-C6C1-2FDFC3EF39E7}"/>
              </a:ext>
            </a:extLst>
          </p:cNvPr>
          <p:cNvGrpSpPr/>
          <p:nvPr/>
        </p:nvGrpSpPr>
        <p:grpSpPr>
          <a:xfrm>
            <a:off x="8037088" y="3418653"/>
            <a:ext cx="547418" cy="415762"/>
            <a:chOff x="5906472" y="1486857"/>
            <a:chExt cx="364945" cy="272361"/>
          </a:xfrm>
        </p:grpSpPr>
        <p:sp>
          <p:nvSpPr>
            <p:cNvPr id="9" name="Oval 221">
              <a:extLst>
                <a:ext uri="{FF2B5EF4-FFF2-40B4-BE49-F238E27FC236}">
                  <a16:creationId xmlns="" xmlns:a16="http://schemas.microsoft.com/office/drawing/2014/main"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0" name="TextBox 222">
              <a:extLst>
                <a:ext uri="{FF2B5EF4-FFF2-40B4-BE49-F238E27FC236}">
                  <a16:creationId xmlns="" xmlns:a16="http://schemas.microsoft.com/office/drawing/2014/main" id="{C4D33436-02F5-686F-699E-8597EF0E4654}"/>
                </a:ext>
              </a:extLst>
            </p:cNvPr>
            <p:cNvSpPr txBox="1"/>
            <p:nvPr/>
          </p:nvSpPr>
          <p:spPr>
            <a:xfrm>
              <a:off x="5915817"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235" name="Group 220">
            <a:extLst>
              <a:ext uri="{FF2B5EF4-FFF2-40B4-BE49-F238E27FC236}">
                <a16:creationId xmlns="" xmlns:a16="http://schemas.microsoft.com/office/drawing/2014/main" id="{56A53D60-F177-B66D-1052-09F00D9EB829}"/>
              </a:ext>
            </a:extLst>
          </p:cNvPr>
          <p:cNvGrpSpPr/>
          <p:nvPr/>
        </p:nvGrpSpPr>
        <p:grpSpPr>
          <a:xfrm>
            <a:off x="11509401" y="5045027"/>
            <a:ext cx="546285" cy="408542"/>
            <a:chOff x="5906472" y="1486857"/>
            <a:chExt cx="364190" cy="272361"/>
          </a:xfrm>
        </p:grpSpPr>
        <p:sp>
          <p:nvSpPr>
            <p:cNvPr id="236" name="Oval 221">
              <a:extLst>
                <a:ext uri="{FF2B5EF4-FFF2-40B4-BE49-F238E27FC236}">
                  <a16:creationId xmlns="" xmlns:a16="http://schemas.microsoft.com/office/drawing/2014/main"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7" name="TextBox 222">
              <a:extLst>
                <a:ext uri="{FF2B5EF4-FFF2-40B4-BE49-F238E27FC236}">
                  <a16:creationId xmlns="" xmlns:a16="http://schemas.microsoft.com/office/drawing/2014/main" id="{58D156B1-9578-40C0-E02B-A11714005BD3}"/>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cxnSp>
        <p:nvCxnSpPr>
          <p:cNvPr id="21" name="直線單箭頭接點 20"/>
          <p:cNvCxnSpPr>
            <a:stCxn id="73" idx="2"/>
            <a:endCxn id="30" idx="0"/>
          </p:cNvCxnSpPr>
          <p:nvPr/>
        </p:nvCxnSpPr>
        <p:spPr>
          <a:xfrm>
            <a:off x="4091029" y="3427878"/>
            <a:ext cx="0" cy="2309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直線單箭頭接點 73"/>
          <p:cNvCxnSpPr>
            <a:cxnSpLocks/>
            <a:stCxn id="35" idx="1"/>
            <a:endCxn id="70" idx="3"/>
          </p:cNvCxnSpPr>
          <p:nvPr/>
        </p:nvCxnSpPr>
        <p:spPr>
          <a:xfrm flipH="1">
            <a:off x="4983478" y="5701002"/>
            <a:ext cx="1485370" cy="17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1" name="Group 220">
            <a:extLst>
              <a:ext uri="{FF2B5EF4-FFF2-40B4-BE49-F238E27FC236}">
                <a16:creationId xmlns="" xmlns:a16="http://schemas.microsoft.com/office/drawing/2014/main" id="{A9B401BC-DE49-5FC0-6565-D216316A23DA}"/>
              </a:ext>
            </a:extLst>
          </p:cNvPr>
          <p:cNvGrpSpPr/>
          <p:nvPr/>
        </p:nvGrpSpPr>
        <p:grpSpPr>
          <a:xfrm>
            <a:off x="4765297" y="1807855"/>
            <a:ext cx="560606" cy="408542"/>
            <a:chOff x="5906472" y="1486857"/>
            <a:chExt cx="373737" cy="272361"/>
          </a:xfrm>
        </p:grpSpPr>
        <p:sp>
          <p:nvSpPr>
            <p:cNvPr id="32"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latin typeface="微軟正黑體" panose="020B0604030504040204" pitchFamily="34" charset="-120"/>
                <a:ea typeface="微軟正黑體" panose="020B0604030504040204" pitchFamily="34" charset="-120"/>
              </a:endParaRPr>
            </a:p>
          </p:txBody>
        </p:sp>
        <p:sp>
          <p:nvSpPr>
            <p:cNvPr id="33" name="TextBox 222">
              <a:extLst>
                <a:ext uri="{FF2B5EF4-FFF2-40B4-BE49-F238E27FC236}">
                  <a16:creationId xmlns="" xmlns:a16="http://schemas.microsoft.com/office/drawing/2014/main" id="{38213EC1-2A6F-CC6F-9F41-D87C1E84A2C8}"/>
                </a:ext>
              </a:extLst>
            </p:cNvPr>
            <p:cNvSpPr txBox="1"/>
            <p:nvPr/>
          </p:nvSpPr>
          <p:spPr>
            <a:xfrm>
              <a:off x="5924609"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77" name="直線單箭頭接點 76"/>
          <p:cNvCxnSpPr>
            <a:stCxn id="35" idx="2"/>
            <a:endCxn id="255" idx="0"/>
          </p:cNvCxnSpPr>
          <p:nvPr/>
        </p:nvCxnSpPr>
        <p:spPr>
          <a:xfrm flipH="1">
            <a:off x="7388712" y="6057102"/>
            <a:ext cx="1111" cy="9637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單箭頭接點 25">
            <a:extLst>
              <a:ext uri="{FF2B5EF4-FFF2-40B4-BE49-F238E27FC236}">
                <a16:creationId xmlns="" xmlns:a16="http://schemas.microsoft.com/office/drawing/2014/main" id="{1C9ABF07-3C76-8E96-17EE-E3EC4EB99B46}"/>
              </a:ext>
            </a:extLst>
          </p:cNvPr>
          <p:cNvCxnSpPr>
            <a:cxnSpLocks/>
            <a:stCxn id="30" idx="3"/>
            <a:endCxn id="15" idx="1"/>
          </p:cNvCxnSpPr>
          <p:nvPr/>
        </p:nvCxnSpPr>
        <p:spPr>
          <a:xfrm>
            <a:off x="4989945" y="4296050"/>
            <a:ext cx="1498505" cy="23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單箭頭接點 33">
            <a:extLst>
              <a:ext uri="{FF2B5EF4-FFF2-40B4-BE49-F238E27FC236}">
                <a16:creationId xmlns="" xmlns:a16="http://schemas.microsoft.com/office/drawing/2014/main" id="{7ED3A7C3-FF2B-F7E3-B6F5-8D40E7E3F35E}"/>
              </a:ext>
            </a:extLst>
          </p:cNvPr>
          <p:cNvCxnSpPr>
            <a:cxnSpLocks/>
            <a:stCxn id="12" idx="3"/>
            <a:endCxn id="73" idx="1"/>
          </p:cNvCxnSpPr>
          <p:nvPr/>
        </p:nvCxnSpPr>
        <p:spPr>
          <a:xfrm>
            <a:off x="1537042" y="2716223"/>
            <a:ext cx="1655071" cy="44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線單箭頭接點 42">
            <a:extLst>
              <a:ext uri="{FF2B5EF4-FFF2-40B4-BE49-F238E27FC236}">
                <a16:creationId xmlns="" xmlns:a16="http://schemas.microsoft.com/office/drawing/2014/main" id="{E16A7F3B-8D18-B00B-478D-83EAFE3B3B7A}"/>
              </a:ext>
            </a:extLst>
          </p:cNvPr>
          <p:cNvCxnSpPr>
            <a:cxnSpLocks/>
            <a:stCxn id="3" idx="4"/>
            <a:endCxn id="25" idx="0"/>
          </p:cNvCxnSpPr>
          <p:nvPr/>
        </p:nvCxnSpPr>
        <p:spPr>
          <a:xfrm>
            <a:off x="13032968" y="8243616"/>
            <a:ext cx="8145" cy="5556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直線單箭頭接點 45">
            <a:extLst>
              <a:ext uri="{FF2B5EF4-FFF2-40B4-BE49-F238E27FC236}">
                <a16:creationId xmlns="" xmlns:a16="http://schemas.microsoft.com/office/drawing/2014/main" id="{FA12BA42-DC64-297E-BA70-890244FD17E0}"/>
              </a:ext>
            </a:extLst>
          </p:cNvPr>
          <p:cNvCxnSpPr>
            <a:cxnSpLocks/>
            <a:stCxn id="238" idx="2"/>
            <a:endCxn id="47" idx="0"/>
          </p:cNvCxnSpPr>
          <p:nvPr/>
        </p:nvCxnSpPr>
        <p:spPr>
          <a:xfrm flipH="1">
            <a:off x="10810817" y="6396325"/>
            <a:ext cx="2343" cy="4068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單箭頭接點 51">
            <a:extLst>
              <a:ext uri="{FF2B5EF4-FFF2-40B4-BE49-F238E27FC236}">
                <a16:creationId xmlns="" xmlns:a16="http://schemas.microsoft.com/office/drawing/2014/main" id="{0E6CA6A2-EA5C-A354-9702-424E4CC95FD8}"/>
              </a:ext>
            </a:extLst>
          </p:cNvPr>
          <p:cNvCxnSpPr>
            <a:cxnSpLocks/>
            <a:stCxn id="47" idx="3"/>
            <a:endCxn id="193" idx="1"/>
          </p:cNvCxnSpPr>
          <p:nvPr/>
        </p:nvCxnSpPr>
        <p:spPr>
          <a:xfrm>
            <a:off x="11731791" y="7159304"/>
            <a:ext cx="884600" cy="55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直線單箭頭接點 62">
            <a:extLst>
              <a:ext uri="{FF2B5EF4-FFF2-40B4-BE49-F238E27FC236}">
                <a16:creationId xmlns="" xmlns:a16="http://schemas.microsoft.com/office/drawing/2014/main" id="{556AAFB0-9B63-36AB-5BD3-325629C5FFCE}"/>
              </a:ext>
            </a:extLst>
          </p:cNvPr>
          <p:cNvCxnSpPr>
            <a:cxnSpLocks/>
            <a:stCxn id="70" idx="2"/>
            <a:endCxn id="240" idx="0"/>
          </p:cNvCxnSpPr>
          <p:nvPr/>
        </p:nvCxnSpPr>
        <p:spPr>
          <a:xfrm flipH="1">
            <a:off x="4083527" y="6196557"/>
            <a:ext cx="1035" cy="14097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40108047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 xmlns:a16="http://schemas.microsoft.com/office/drawing/2014/main" id="{580160BC-29D0-9D19-BFCE-78B7FC429FBC}"/>
              </a:ext>
            </a:extLst>
          </p:cNvPr>
          <p:cNvSpPr/>
          <p:nvPr/>
        </p:nvSpPr>
        <p:spPr bwMode="auto">
          <a:xfrm>
            <a:off x="3886440" y="4874815"/>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4" name="文字方塊 3">
            <a:extLst>
              <a:ext uri="{FF2B5EF4-FFF2-40B4-BE49-F238E27FC236}">
                <a16:creationId xmlns="" xmlns:a16="http://schemas.microsoft.com/office/drawing/2014/main" id="{83E6F622-2FBE-CC67-50FE-4ABD7D8B9696}"/>
              </a:ext>
            </a:extLst>
          </p:cNvPr>
          <p:cNvSpPr txBox="1"/>
          <p:nvPr/>
        </p:nvSpPr>
        <p:spPr>
          <a:xfrm>
            <a:off x="2444080" y="794373"/>
            <a:ext cx="845003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MM-PU-0090-01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機器設備</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493949" y="1364937"/>
            <a:ext cx="3904233"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採購</a:t>
            </a: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142197" y="8718588"/>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30" name="表格 30">
            <a:extLst>
              <a:ext uri="{FF2B5EF4-FFF2-40B4-BE49-F238E27FC236}">
                <a16:creationId xmlns="" xmlns:a16="http://schemas.microsoft.com/office/drawing/2014/main" id="{18197701-0564-3E2B-648E-413A6C8BBE0A}"/>
              </a:ext>
            </a:extLst>
          </p:cNvPr>
          <p:cNvGraphicFramePr>
            <a:graphicFrameLocks noGrp="1"/>
          </p:cNvGraphicFramePr>
          <p:nvPr/>
        </p:nvGraphicFramePr>
        <p:xfrm>
          <a:off x="2760086" y="2076474"/>
          <a:ext cx="1797832" cy="1090108"/>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440514">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31" name="Group 220">
            <a:extLst>
              <a:ext uri="{FF2B5EF4-FFF2-40B4-BE49-F238E27FC236}">
                <a16:creationId xmlns="" xmlns:a16="http://schemas.microsoft.com/office/drawing/2014/main" id="{A9B401BC-DE49-5FC0-6565-D216316A23DA}"/>
              </a:ext>
            </a:extLst>
          </p:cNvPr>
          <p:cNvGrpSpPr/>
          <p:nvPr/>
        </p:nvGrpSpPr>
        <p:grpSpPr>
          <a:xfrm>
            <a:off x="4339263" y="1842482"/>
            <a:ext cx="559344" cy="408542"/>
            <a:chOff x="5906472" y="1486857"/>
            <a:chExt cx="372896" cy="272361"/>
          </a:xfrm>
        </p:grpSpPr>
        <p:sp>
          <p:nvSpPr>
            <p:cNvPr id="32"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latin typeface="微軟正黑體" panose="020B0604030504040204" pitchFamily="34" charset="-120"/>
                <a:ea typeface="微軟正黑體" panose="020B0604030504040204" pitchFamily="34" charset="-120"/>
              </a:endParaRPr>
            </a:p>
          </p:txBody>
        </p:sp>
        <p:sp>
          <p:nvSpPr>
            <p:cNvPr id="33" name="TextBox 222">
              <a:extLst>
                <a:ext uri="{FF2B5EF4-FFF2-40B4-BE49-F238E27FC236}">
                  <a16:creationId xmlns="" xmlns:a16="http://schemas.microsoft.com/office/drawing/2014/main" id="{38213EC1-2A6F-CC6F-9F41-D87C1E84A2C8}"/>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49" name="肘形接點 68">
            <a:extLst>
              <a:ext uri="{FF2B5EF4-FFF2-40B4-BE49-F238E27FC236}">
                <a16:creationId xmlns="" xmlns:a16="http://schemas.microsoft.com/office/drawing/2014/main" id="{8DD1663D-3235-8D1E-F1BD-80C90EB0F8CB}"/>
              </a:ext>
            </a:extLst>
          </p:cNvPr>
          <p:cNvCxnSpPr>
            <a:cxnSpLocks/>
            <a:stCxn id="85" idx="3"/>
            <a:endCxn id="25" idx="1"/>
          </p:cNvCxnSpPr>
          <p:nvPr/>
        </p:nvCxnSpPr>
        <p:spPr>
          <a:xfrm>
            <a:off x="8963807" y="9102828"/>
            <a:ext cx="3178390" cy="698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9" name="表格 30">
            <a:extLst>
              <a:ext uri="{FF2B5EF4-FFF2-40B4-BE49-F238E27FC236}">
                <a16:creationId xmlns="" xmlns:a16="http://schemas.microsoft.com/office/drawing/2014/main" id="{323DEA68-B2E9-C177-AF6C-305B02CA9243}"/>
              </a:ext>
            </a:extLst>
          </p:cNvPr>
          <p:cNvGraphicFramePr>
            <a:graphicFrameLocks noGrp="1"/>
          </p:cNvGraphicFramePr>
          <p:nvPr/>
        </p:nvGraphicFramePr>
        <p:xfrm>
          <a:off x="2757569" y="3694708"/>
          <a:ext cx="1797832" cy="1184439"/>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7" name="肘形接點 68">
            <a:extLst>
              <a:ext uri="{FF2B5EF4-FFF2-40B4-BE49-F238E27FC236}">
                <a16:creationId xmlns="" xmlns:a16="http://schemas.microsoft.com/office/drawing/2014/main" id="{4D315B82-E1CA-313C-D4BB-3BBD9FD7F973}"/>
              </a:ext>
            </a:extLst>
          </p:cNvPr>
          <p:cNvCxnSpPr>
            <a:cxnSpLocks/>
            <a:stCxn id="91" idx="3"/>
            <a:endCxn id="102" idx="0"/>
          </p:cNvCxnSpPr>
          <p:nvPr/>
        </p:nvCxnSpPr>
        <p:spPr>
          <a:xfrm>
            <a:off x="8838622" y="3768828"/>
            <a:ext cx="1739823" cy="45411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 xmlns:a16="http://schemas.microsoft.com/office/drawing/2014/main" id="{8037CA89-DBE3-1441-8E4C-7EA04E993D61}"/>
              </a:ext>
            </a:extLst>
          </p:cNvPr>
          <p:cNvSpPr/>
          <p:nvPr/>
        </p:nvSpPr>
        <p:spPr bwMode="auto">
          <a:xfrm>
            <a:off x="9692051" y="6227915"/>
            <a:ext cx="1841949" cy="588972"/>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符合要求</a:t>
            </a:r>
          </a:p>
        </p:txBody>
      </p:sp>
      <p:cxnSp>
        <p:nvCxnSpPr>
          <p:cNvPr id="51" name="肘形接點 68">
            <a:extLst>
              <a:ext uri="{FF2B5EF4-FFF2-40B4-BE49-F238E27FC236}">
                <a16:creationId xmlns="" xmlns:a16="http://schemas.microsoft.com/office/drawing/2014/main" id="{2AA47122-2BF1-7633-656B-9B6710026CD9}"/>
              </a:ext>
            </a:extLst>
          </p:cNvPr>
          <p:cNvCxnSpPr>
            <a:cxnSpLocks/>
            <a:stCxn id="35" idx="2"/>
            <a:endCxn id="84" idx="0"/>
          </p:cNvCxnSpPr>
          <p:nvPr/>
        </p:nvCxnSpPr>
        <p:spPr>
          <a:xfrm rot="5400000">
            <a:off x="8496358" y="6378937"/>
            <a:ext cx="1678718" cy="255461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5" name="文字方塊 54">
            <a:extLst>
              <a:ext uri="{FF2B5EF4-FFF2-40B4-BE49-F238E27FC236}">
                <a16:creationId xmlns="" xmlns:a16="http://schemas.microsoft.com/office/drawing/2014/main" id="{B106DB5A-3C2B-C42B-E706-9F53E0CA364F}"/>
              </a:ext>
            </a:extLst>
          </p:cNvPr>
          <p:cNvSpPr txBox="1"/>
          <p:nvPr/>
        </p:nvSpPr>
        <p:spPr>
          <a:xfrm>
            <a:off x="11433071" y="612131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56" name="文字方塊 55">
            <a:extLst>
              <a:ext uri="{FF2B5EF4-FFF2-40B4-BE49-F238E27FC236}">
                <a16:creationId xmlns="" xmlns:a16="http://schemas.microsoft.com/office/drawing/2014/main" id="{7BDD8B3B-9FC5-B431-B92A-CADEB291222C}"/>
              </a:ext>
            </a:extLst>
          </p:cNvPr>
          <p:cNvSpPr txBox="1"/>
          <p:nvPr/>
        </p:nvSpPr>
        <p:spPr>
          <a:xfrm>
            <a:off x="10703081" y="6922916"/>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210" name="文字方塊 17">
            <a:extLst>
              <a:ext uri="{FF2B5EF4-FFF2-40B4-BE49-F238E27FC236}">
                <a16:creationId xmlns="" xmlns:a16="http://schemas.microsoft.com/office/drawing/2014/main" id="{306A0461-FB0A-6B8E-26F4-F4121B822258}"/>
              </a:ext>
            </a:extLst>
          </p:cNvPr>
          <p:cNvSpPr txBox="1"/>
          <p:nvPr/>
        </p:nvSpPr>
        <p:spPr>
          <a:xfrm>
            <a:off x="9695286" y="1380203"/>
            <a:ext cx="2194531"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申請單位</a:t>
            </a:r>
          </a:p>
        </p:txBody>
      </p:sp>
      <p:cxnSp>
        <p:nvCxnSpPr>
          <p:cNvPr id="217" name="肘形接點 68">
            <a:extLst>
              <a:ext uri="{FF2B5EF4-FFF2-40B4-BE49-F238E27FC236}">
                <a16:creationId xmlns="" xmlns:a16="http://schemas.microsoft.com/office/drawing/2014/main" id="{3C63507D-83FD-0025-3EF4-B6F87A20780B}"/>
              </a:ext>
            </a:extLst>
          </p:cNvPr>
          <p:cNvCxnSpPr>
            <a:cxnSpLocks/>
            <a:stCxn id="35" idx="3"/>
            <a:endCxn id="78" idx="1"/>
          </p:cNvCxnSpPr>
          <p:nvPr/>
        </p:nvCxnSpPr>
        <p:spPr>
          <a:xfrm flipV="1">
            <a:off x="11534000" y="6517244"/>
            <a:ext cx="642649" cy="51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1" name="TextBox 53">
            <a:extLst>
              <a:ext uri="{FF2B5EF4-FFF2-40B4-BE49-F238E27FC236}">
                <a16:creationId xmlns="" xmlns:a16="http://schemas.microsoft.com/office/drawing/2014/main" id="{2DE69ECC-E293-FAA8-6082-E6D2F887DBFF}"/>
              </a:ext>
            </a:extLst>
          </p:cNvPr>
          <p:cNvSpPr txBox="1"/>
          <p:nvPr/>
        </p:nvSpPr>
        <p:spPr>
          <a:xfrm>
            <a:off x="14380627" y="2064631"/>
            <a:ext cx="3594197" cy="369332"/>
          </a:xfrm>
          <a:prstGeom prst="rect">
            <a:avLst/>
          </a:prstGeom>
          <a:noFill/>
        </p:spPr>
        <p:txBody>
          <a:bodyPr wrap="square" rtlCol="0">
            <a:spAutoFit/>
          </a:bodyPr>
          <a:lstStyle/>
          <a:p>
            <a:endParaRPr lang="zh-TW" altLang="en-US" dirty="0"/>
          </a:p>
        </p:txBody>
      </p:sp>
      <p:sp>
        <p:nvSpPr>
          <p:cNvPr id="5" name="流程圖: 換頁接點 52">
            <a:extLst>
              <a:ext uri="{FF2B5EF4-FFF2-40B4-BE49-F238E27FC236}">
                <a16:creationId xmlns="" xmlns:a16="http://schemas.microsoft.com/office/drawing/2014/main" id="{A020D090-1F04-66A8-DDD2-0A428105439C}"/>
              </a:ext>
            </a:extLst>
          </p:cNvPr>
          <p:cNvSpPr/>
          <p:nvPr/>
        </p:nvSpPr>
        <p:spPr bwMode="auto">
          <a:xfrm>
            <a:off x="1131236" y="2391873"/>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grpSp>
        <p:nvGrpSpPr>
          <p:cNvPr id="41" name="Group 220">
            <a:extLst>
              <a:ext uri="{FF2B5EF4-FFF2-40B4-BE49-F238E27FC236}">
                <a16:creationId xmlns="" xmlns:a16="http://schemas.microsoft.com/office/drawing/2014/main" id="{8CFE2FFC-F192-E4BE-BA08-1FF5A5D8B2F9}"/>
              </a:ext>
            </a:extLst>
          </p:cNvPr>
          <p:cNvGrpSpPr/>
          <p:nvPr/>
        </p:nvGrpSpPr>
        <p:grpSpPr>
          <a:xfrm>
            <a:off x="4352235" y="3510712"/>
            <a:ext cx="559344" cy="408542"/>
            <a:chOff x="5906472" y="1486857"/>
            <a:chExt cx="372896" cy="272361"/>
          </a:xfrm>
        </p:grpSpPr>
        <p:sp>
          <p:nvSpPr>
            <p:cNvPr id="42" name="Oval 221">
              <a:extLst>
                <a:ext uri="{FF2B5EF4-FFF2-40B4-BE49-F238E27FC236}">
                  <a16:creationId xmlns="" xmlns:a16="http://schemas.microsoft.com/office/drawing/2014/main" id="{7919AE74-A7E0-3890-38AC-DCBB5AA39E9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3" name="TextBox 222">
              <a:extLst>
                <a:ext uri="{FF2B5EF4-FFF2-40B4-BE49-F238E27FC236}">
                  <a16:creationId xmlns="" xmlns:a16="http://schemas.microsoft.com/office/drawing/2014/main" id="{3F82B52D-D32E-9A97-A08F-EE46FBDF7380}"/>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00" name="文字方塊 17">
            <a:extLst>
              <a:ext uri="{FF2B5EF4-FFF2-40B4-BE49-F238E27FC236}">
                <a16:creationId xmlns="" xmlns:a16="http://schemas.microsoft.com/office/drawing/2014/main" id="{46781F1A-BA99-952E-F060-2BBE7B71DFBE}"/>
              </a:ext>
            </a:extLst>
          </p:cNvPr>
          <p:cNvSpPr txBox="1"/>
          <p:nvPr/>
        </p:nvSpPr>
        <p:spPr>
          <a:xfrm>
            <a:off x="6398181" y="1366262"/>
            <a:ext cx="329710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廠區總務</a:t>
            </a:r>
          </a:p>
        </p:txBody>
      </p:sp>
      <p:sp>
        <p:nvSpPr>
          <p:cNvPr id="9" name="TextBox 53">
            <a:extLst>
              <a:ext uri="{FF2B5EF4-FFF2-40B4-BE49-F238E27FC236}">
                <a16:creationId xmlns="" xmlns:a16="http://schemas.microsoft.com/office/drawing/2014/main" id="{04612EE1-7D42-C47D-2705-304DF742CE7B}"/>
              </a:ext>
            </a:extLst>
          </p:cNvPr>
          <p:cNvSpPr txBox="1"/>
          <p:nvPr/>
        </p:nvSpPr>
        <p:spPr>
          <a:xfrm>
            <a:off x="14380627" y="2064631"/>
            <a:ext cx="3594197" cy="5909310"/>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完成簽核</a:t>
            </a:r>
            <a:r>
              <a:rPr lang="en-US" altLang="zh-TW" dirty="0">
                <a:latin typeface="微軟正黑體" panose="020B0604030504040204" pitchFamily="34" charset="-120"/>
                <a:ea typeface="微軟正黑體" panose="020B0604030504040204" pitchFamily="34" charset="-120"/>
              </a:rPr>
              <a:t>BPM </a:t>
            </a:r>
            <a:r>
              <a:rPr lang="zh-TW" altLang="en-US" dirty="0">
                <a:latin typeface="微軟正黑體" panose="020B0604030504040204" pitchFamily="34" charset="-120"/>
                <a:ea typeface="微軟正黑體" panose="020B0604030504040204" pitchFamily="34" charset="-120"/>
              </a:rPr>
              <a:t>自動核發採購單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採購列印採購單，交付給供應商</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如果需要預付，按預付百分比例作收貨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預付先以暫存發票驗證部份收貨數量的金額作預付申請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廠商交貨、安裝機器後，進行點收，用</a:t>
            </a:r>
            <a:r>
              <a:rPr lang="en-US" altLang="zh-TW" dirty="0">
                <a:latin typeface="微軟正黑體" panose="020B0604030504040204" pitchFamily="34" charset="-120"/>
                <a:ea typeface="微軟正黑體" panose="020B0604030504040204" pitchFamily="34" charset="-120"/>
              </a:rPr>
              <a:t>MIGO </a:t>
            </a:r>
            <a:r>
              <a:rPr lang="zh-TW" altLang="en-US" dirty="0" smtClean="0">
                <a:latin typeface="微軟正黑體" panose="020B0604030504040204" pitchFamily="34" charset="-120"/>
                <a:ea typeface="微軟正黑體" panose="020B0604030504040204" pitchFamily="34" charset="-120"/>
              </a:rPr>
              <a:t>進行收貨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由申請單位進行功能</a:t>
            </a:r>
            <a:r>
              <a:rPr lang="zh-TW" altLang="en-US" dirty="0" smtClean="0">
                <a:latin typeface="微軟正黑體" panose="020B0604030504040204" pitchFamily="34" charset="-120"/>
                <a:ea typeface="微軟正黑體" panose="020B0604030504040204" pitchFamily="34" charset="-120"/>
              </a:rPr>
              <a:t>確認</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驗收不合格，則進行驗收 </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a:t>
            </a:r>
            <a:r>
              <a:rPr lang="en-US" altLang="zh-TW" dirty="0" smtClean="0">
                <a:latin typeface="微軟正黑體" panose="020B0604030504040204" pitchFamily="34" charset="-120"/>
                <a:ea typeface="微軟正黑體" panose="020B0604030504040204" pitchFamily="34" charset="-120"/>
              </a:rPr>
              <a:t>122</a:t>
            </a:r>
            <a:r>
              <a:rPr lang="zh-TW" altLang="en-US" dirty="0" smtClean="0">
                <a:latin typeface="微軟正黑體" panose="020B0604030504040204" pitchFamily="34" charset="-120"/>
                <a:ea typeface="微軟正黑體" panose="020B0604030504040204" pitchFamily="34" charset="-120"/>
              </a:rPr>
              <a:t>退貨</a:t>
            </a:r>
            <a:r>
              <a:rPr lang="zh-TW" altLang="en-US" dirty="0">
                <a:latin typeface="微軟正黑體" panose="020B0604030504040204" pitchFamily="34" charset="-120"/>
                <a:ea typeface="微軟正黑體" panose="020B0604030504040204" pitchFamily="34" charset="-120"/>
              </a:rPr>
              <a:t>作業，通知廠商收退貨重送</a:t>
            </a:r>
            <a:endParaRPr lang="en-US" altLang="zh-TW" dirty="0">
              <a:latin typeface="微軟正黑體" panose="020B0604030504040204" pitchFamily="34" charset="-120"/>
              <a:ea typeface="微軟正黑體" panose="020B0604030504040204" pitchFamily="34" charset="-120"/>
            </a:endParaRPr>
          </a:p>
          <a:p>
            <a:endParaRPr lang="en-US" altLang="zh-TW" dirty="0"/>
          </a:p>
        </p:txBody>
      </p:sp>
      <p:sp>
        <p:nvSpPr>
          <p:cNvPr id="17" name="流程圖: 決策 50">
            <a:extLst>
              <a:ext uri="{FF2B5EF4-FFF2-40B4-BE49-F238E27FC236}">
                <a16:creationId xmlns="" xmlns:a16="http://schemas.microsoft.com/office/drawing/2014/main" id="{90AD232C-F7E6-105E-35B0-3783B1FD3A62}"/>
              </a:ext>
            </a:extLst>
          </p:cNvPr>
          <p:cNvSpPr/>
          <p:nvPr/>
        </p:nvSpPr>
        <p:spPr bwMode="auto">
          <a:xfrm>
            <a:off x="2731995" y="5770975"/>
            <a:ext cx="1841949" cy="59760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需預付</a:t>
            </a:r>
          </a:p>
        </p:txBody>
      </p:sp>
      <p:sp>
        <p:nvSpPr>
          <p:cNvPr id="228" name="流程圖: 預設處理作業 21">
            <a:extLst>
              <a:ext uri="{FF2B5EF4-FFF2-40B4-BE49-F238E27FC236}">
                <a16:creationId xmlns="" xmlns:a16="http://schemas.microsoft.com/office/drawing/2014/main" id="{2857039D-4439-AE14-74EB-A5CEC0477F9A}"/>
              </a:ext>
            </a:extLst>
          </p:cNvPr>
          <p:cNvSpPr/>
          <p:nvPr/>
        </p:nvSpPr>
        <p:spPr bwMode="auto">
          <a:xfrm>
            <a:off x="2793888" y="8602330"/>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230" name="肘形接點 68">
            <a:extLst>
              <a:ext uri="{FF2B5EF4-FFF2-40B4-BE49-F238E27FC236}">
                <a16:creationId xmlns="" xmlns:a16="http://schemas.microsoft.com/office/drawing/2014/main" id="{7E72D76D-CF8D-5ACC-0DDF-7EAF9F64AC25}"/>
              </a:ext>
            </a:extLst>
          </p:cNvPr>
          <p:cNvCxnSpPr>
            <a:cxnSpLocks/>
            <a:stCxn id="228" idx="3"/>
            <a:endCxn id="91" idx="1"/>
          </p:cNvCxnSpPr>
          <p:nvPr/>
        </p:nvCxnSpPr>
        <p:spPr>
          <a:xfrm flipV="1">
            <a:off x="4522815" y="3768828"/>
            <a:ext cx="2505007" cy="545270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4" name="肘形接點 68">
            <a:extLst>
              <a:ext uri="{FF2B5EF4-FFF2-40B4-BE49-F238E27FC236}">
                <a16:creationId xmlns="" xmlns:a16="http://schemas.microsoft.com/office/drawing/2014/main" id="{A69FBE0A-7432-A6D7-9148-CCE6E8B4C592}"/>
              </a:ext>
            </a:extLst>
          </p:cNvPr>
          <p:cNvCxnSpPr>
            <a:cxnSpLocks/>
            <a:stCxn id="17" idx="3"/>
            <a:endCxn id="91" idx="1"/>
          </p:cNvCxnSpPr>
          <p:nvPr/>
        </p:nvCxnSpPr>
        <p:spPr>
          <a:xfrm flipV="1">
            <a:off x="4573944" y="3768828"/>
            <a:ext cx="2453878" cy="230095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238" name="Group 220">
            <a:extLst>
              <a:ext uri="{FF2B5EF4-FFF2-40B4-BE49-F238E27FC236}">
                <a16:creationId xmlns="" xmlns:a16="http://schemas.microsoft.com/office/drawing/2014/main" id="{98184046-84E1-88B2-6AF0-D27D19F1759B}"/>
              </a:ext>
            </a:extLst>
          </p:cNvPr>
          <p:cNvGrpSpPr/>
          <p:nvPr/>
        </p:nvGrpSpPr>
        <p:grpSpPr>
          <a:xfrm>
            <a:off x="4286139" y="8397478"/>
            <a:ext cx="559344" cy="408542"/>
            <a:chOff x="5906472" y="1486857"/>
            <a:chExt cx="372896" cy="272361"/>
          </a:xfrm>
        </p:grpSpPr>
        <p:sp>
          <p:nvSpPr>
            <p:cNvPr id="239" name="Oval 221">
              <a:extLst>
                <a:ext uri="{FF2B5EF4-FFF2-40B4-BE49-F238E27FC236}">
                  <a16:creationId xmlns="" xmlns:a16="http://schemas.microsoft.com/office/drawing/2014/main" id="{55B9FF93-B5E1-9E9A-CBEC-A269103F4B71}"/>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0" name="TextBox 222">
              <a:extLst>
                <a:ext uri="{FF2B5EF4-FFF2-40B4-BE49-F238E27FC236}">
                  <a16:creationId xmlns="" xmlns:a16="http://schemas.microsoft.com/office/drawing/2014/main" id="{9ADE62B4-165E-B381-5172-7241F9C872D4}"/>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75" name="Straight Connector 284">
            <a:extLst>
              <a:ext uri="{FF2B5EF4-FFF2-40B4-BE49-F238E27FC236}">
                <a16:creationId xmlns="" xmlns:a16="http://schemas.microsoft.com/office/drawing/2014/main" id="{CCB3D035-826A-6F8E-1D15-1A3E96F62413}"/>
              </a:ext>
            </a:extLst>
          </p:cNvPr>
          <p:cNvCxnSpPr>
            <a:cxnSpLocks/>
          </p:cNvCxnSpPr>
          <p:nvPr/>
        </p:nvCxnSpPr>
        <p:spPr>
          <a:xfrm>
            <a:off x="6398184" y="1340384"/>
            <a:ext cx="0" cy="8810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284">
            <a:extLst>
              <a:ext uri="{FF2B5EF4-FFF2-40B4-BE49-F238E27FC236}">
                <a16:creationId xmlns="" xmlns:a16="http://schemas.microsoft.com/office/drawing/2014/main" id="{CCB3D035-826A-6F8E-1D15-1A3E96F62413}"/>
              </a:ext>
            </a:extLst>
          </p:cNvPr>
          <p:cNvCxnSpPr>
            <a:cxnSpLocks/>
          </p:cNvCxnSpPr>
          <p:nvPr/>
        </p:nvCxnSpPr>
        <p:spPr>
          <a:xfrm>
            <a:off x="9303405" y="1350113"/>
            <a:ext cx="0" cy="8787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 xmlns:a16="http://schemas.microsoft.com/office/drawing/2014/main" id="{1FF3F166-78C2-469B-04E2-59F70F345ADB}"/>
              </a:ext>
            </a:extLst>
          </p:cNvPr>
          <p:cNvSpPr txBox="1"/>
          <p:nvPr/>
        </p:nvSpPr>
        <p:spPr>
          <a:xfrm>
            <a:off x="3730015" y="6487394"/>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6" name="文字方塊 25">
            <a:extLst>
              <a:ext uri="{FF2B5EF4-FFF2-40B4-BE49-F238E27FC236}">
                <a16:creationId xmlns="" xmlns:a16="http://schemas.microsoft.com/office/drawing/2014/main" id="{77419519-709D-F221-F31E-BD5D89B4A461}"/>
              </a:ext>
            </a:extLst>
          </p:cNvPr>
          <p:cNvSpPr txBox="1"/>
          <p:nvPr/>
        </p:nvSpPr>
        <p:spPr>
          <a:xfrm>
            <a:off x="4862621" y="5733142"/>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graphicFrame>
        <p:nvGraphicFramePr>
          <p:cNvPr id="233" name="表格 30">
            <a:extLst>
              <a:ext uri="{FF2B5EF4-FFF2-40B4-BE49-F238E27FC236}">
                <a16:creationId xmlns="" xmlns:a16="http://schemas.microsoft.com/office/drawing/2014/main" id="{EE4D7AF3-C0E3-AC0D-8B46-7916F4CB28DF}"/>
              </a:ext>
            </a:extLst>
          </p:cNvPr>
          <p:cNvGraphicFramePr>
            <a:graphicFrameLocks noGrp="1"/>
          </p:cNvGraphicFramePr>
          <p:nvPr>
            <p:extLst>
              <p:ext uri="{D42A27DB-BD31-4B8C-83A1-F6EECF244321}">
                <p14:modId xmlns="" xmlns:p14="http://schemas.microsoft.com/office/powerpoint/2010/main" val="3358594325"/>
              </p:ext>
            </p:extLst>
          </p:nvPr>
        </p:nvGraphicFramePr>
        <p:xfrm>
          <a:off x="2754538" y="6951608"/>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採購單按預付百份比收貨</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73" name="Google Shape;198;p3"/>
          <p:cNvSpPr txBox="1">
            <a:spLocks/>
          </p:cNvSpPr>
          <p:nvPr/>
        </p:nvSpPr>
        <p:spPr>
          <a:xfrm>
            <a:off x="15067722" y="473956"/>
            <a:ext cx="598102" cy="241662"/>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3</a:t>
            </a:r>
          </a:p>
        </p:txBody>
      </p:sp>
      <p:grpSp>
        <p:nvGrpSpPr>
          <p:cNvPr id="219" name="Group 220">
            <a:extLst>
              <a:ext uri="{FF2B5EF4-FFF2-40B4-BE49-F238E27FC236}">
                <a16:creationId xmlns="" xmlns:a16="http://schemas.microsoft.com/office/drawing/2014/main" id="{52B0433D-9B75-3C72-E260-A94168985ECD}"/>
              </a:ext>
            </a:extLst>
          </p:cNvPr>
          <p:cNvGrpSpPr/>
          <p:nvPr/>
        </p:nvGrpSpPr>
        <p:grpSpPr>
          <a:xfrm>
            <a:off x="4282841" y="6746747"/>
            <a:ext cx="559344" cy="415761"/>
            <a:chOff x="5906472" y="1486857"/>
            <a:chExt cx="372896" cy="272361"/>
          </a:xfrm>
        </p:grpSpPr>
        <p:sp>
          <p:nvSpPr>
            <p:cNvPr id="220" name="Oval 221">
              <a:extLst>
                <a:ext uri="{FF2B5EF4-FFF2-40B4-BE49-F238E27FC236}">
                  <a16:creationId xmlns="" xmlns:a16="http://schemas.microsoft.com/office/drawing/2014/main" id="{82502817-9A10-B369-0278-8E3FD83C06C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21" name="TextBox 222">
              <a:extLst>
                <a:ext uri="{FF2B5EF4-FFF2-40B4-BE49-F238E27FC236}">
                  <a16:creationId xmlns="" xmlns:a16="http://schemas.microsoft.com/office/drawing/2014/main" id="{1F11146B-09DF-2934-D6B3-1E55A404FEA4}"/>
                </a:ext>
              </a:extLst>
            </p:cNvPr>
            <p:cNvSpPr txBox="1"/>
            <p:nvPr/>
          </p:nvSpPr>
          <p:spPr>
            <a:xfrm>
              <a:off x="592376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78" name="流程圖: 預設處理作業 21">
            <a:extLst>
              <a:ext uri="{FF2B5EF4-FFF2-40B4-BE49-F238E27FC236}">
                <a16:creationId xmlns="" xmlns:a16="http://schemas.microsoft.com/office/drawing/2014/main" id="{2857039D-4439-AE14-74EB-A5CEC0477F9A}"/>
              </a:ext>
            </a:extLst>
          </p:cNvPr>
          <p:cNvSpPr/>
          <p:nvPr/>
        </p:nvSpPr>
        <p:spPr bwMode="auto">
          <a:xfrm>
            <a:off x="12176649" y="5898044"/>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34" name="直線單箭頭接點 33">
            <a:extLst>
              <a:ext uri="{FF2B5EF4-FFF2-40B4-BE49-F238E27FC236}">
                <a16:creationId xmlns="" xmlns:a16="http://schemas.microsoft.com/office/drawing/2014/main" id="{3ED16FF9-2228-D582-74F0-064BC5EF132C}"/>
              </a:ext>
            </a:extLst>
          </p:cNvPr>
          <p:cNvCxnSpPr>
            <a:cxnSpLocks/>
            <a:stCxn id="5" idx="3"/>
            <a:endCxn id="30" idx="1"/>
          </p:cNvCxnSpPr>
          <p:nvPr/>
        </p:nvCxnSpPr>
        <p:spPr>
          <a:xfrm flipV="1">
            <a:off x="1691863" y="2621528"/>
            <a:ext cx="1068223" cy="39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單箭頭接點 37">
            <a:extLst>
              <a:ext uri="{FF2B5EF4-FFF2-40B4-BE49-F238E27FC236}">
                <a16:creationId xmlns="" xmlns:a16="http://schemas.microsoft.com/office/drawing/2014/main" id="{89DA98A6-DE42-7C08-F439-8F31E2058ACE}"/>
              </a:ext>
            </a:extLst>
          </p:cNvPr>
          <p:cNvCxnSpPr>
            <a:cxnSpLocks/>
            <a:stCxn id="30" idx="2"/>
            <a:endCxn id="19" idx="0"/>
          </p:cNvCxnSpPr>
          <p:nvPr/>
        </p:nvCxnSpPr>
        <p:spPr>
          <a:xfrm flipH="1">
            <a:off x="3656485" y="3166582"/>
            <a:ext cx="2517" cy="5281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線單箭頭接點 43">
            <a:extLst>
              <a:ext uri="{FF2B5EF4-FFF2-40B4-BE49-F238E27FC236}">
                <a16:creationId xmlns="" xmlns:a16="http://schemas.microsoft.com/office/drawing/2014/main" id="{C0C8CAD6-ADC7-858D-7013-E2CDBA1B8DD9}"/>
              </a:ext>
            </a:extLst>
          </p:cNvPr>
          <p:cNvCxnSpPr>
            <a:cxnSpLocks/>
            <a:stCxn id="19" idx="2"/>
            <a:endCxn id="17" idx="0"/>
          </p:cNvCxnSpPr>
          <p:nvPr/>
        </p:nvCxnSpPr>
        <p:spPr>
          <a:xfrm flipH="1">
            <a:off x="3652970" y="4879147"/>
            <a:ext cx="3515" cy="8918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單箭頭接點 51">
            <a:extLst>
              <a:ext uri="{FF2B5EF4-FFF2-40B4-BE49-F238E27FC236}">
                <a16:creationId xmlns="" xmlns:a16="http://schemas.microsoft.com/office/drawing/2014/main" id="{E9488062-8F4A-E35F-2F3D-10DA7F8251F5}"/>
              </a:ext>
            </a:extLst>
          </p:cNvPr>
          <p:cNvCxnSpPr>
            <a:cxnSpLocks/>
            <a:stCxn id="17" idx="2"/>
            <a:endCxn id="233" idx="0"/>
          </p:cNvCxnSpPr>
          <p:nvPr/>
        </p:nvCxnSpPr>
        <p:spPr>
          <a:xfrm>
            <a:off x="3652970" y="6368581"/>
            <a:ext cx="484" cy="5830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單箭頭接點 61">
            <a:extLst>
              <a:ext uri="{FF2B5EF4-FFF2-40B4-BE49-F238E27FC236}">
                <a16:creationId xmlns="" xmlns:a16="http://schemas.microsoft.com/office/drawing/2014/main" id="{FEF279C2-83AB-41D2-6A75-A39F6D7EE9C7}"/>
              </a:ext>
            </a:extLst>
          </p:cNvPr>
          <p:cNvCxnSpPr>
            <a:cxnSpLocks/>
            <a:stCxn id="233" idx="2"/>
            <a:endCxn id="228" idx="0"/>
          </p:cNvCxnSpPr>
          <p:nvPr/>
        </p:nvCxnSpPr>
        <p:spPr>
          <a:xfrm>
            <a:off x="3653454" y="8190008"/>
            <a:ext cx="4898" cy="4123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直線單箭頭接點 70">
            <a:extLst>
              <a:ext uri="{FF2B5EF4-FFF2-40B4-BE49-F238E27FC236}">
                <a16:creationId xmlns="" xmlns:a16="http://schemas.microsoft.com/office/drawing/2014/main" id="{4C2B1276-06B9-E2EA-9FD1-D922936615B7}"/>
              </a:ext>
            </a:extLst>
          </p:cNvPr>
          <p:cNvCxnSpPr>
            <a:cxnSpLocks/>
            <a:endCxn id="35" idx="0"/>
          </p:cNvCxnSpPr>
          <p:nvPr/>
        </p:nvCxnSpPr>
        <p:spPr>
          <a:xfrm rot="5400000">
            <a:off x="10193546" y="5807889"/>
            <a:ext cx="839507" cy="5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直線單箭頭接點 76">
            <a:extLst>
              <a:ext uri="{FF2B5EF4-FFF2-40B4-BE49-F238E27FC236}">
                <a16:creationId xmlns="" xmlns:a16="http://schemas.microsoft.com/office/drawing/2014/main" id="{8358A9BC-99C1-0844-3360-02305B1AEB36}"/>
              </a:ext>
            </a:extLst>
          </p:cNvPr>
          <p:cNvCxnSpPr>
            <a:cxnSpLocks/>
            <a:stCxn id="78" idx="2"/>
            <a:endCxn id="25" idx="0"/>
          </p:cNvCxnSpPr>
          <p:nvPr/>
        </p:nvCxnSpPr>
        <p:spPr>
          <a:xfrm rot="5400000">
            <a:off x="12250041" y="7927516"/>
            <a:ext cx="1582144" cy="1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3" name="群組 82"/>
          <p:cNvGrpSpPr/>
          <p:nvPr/>
        </p:nvGrpSpPr>
        <p:grpSpPr>
          <a:xfrm>
            <a:off x="7153007" y="8495605"/>
            <a:ext cx="1810800" cy="1217256"/>
            <a:chOff x="15073354" y="8308668"/>
            <a:chExt cx="1810800" cy="1217256"/>
          </a:xfrm>
        </p:grpSpPr>
        <p:sp>
          <p:nvSpPr>
            <p:cNvPr id="84" name="流程圖: 程序 83"/>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85" name="流程圖: 程序 84"/>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採購單退貨，</a:t>
              </a:r>
              <a:endParaRPr lang="en-US" altLang="zh-TW" sz="1500" dirty="0" smtClean="0">
                <a:latin typeface="微軟正黑體" panose="020B0604030504040204" pitchFamily="34" charset="-120"/>
                <a:ea typeface="微軟正黑體" panose="020B0604030504040204" pitchFamily="34" charset="-120"/>
              </a:endParaRPr>
            </a:p>
            <a:p>
              <a:pPr algn="ctr"/>
              <a:r>
                <a:rPr lang="zh-TW" altLang="en-US" sz="1500" dirty="0" smtClean="0">
                  <a:latin typeface="微軟正黑體" panose="020B0604030504040204" pitchFamily="34" charset="-120"/>
                  <a:ea typeface="微軟正黑體" panose="020B0604030504040204" pitchFamily="34" charset="-120"/>
                </a:rPr>
                <a:t>通知廠商收退重送</a:t>
              </a:r>
              <a:endParaRPr lang="en-US" altLang="zh-TW" sz="1500" dirty="0">
                <a:latin typeface="微軟正黑體" panose="020B0604030504040204" pitchFamily="34" charset="-120"/>
                <a:ea typeface="微軟正黑體" panose="020B0604030504040204" pitchFamily="34" charset="-120"/>
              </a:endParaRPr>
            </a:p>
          </p:txBody>
        </p:sp>
        <p:sp>
          <p:nvSpPr>
            <p:cNvPr id="86" name="流程圖: 程序 85"/>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87" name="流程圖: 程序 86"/>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88" name="群組 87"/>
          <p:cNvGrpSpPr/>
          <p:nvPr/>
        </p:nvGrpSpPr>
        <p:grpSpPr>
          <a:xfrm>
            <a:off x="7027822" y="3161605"/>
            <a:ext cx="1810800" cy="1217256"/>
            <a:chOff x="15073354" y="8308668"/>
            <a:chExt cx="1810800" cy="1217256"/>
          </a:xfrm>
        </p:grpSpPr>
        <p:sp>
          <p:nvSpPr>
            <p:cNvPr id="89" name="流程圖: 程序 88"/>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91" name="流程圖: 程序 9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採購單收貨</a:t>
              </a:r>
              <a:endParaRPr lang="en-US" altLang="zh-TW" sz="1500" dirty="0">
                <a:latin typeface="微軟正黑體" panose="020B0604030504040204" pitchFamily="34" charset="-120"/>
                <a:ea typeface="微軟正黑體" panose="020B0604030504040204" pitchFamily="34" charset="-120"/>
              </a:endParaRPr>
            </a:p>
          </p:txBody>
        </p:sp>
        <p:sp>
          <p:nvSpPr>
            <p:cNvPr id="92" name="流程圖: 程序 9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93" name="流程圖: 程序 92"/>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101" name="群組 100"/>
          <p:cNvGrpSpPr/>
          <p:nvPr/>
        </p:nvGrpSpPr>
        <p:grpSpPr>
          <a:xfrm>
            <a:off x="9673045" y="4222941"/>
            <a:ext cx="1810800" cy="1217256"/>
            <a:chOff x="15073354" y="8308668"/>
            <a:chExt cx="1810800" cy="1217256"/>
          </a:xfrm>
        </p:grpSpPr>
        <p:sp>
          <p:nvSpPr>
            <p:cNvPr id="102" name="流程圖: 程序 10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03" name="流程圖: 程序 10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功能確認</a:t>
              </a:r>
              <a:endParaRPr lang="en-US" altLang="zh-TW" sz="1500" dirty="0">
                <a:latin typeface="微軟正黑體" panose="020B0604030504040204" pitchFamily="34" charset="-120"/>
                <a:ea typeface="微軟正黑體" panose="020B0604030504040204" pitchFamily="34" charset="-120"/>
              </a:endParaRPr>
            </a:p>
          </p:txBody>
        </p:sp>
        <p:sp>
          <p:nvSpPr>
            <p:cNvPr id="104" name="流程圖: 程序 10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05" name="流程圖: 程序 104"/>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241" name="Group 220">
            <a:extLst>
              <a:ext uri="{FF2B5EF4-FFF2-40B4-BE49-F238E27FC236}">
                <a16:creationId xmlns="" xmlns:a16="http://schemas.microsoft.com/office/drawing/2014/main" id="{13E9951B-4A3E-E489-AE09-B89089F6F4B6}"/>
              </a:ext>
            </a:extLst>
          </p:cNvPr>
          <p:cNvGrpSpPr/>
          <p:nvPr/>
        </p:nvGrpSpPr>
        <p:grpSpPr>
          <a:xfrm>
            <a:off x="11236423" y="4017694"/>
            <a:ext cx="560606" cy="415761"/>
            <a:chOff x="5906472" y="1486857"/>
            <a:chExt cx="373737" cy="272361"/>
          </a:xfrm>
        </p:grpSpPr>
        <p:sp>
          <p:nvSpPr>
            <p:cNvPr id="242" name="Oval 221">
              <a:extLst>
                <a:ext uri="{FF2B5EF4-FFF2-40B4-BE49-F238E27FC236}">
                  <a16:creationId xmlns="" xmlns:a16="http://schemas.microsoft.com/office/drawing/2014/main" id="{658E3F42-D710-EA0A-760A-56D3E70DDA8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3" name="TextBox 222">
              <a:extLst>
                <a:ext uri="{FF2B5EF4-FFF2-40B4-BE49-F238E27FC236}">
                  <a16:creationId xmlns="" xmlns:a16="http://schemas.microsoft.com/office/drawing/2014/main" id="{04B45D44-738C-9015-C58C-EA8A042CC559}"/>
                </a:ext>
              </a:extLst>
            </p:cNvPr>
            <p:cNvSpPr txBox="1"/>
            <p:nvPr/>
          </p:nvSpPr>
          <p:spPr>
            <a:xfrm>
              <a:off x="5924609" y="1507079"/>
              <a:ext cx="355600" cy="211702"/>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nvGrpSpPr>
          <p:cNvPr id="3" name="Group 220">
            <a:extLst>
              <a:ext uri="{FF2B5EF4-FFF2-40B4-BE49-F238E27FC236}">
                <a16:creationId xmlns="" xmlns:a16="http://schemas.microsoft.com/office/drawing/2014/main" id="{A1983CA1-988B-B586-6B79-EED6E53CD361}"/>
              </a:ext>
            </a:extLst>
          </p:cNvPr>
          <p:cNvGrpSpPr/>
          <p:nvPr/>
        </p:nvGrpSpPr>
        <p:grpSpPr>
          <a:xfrm>
            <a:off x="8648867" y="2971321"/>
            <a:ext cx="572532" cy="408542"/>
            <a:chOff x="5906472" y="1486857"/>
            <a:chExt cx="381688" cy="272361"/>
          </a:xfrm>
        </p:grpSpPr>
        <p:sp>
          <p:nvSpPr>
            <p:cNvPr id="7" name="Oval 221">
              <a:extLst>
                <a:ext uri="{FF2B5EF4-FFF2-40B4-BE49-F238E27FC236}">
                  <a16:creationId xmlns="" xmlns:a16="http://schemas.microsoft.com/office/drawing/2014/main" id="{C9A8929E-42CE-DCDD-06D7-93FEB4DAB3B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8" name="TextBox 222">
              <a:extLst>
                <a:ext uri="{FF2B5EF4-FFF2-40B4-BE49-F238E27FC236}">
                  <a16:creationId xmlns="" xmlns:a16="http://schemas.microsoft.com/office/drawing/2014/main" id="{B52B9FCC-FC80-B8A2-DA40-E3EA863599DF}"/>
                </a:ext>
              </a:extLst>
            </p:cNvPr>
            <p:cNvSpPr txBox="1"/>
            <p:nvPr/>
          </p:nvSpPr>
          <p:spPr>
            <a:xfrm>
              <a:off x="5932560"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45" name="Group 220">
            <a:extLst>
              <a:ext uri="{FF2B5EF4-FFF2-40B4-BE49-F238E27FC236}">
                <a16:creationId xmlns="" xmlns:a16="http://schemas.microsoft.com/office/drawing/2014/main" id="{ADD1546F-75A2-0E22-F66E-32DFDB0DE746}"/>
              </a:ext>
            </a:extLst>
          </p:cNvPr>
          <p:cNvGrpSpPr/>
          <p:nvPr/>
        </p:nvGrpSpPr>
        <p:grpSpPr>
          <a:xfrm>
            <a:off x="8746107" y="8253326"/>
            <a:ext cx="559344" cy="415761"/>
            <a:chOff x="5906472" y="1486857"/>
            <a:chExt cx="372896" cy="272361"/>
          </a:xfrm>
        </p:grpSpPr>
        <p:sp>
          <p:nvSpPr>
            <p:cNvPr id="46" name="Oval 221">
              <a:extLst>
                <a:ext uri="{FF2B5EF4-FFF2-40B4-BE49-F238E27FC236}">
                  <a16:creationId xmlns="" xmlns:a16="http://schemas.microsoft.com/office/drawing/2014/main"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8" name="TextBox 222">
              <a:extLst>
                <a:ext uri="{FF2B5EF4-FFF2-40B4-BE49-F238E27FC236}">
                  <a16:creationId xmlns="" xmlns:a16="http://schemas.microsoft.com/office/drawing/2014/main" id="{454E1CB9-6ED4-AD5A-39EC-6D1B324BA26E}"/>
                </a:ext>
              </a:extLst>
            </p:cNvPr>
            <p:cNvSpPr txBox="1"/>
            <p:nvPr/>
          </p:nvSpPr>
          <p:spPr>
            <a:xfrm>
              <a:off x="5923768" y="1507079"/>
              <a:ext cx="355600" cy="211702"/>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 xmlns:p14="http://schemas.microsoft.com/office/powerpoint/2010/main" val="42840725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 xmlns:a16="http://schemas.microsoft.com/office/drawing/2014/main" id="{83E6F622-2FBE-CC67-50FE-4ABD7D8B9696}"/>
              </a:ext>
            </a:extLst>
          </p:cNvPr>
          <p:cNvSpPr txBox="1"/>
          <p:nvPr/>
        </p:nvSpPr>
        <p:spPr>
          <a:xfrm>
            <a:off x="2444080" y="794373"/>
            <a:ext cx="8735649"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MM-PU-0090-02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楦</a:t>
            </a:r>
            <a:r>
              <a:rPr lang="zh-TW" altLang="en-US" sz="2400" b="1" dirty="0" smtClean="0">
                <a:latin typeface="微軟正黑體" panose="020B0604030504040204" pitchFamily="34" charset="-120"/>
                <a:ea typeface="微軟正黑體" panose="020B0604030504040204" pitchFamily="34" charset="-120"/>
              </a:rPr>
              <a:t>頭</a:t>
            </a:r>
            <a:r>
              <a:rPr lang="en-US" altLang="zh-TW" sz="2400" b="1" dirty="0" smtClean="0">
                <a:latin typeface="微軟正黑體" panose="020B0604030504040204" pitchFamily="34" charset="-120"/>
                <a:ea typeface="微軟正黑體" panose="020B0604030504040204" pitchFamily="34" charset="-120"/>
              </a:rPr>
              <a:t>/</a:t>
            </a:r>
            <a:r>
              <a:rPr lang="zh-TW" altLang="en-US" sz="2400" b="1" dirty="0" smtClean="0">
                <a:latin typeface="微軟正黑體" panose="020B0604030504040204" pitchFamily="34" charset="-120"/>
                <a:ea typeface="微軟正黑體" panose="020B0604030504040204" pitchFamily="34" charset="-120"/>
              </a:rPr>
              <a:t>模具</a:t>
            </a:r>
            <a:r>
              <a:rPr lang="en-US" altLang="zh-TW" sz="2400" b="1" dirty="0" smtClean="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444080" y="1391440"/>
            <a:ext cx="225459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開發</a:t>
            </a:r>
          </a:p>
        </p:txBody>
      </p:sp>
      <p:sp>
        <p:nvSpPr>
          <p:cNvPr id="34" name="文字方塊 17">
            <a:extLst>
              <a:ext uri="{FF2B5EF4-FFF2-40B4-BE49-F238E27FC236}">
                <a16:creationId xmlns="" xmlns:a16="http://schemas.microsoft.com/office/drawing/2014/main" id="{DE52170D-3194-E094-D743-3842F95326FE}"/>
              </a:ext>
            </a:extLst>
          </p:cNvPr>
          <p:cNvSpPr txBox="1"/>
          <p:nvPr/>
        </p:nvSpPr>
        <p:spPr>
          <a:xfrm>
            <a:off x="7033314" y="1366407"/>
            <a:ext cx="2447301"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處主管</a:t>
            </a:r>
          </a:p>
        </p:txBody>
      </p:sp>
      <p:cxnSp>
        <p:nvCxnSpPr>
          <p:cNvPr id="27" name="肘形接點 68">
            <a:extLst>
              <a:ext uri="{FF2B5EF4-FFF2-40B4-BE49-F238E27FC236}">
                <a16:creationId xmlns="" xmlns:a16="http://schemas.microsoft.com/office/drawing/2014/main" id="{4D315B82-E1CA-313C-D4BB-3BBD9FD7F973}"/>
              </a:ext>
            </a:extLst>
          </p:cNvPr>
          <p:cNvCxnSpPr>
            <a:cxnSpLocks/>
            <a:stCxn id="72" idx="2"/>
            <a:endCxn id="84" idx="1"/>
          </p:cNvCxnSpPr>
          <p:nvPr/>
        </p:nvCxnSpPr>
        <p:spPr>
          <a:xfrm rot="16200000" flipH="1">
            <a:off x="6413920" y="4514170"/>
            <a:ext cx="320903" cy="14447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 xmlns:a16="http://schemas.microsoft.com/office/drawing/2014/main" id="{8037CA89-DBE3-1441-8E4C-7EA04E993D61}"/>
              </a:ext>
            </a:extLst>
          </p:cNvPr>
          <p:cNvSpPr/>
          <p:nvPr/>
        </p:nvSpPr>
        <p:spPr bwMode="auto">
          <a:xfrm>
            <a:off x="7343722" y="6265225"/>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sp>
        <p:nvSpPr>
          <p:cNvPr id="210" name="文字方塊 17">
            <a:extLst>
              <a:ext uri="{FF2B5EF4-FFF2-40B4-BE49-F238E27FC236}">
                <a16:creationId xmlns="" xmlns:a16="http://schemas.microsoft.com/office/drawing/2014/main" id="{306A0461-FB0A-6B8E-26F4-F4121B822258}"/>
              </a:ext>
            </a:extLst>
          </p:cNvPr>
          <p:cNvSpPr txBox="1"/>
          <p:nvPr/>
        </p:nvSpPr>
        <p:spPr>
          <a:xfrm>
            <a:off x="4698677" y="1260417"/>
            <a:ext cx="2334640" cy="600164"/>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開發</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底部製具</a:t>
            </a:r>
            <a:r>
              <a:rPr lang="en-US" altLang="zh-TW" sz="1650" dirty="0">
                <a:latin typeface="微軟正黑體" panose="020B0604030504040204" pitchFamily="34" charset="-120"/>
                <a:ea typeface="微軟正黑體" panose="020B0604030504040204" pitchFamily="34" charset="-120"/>
              </a:rPr>
              <a:t>/</a:t>
            </a:r>
          </a:p>
          <a:p>
            <a:pPr algn="ctr"/>
            <a:r>
              <a:rPr lang="zh-TW" altLang="en-US" sz="1650" dirty="0">
                <a:latin typeface="微軟正黑體" panose="020B0604030504040204" pitchFamily="34" charset="-120"/>
                <a:ea typeface="微軟正黑體" panose="020B0604030504040204" pitchFamily="34" charset="-120"/>
              </a:rPr>
              <a:t>量產</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生管</a:t>
            </a:r>
            <a:r>
              <a:rPr lang="en-US" altLang="zh-TW" sz="1650" dirty="0">
                <a:latin typeface="微軟正黑體" panose="020B0604030504040204" pitchFamily="34" charset="-120"/>
                <a:ea typeface="微軟正黑體" panose="020B0604030504040204" pitchFamily="34" charset="-120"/>
              </a:rPr>
              <a:t>/NB:</a:t>
            </a:r>
            <a:r>
              <a:rPr lang="zh-TW" altLang="en-US" sz="1650" dirty="0">
                <a:latin typeface="微軟正黑體" panose="020B0604030504040204" pitchFamily="34" charset="-120"/>
                <a:ea typeface="微軟正黑體" panose="020B0604030504040204" pitchFamily="34" charset="-120"/>
              </a:rPr>
              <a:t>技轉</a:t>
            </a:r>
          </a:p>
        </p:txBody>
      </p:sp>
      <p:cxnSp>
        <p:nvCxnSpPr>
          <p:cNvPr id="217" name="肘形接點 68">
            <a:extLst>
              <a:ext uri="{FF2B5EF4-FFF2-40B4-BE49-F238E27FC236}">
                <a16:creationId xmlns="" xmlns:a16="http://schemas.microsoft.com/office/drawing/2014/main" id="{3C63507D-83FD-0025-3EF4-B6F87A20780B}"/>
              </a:ext>
            </a:extLst>
          </p:cNvPr>
          <p:cNvCxnSpPr>
            <a:cxnSpLocks/>
            <a:stCxn id="83" idx="2"/>
            <a:endCxn id="263" idx="1"/>
          </p:cNvCxnSpPr>
          <p:nvPr/>
        </p:nvCxnSpPr>
        <p:spPr>
          <a:xfrm rot="16200000" flipH="1">
            <a:off x="8662336" y="5893501"/>
            <a:ext cx="701403" cy="641734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 name="流程圖: 結束點 8">
            <a:extLst>
              <a:ext uri="{FF2B5EF4-FFF2-40B4-BE49-F238E27FC236}">
                <a16:creationId xmlns="" xmlns:a16="http://schemas.microsoft.com/office/drawing/2014/main" id="{A0DBA237-CDB5-528B-0345-5BE2CBAC9775}"/>
              </a:ext>
            </a:extLst>
          </p:cNvPr>
          <p:cNvSpPr/>
          <p:nvPr/>
        </p:nvSpPr>
        <p:spPr bwMode="auto">
          <a:xfrm>
            <a:off x="262373" y="2282229"/>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193" name="流程圖: 換頁接點 52">
            <a:extLst>
              <a:ext uri="{FF2B5EF4-FFF2-40B4-BE49-F238E27FC236}">
                <a16:creationId xmlns="" xmlns:a16="http://schemas.microsoft.com/office/drawing/2014/main" id="{81294BE7-C300-D1CD-4376-34B54DFCC2AF}"/>
              </a:ext>
            </a:extLst>
          </p:cNvPr>
          <p:cNvSpPr/>
          <p:nvPr/>
        </p:nvSpPr>
        <p:spPr bwMode="auto">
          <a:xfrm>
            <a:off x="12903028" y="7239979"/>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P5</a:t>
            </a:r>
            <a:endParaRPr lang="zh-TW" altLang="en-US" dirty="0">
              <a:latin typeface="微軟正黑體" panose="020B0604030504040204" pitchFamily="34" charset="-120"/>
              <a:ea typeface="微軟正黑體" panose="020B0604030504040204" pitchFamily="34" charset="-120"/>
            </a:endParaRPr>
          </a:p>
        </p:txBody>
      </p:sp>
      <p:sp>
        <p:nvSpPr>
          <p:cNvPr id="195" name="文字方塊 194">
            <a:extLst>
              <a:ext uri="{FF2B5EF4-FFF2-40B4-BE49-F238E27FC236}">
                <a16:creationId xmlns="" xmlns:a16="http://schemas.microsoft.com/office/drawing/2014/main" id="{6FB1FA4C-3B8A-FBB5-B280-85555F843464}"/>
              </a:ext>
            </a:extLst>
          </p:cNvPr>
          <p:cNvSpPr txBox="1"/>
          <p:nvPr/>
        </p:nvSpPr>
        <p:spPr>
          <a:xfrm>
            <a:off x="6627527" y="6316568"/>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6" name="文字方塊 195">
            <a:extLst>
              <a:ext uri="{FF2B5EF4-FFF2-40B4-BE49-F238E27FC236}">
                <a16:creationId xmlns="" xmlns:a16="http://schemas.microsoft.com/office/drawing/2014/main" id="{29D95A87-8E81-E79E-403B-C860DCAF45F5}"/>
              </a:ext>
            </a:extLst>
          </p:cNvPr>
          <p:cNvSpPr txBox="1"/>
          <p:nvPr/>
        </p:nvSpPr>
        <p:spPr>
          <a:xfrm>
            <a:off x="8300317" y="7047903"/>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 name="TextBox 53">
            <a:extLst>
              <a:ext uri="{FF2B5EF4-FFF2-40B4-BE49-F238E27FC236}">
                <a16:creationId xmlns="" xmlns:a16="http://schemas.microsoft.com/office/drawing/2014/main" id="{B72E3EFF-4B3C-A9C8-E3E4-F926D0F3D738}"/>
              </a:ext>
            </a:extLst>
          </p:cNvPr>
          <p:cNvSpPr txBox="1"/>
          <p:nvPr/>
        </p:nvSpPr>
        <p:spPr>
          <a:xfrm>
            <a:off x="14380627" y="2064631"/>
            <a:ext cx="3594197" cy="7294305"/>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新開發的楦</a:t>
            </a:r>
            <a:r>
              <a:rPr lang="zh-TW" altLang="en-US" dirty="0" smtClean="0">
                <a:latin typeface="微軟正黑體" panose="020B0604030504040204" pitchFamily="34" charset="-120"/>
                <a:ea typeface="微軟正黑體" panose="020B0604030504040204" pitchFamily="34" charset="-120"/>
              </a:rPr>
              <a:t>頭</a:t>
            </a:r>
            <a:r>
              <a:rPr lang="en-US" altLang="zh-TW"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模具，</a:t>
            </a:r>
            <a:r>
              <a:rPr lang="zh-TW" altLang="en-US" dirty="0">
                <a:latin typeface="微軟正黑體" panose="020B0604030504040204" pitchFamily="34" charset="-120"/>
                <a:ea typeface="微軟正黑體" panose="020B0604030504040204" pitchFamily="34" charset="-120"/>
              </a:rPr>
              <a:t>需建立新的物料主檔</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smtClean="0">
                <a:latin typeface="微軟正黑體" panose="020B0604030504040204" pitchFamily="34" charset="-120"/>
                <a:ea typeface="微軟正黑體" panose="020B0604030504040204" pitchFamily="34" charset="-120"/>
              </a:rPr>
              <a:t>建立楦頭</a:t>
            </a:r>
            <a:r>
              <a:rPr lang="en-US" altLang="zh-TW"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模具請</a:t>
            </a:r>
            <a:r>
              <a:rPr lang="zh-TW" altLang="en-US" dirty="0">
                <a:latin typeface="微軟正黑體" panose="020B0604030504040204" pitchFamily="34" charset="-120"/>
                <a:ea typeface="微軟正黑體" panose="020B0604030504040204" pitchFamily="34" charset="-120"/>
              </a:rPr>
              <a:t>購申購單</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選擇正確的物料群組，建立資產主檔時，讓系統自動引導帶出</a:t>
            </a:r>
            <a:r>
              <a:rPr lang="en-US" altLang="zh-TW" dirty="0">
                <a:latin typeface="微軟正黑體" panose="020B0604030504040204" pitchFamily="34" charset="-120"/>
                <a:ea typeface="微軟正黑體" panose="020B0604030504040204" pitchFamily="34" charset="-120"/>
              </a:rPr>
              <a:t>M</a:t>
            </a:r>
            <a:r>
              <a:rPr lang="zh-TW" altLang="en-US" dirty="0">
                <a:latin typeface="微軟正黑體" panose="020B0604030504040204" pitchFamily="34" charset="-120"/>
                <a:ea typeface="微軟正黑體" panose="020B0604030504040204" pitchFamily="34" charset="-120"/>
              </a:rPr>
              <a:t>類預付設備款。固定資產請購時，需要填內部訂單號碼作預算管理。</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用程式</a:t>
            </a:r>
            <a:r>
              <a:rPr lang="en-US" altLang="zh-TW" dirty="0">
                <a:latin typeface="微軟正黑體" panose="020B0604030504040204" pitchFamily="34" charset="-120"/>
                <a:ea typeface="微軟正黑體" panose="020B0604030504040204" pitchFamily="34" charset="-120"/>
              </a:rPr>
              <a:t>ZMM017</a:t>
            </a:r>
            <a:r>
              <a:rPr lang="zh-TW" altLang="en-US" dirty="0">
                <a:latin typeface="微軟正黑體" panose="020B0604030504040204" pitchFamily="34" charset="-120"/>
                <a:ea typeface="微軟正黑體" panose="020B0604030504040204" pitchFamily="34" charset="-120"/>
              </a:rPr>
              <a:t>將請購單上傳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簽核首關為資產組人員，檢核資產類別是否正確，再依序由主管在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smtClean="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smtClean="0">
                <a:latin typeface="微軟正黑體" panose="020B0604030504040204" pitchFamily="34" charset="-120"/>
                <a:ea typeface="微軟正黑體" panose="020B0604030504040204" pitchFamily="34" charset="-120"/>
              </a:rPr>
              <a:t>簽</a:t>
            </a:r>
            <a:r>
              <a:rPr lang="zh-TW" altLang="en-US" dirty="0">
                <a:latin typeface="微軟正黑體" panose="020B0604030504040204" pitchFamily="34" charset="-120"/>
                <a:ea typeface="微軟正黑體" panose="020B0604030504040204" pitchFamily="34" charset="-120"/>
              </a:rPr>
              <a:t>核不通過的請購單透過程式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核發請購單標記為刪除</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通過簽核的請購單透過程式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p>
          <a:p>
            <a:pPr marL="342900" indent="-342900">
              <a:buFont typeface="+mj-lt"/>
              <a:buAutoNum type="arabicPeriod"/>
            </a:pPr>
            <a:endParaRPr lang="en-US" altLang="zh-TW" dirty="0"/>
          </a:p>
          <a:p>
            <a:endParaRPr lang="en-US" altLang="zh-TW" dirty="0"/>
          </a:p>
        </p:txBody>
      </p:sp>
      <p:sp>
        <p:nvSpPr>
          <p:cNvPr id="263" name="流程圖: 結束點 8">
            <a:extLst>
              <a:ext uri="{FF2B5EF4-FFF2-40B4-BE49-F238E27FC236}">
                <a16:creationId xmlns="" xmlns:a16="http://schemas.microsoft.com/office/drawing/2014/main" id="{A8F2E797-9B58-4468-C0C3-57206032ACC8}"/>
              </a:ext>
            </a:extLst>
          </p:cNvPr>
          <p:cNvSpPr/>
          <p:nvPr/>
        </p:nvSpPr>
        <p:spPr bwMode="auto">
          <a:xfrm>
            <a:off x="12221709" y="9061653"/>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274" name="肘形接點 68">
            <a:extLst>
              <a:ext uri="{FF2B5EF4-FFF2-40B4-BE49-F238E27FC236}">
                <a16:creationId xmlns="" xmlns:a16="http://schemas.microsoft.com/office/drawing/2014/main" id="{43DC4C85-1AB2-73CA-1BEA-B222BB7D613F}"/>
              </a:ext>
            </a:extLst>
          </p:cNvPr>
          <p:cNvCxnSpPr>
            <a:cxnSpLocks/>
            <a:stCxn id="85" idx="2"/>
            <a:endCxn id="193" idx="0"/>
          </p:cNvCxnSpPr>
          <p:nvPr/>
        </p:nvCxnSpPr>
        <p:spPr>
          <a:xfrm rot="16200000" flipH="1">
            <a:off x="10130167" y="4186803"/>
            <a:ext cx="3726015" cy="238033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2" name="流程圖: 決策 50">
            <a:extLst>
              <a:ext uri="{FF2B5EF4-FFF2-40B4-BE49-F238E27FC236}">
                <a16:creationId xmlns="" xmlns:a16="http://schemas.microsoft.com/office/drawing/2014/main" id="{DF0A16A6-B7B2-9F64-2B8C-2130D087B551}"/>
              </a:ext>
            </a:extLst>
          </p:cNvPr>
          <p:cNvSpPr/>
          <p:nvPr/>
        </p:nvSpPr>
        <p:spPr bwMode="auto">
          <a:xfrm>
            <a:off x="2709494" y="2317865"/>
            <a:ext cx="1578422"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新楦</a:t>
            </a:r>
            <a:r>
              <a:rPr lang="zh-TW" altLang="en-US" sz="1500" dirty="0" smtClean="0">
                <a:latin typeface="微軟正黑體" panose="020B0604030504040204" pitchFamily="34" charset="-120"/>
                <a:ea typeface="微軟正黑體" panose="020B0604030504040204" pitchFamily="34" charset="-120"/>
              </a:rPr>
              <a:t>頭</a:t>
            </a:r>
            <a:r>
              <a:rPr lang="en-US" altLang="zh-TW" sz="1500" dirty="0" smtClean="0">
                <a:latin typeface="微軟正黑體" panose="020B0604030504040204" pitchFamily="34" charset="-120"/>
                <a:ea typeface="微軟正黑體" panose="020B0604030504040204" pitchFamily="34" charset="-120"/>
              </a:rPr>
              <a:t>/</a:t>
            </a:r>
            <a:r>
              <a:rPr lang="zh-TW" altLang="en-US" sz="1500" dirty="0" smtClean="0">
                <a:latin typeface="微軟正黑體" panose="020B0604030504040204" pitchFamily="34" charset="-120"/>
                <a:ea typeface="微軟正黑體" panose="020B0604030504040204" pitchFamily="34" charset="-120"/>
              </a:rPr>
              <a:t>模具</a:t>
            </a:r>
            <a:endParaRPr lang="zh-TW" altLang="en-US" sz="1500" dirty="0">
              <a:latin typeface="微軟正黑體" panose="020B0604030504040204" pitchFamily="34" charset="-120"/>
              <a:ea typeface="微軟正黑體" panose="020B0604030504040204" pitchFamily="34" charset="-120"/>
            </a:endParaRPr>
          </a:p>
        </p:txBody>
      </p:sp>
      <p:sp>
        <p:nvSpPr>
          <p:cNvPr id="18" name="文字方塊 17">
            <a:extLst>
              <a:ext uri="{FF2B5EF4-FFF2-40B4-BE49-F238E27FC236}">
                <a16:creationId xmlns="" xmlns:a16="http://schemas.microsoft.com/office/drawing/2014/main" id="{6EEF240C-77D0-D23F-D48A-305334081FE5}"/>
              </a:ext>
            </a:extLst>
          </p:cNvPr>
          <p:cNvSpPr txBox="1"/>
          <p:nvPr/>
        </p:nvSpPr>
        <p:spPr>
          <a:xfrm>
            <a:off x="4124228" y="2328922"/>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 name="文字方塊 18">
            <a:extLst>
              <a:ext uri="{FF2B5EF4-FFF2-40B4-BE49-F238E27FC236}">
                <a16:creationId xmlns="" xmlns:a16="http://schemas.microsoft.com/office/drawing/2014/main" id="{4356C966-2848-A63B-1047-263376AA3E7C}"/>
              </a:ext>
            </a:extLst>
          </p:cNvPr>
          <p:cNvSpPr txBox="1"/>
          <p:nvPr/>
        </p:nvSpPr>
        <p:spPr>
          <a:xfrm>
            <a:off x="3132032" y="3637225"/>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25" name="肘形接點 68">
            <a:extLst>
              <a:ext uri="{FF2B5EF4-FFF2-40B4-BE49-F238E27FC236}">
                <a16:creationId xmlns="" xmlns:a16="http://schemas.microsoft.com/office/drawing/2014/main" id="{69589159-4809-2E90-640D-3429993E649B}"/>
              </a:ext>
            </a:extLst>
          </p:cNvPr>
          <p:cNvCxnSpPr>
            <a:cxnSpLocks/>
            <a:stCxn id="73" idx="3"/>
            <a:endCxn id="77" idx="1"/>
          </p:cNvCxnSpPr>
          <p:nvPr/>
        </p:nvCxnSpPr>
        <p:spPr>
          <a:xfrm flipV="1">
            <a:off x="4413060" y="2690139"/>
            <a:ext cx="476707" cy="213920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25" name="文字方塊 17">
            <a:extLst>
              <a:ext uri="{FF2B5EF4-FFF2-40B4-BE49-F238E27FC236}">
                <a16:creationId xmlns="" xmlns:a16="http://schemas.microsoft.com/office/drawing/2014/main" id="{1C94C05C-BC39-16A9-FAA3-3069737D2B31}"/>
              </a:ext>
            </a:extLst>
          </p:cNvPr>
          <p:cNvSpPr txBox="1"/>
          <p:nvPr/>
        </p:nvSpPr>
        <p:spPr>
          <a:xfrm>
            <a:off x="9480616" y="1368561"/>
            <a:ext cx="239975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廠區採購</a:t>
            </a:r>
          </a:p>
        </p:txBody>
      </p:sp>
      <p:cxnSp>
        <p:nvCxnSpPr>
          <p:cNvPr id="56" name="Straight Connector 284">
            <a:extLst>
              <a:ext uri="{FF2B5EF4-FFF2-40B4-BE49-F238E27FC236}">
                <a16:creationId xmlns="" xmlns:a16="http://schemas.microsoft.com/office/drawing/2014/main" id="{CCB3D035-826A-6F8E-1D15-1A3E96F62413}"/>
              </a:ext>
            </a:extLst>
          </p:cNvPr>
          <p:cNvCxnSpPr>
            <a:cxnSpLocks/>
          </p:cNvCxnSpPr>
          <p:nvPr/>
        </p:nvCxnSpPr>
        <p:spPr>
          <a:xfrm>
            <a:off x="4698677" y="1353636"/>
            <a:ext cx="0" cy="87975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284">
            <a:extLst>
              <a:ext uri="{FF2B5EF4-FFF2-40B4-BE49-F238E27FC236}">
                <a16:creationId xmlns="" xmlns:a16="http://schemas.microsoft.com/office/drawing/2014/main" id="{CCB3D035-826A-6F8E-1D15-1A3E96F62413}"/>
              </a:ext>
            </a:extLst>
          </p:cNvPr>
          <p:cNvCxnSpPr>
            <a:cxnSpLocks/>
          </p:cNvCxnSpPr>
          <p:nvPr/>
        </p:nvCxnSpPr>
        <p:spPr>
          <a:xfrm>
            <a:off x="7033316" y="1327132"/>
            <a:ext cx="0" cy="88240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284">
            <a:extLst>
              <a:ext uri="{FF2B5EF4-FFF2-40B4-BE49-F238E27FC236}">
                <a16:creationId xmlns="" xmlns:a16="http://schemas.microsoft.com/office/drawing/2014/main" id="{CCB3D035-826A-6F8E-1D15-1A3E96F62413}"/>
              </a:ext>
            </a:extLst>
          </p:cNvPr>
          <p:cNvCxnSpPr>
            <a:cxnSpLocks/>
          </p:cNvCxnSpPr>
          <p:nvPr/>
        </p:nvCxnSpPr>
        <p:spPr>
          <a:xfrm>
            <a:off x="9480615" y="1340837"/>
            <a:ext cx="0" cy="8810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肘形接點 68">
            <a:extLst>
              <a:ext uri="{FF2B5EF4-FFF2-40B4-BE49-F238E27FC236}">
                <a16:creationId xmlns="" xmlns:a16="http://schemas.microsoft.com/office/drawing/2014/main" id="{2E1676E0-7AF3-D540-120C-AB96F907F72F}"/>
              </a:ext>
            </a:extLst>
          </p:cNvPr>
          <p:cNvCxnSpPr>
            <a:cxnSpLocks/>
            <a:stCxn id="90" idx="3"/>
            <a:endCxn id="85" idx="1"/>
          </p:cNvCxnSpPr>
          <p:nvPr/>
        </p:nvCxnSpPr>
        <p:spPr>
          <a:xfrm flipV="1">
            <a:off x="9234893" y="2894764"/>
            <a:ext cx="685137" cy="5714578"/>
          </a:xfrm>
          <a:prstGeom prst="bentConnector3">
            <a:avLst>
              <a:gd name="adj1" fmla="val 65474"/>
            </a:avLst>
          </a:prstGeom>
          <a:ln>
            <a:tailEnd type="triangle"/>
          </a:ln>
        </p:spPr>
        <p:style>
          <a:lnRef idx="1">
            <a:schemeClr val="dk1"/>
          </a:lnRef>
          <a:fillRef idx="0">
            <a:schemeClr val="dk1"/>
          </a:fillRef>
          <a:effectRef idx="0">
            <a:schemeClr val="dk1"/>
          </a:effectRef>
          <a:fontRef idx="minor">
            <a:schemeClr val="tx1"/>
          </a:fontRef>
        </p:style>
      </p:cxnSp>
      <p:cxnSp>
        <p:nvCxnSpPr>
          <p:cNvPr id="23" name="肘形接點 68">
            <a:extLst>
              <a:ext uri="{FF2B5EF4-FFF2-40B4-BE49-F238E27FC236}">
                <a16:creationId xmlns="" xmlns:a16="http://schemas.microsoft.com/office/drawing/2014/main" id="{BD005B3B-B0AC-8A5E-AEB9-8A6CF2B13AC1}"/>
              </a:ext>
            </a:extLst>
          </p:cNvPr>
          <p:cNvCxnSpPr>
            <a:cxnSpLocks/>
            <a:stCxn id="35" idx="1"/>
            <a:endCxn id="83" idx="0"/>
          </p:cNvCxnSpPr>
          <p:nvPr/>
        </p:nvCxnSpPr>
        <p:spPr>
          <a:xfrm rot="10800000" flipV="1">
            <a:off x="5804366" y="6621324"/>
            <a:ext cx="1539356" cy="89174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1" name="Google Shape;198;p3"/>
          <p:cNvSpPr txBox="1">
            <a:spLocks/>
          </p:cNvSpPr>
          <p:nvPr/>
        </p:nvSpPr>
        <p:spPr>
          <a:xfrm>
            <a:off x="15385775" y="487206"/>
            <a:ext cx="280050" cy="215157"/>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4</a:t>
            </a:r>
          </a:p>
        </p:txBody>
      </p:sp>
      <p:graphicFrame>
        <p:nvGraphicFramePr>
          <p:cNvPr id="72" name="表格 30">
            <a:extLst>
              <a:ext uri="{FF2B5EF4-FFF2-40B4-BE49-F238E27FC236}">
                <a16:creationId xmlns="" xmlns:a16="http://schemas.microsoft.com/office/drawing/2014/main" id="{DB7A0832-7D21-1719-AE8D-90899BF1A64F}"/>
              </a:ext>
            </a:extLst>
          </p:cNvPr>
          <p:cNvGraphicFramePr>
            <a:graphicFrameLocks noGrp="1"/>
          </p:cNvGraphicFramePr>
          <p:nvPr>
            <p:extLst>
              <p:ext uri="{D42A27DB-BD31-4B8C-83A1-F6EECF244321}">
                <p14:modId xmlns="" xmlns:p14="http://schemas.microsoft.com/office/powerpoint/2010/main" val="1854796880"/>
              </p:ext>
            </p:extLst>
          </p:nvPr>
        </p:nvGraphicFramePr>
        <p:xfrm>
          <a:off x="4885501" y="3837691"/>
          <a:ext cx="1932996" cy="1238400"/>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3433979995"/>
                    </a:ext>
                  </a:extLst>
                </a:gridCol>
                <a:gridCol w="966498">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a:t>
                      </a:r>
                      <a:r>
                        <a:rPr lang="en-US" altLang="zh-TW" sz="1500" b="1" dirty="0">
                          <a:solidFill>
                            <a:schemeClr val="tx1"/>
                          </a:solidFill>
                          <a:latin typeface="微軟正黑體" panose="020B0604030504040204" pitchFamily="34" charset="-120"/>
                          <a:ea typeface="微軟正黑體" panose="020B0604030504040204" pitchFamily="34" charset="-120"/>
                        </a:rPr>
                        <a:t>M017</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將請購單發起</a:t>
                      </a:r>
                      <a:endParaRPr lang="en-US" altLang="zh-TW" sz="1500" dirty="0">
                        <a:latin typeface="微軟正黑體" panose="020B0604030504040204" pitchFamily="34" charset="-120"/>
                        <a:ea typeface="微軟正黑體" panose="020B0604030504040204" pitchFamily="34" charset="-120"/>
                      </a:endParaRPr>
                    </a:p>
                    <a:p>
                      <a:pPr algn="ct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73" name="流程圖: 預設處理作業 21">
            <a:extLst>
              <a:ext uri="{FF2B5EF4-FFF2-40B4-BE49-F238E27FC236}">
                <a16:creationId xmlns="" xmlns:a16="http://schemas.microsoft.com/office/drawing/2014/main" id="{6AB8729A-A396-2BA6-E6B9-1B2A79082818}"/>
              </a:ext>
            </a:extLst>
          </p:cNvPr>
          <p:cNvSpPr/>
          <p:nvPr/>
        </p:nvSpPr>
        <p:spPr bwMode="auto">
          <a:xfrm>
            <a:off x="2599948" y="4210144"/>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MM-MA-0010-04</a:t>
            </a:r>
          </a:p>
          <a:p>
            <a:pPr algn="ctr" eaLnBrk="0" hangingPunct="0"/>
            <a:r>
              <a:rPr lang="zh-TW" altLang="en-US" sz="1500" dirty="0">
                <a:latin typeface="微軟正黑體" panose="020B0604030504040204" pitchFamily="34" charset="-120"/>
                <a:ea typeface="微軟正黑體" panose="020B0604030504040204" pitchFamily="34" charset="-120"/>
              </a:rPr>
              <a:t>物料主檔</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建檔流程</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製工具</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楦頭</a:t>
            </a:r>
            <a:r>
              <a:rPr lang="en-US" altLang="zh-TW" sz="1500" dirty="0">
                <a:latin typeface="微軟正黑體" panose="020B0604030504040204" pitchFamily="34" charset="-120"/>
                <a:ea typeface="微軟正黑體" panose="020B0604030504040204" pitchFamily="34" charset="-120"/>
              </a:rPr>
              <a:t>)</a:t>
            </a:r>
          </a:p>
        </p:txBody>
      </p:sp>
      <p:graphicFrame>
        <p:nvGraphicFramePr>
          <p:cNvPr id="77" name="表格 30">
            <a:extLst>
              <a:ext uri="{FF2B5EF4-FFF2-40B4-BE49-F238E27FC236}">
                <a16:creationId xmlns="" xmlns:a16="http://schemas.microsoft.com/office/drawing/2014/main" id="{DB7A0832-7D21-1719-AE8D-90899BF1A64F}"/>
              </a:ext>
            </a:extLst>
          </p:cNvPr>
          <p:cNvGraphicFramePr>
            <a:graphicFrameLocks noGrp="1"/>
          </p:cNvGraphicFramePr>
          <p:nvPr>
            <p:extLst>
              <p:ext uri="{D42A27DB-BD31-4B8C-83A1-F6EECF244321}">
                <p14:modId xmlns="" xmlns:p14="http://schemas.microsoft.com/office/powerpoint/2010/main" val="1657075073"/>
              </p:ext>
            </p:extLst>
          </p:nvPr>
        </p:nvGraphicFramePr>
        <p:xfrm>
          <a:off x="4889767" y="2089636"/>
          <a:ext cx="1932996" cy="1201006"/>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3433979995"/>
                    </a:ext>
                  </a:extLst>
                </a:gridCol>
                <a:gridCol w="966498">
                  <a:extLst>
                    <a:ext uri="{9D8B030D-6E8A-4147-A177-3AD203B41FA5}">
                      <a16:colId xmlns="" xmlns:a16="http://schemas.microsoft.com/office/drawing/2014/main"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ME51N</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36172">
                <a:tc gridSpan="2">
                  <a:txBody>
                    <a:bodyPr/>
                    <a:lstStyle/>
                    <a:p>
                      <a:pPr algn="ctr" eaLnBrk="0" hangingPunct="0"/>
                      <a:r>
                        <a:rPr lang="zh-TW" altLang="en-US" sz="1400" dirty="0" smtClean="0">
                          <a:latin typeface="微軟正黑體" panose="020B0604030504040204" pitchFamily="34" charset="-120"/>
                          <a:ea typeface="微軟正黑體" panose="020B0604030504040204" pitchFamily="34" charset="-120"/>
                        </a:rPr>
                        <a:t>建立楦頭</a:t>
                      </a:r>
                      <a:r>
                        <a:rPr lang="en-US" altLang="zh-TW" sz="1400" dirty="0" smtClean="0">
                          <a:latin typeface="微軟正黑體" panose="020B0604030504040204" pitchFamily="34" charset="-120"/>
                          <a:ea typeface="微軟正黑體" panose="020B0604030504040204" pitchFamily="34" charset="-120"/>
                        </a:rPr>
                        <a:t>/</a:t>
                      </a:r>
                      <a:r>
                        <a:rPr lang="zh-TW" altLang="en-US" sz="1400" dirty="0" smtClean="0">
                          <a:latin typeface="微軟正黑體" panose="020B0604030504040204" pitchFamily="34" charset="-120"/>
                          <a:ea typeface="微軟正黑體" panose="020B0604030504040204" pitchFamily="34" charset="-120"/>
                        </a:rPr>
                        <a:t>模具</a:t>
                      </a:r>
                      <a:r>
                        <a:rPr kumimoji="0" lang="zh-TW" altLang="en-US" sz="1400" dirty="0" smtClean="0">
                          <a:latin typeface="微軟正黑體" panose="020B0604030504040204" pitchFamily="34" charset="-120"/>
                          <a:ea typeface="微軟正黑體" panose="020B0604030504040204" pitchFamily="34" charset="-120"/>
                        </a:rPr>
                        <a:t>請</a:t>
                      </a:r>
                      <a:r>
                        <a:rPr kumimoji="0" lang="zh-TW" altLang="en-US" sz="1400" dirty="0">
                          <a:latin typeface="微軟正黑體" panose="020B0604030504040204" pitchFamily="34" charset="-120"/>
                          <a:ea typeface="微軟正黑體" panose="020B0604030504040204" pitchFamily="34" charset="-120"/>
                        </a:rPr>
                        <a:t>購單 ，建立資產主檔</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31" name="Group 220">
            <a:extLst>
              <a:ext uri="{FF2B5EF4-FFF2-40B4-BE49-F238E27FC236}">
                <a16:creationId xmlns="" xmlns:a16="http://schemas.microsoft.com/office/drawing/2014/main" id="{A9B401BC-DE49-5FC0-6565-D216316A23DA}"/>
              </a:ext>
            </a:extLst>
          </p:cNvPr>
          <p:cNvGrpSpPr/>
          <p:nvPr/>
        </p:nvGrpSpPr>
        <p:grpSpPr>
          <a:xfrm>
            <a:off x="4201289" y="3995600"/>
            <a:ext cx="547418" cy="408542"/>
            <a:chOff x="5906472" y="1486857"/>
            <a:chExt cx="364945" cy="272361"/>
          </a:xfrm>
        </p:grpSpPr>
        <p:sp>
          <p:nvSpPr>
            <p:cNvPr id="32"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 xmlns:a16="http://schemas.microsoft.com/office/drawing/2014/main" id="{38213EC1-2A6F-CC6F-9F41-D87C1E84A2C8}"/>
                </a:ext>
              </a:extLst>
            </p:cNvPr>
            <p:cNvSpPr txBox="1"/>
            <p:nvPr/>
          </p:nvSpPr>
          <p:spPr>
            <a:xfrm>
              <a:off x="5915817"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36" name="Group 220">
            <a:extLst>
              <a:ext uri="{FF2B5EF4-FFF2-40B4-BE49-F238E27FC236}">
                <a16:creationId xmlns="" xmlns:a16="http://schemas.microsoft.com/office/drawing/2014/main" id="{49B965EA-5488-20F5-FB4A-DE694754D613}"/>
              </a:ext>
            </a:extLst>
          </p:cNvPr>
          <p:cNvGrpSpPr/>
          <p:nvPr/>
        </p:nvGrpSpPr>
        <p:grpSpPr>
          <a:xfrm>
            <a:off x="6524036" y="1887829"/>
            <a:ext cx="556821" cy="408542"/>
            <a:chOff x="5906472" y="1486857"/>
            <a:chExt cx="371214" cy="272361"/>
          </a:xfrm>
        </p:grpSpPr>
        <p:sp>
          <p:nvSpPr>
            <p:cNvPr id="37" name="Oval 221">
              <a:extLst>
                <a:ext uri="{FF2B5EF4-FFF2-40B4-BE49-F238E27FC236}">
                  <a16:creationId xmlns="" xmlns:a16="http://schemas.microsoft.com/office/drawing/2014/main" id="{D7BB0CC3-1FCC-825A-8223-1DF8E8AA32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8" name="TextBox 222">
              <a:extLst>
                <a:ext uri="{FF2B5EF4-FFF2-40B4-BE49-F238E27FC236}">
                  <a16:creationId xmlns="" xmlns:a16="http://schemas.microsoft.com/office/drawing/2014/main" id="{AA6B41EE-F383-4448-3FC3-5177F4E9C325}"/>
                </a:ext>
              </a:extLst>
            </p:cNvPr>
            <p:cNvSpPr txBox="1"/>
            <p:nvPr/>
          </p:nvSpPr>
          <p:spPr>
            <a:xfrm>
              <a:off x="5922086"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231" name="Group 220">
            <a:extLst>
              <a:ext uri="{FF2B5EF4-FFF2-40B4-BE49-F238E27FC236}">
                <a16:creationId xmlns="" xmlns:a16="http://schemas.microsoft.com/office/drawing/2014/main" id="{C7B24B88-05F2-72D5-39A2-A98AB93FAB81}"/>
              </a:ext>
            </a:extLst>
          </p:cNvPr>
          <p:cNvGrpSpPr/>
          <p:nvPr/>
        </p:nvGrpSpPr>
        <p:grpSpPr>
          <a:xfrm>
            <a:off x="6532739" y="3601052"/>
            <a:ext cx="546156" cy="415761"/>
            <a:chOff x="5906472" y="1486857"/>
            <a:chExt cx="364104" cy="272361"/>
          </a:xfrm>
        </p:grpSpPr>
        <p:sp>
          <p:nvSpPr>
            <p:cNvPr id="233" name="Oval 221">
              <a:extLst>
                <a:ext uri="{FF2B5EF4-FFF2-40B4-BE49-F238E27FC236}">
                  <a16:creationId xmlns="" xmlns:a16="http://schemas.microsoft.com/office/drawing/2014/main" id="{53F6935F-E792-3C96-6885-83030B13E95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4" name="TextBox 222">
              <a:extLst>
                <a:ext uri="{FF2B5EF4-FFF2-40B4-BE49-F238E27FC236}">
                  <a16:creationId xmlns="" xmlns:a16="http://schemas.microsoft.com/office/drawing/2014/main" id="{C5AABDAF-4F38-1029-AE80-748650A9AD14}"/>
                </a:ext>
              </a:extLst>
            </p:cNvPr>
            <p:cNvSpPr txBox="1"/>
            <p:nvPr/>
          </p:nvSpPr>
          <p:spPr>
            <a:xfrm>
              <a:off x="5914976"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83" name="表格 30">
            <a:extLst>
              <a:ext uri="{FF2B5EF4-FFF2-40B4-BE49-F238E27FC236}">
                <a16:creationId xmlns="" xmlns:a16="http://schemas.microsoft.com/office/drawing/2014/main" id="{DB7A0832-7D21-1719-AE8D-90899BF1A64F}"/>
              </a:ext>
            </a:extLst>
          </p:cNvPr>
          <p:cNvGraphicFramePr>
            <a:graphicFrameLocks noGrp="1"/>
          </p:cNvGraphicFramePr>
          <p:nvPr>
            <p:extLst>
              <p:ext uri="{D42A27DB-BD31-4B8C-83A1-F6EECF244321}">
                <p14:modId xmlns="" xmlns:p14="http://schemas.microsoft.com/office/powerpoint/2010/main" val="1658782656"/>
              </p:ext>
            </p:extLst>
          </p:nvPr>
        </p:nvGraphicFramePr>
        <p:xfrm>
          <a:off x="4837868" y="7513072"/>
          <a:ext cx="1932996" cy="1238400"/>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3433979995"/>
                    </a:ext>
                  </a:extLst>
                </a:gridCol>
                <a:gridCol w="966498">
                  <a:extLst>
                    <a:ext uri="{9D8B030D-6E8A-4147-A177-3AD203B41FA5}">
                      <a16:colId xmlns="" xmlns:a16="http://schemas.microsoft.com/office/drawing/2014/main"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更新</a:t>
                      </a:r>
                      <a:r>
                        <a:rPr kumimoji="0" lang="en-US" altLang="zh-TW" sz="1500" dirty="0">
                          <a:latin typeface="微軟正黑體" panose="020B0604030504040204" pitchFamily="34" charset="-120"/>
                          <a:ea typeface="微軟正黑體" panose="020B0604030504040204" pitchFamily="34" charset="-120"/>
                        </a:rPr>
                        <a:t>SAP </a:t>
                      </a:r>
                      <a:r>
                        <a:rPr kumimoji="0" lang="zh-TW" altLang="en-US" sz="1500" dirty="0">
                          <a:latin typeface="微軟正黑體" panose="020B0604030504040204" pitchFamily="34" charset="-120"/>
                          <a:ea typeface="微軟正黑體" panose="020B0604030504040204" pitchFamily="34" charset="-120"/>
                        </a:rPr>
                        <a:t>請購單，刪除標記</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84" name="表格 30">
            <a:extLst>
              <a:ext uri="{FF2B5EF4-FFF2-40B4-BE49-F238E27FC236}">
                <a16:creationId xmlns="" xmlns:a16="http://schemas.microsoft.com/office/drawing/2014/main" id="{DB7A0832-7D21-1719-AE8D-90899BF1A64F}"/>
              </a:ext>
            </a:extLst>
          </p:cNvPr>
          <p:cNvGraphicFramePr>
            <a:graphicFrameLocks noGrp="1"/>
          </p:cNvGraphicFramePr>
          <p:nvPr>
            <p:extLst>
              <p:ext uri="{D42A27DB-BD31-4B8C-83A1-F6EECF244321}">
                <p14:modId xmlns="" xmlns:p14="http://schemas.microsoft.com/office/powerpoint/2010/main" val="1341395227"/>
              </p:ext>
            </p:extLst>
          </p:nvPr>
        </p:nvGraphicFramePr>
        <p:xfrm>
          <a:off x="7296743" y="4796429"/>
          <a:ext cx="1932996" cy="1201131"/>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3433979995"/>
                    </a:ext>
                  </a:extLst>
                </a:gridCol>
                <a:gridCol w="966498">
                  <a:extLst>
                    <a:ext uri="{9D8B030D-6E8A-4147-A177-3AD203B41FA5}">
                      <a16:colId xmlns="" xmlns:a16="http://schemas.microsoft.com/office/drawing/2014/main" val="3727974752"/>
                    </a:ext>
                  </a:extLst>
                </a:gridCol>
              </a:tblGrid>
              <a:tr h="353292">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簽核請購單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5" name="Group 220">
            <a:extLst>
              <a:ext uri="{FF2B5EF4-FFF2-40B4-BE49-F238E27FC236}">
                <a16:creationId xmlns="" xmlns:a16="http://schemas.microsoft.com/office/drawing/2014/main" id="{33DE9BA6-990E-DE54-C6C1-2FDFC3EF39E7}"/>
              </a:ext>
            </a:extLst>
          </p:cNvPr>
          <p:cNvGrpSpPr/>
          <p:nvPr/>
        </p:nvGrpSpPr>
        <p:grpSpPr>
          <a:xfrm>
            <a:off x="8902925" y="4568300"/>
            <a:ext cx="559344" cy="415762"/>
            <a:chOff x="5906472" y="1486857"/>
            <a:chExt cx="372896" cy="272361"/>
          </a:xfrm>
        </p:grpSpPr>
        <p:sp>
          <p:nvSpPr>
            <p:cNvPr id="9" name="Oval 221">
              <a:extLst>
                <a:ext uri="{FF2B5EF4-FFF2-40B4-BE49-F238E27FC236}">
                  <a16:creationId xmlns="" xmlns:a16="http://schemas.microsoft.com/office/drawing/2014/main"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0" name="TextBox 222">
              <a:extLst>
                <a:ext uri="{FF2B5EF4-FFF2-40B4-BE49-F238E27FC236}">
                  <a16:creationId xmlns="" xmlns:a16="http://schemas.microsoft.com/office/drawing/2014/main" id="{C4D33436-02F5-686F-699E-8597EF0E4654}"/>
                </a:ext>
              </a:extLst>
            </p:cNvPr>
            <p:cNvSpPr txBox="1"/>
            <p:nvPr/>
          </p:nvSpPr>
          <p:spPr>
            <a:xfrm>
              <a:off x="5923768"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251" name="Group 220">
            <a:extLst>
              <a:ext uri="{FF2B5EF4-FFF2-40B4-BE49-F238E27FC236}">
                <a16:creationId xmlns="" xmlns:a16="http://schemas.microsoft.com/office/drawing/2014/main" id="{8DC8251A-E44B-1164-BACA-6CC3E54D3BE2}"/>
              </a:ext>
            </a:extLst>
          </p:cNvPr>
          <p:cNvGrpSpPr/>
          <p:nvPr/>
        </p:nvGrpSpPr>
        <p:grpSpPr>
          <a:xfrm>
            <a:off x="6486746" y="7274632"/>
            <a:ext cx="558083" cy="415761"/>
            <a:chOff x="5906472" y="1486860"/>
            <a:chExt cx="372055" cy="272361"/>
          </a:xfrm>
        </p:grpSpPr>
        <p:sp>
          <p:nvSpPr>
            <p:cNvPr id="252" name="Oval 221">
              <a:extLst>
                <a:ext uri="{FF2B5EF4-FFF2-40B4-BE49-F238E27FC236}">
                  <a16:creationId xmlns="" xmlns:a16="http://schemas.microsoft.com/office/drawing/2014/main" id="{5EE8FECF-7ADB-5C5F-0E36-C721B027D91C}"/>
                </a:ext>
              </a:extLst>
            </p:cNvPr>
            <p:cNvSpPr/>
            <p:nvPr/>
          </p:nvSpPr>
          <p:spPr>
            <a:xfrm>
              <a:off x="5906472" y="1486860"/>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53" name="TextBox 222">
              <a:extLst>
                <a:ext uri="{FF2B5EF4-FFF2-40B4-BE49-F238E27FC236}">
                  <a16:creationId xmlns="" xmlns:a16="http://schemas.microsoft.com/office/drawing/2014/main" id="{49B18261-A449-F933-55C4-6C66F6F52810}"/>
                </a:ext>
              </a:extLst>
            </p:cNvPr>
            <p:cNvSpPr txBox="1"/>
            <p:nvPr/>
          </p:nvSpPr>
          <p:spPr>
            <a:xfrm>
              <a:off x="5922927"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90" name="表格 30">
            <a:extLst>
              <a:ext uri="{FF2B5EF4-FFF2-40B4-BE49-F238E27FC236}">
                <a16:creationId xmlns="" xmlns:a16="http://schemas.microsoft.com/office/drawing/2014/main" id="{DB7A0832-7D21-1719-AE8D-90899BF1A64F}"/>
              </a:ext>
            </a:extLst>
          </p:cNvPr>
          <p:cNvGraphicFramePr>
            <a:graphicFrameLocks noGrp="1"/>
          </p:cNvGraphicFramePr>
          <p:nvPr>
            <p:extLst>
              <p:ext uri="{D42A27DB-BD31-4B8C-83A1-F6EECF244321}">
                <p14:modId xmlns="" xmlns:p14="http://schemas.microsoft.com/office/powerpoint/2010/main" val="3316506385"/>
              </p:ext>
            </p:extLst>
          </p:nvPr>
        </p:nvGraphicFramePr>
        <p:xfrm>
          <a:off x="7301897" y="8017123"/>
          <a:ext cx="1932996" cy="1184439"/>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3433979995"/>
                    </a:ext>
                  </a:extLst>
                </a:gridCol>
                <a:gridCol w="966498">
                  <a:extLst>
                    <a:ext uri="{9D8B030D-6E8A-4147-A177-3AD203B41FA5}">
                      <a16:colId xmlns="" xmlns:a16="http://schemas.microsoft.com/office/drawing/2014/main"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核發請購單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54" name="Group 220">
            <a:extLst>
              <a:ext uri="{FF2B5EF4-FFF2-40B4-BE49-F238E27FC236}">
                <a16:creationId xmlns="" xmlns:a16="http://schemas.microsoft.com/office/drawing/2014/main" id="{9BD0F043-35D1-5D7D-56A7-9A65F3FBCFF2}"/>
              </a:ext>
            </a:extLst>
          </p:cNvPr>
          <p:cNvGrpSpPr/>
          <p:nvPr/>
        </p:nvGrpSpPr>
        <p:grpSpPr>
          <a:xfrm>
            <a:off x="8990281" y="7777662"/>
            <a:ext cx="546156" cy="415762"/>
            <a:chOff x="5906472" y="1486857"/>
            <a:chExt cx="364104" cy="272361"/>
          </a:xfrm>
        </p:grpSpPr>
        <p:sp>
          <p:nvSpPr>
            <p:cNvPr id="255" name="Oval 221">
              <a:extLst>
                <a:ext uri="{FF2B5EF4-FFF2-40B4-BE49-F238E27FC236}">
                  <a16:creationId xmlns="" xmlns:a16="http://schemas.microsoft.com/office/drawing/2014/main" id="{D4E0BCC8-7DD7-D6B9-D317-4EBC7109D10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9" name="TextBox 222">
              <a:extLst>
                <a:ext uri="{FF2B5EF4-FFF2-40B4-BE49-F238E27FC236}">
                  <a16:creationId xmlns="" xmlns:a16="http://schemas.microsoft.com/office/drawing/2014/main" id="{602F340E-AD93-7B12-F684-7EF343728396}"/>
                </a:ext>
              </a:extLst>
            </p:cNvPr>
            <p:cNvSpPr txBox="1"/>
            <p:nvPr/>
          </p:nvSpPr>
          <p:spPr>
            <a:xfrm>
              <a:off x="5914976"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sp>
        <p:nvSpPr>
          <p:cNvPr id="74" name="流程圖: 文件 42">
            <a:extLst>
              <a:ext uri="{FF2B5EF4-FFF2-40B4-BE49-F238E27FC236}">
                <a16:creationId xmlns="" xmlns:a16="http://schemas.microsoft.com/office/drawing/2014/main" id="{91F9B27C-7F80-2BDA-7707-DDBD4E112805}"/>
              </a:ext>
            </a:extLst>
          </p:cNvPr>
          <p:cNvSpPr/>
          <p:nvPr/>
        </p:nvSpPr>
        <p:spPr bwMode="auto">
          <a:xfrm>
            <a:off x="293561" y="3534809"/>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技轉</a:t>
            </a:r>
            <a:r>
              <a:rPr lang="en-US" altLang="zh-TW" sz="1500" dirty="0">
                <a:latin typeface="微軟正黑體" panose="020B0604030504040204" pitchFamily="34" charset="-120"/>
                <a:ea typeface="微軟正黑體" panose="020B0604030504040204" pitchFamily="34" charset="-120"/>
              </a:rPr>
              <a:t>: </a:t>
            </a:r>
            <a:r>
              <a:rPr lang="zh-TW" altLang="en-US" sz="1500" dirty="0">
                <a:latin typeface="微軟正黑體" panose="020B0604030504040204" pitchFamily="34" charset="-120"/>
                <a:ea typeface="微軟正黑體" panose="020B0604030504040204" pitchFamily="34" charset="-120"/>
              </a:rPr>
              <a:t>申請單</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紙本</a:t>
            </a:r>
            <a:r>
              <a:rPr lang="en-US" altLang="zh-TW" sz="1500" dirty="0">
                <a:latin typeface="微軟正黑體" panose="020B0604030504040204" pitchFamily="34" charset="-120"/>
                <a:ea typeface="微軟正黑體" panose="020B0604030504040204" pitchFamily="34" charset="-120"/>
              </a:rPr>
              <a:t>/EXCEL)</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sp>
        <p:nvSpPr>
          <p:cNvPr id="85" name="流程圖: 預設處理作業 21">
            <a:extLst>
              <a:ext uri="{FF2B5EF4-FFF2-40B4-BE49-F238E27FC236}">
                <a16:creationId xmlns="" xmlns:a16="http://schemas.microsoft.com/office/drawing/2014/main" id="{061751AD-3FB9-5673-91AF-11A4012F1D93}"/>
              </a:ext>
            </a:extLst>
          </p:cNvPr>
          <p:cNvSpPr/>
          <p:nvPr/>
        </p:nvSpPr>
        <p:spPr bwMode="auto">
          <a:xfrm>
            <a:off x="9920030" y="2275564"/>
            <a:ext cx="1765953"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solidFill>
                  <a:srgbClr val="000000"/>
                </a:solidFill>
                <a:latin typeface="Microsoft JhengHei" panose="020B0604030504040204" pitchFamily="34" charset="-120"/>
                <a:ea typeface="Microsoft JhengHei" panose="020B0604030504040204" pitchFamily="34" charset="-120"/>
              </a:rPr>
              <a:t>MM-PU-0010</a:t>
            </a: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詢報價更新</a:t>
            </a:r>
            <a:endParaRPr lang="en-US" altLang="zh-TW" sz="1500" dirty="0">
              <a:solidFill>
                <a:srgbClr val="000000"/>
              </a:solidFill>
              <a:latin typeface="Microsoft JhengHei" panose="020B0604030504040204" pitchFamily="34" charset="-120"/>
              <a:ea typeface="Microsoft JhengHei" panose="020B0604030504040204" pitchFamily="34" charset="-120"/>
            </a:endParaRP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價格主檔</a:t>
            </a:r>
            <a:r>
              <a:rPr lang="zh-TW" altLang="en-US" sz="1500" dirty="0"/>
              <a:t> </a:t>
            </a:r>
            <a:endParaRPr lang="zh-TW" altLang="en-US" sz="1500" dirty="0">
              <a:latin typeface="微軟正黑體" panose="020B0604030504040204" pitchFamily="34" charset="-120"/>
              <a:ea typeface="微軟正黑體" panose="020B0604030504040204" pitchFamily="34" charset="-120"/>
            </a:endParaRPr>
          </a:p>
        </p:txBody>
      </p:sp>
      <p:cxnSp>
        <p:nvCxnSpPr>
          <p:cNvPr id="8" name="直線單箭頭接點 7">
            <a:extLst>
              <a:ext uri="{FF2B5EF4-FFF2-40B4-BE49-F238E27FC236}">
                <a16:creationId xmlns="" xmlns:a16="http://schemas.microsoft.com/office/drawing/2014/main" id="{30F40FCB-3B68-A111-C1B6-F7B667FDB45E}"/>
              </a:ext>
            </a:extLst>
          </p:cNvPr>
          <p:cNvCxnSpPr>
            <a:cxnSpLocks/>
            <a:stCxn id="7" idx="3"/>
            <a:endCxn id="12" idx="1"/>
          </p:cNvCxnSpPr>
          <p:nvPr/>
        </p:nvCxnSpPr>
        <p:spPr>
          <a:xfrm>
            <a:off x="2060204" y="2673451"/>
            <a:ext cx="649290" cy="5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線單箭頭接點 15">
            <a:extLst>
              <a:ext uri="{FF2B5EF4-FFF2-40B4-BE49-F238E27FC236}">
                <a16:creationId xmlns="" xmlns:a16="http://schemas.microsoft.com/office/drawing/2014/main" id="{75A891B9-47AC-C698-135F-2D0E20B3C312}"/>
              </a:ext>
            </a:extLst>
          </p:cNvPr>
          <p:cNvCxnSpPr>
            <a:cxnSpLocks/>
            <a:stCxn id="12" idx="2"/>
            <a:endCxn id="73" idx="0"/>
          </p:cNvCxnSpPr>
          <p:nvPr/>
        </p:nvCxnSpPr>
        <p:spPr>
          <a:xfrm>
            <a:off x="3498705" y="3030065"/>
            <a:ext cx="7799" cy="11800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單箭頭接點 21">
            <a:extLst>
              <a:ext uri="{FF2B5EF4-FFF2-40B4-BE49-F238E27FC236}">
                <a16:creationId xmlns="" xmlns:a16="http://schemas.microsoft.com/office/drawing/2014/main" id="{E34813AF-00AB-EA73-C185-DB63B99E2E8E}"/>
              </a:ext>
            </a:extLst>
          </p:cNvPr>
          <p:cNvCxnSpPr>
            <a:cxnSpLocks/>
            <a:stCxn id="77" idx="2"/>
            <a:endCxn id="72" idx="0"/>
          </p:cNvCxnSpPr>
          <p:nvPr/>
        </p:nvCxnSpPr>
        <p:spPr>
          <a:xfrm flipH="1">
            <a:off x="5851999" y="3290642"/>
            <a:ext cx="4266" cy="547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 xmlns:a16="http://schemas.microsoft.com/office/drawing/2014/main" id="{3AB54E48-A607-BBC9-B18A-6CC63CA641D2}"/>
              </a:ext>
            </a:extLst>
          </p:cNvPr>
          <p:cNvCxnSpPr>
            <a:cxnSpLocks/>
            <a:stCxn id="12" idx="3"/>
            <a:endCxn id="77" idx="1"/>
          </p:cNvCxnSpPr>
          <p:nvPr/>
        </p:nvCxnSpPr>
        <p:spPr>
          <a:xfrm>
            <a:off x="4287916" y="2673965"/>
            <a:ext cx="601851" cy="161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直線單箭頭接點 41">
            <a:extLst>
              <a:ext uri="{FF2B5EF4-FFF2-40B4-BE49-F238E27FC236}">
                <a16:creationId xmlns="" xmlns:a16="http://schemas.microsoft.com/office/drawing/2014/main" id="{52920293-824F-CFCD-3B1C-5BC07AF64F01}"/>
              </a:ext>
            </a:extLst>
          </p:cNvPr>
          <p:cNvCxnSpPr>
            <a:cxnSpLocks/>
            <a:stCxn id="84" idx="2"/>
            <a:endCxn id="35" idx="0"/>
          </p:cNvCxnSpPr>
          <p:nvPr/>
        </p:nvCxnSpPr>
        <p:spPr>
          <a:xfrm>
            <a:off x="8263241" y="5997560"/>
            <a:ext cx="1456" cy="2676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直線單箭頭接點 47">
            <a:extLst>
              <a:ext uri="{FF2B5EF4-FFF2-40B4-BE49-F238E27FC236}">
                <a16:creationId xmlns="" xmlns:a16="http://schemas.microsoft.com/office/drawing/2014/main" id="{FF315979-89B1-F737-7283-1CF4C9E1A1A1}"/>
              </a:ext>
            </a:extLst>
          </p:cNvPr>
          <p:cNvCxnSpPr>
            <a:cxnSpLocks/>
            <a:stCxn id="35" idx="2"/>
            <a:endCxn id="90" idx="0"/>
          </p:cNvCxnSpPr>
          <p:nvPr/>
        </p:nvCxnSpPr>
        <p:spPr>
          <a:xfrm>
            <a:off x="8264697" y="6977425"/>
            <a:ext cx="3698" cy="1039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TextBox 2">
            <a:extLst>
              <a:ext uri="{FF2B5EF4-FFF2-40B4-BE49-F238E27FC236}">
                <a16:creationId xmlns="" xmlns:a16="http://schemas.microsoft.com/office/drawing/2014/main" id="{6B09882B-C884-419E-9EB0-7F4E083F29C0}"/>
              </a:ext>
            </a:extLst>
          </p:cNvPr>
          <p:cNvSpPr txBox="1"/>
          <p:nvPr/>
        </p:nvSpPr>
        <p:spPr>
          <a:xfrm>
            <a:off x="16643413" y="697082"/>
            <a:ext cx="1464973" cy="338554"/>
          </a:xfrm>
          <a:prstGeom prst="rect">
            <a:avLst/>
          </a:prstGeom>
          <a:noFill/>
        </p:spPr>
        <p:txBody>
          <a:bodyPr wrap="square" rtlCol="0">
            <a:spAutoFit/>
          </a:bodyPr>
          <a:lstStyle/>
          <a:p>
            <a:r>
              <a:rPr lang="en-US" altLang="zh-TW" sz="1600" dirty="0" smtClean="0">
                <a:latin typeface="微軟正黑體" panose="020B0604030504040204" pitchFamily="34" charset="-120"/>
                <a:ea typeface="微軟正黑體" panose="020B0604030504040204" pitchFamily="34" charset="-120"/>
              </a:rPr>
              <a:t>2025/07/14</a:t>
            </a:r>
            <a:endParaRPr lang="zh-TW" altLang="en-US"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 xmlns:p14="http://schemas.microsoft.com/office/powerpoint/2010/main" val="34498521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 xmlns:a16="http://schemas.microsoft.com/office/drawing/2014/main" id="{83E6F622-2FBE-CC67-50FE-4ABD7D8B9696}"/>
              </a:ext>
            </a:extLst>
          </p:cNvPr>
          <p:cNvSpPr txBox="1"/>
          <p:nvPr/>
        </p:nvSpPr>
        <p:spPr>
          <a:xfrm>
            <a:off x="2444080" y="820877"/>
            <a:ext cx="7218711"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MM-PU-0090-02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smtClean="0">
                <a:latin typeface="微軟正黑體" panose="020B0604030504040204" pitchFamily="34" charset="-120"/>
                <a:ea typeface="微軟正黑體" panose="020B0604030504040204" pitchFamily="34" charset="-120"/>
              </a:rPr>
              <a:t>(</a:t>
            </a:r>
            <a:r>
              <a:rPr lang="zh-TW" altLang="en-US" sz="2400" b="1" dirty="0" smtClean="0">
                <a:latin typeface="微軟正黑體" panose="020B0604030504040204" pitchFamily="34" charset="-120"/>
                <a:ea typeface="微軟正黑體" panose="020B0604030504040204" pitchFamily="34" charset="-120"/>
              </a:rPr>
              <a:t>楦頭</a:t>
            </a:r>
            <a:r>
              <a:rPr lang="en-US" altLang="zh-TW" sz="2400" b="1" dirty="0" smtClean="0">
                <a:latin typeface="微軟正黑體" panose="020B0604030504040204" pitchFamily="34" charset="-120"/>
                <a:ea typeface="微軟正黑體" panose="020B0604030504040204" pitchFamily="34" charset="-120"/>
              </a:rPr>
              <a:t>/</a:t>
            </a:r>
            <a:r>
              <a:rPr lang="zh-TW" altLang="en-US" sz="2400" b="1" dirty="0" smtClean="0">
                <a:latin typeface="微軟正黑體" panose="020B0604030504040204" pitchFamily="34" charset="-120"/>
                <a:ea typeface="微軟正黑體" panose="020B0604030504040204" pitchFamily="34" charset="-120"/>
              </a:rPr>
              <a:t>模具</a:t>
            </a:r>
            <a:r>
              <a:rPr lang="en-US" altLang="zh-TW" sz="2400" b="1" dirty="0" smtClean="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444081" y="1364936"/>
            <a:ext cx="410354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廠區採購</a:t>
            </a: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142197" y="9194173"/>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55" name="文字方塊 54">
            <a:extLst>
              <a:ext uri="{FF2B5EF4-FFF2-40B4-BE49-F238E27FC236}">
                <a16:creationId xmlns="" xmlns:a16="http://schemas.microsoft.com/office/drawing/2014/main" id="{B106DB5A-3C2B-C42B-E706-9F53E0CA364F}"/>
              </a:ext>
            </a:extLst>
          </p:cNvPr>
          <p:cNvSpPr txBox="1"/>
          <p:nvPr/>
        </p:nvSpPr>
        <p:spPr>
          <a:xfrm>
            <a:off x="10256837" y="6967266"/>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56" name="文字方塊 55">
            <a:extLst>
              <a:ext uri="{FF2B5EF4-FFF2-40B4-BE49-F238E27FC236}">
                <a16:creationId xmlns="" xmlns:a16="http://schemas.microsoft.com/office/drawing/2014/main" id="{7BDD8B3B-9FC5-B431-B92A-CADEB291222C}"/>
              </a:ext>
            </a:extLst>
          </p:cNvPr>
          <p:cNvSpPr txBox="1"/>
          <p:nvPr/>
        </p:nvSpPr>
        <p:spPr>
          <a:xfrm>
            <a:off x="8067019" y="6969254"/>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47" name="流程圖: 決策 50">
            <a:extLst>
              <a:ext uri="{FF2B5EF4-FFF2-40B4-BE49-F238E27FC236}">
                <a16:creationId xmlns="" xmlns:a16="http://schemas.microsoft.com/office/drawing/2014/main" id="{4211AE0E-E934-C866-6745-99857AA1659D}"/>
              </a:ext>
            </a:extLst>
          </p:cNvPr>
          <p:cNvSpPr/>
          <p:nvPr/>
        </p:nvSpPr>
        <p:spPr bwMode="auto">
          <a:xfrm>
            <a:off x="8427336" y="6928402"/>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50" name="肘形接點 68">
            <a:extLst>
              <a:ext uri="{FF2B5EF4-FFF2-40B4-BE49-F238E27FC236}">
                <a16:creationId xmlns="" xmlns:a16="http://schemas.microsoft.com/office/drawing/2014/main" id="{132B4FAF-6538-8C69-D0DE-40BD508AF11A}"/>
              </a:ext>
            </a:extLst>
          </p:cNvPr>
          <p:cNvCxnSpPr>
            <a:cxnSpLocks/>
            <a:stCxn id="10" idx="2"/>
            <a:endCxn id="25" idx="1"/>
          </p:cNvCxnSpPr>
          <p:nvPr/>
        </p:nvCxnSpPr>
        <p:spPr>
          <a:xfrm rot="16200000" flipH="1">
            <a:off x="9941268" y="7384465"/>
            <a:ext cx="326681" cy="407517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53" name="肘形接點 68">
            <a:extLst>
              <a:ext uri="{FF2B5EF4-FFF2-40B4-BE49-F238E27FC236}">
                <a16:creationId xmlns="" xmlns:a16="http://schemas.microsoft.com/office/drawing/2014/main" id="{4A3048A1-DF9E-B19F-4A1B-A34D05AE9CF9}"/>
              </a:ext>
            </a:extLst>
          </p:cNvPr>
          <p:cNvCxnSpPr>
            <a:cxnSpLocks/>
            <a:stCxn id="54" idx="2"/>
            <a:endCxn id="47" idx="0"/>
          </p:cNvCxnSpPr>
          <p:nvPr/>
        </p:nvCxnSpPr>
        <p:spPr>
          <a:xfrm rot="5400000">
            <a:off x="9163350" y="6741817"/>
            <a:ext cx="371546" cy="162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1" name="肘形接點 68">
            <a:extLst>
              <a:ext uri="{FF2B5EF4-FFF2-40B4-BE49-F238E27FC236}">
                <a16:creationId xmlns="" xmlns:a16="http://schemas.microsoft.com/office/drawing/2014/main" id="{A1760115-079D-78EA-1EA4-A9CBDFE3271D}"/>
              </a:ext>
            </a:extLst>
          </p:cNvPr>
          <p:cNvCxnSpPr>
            <a:cxnSpLocks/>
            <a:stCxn id="47" idx="3"/>
            <a:endCxn id="69" idx="0"/>
          </p:cNvCxnSpPr>
          <p:nvPr/>
        </p:nvCxnSpPr>
        <p:spPr>
          <a:xfrm>
            <a:off x="10269285" y="7284502"/>
            <a:ext cx="268688" cy="76363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93" name="流程圖: 換頁接點 52">
            <a:extLst>
              <a:ext uri="{FF2B5EF4-FFF2-40B4-BE49-F238E27FC236}">
                <a16:creationId xmlns="" xmlns:a16="http://schemas.microsoft.com/office/drawing/2014/main" id="{81294BE7-C300-D1CD-4376-34B54DFCC2AF}"/>
              </a:ext>
            </a:extLst>
          </p:cNvPr>
          <p:cNvSpPr/>
          <p:nvPr/>
        </p:nvSpPr>
        <p:spPr bwMode="auto">
          <a:xfrm>
            <a:off x="12901718" y="789549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P6</a:t>
            </a:r>
            <a:endParaRPr lang="zh-TW" altLang="en-US" dirty="0">
              <a:latin typeface="微軟正黑體" panose="020B0604030504040204" pitchFamily="34" charset="-120"/>
              <a:ea typeface="微軟正黑體" panose="020B0604030504040204" pitchFamily="34" charset="-120"/>
            </a:endParaRPr>
          </a:p>
        </p:txBody>
      </p:sp>
      <p:sp>
        <p:nvSpPr>
          <p:cNvPr id="8" name="文字方塊 17">
            <a:extLst>
              <a:ext uri="{FF2B5EF4-FFF2-40B4-BE49-F238E27FC236}">
                <a16:creationId xmlns="" xmlns:a16="http://schemas.microsoft.com/office/drawing/2014/main" id="{BBC38995-B8DF-63A0-4401-9FE50A36E787}"/>
              </a:ext>
            </a:extLst>
          </p:cNvPr>
          <p:cNvSpPr txBox="1"/>
          <p:nvPr/>
        </p:nvSpPr>
        <p:spPr>
          <a:xfrm>
            <a:off x="6547625" y="1368692"/>
            <a:ext cx="5366078"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sp>
        <p:nvSpPr>
          <p:cNvPr id="2" name="TextBox 53">
            <a:extLst>
              <a:ext uri="{FF2B5EF4-FFF2-40B4-BE49-F238E27FC236}">
                <a16:creationId xmlns="" xmlns:a16="http://schemas.microsoft.com/office/drawing/2014/main" id="{B72E3EFF-4B3C-A9C8-E3E4-F926D0F3D738}"/>
              </a:ext>
            </a:extLst>
          </p:cNvPr>
          <p:cNvSpPr txBox="1"/>
          <p:nvPr/>
        </p:nvSpPr>
        <p:spPr>
          <a:xfrm>
            <a:off x="14380627" y="2064631"/>
            <a:ext cx="3594197" cy="6186309"/>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更新請購單，指派價格主檔</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採購進行請購單轉採購單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用程式</a:t>
            </a:r>
            <a:r>
              <a:rPr lang="en-US" altLang="zh-TW" dirty="0">
                <a:latin typeface="微軟正黑體" panose="020B0604030504040204" pitchFamily="34" charset="-120"/>
                <a:ea typeface="微軟正黑體" panose="020B0604030504040204" pitchFamily="34" charset="-120"/>
              </a:rPr>
              <a:t>ZMM019</a:t>
            </a:r>
            <a:r>
              <a:rPr lang="zh-TW" altLang="en-US" dirty="0">
                <a:latin typeface="微軟正黑體" panose="020B0604030504040204" pitchFamily="34" charset="-120"/>
                <a:ea typeface="微軟正黑體" panose="020B0604030504040204" pitchFamily="34" charset="-120"/>
              </a:rPr>
              <a:t>將採購單上傳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a:t>
            </a:r>
            <a:r>
              <a:rPr lang="en-US" altLang="zh-TW" dirty="0">
                <a:latin typeface="微軟正黑體" panose="020B0604030504040204" pitchFamily="34" charset="-120"/>
                <a:ea typeface="微軟正黑體" panose="020B0604030504040204" pitchFamily="34" charset="-120"/>
              </a:rPr>
              <a:t> </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a:t>
            </a:r>
            <a:r>
              <a:rPr lang="en-US" altLang="zh-TW" dirty="0">
                <a:latin typeface="微軟正黑體" panose="020B0604030504040204" pitchFamily="34" charset="-120"/>
                <a:ea typeface="微軟正黑體" panose="020B0604030504040204" pitchFamily="34" charset="-120"/>
              </a:rPr>
              <a:t> ZMM006</a:t>
            </a:r>
            <a:r>
              <a:rPr lang="zh-TW" altLang="en-US" dirty="0">
                <a:latin typeface="微軟正黑體" panose="020B0604030504040204" pitchFamily="34" charset="-120"/>
                <a:ea typeface="微軟正黑體" panose="020B0604030504040204" pitchFamily="34" charset="-120"/>
              </a:rPr>
              <a:t>自動將採購單標記為刪除，一並相關請購單。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zh-TW" altLang="en-US"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完成簽核</a:t>
            </a:r>
            <a:r>
              <a:rPr lang="en-US" altLang="zh-TW" dirty="0">
                <a:latin typeface="微軟正黑體" panose="020B0604030504040204" pitchFamily="34" charset="-120"/>
                <a:ea typeface="微軟正黑體" panose="020B0604030504040204" pitchFamily="34" charset="-120"/>
              </a:rPr>
              <a:t>BPM ZMM006</a:t>
            </a:r>
            <a:r>
              <a:rPr lang="zh-TW" altLang="en-US" dirty="0">
                <a:latin typeface="微軟正黑體" panose="020B0604030504040204" pitchFamily="34" charset="-120"/>
                <a:ea typeface="微軟正黑體" panose="020B0604030504040204" pitchFamily="34" charset="-120"/>
              </a:rPr>
              <a:t>自動核發採購單</a:t>
            </a:r>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en-US" altLang="zh-TW" dirty="0"/>
          </a:p>
        </p:txBody>
      </p:sp>
      <p:sp>
        <p:nvSpPr>
          <p:cNvPr id="12" name="流程圖: 換頁接點 52">
            <a:extLst>
              <a:ext uri="{FF2B5EF4-FFF2-40B4-BE49-F238E27FC236}">
                <a16:creationId xmlns="" xmlns:a16="http://schemas.microsoft.com/office/drawing/2014/main" id="{448D21C5-C439-7966-729A-8E00EDEAE2A6}"/>
              </a:ext>
            </a:extLst>
          </p:cNvPr>
          <p:cNvSpPr/>
          <p:nvPr/>
        </p:nvSpPr>
        <p:spPr bwMode="auto">
          <a:xfrm>
            <a:off x="976415" y="241460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P4</a:t>
            </a:r>
            <a:endParaRPr lang="zh-TW" altLang="en-US" dirty="0">
              <a:latin typeface="微軟正黑體" panose="020B0604030504040204" pitchFamily="34" charset="-120"/>
              <a:ea typeface="微軟正黑體" panose="020B0604030504040204" pitchFamily="34" charset="-120"/>
            </a:endParaRPr>
          </a:p>
        </p:txBody>
      </p:sp>
      <p:cxnSp>
        <p:nvCxnSpPr>
          <p:cNvPr id="38" name="Straight Connector 284">
            <a:extLst>
              <a:ext uri="{FF2B5EF4-FFF2-40B4-BE49-F238E27FC236}">
                <a16:creationId xmlns="" xmlns:a16="http://schemas.microsoft.com/office/drawing/2014/main" id="{CCB3D035-826A-6F8E-1D15-1A3E96F62413}"/>
              </a:ext>
            </a:extLst>
          </p:cNvPr>
          <p:cNvCxnSpPr>
            <a:cxnSpLocks/>
          </p:cNvCxnSpPr>
          <p:nvPr/>
        </p:nvCxnSpPr>
        <p:spPr>
          <a:xfrm>
            <a:off x="6547626" y="1353636"/>
            <a:ext cx="0" cy="8545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肘形接點 68">
            <a:extLst>
              <a:ext uri="{FF2B5EF4-FFF2-40B4-BE49-F238E27FC236}">
                <a16:creationId xmlns="" xmlns:a16="http://schemas.microsoft.com/office/drawing/2014/main" id="{E3A4B4E4-7674-2476-D44D-D084D524924E}"/>
              </a:ext>
            </a:extLst>
          </p:cNvPr>
          <p:cNvCxnSpPr>
            <a:cxnSpLocks/>
            <a:stCxn id="47" idx="1"/>
            <a:endCxn id="10" idx="0"/>
          </p:cNvCxnSpPr>
          <p:nvPr/>
        </p:nvCxnSpPr>
        <p:spPr>
          <a:xfrm rot="10800000" flipV="1">
            <a:off x="8067020" y="7284502"/>
            <a:ext cx="360316" cy="77320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8" name="Google Shape;198;p3"/>
          <p:cNvSpPr txBox="1">
            <a:spLocks/>
          </p:cNvSpPr>
          <p:nvPr/>
        </p:nvSpPr>
        <p:spPr>
          <a:xfrm>
            <a:off x="15425530" y="487206"/>
            <a:ext cx="253546" cy="215157"/>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5</a:t>
            </a:r>
          </a:p>
        </p:txBody>
      </p:sp>
      <p:graphicFrame>
        <p:nvGraphicFramePr>
          <p:cNvPr id="49" name="表格 30">
            <a:extLst>
              <a:ext uri="{FF2B5EF4-FFF2-40B4-BE49-F238E27FC236}">
                <a16:creationId xmlns="" xmlns:a16="http://schemas.microsoft.com/office/drawing/2014/main" id="{DB7A0832-7D21-1719-AE8D-90899BF1A64F}"/>
              </a:ext>
            </a:extLst>
          </p:cNvPr>
          <p:cNvGraphicFramePr>
            <a:graphicFrameLocks noGrp="1"/>
          </p:cNvGraphicFramePr>
          <p:nvPr>
            <p:extLst>
              <p:ext uri="{D42A27DB-BD31-4B8C-83A1-F6EECF244321}">
                <p14:modId xmlns="" xmlns:p14="http://schemas.microsoft.com/office/powerpoint/2010/main" val="2017494790"/>
              </p:ext>
            </p:extLst>
          </p:nvPr>
        </p:nvGraphicFramePr>
        <p:xfrm>
          <a:off x="3291842" y="5330356"/>
          <a:ext cx="1932996" cy="1238400"/>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3433979995"/>
                    </a:ext>
                  </a:extLst>
                </a:gridCol>
                <a:gridCol w="966498">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ZMM019</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將採購單發起</a:t>
                      </a:r>
                      <a:endParaRPr lang="en-US" altLang="zh-TW" sz="1500" dirty="0">
                        <a:latin typeface="微軟正黑體" panose="020B0604030504040204" pitchFamily="34" charset="-120"/>
                        <a:ea typeface="微軟正黑體" panose="020B0604030504040204" pitchFamily="34" charset="-120"/>
                      </a:endParaRPr>
                    </a:p>
                    <a:p>
                      <a:pPr algn="ct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51" name="表格 30">
            <a:extLst>
              <a:ext uri="{FF2B5EF4-FFF2-40B4-BE49-F238E27FC236}">
                <a16:creationId xmlns="" xmlns:a16="http://schemas.microsoft.com/office/drawing/2014/main" id="{DB7A0832-7D21-1719-AE8D-90899BF1A64F}"/>
              </a:ext>
            </a:extLst>
          </p:cNvPr>
          <p:cNvGraphicFramePr>
            <a:graphicFrameLocks noGrp="1"/>
          </p:cNvGraphicFramePr>
          <p:nvPr/>
        </p:nvGraphicFramePr>
        <p:xfrm>
          <a:off x="3294534" y="2064631"/>
          <a:ext cx="1932996" cy="1160833"/>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3433979995"/>
                    </a:ext>
                  </a:extLst>
                </a:gridCol>
                <a:gridCol w="966498">
                  <a:extLst>
                    <a:ext uri="{9D8B030D-6E8A-4147-A177-3AD203B41FA5}">
                      <a16:colId xmlns="" xmlns:a16="http://schemas.microsoft.com/office/drawing/2014/main"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ME57</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請購單指派價格</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52" name="表格 30">
            <a:extLst>
              <a:ext uri="{FF2B5EF4-FFF2-40B4-BE49-F238E27FC236}">
                <a16:creationId xmlns="" xmlns:a16="http://schemas.microsoft.com/office/drawing/2014/main" id="{DB7A0832-7D21-1719-AE8D-90899BF1A64F}"/>
              </a:ext>
            </a:extLst>
          </p:cNvPr>
          <p:cNvGraphicFramePr>
            <a:graphicFrameLocks noGrp="1"/>
          </p:cNvGraphicFramePr>
          <p:nvPr/>
        </p:nvGraphicFramePr>
        <p:xfrm>
          <a:off x="3293546" y="3694445"/>
          <a:ext cx="1932996" cy="1160833"/>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3433979995"/>
                    </a:ext>
                  </a:extLst>
                </a:gridCol>
                <a:gridCol w="966498">
                  <a:extLst>
                    <a:ext uri="{9D8B030D-6E8A-4147-A177-3AD203B41FA5}">
                      <a16:colId xmlns="" xmlns:a16="http://schemas.microsoft.com/office/drawing/2014/main"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ME58</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請購單轉採購單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10" name="表格 9"/>
          <p:cNvGraphicFramePr>
            <a:graphicFrameLocks noGrp="1"/>
          </p:cNvGraphicFramePr>
          <p:nvPr>
            <p:extLst>
              <p:ext uri="{D42A27DB-BD31-4B8C-83A1-F6EECF244321}">
                <p14:modId xmlns="" xmlns:p14="http://schemas.microsoft.com/office/powerpoint/2010/main" val="708399897"/>
              </p:ext>
            </p:extLst>
          </p:nvPr>
        </p:nvGraphicFramePr>
        <p:xfrm>
          <a:off x="7100522" y="8057708"/>
          <a:ext cx="1932996" cy="1201006"/>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20000"/>
                    </a:ext>
                  </a:extLst>
                </a:gridCol>
                <a:gridCol w="966498">
                  <a:extLst>
                    <a:ext uri="{9D8B030D-6E8A-4147-A177-3AD203B41FA5}">
                      <a16:colId xmlns="" xmlns:a16="http://schemas.microsoft.com/office/drawing/2014/main" val="20001"/>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0"/>
                  </a:ext>
                </a:extLst>
              </a:tr>
              <a:tr h="53617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1"/>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graphicFrame>
        <p:nvGraphicFramePr>
          <p:cNvPr id="54" name="表格 53"/>
          <p:cNvGraphicFramePr>
            <a:graphicFrameLocks noGrp="1"/>
          </p:cNvGraphicFramePr>
          <p:nvPr>
            <p:extLst>
              <p:ext uri="{D42A27DB-BD31-4B8C-83A1-F6EECF244321}">
                <p14:modId xmlns="" xmlns:p14="http://schemas.microsoft.com/office/powerpoint/2010/main" val="4059077778"/>
              </p:ext>
            </p:extLst>
          </p:nvPr>
        </p:nvGraphicFramePr>
        <p:xfrm>
          <a:off x="8383437" y="5355725"/>
          <a:ext cx="1932996" cy="1201131"/>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20000"/>
                    </a:ext>
                  </a:extLst>
                </a:gridCol>
                <a:gridCol w="966498">
                  <a:extLst>
                    <a:ext uri="{9D8B030D-6E8A-4147-A177-3AD203B41FA5}">
                      <a16:colId xmlns="" xmlns:a16="http://schemas.microsoft.com/office/drawing/2014/main" val="20001"/>
                    </a:ext>
                  </a:extLst>
                </a:gridCol>
              </a:tblGrid>
              <a:tr h="353292">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0"/>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1"/>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grpSp>
        <p:nvGrpSpPr>
          <p:cNvPr id="31" name="Group 220">
            <a:extLst>
              <a:ext uri="{FF2B5EF4-FFF2-40B4-BE49-F238E27FC236}">
                <a16:creationId xmlns="" xmlns:a16="http://schemas.microsoft.com/office/drawing/2014/main" id="{A9B401BC-DE49-5FC0-6565-D216316A23DA}"/>
              </a:ext>
            </a:extLst>
          </p:cNvPr>
          <p:cNvGrpSpPr/>
          <p:nvPr/>
        </p:nvGrpSpPr>
        <p:grpSpPr>
          <a:xfrm>
            <a:off x="4993898" y="1833815"/>
            <a:ext cx="559344" cy="408542"/>
            <a:chOff x="5906472" y="1486857"/>
            <a:chExt cx="372896" cy="272361"/>
          </a:xfrm>
        </p:grpSpPr>
        <p:sp>
          <p:nvSpPr>
            <p:cNvPr id="32"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 xmlns:a16="http://schemas.microsoft.com/office/drawing/2014/main" id="{38213EC1-2A6F-CC6F-9F41-D87C1E84A2C8}"/>
                </a:ext>
              </a:extLst>
            </p:cNvPr>
            <p:cNvSpPr txBox="1"/>
            <p:nvPr/>
          </p:nvSpPr>
          <p:spPr>
            <a:xfrm>
              <a:off x="5923768" y="1498287"/>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13" name="Group 220">
            <a:extLst>
              <a:ext uri="{FF2B5EF4-FFF2-40B4-BE49-F238E27FC236}">
                <a16:creationId xmlns="" xmlns:a16="http://schemas.microsoft.com/office/drawing/2014/main" id="{8F9100A8-C49B-4A69-8C8C-1F7583CA5532}"/>
              </a:ext>
            </a:extLst>
          </p:cNvPr>
          <p:cNvGrpSpPr/>
          <p:nvPr/>
        </p:nvGrpSpPr>
        <p:grpSpPr>
          <a:xfrm>
            <a:off x="4993898" y="3480357"/>
            <a:ext cx="548048" cy="415760"/>
            <a:chOff x="5906472" y="1486857"/>
            <a:chExt cx="365365" cy="272361"/>
          </a:xfrm>
        </p:grpSpPr>
        <p:sp>
          <p:nvSpPr>
            <p:cNvPr id="17" name="Oval 221">
              <a:extLst>
                <a:ext uri="{FF2B5EF4-FFF2-40B4-BE49-F238E27FC236}">
                  <a16:creationId xmlns="" xmlns:a16="http://schemas.microsoft.com/office/drawing/2014/main"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 xmlns:a16="http://schemas.microsoft.com/office/drawing/2014/main" id="{60D91B19-79E7-F88F-B376-D3C257050AE7}"/>
                </a:ext>
              </a:extLst>
            </p:cNvPr>
            <p:cNvSpPr txBox="1"/>
            <p:nvPr/>
          </p:nvSpPr>
          <p:spPr>
            <a:xfrm>
              <a:off x="5916237" y="1503597"/>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244" name="Group 220">
            <a:extLst>
              <a:ext uri="{FF2B5EF4-FFF2-40B4-BE49-F238E27FC236}">
                <a16:creationId xmlns="" xmlns:a16="http://schemas.microsoft.com/office/drawing/2014/main" id="{B5FE5C15-35AB-68F5-E353-F8A18C9C555A}"/>
              </a:ext>
            </a:extLst>
          </p:cNvPr>
          <p:cNvGrpSpPr/>
          <p:nvPr/>
        </p:nvGrpSpPr>
        <p:grpSpPr>
          <a:xfrm>
            <a:off x="4969066" y="5088078"/>
            <a:ext cx="561236" cy="415760"/>
            <a:chOff x="5906472" y="1486857"/>
            <a:chExt cx="374157" cy="272361"/>
          </a:xfrm>
        </p:grpSpPr>
        <p:sp>
          <p:nvSpPr>
            <p:cNvPr id="246" name="Oval 221">
              <a:extLst>
                <a:ext uri="{FF2B5EF4-FFF2-40B4-BE49-F238E27FC236}">
                  <a16:creationId xmlns="" xmlns:a16="http://schemas.microsoft.com/office/drawing/2014/main" id="{4BDC1F77-9896-B2CA-83E6-8EC9E56DD326}"/>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7" name="TextBox 222">
              <a:extLst>
                <a:ext uri="{FF2B5EF4-FFF2-40B4-BE49-F238E27FC236}">
                  <a16:creationId xmlns="" xmlns:a16="http://schemas.microsoft.com/office/drawing/2014/main" id="{3C1970B3-7168-C4BB-89C7-ED51993BA15F}"/>
                </a:ext>
              </a:extLst>
            </p:cNvPr>
            <p:cNvSpPr txBox="1"/>
            <p:nvPr/>
          </p:nvSpPr>
          <p:spPr>
            <a:xfrm>
              <a:off x="5925029" y="1503597"/>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235" name="Group 220">
            <a:extLst>
              <a:ext uri="{FF2B5EF4-FFF2-40B4-BE49-F238E27FC236}">
                <a16:creationId xmlns="" xmlns:a16="http://schemas.microsoft.com/office/drawing/2014/main" id="{56A53D60-F177-B66D-1052-09F00D9EB829}"/>
              </a:ext>
            </a:extLst>
          </p:cNvPr>
          <p:cNvGrpSpPr/>
          <p:nvPr/>
        </p:nvGrpSpPr>
        <p:grpSpPr>
          <a:xfrm>
            <a:off x="10072503" y="5142910"/>
            <a:ext cx="548922" cy="408542"/>
            <a:chOff x="5906472" y="1486857"/>
            <a:chExt cx="365948" cy="272361"/>
          </a:xfrm>
        </p:grpSpPr>
        <p:sp>
          <p:nvSpPr>
            <p:cNvPr id="236" name="Oval 221">
              <a:extLst>
                <a:ext uri="{FF2B5EF4-FFF2-40B4-BE49-F238E27FC236}">
                  <a16:creationId xmlns="" xmlns:a16="http://schemas.microsoft.com/office/drawing/2014/main"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7" name="TextBox 222">
              <a:extLst>
                <a:ext uri="{FF2B5EF4-FFF2-40B4-BE49-F238E27FC236}">
                  <a16:creationId xmlns="" xmlns:a16="http://schemas.microsoft.com/office/drawing/2014/main" id="{58D156B1-9578-40C0-E02B-A11714005BD3}"/>
                </a:ext>
              </a:extLst>
            </p:cNvPr>
            <p:cNvSpPr txBox="1"/>
            <p:nvPr/>
          </p:nvSpPr>
          <p:spPr>
            <a:xfrm>
              <a:off x="5916820" y="1493011"/>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5" name="Group 220">
            <a:extLst>
              <a:ext uri="{FF2B5EF4-FFF2-40B4-BE49-F238E27FC236}">
                <a16:creationId xmlns="" xmlns:a16="http://schemas.microsoft.com/office/drawing/2014/main" id="{95833AC4-F732-A02B-A56A-BF7FE3EEE464}"/>
              </a:ext>
            </a:extLst>
          </p:cNvPr>
          <p:cNvGrpSpPr/>
          <p:nvPr/>
        </p:nvGrpSpPr>
        <p:grpSpPr>
          <a:xfrm>
            <a:off x="8795954" y="7843865"/>
            <a:ext cx="546285" cy="408542"/>
            <a:chOff x="5906472" y="1486857"/>
            <a:chExt cx="364190" cy="272361"/>
          </a:xfrm>
        </p:grpSpPr>
        <p:sp>
          <p:nvSpPr>
            <p:cNvPr id="7" name="Oval 221">
              <a:extLst>
                <a:ext uri="{FF2B5EF4-FFF2-40B4-BE49-F238E27FC236}">
                  <a16:creationId xmlns="" xmlns:a16="http://schemas.microsoft.com/office/drawing/2014/main" id="{448FE136-D5FB-487D-FD11-3048B72422D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 name="TextBox 222">
              <a:extLst>
                <a:ext uri="{FF2B5EF4-FFF2-40B4-BE49-F238E27FC236}">
                  <a16:creationId xmlns="" xmlns:a16="http://schemas.microsoft.com/office/drawing/2014/main" id="{A2F176F7-1727-A72F-920F-71B8E99DAC1D}"/>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69" name="表格 68"/>
          <p:cNvGraphicFramePr>
            <a:graphicFrameLocks noGrp="1"/>
          </p:cNvGraphicFramePr>
          <p:nvPr>
            <p:extLst>
              <p:ext uri="{D42A27DB-BD31-4B8C-83A1-F6EECF244321}">
                <p14:modId xmlns="" xmlns:p14="http://schemas.microsoft.com/office/powerpoint/2010/main" val="3815678069"/>
              </p:ext>
            </p:extLst>
          </p:nvPr>
        </p:nvGraphicFramePr>
        <p:xfrm>
          <a:off x="9571475" y="8048134"/>
          <a:ext cx="1932996" cy="1160833"/>
        </p:xfrm>
        <a:graphic>
          <a:graphicData uri="http://schemas.openxmlformats.org/drawingml/2006/table">
            <a:tbl>
              <a:tblPr>
                <a:tableStyleId>{5940675A-B579-460E-94D1-54222C63F5DA}</a:tableStyleId>
              </a:tblPr>
              <a:tblGrid>
                <a:gridCol w="966498">
                  <a:extLst>
                    <a:ext uri="{9D8B030D-6E8A-4147-A177-3AD203B41FA5}">
                      <a16:colId xmlns="" xmlns:a16="http://schemas.microsoft.com/office/drawing/2014/main" val="20000"/>
                    </a:ext>
                  </a:extLst>
                </a:gridCol>
                <a:gridCol w="966498">
                  <a:extLst>
                    <a:ext uri="{9D8B030D-6E8A-4147-A177-3AD203B41FA5}">
                      <a16:colId xmlns="" xmlns:a16="http://schemas.microsoft.com/office/drawing/2014/main" val="20001"/>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0"/>
                  </a:ext>
                </a:extLst>
              </a:tr>
              <a:tr h="511239">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1"/>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grpSp>
        <p:nvGrpSpPr>
          <p:cNvPr id="71" name="Group 220">
            <a:extLst>
              <a:ext uri="{FF2B5EF4-FFF2-40B4-BE49-F238E27FC236}">
                <a16:creationId xmlns="" xmlns:a16="http://schemas.microsoft.com/office/drawing/2014/main" id="{56A53D60-F177-B66D-1052-09F00D9EB829}"/>
              </a:ext>
            </a:extLst>
          </p:cNvPr>
          <p:cNvGrpSpPr/>
          <p:nvPr/>
        </p:nvGrpSpPr>
        <p:grpSpPr>
          <a:xfrm>
            <a:off x="11255378" y="7843865"/>
            <a:ext cx="559473" cy="408542"/>
            <a:chOff x="5906472" y="1486857"/>
            <a:chExt cx="372982" cy="272361"/>
          </a:xfrm>
        </p:grpSpPr>
        <p:sp>
          <p:nvSpPr>
            <p:cNvPr id="72" name="Oval 221">
              <a:extLst>
                <a:ext uri="{FF2B5EF4-FFF2-40B4-BE49-F238E27FC236}">
                  <a16:creationId xmlns="" xmlns:a16="http://schemas.microsoft.com/office/drawing/2014/main"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73" name="TextBox 222">
              <a:extLst>
                <a:ext uri="{FF2B5EF4-FFF2-40B4-BE49-F238E27FC236}">
                  <a16:creationId xmlns="" xmlns:a16="http://schemas.microsoft.com/office/drawing/2014/main" id="{58D156B1-9578-40C0-E02B-A11714005BD3}"/>
                </a:ext>
              </a:extLst>
            </p:cNvPr>
            <p:cNvSpPr txBox="1"/>
            <p:nvPr/>
          </p:nvSpPr>
          <p:spPr>
            <a:xfrm>
              <a:off x="5923854"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cxnSp>
        <p:nvCxnSpPr>
          <p:cNvPr id="74" name="肘形接點 68">
            <a:extLst>
              <a:ext uri="{FF2B5EF4-FFF2-40B4-BE49-F238E27FC236}">
                <a16:creationId xmlns="" xmlns:a16="http://schemas.microsoft.com/office/drawing/2014/main" id="{A1760115-079D-78EA-1EA4-A9CBDFE3271D}"/>
              </a:ext>
            </a:extLst>
          </p:cNvPr>
          <p:cNvCxnSpPr>
            <a:cxnSpLocks/>
            <a:stCxn id="69" idx="3"/>
            <a:endCxn id="193" idx="1"/>
          </p:cNvCxnSpPr>
          <p:nvPr/>
        </p:nvCxnSpPr>
        <p:spPr>
          <a:xfrm flipV="1">
            <a:off x="11504471" y="8129146"/>
            <a:ext cx="1397247" cy="49940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3" name="直線單箭頭接點 2">
            <a:extLst>
              <a:ext uri="{FF2B5EF4-FFF2-40B4-BE49-F238E27FC236}">
                <a16:creationId xmlns="" xmlns:a16="http://schemas.microsoft.com/office/drawing/2014/main" id="{23269A80-F2C1-B877-810C-A8CD91C2B0DC}"/>
              </a:ext>
            </a:extLst>
          </p:cNvPr>
          <p:cNvCxnSpPr>
            <a:cxnSpLocks/>
            <a:stCxn id="49" idx="3"/>
            <a:endCxn id="54" idx="1"/>
          </p:cNvCxnSpPr>
          <p:nvPr/>
        </p:nvCxnSpPr>
        <p:spPr>
          <a:xfrm>
            <a:off x="5224838" y="5949556"/>
            <a:ext cx="3158599" cy="67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線單箭頭接點 18">
            <a:extLst>
              <a:ext uri="{FF2B5EF4-FFF2-40B4-BE49-F238E27FC236}">
                <a16:creationId xmlns="" xmlns:a16="http://schemas.microsoft.com/office/drawing/2014/main" id="{F3E01348-2F57-6C0E-8A2A-036769FE8FFA}"/>
              </a:ext>
            </a:extLst>
          </p:cNvPr>
          <p:cNvCxnSpPr>
            <a:cxnSpLocks/>
            <a:stCxn id="12" idx="3"/>
            <a:endCxn id="51" idx="1"/>
          </p:cNvCxnSpPr>
          <p:nvPr/>
        </p:nvCxnSpPr>
        <p:spPr>
          <a:xfrm flipV="1">
            <a:off x="1537042" y="2645047"/>
            <a:ext cx="1757492" cy="32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 xmlns:a16="http://schemas.microsoft.com/office/drawing/2014/main" id="{2D118D1F-A9CC-0063-E64E-7AE57ADD9A37}"/>
              </a:ext>
            </a:extLst>
          </p:cNvPr>
          <p:cNvCxnSpPr>
            <a:cxnSpLocks/>
            <a:stCxn id="52" idx="2"/>
            <a:endCxn id="49" idx="0"/>
          </p:cNvCxnSpPr>
          <p:nvPr/>
        </p:nvCxnSpPr>
        <p:spPr>
          <a:xfrm flipH="1">
            <a:off x="4258340" y="4855278"/>
            <a:ext cx="1704" cy="475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直線單箭頭接點 35">
            <a:extLst>
              <a:ext uri="{FF2B5EF4-FFF2-40B4-BE49-F238E27FC236}">
                <a16:creationId xmlns="" xmlns:a16="http://schemas.microsoft.com/office/drawing/2014/main" id="{D22EAB68-CAF5-228D-BF2C-57ABABE20F1E}"/>
              </a:ext>
            </a:extLst>
          </p:cNvPr>
          <p:cNvCxnSpPr>
            <a:cxnSpLocks/>
            <a:stCxn id="51" idx="2"/>
            <a:endCxn id="52" idx="0"/>
          </p:cNvCxnSpPr>
          <p:nvPr/>
        </p:nvCxnSpPr>
        <p:spPr>
          <a:xfrm flipH="1">
            <a:off x="4260044" y="3225464"/>
            <a:ext cx="988" cy="4689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7" name="TextBox 2">
            <a:extLst>
              <a:ext uri="{FF2B5EF4-FFF2-40B4-BE49-F238E27FC236}">
                <a16:creationId xmlns="" xmlns:a16="http://schemas.microsoft.com/office/drawing/2014/main" id="{6B09882B-C884-419E-9EB0-7F4E083F29C0}"/>
              </a:ext>
            </a:extLst>
          </p:cNvPr>
          <p:cNvSpPr txBox="1"/>
          <p:nvPr/>
        </p:nvSpPr>
        <p:spPr>
          <a:xfrm>
            <a:off x="16643413" y="697082"/>
            <a:ext cx="1464973" cy="338554"/>
          </a:xfrm>
          <a:prstGeom prst="rect">
            <a:avLst/>
          </a:prstGeom>
          <a:noFill/>
        </p:spPr>
        <p:txBody>
          <a:bodyPr wrap="square" rtlCol="0">
            <a:spAutoFit/>
          </a:bodyPr>
          <a:lstStyle/>
          <a:p>
            <a:r>
              <a:rPr lang="en-US" altLang="zh-TW" sz="1600" dirty="0" smtClean="0">
                <a:latin typeface="微軟正黑體" panose="020B0604030504040204" pitchFamily="34" charset="-120"/>
                <a:ea typeface="微軟正黑體" panose="020B0604030504040204" pitchFamily="34" charset="-120"/>
              </a:rPr>
              <a:t>2025/07/14</a:t>
            </a:r>
            <a:endParaRPr lang="zh-TW" altLang="en-US"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 xmlns:p14="http://schemas.microsoft.com/office/powerpoint/2010/main" val="18600686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 xmlns:a16="http://schemas.microsoft.com/office/drawing/2014/main" id="{580160BC-29D0-9D19-BFCE-78B7FC429FBC}"/>
              </a:ext>
            </a:extLst>
          </p:cNvPr>
          <p:cNvSpPr/>
          <p:nvPr/>
        </p:nvSpPr>
        <p:spPr bwMode="auto">
          <a:xfrm>
            <a:off x="4006774" y="3262813"/>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4" name="文字方塊 3">
            <a:extLst>
              <a:ext uri="{FF2B5EF4-FFF2-40B4-BE49-F238E27FC236}">
                <a16:creationId xmlns="" xmlns:a16="http://schemas.microsoft.com/office/drawing/2014/main" id="{83E6F622-2FBE-CC67-50FE-4ABD7D8B9696}"/>
              </a:ext>
            </a:extLst>
          </p:cNvPr>
          <p:cNvSpPr txBox="1"/>
          <p:nvPr/>
        </p:nvSpPr>
        <p:spPr>
          <a:xfrm>
            <a:off x="2444080" y="820877"/>
            <a:ext cx="845003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MM-PU-0090-02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smtClean="0">
                <a:latin typeface="微軟正黑體" panose="020B0604030504040204" pitchFamily="34" charset="-120"/>
                <a:ea typeface="微軟正黑體" panose="020B0604030504040204" pitchFamily="34" charset="-120"/>
              </a:rPr>
              <a:t>(</a:t>
            </a:r>
            <a:r>
              <a:rPr lang="zh-TW" altLang="en-US" sz="2400" b="1" dirty="0" smtClean="0">
                <a:latin typeface="微軟正黑體" panose="020B0604030504040204" pitchFamily="34" charset="-120"/>
                <a:ea typeface="微軟正黑體" panose="020B0604030504040204" pitchFamily="34" charset="-120"/>
              </a:rPr>
              <a:t>楦頭</a:t>
            </a:r>
            <a:r>
              <a:rPr lang="en-US" altLang="zh-TW" sz="2400" b="1" dirty="0" smtClean="0">
                <a:latin typeface="微軟正黑體" panose="020B0604030504040204" pitchFamily="34" charset="-120"/>
                <a:ea typeface="微軟正黑體" panose="020B0604030504040204" pitchFamily="34" charset="-120"/>
              </a:rPr>
              <a:t>/</a:t>
            </a:r>
            <a:r>
              <a:rPr lang="zh-TW" altLang="en-US" sz="2400" b="1" dirty="0" smtClean="0">
                <a:latin typeface="微軟正黑體" panose="020B0604030504040204" pitchFamily="34" charset="-120"/>
                <a:ea typeface="微軟正黑體" panose="020B0604030504040204" pitchFamily="34" charset="-120"/>
              </a:rPr>
              <a:t>模具</a:t>
            </a:r>
            <a:r>
              <a:rPr lang="en-US" altLang="zh-TW" sz="2400" b="1" dirty="0" smtClean="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444080" y="1360961"/>
            <a:ext cx="4111931" cy="352347"/>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採購</a:t>
            </a:r>
          </a:p>
        </p:txBody>
      </p:sp>
      <p:cxnSp>
        <p:nvCxnSpPr>
          <p:cNvPr id="16" name="Straight Connector 284">
            <a:extLst>
              <a:ext uri="{FF2B5EF4-FFF2-40B4-BE49-F238E27FC236}">
                <a16:creationId xmlns="" xmlns:a16="http://schemas.microsoft.com/office/drawing/2014/main" id="{3343F13F-0020-F344-5B28-F9AEB09CA3FA}"/>
              </a:ext>
            </a:extLst>
          </p:cNvPr>
          <p:cNvCxnSpPr>
            <a:cxnSpLocks/>
          </p:cNvCxnSpPr>
          <p:nvPr/>
        </p:nvCxnSpPr>
        <p:spPr>
          <a:xfrm>
            <a:off x="5680182" y="1338647"/>
            <a:ext cx="0" cy="8812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文字方塊 17">
            <a:extLst>
              <a:ext uri="{FF2B5EF4-FFF2-40B4-BE49-F238E27FC236}">
                <a16:creationId xmlns="" xmlns:a16="http://schemas.microsoft.com/office/drawing/2014/main" id="{306A0461-FB0A-6B8E-26F4-F4121B822258}"/>
              </a:ext>
            </a:extLst>
          </p:cNvPr>
          <p:cNvSpPr txBox="1"/>
          <p:nvPr/>
        </p:nvSpPr>
        <p:spPr>
          <a:xfrm>
            <a:off x="9702877" y="1353698"/>
            <a:ext cx="2157302" cy="600164"/>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開發</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底部製具</a:t>
            </a:r>
            <a:endParaRPr lang="en-US" altLang="zh-TW" sz="1650" dirty="0">
              <a:latin typeface="微軟正黑體" panose="020B0604030504040204" pitchFamily="34" charset="-120"/>
              <a:ea typeface="微軟正黑體" panose="020B0604030504040204" pitchFamily="34" charset="-120"/>
            </a:endParaRPr>
          </a:p>
          <a:p>
            <a:pPr algn="ct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量產</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生管</a:t>
            </a:r>
          </a:p>
        </p:txBody>
      </p:sp>
      <p:sp>
        <p:nvSpPr>
          <p:cNvPr id="61" name="TextBox 53">
            <a:extLst>
              <a:ext uri="{FF2B5EF4-FFF2-40B4-BE49-F238E27FC236}">
                <a16:creationId xmlns="" xmlns:a16="http://schemas.microsoft.com/office/drawing/2014/main" id="{2DE69ECC-E293-FAA8-6082-E6D2F887DBFF}"/>
              </a:ext>
            </a:extLst>
          </p:cNvPr>
          <p:cNvSpPr txBox="1"/>
          <p:nvPr/>
        </p:nvSpPr>
        <p:spPr>
          <a:xfrm>
            <a:off x="14380627" y="2064631"/>
            <a:ext cx="3594197" cy="369332"/>
          </a:xfrm>
          <a:prstGeom prst="rect">
            <a:avLst/>
          </a:prstGeom>
          <a:noFill/>
        </p:spPr>
        <p:txBody>
          <a:bodyPr wrap="square" rtlCol="0">
            <a:spAutoFit/>
          </a:bodyPr>
          <a:lstStyle/>
          <a:p>
            <a:endParaRPr lang="zh-TW" altLang="en-US" dirty="0"/>
          </a:p>
        </p:txBody>
      </p:sp>
      <p:sp>
        <p:nvSpPr>
          <p:cNvPr id="5" name="流程圖: 換頁接點 52">
            <a:extLst>
              <a:ext uri="{FF2B5EF4-FFF2-40B4-BE49-F238E27FC236}">
                <a16:creationId xmlns="" xmlns:a16="http://schemas.microsoft.com/office/drawing/2014/main" id="{A020D090-1F04-66A8-DDD2-0A428105439C}"/>
              </a:ext>
            </a:extLst>
          </p:cNvPr>
          <p:cNvSpPr/>
          <p:nvPr/>
        </p:nvSpPr>
        <p:spPr bwMode="auto">
          <a:xfrm>
            <a:off x="1104860" y="2528835"/>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P5</a:t>
            </a:r>
            <a:endParaRPr lang="zh-TW" altLang="en-US" dirty="0">
              <a:latin typeface="微軟正黑體" panose="020B0604030504040204" pitchFamily="34" charset="-120"/>
              <a:ea typeface="微軟正黑體" panose="020B0604030504040204" pitchFamily="34" charset="-120"/>
            </a:endParaRPr>
          </a:p>
        </p:txBody>
      </p:sp>
      <p:sp>
        <p:nvSpPr>
          <p:cNvPr id="200" name="文字方塊 17">
            <a:extLst>
              <a:ext uri="{FF2B5EF4-FFF2-40B4-BE49-F238E27FC236}">
                <a16:creationId xmlns="" xmlns:a16="http://schemas.microsoft.com/office/drawing/2014/main" id="{46781F1A-BA99-952E-F060-2BBE7B71DFBE}"/>
              </a:ext>
            </a:extLst>
          </p:cNvPr>
          <p:cNvSpPr txBox="1"/>
          <p:nvPr/>
        </p:nvSpPr>
        <p:spPr>
          <a:xfrm>
            <a:off x="6220692" y="1360858"/>
            <a:ext cx="3131690"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生管</a:t>
            </a:r>
          </a:p>
        </p:txBody>
      </p:sp>
      <p:sp>
        <p:nvSpPr>
          <p:cNvPr id="9" name="TextBox 53">
            <a:extLst>
              <a:ext uri="{FF2B5EF4-FFF2-40B4-BE49-F238E27FC236}">
                <a16:creationId xmlns="" xmlns:a16="http://schemas.microsoft.com/office/drawing/2014/main" id="{04612EE1-7D42-C47D-2705-304DF742CE7B}"/>
              </a:ext>
            </a:extLst>
          </p:cNvPr>
          <p:cNvSpPr txBox="1"/>
          <p:nvPr/>
        </p:nvSpPr>
        <p:spPr>
          <a:xfrm>
            <a:off x="14380627" y="2064631"/>
            <a:ext cx="3594197" cy="3970318"/>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於</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列印採購單交付給供應商</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smtClean="0">
                <a:latin typeface="微軟正黑體" panose="020B0604030504040204" pitchFamily="34" charset="-120"/>
                <a:ea typeface="微軟正黑體" panose="020B0604030504040204" pitchFamily="34" charset="-120"/>
              </a:rPr>
              <a:t>廠商到貨後，進行點收，用</a:t>
            </a:r>
            <a:r>
              <a:rPr lang="en-US" altLang="zh-TW" dirty="0">
                <a:latin typeface="微軟正黑體" panose="020B0604030504040204" pitchFamily="34" charset="-120"/>
                <a:ea typeface="微軟正黑體" panose="020B0604030504040204" pitchFamily="34" charset="-120"/>
              </a:rPr>
              <a:t>MIGO </a:t>
            </a:r>
            <a:r>
              <a:rPr lang="zh-TW" altLang="en-US" dirty="0" smtClean="0">
                <a:latin typeface="微軟正黑體" panose="020B0604030504040204" pitchFamily="34" charset="-120"/>
                <a:ea typeface="微軟正黑體" panose="020B0604030504040204" pitchFamily="34" charset="-120"/>
              </a:rPr>
              <a:t>進行收貨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進行功能確認</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檢驗不合格進行驗收 </a:t>
            </a:r>
            <a:r>
              <a:rPr lang="en-US" altLang="zh-TW" dirty="0">
                <a:latin typeface="微軟正黑體" panose="020B0604030504040204" pitchFamily="34" charset="-120"/>
                <a:ea typeface="微軟正黑體" panose="020B0604030504040204" pitchFamily="34" charset="-120"/>
              </a:rPr>
              <a:t>MIGO </a:t>
            </a:r>
            <a:r>
              <a:rPr lang="zh-TW" altLang="en-US" dirty="0" smtClean="0">
                <a:latin typeface="微軟正黑體" panose="020B0604030504040204" pitchFamily="34" charset="-120"/>
                <a:ea typeface="微軟正黑體" panose="020B0604030504040204" pitchFamily="34" charset="-120"/>
              </a:rPr>
              <a:t>進行</a:t>
            </a:r>
            <a:r>
              <a:rPr lang="en-US" altLang="zh-TW" dirty="0" smtClean="0">
                <a:latin typeface="微軟正黑體" panose="020B0604030504040204" pitchFamily="34" charset="-120"/>
                <a:ea typeface="微軟正黑體" panose="020B0604030504040204" pitchFamily="34" charset="-120"/>
              </a:rPr>
              <a:t>122</a:t>
            </a:r>
            <a:r>
              <a:rPr lang="zh-TW" altLang="en-US" dirty="0" smtClean="0">
                <a:latin typeface="微軟正黑體" panose="020B0604030504040204" pitchFamily="34" charset="-120"/>
                <a:ea typeface="微軟正黑體" panose="020B0604030504040204" pitchFamily="34" charset="-120"/>
              </a:rPr>
              <a:t>退貨</a:t>
            </a:r>
            <a:r>
              <a:rPr lang="zh-TW" altLang="en-US" dirty="0">
                <a:latin typeface="微軟正黑體" panose="020B0604030504040204" pitchFamily="34" charset="-120"/>
                <a:ea typeface="微軟正黑體" panose="020B0604030504040204" pitchFamily="34" charset="-120"/>
              </a:rPr>
              <a:t>作業，通知廠商收退貨重送</a:t>
            </a:r>
            <a:endParaRPr lang="en-US" altLang="zh-TW" dirty="0">
              <a:latin typeface="微軟正黑體" panose="020B0604030504040204" pitchFamily="34" charset="-120"/>
              <a:ea typeface="微軟正黑體" panose="020B0604030504040204" pitchFamily="34" charset="-120"/>
            </a:endParaRPr>
          </a:p>
          <a:p>
            <a:endParaRPr lang="en-US" altLang="zh-TW" dirty="0"/>
          </a:p>
        </p:txBody>
      </p:sp>
      <p:cxnSp>
        <p:nvCxnSpPr>
          <p:cNvPr id="21" name="肘形接點 68">
            <a:extLst>
              <a:ext uri="{FF2B5EF4-FFF2-40B4-BE49-F238E27FC236}">
                <a16:creationId xmlns="" xmlns:a16="http://schemas.microsoft.com/office/drawing/2014/main" id="{97B9A81B-FB6F-E725-53DC-5170EDD5F5EC}"/>
              </a:ext>
            </a:extLst>
          </p:cNvPr>
          <p:cNvCxnSpPr>
            <a:cxnSpLocks/>
            <a:stCxn id="104" idx="3"/>
            <a:endCxn id="81" idx="1"/>
          </p:cNvCxnSpPr>
          <p:nvPr/>
        </p:nvCxnSpPr>
        <p:spPr>
          <a:xfrm>
            <a:off x="4533323" y="2761898"/>
            <a:ext cx="2265912" cy="271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Connector 284">
            <a:extLst>
              <a:ext uri="{FF2B5EF4-FFF2-40B4-BE49-F238E27FC236}">
                <a16:creationId xmlns="" xmlns:a16="http://schemas.microsoft.com/office/drawing/2014/main" id="{CCB3D035-826A-6F8E-1D15-1A3E96F62413}"/>
              </a:ext>
            </a:extLst>
          </p:cNvPr>
          <p:cNvCxnSpPr>
            <a:cxnSpLocks/>
          </p:cNvCxnSpPr>
          <p:nvPr/>
        </p:nvCxnSpPr>
        <p:spPr>
          <a:xfrm>
            <a:off x="9564669" y="1335535"/>
            <a:ext cx="0" cy="88156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Google Shape;198;p3"/>
          <p:cNvSpPr txBox="1">
            <a:spLocks/>
          </p:cNvSpPr>
          <p:nvPr/>
        </p:nvSpPr>
        <p:spPr>
          <a:xfrm>
            <a:off x="15186993" y="460701"/>
            <a:ext cx="478831" cy="228411"/>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6</a:t>
            </a:r>
          </a:p>
        </p:txBody>
      </p:sp>
      <p:sp>
        <p:nvSpPr>
          <p:cNvPr id="54" name="TextBox 2">
            <a:extLst>
              <a:ext uri="{FF2B5EF4-FFF2-40B4-BE49-F238E27FC236}">
                <a16:creationId xmlns="" xmlns:a16="http://schemas.microsoft.com/office/drawing/2014/main" id="{6B09882B-C884-419E-9EB0-7F4E083F29C0}"/>
              </a:ext>
            </a:extLst>
          </p:cNvPr>
          <p:cNvSpPr txBox="1"/>
          <p:nvPr/>
        </p:nvSpPr>
        <p:spPr>
          <a:xfrm>
            <a:off x="16643413" y="697082"/>
            <a:ext cx="1464973" cy="338554"/>
          </a:xfrm>
          <a:prstGeom prst="rect">
            <a:avLst/>
          </a:prstGeom>
          <a:noFill/>
        </p:spPr>
        <p:txBody>
          <a:bodyPr wrap="square" rtlCol="0">
            <a:spAutoFit/>
          </a:bodyPr>
          <a:lstStyle/>
          <a:p>
            <a:r>
              <a:rPr lang="en-US" altLang="zh-TW" sz="1600" dirty="0" smtClean="0">
                <a:latin typeface="微軟正黑體" panose="020B0604030504040204" pitchFamily="34" charset="-120"/>
                <a:ea typeface="微軟正黑體" panose="020B0604030504040204" pitchFamily="34" charset="-120"/>
              </a:rPr>
              <a:t>2025/07/14</a:t>
            </a:r>
            <a:endParaRPr lang="zh-TW" altLang="en-US" sz="1600" dirty="0">
              <a:latin typeface="微軟正黑體" panose="020B0604030504040204" pitchFamily="34" charset="-120"/>
              <a:ea typeface="微軟正黑體" panose="020B0604030504040204" pitchFamily="34" charset="-120"/>
            </a:endParaRPr>
          </a:p>
        </p:txBody>
      </p:sp>
      <p:sp>
        <p:nvSpPr>
          <p:cNvPr id="57" name="流程圖: 結束點 8">
            <a:extLst>
              <a:ext uri="{FF2B5EF4-FFF2-40B4-BE49-F238E27FC236}">
                <a16:creationId xmlns="" xmlns:a16="http://schemas.microsoft.com/office/drawing/2014/main" id="{1FB9514E-6261-C7AC-D58E-6A5F2E6F81FD}"/>
              </a:ext>
            </a:extLst>
          </p:cNvPr>
          <p:cNvSpPr/>
          <p:nvPr/>
        </p:nvSpPr>
        <p:spPr bwMode="auto">
          <a:xfrm>
            <a:off x="12223861" y="814707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62" name="肘形接點 68">
            <a:extLst>
              <a:ext uri="{FF2B5EF4-FFF2-40B4-BE49-F238E27FC236}">
                <a16:creationId xmlns="" xmlns:a16="http://schemas.microsoft.com/office/drawing/2014/main" id="{8DD1663D-3235-8D1E-F1BD-80C90EB0F8CB}"/>
              </a:ext>
            </a:extLst>
          </p:cNvPr>
          <p:cNvCxnSpPr>
            <a:cxnSpLocks/>
            <a:stCxn id="76" idx="3"/>
            <a:endCxn id="57" idx="1"/>
          </p:cNvCxnSpPr>
          <p:nvPr/>
        </p:nvCxnSpPr>
        <p:spPr>
          <a:xfrm flipV="1">
            <a:off x="8735220" y="8538293"/>
            <a:ext cx="3488641" cy="934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肘形接點 68">
            <a:extLst>
              <a:ext uri="{FF2B5EF4-FFF2-40B4-BE49-F238E27FC236}">
                <a16:creationId xmlns="" xmlns:a16="http://schemas.microsoft.com/office/drawing/2014/main" id="{4D315B82-E1CA-313C-D4BB-3BBD9FD7F973}"/>
              </a:ext>
            </a:extLst>
          </p:cNvPr>
          <p:cNvCxnSpPr>
            <a:cxnSpLocks/>
            <a:stCxn id="81" idx="3"/>
            <a:endCxn id="86" idx="0"/>
          </p:cNvCxnSpPr>
          <p:nvPr/>
        </p:nvCxnSpPr>
        <p:spPr>
          <a:xfrm>
            <a:off x="8610035" y="2789086"/>
            <a:ext cx="2050074" cy="148284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4" name="流程圖: 決策 50">
            <a:extLst>
              <a:ext uri="{FF2B5EF4-FFF2-40B4-BE49-F238E27FC236}">
                <a16:creationId xmlns="" xmlns:a16="http://schemas.microsoft.com/office/drawing/2014/main" id="{8037CA89-DBE3-1441-8E4C-7EA04E993D61}"/>
              </a:ext>
            </a:extLst>
          </p:cNvPr>
          <p:cNvSpPr/>
          <p:nvPr/>
        </p:nvSpPr>
        <p:spPr bwMode="auto">
          <a:xfrm>
            <a:off x="9773715" y="6276900"/>
            <a:ext cx="1841949" cy="588972"/>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符合要求</a:t>
            </a:r>
          </a:p>
        </p:txBody>
      </p:sp>
      <p:cxnSp>
        <p:nvCxnSpPr>
          <p:cNvPr id="65" name="肘形接點 68">
            <a:extLst>
              <a:ext uri="{FF2B5EF4-FFF2-40B4-BE49-F238E27FC236}">
                <a16:creationId xmlns="" xmlns:a16="http://schemas.microsoft.com/office/drawing/2014/main" id="{2AA47122-2BF1-7633-656B-9B6710026CD9}"/>
              </a:ext>
            </a:extLst>
          </p:cNvPr>
          <p:cNvCxnSpPr>
            <a:cxnSpLocks/>
            <a:endCxn id="75" idx="0"/>
          </p:cNvCxnSpPr>
          <p:nvPr/>
        </p:nvCxnSpPr>
        <p:spPr>
          <a:xfrm rot="10800000" flipV="1">
            <a:off x="7829821" y="6580413"/>
            <a:ext cx="2097951" cy="136000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6" name="文字方塊 65">
            <a:extLst>
              <a:ext uri="{FF2B5EF4-FFF2-40B4-BE49-F238E27FC236}">
                <a16:creationId xmlns="" xmlns:a16="http://schemas.microsoft.com/office/drawing/2014/main" id="{B106DB5A-3C2B-C42B-E706-9F53E0CA364F}"/>
              </a:ext>
            </a:extLst>
          </p:cNvPr>
          <p:cNvSpPr txBox="1"/>
          <p:nvPr/>
        </p:nvSpPr>
        <p:spPr>
          <a:xfrm>
            <a:off x="11335120" y="6153968"/>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67" name="文字方塊 66">
            <a:extLst>
              <a:ext uri="{FF2B5EF4-FFF2-40B4-BE49-F238E27FC236}">
                <a16:creationId xmlns="" xmlns:a16="http://schemas.microsoft.com/office/drawing/2014/main" id="{7BDD8B3B-9FC5-B431-B92A-CADEB291222C}"/>
              </a:ext>
            </a:extLst>
          </p:cNvPr>
          <p:cNvSpPr txBox="1"/>
          <p:nvPr/>
        </p:nvSpPr>
        <p:spPr>
          <a:xfrm>
            <a:off x="8776331" y="617180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cxnSp>
        <p:nvCxnSpPr>
          <p:cNvPr id="68" name="肘形接點 68">
            <a:extLst>
              <a:ext uri="{FF2B5EF4-FFF2-40B4-BE49-F238E27FC236}">
                <a16:creationId xmlns="" xmlns:a16="http://schemas.microsoft.com/office/drawing/2014/main" id="{3C63507D-83FD-0025-3EF4-B6F87A20780B}"/>
              </a:ext>
            </a:extLst>
          </p:cNvPr>
          <p:cNvCxnSpPr>
            <a:cxnSpLocks/>
            <a:stCxn id="64" idx="3"/>
            <a:endCxn id="69" idx="1"/>
          </p:cNvCxnSpPr>
          <p:nvPr/>
        </p:nvCxnSpPr>
        <p:spPr>
          <a:xfrm flipV="1">
            <a:off x="11615664" y="6566229"/>
            <a:ext cx="642649" cy="51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9" name="流程圖: 預設處理作業 21">
            <a:extLst>
              <a:ext uri="{FF2B5EF4-FFF2-40B4-BE49-F238E27FC236}">
                <a16:creationId xmlns="" xmlns:a16="http://schemas.microsoft.com/office/drawing/2014/main" id="{2857039D-4439-AE14-74EB-A5CEC0477F9A}"/>
              </a:ext>
            </a:extLst>
          </p:cNvPr>
          <p:cNvSpPr/>
          <p:nvPr/>
        </p:nvSpPr>
        <p:spPr bwMode="auto">
          <a:xfrm>
            <a:off x="12258313" y="5947029"/>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70" name="直線單箭頭接點 69">
            <a:extLst>
              <a:ext uri="{FF2B5EF4-FFF2-40B4-BE49-F238E27FC236}">
                <a16:creationId xmlns="" xmlns:a16="http://schemas.microsoft.com/office/drawing/2014/main" id="{4C2B1276-06B9-E2EA-9FD1-D922936615B7}"/>
              </a:ext>
            </a:extLst>
          </p:cNvPr>
          <p:cNvCxnSpPr>
            <a:cxnSpLocks/>
            <a:endCxn id="64" idx="0"/>
          </p:cNvCxnSpPr>
          <p:nvPr/>
        </p:nvCxnSpPr>
        <p:spPr>
          <a:xfrm rot="5400000">
            <a:off x="10275210" y="5856874"/>
            <a:ext cx="839507" cy="5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直線單箭頭接點 70">
            <a:extLst>
              <a:ext uri="{FF2B5EF4-FFF2-40B4-BE49-F238E27FC236}">
                <a16:creationId xmlns="" xmlns:a16="http://schemas.microsoft.com/office/drawing/2014/main" id="{8358A9BC-99C1-0844-3360-02305B1AEB36}"/>
              </a:ext>
            </a:extLst>
          </p:cNvPr>
          <p:cNvCxnSpPr>
            <a:cxnSpLocks/>
            <a:stCxn id="69" idx="2"/>
            <a:endCxn id="57" idx="0"/>
          </p:cNvCxnSpPr>
          <p:nvPr/>
        </p:nvCxnSpPr>
        <p:spPr>
          <a:xfrm rot="5400000">
            <a:off x="12641956" y="7666250"/>
            <a:ext cx="961642" cy="1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2" name="群組 71"/>
          <p:cNvGrpSpPr/>
          <p:nvPr/>
        </p:nvGrpSpPr>
        <p:grpSpPr>
          <a:xfrm>
            <a:off x="6924420" y="7940417"/>
            <a:ext cx="1810800" cy="1217256"/>
            <a:chOff x="15073354" y="8308668"/>
            <a:chExt cx="1810800" cy="1217256"/>
          </a:xfrm>
        </p:grpSpPr>
        <p:sp>
          <p:nvSpPr>
            <p:cNvPr id="75" name="流程圖: 程序 74"/>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76" name="流程圖: 程序 75"/>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採購單退貨，</a:t>
              </a:r>
              <a:endParaRPr lang="en-US" altLang="zh-TW" sz="1500" dirty="0" smtClean="0">
                <a:latin typeface="微軟正黑體" panose="020B0604030504040204" pitchFamily="34" charset="-120"/>
                <a:ea typeface="微軟正黑體" panose="020B0604030504040204" pitchFamily="34" charset="-120"/>
              </a:endParaRPr>
            </a:p>
            <a:p>
              <a:pPr algn="ctr"/>
              <a:r>
                <a:rPr lang="zh-TW" altLang="en-US" sz="1500" dirty="0" smtClean="0">
                  <a:latin typeface="微軟正黑體" panose="020B0604030504040204" pitchFamily="34" charset="-120"/>
                  <a:ea typeface="微軟正黑體" panose="020B0604030504040204" pitchFamily="34" charset="-120"/>
                </a:rPr>
                <a:t>通知廠商收退重送</a:t>
              </a:r>
              <a:endParaRPr lang="en-US" altLang="zh-TW" sz="1500" dirty="0">
                <a:latin typeface="微軟正黑體" panose="020B0604030504040204" pitchFamily="34" charset="-120"/>
                <a:ea typeface="微軟正黑體" panose="020B0604030504040204" pitchFamily="34" charset="-120"/>
              </a:endParaRPr>
            </a:p>
          </p:txBody>
        </p:sp>
        <p:sp>
          <p:nvSpPr>
            <p:cNvPr id="77" name="流程圖: 程序 76"/>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78" name="流程圖: 程序 77"/>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79" name="群組 78"/>
          <p:cNvGrpSpPr/>
          <p:nvPr/>
        </p:nvGrpSpPr>
        <p:grpSpPr>
          <a:xfrm>
            <a:off x="6799235" y="2181863"/>
            <a:ext cx="1810800" cy="1217256"/>
            <a:chOff x="15073354" y="8308668"/>
            <a:chExt cx="1810800" cy="1217256"/>
          </a:xfrm>
        </p:grpSpPr>
        <p:sp>
          <p:nvSpPr>
            <p:cNvPr id="80" name="流程圖: 程序 7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81" name="流程圖: 程序 8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採購單收貨</a:t>
              </a:r>
              <a:endParaRPr lang="en-US" altLang="zh-TW" sz="1500" dirty="0">
                <a:latin typeface="微軟正黑體" panose="020B0604030504040204" pitchFamily="34" charset="-120"/>
                <a:ea typeface="微軟正黑體" panose="020B0604030504040204" pitchFamily="34" charset="-120"/>
              </a:endParaRPr>
            </a:p>
          </p:txBody>
        </p:sp>
        <p:sp>
          <p:nvSpPr>
            <p:cNvPr id="82" name="流程圖: 程序 8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84" name="流程圖: 程序 83"/>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85" name="群組 84"/>
          <p:cNvGrpSpPr/>
          <p:nvPr/>
        </p:nvGrpSpPr>
        <p:grpSpPr>
          <a:xfrm>
            <a:off x="9754709" y="4271926"/>
            <a:ext cx="1810800" cy="1217256"/>
            <a:chOff x="15073354" y="8308668"/>
            <a:chExt cx="1810800" cy="1217256"/>
          </a:xfrm>
        </p:grpSpPr>
        <p:sp>
          <p:nvSpPr>
            <p:cNvPr id="86" name="流程圖: 程序 85"/>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87" name="流程圖: 程序 86"/>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功能確認</a:t>
              </a:r>
              <a:endParaRPr lang="en-US" altLang="zh-TW" sz="1500" dirty="0">
                <a:latin typeface="微軟正黑體" panose="020B0604030504040204" pitchFamily="34" charset="-120"/>
                <a:ea typeface="微軟正黑體" panose="020B0604030504040204" pitchFamily="34" charset="-120"/>
              </a:endParaRPr>
            </a:p>
          </p:txBody>
        </p:sp>
        <p:sp>
          <p:nvSpPr>
            <p:cNvPr id="89" name="流程圖: 程序 88"/>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90" name="流程圖: 程序 89"/>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91" name="Group 220">
            <a:extLst>
              <a:ext uri="{FF2B5EF4-FFF2-40B4-BE49-F238E27FC236}">
                <a16:creationId xmlns="" xmlns:a16="http://schemas.microsoft.com/office/drawing/2014/main" id="{13E9951B-4A3E-E489-AE09-B89089F6F4B6}"/>
              </a:ext>
            </a:extLst>
          </p:cNvPr>
          <p:cNvGrpSpPr/>
          <p:nvPr/>
        </p:nvGrpSpPr>
        <p:grpSpPr>
          <a:xfrm>
            <a:off x="11318087" y="4066679"/>
            <a:ext cx="560606" cy="415761"/>
            <a:chOff x="5906472" y="1486857"/>
            <a:chExt cx="373737" cy="272361"/>
          </a:xfrm>
        </p:grpSpPr>
        <p:sp>
          <p:nvSpPr>
            <p:cNvPr id="92" name="Oval 221">
              <a:extLst>
                <a:ext uri="{FF2B5EF4-FFF2-40B4-BE49-F238E27FC236}">
                  <a16:creationId xmlns="" xmlns:a16="http://schemas.microsoft.com/office/drawing/2014/main" id="{658E3F42-D710-EA0A-760A-56D3E70DDA8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3" name="TextBox 222">
              <a:extLst>
                <a:ext uri="{FF2B5EF4-FFF2-40B4-BE49-F238E27FC236}">
                  <a16:creationId xmlns="" xmlns:a16="http://schemas.microsoft.com/office/drawing/2014/main" id="{04B45D44-738C-9015-C58C-EA8A042CC559}"/>
                </a:ext>
              </a:extLst>
            </p:cNvPr>
            <p:cNvSpPr txBox="1"/>
            <p:nvPr/>
          </p:nvSpPr>
          <p:spPr>
            <a:xfrm>
              <a:off x="5924609" y="1507079"/>
              <a:ext cx="355600" cy="211702"/>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94" name="Group 220">
            <a:extLst>
              <a:ext uri="{FF2B5EF4-FFF2-40B4-BE49-F238E27FC236}">
                <a16:creationId xmlns="" xmlns:a16="http://schemas.microsoft.com/office/drawing/2014/main" id="{A1983CA1-988B-B586-6B79-EED6E53CD361}"/>
              </a:ext>
            </a:extLst>
          </p:cNvPr>
          <p:cNvGrpSpPr/>
          <p:nvPr/>
        </p:nvGrpSpPr>
        <p:grpSpPr>
          <a:xfrm>
            <a:off x="8420280" y="1991579"/>
            <a:ext cx="572532" cy="408542"/>
            <a:chOff x="5906472" y="1486857"/>
            <a:chExt cx="381688" cy="272361"/>
          </a:xfrm>
        </p:grpSpPr>
        <p:sp>
          <p:nvSpPr>
            <p:cNvPr id="95" name="Oval 221">
              <a:extLst>
                <a:ext uri="{FF2B5EF4-FFF2-40B4-BE49-F238E27FC236}">
                  <a16:creationId xmlns="" xmlns:a16="http://schemas.microsoft.com/office/drawing/2014/main" id="{C9A8929E-42CE-DCDD-06D7-93FEB4DAB3B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6" name="TextBox 222">
              <a:extLst>
                <a:ext uri="{FF2B5EF4-FFF2-40B4-BE49-F238E27FC236}">
                  <a16:creationId xmlns="" xmlns:a16="http://schemas.microsoft.com/office/drawing/2014/main" id="{B52B9FCC-FC80-B8A2-DA40-E3EA863599DF}"/>
                </a:ext>
              </a:extLst>
            </p:cNvPr>
            <p:cNvSpPr txBox="1"/>
            <p:nvPr/>
          </p:nvSpPr>
          <p:spPr>
            <a:xfrm>
              <a:off x="5932560" y="1507079"/>
              <a:ext cx="355600" cy="215443"/>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97" name="Group 220">
            <a:extLst>
              <a:ext uri="{FF2B5EF4-FFF2-40B4-BE49-F238E27FC236}">
                <a16:creationId xmlns="" xmlns:a16="http://schemas.microsoft.com/office/drawing/2014/main" id="{ADD1546F-75A2-0E22-F66E-32DFDB0DE746}"/>
              </a:ext>
            </a:extLst>
          </p:cNvPr>
          <p:cNvGrpSpPr/>
          <p:nvPr/>
        </p:nvGrpSpPr>
        <p:grpSpPr>
          <a:xfrm>
            <a:off x="8517520" y="7714467"/>
            <a:ext cx="559344" cy="415761"/>
            <a:chOff x="5906472" y="1486857"/>
            <a:chExt cx="372896" cy="272361"/>
          </a:xfrm>
        </p:grpSpPr>
        <p:sp>
          <p:nvSpPr>
            <p:cNvPr id="98" name="Oval 221">
              <a:extLst>
                <a:ext uri="{FF2B5EF4-FFF2-40B4-BE49-F238E27FC236}">
                  <a16:creationId xmlns="" xmlns:a16="http://schemas.microsoft.com/office/drawing/2014/main"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9" name="TextBox 222">
              <a:extLst>
                <a:ext uri="{FF2B5EF4-FFF2-40B4-BE49-F238E27FC236}">
                  <a16:creationId xmlns="" xmlns:a16="http://schemas.microsoft.com/office/drawing/2014/main" id="{454E1CB9-6ED4-AD5A-39EC-6D1B324BA26E}"/>
                </a:ext>
              </a:extLst>
            </p:cNvPr>
            <p:cNvSpPr txBox="1"/>
            <p:nvPr/>
          </p:nvSpPr>
          <p:spPr>
            <a:xfrm>
              <a:off x="5923768" y="1507079"/>
              <a:ext cx="355600" cy="211702"/>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102" name="群組 101"/>
          <p:cNvGrpSpPr/>
          <p:nvPr/>
        </p:nvGrpSpPr>
        <p:grpSpPr>
          <a:xfrm>
            <a:off x="2722523" y="2154675"/>
            <a:ext cx="1821087" cy="1217256"/>
            <a:chOff x="15073354" y="8308668"/>
            <a:chExt cx="1821087" cy="1217256"/>
          </a:xfrm>
        </p:grpSpPr>
        <p:sp>
          <p:nvSpPr>
            <p:cNvPr id="103" name="流程圖: 程序 102"/>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04" name="流程圖: 程序 10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p:txBody>
        </p:sp>
        <p:sp>
          <p:nvSpPr>
            <p:cNvPr id="105" name="流程圖: 程序 10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US" sz="1500" dirty="0" smtClean="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p:txBody>
        </p:sp>
        <p:sp>
          <p:nvSpPr>
            <p:cNvPr id="106" name="流程圖: 程序 105"/>
            <p:cNvSpPr/>
            <p:nvPr/>
          </p:nvSpPr>
          <p:spPr>
            <a:xfrm>
              <a:off x="16012441"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自動</a:t>
              </a:r>
              <a:endParaRPr lang="zh-TW" altLang="en-US" sz="1500" spc="-1" dirty="0">
                <a:solidFill>
                  <a:schemeClr val="dk1"/>
                </a:solidFill>
                <a:latin typeface="微軟正黑體"/>
                <a:ea typeface="微軟正黑體"/>
              </a:endParaRPr>
            </a:p>
          </p:txBody>
        </p:sp>
      </p:grpSp>
      <p:grpSp>
        <p:nvGrpSpPr>
          <p:cNvPr id="31" name="Group 220">
            <a:extLst>
              <a:ext uri="{FF2B5EF4-FFF2-40B4-BE49-F238E27FC236}">
                <a16:creationId xmlns="" xmlns:a16="http://schemas.microsoft.com/office/drawing/2014/main" id="{A9B401BC-DE49-5FC0-6565-D216316A23DA}"/>
              </a:ext>
            </a:extLst>
          </p:cNvPr>
          <p:cNvGrpSpPr/>
          <p:nvPr/>
        </p:nvGrpSpPr>
        <p:grpSpPr>
          <a:xfrm>
            <a:off x="4338266" y="1894034"/>
            <a:ext cx="559344" cy="408542"/>
            <a:chOff x="5906472" y="1486857"/>
            <a:chExt cx="372896" cy="272361"/>
          </a:xfrm>
        </p:grpSpPr>
        <p:sp>
          <p:nvSpPr>
            <p:cNvPr id="32"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 xmlns:a16="http://schemas.microsoft.com/office/drawing/2014/main" id="{38213EC1-2A6F-CC6F-9F41-D87C1E84A2C8}"/>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108" name="肘形接點 68">
            <a:extLst>
              <a:ext uri="{FF2B5EF4-FFF2-40B4-BE49-F238E27FC236}">
                <a16:creationId xmlns="" xmlns:a16="http://schemas.microsoft.com/office/drawing/2014/main" id="{97B9A81B-FB6F-E725-53DC-5170EDD5F5EC}"/>
              </a:ext>
            </a:extLst>
          </p:cNvPr>
          <p:cNvCxnSpPr>
            <a:cxnSpLocks/>
            <a:stCxn id="5" idx="3"/>
            <a:endCxn id="104" idx="1"/>
          </p:cNvCxnSpPr>
          <p:nvPr/>
        </p:nvCxnSpPr>
        <p:spPr>
          <a:xfrm flipV="1">
            <a:off x="1665487" y="2761898"/>
            <a:ext cx="1057036" cy="58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40839744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 xmlns:a16="http://schemas.microsoft.com/office/drawing/2014/main" id="{83E6F622-2FBE-CC67-50FE-4ABD7D8B9696}"/>
              </a:ext>
            </a:extLst>
          </p:cNvPr>
          <p:cNvSpPr txBox="1"/>
          <p:nvPr/>
        </p:nvSpPr>
        <p:spPr>
          <a:xfrm>
            <a:off x="2444079" y="820877"/>
            <a:ext cx="9463535"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MM-PU-0090-03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機器設備</a:t>
            </a:r>
            <a:r>
              <a:rPr lang="en-US" altLang="zh-TW" sz="2400" b="1" dirty="0" smtClean="0">
                <a:latin typeface="微軟正黑體" panose="020B0604030504040204" pitchFamily="34" charset="-120"/>
                <a:ea typeface="微軟正黑體" panose="020B0604030504040204" pitchFamily="34" charset="-120"/>
              </a:rPr>
              <a:t>/</a:t>
            </a:r>
            <a:r>
              <a:rPr lang="zh-TW" altLang="en-US" sz="2400" b="1" dirty="0" smtClean="0">
                <a:latin typeface="微軟正黑體" panose="020B0604030504040204" pitchFamily="34" charset="-120"/>
                <a:ea typeface="微軟正黑體" panose="020B0604030504040204" pitchFamily="34" charset="-120"/>
              </a:rPr>
              <a:t>楦頭</a:t>
            </a:r>
            <a:r>
              <a:rPr lang="en-US" altLang="zh-TW" sz="2400" b="1" dirty="0" smtClean="0">
                <a:latin typeface="微軟正黑體" panose="020B0604030504040204" pitchFamily="34" charset="-120"/>
                <a:ea typeface="微軟正黑體" panose="020B0604030504040204" pitchFamily="34" charset="-120"/>
              </a:rPr>
              <a:t>/</a:t>
            </a:r>
            <a:r>
              <a:rPr lang="zh-TW" altLang="en-US" sz="2400" b="1" dirty="0" smtClean="0">
                <a:latin typeface="微軟正黑體" panose="020B0604030504040204" pitchFamily="34" charset="-120"/>
                <a:ea typeface="微軟正黑體" panose="020B0604030504040204" pitchFamily="34" charset="-120"/>
              </a:rPr>
              <a:t>模具以外</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444079" y="1363612"/>
            <a:ext cx="201937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需求單位</a:t>
            </a:r>
          </a:p>
        </p:txBody>
      </p:sp>
      <p:graphicFrame>
        <p:nvGraphicFramePr>
          <p:cNvPr id="30" name="表格 30">
            <a:extLst>
              <a:ext uri="{FF2B5EF4-FFF2-40B4-BE49-F238E27FC236}">
                <a16:creationId xmlns="" xmlns:a16="http://schemas.microsoft.com/office/drawing/2014/main" id="{18197701-0564-3E2B-648E-413A6C8BBE0A}"/>
              </a:ext>
            </a:extLst>
          </p:cNvPr>
          <p:cNvGraphicFramePr>
            <a:graphicFrameLocks noGrp="1"/>
          </p:cNvGraphicFramePr>
          <p:nvPr/>
        </p:nvGraphicFramePr>
        <p:xfrm>
          <a:off x="2555403" y="2006500"/>
          <a:ext cx="1813110" cy="1397740"/>
        </p:xfrm>
        <a:graphic>
          <a:graphicData uri="http://schemas.openxmlformats.org/drawingml/2006/table">
            <a:tbl>
              <a:tblPr>
                <a:tableStyleId>{5940675A-B579-460E-94D1-54222C63F5DA}</a:tableStyleId>
              </a:tblPr>
              <a:tblGrid>
                <a:gridCol w="906555">
                  <a:extLst>
                    <a:ext uri="{9D8B030D-6E8A-4147-A177-3AD203B41FA5}">
                      <a16:colId xmlns="" xmlns:a16="http://schemas.microsoft.com/office/drawing/2014/main" val="3433979995"/>
                    </a:ext>
                  </a:extLst>
                </a:gridCol>
                <a:gridCol w="906555">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ME51N</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748146">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建立資產請購申購單</a:t>
                      </a:r>
                      <a:r>
                        <a:rPr kumimoji="0" lang="en-US" altLang="zh-TW" sz="1400" dirty="0">
                          <a:latin typeface="微軟正黑體" panose="020B0604030504040204" pitchFamily="34" charset="-120"/>
                          <a:ea typeface="微軟正黑體" panose="020B0604030504040204" pitchFamily="34" charset="-120"/>
                        </a:rPr>
                        <a:t>;</a:t>
                      </a:r>
                      <a:r>
                        <a:rPr kumimoji="0" lang="zh-TW" altLang="en-US" sz="1400" dirty="0">
                          <a:latin typeface="微軟正黑體" panose="020B0604030504040204" pitchFamily="34" charset="-120"/>
                          <a:ea typeface="微軟正黑體" panose="020B0604030504040204" pitchFamily="34" charset="-120"/>
                        </a:rPr>
                        <a:t>建立資產主檔</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31" name="Group 220">
            <a:extLst>
              <a:ext uri="{FF2B5EF4-FFF2-40B4-BE49-F238E27FC236}">
                <a16:creationId xmlns="" xmlns:a16="http://schemas.microsoft.com/office/drawing/2014/main" id="{A9B401BC-DE49-5FC0-6565-D216316A23DA}"/>
              </a:ext>
            </a:extLst>
          </p:cNvPr>
          <p:cNvGrpSpPr/>
          <p:nvPr/>
        </p:nvGrpSpPr>
        <p:grpSpPr>
          <a:xfrm>
            <a:off x="4141103" y="1793170"/>
            <a:ext cx="545669" cy="408542"/>
            <a:chOff x="5906472" y="1486857"/>
            <a:chExt cx="363779" cy="272361"/>
          </a:xfrm>
        </p:grpSpPr>
        <p:sp>
          <p:nvSpPr>
            <p:cNvPr id="32"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 xmlns:a16="http://schemas.microsoft.com/office/drawing/2014/main" id="{38213EC1-2A6F-CC6F-9F41-D87C1E84A2C8}"/>
                </a:ext>
              </a:extLst>
            </p:cNvPr>
            <p:cNvSpPr txBox="1"/>
            <p:nvPr/>
          </p:nvSpPr>
          <p:spPr>
            <a:xfrm>
              <a:off x="5914651" y="1498612"/>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15" name="表格 30">
            <a:extLst>
              <a:ext uri="{FF2B5EF4-FFF2-40B4-BE49-F238E27FC236}">
                <a16:creationId xmlns="" xmlns:a16="http://schemas.microsoft.com/office/drawing/2014/main" id="{DD4D6B14-D3B2-B7AE-AA9C-20D4B4848A80}"/>
              </a:ext>
            </a:extLst>
          </p:cNvPr>
          <p:cNvGraphicFramePr>
            <a:graphicFrameLocks noGrp="1"/>
          </p:cNvGraphicFramePr>
          <p:nvPr/>
        </p:nvGraphicFramePr>
        <p:xfrm>
          <a:off x="4643805" y="4663241"/>
          <a:ext cx="1800526" cy="1073844"/>
        </p:xfrm>
        <a:graphic>
          <a:graphicData uri="http://schemas.openxmlformats.org/drawingml/2006/table">
            <a:tbl>
              <a:tblPr>
                <a:tableStyleId>{5940675A-B579-460E-94D1-54222C63F5DA}</a:tableStyleId>
              </a:tblPr>
              <a:tblGrid>
                <a:gridCol w="900263">
                  <a:extLst>
                    <a:ext uri="{9D8B030D-6E8A-4147-A177-3AD203B41FA5}">
                      <a16:colId xmlns="" xmlns:a16="http://schemas.microsoft.com/office/drawing/2014/main" val="3433979995"/>
                    </a:ext>
                  </a:extLst>
                </a:gridCol>
                <a:gridCol w="900263">
                  <a:extLst>
                    <a:ext uri="{9D8B030D-6E8A-4147-A177-3AD203B41FA5}">
                      <a16:colId xmlns="" xmlns:a16="http://schemas.microsoft.com/office/drawing/2014/main"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71484">
                <a:tc gridSpan="2">
                  <a:txBody>
                    <a:bodyPr/>
                    <a:lstStyle/>
                    <a:p>
                      <a:pPr algn="ctr"/>
                      <a:r>
                        <a:rPr lang="zh-TW" altLang="en-US" sz="1500" dirty="0">
                          <a:latin typeface="微軟正黑體" panose="020B0604030504040204" pitchFamily="34" charset="-120"/>
                          <a:ea typeface="微軟正黑體" panose="020B0604030504040204" pitchFamily="34" charset="-120"/>
                        </a:rPr>
                        <a:t>簽核請購單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34" name="文字方塊 17">
            <a:extLst>
              <a:ext uri="{FF2B5EF4-FFF2-40B4-BE49-F238E27FC236}">
                <a16:creationId xmlns="" xmlns:a16="http://schemas.microsoft.com/office/drawing/2014/main" id="{DE52170D-3194-E094-D743-3842F95326FE}"/>
              </a:ext>
            </a:extLst>
          </p:cNvPr>
          <p:cNvSpPr txBox="1"/>
          <p:nvPr/>
        </p:nvSpPr>
        <p:spPr>
          <a:xfrm>
            <a:off x="7745862" y="1363756"/>
            <a:ext cx="218095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廠區採購</a:t>
            </a:r>
          </a:p>
        </p:txBody>
      </p:sp>
      <p:cxnSp>
        <p:nvCxnSpPr>
          <p:cNvPr id="3" name="肘形接點 68">
            <a:extLst>
              <a:ext uri="{FF2B5EF4-FFF2-40B4-BE49-F238E27FC236}">
                <a16:creationId xmlns="" xmlns:a16="http://schemas.microsoft.com/office/drawing/2014/main" id="{5D236408-3F02-99D0-9ECC-DC4D4E746909}"/>
              </a:ext>
            </a:extLst>
          </p:cNvPr>
          <p:cNvCxnSpPr>
            <a:cxnSpLocks/>
            <a:stCxn id="30" idx="2"/>
            <a:endCxn id="24" idx="0"/>
          </p:cNvCxnSpPr>
          <p:nvPr/>
        </p:nvCxnSpPr>
        <p:spPr>
          <a:xfrm rot="16200000" flipH="1">
            <a:off x="3264974" y="3601224"/>
            <a:ext cx="396711" cy="274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4" name="表格 30">
            <a:extLst>
              <a:ext uri="{FF2B5EF4-FFF2-40B4-BE49-F238E27FC236}">
                <a16:creationId xmlns="" xmlns:a16="http://schemas.microsoft.com/office/drawing/2014/main" id="{DB7A0832-7D21-1719-AE8D-90899BF1A64F}"/>
              </a:ext>
            </a:extLst>
          </p:cNvPr>
          <p:cNvGraphicFramePr>
            <a:graphicFrameLocks noGrp="1"/>
          </p:cNvGraphicFramePr>
          <p:nvPr/>
        </p:nvGraphicFramePr>
        <p:xfrm>
          <a:off x="2560887" y="3800951"/>
          <a:ext cx="1807626" cy="1184439"/>
        </p:xfrm>
        <a:graphic>
          <a:graphicData uri="http://schemas.openxmlformats.org/drawingml/2006/table">
            <a:tbl>
              <a:tblPr>
                <a:tableStyleId>{5940675A-B579-460E-94D1-54222C63F5DA}</a:tableStyleId>
              </a:tblPr>
              <a:tblGrid>
                <a:gridCol w="903813">
                  <a:extLst>
                    <a:ext uri="{9D8B030D-6E8A-4147-A177-3AD203B41FA5}">
                      <a16:colId xmlns="" xmlns:a16="http://schemas.microsoft.com/office/drawing/2014/main" val="3433979995"/>
                    </a:ext>
                  </a:extLst>
                </a:gridCol>
                <a:gridCol w="903813">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a:t>
                      </a:r>
                      <a:r>
                        <a:rPr lang="en-US" altLang="zh-TW" sz="1500" b="1" dirty="0">
                          <a:solidFill>
                            <a:schemeClr val="tx1"/>
                          </a:solidFill>
                          <a:latin typeface="微軟正黑體" panose="020B0604030504040204" pitchFamily="34" charset="-120"/>
                          <a:ea typeface="微軟正黑體" panose="020B0604030504040204" pitchFamily="34" charset="-120"/>
                        </a:rPr>
                        <a:t>M017</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7" name="肘形接點 68">
            <a:extLst>
              <a:ext uri="{FF2B5EF4-FFF2-40B4-BE49-F238E27FC236}">
                <a16:creationId xmlns="" xmlns:a16="http://schemas.microsoft.com/office/drawing/2014/main" id="{4D315B82-E1CA-313C-D4BB-3BBD9FD7F973}"/>
              </a:ext>
            </a:extLst>
          </p:cNvPr>
          <p:cNvCxnSpPr>
            <a:cxnSpLocks/>
            <a:stCxn id="24" idx="2"/>
            <a:endCxn id="15" idx="1"/>
          </p:cNvCxnSpPr>
          <p:nvPr/>
        </p:nvCxnSpPr>
        <p:spPr>
          <a:xfrm rot="16200000" flipH="1">
            <a:off x="3946866" y="4503223"/>
            <a:ext cx="214773" cy="117910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 xmlns:a16="http://schemas.microsoft.com/office/drawing/2014/main" id="{8037CA89-DBE3-1441-8E4C-7EA04E993D61}"/>
              </a:ext>
            </a:extLst>
          </p:cNvPr>
          <p:cNvSpPr/>
          <p:nvPr/>
        </p:nvSpPr>
        <p:spPr bwMode="auto">
          <a:xfrm>
            <a:off x="4630528" y="6106205"/>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51" name="肘形接點 68">
            <a:extLst>
              <a:ext uri="{FF2B5EF4-FFF2-40B4-BE49-F238E27FC236}">
                <a16:creationId xmlns="" xmlns:a16="http://schemas.microsoft.com/office/drawing/2014/main" id="{2AA47122-2BF1-7633-656B-9B6710026CD9}"/>
              </a:ext>
            </a:extLst>
          </p:cNvPr>
          <p:cNvCxnSpPr>
            <a:cxnSpLocks/>
            <a:stCxn id="66" idx="3"/>
            <a:endCxn id="73" idx="1"/>
          </p:cNvCxnSpPr>
          <p:nvPr/>
        </p:nvCxnSpPr>
        <p:spPr>
          <a:xfrm flipV="1">
            <a:off x="7641514" y="2502337"/>
            <a:ext cx="318512" cy="499639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10" name="文字方塊 17">
            <a:extLst>
              <a:ext uri="{FF2B5EF4-FFF2-40B4-BE49-F238E27FC236}">
                <a16:creationId xmlns="" xmlns:a16="http://schemas.microsoft.com/office/drawing/2014/main" id="{306A0461-FB0A-6B8E-26F4-F4121B822258}"/>
              </a:ext>
            </a:extLst>
          </p:cNvPr>
          <p:cNvSpPr txBox="1"/>
          <p:nvPr/>
        </p:nvSpPr>
        <p:spPr>
          <a:xfrm>
            <a:off x="4463456" y="1364108"/>
            <a:ext cx="3247983"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廠區主管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處主管</a:t>
            </a:r>
          </a:p>
        </p:txBody>
      </p:sp>
      <p:sp>
        <p:nvSpPr>
          <p:cNvPr id="7" name="流程圖: 結束點 8">
            <a:extLst>
              <a:ext uri="{FF2B5EF4-FFF2-40B4-BE49-F238E27FC236}">
                <a16:creationId xmlns="" xmlns:a16="http://schemas.microsoft.com/office/drawing/2014/main" id="{A0DBA237-CDB5-528B-0345-5BE2CBAC9775}"/>
              </a:ext>
            </a:extLst>
          </p:cNvPr>
          <p:cNvSpPr/>
          <p:nvPr/>
        </p:nvSpPr>
        <p:spPr bwMode="auto">
          <a:xfrm>
            <a:off x="303454" y="232053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193" name="流程圖: 換頁接點 52">
            <a:extLst>
              <a:ext uri="{FF2B5EF4-FFF2-40B4-BE49-F238E27FC236}">
                <a16:creationId xmlns="" xmlns:a16="http://schemas.microsoft.com/office/drawing/2014/main" id="{81294BE7-C300-D1CD-4376-34B54DFCC2AF}"/>
              </a:ext>
            </a:extLst>
          </p:cNvPr>
          <p:cNvSpPr/>
          <p:nvPr/>
        </p:nvSpPr>
        <p:spPr bwMode="auto">
          <a:xfrm>
            <a:off x="12903028" y="6524358"/>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P8</a:t>
            </a:r>
            <a:endParaRPr lang="zh-TW" altLang="en-US" dirty="0">
              <a:latin typeface="微軟正黑體" panose="020B0604030504040204" pitchFamily="34" charset="-120"/>
              <a:ea typeface="微軟正黑體" panose="020B0604030504040204" pitchFamily="34" charset="-120"/>
            </a:endParaRPr>
          </a:p>
        </p:txBody>
      </p:sp>
      <p:sp>
        <p:nvSpPr>
          <p:cNvPr id="195" name="文字方塊 194">
            <a:extLst>
              <a:ext uri="{FF2B5EF4-FFF2-40B4-BE49-F238E27FC236}">
                <a16:creationId xmlns="" xmlns:a16="http://schemas.microsoft.com/office/drawing/2014/main" id="{6FB1FA4C-3B8A-FBB5-B280-85555F843464}"/>
              </a:ext>
            </a:extLst>
          </p:cNvPr>
          <p:cNvSpPr txBox="1"/>
          <p:nvPr/>
        </p:nvSpPr>
        <p:spPr>
          <a:xfrm>
            <a:off x="5223691" y="685257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6" name="文字方塊 195">
            <a:extLst>
              <a:ext uri="{FF2B5EF4-FFF2-40B4-BE49-F238E27FC236}">
                <a16:creationId xmlns="" xmlns:a16="http://schemas.microsoft.com/office/drawing/2014/main" id="{29D95A87-8E81-E79E-403B-C860DCAF45F5}"/>
              </a:ext>
            </a:extLst>
          </p:cNvPr>
          <p:cNvSpPr txBox="1"/>
          <p:nvPr/>
        </p:nvSpPr>
        <p:spPr>
          <a:xfrm>
            <a:off x="11977025" y="642798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 name="TextBox 53">
            <a:extLst>
              <a:ext uri="{FF2B5EF4-FFF2-40B4-BE49-F238E27FC236}">
                <a16:creationId xmlns="" xmlns:a16="http://schemas.microsoft.com/office/drawing/2014/main" id="{B72E3EFF-4B3C-A9C8-E3E4-F926D0F3D738}"/>
              </a:ext>
            </a:extLst>
          </p:cNvPr>
          <p:cNvSpPr txBox="1"/>
          <p:nvPr/>
        </p:nvSpPr>
        <p:spPr>
          <a:xfrm>
            <a:off x="14380627" y="2064631"/>
            <a:ext cx="3594197" cy="8679299"/>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建立固定資產請購單，選擇正確的物料群組，建立資產主檔時，讓系統自動引導帶出正確的資產類型。物料群組如後一頁補充說明。</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用程式</a:t>
            </a:r>
            <a:r>
              <a:rPr lang="en-US" altLang="zh-TW" dirty="0">
                <a:latin typeface="微軟正黑體" panose="020B0604030504040204" pitchFamily="34" charset="-120"/>
                <a:ea typeface="微軟正黑體" panose="020B0604030504040204" pitchFamily="34" charset="-120"/>
              </a:rPr>
              <a:t>ZMM017</a:t>
            </a:r>
            <a:r>
              <a:rPr lang="zh-TW" altLang="en-US" dirty="0">
                <a:latin typeface="微軟正黑體" panose="020B0604030504040204" pitchFamily="34" charset="-120"/>
                <a:ea typeface="微軟正黑體" panose="020B0604030504040204" pitchFamily="34" charset="-120"/>
              </a:rPr>
              <a:t>將請購單上傳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簽核首關為資產組人員，檢核資產類別是否正確，再依序由主管在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上簽核請購</a:t>
            </a:r>
            <a:r>
              <a:rPr lang="zh-TW" altLang="en-US" dirty="0" smtClean="0">
                <a:latin typeface="微軟正黑體" panose="020B0604030504040204" pitchFamily="34" charset="-120"/>
                <a:ea typeface="微軟正黑體" panose="020B0604030504040204" pitchFamily="34" charset="-120"/>
              </a:rPr>
              <a:t>單</a:t>
            </a:r>
            <a:endParaRPr lang="en-US" altLang="zh-TW" dirty="0" smtClean="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通過簽核的採購單透過程式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將採購單標記為刪除，一並相關請購單。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廠商採購參照請購單建立採購單，進行詢價之後，手動填入單價</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透過</a:t>
            </a:r>
            <a:r>
              <a:rPr lang="en-US" altLang="zh-TW" dirty="0">
                <a:latin typeface="微軟正黑體" panose="020B0604030504040204" pitchFamily="34" charset="-120"/>
                <a:ea typeface="微軟正黑體" panose="020B0604030504040204" pitchFamily="34" charset="-120"/>
              </a:rPr>
              <a:t>ZMM019</a:t>
            </a:r>
            <a:r>
              <a:rPr lang="zh-TW" altLang="en-US" dirty="0">
                <a:latin typeface="微軟正黑體" panose="020B0604030504040204" pitchFamily="34" charset="-120"/>
                <a:ea typeface="微軟正黑體" panose="020B0604030504040204" pitchFamily="34" charset="-120"/>
              </a:rPr>
              <a:t>發起</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採購簽核流程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上進行簽</a:t>
            </a:r>
            <a:r>
              <a:rPr lang="zh-TW" altLang="en-US" dirty="0" smtClean="0">
                <a:latin typeface="微軟正黑體" panose="020B0604030504040204" pitchFamily="34" charset="-120"/>
                <a:ea typeface="微軟正黑體" panose="020B0604030504040204" pitchFamily="34" charset="-120"/>
              </a:rPr>
              <a:t>核</a:t>
            </a:r>
            <a:endParaRPr lang="en-US" altLang="zh-TW" dirty="0" smtClean="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簽核未通過，透過程式</a:t>
            </a:r>
            <a:r>
              <a:rPr lang="en-US" altLang="zh-TW" dirty="0">
                <a:latin typeface="微軟正黑體" panose="020B0604030504040204" pitchFamily="34" charset="-120"/>
                <a:ea typeface="微軟正黑體" panose="020B0604030504040204" pitchFamily="34" charset="-120"/>
              </a:rPr>
              <a:t>ZMM006</a:t>
            </a:r>
            <a:r>
              <a:rPr lang="zh-TW" altLang="en-US" dirty="0">
                <a:latin typeface="微軟正黑體" panose="020B0604030504040204" pitchFamily="34" charset="-120"/>
                <a:ea typeface="微軟正黑體" panose="020B0604030504040204" pitchFamily="34" charset="-120"/>
              </a:rPr>
              <a:t>將採購單標記為刪除，一並相關請購單。</a:t>
            </a:r>
            <a:endParaRPr lang="en-US" altLang="zh-TW" dirty="0">
              <a:latin typeface="微軟正黑體" panose="020B0604030504040204" pitchFamily="34" charset="-120"/>
              <a:ea typeface="微軟正黑體" panose="020B0604030504040204" pitchFamily="34" charset="-120"/>
            </a:endParaRPr>
          </a:p>
          <a:p>
            <a:endParaRPr lang="en-US" altLang="zh-TW" dirty="0"/>
          </a:p>
          <a:p>
            <a:pPr marL="342900" indent="-342900">
              <a:buFont typeface="+mj-lt"/>
              <a:buAutoNum type="arabicPeriod"/>
            </a:pPr>
            <a:endParaRPr lang="en-US" altLang="zh-TW" dirty="0"/>
          </a:p>
          <a:p>
            <a:endParaRPr lang="en-US" altLang="zh-TW" dirty="0"/>
          </a:p>
        </p:txBody>
      </p:sp>
      <p:grpSp>
        <p:nvGrpSpPr>
          <p:cNvPr id="5" name="Group 220">
            <a:extLst>
              <a:ext uri="{FF2B5EF4-FFF2-40B4-BE49-F238E27FC236}">
                <a16:creationId xmlns="" xmlns:a16="http://schemas.microsoft.com/office/drawing/2014/main" id="{33DE9BA6-990E-DE54-C6C1-2FDFC3EF39E7}"/>
              </a:ext>
            </a:extLst>
          </p:cNvPr>
          <p:cNvGrpSpPr/>
          <p:nvPr/>
        </p:nvGrpSpPr>
        <p:grpSpPr>
          <a:xfrm>
            <a:off x="6226658" y="4435052"/>
            <a:ext cx="558369" cy="415761"/>
            <a:chOff x="5906472" y="1486857"/>
            <a:chExt cx="372246" cy="272361"/>
          </a:xfrm>
        </p:grpSpPr>
        <p:sp>
          <p:nvSpPr>
            <p:cNvPr id="9" name="Oval 221">
              <a:extLst>
                <a:ext uri="{FF2B5EF4-FFF2-40B4-BE49-F238E27FC236}">
                  <a16:creationId xmlns="" xmlns:a16="http://schemas.microsoft.com/office/drawing/2014/main"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0" name="TextBox 222">
              <a:extLst>
                <a:ext uri="{FF2B5EF4-FFF2-40B4-BE49-F238E27FC236}">
                  <a16:creationId xmlns="" xmlns:a16="http://schemas.microsoft.com/office/drawing/2014/main" id="{C4D33436-02F5-686F-699E-8597EF0E4654}"/>
                </a:ext>
              </a:extLst>
            </p:cNvPr>
            <p:cNvSpPr txBox="1"/>
            <p:nvPr/>
          </p:nvSpPr>
          <p:spPr>
            <a:xfrm>
              <a:off x="592311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263" name="流程圖: 結束點 8">
            <a:extLst>
              <a:ext uri="{FF2B5EF4-FFF2-40B4-BE49-F238E27FC236}">
                <a16:creationId xmlns="" xmlns:a16="http://schemas.microsoft.com/office/drawing/2014/main" id="{A8F2E797-9B58-4468-C0C3-57206032ACC8}"/>
              </a:ext>
            </a:extLst>
          </p:cNvPr>
          <p:cNvSpPr/>
          <p:nvPr/>
        </p:nvSpPr>
        <p:spPr bwMode="auto">
          <a:xfrm>
            <a:off x="12142197" y="9088157"/>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50" name="Straight Connector 284">
            <a:extLst>
              <a:ext uri="{FF2B5EF4-FFF2-40B4-BE49-F238E27FC236}">
                <a16:creationId xmlns="" xmlns:a16="http://schemas.microsoft.com/office/drawing/2014/main" id="{CCB3D035-826A-6F8E-1D15-1A3E96F62413}"/>
              </a:ext>
            </a:extLst>
          </p:cNvPr>
          <p:cNvCxnSpPr>
            <a:cxnSpLocks/>
          </p:cNvCxnSpPr>
          <p:nvPr/>
        </p:nvCxnSpPr>
        <p:spPr>
          <a:xfrm>
            <a:off x="4463457" y="1331309"/>
            <a:ext cx="0" cy="88586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284">
            <a:extLst>
              <a:ext uri="{FF2B5EF4-FFF2-40B4-BE49-F238E27FC236}">
                <a16:creationId xmlns="" xmlns:a16="http://schemas.microsoft.com/office/drawing/2014/main" id="{CCB3D035-826A-6F8E-1D15-1A3E96F62413}"/>
              </a:ext>
            </a:extLst>
          </p:cNvPr>
          <p:cNvCxnSpPr>
            <a:cxnSpLocks/>
          </p:cNvCxnSpPr>
          <p:nvPr/>
        </p:nvCxnSpPr>
        <p:spPr>
          <a:xfrm>
            <a:off x="7745864" y="1344949"/>
            <a:ext cx="0" cy="88449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肘形接點 68">
            <a:extLst>
              <a:ext uri="{FF2B5EF4-FFF2-40B4-BE49-F238E27FC236}">
                <a16:creationId xmlns="" xmlns:a16="http://schemas.microsoft.com/office/drawing/2014/main" id="{E6DDA5A3-E6DF-5F58-0F3D-691C20C6801E}"/>
              </a:ext>
            </a:extLst>
          </p:cNvPr>
          <p:cNvCxnSpPr>
            <a:cxnSpLocks/>
            <a:stCxn id="35" idx="3"/>
            <a:endCxn id="66" idx="0"/>
          </p:cNvCxnSpPr>
          <p:nvPr/>
        </p:nvCxnSpPr>
        <p:spPr>
          <a:xfrm>
            <a:off x="6472477" y="6462305"/>
            <a:ext cx="270121" cy="53152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5" name="肘形接點 68">
            <a:extLst>
              <a:ext uri="{FF2B5EF4-FFF2-40B4-BE49-F238E27FC236}">
                <a16:creationId xmlns="" xmlns:a16="http://schemas.microsoft.com/office/drawing/2014/main" id="{26EC50E8-1593-4BA5-8D8B-B98821564C46}"/>
              </a:ext>
            </a:extLst>
          </p:cNvPr>
          <p:cNvCxnSpPr>
            <a:cxnSpLocks/>
            <a:stCxn id="68" idx="3"/>
            <a:endCxn id="263" idx="1"/>
          </p:cNvCxnSpPr>
          <p:nvPr/>
        </p:nvCxnSpPr>
        <p:spPr>
          <a:xfrm>
            <a:off x="6451161" y="9037778"/>
            <a:ext cx="5691036" cy="44160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4" name="Google Shape;198;p3"/>
          <p:cNvSpPr txBox="1">
            <a:spLocks/>
          </p:cNvSpPr>
          <p:nvPr/>
        </p:nvSpPr>
        <p:spPr>
          <a:xfrm>
            <a:off x="15253252" y="500460"/>
            <a:ext cx="452328" cy="201905"/>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7</a:t>
            </a:r>
          </a:p>
        </p:txBody>
      </p:sp>
      <p:grpSp>
        <p:nvGrpSpPr>
          <p:cNvPr id="36" name="Group 220">
            <a:extLst>
              <a:ext uri="{FF2B5EF4-FFF2-40B4-BE49-F238E27FC236}">
                <a16:creationId xmlns="" xmlns:a16="http://schemas.microsoft.com/office/drawing/2014/main" id="{49B965EA-5488-20F5-FB4A-DE694754D613}"/>
              </a:ext>
            </a:extLst>
          </p:cNvPr>
          <p:cNvGrpSpPr/>
          <p:nvPr/>
        </p:nvGrpSpPr>
        <p:grpSpPr>
          <a:xfrm>
            <a:off x="4113600" y="3576560"/>
            <a:ext cx="556821" cy="408542"/>
            <a:chOff x="5906472" y="1486857"/>
            <a:chExt cx="371214" cy="272361"/>
          </a:xfrm>
        </p:grpSpPr>
        <p:sp>
          <p:nvSpPr>
            <p:cNvPr id="37" name="Oval 221">
              <a:extLst>
                <a:ext uri="{FF2B5EF4-FFF2-40B4-BE49-F238E27FC236}">
                  <a16:creationId xmlns="" xmlns:a16="http://schemas.microsoft.com/office/drawing/2014/main" id="{D7BB0CC3-1FCC-825A-8223-1DF8E8AA32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8" name="TextBox 222">
              <a:extLst>
                <a:ext uri="{FF2B5EF4-FFF2-40B4-BE49-F238E27FC236}">
                  <a16:creationId xmlns="" xmlns:a16="http://schemas.microsoft.com/office/drawing/2014/main" id="{AA6B41EE-F383-4448-3FC3-5177F4E9C325}"/>
                </a:ext>
              </a:extLst>
            </p:cNvPr>
            <p:cNvSpPr txBox="1"/>
            <p:nvPr/>
          </p:nvSpPr>
          <p:spPr>
            <a:xfrm>
              <a:off x="5922086"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66"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5843682" y="6993833"/>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核發請購單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68" name="表格 30">
            <a:extLst>
              <a:ext uri="{FF2B5EF4-FFF2-40B4-BE49-F238E27FC236}">
                <a16:creationId xmlns="" xmlns:a16="http://schemas.microsoft.com/office/drawing/2014/main" id="{94474DA2-C417-6AE7-95EE-50C9649AB985}"/>
              </a:ext>
            </a:extLst>
          </p:cNvPr>
          <p:cNvGraphicFramePr>
            <a:graphicFrameLocks noGrp="1"/>
          </p:cNvGraphicFramePr>
          <p:nvPr>
            <p:extLst>
              <p:ext uri="{D42A27DB-BD31-4B8C-83A1-F6EECF244321}">
                <p14:modId xmlns="" xmlns:p14="http://schemas.microsoft.com/office/powerpoint/2010/main" val="4070457855"/>
              </p:ext>
            </p:extLst>
          </p:nvPr>
        </p:nvGraphicFramePr>
        <p:xfrm>
          <a:off x="4653329" y="8418578"/>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更新</a:t>
                      </a:r>
                      <a:r>
                        <a:rPr kumimoji="0" lang="en-US" altLang="zh-TW" sz="1500" dirty="0">
                          <a:latin typeface="微軟正黑體" panose="020B0604030504040204" pitchFamily="34" charset="-120"/>
                          <a:ea typeface="微軟正黑體" panose="020B0604030504040204" pitchFamily="34" charset="-120"/>
                        </a:rPr>
                        <a:t>SAP </a:t>
                      </a:r>
                      <a:r>
                        <a:rPr kumimoji="0" lang="zh-TW" altLang="en-US" sz="1500" dirty="0">
                          <a:latin typeface="微軟正黑體" panose="020B0604030504040204" pitchFamily="34" charset="-120"/>
                          <a:ea typeface="微軟正黑體" panose="020B0604030504040204" pitchFamily="34" charset="-120"/>
                        </a:rPr>
                        <a:t>請購單，刪除標記</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12" name="Group 220">
            <a:extLst>
              <a:ext uri="{FF2B5EF4-FFF2-40B4-BE49-F238E27FC236}">
                <a16:creationId xmlns="" xmlns:a16="http://schemas.microsoft.com/office/drawing/2014/main" id="{9F128FF6-A533-AD66-E783-59326744DB4F}"/>
              </a:ext>
            </a:extLst>
          </p:cNvPr>
          <p:cNvGrpSpPr/>
          <p:nvPr/>
        </p:nvGrpSpPr>
        <p:grpSpPr>
          <a:xfrm>
            <a:off x="7260862" y="6773479"/>
            <a:ext cx="556821" cy="408542"/>
            <a:chOff x="5906472" y="1486857"/>
            <a:chExt cx="371214" cy="272361"/>
          </a:xfrm>
        </p:grpSpPr>
        <p:sp>
          <p:nvSpPr>
            <p:cNvPr id="13" name="Oval 221">
              <a:extLst>
                <a:ext uri="{FF2B5EF4-FFF2-40B4-BE49-F238E27FC236}">
                  <a16:creationId xmlns="" xmlns:a16="http://schemas.microsoft.com/office/drawing/2014/main" id="{80168108-106B-2C4B-41AE-D7B2634E928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6" name="TextBox 222">
              <a:extLst>
                <a:ext uri="{FF2B5EF4-FFF2-40B4-BE49-F238E27FC236}">
                  <a16:creationId xmlns="" xmlns:a16="http://schemas.microsoft.com/office/drawing/2014/main" id="{EC906020-C32F-1BC7-D654-A9E0F12AAC24}"/>
                </a:ext>
              </a:extLst>
            </p:cNvPr>
            <p:cNvSpPr txBox="1"/>
            <p:nvPr/>
          </p:nvSpPr>
          <p:spPr>
            <a:xfrm>
              <a:off x="5922086"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29" name="Group 220">
            <a:extLst>
              <a:ext uri="{FF2B5EF4-FFF2-40B4-BE49-F238E27FC236}">
                <a16:creationId xmlns="" xmlns:a16="http://schemas.microsoft.com/office/drawing/2014/main" id="{85F6DF8D-D513-CACE-C82D-6152F1C67FAA}"/>
              </a:ext>
            </a:extLst>
          </p:cNvPr>
          <p:cNvGrpSpPr/>
          <p:nvPr/>
        </p:nvGrpSpPr>
        <p:grpSpPr>
          <a:xfrm>
            <a:off x="6186460" y="8169667"/>
            <a:ext cx="553415" cy="408542"/>
            <a:chOff x="5906472" y="1486857"/>
            <a:chExt cx="368943" cy="272361"/>
          </a:xfrm>
        </p:grpSpPr>
        <p:sp>
          <p:nvSpPr>
            <p:cNvPr id="224" name="Oval 221">
              <a:extLst>
                <a:ext uri="{FF2B5EF4-FFF2-40B4-BE49-F238E27FC236}">
                  <a16:creationId xmlns="" xmlns:a16="http://schemas.microsoft.com/office/drawing/2014/main" id="{7090D349-92C2-9A4C-0E14-34148CF8A77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225" name="TextBox 222">
              <a:extLst>
                <a:ext uri="{FF2B5EF4-FFF2-40B4-BE49-F238E27FC236}">
                  <a16:creationId xmlns="" xmlns:a16="http://schemas.microsoft.com/office/drawing/2014/main" id="{9D762527-7F41-2EE2-42B0-511681EE229D}"/>
                </a:ext>
              </a:extLst>
            </p:cNvPr>
            <p:cNvSpPr txBox="1"/>
            <p:nvPr/>
          </p:nvSpPr>
          <p:spPr>
            <a:xfrm>
              <a:off x="5919815" y="1491177"/>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73"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7960026" y="1997437"/>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ME21N</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建立採購單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79" name="Group 220">
            <a:extLst>
              <a:ext uri="{FF2B5EF4-FFF2-40B4-BE49-F238E27FC236}">
                <a16:creationId xmlns="" xmlns:a16="http://schemas.microsoft.com/office/drawing/2014/main" id="{754F48A4-3BB7-AF94-D223-7447C53DEFE8}"/>
              </a:ext>
            </a:extLst>
          </p:cNvPr>
          <p:cNvGrpSpPr/>
          <p:nvPr/>
        </p:nvGrpSpPr>
        <p:grpSpPr>
          <a:xfrm>
            <a:off x="9476832" y="1776872"/>
            <a:ext cx="559344" cy="415761"/>
            <a:chOff x="5906472" y="1486857"/>
            <a:chExt cx="372896" cy="272361"/>
          </a:xfrm>
        </p:grpSpPr>
        <p:sp>
          <p:nvSpPr>
            <p:cNvPr id="280" name="Oval 221">
              <a:extLst>
                <a:ext uri="{FF2B5EF4-FFF2-40B4-BE49-F238E27FC236}">
                  <a16:creationId xmlns="" xmlns:a16="http://schemas.microsoft.com/office/drawing/2014/main" id="{D37DA99F-E761-C22E-C176-1F18EB4D5C8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81" name="TextBox 222">
              <a:extLst>
                <a:ext uri="{FF2B5EF4-FFF2-40B4-BE49-F238E27FC236}">
                  <a16:creationId xmlns="" xmlns:a16="http://schemas.microsoft.com/office/drawing/2014/main" id="{EC73F44B-BB0F-E5FE-0661-CCFF0E2F67A7}"/>
                </a:ext>
              </a:extLst>
            </p:cNvPr>
            <p:cNvSpPr txBox="1"/>
            <p:nvPr/>
          </p:nvSpPr>
          <p:spPr>
            <a:xfrm>
              <a:off x="592376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54" name="表格 30">
            <a:extLst>
              <a:ext uri="{FF2B5EF4-FFF2-40B4-BE49-F238E27FC236}">
                <a16:creationId xmlns="" xmlns:a16="http://schemas.microsoft.com/office/drawing/2014/main" id="{DB7A0832-7D21-1719-AE8D-90899BF1A64F}"/>
              </a:ext>
            </a:extLst>
          </p:cNvPr>
          <p:cNvGraphicFramePr>
            <a:graphicFrameLocks noGrp="1"/>
          </p:cNvGraphicFramePr>
          <p:nvPr/>
        </p:nvGraphicFramePr>
        <p:xfrm>
          <a:off x="7949546" y="3618889"/>
          <a:ext cx="1813996" cy="1184439"/>
        </p:xfrm>
        <a:graphic>
          <a:graphicData uri="http://schemas.openxmlformats.org/drawingml/2006/table">
            <a:tbl>
              <a:tblPr>
                <a:tableStyleId>{5940675A-B579-460E-94D1-54222C63F5DA}</a:tableStyleId>
              </a:tblPr>
              <a:tblGrid>
                <a:gridCol w="906998">
                  <a:extLst>
                    <a:ext uri="{9D8B030D-6E8A-4147-A177-3AD203B41FA5}">
                      <a16:colId xmlns="" xmlns:a16="http://schemas.microsoft.com/office/drawing/2014/main" val="3433979995"/>
                    </a:ext>
                  </a:extLst>
                </a:gridCol>
                <a:gridCol w="906998">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ZMM019</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採購單</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55" name="Group 220">
            <a:extLst>
              <a:ext uri="{FF2B5EF4-FFF2-40B4-BE49-F238E27FC236}">
                <a16:creationId xmlns="" xmlns:a16="http://schemas.microsoft.com/office/drawing/2014/main" id="{B5FE5C15-35AB-68F5-E353-F8A18C9C555A}"/>
              </a:ext>
            </a:extLst>
          </p:cNvPr>
          <p:cNvGrpSpPr/>
          <p:nvPr/>
        </p:nvGrpSpPr>
        <p:grpSpPr>
          <a:xfrm>
            <a:off x="9414851" y="3398990"/>
            <a:ext cx="561236" cy="415760"/>
            <a:chOff x="5906472" y="1486857"/>
            <a:chExt cx="374157" cy="272361"/>
          </a:xfrm>
        </p:grpSpPr>
        <p:sp>
          <p:nvSpPr>
            <p:cNvPr id="56" name="Oval 221">
              <a:extLst>
                <a:ext uri="{FF2B5EF4-FFF2-40B4-BE49-F238E27FC236}">
                  <a16:creationId xmlns="" xmlns:a16="http://schemas.microsoft.com/office/drawing/2014/main" id="{4BDC1F77-9896-B2CA-83E6-8EC9E56DD326}"/>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58" name="TextBox 222">
              <a:extLst>
                <a:ext uri="{FF2B5EF4-FFF2-40B4-BE49-F238E27FC236}">
                  <a16:creationId xmlns="" xmlns:a16="http://schemas.microsoft.com/office/drawing/2014/main" id="{3C1970B3-7168-C4BB-89C7-ED51993BA15F}"/>
                </a:ext>
              </a:extLst>
            </p:cNvPr>
            <p:cNvSpPr txBox="1"/>
            <p:nvPr/>
          </p:nvSpPr>
          <p:spPr>
            <a:xfrm>
              <a:off x="5925029" y="1503597"/>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59" name="流程圖: 決策 50">
            <a:extLst>
              <a:ext uri="{FF2B5EF4-FFF2-40B4-BE49-F238E27FC236}">
                <a16:creationId xmlns="" xmlns:a16="http://schemas.microsoft.com/office/drawing/2014/main" id="{8037CA89-DBE3-1441-8E4C-7EA04E993D61}"/>
              </a:ext>
            </a:extLst>
          </p:cNvPr>
          <p:cNvSpPr/>
          <p:nvPr/>
        </p:nvSpPr>
        <p:spPr bwMode="auto">
          <a:xfrm>
            <a:off x="9997743" y="6410569"/>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sp>
        <p:nvSpPr>
          <p:cNvPr id="60" name="文字方塊 59">
            <a:extLst>
              <a:ext uri="{FF2B5EF4-FFF2-40B4-BE49-F238E27FC236}">
                <a16:creationId xmlns="" xmlns:a16="http://schemas.microsoft.com/office/drawing/2014/main" id="{6FB1FA4C-3B8A-FBB5-B280-85555F843464}"/>
              </a:ext>
            </a:extLst>
          </p:cNvPr>
          <p:cNvSpPr txBox="1"/>
          <p:nvPr/>
        </p:nvSpPr>
        <p:spPr>
          <a:xfrm>
            <a:off x="10513424" y="715254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graphicFrame>
        <p:nvGraphicFramePr>
          <p:cNvPr id="74" name="表格 73"/>
          <p:cNvGraphicFramePr>
            <a:graphicFrameLocks noGrp="1"/>
          </p:cNvGraphicFramePr>
          <p:nvPr>
            <p:extLst>
              <p:ext uri="{D42A27DB-BD31-4B8C-83A1-F6EECF244321}">
                <p14:modId xmlns="" xmlns:p14="http://schemas.microsoft.com/office/powerpoint/2010/main" val="1538871929"/>
              </p:ext>
            </p:extLst>
          </p:nvPr>
        </p:nvGraphicFramePr>
        <p:xfrm>
          <a:off x="10003960" y="7850095"/>
          <a:ext cx="1819470" cy="1201006"/>
        </p:xfrm>
        <a:graphic>
          <a:graphicData uri="http://schemas.openxmlformats.org/drawingml/2006/table">
            <a:tbl>
              <a:tblPr>
                <a:tableStyleId>{5940675A-B579-460E-94D1-54222C63F5DA}</a:tableStyleId>
              </a:tblPr>
              <a:tblGrid>
                <a:gridCol w="909735">
                  <a:extLst>
                    <a:ext uri="{9D8B030D-6E8A-4147-A177-3AD203B41FA5}">
                      <a16:colId xmlns="" xmlns:a16="http://schemas.microsoft.com/office/drawing/2014/main" val="20000"/>
                    </a:ext>
                  </a:extLst>
                </a:gridCol>
                <a:gridCol w="909735">
                  <a:extLst>
                    <a:ext uri="{9D8B030D-6E8A-4147-A177-3AD203B41FA5}">
                      <a16:colId xmlns="" xmlns:a16="http://schemas.microsoft.com/office/drawing/2014/main" val="20001"/>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0"/>
                  </a:ext>
                </a:extLst>
              </a:tr>
              <a:tr h="53617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1"/>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cxnSp>
        <p:nvCxnSpPr>
          <p:cNvPr id="76" name="肘形接點 68">
            <a:extLst>
              <a:ext uri="{FF2B5EF4-FFF2-40B4-BE49-F238E27FC236}">
                <a16:creationId xmlns="" xmlns:a16="http://schemas.microsoft.com/office/drawing/2014/main" id="{43DC4C85-1AB2-73CA-1BEA-B222BB7D613F}"/>
              </a:ext>
            </a:extLst>
          </p:cNvPr>
          <p:cNvCxnSpPr>
            <a:cxnSpLocks/>
            <a:stCxn id="74" idx="2"/>
            <a:endCxn id="263" idx="1"/>
          </p:cNvCxnSpPr>
          <p:nvPr/>
        </p:nvCxnSpPr>
        <p:spPr>
          <a:xfrm rot="16200000" flipH="1">
            <a:off x="11313807" y="8650989"/>
            <a:ext cx="428278" cy="122850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77" name="表格 30">
            <a:extLst>
              <a:ext uri="{FF2B5EF4-FFF2-40B4-BE49-F238E27FC236}">
                <a16:creationId xmlns="" xmlns:a16="http://schemas.microsoft.com/office/drawing/2014/main" id="{DD4D6B14-D3B2-B7AE-AA9C-20D4B4848A80}"/>
              </a:ext>
            </a:extLst>
          </p:cNvPr>
          <p:cNvGraphicFramePr>
            <a:graphicFrameLocks noGrp="1"/>
          </p:cNvGraphicFramePr>
          <p:nvPr>
            <p:extLst>
              <p:ext uri="{D42A27DB-BD31-4B8C-83A1-F6EECF244321}">
                <p14:modId xmlns="" xmlns:p14="http://schemas.microsoft.com/office/powerpoint/2010/main" val="1445902244"/>
              </p:ext>
            </p:extLst>
          </p:nvPr>
        </p:nvGraphicFramePr>
        <p:xfrm>
          <a:off x="10020748" y="5070229"/>
          <a:ext cx="1800526" cy="1073844"/>
        </p:xfrm>
        <a:graphic>
          <a:graphicData uri="http://schemas.openxmlformats.org/drawingml/2006/table">
            <a:tbl>
              <a:tblPr>
                <a:tableStyleId>{5940675A-B579-460E-94D1-54222C63F5DA}</a:tableStyleId>
              </a:tblPr>
              <a:tblGrid>
                <a:gridCol w="900263">
                  <a:extLst>
                    <a:ext uri="{9D8B030D-6E8A-4147-A177-3AD203B41FA5}">
                      <a16:colId xmlns="" xmlns:a16="http://schemas.microsoft.com/office/drawing/2014/main" val="3433979995"/>
                    </a:ext>
                  </a:extLst>
                </a:gridCol>
                <a:gridCol w="900263">
                  <a:extLst>
                    <a:ext uri="{9D8B030D-6E8A-4147-A177-3AD203B41FA5}">
                      <a16:colId xmlns="" xmlns:a16="http://schemas.microsoft.com/office/drawing/2014/main"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71484">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78" name="Group 220">
            <a:extLst>
              <a:ext uri="{FF2B5EF4-FFF2-40B4-BE49-F238E27FC236}">
                <a16:creationId xmlns="" xmlns:a16="http://schemas.microsoft.com/office/drawing/2014/main" id="{33DE9BA6-990E-DE54-C6C1-2FDFC3EF39E7}"/>
              </a:ext>
            </a:extLst>
          </p:cNvPr>
          <p:cNvGrpSpPr/>
          <p:nvPr/>
        </p:nvGrpSpPr>
        <p:grpSpPr>
          <a:xfrm>
            <a:off x="11430681" y="4842303"/>
            <a:ext cx="570296" cy="415760"/>
            <a:chOff x="5906472" y="1486857"/>
            <a:chExt cx="380197" cy="272361"/>
          </a:xfrm>
        </p:grpSpPr>
        <p:sp>
          <p:nvSpPr>
            <p:cNvPr id="79" name="Oval 221">
              <a:extLst>
                <a:ext uri="{FF2B5EF4-FFF2-40B4-BE49-F238E27FC236}">
                  <a16:creationId xmlns="" xmlns:a16="http://schemas.microsoft.com/office/drawing/2014/main"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80" name="TextBox 222">
              <a:extLst>
                <a:ext uri="{FF2B5EF4-FFF2-40B4-BE49-F238E27FC236}">
                  <a16:creationId xmlns="" xmlns:a16="http://schemas.microsoft.com/office/drawing/2014/main" id="{C4D33436-02F5-686F-699E-8597EF0E4654}"/>
                </a:ext>
              </a:extLst>
            </p:cNvPr>
            <p:cNvSpPr txBox="1"/>
            <p:nvPr/>
          </p:nvSpPr>
          <p:spPr>
            <a:xfrm>
              <a:off x="5931069" y="1514892"/>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cxnSp>
        <p:nvCxnSpPr>
          <p:cNvPr id="81" name="肘形接點 68">
            <a:extLst>
              <a:ext uri="{FF2B5EF4-FFF2-40B4-BE49-F238E27FC236}">
                <a16:creationId xmlns="" xmlns:a16="http://schemas.microsoft.com/office/drawing/2014/main" id="{43DC4C85-1AB2-73CA-1BEA-B222BB7D613F}"/>
              </a:ext>
            </a:extLst>
          </p:cNvPr>
          <p:cNvCxnSpPr>
            <a:cxnSpLocks/>
            <a:stCxn id="54" idx="2"/>
          </p:cNvCxnSpPr>
          <p:nvPr/>
        </p:nvCxnSpPr>
        <p:spPr>
          <a:xfrm rot="16200000" flipH="1">
            <a:off x="9024144" y="4635727"/>
            <a:ext cx="803823" cy="113902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2" name="Straight Connector 284">
            <a:extLst>
              <a:ext uri="{FF2B5EF4-FFF2-40B4-BE49-F238E27FC236}">
                <a16:creationId xmlns="" xmlns:a16="http://schemas.microsoft.com/office/drawing/2014/main" id="{CCB3D035-826A-6F8E-1D15-1A3E96F62413}"/>
              </a:ext>
            </a:extLst>
          </p:cNvPr>
          <p:cNvCxnSpPr>
            <a:cxnSpLocks/>
          </p:cNvCxnSpPr>
          <p:nvPr/>
        </p:nvCxnSpPr>
        <p:spPr>
          <a:xfrm>
            <a:off x="9926817" y="1371452"/>
            <a:ext cx="0" cy="8545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3" name="Group 220">
            <a:extLst>
              <a:ext uri="{FF2B5EF4-FFF2-40B4-BE49-F238E27FC236}">
                <a16:creationId xmlns="" xmlns:a16="http://schemas.microsoft.com/office/drawing/2014/main" id="{33DE9BA6-990E-DE54-C6C1-2FDFC3EF39E7}"/>
              </a:ext>
            </a:extLst>
          </p:cNvPr>
          <p:cNvGrpSpPr/>
          <p:nvPr/>
        </p:nvGrpSpPr>
        <p:grpSpPr>
          <a:xfrm>
            <a:off x="11442608" y="7642216"/>
            <a:ext cx="558369" cy="415761"/>
            <a:chOff x="5906472" y="1486857"/>
            <a:chExt cx="372246" cy="272361"/>
          </a:xfrm>
        </p:grpSpPr>
        <p:sp>
          <p:nvSpPr>
            <p:cNvPr id="84" name="Oval 221">
              <a:extLst>
                <a:ext uri="{FF2B5EF4-FFF2-40B4-BE49-F238E27FC236}">
                  <a16:creationId xmlns="" xmlns:a16="http://schemas.microsoft.com/office/drawing/2014/main"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85" name="TextBox 222">
              <a:extLst>
                <a:ext uri="{FF2B5EF4-FFF2-40B4-BE49-F238E27FC236}">
                  <a16:creationId xmlns="" xmlns:a16="http://schemas.microsoft.com/office/drawing/2014/main" id="{C4D33436-02F5-686F-699E-8597EF0E4654}"/>
                </a:ext>
              </a:extLst>
            </p:cNvPr>
            <p:cNvSpPr txBox="1"/>
            <p:nvPr/>
          </p:nvSpPr>
          <p:spPr>
            <a:xfrm>
              <a:off x="592311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9</a:t>
              </a:r>
              <a:endParaRPr lang="zh-TW" altLang="en-US" sz="1500" dirty="0">
                <a:latin typeface="微軟正黑體" panose="020B0604030504040204" pitchFamily="34" charset="-120"/>
                <a:ea typeface="微軟正黑體" panose="020B0604030504040204" pitchFamily="34" charset="-120"/>
              </a:endParaRPr>
            </a:p>
          </p:txBody>
        </p:sp>
      </p:grpSp>
      <p:sp>
        <p:nvSpPr>
          <p:cNvPr id="86" name="文字方塊 85">
            <a:extLst>
              <a:ext uri="{FF2B5EF4-FFF2-40B4-BE49-F238E27FC236}">
                <a16:creationId xmlns="" xmlns:a16="http://schemas.microsoft.com/office/drawing/2014/main" id="{29D95A87-8E81-E79E-403B-C860DCAF45F5}"/>
              </a:ext>
            </a:extLst>
          </p:cNvPr>
          <p:cNvSpPr txBox="1"/>
          <p:nvPr/>
        </p:nvSpPr>
        <p:spPr>
          <a:xfrm>
            <a:off x="6570513" y="6161683"/>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11" name="文字方塊 17">
            <a:extLst>
              <a:ext uri="{FF2B5EF4-FFF2-40B4-BE49-F238E27FC236}">
                <a16:creationId xmlns="" xmlns:a16="http://schemas.microsoft.com/office/drawing/2014/main" id="{5D39F941-5525-62D4-A386-7220FC938C72}"/>
              </a:ext>
            </a:extLst>
          </p:cNvPr>
          <p:cNvSpPr txBox="1"/>
          <p:nvPr/>
        </p:nvSpPr>
        <p:spPr>
          <a:xfrm>
            <a:off x="9937794" y="1356513"/>
            <a:ext cx="1969820" cy="353348"/>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cxnSp>
        <p:nvCxnSpPr>
          <p:cNvPr id="40" name="直線單箭頭接點 39">
            <a:extLst>
              <a:ext uri="{FF2B5EF4-FFF2-40B4-BE49-F238E27FC236}">
                <a16:creationId xmlns="" xmlns:a16="http://schemas.microsoft.com/office/drawing/2014/main" id="{204D6521-42A1-8490-8BB0-AED0FCE4B1EA}"/>
              </a:ext>
            </a:extLst>
          </p:cNvPr>
          <p:cNvCxnSpPr>
            <a:cxnSpLocks/>
            <a:stCxn id="7" idx="3"/>
            <a:endCxn id="30" idx="1"/>
          </p:cNvCxnSpPr>
          <p:nvPr/>
        </p:nvCxnSpPr>
        <p:spPr>
          <a:xfrm flipV="1">
            <a:off x="2101285" y="2705370"/>
            <a:ext cx="454118" cy="63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線單箭頭接點 43">
            <a:extLst>
              <a:ext uri="{FF2B5EF4-FFF2-40B4-BE49-F238E27FC236}">
                <a16:creationId xmlns="" xmlns:a16="http://schemas.microsoft.com/office/drawing/2014/main" id="{85F52DC5-E296-ADEA-11D5-E42F0C2FF4E5}"/>
              </a:ext>
            </a:extLst>
          </p:cNvPr>
          <p:cNvCxnSpPr>
            <a:cxnSpLocks/>
            <a:stCxn id="15" idx="2"/>
            <a:endCxn id="35" idx="0"/>
          </p:cNvCxnSpPr>
          <p:nvPr/>
        </p:nvCxnSpPr>
        <p:spPr>
          <a:xfrm>
            <a:off x="5544068" y="5737085"/>
            <a:ext cx="7435" cy="369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直線單箭頭接點 46">
            <a:extLst>
              <a:ext uri="{FF2B5EF4-FFF2-40B4-BE49-F238E27FC236}">
                <a16:creationId xmlns="" xmlns:a16="http://schemas.microsoft.com/office/drawing/2014/main" id="{CE32C393-DE62-5A8A-3263-E68A150E9FCD}"/>
              </a:ext>
            </a:extLst>
          </p:cNvPr>
          <p:cNvCxnSpPr>
            <a:cxnSpLocks/>
            <a:stCxn id="35" idx="2"/>
            <a:endCxn id="68" idx="0"/>
          </p:cNvCxnSpPr>
          <p:nvPr/>
        </p:nvCxnSpPr>
        <p:spPr>
          <a:xfrm>
            <a:off x="5551503" y="6818405"/>
            <a:ext cx="742" cy="16001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直線單箭頭接點 52">
            <a:extLst>
              <a:ext uri="{FF2B5EF4-FFF2-40B4-BE49-F238E27FC236}">
                <a16:creationId xmlns="" xmlns:a16="http://schemas.microsoft.com/office/drawing/2014/main" id="{DBAD6272-35C4-E863-B60E-CCB45A229432}"/>
              </a:ext>
            </a:extLst>
          </p:cNvPr>
          <p:cNvCxnSpPr>
            <a:cxnSpLocks/>
            <a:stCxn id="73" idx="2"/>
            <a:endCxn id="54" idx="0"/>
          </p:cNvCxnSpPr>
          <p:nvPr/>
        </p:nvCxnSpPr>
        <p:spPr>
          <a:xfrm flipH="1">
            <a:off x="8856544" y="3007237"/>
            <a:ext cx="2398" cy="6116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7" name="直線單箭頭接點 86">
            <a:extLst>
              <a:ext uri="{FF2B5EF4-FFF2-40B4-BE49-F238E27FC236}">
                <a16:creationId xmlns="" xmlns:a16="http://schemas.microsoft.com/office/drawing/2014/main" id="{0ABE146D-C14A-4FCD-94B9-94A148A9491A}"/>
              </a:ext>
            </a:extLst>
          </p:cNvPr>
          <p:cNvCxnSpPr>
            <a:cxnSpLocks/>
            <a:stCxn id="77" idx="2"/>
            <a:endCxn id="59" idx="0"/>
          </p:cNvCxnSpPr>
          <p:nvPr/>
        </p:nvCxnSpPr>
        <p:spPr>
          <a:xfrm flipH="1">
            <a:off x="10918718" y="6144073"/>
            <a:ext cx="2293" cy="2664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0" name="直線單箭頭接點 89">
            <a:extLst>
              <a:ext uri="{FF2B5EF4-FFF2-40B4-BE49-F238E27FC236}">
                <a16:creationId xmlns="" xmlns:a16="http://schemas.microsoft.com/office/drawing/2014/main" id="{47E2EC8D-CFBD-95DA-1E4E-5A7D7928C63B}"/>
              </a:ext>
            </a:extLst>
          </p:cNvPr>
          <p:cNvCxnSpPr>
            <a:cxnSpLocks/>
            <a:stCxn id="59" idx="2"/>
            <a:endCxn id="74" idx="0"/>
          </p:cNvCxnSpPr>
          <p:nvPr/>
        </p:nvCxnSpPr>
        <p:spPr>
          <a:xfrm flipH="1">
            <a:off x="10913695" y="7122769"/>
            <a:ext cx="5023" cy="7273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3" name="直線單箭頭接點 92">
            <a:extLst>
              <a:ext uri="{FF2B5EF4-FFF2-40B4-BE49-F238E27FC236}">
                <a16:creationId xmlns="" xmlns:a16="http://schemas.microsoft.com/office/drawing/2014/main" id="{B720127E-3C43-10C7-4E67-5B046FEB7D6F}"/>
              </a:ext>
            </a:extLst>
          </p:cNvPr>
          <p:cNvCxnSpPr>
            <a:cxnSpLocks/>
            <a:stCxn id="59" idx="3"/>
            <a:endCxn id="193" idx="1"/>
          </p:cNvCxnSpPr>
          <p:nvPr/>
        </p:nvCxnSpPr>
        <p:spPr>
          <a:xfrm flipV="1">
            <a:off x="11839692" y="6758010"/>
            <a:ext cx="1063336" cy="86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10224938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 xmlns:a16="http://schemas.microsoft.com/office/drawing/2014/main" id="{580160BC-29D0-9D19-BFCE-78B7FC429FBC}"/>
              </a:ext>
            </a:extLst>
          </p:cNvPr>
          <p:cNvSpPr/>
          <p:nvPr/>
        </p:nvSpPr>
        <p:spPr bwMode="auto">
          <a:xfrm>
            <a:off x="3886440" y="4874815"/>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4" name="文字方塊 3">
            <a:extLst>
              <a:ext uri="{FF2B5EF4-FFF2-40B4-BE49-F238E27FC236}">
                <a16:creationId xmlns="" xmlns:a16="http://schemas.microsoft.com/office/drawing/2014/main" id="{83E6F622-2FBE-CC67-50FE-4ABD7D8B9696}"/>
              </a:ext>
            </a:extLst>
          </p:cNvPr>
          <p:cNvSpPr txBox="1"/>
          <p:nvPr/>
        </p:nvSpPr>
        <p:spPr>
          <a:xfrm>
            <a:off x="2444079" y="820877"/>
            <a:ext cx="9920197"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MM-PU-0090-03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smtClean="0">
                <a:latin typeface="微軟正黑體" panose="020B0604030504040204" pitchFamily="34" charset="-120"/>
                <a:ea typeface="微軟正黑體" panose="020B0604030504040204" pitchFamily="34" charset="-120"/>
              </a:rPr>
              <a:t>(</a:t>
            </a:r>
            <a:r>
              <a:rPr lang="zh-TW" altLang="en-US" sz="2400" b="1" dirty="0" smtClean="0">
                <a:latin typeface="微軟正黑體" panose="020B0604030504040204" pitchFamily="34" charset="-120"/>
                <a:ea typeface="微軟正黑體" panose="020B0604030504040204" pitchFamily="34" charset="-120"/>
              </a:rPr>
              <a:t>機器設備</a:t>
            </a:r>
            <a:r>
              <a:rPr lang="en-US" altLang="zh-TW" sz="2400" b="1" dirty="0" smtClean="0">
                <a:latin typeface="微軟正黑體" panose="020B0604030504040204" pitchFamily="34" charset="-120"/>
                <a:ea typeface="微軟正黑體" panose="020B0604030504040204" pitchFamily="34" charset="-120"/>
              </a:rPr>
              <a:t>/</a:t>
            </a:r>
            <a:r>
              <a:rPr lang="zh-TW" altLang="en-US" sz="2400" b="1" dirty="0" smtClean="0">
                <a:latin typeface="微軟正黑體" panose="020B0604030504040204" pitchFamily="34" charset="-120"/>
                <a:ea typeface="微軟正黑體" panose="020B0604030504040204" pitchFamily="34" charset="-120"/>
              </a:rPr>
              <a:t>楦頭</a:t>
            </a:r>
            <a:r>
              <a:rPr lang="en-US" altLang="zh-TW" sz="2400" b="1" dirty="0" smtClean="0">
                <a:latin typeface="微軟正黑體" panose="020B0604030504040204" pitchFamily="34" charset="-120"/>
                <a:ea typeface="微軟正黑體" panose="020B0604030504040204" pitchFamily="34" charset="-120"/>
              </a:rPr>
              <a:t>/</a:t>
            </a:r>
            <a:r>
              <a:rPr lang="zh-TW" altLang="en-US" sz="2400" b="1" dirty="0" smtClean="0">
                <a:latin typeface="微軟正黑體" panose="020B0604030504040204" pitchFamily="34" charset="-120"/>
                <a:ea typeface="微軟正黑體" panose="020B0604030504040204" pitchFamily="34" charset="-120"/>
              </a:rPr>
              <a:t>模具以外</a:t>
            </a:r>
            <a:r>
              <a:rPr lang="en-US" altLang="zh-TW" sz="2400" b="1" dirty="0" smtClean="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444079" y="1364938"/>
            <a:ext cx="364812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採購</a:t>
            </a:r>
          </a:p>
        </p:txBody>
      </p:sp>
      <p:graphicFrame>
        <p:nvGraphicFramePr>
          <p:cNvPr id="30" name="表格 30">
            <a:extLst>
              <a:ext uri="{FF2B5EF4-FFF2-40B4-BE49-F238E27FC236}">
                <a16:creationId xmlns="" xmlns:a16="http://schemas.microsoft.com/office/drawing/2014/main" id="{18197701-0564-3E2B-648E-413A6C8BBE0A}"/>
              </a:ext>
            </a:extLst>
          </p:cNvPr>
          <p:cNvGraphicFramePr>
            <a:graphicFrameLocks noGrp="1"/>
          </p:cNvGraphicFramePr>
          <p:nvPr/>
        </p:nvGraphicFramePr>
        <p:xfrm>
          <a:off x="2760086" y="2076474"/>
          <a:ext cx="1797832" cy="1090108"/>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440514">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31" name="Group 220">
            <a:extLst>
              <a:ext uri="{FF2B5EF4-FFF2-40B4-BE49-F238E27FC236}">
                <a16:creationId xmlns="" xmlns:a16="http://schemas.microsoft.com/office/drawing/2014/main" id="{A9B401BC-DE49-5FC0-6565-D216316A23DA}"/>
              </a:ext>
            </a:extLst>
          </p:cNvPr>
          <p:cNvGrpSpPr/>
          <p:nvPr/>
        </p:nvGrpSpPr>
        <p:grpSpPr>
          <a:xfrm>
            <a:off x="4339263" y="1842482"/>
            <a:ext cx="559344" cy="408542"/>
            <a:chOff x="5906472" y="1486857"/>
            <a:chExt cx="372896" cy="272361"/>
          </a:xfrm>
        </p:grpSpPr>
        <p:sp>
          <p:nvSpPr>
            <p:cNvPr id="32"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 xmlns:a16="http://schemas.microsoft.com/office/drawing/2014/main" id="{38213EC1-2A6F-CC6F-9F41-D87C1E84A2C8}"/>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19" name="表格 30">
            <a:extLst>
              <a:ext uri="{FF2B5EF4-FFF2-40B4-BE49-F238E27FC236}">
                <a16:creationId xmlns="" xmlns:a16="http://schemas.microsoft.com/office/drawing/2014/main" id="{323DEA68-B2E9-C177-AF6C-305B02CA9243}"/>
              </a:ext>
            </a:extLst>
          </p:cNvPr>
          <p:cNvGraphicFramePr>
            <a:graphicFrameLocks noGrp="1"/>
          </p:cNvGraphicFramePr>
          <p:nvPr/>
        </p:nvGraphicFramePr>
        <p:xfrm>
          <a:off x="2757569" y="3694708"/>
          <a:ext cx="1797832" cy="1184439"/>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210" name="文字方塊 17">
            <a:extLst>
              <a:ext uri="{FF2B5EF4-FFF2-40B4-BE49-F238E27FC236}">
                <a16:creationId xmlns="" xmlns:a16="http://schemas.microsoft.com/office/drawing/2014/main" id="{306A0461-FB0A-6B8E-26F4-F4121B822258}"/>
              </a:ext>
            </a:extLst>
          </p:cNvPr>
          <p:cNvSpPr txBox="1"/>
          <p:nvPr/>
        </p:nvSpPr>
        <p:spPr>
          <a:xfrm>
            <a:off x="9717582" y="1352457"/>
            <a:ext cx="2142598"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申請單位</a:t>
            </a:r>
          </a:p>
        </p:txBody>
      </p:sp>
      <p:sp>
        <p:nvSpPr>
          <p:cNvPr id="61" name="TextBox 53">
            <a:extLst>
              <a:ext uri="{FF2B5EF4-FFF2-40B4-BE49-F238E27FC236}">
                <a16:creationId xmlns="" xmlns:a16="http://schemas.microsoft.com/office/drawing/2014/main" id="{2DE69ECC-E293-FAA8-6082-E6D2F887DBFF}"/>
              </a:ext>
            </a:extLst>
          </p:cNvPr>
          <p:cNvSpPr txBox="1"/>
          <p:nvPr/>
        </p:nvSpPr>
        <p:spPr>
          <a:xfrm>
            <a:off x="14380627" y="2064631"/>
            <a:ext cx="3594197" cy="369332"/>
          </a:xfrm>
          <a:prstGeom prst="rect">
            <a:avLst/>
          </a:prstGeom>
          <a:noFill/>
        </p:spPr>
        <p:txBody>
          <a:bodyPr wrap="square" rtlCol="0">
            <a:spAutoFit/>
          </a:bodyPr>
          <a:lstStyle/>
          <a:p>
            <a:endParaRPr lang="zh-TW" altLang="en-US" dirty="0"/>
          </a:p>
        </p:txBody>
      </p:sp>
      <p:sp>
        <p:nvSpPr>
          <p:cNvPr id="5" name="流程圖: 換頁接點 52">
            <a:extLst>
              <a:ext uri="{FF2B5EF4-FFF2-40B4-BE49-F238E27FC236}">
                <a16:creationId xmlns="" xmlns:a16="http://schemas.microsoft.com/office/drawing/2014/main" id="{A020D090-1F04-66A8-DDD2-0A428105439C}"/>
              </a:ext>
            </a:extLst>
          </p:cNvPr>
          <p:cNvSpPr/>
          <p:nvPr/>
        </p:nvSpPr>
        <p:spPr bwMode="auto">
          <a:xfrm>
            <a:off x="1131236" y="2391873"/>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P7</a:t>
            </a:r>
            <a:endParaRPr lang="zh-TW" altLang="en-US" dirty="0">
              <a:latin typeface="微軟正黑體" panose="020B0604030504040204" pitchFamily="34" charset="-120"/>
              <a:ea typeface="微軟正黑體" panose="020B0604030504040204" pitchFamily="34" charset="-120"/>
            </a:endParaRPr>
          </a:p>
        </p:txBody>
      </p:sp>
      <p:grpSp>
        <p:nvGrpSpPr>
          <p:cNvPr id="41" name="Group 220">
            <a:extLst>
              <a:ext uri="{FF2B5EF4-FFF2-40B4-BE49-F238E27FC236}">
                <a16:creationId xmlns="" xmlns:a16="http://schemas.microsoft.com/office/drawing/2014/main" id="{8CFE2FFC-F192-E4BE-BA08-1FF5A5D8B2F9}"/>
              </a:ext>
            </a:extLst>
          </p:cNvPr>
          <p:cNvGrpSpPr/>
          <p:nvPr/>
        </p:nvGrpSpPr>
        <p:grpSpPr>
          <a:xfrm>
            <a:off x="4352235" y="3510712"/>
            <a:ext cx="559344" cy="408542"/>
            <a:chOff x="5906472" y="1486857"/>
            <a:chExt cx="372896" cy="272361"/>
          </a:xfrm>
        </p:grpSpPr>
        <p:sp>
          <p:nvSpPr>
            <p:cNvPr id="42" name="Oval 221">
              <a:extLst>
                <a:ext uri="{FF2B5EF4-FFF2-40B4-BE49-F238E27FC236}">
                  <a16:creationId xmlns="" xmlns:a16="http://schemas.microsoft.com/office/drawing/2014/main" id="{7919AE74-A7E0-3890-38AC-DCBB5AA39E9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3" name="TextBox 222">
              <a:extLst>
                <a:ext uri="{FF2B5EF4-FFF2-40B4-BE49-F238E27FC236}">
                  <a16:creationId xmlns="" xmlns:a16="http://schemas.microsoft.com/office/drawing/2014/main" id="{3F82B52D-D32E-9A97-A08F-EE46FBDF7380}"/>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00" name="文字方塊 17">
            <a:extLst>
              <a:ext uri="{FF2B5EF4-FFF2-40B4-BE49-F238E27FC236}">
                <a16:creationId xmlns="" xmlns:a16="http://schemas.microsoft.com/office/drawing/2014/main" id="{46781F1A-BA99-952E-F060-2BBE7B71DFBE}"/>
              </a:ext>
            </a:extLst>
          </p:cNvPr>
          <p:cNvSpPr txBox="1"/>
          <p:nvPr/>
        </p:nvSpPr>
        <p:spPr>
          <a:xfrm>
            <a:off x="6092205" y="1379514"/>
            <a:ext cx="364812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廠區總務</a:t>
            </a:r>
          </a:p>
        </p:txBody>
      </p:sp>
      <p:sp>
        <p:nvSpPr>
          <p:cNvPr id="9" name="TextBox 53">
            <a:extLst>
              <a:ext uri="{FF2B5EF4-FFF2-40B4-BE49-F238E27FC236}">
                <a16:creationId xmlns="" xmlns:a16="http://schemas.microsoft.com/office/drawing/2014/main" id="{04612EE1-7D42-C47D-2705-304DF742CE7B}"/>
              </a:ext>
            </a:extLst>
          </p:cNvPr>
          <p:cNvSpPr txBox="1"/>
          <p:nvPr/>
        </p:nvSpPr>
        <p:spPr>
          <a:xfrm>
            <a:off x="14380627" y="1969219"/>
            <a:ext cx="3594197" cy="6186309"/>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完成簽核</a:t>
            </a:r>
            <a:r>
              <a:rPr lang="en-US" altLang="zh-TW" dirty="0">
                <a:latin typeface="微軟正黑體" panose="020B0604030504040204" pitchFamily="34" charset="-120"/>
                <a:ea typeface="微軟正黑體" panose="020B0604030504040204" pitchFamily="34" charset="-120"/>
              </a:rPr>
              <a:t>BPM ZMM006</a:t>
            </a:r>
            <a:r>
              <a:rPr lang="zh-TW" altLang="en-US" dirty="0">
                <a:latin typeface="微軟正黑體" panose="020B0604030504040204" pitchFamily="34" charset="-120"/>
                <a:ea typeface="微軟正黑體" panose="020B0604030504040204" pitchFamily="34" charset="-120"/>
              </a:rPr>
              <a:t>自動核發採購單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於</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採購列印採購單，交付給供應商</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如果需要</a:t>
            </a:r>
            <a:r>
              <a:rPr lang="zh-TW" altLang="en-US" dirty="0" smtClean="0">
                <a:latin typeface="微軟正黑體" panose="020B0604030504040204" pitchFamily="34" charset="-120"/>
                <a:ea typeface="微軟正黑體" panose="020B0604030504040204" pitchFamily="34" charset="-120"/>
              </a:rPr>
              <a:t>預付</a:t>
            </a:r>
            <a:r>
              <a:rPr lang="en-US" altLang="zh-TW"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分期，</a:t>
            </a:r>
            <a:r>
              <a:rPr lang="zh-TW" altLang="en-US" dirty="0">
                <a:latin typeface="微軟正黑體" panose="020B0604030504040204" pitchFamily="34" charset="-120"/>
                <a:ea typeface="微軟正黑體" panose="020B0604030504040204" pitchFamily="34" charset="-120"/>
              </a:rPr>
              <a:t>按預付百分</a:t>
            </a:r>
            <a:r>
              <a:rPr lang="zh-TW" altLang="en-US" dirty="0" smtClean="0">
                <a:latin typeface="微軟正黑體" panose="020B0604030504040204" pitchFamily="34" charset="-120"/>
                <a:ea typeface="微軟正黑體" panose="020B0604030504040204" pitchFamily="34" charset="-120"/>
              </a:rPr>
              <a:t>比例</a:t>
            </a:r>
            <a:r>
              <a:rPr lang="en-US" altLang="zh-TW"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分期項目作</a:t>
            </a:r>
            <a:r>
              <a:rPr lang="zh-TW" altLang="en-US" dirty="0">
                <a:latin typeface="微軟正黑體" panose="020B0604030504040204" pitchFamily="34" charset="-120"/>
                <a:ea typeface="微軟正黑體" panose="020B0604030504040204" pitchFamily="34" charset="-120"/>
              </a:rPr>
              <a:t>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smtClean="0">
                <a:latin typeface="微軟正黑體" panose="020B0604030504040204" pitchFamily="34" charset="-120"/>
                <a:ea typeface="微軟正黑體" panose="020B0604030504040204" pitchFamily="34" charset="-120"/>
              </a:rPr>
              <a:t>進行預付</a:t>
            </a:r>
            <a:r>
              <a:rPr lang="en-US" altLang="zh-TW"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分期發票請款</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a:t>
            </a:r>
            <a:r>
              <a:rPr lang="zh-TW" altLang="en-US" dirty="0" smtClean="0">
                <a:latin typeface="微軟正黑體" panose="020B0604030504040204" pitchFamily="34" charset="-120"/>
                <a:ea typeface="微軟正黑體" panose="020B0604030504040204" pitchFamily="34" charset="-120"/>
              </a:rPr>
              <a:t>交貨，</a:t>
            </a:r>
            <a:r>
              <a:rPr lang="zh-TW" altLang="en-US" dirty="0">
                <a:latin typeface="微軟正黑體" panose="020B0604030504040204" pitchFamily="34" charset="-120"/>
                <a:ea typeface="微軟正黑體" panose="020B0604030504040204" pitchFamily="34" charset="-120"/>
              </a:rPr>
              <a:t>進行點收，用</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a:t>
            </a:r>
            <a:r>
              <a:rPr lang="en-US" altLang="zh-TW" dirty="0" smtClean="0">
                <a:latin typeface="微軟正黑體" panose="020B0604030504040204" pitchFamily="34" charset="-120"/>
                <a:ea typeface="微軟正黑體" panose="020B0604030504040204" pitchFamily="34" charset="-120"/>
              </a:rPr>
              <a:t>101</a:t>
            </a:r>
            <a:r>
              <a:rPr lang="zh-TW" altLang="en-US" dirty="0" smtClean="0">
                <a:latin typeface="微軟正黑體" panose="020B0604030504040204" pitchFamily="34" charset="-120"/>
                <a:ea typeface="微軟正黑體" panose="020B0604030504040204" pitchFamily="34" charset="-120"/>
              </a:rPr>
              <a:t>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smtClean="0">
                <a:latin typeface="微軟正黑體" panose="020B0604030504040204" pitchFamily="34" charset="-120"/>
                <a:ea typeface="微軟正黑體" panose="020B0604030504040204" pitchFamily="34" charset="-120"/>
              </a:rPr>
              <a:t>設備類固定資產由</a:t>
            </a:r>
            <a:r>
              <a:rPr lang="zh-TW" altLang="en-US" dirty="0">
                <a:latin typeface="微軟正黑體" panose="020B0604030504040204" pitchFamily="34" charset="-120"/>
                <a:ea typeface="微軟正黑體" panose="020B0604030504040204" pitchFamily="34" charset="-120"/>
              </a:rPr>
              <a:t>申請單位進行功能</a:t>
            </a:r>
            <a:r>
              <a:rPr lang="zh-TW" altLang="en-US" dirty="0" smtClean="0">
                <a:latin typeface="微軟正黑體" panose="020B0604030504040204" pitchFamily="34" charset="-120"/>
                <a:ea typeface="微軟正黑體" panose="020B0604030504040204" pitchFamily="34" charset="-120"/>
              </a:rPr>
              <a:t>確認，功能</a:t>
            </a:r>
            <a:r>
              <a:rPr lang="zh-TW" altLang="en-US" dirty="0">
                <a:latin typeface="微軟正黑體" panose="020B0604030504040204" pitchFamily="34" charset="-120"/>
                <a:ea typeface="微軟正黑體" panose="020B0604030504040204" pitchFamily="34" charset="-120"/>
              </a:rPr>
              <a:t>確認合格後，</a:t>
            </a:r>
            <a:r>
              <a:rPr lang="zh-TW" altLang="en-US" dirty="0" smtClean="0">
                <a:latin typeface="微軟正黑體" panose="020B0604030504040204" pitchFamily="34" charset="-120"/>
                <a:ea typeface="微軟正黑體" panose="020B0604030504040204" pitchFamily="34" charset="-120"/>
              </a:rPr>
              <a:t>進行請款</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驗收不合格，則進行驗收 </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a:t>
            </a:r>
            <a:r>
              <a:rPr lang="en-US" altLang="zh-TW" dirty="0" smtClean="0">
                <a:latin typeface="微軟正黑體" panose="020B0604030504040204" pitchFamily="34" charset="-120"/>
                <a:ea typeface="微軟正黑體" panose="020B0604030504040204" pitchFamily="34" charset="-120"/>
              </a:rPr>
              <a:t>122</a:t>
            </a:r>
            <a:r>
              <a:rPr lang="zh-TW" altLang="en-US" dirty="0" smtClean="0">
                <a:latin typeface="微軟正黑體" panose="020B0604030504040204" pitchFamily="34" charset="-120"/>
                <a:ea typeface="微軟正黑體" panose="020B0604030504040204" pitchFamily="34" charset="-120"/>
              </a:rPr>
              <a:t>退貨</a:t>
            </a:r>
            <a:r>
              <a:rPr lang="zh-TW" altLang="en-US" dirty="0">
                <a:latin typeface="微軟正黑體" panose="020B0604030504040204" pitchFamily="34" charset="-120"/>
                <a:ea typeface="微軟正黑體" panose="020B0604030504040204" pitchFamily="34" charset="-120"/>
              </a:rPr>
              <a:t>作業，通知廠商收退貨重送</a:t>
            </a:r>
            <a:endParaRPr lang="en-US" altLang="zh-TW" dirty="0">
              <a:latin typeface="微軟正黑體" panose="020B0604030504040204" pitchFamily="34" charset="-120"/>
              <a:ea typeface="微軟正黑體" panose="020B0604030504040204" pitchFamily="34" charset="-120"/>
            </a:endParaRPr>
          </a:p>
          <a:p>
            <a:endParaRPr lang="en-US" altLang="zh-TW" dirty="0"/>
          </a:p>
        </p:txBody>
      </p:sp>
      <p:sp>
        <p:nvSpPr>
          <p:cNvPr id="17" name="流程圖: 決策 50">
            <a:extLst>
              <a:ext uri="{FF2B5EF4-FFF2-40B4-BE49-F238E27FC236}">
                <a16:creationId xmlns="" xmlns:a16="http://schemas.microsoft.com/office/drawing/2014/main" id="{90AD232C-F7E6-105E-35B0-3783B1FD3A62}"/>
              </a:ext>
            </a:extLst>
          </p:cNvPr>
          <p:cNvSpPr/>
          <p:nvPr/>
        </p:nvSpPr>
        <p:spPr bwMode="auto">
          <a:xfrm>
            <a:off x="2731995" y="5770975"/>
            <a:ext cx="1841949" cy="59760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需</a:t>
            </a:r>
            <a:r>
              <a:rPr lang="zh-TW" altLang="en-US" sz="1500" dirty="0" smtClean="0">
                <a:latin typeface="微軟正黑體" panose="020B0604030504040204" pitchFamily="34" charset="-120"/>
                <a:ea typeface="微軟正黑體" panose="020B0604030504040204" pitchFamily="34" charset="-120"/>
              </a:rPr>
              <a:t>預付</a:t>
            </a:r>
            <a:r>
              <a:rPr lang="en-US" altLang="zh-TW" sz="1500" dirty="0" smtClean="0">
                <a:latin typeface="微軟正黑體" panose="020B0604030504040204" pitchFamily="34" charset="-120"/>
                <a:ea typeface="微軟正黑體" panose="020B0604030504040204" pitchFamily="34" charset="-120"/>
              </a:rPr>
              <a:t>/</a:t>
            </a:r>
            <a:r>
              <a:rPr lang="zh-TW" altLang="en-US" sz="1500" dirty="0" smtClean="0">
                <a:latin typeface="微軟正黑體" panose="020B0604030504040204" pitchFamily="34" charset="-120"/>
                <a:ea typeface="微軟正黑體" panose="020B0604030504040204" pitchFamily="34" charset="-120"/>
              </a:rPr>
              <a:t>分期</a:t>
            </a:r>
            <a:endParaRPr lang="zh-TW" altLang="en-US" sz="1500" dirty="0">
              <a:latin typeface="微軟正黑體" panose="020B0604030504040204" pitchFamily="34" charset="-120"/>
              <a:ea typeface="微軟正黑體" panose="020B0604030504040204" pitchFamily="34" charset="-120"/>
            </a:endParaRPr>
          </a:p>
        </p:txBody>
      </p:sp>
      <p:sp>
        <p:nvSpPr>
          <p:cNvPr id="228" name="流程圖: 預設處理作業 21">
            <a:extLst>
              <a:ext uri="{FF2B5EF4-FFF2-40B4-BE49-F238E27FC236}">
                <a16:creationId xmlns="" xmlns:a16="http://schemas.microsoft.com/office/drawing/2014/main" id="{2857039D-4439-AE14-74EB-A5CEC0477F9A}"/>
              </a:ext>
            </a:extLst>
          </p:cNvPr>
          <p:cNvSpPr/>
          <p:nvPr/>
        </p:nvSpPr>
        <p:spPr bwMode="auto">
          <a:xfrm>
            <a:off x="2780636" y="8602330"/>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230" name="肘形接點 68">
            <a:extLst>
              <a:ext uri="{FF2B5EF4-FFF2-40B4-BE49-F238E27FC236}">
                <a16:creationId xmlns="" xmlns:a16="http://schemas.microsoft.com/office/drawing/2014/main" id="{7E72D76D-CF8D-5ACC-0DDF-7EAF9F64AC25}"/>
              </a:ext>
            </a:extLst>
          </p:cNvPr>
          <p:cNvCxnSpPr>
            <a:cxnSpLocks/>
            <a:stCxn id="228" idx="3"/>
            <a:endCxn id="146" idx="1"/>
          </p:cNvCxnSpPr>
          <p:nvPr/>
        </p:nvCxnSpPr>
        <p:spPr>
          <a:xfrm flipV="1">
            <a:off x="4509563" y="3131997"/>
            <a:ext cx="2452943" cy="608953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4" name="肘形接點 68">
            <a:extLst>
              <a:ext uri="{FF2B5EF4-FFF2-40B4-BE49-F238E27FC236}">
                <a16:creationId xmlns="" xmlns:a16="http://schemas.microsoft.com/office/drawing/2014/main" id="{A69FBE0A-7432-A6D7-9148-CCE6E8B4C592}"/>
              </a:ext>
            </a:extLst>
          </p:cNvPr>
          <p:cNvCxnSpPr>
            <a:cxnSpLocks/>
            <a:stCxn id="17" idx="3"/>
            <a:endCxn id="146" idx="1"/>
          </p:cNvCxnSpPr>
          <p:nvPr/>
        </p:nvCxnSpPr>
        <p:spPr>
          <a:xfrm flipV="1">
            <a:off x="4573944" y="3131997"/>
            <a:ext cx="2388562" cy="293778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238" name="Group 220">
            <a:extLst>
              <a:ext uri="{FF2B5EF4-FFF2-40B4-BE49-F238E27FC236}">
                <a16:creationId xmlns="" xmlns:a16="http://schemas.microsoft.com/office/drawing/2014/main" id="{98184046-84E1-88B2-6AF0-D27D19F1759B}"/>
              </a:ext>
            </a:extLst>
          </p:cNvPr>
          <p:cNvGrpSpPr/>
          <p:nvPr/>
        </p:nvGrpSpPr>
        <p:grpSpPr>
          <a:xfrm>
            <a:off x="4286139" y="8397478"/>
            <a:ext cx="559344" cy="408542"/>
            <a:chOff x="5906472" y="1486857"/>
            <a:chExt cx="372896" cy="272361"/>
          </a:xfrm>
        </p:grpSpPr>
        <p:sp>
          <p:nvSpPr>
            <p:cNvPr id="239" name="Oval 221">
              <a:extLst>
                <a:ext uri="{FF2B5EF4-FFF2-40B4-BE49-F238E27FC236}">
                  <a16:creationId xmlns="" xmlns:a16="http://schemas.microsoft.com/office/drawing/2014/main" id="{55B9FF93-B5E1-9E9A-CBEC-A269103F4B71}"/>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0" name="TextBox 222">
              <a:extLst>
                <a:ext uri="{FF2B5EF4-FFF2-40B4-BE49-F238E27FC236}">
                  <a16:creationId xmlns="" xmlns:a16="http://schemas.microsoft.com/office/drawing/2014/main" id="{9ADE62B4-165E-B381-5172-7241F9C872D4}"/>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75" name="Straight Connector 284">
            <a:extLst>
              <a:ext uri="{FF2B5EF4-FFF2-40B4-BE49-F238E27FC236}">
                <a16:creationId xmlns="" xmlns:a16="http://schemas.microsoft.com/office/drawing/2014/main" id="{CCB3D035-826A-6F8E-1D15-1A3E96F62413}"/>
              </a:ext>
            </a:extLst>
          </p:cNvPr>
          <p:cNvCxnSpPr>
            <a:cxnSpLocks/>
          </p:cNvCxnSpPr>
          <p:nvPr/>
        </p:nvCxnSpPr>
        <p:spPr>
          <a:xfrm>
            <a:off x="6092205" y="1355062"/>
            <a:ext cx="0" cy="8545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284">
            <a:extLst>
              <a:ext uri="{FF2B5EF4-FFF2-40B4-BE49-F238E27FC236}">
                <a16:creationId xmlns="" xmlns:a16="http://schemas.microsoft.com/office/drawing/2014/main" id="{CCB3D035-826A-6F8E-1D15-1A3E96F62413}"/>
              </a:ext>
            </a:extLst>
          </p:cNvPr>
          <p:cNvCxnSpPr>
            <a:cxnSpLocks/>
          </p:cNvCxnSpPr>
          <p:nvPr/>
        </p:nvCxnSpPr>
        <p:spPr>
          <a:xfrm>
            <a:off x="9417708" y="1344964"/>
            <a:ext cx="0" cy="8545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 xmlns:a16="http://schemas.microsoft.com/office/drawing/2014/main" id="{1FF3F166-78C2-469B-04E2-59F70F345ADB}"/>
              </a:ext>
            </a:extLst>
          </p:cNvPr>
          <p:cNvSpPr txBox="1"/>
          <p:nvPr/>
        </p:nvSpPr>
        <p:spPr>
          <a:xfrm>
            <a:off x="3675865" y="6444804"/>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6" name="文字方塊 25">
            <a:extLst>
              <a:ext uri="{FF2B5EF4-FFF2-40B4-BE49-F238E27FC236}">
                <a16:creationId xmlns="" xmlns:a16="http://schemas.microsoft.com/office/drawing/2014/main" id="{77419519-709D-F221-F31E-BD5D89B4A461}"/>
              </a:ext>
            </a:extLst>
          </p:cNvPr>
          <p:cNvSpPr txBox="1"/>
          <p:nvPr/>
        </p:nvSpPr>
        <p:spPr>
          <a:xfrm>
            <a:off x="4649918" y="578289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graphicFrame>
        <p:nvGraphicFramePr>
          <p:cNvPr id="233" name="表格 30">
            <a:extLst>
              <a:ext uri="{FF2B5EF4-FFF2-40B4-BE49-F238E27FC236}">
                <a16:creationId xmlns="" xmlns:a16="http://schemas.microsoft.com/office/drawing/2014/main" id="{EE4D7AF3-C0E3-AC0D-8B46-7916F4CB28DF}"/>
              </a:ext>
            </a:extLst>
          </p:cNvPr>
          <p:cNvGraphicFramePr>
            <a:graphicFrameLocks noGrp="1"/>
          </p:cNvGraphicFramePr>
          <p:nvPr>
            <p:extLst>
              <p:ext uri="{D42A27DB-BD31-4B8C-83A1-F6EECF244321}">
                <p14:modId xmlns="" xmlns:p14="http://schemas.microsoft.com/office/powerpoint/2010/main" val="561986639"/>
              </p:ext>
            </p:extLst>
          </p:nvPr>
        </p:nvGraphicFramePr>
        <p:xfrm>
          <a:off x="2754538" y="6951608"/>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smtClean="0">
                          <a:latin typeface="微軟正黑體" panose="020B0604030504040204" pitchFamily="34" charset="-120"/>
                          <a:ea typeface="微軟正黑體" panose="020B0604030504040204" pitchFamily="34" charset="-120"/>
                        </a:rPr>
                        <a:t>按</a:t>
                      </a:r>
                      <a:r>
                        <a:rPr lang="zh-TW" altLang="en-US" sz="1500" dirty="0">
                          <a:latin typeface="微軟正黑體" panose="020B0604030504040204" pitchFamily="34" charset="-120"/>
                          <a:ea typeface="微軟正黑體" panose="020B0604030504040204" pitchFamily="34" charset="-120"/>
                        </a:rPr>
                        <a:t>預付百份</a:t>
                      </a:r>
                      <a:r>
                        <a:rPr lang="zh-TW" altLang="en-US" sz="1500" dirty="0" smtClean="0">
                          <a:latin typeface="微軟正黑體" panose="020B0604030504040204" pitchFamily="34" charset="-120"/>
                          <a:ea typeface="微軟正黑體" panose="020B0604030504040204" pitchFamily="34" charset="-120"/>
                        </a:rPr>
                        <a:t>比或分期項目收貨</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73" name="Google Shape;198;p3"/>
          <p:cNvSpPr txBox="1">
            <a:spLocks/>
          </p:cNvSpPr>
          <p:nvPr/>
        </p:nvSpPr>
        <p:spPr>
          <a:xfrm>
            <a:off x="15399026" y="500459"/>
            <a:ext cx="293301" cy="201905"/>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8</a:t>
            </a:r>
          </a:p>
        </p:txBody>
      </p:sp>
      <p:grpSp>
        <p:nvGrpSpPr>
          <p:cNvPr id="219" name="Group 220">
            <a:extLst>
              <a:ext uri="{FF2B5EF4-FFF2-40B4-BE49-F238E27FC236}">
                <a16:creationId xmlns="" xmlns:a16="http://schemas.microsoft.com/office/drawing/2014/main" id="{52B0433D-9B75-3C72-E260-A94168985ECD}"/>
              </a:ext>
            </a:extLst>
          </p:cNvPr>
          <p:cNvGrpSpPr/>
          <p:nvPr/>
        </p:nvGrpSpPr>
        <p:grpSpPr>
          <a:xfrm>
            <a:off x="4282841" y="6746747"/>
            <a:ext cx="559344" cy="415761"/>
            <a:chOff x="5906472" y="1486857"/>
            <a:chExt cx="372896" cy="272361"/>
          </a:xfrm>
        </p:grpSpPr>
        <p:sp>
          <p:nvSpPr>
            <p:cNvPr id="220" name="Oval 221">
              <a:extLst>
                <a:ext uri="{FF2B5EF4-FFF2-40B4-BE49-F238E27FC236}">
                  <a16:creationId xmlns="" xmlns:a16="http://schemas.microsoft.com/office/drawing/2014/main" id="{82502817-9A10-B369-0278-8E3FD83C06C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21" name="TextBox 222">
              <a:extLst>
                <a:ext uri="{FF2B5EF4-FFF2-40B4-BE49-F238E27FC236}">
                  <a16:creationId xmlns="" xmlns:a16="http://schemas.microsoft.com/office/drawing/2014/main" id="{1F11146B-09DF-2934-D6B3-1E55A404FEA4}"/>
                </a:ext>
              </a:extLst>
            </p:cNvPr>
            <p:cNvSpPr txBox="1"/>
            <p:nvPr/>
          </p:nvSpPr>
          <p:spPr>
            <a:xfrm>
              <a:off x="592376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12" name="直線單箭頭接點 11">
            <a:extLst>
              <a:ext uri="{FF2B5EF4-FFF2-40B4-BE49-F238E27FC236}">
                <a16:creationId xmlns="" xmlns:a16="http://schemas.microsoft.com/office/drawing/2014/main" id="{8B172082-D236-B947-D81C-8F5C1FC6D3AC}"/>
              </a:ext>
            </a:extLst>
          </p:cNvPr>
          <p:cNvCxnSpPr>
            <a:cxnSpLocks/>
            <a:stCxn id="5" idx="3"/>
            <a:endCxn id="30" idx="1"/>
          </p:cNvCxnSpPr>
          <p:nvPr/>
        </p:nvCxnSpPr>
        <p:spPr>
          <a:xfrm flipV="1">
            <a:off x="1691863" y="2621528"/>
            <a:ext cx="1068223" cy="39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單箭頭接點 33">
            <a:extLst>
              <a:ext uri="{FF2B5EF4-FFF2-40B4-BE49-F238E27FC236}">
                <a16:creationId xmlns="" xmlns:a16="http://schemas.microsoft.com/office/drawing/2014/main" id="{2F33F67B-F3E7-73F1-C9A9-1E8C8B5D2B57}"/>
              </a:ext>
            </a:extLst>
          </p:cNvPr>
          <p:cNvCxnSpPr>
            <a:cxnSpLocks/>
            <a:stCxn id="30" idx="2"/>
            <a:endCxn id="19" idx="0"/>
          </p:cNvCxnSpPr>
          <p:nvPr/>
        </p:nvCxnSpPr>
        <p:spPr>
          <a:xfrm flipH="1">
            <a:off x="3656485" y="3166582"/>
            <a:ext cx="2517" cy="5281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單箭頭接點 37">
            <a:extLst>
              <a:ext uri="{FF2B5EF4-FFF2-40B4-BE49-F238E27FC236}">
                <a16:creationId xmlns="" xmlns:a16="http://schemas.microsoft.com/office/drawing/2014/main" id="{125DD20B-3BA2-4D0B-4D03-9EC9D5DCDEFD}"/>
              </a:ext>
            </a:extLst>
          </p:cNvPr>
          <p:cNvCxnSpPr>
            <a:cxnSpLocks/>
            <a:stCxn id="19" idx="2"/>
            <a:endCxn id="17" idx="0"/>
          </p:cNvCxnSpPr>
          <p:nvPr/>
        </p:nvCxnSpPr>
        <p:spPr>
          <a:xfrm flipH="1">
            <a:off x="3652970" y="4879147"/>
            <a:ext cx="3515" cy="8918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線單箭頭接點 43">
            <a:extLst>
              <a:ext uri="{FF2B5EF4-FFF2-40B4-BE49-F238E27FC236}">
                <a16:creationId xmlns="" xmlns:a16="http://schemas.microsoft.com/office/drawing/2014/main" id="{E65BF181-C733-3BC0-9131-E85343F8E114}"/>
              </a:ext>
            </a:extLst>
          </p:cNvPr>
          <p:cNvCxnSpPr>
            <a:cxnSpLocks/>
            <a:stCxn id="17" idx="2"/>
            <a:endCxn id="233" idx="0"/>
          </p:cNvCxnSpPr>
          <p:nvPr/>
        </p:nvCxnSpPr>
        <p:spPr>
          <a:xfrm>
            <a:off x="3652970" y="6368581"/>
            <a:ext cx="484" cy="5830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直線單箭頭接點 53">
            <a:extLst>
              <a:ext uri="{FF2B5EF4-FFF2-40B4-BE49-F238E27FC236}">
                <a16:creationId xmlns="" xmlns:a16="http://schemas.microsoft.com/office/drawing/2014/main" id="{9A96EA05-7DC5-994A-922F-7EEFBDE5C634}"/>
              </a:ext>
            </a:extLst>
          </p:cNvPr>
          <p:cNvCxnSpPr>
            <a:cxnSpLocks/>
            <a:stCxn id="233" idx="2"/>
            <a:endCxn id="228" idx="0"/>
          </p:cNvCxnSpPr>
          <p:nvPr/>
        </p:nvCxnSpPr>
        <p:spPr>
          <a:xfrm flipH="1">
            <a:off x="3645100" y="8190008"/>
            <a:ext cx="8354" cy="4123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8" name="流程圖: 結束點 8">
            <a:extLst>
              <a:ext uri="{FF2B5EF4-FFF2-40B4-BE49-F238E27FC236}">
                <a16:creationId xmlns="" xmlns:a16="http://schemas.microsoft.com/office/drawing/2014/main" id="{1FB9514E-6261-C7AC-D58E-6A5F2E6F81FD}"/>
              </a:ext>
            </a:extLst>
          </p:cNvPr>
          <p:cNvSpPr/>
          <p:nvPr/>
        </p:nvSpPr>
        <p:spPr bwMode="auto">
          <a:xfrm>
            <a:off x="12142197" y="8718588"/>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129" name="肘形接點 68">
            <a:extLst>
              <a:ext uri="{FF2B5EF4-FFF2-40B4-BE49-F238E27FC236}">
                <a16:creationId xmlns="" xmlns:a16="http://schemas.microsoft.com/office/drawing/2014/main" id="{8DD1663D-3235-8D1E-F1BD-80C90EB0F8CB}"/>
              </a:ext>
            </a:extLst>
          </p:cNvPr>
          <p:cNvCxnSpPr>
            <a:cxnSpLocks/>
            <a:stCxn id="141" idx="3"/>
            <a:endCxn id="128" idx="1"/>
          </p:cNvCxnSpPr>
          <p:nvPr/>
        </p:nvCxnSpPr>
        <p:spPr>
          <a:xfrm>
            <a:off x="8963807" y="9102828"/>
            <a:ext cx="3178390" cy="698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30" name="肘形接點 68">
            <a:extLst>
              <a:ext uri="{FF2B5EF4-FFF2-40B4-BE49-F238E27FC236}">
                <a16:creationId xmlns="" xmlns:a16="http://schemas.microsoft.com/office/drawing/2014/main" id="{4D315B82-E1CA-313C-D4BB-3BBD9FD7F973}"/>
              </a:ext>
            </a:extLst>
          </p:cNvPr>
          <p:cNvCxnSpPr>
            <a:cxnSpLocks/>
            <a:stCxn id="167" idx="3"/>
            <a:endCxn id="151" idx="1"/>
          </p:cNvCxnSpPr>
          <p:nvPr/>
        </p:nvCxnSpPr>
        <p:spPr>
          <a:xfrm>
            <a:off x="8835986" y="4750134"/>
            <a:ext cx="837059" cy="1471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31" name="流程圖: 決策 50">
            <a:extLst>
              <a:ext uri="{FF2B5EF4-FFF2-40B4-BE49-F238E27FC236}">
                <a16:creationId xmlns="" xmlns:a16="http://schemas.microsoft.com/office/drawing/2014/main" id="{8037CA89-DBE3-1441-8E4C-7EA04E993D61}"/>
              </a:ext>
            </a:extLst>
          </p:cNvPr>
          <p:cNvSpPr/>
          <p:nvPr/>
        </p:nvSpPr>
        <p:spPr bwMode="auto">
          <a:xfrm>
            <a:off x="9692051" y="6227915"/>
            <a:ext cx="1841949" cy="588972"/>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符合要求</a:t>
            </a:r>
          </a:p>
        </p:txBody>
      </p:sp>
      <p:cxnSp>
        <p:nvCxnSpPr>
          <p:cNvPr id="132" name="肘形接點 68">
            <a:extLst>
              <a:ext uri="{FF2B5EF4-FFF2-40B4-BE49-F238E27FC236}">
                <a16:creationId xmlns="" xmlns:a16="http://schemas.microsoft.com/office/drawing/2014/main" id="{2AA47122-2BF1-7633-656B-9B6710026CD9}"/>
              </a:ext>
            </a:extLst>
          </p:cNvPr>
          <p:cNvCxnSpPr>
            <a:cxnSpLocks/>
            <a:stCxn id="131" idx="1"/>
            <a:endCxn id="140" idx="0"/>
          </p:cNvCxnSpPr>
          <p:nvPr/>
        </p:nvCxnSpPr>
        <p:spPr>
          <a:xfrm rot="10800000" flipV="1">
            <a:off x="8058407" y="6522401"/>
            <a:ext cx="1633644" cy="197320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33" name="文字方塊 132">
            <a:extLst>
              <a:ext uri="{FF2B5EF4-FFF2-40B4-BE49-F238E27FC236}">
                <a16:creationId xmlns="" xmlns:a16="http://schemas.microsoft.com/office/drawing/2014/main" id="{B106DB5A-3C2B-C42B-E706-9F53E0CA364F}"/>
              </a:ext>
            </a:extLst>
          </p:cNvPr>
          <p:cNvSpPr txBox="1"/>
          <p:nvPr/>
        </p:nvSpPr>
        <p:spPr>
          <a:xfrm>
            <a:off x="11433071" y="612131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134" name="文字方塊 133">
            <a:extLst>
              <a:ext uri="{FF2B5EF4-FFF2-40B4-BE49-F238E27FC236}">
                <a16:creationId xmlns="" xmlns:a16="http://schemas.microsoft.com/office/drawing/2014/main" id="{7BDD8B3B-9FC5-B431-B92A-CADEB291222C}"/>
              </a:ext>
            </a:extLst>
          </p:cNvPr>
          <p:cNvSpPr txBox="1"/>
          <p:nvPr/>
        </p:nvSpPr>
        <p:spPr>
          <a:xfrm>
            <a:off x="8727324" y="6155473"/>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cxnSp>
        <p:nvCxnSpPr>
          <p:cNvPr id="135" name="肘形接點 68">
            <a:extLst>
              <a:ext uri="{FF2B5EF4-FFF2-40B4-BE49-F238E27FC236}">
                <a16:creationId xmlns="" xmlns:a16="http://schemas.microsoft.com/office/drawing/2014/main" id="{3C63507D-83FD-0025-3EF4-B6F87A20780B}"/>
              </a:ext>
            </a:extLst>
          </p:cNvPr>
          <p:cNvCxnSpPr>
            <a:cxnSpLocks/>
            <a:stCxn id="131" idx="3"/>
            <a:endCxn id="136" idx="1"/>
          </p:cNvCxnSpPr>
          <p:nvPr/>
        </p:nvCxnSpPr>
        <p:spPr>
          <a:xfrm flipV="1">
            <a:off x="11534000" y="6517244"/>
            <a:ext cx="642649" cy="51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36" name="流程圖: 預設處理作業 21">
            <a:extLst>
              <a:ext uri="{FF2B5EF4-FFF2-40B4-BE49-F238E27FC236}">
                <a16:creationId xmlns="" xmlns:a16="http://schemas.microsoft.com/office/drawing/2014/main" id="{2857039D-4439-AE14-74EB-A5CEC0477F9A}"/>
              </a:ext>
            </a:extLst>
          </p:cNvPr>
          <p:cNvSpPr/>
          <p:nvPr/>
        </p:nvSpPr>
        <p:spPr bwMode="auto">
          <a:xfrm>
            <a:off x="12176649" y="5898044"/>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137" name="直線單箭頭接點 136">
            <a:extLst>
              <a:ext uri="{FF2B5EF4-FFF2-40B4-BE49-F238E27FC236}">
                <a16:creationId xmlns="" xmlns:a16="http://schemas.microsoft.com/office/drawing/2014/main" id="{4C2B1276-06B9-E2EA-9FD1-D922936615B7}"/>
              </a:ext>
            </a:extLst>
          </p:cNvPr>
          <p:cNvCxnSpPr>
            <a:cxnSpLocks/>
            <a:endCxn id="131" idx="0"/>
          </p:cNvCxnSpPr>
          <p:nvPr/>
        </p:nvCxnSpPr>
        <p:spPr>
          <a:xfrm rot="5400000">
            <a:off x="10079244" y="5693585"/>
            <a:ext cx="1068113" cy="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8" name="直線單箭頭接點 137">
            <a:extLst>
              <a:ext uri="{FF2B5EF4-FFF2-40B4-BE49-F238E27FC236}">
                <a16:creationId xmlns="" xmlns:a16="http://schemas.microsoft.com/office/drawing/2014/main" id="{8358A9BC-99C1-0844-3360-02305B1AEB36}"/>
              </a:ext>
            </a:extLst>
          </p:cNvPr>
          <p:cNvCxnSpPr>
            <a:cxnSpLocks/>
            <a:stCxn id="136" idx="2"/>
            <a:endCxn id="128" idx="0"/>
          </p:cNvCxnSpPr>
          <p:nvPr/>
        </p:nvCxnSpPr>
        <p:spPr>
          <a:xfrm rot="5400000">
            <a:off x="12250041" y="7927516"/>
            <a:ext cx="1582144" cy="1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39" name="群組 138"/>
          <p:cNvGrpSpPr/>
          <p:nvPr/>
        </p:nvGrpSpPr>
        <p:grpSpPr>
          <a:xfrm>
            <a:off x="7153007" y="8495605"/>
            <a:ext cx="1810800" cy="1217256"/>
            <a:chOff x="15073354" y="8308668"/>
            <a:chExt cx="1810800" cy="1217256"/>
          </a:xfrm>
        </p:grpSpPr>
        <p:sp>
          <p:nvSpPr>
            <p:cNvPr id="140" name="流程圖: 程序 13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141" name="流程圖: 程序 14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採購單退貨，</a:t>
              </a:r>
              <a:endParaRPr lang="en-US" altLang="zh-TW" sz="1500" dirty="0" smtClean="0">
                <a:latin typeface="微軟正黑體" panose="020B0604030504040204" pitchFamily="34" charset="-120"/>
                <a:ea typeface="微軟正黑體" panose="020B0604030504040204" pitchFamily="34" charset="-120"/>
              </a:endParaRPr>
            </a:p>
            <a:p>
              <a:pPr algn="ctr"/>
              <a:r>
                <a:rPr lang="zh-TW" altLang="en-US" sz="1500" dirty="0" smtClean="0">
                  <a:latin typeface="微軟正黑體" panose="020B0604030504040204" pitchFamily="34" charset="-120"/>
                  <a:ea typeface="微軟正黑體" panose="020B0604030504040204" pitchFamily="34" charset="-120"/>
                </a:rPr>
                <a:t>通知廠收退重送</a:t>
              </a:r>
              <a:endParaRPr lang="en-US" altLang="zh-TW" sz="1500" dirty="0">
                <a:latin typeface="微軟正黑體" panose="020B0604030504040204" pitchFamily="34" charset="-120"/>
                <a:ea typeface="微軟正黑體" panose="020B0604030504040204" pitchFamily="34" charset="-120"/>
              </a:endParaRPr>
            </a:p>
          </p:txBody>
        </p:sp>
        <p:sp>
          <p:nvSpPr>
            <p:cNvPr id="142" name="流程圖: 程序 14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43" name="流程圖: 程序 142"/>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144" name="群組 143"/>
          <p:cNvGrpSpPr/>
          <p:nvPr/>
        </p:nvGrpSpPr>
        <p:grpSpPr>
          <a:xfrm>
            <a:off x="6962506" y="2524774"/>
            <a:ext cx="1810800" cy="1217256"/>
            <a:chOff x="15073354" y="8308668"/>
            <a:chExt cx="1810800" cy="1217256"/>
          </a:xfrm>
        </p:grpSpPr>
        <p:sp>
          <p:nvSpPr>
            <p:cNvPr id="145" name="流程圖: 程序 144"/>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146" name="流程圖: 程序 145"/>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採購單收貨</a:t>
              </a:r>
              <a:endParaRPr lang="en-US" altLang="zh-TW" sz="1500" dirty="0">
                <a:latin typeface="微軟正黑體" panose="020B0604030504040204" pitchFamily="34" charset="-120"/>
                <a:ea typeface="微軟正黑體" panose="020B0604030504040204" pitchFamily="34" charset="-120"/>
              </a:endParaRPr>
            </a:p>
          </p:txBody>
        </p:sp>
        <p:sp>
          <p:nvSpPr>
            <p:cNvPr id="147" name="流程圖: 程序 146"/>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48" name="流程圖: 程序 147"/>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149" name="群組 148"/>
          <p:cNvGrpSpPr/>
          <p:nvPr/>
        </p:nvGrpSpPr>
        <p:grpSpPr>
          <a:xfrm>
            <a:off x="9673045" y="4157625"/>
            <a:ext cx="1810800" cy="1217256"/>
            <a:chOff x="15073354" y="8308668"/>
            <a:chExt cx="1810800" cy="1217256"/>
          </a:xfrm>
        </p:grpSpPr>
        <p:sp>
          <p:nvSpPr>
            <p:cNvPr id="150" name="流程圖: 程序 14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51" name="流程圖: 程序 15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功能確認</a:t>
              </a:r>
              <a:endParaRPr lang="en-US" altLang="zh-TW" sz="1500" dirty="0">
                <a:latin typeface="微軟正黑體" panose="020B0604030504040204" pitchFamily="34" charset="-120"/>
                <a:ea typeface="微軟正黑體" panose="020B0604030504040204" pitchFamily="34" charset="-120"/>
              </a:endParaRPr>
            </a:p>
          </p:txBody>
        </p:sp>
        <p:sp>
          <p:nvSpPr>
            <p:cNvPr id="152" name="流程圖: 程序 15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53" name="流程圖: 程序 152"/>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154" name="Group 220">
            <a:extLst>
              <a:ext uri="{FF2B5EF4-FFF2-40B4-BE49-F238E27FC236}">
                <a16:creationId xmlns="" xmlns:a16="http://schemas.microsoft.com/office/drawing/2014/main" id="{13E9951B-4A3E-E489-AE09-B89089F6F4B6}"/>
              </a:ext>
            </a:extLst>
          </p:cNvPr>
          <p:cNvGrpSpPr/>
          <p:nvPr/>
        </p:nvGrpSpPr>
        <p:grpSpPr>
          <a:xfrm>
            <a:off x="11220094" y="3854407"/>
            <a:ext cx="560606" cy="415761"/>
            <a:chOff x="5906472" y="1486857"/>
            <a:chExt cx="373737" cy="272361"/>
          </a:xfrm>
        </p:grpSpPr>
        <p:sp>
          <p:nvSpPr>
            <p:cNvPr id="155" name="Oval 221">
              <a:extLst>
                <a:ext uri="{FF2B5EF4-FFF2-40B4-BE49-F238E27FC236}">
                  <a16:creationId xmlns="" xmlns:a16="http://schemas.microsoft.com/office/drawing/2014/main" id="{658E3F42-D710-EA0A-760A-56D3E70DDA8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56" name="TextBox 222">
              <a:extLst>
                <a:ext uri="{FF2B5EF4-FFF2-40B4-BE49-F238E27FC236}">
                  <a16:creationId xmlns="" xmlns:a16="http://schemas.microsoft.com/office/drawing/2014/main" id="{04B45D44-738C-9015-C58C-EA8A042CC559}"/>
                </a:ext>
              </a:extLst>
            </p:cNvPr>
            <p:cNvSpPr txBox="1"/>
            <p:nvPr/>
          </p:nvSpPr>
          <p:spPr>
            <a:xfrm>
              <a:off x="5924609" y="1507079"/>
              <a:ext cx="355600" cy="211702"/>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nvGrpSpPr>
          <p:cNvPr id="157" name="Group 220">
            <a:extLst>
              <a:ext uri="{FF2B5EF4-FFF2-40B4-BE49-F238E27FC236}">
                <a16:creationId xmlns="" xmlns:a16="http://schemas.microsoft.com/office/drawing/2014/main" id="{A1983CA1-988B-B586-6B79-EED6E53CD361}"/>
              </a:ext>
            </a:extLst>
          </p:cNvPr>
          <p:cNvGrpSpPr/>
          <p:nvPr/>
        </p:nvGrpSpPr>
        <p:grpSpPr>
          <a:xfrm>
            <a:off x="8518239" y="2301859"/>
            <a:ext cx="572532" cy="408542"/>
            <a:chOff x="5906472" y="1486857"/>
            <a:chExt cx="381688" cy="272361"/>
          </a:xfrm>
        </p:grpSpPr>
        <p:sp>
          <p:nvSpPr>
            <p:cNvPr id="158" name="Oval 221">
              <a:extLst>
                <a:ext uri="{FF2B5EF4-FFF2-40B4-BE49-F238E27FC236}">
                  <a16:creationId xmlns="" xmlns:a16="http://schemas.microsoft.com/office/drawing/2014/main" id="{C9A8929E-42CE-DCDD-06D7-93FEB4DAB3B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59" name="TextBox 222">
              <a:extLst>
                <a:ext uri="{FF2B5EF4-FFF2-40B4-BE49-F238E27FC236}">
                  <a16:creationId xmlns="" xmlns:a16="http://schemas.microsoft.com/office/drawing/2014/main" id="{B52B9FCC-FC80-B8A2-DA40-E3EA863599DF}"/>
                </a:ext>
              </a:extLst>
            </p:cNvPr>
            <p:cNvSpPr txBox="1"/>
            <p:nvPr/>
          </p:nvSpPr>
          <p:spPr>
            <a:xfrm>
              <a:off x="5932560"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160" name="Group 220">
            <a:extLst>
              <a:ext uri="{FF2B5EF4-FFF2-40B4-BE49-F238E27FC236}">
                <a16:creationId xmlns="" xmlns:a16="http://schemas.microsoft.com/office/drawing/2014/main" id="{ADD1546F-75A2-0E22-F66E-32DFDB0DE746}"/>
              </a:ext>
            </a:extLst>
          </p:cNvPr>
          <p:cNvGrpSpPr/>
          <p:nvPr/>
        </p:nvGrpSpPr>
        <p:grpSpPr>
          <a:xfrm>
            <a:off x="8746107" y="8253326"/>
            <a:ext cx="559344" cy="415761"/>
            <a:chOff x="5906472" y="1486857"/>
            <a:chExt cx="372896" cy="272361"/>
          </a:xfrm>
        </p:grpSpPr>
        <p:sp>
          <p:nvSpPr>
            <p:cNvPr id="161" name="Oval 221">
              <a:extLst>
                <a:ext uri="{FF2B5EF4-FFF2-40B4-BE49-F238E27FC236}">
                  <a16:creationId xmlns="" xmlns:a16="http://schemas.microsoft.com/office/drawing/2014/main"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62" name="TextBox 222">
              <a:extLst>
                <a:ext uri="{FF2B5EF4-FFF2-40B4-BE49-F238E27FC236}">
                  <a16:creationId xmlns="" xmlns:a16="http://schemas.microsoft.com/office/drawing/2014/main" id="{454E1CB9-6ED4-AD5A-39EC-6D1B324BA26E}"/>
                </a:ext>
              </a:extLst>
            </p:cNvPr>
            <p:cNvSpPr txBox="1"/>
            <p:nvPr/>
          </p:nvSpPr>
          <p:spPr>
            <a:xfrm>
              <a:off x="5923768" y="1507079"/>
              <a:ext cx="355600" cy="211702"/>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166" name="文字方塊 17">
            <a:extLst>
              <a:ext uri="{FF2B5EF4-FFF2-40B4-BE49-F238E27FC236}">
                <a16:creationId xmlns:a16="http://schemas.microsoft.com/office/drawing/2014/main" xmlns="" id="{306A0461-FB0A-6B8E-26F4-F4121B822258}"/>
              </a:ext>
            </a:extLst>
          </p:cNvPr>
          <p:cNvSpPr txBox="1"/>
          <p:nvPr/>
        </p:nvSpPr>
        <p:spPr>
          <a:xfrm>
            <a:off x="9717582" y="1352457"/>
            <a:ext cx="2142598"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申請單位</a:t>
            </a:r>
          </a:p>
        </p:txBody>
      </p:sp>
      <p:sp>
        <p:nvSpPr>
          <p:cNvPr id="167" name="流程圖: 決策 50">
            <a:extLst>
              <a:ext uri="{FF2B5EF4-FFF2-40B4-BE49-F238E27FC236}">
                <a16:creationId xmlns:a16="http://schemas.microsoft.com/office/drawing/2014/main" xmlns="" id="{90AD232C-F7E6-105E-35B0-3783B1FD3A62}"/>
              </a:ext>
            </a:extLst>
          </p:cNvPr>
          <p:cNvSpPr/>
          <p:nvPr/>
        </p:nvSpPr>
        <p:spPr bwMode="auto">
          <a:xfrm>
            <a:off x="6994037" y="4451331"/>
            <a:ext cx="1841949" cy="59760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設備類</a:t>
            </a:r>
          </a:p>
        </p:txBody>
      </p:sp>
      <p:sp>
        <p:nvSpPr>
          <p:cNvPr id="168" name="文字方塊 167">
            <a:extLst>
              <a:ext uri="{FF2B5EF4-FFF2-40B4-BE49-F238E27FC236}">
                <a16:creationId xmlns:a16="http://schemas.microsoft.com/office/drawing/2014/main" xmlns="" id="{1FF3F166-78C2-469B-04E2-59F70F345ADB}"/>
              </a:ext>
            </a:extLst>
          </p:cNvPr>
          <p:cNvSpPr txBox="1"/>
          <p:nvPr/>
        </p:nvSpPr>
        <p:spPr>
          <a:xfrm>
            <a:off x="8972018" y="4416328"/>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169" name="肘形接點 68">
            <a:extLst>
              <a:ext uri="{FF2B5EF4-FFF2-40B4-BE49-F238E27FC236}">
                <a16:creationId xmlns:a16="http://schemas.microsoft.com/office/drawing/2014/main" xmlns="" id="{A69FBE0A-7432-A6D7-9148-CCE6E8B4C592}"/>
              </a:ext>
            </a:extLst>
          </p:cNvPr>
          <p:cNvCxnSpPr>
            <a:cxnSpLocks/>
            <a:stCxn id="167" idx="2"/>
            <a:endCxn id="179" idx="0"/>
          </p:cNvCxnSpPr>
          <p:nvPr/>
        </p:nvCxnSpPr>
        <p:spPr>
          <a:xfrm rot="16200000" flipH="1">
            <a:off x="7616886" y="5347063"/>
            <a:ext cx="641841" cy="455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70" name="文字方塊 169">
            <a:extLst>
              <a:ext uri="{FF2B5EF4-FFF2-40B4-BE49-F238E27FC236}">
                <a16:creationId xmlns:a16="http://schemas.microsoft.com/office/drawing/2014/main" xmlns="" id="{1FF3F166-78C2-469B-04E2-59F70F345ADB}"/>
              </a:ext>
            </a:extLst>
          </p:cNvPr>
          <p:cNvSpPr txBox="1"/>
          <p:nvPr/>
        </p:nvSpPr>
        <p:spPr>
          <a:xfrm>
            <a:off x="7991318" y="5357548"/>
            <a:ext cx="788670" cy="300082"/>
          </a:xfrm>
          <a:prstGeom prst="rect">
            <a:avLst/>
          </a:prstGeom>
          <a:noFill/>
        </p:spPr>
        <p:txBody>
          <a:bodyPr wrap="square">
            <a:spAutoFit/>
          </a:bodyPr>
          <a:lstStyle/>
          <a:p>
            <a:r>
              <a:rPr lang="zh-TW" altLang="en-US" sz="1350" dirty="0"/>
              <a:t>否</a:t>
            </a:r>
          </a:p>
        </p:txBody>
      </p:sp>
      <p:cxnSp>
        <p:nvCxnSpPr>
          <p:cNvPr id="173" name="肘形接點 68">
            <a:extLst>
              <a:ext uri="{FF2B5EF4-FFF2-40B4-BE49-F238E27FC236}">
                <a16:creationId xmlns:a16="http://schemas.microsoft.com/office/drawing/2014/main" xmlns="" id="{A69FBE0A-7432-A6D7-9148-CCE6E8B4C592}"/>
              </a:ext>
            </a:extLst>
          </p:cNvPr>
          <p:cNvCxnSpPr>
            <a:cxnSpLocks/>
            <a:endCxn id="167" idx="0"/>
          </p:cNvCxnSpPr>
          <p:nvPr/>
        </p:nvCxnSpPr>
        <p:spPr>
          <a:xfrm rot="16200000" flipH="1">
            <a:off x="7561142" y="4097460"/>
            <a:ext cx="695757" cy="1198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79" name="流程圖: 接點 51">
            <a:extLst>
              <a:ext uri="{FF2B5EF4-FFF2-40B4-BE49-F238E27FC236}">
                <a16:creationId xmlns:a16="http://schemas.microsoft.com/office/drawing/2014/main" xmlns="" id="{944BACEF-BBED-71A3-8511-08A8418C3665}"/>
              </a:ext>
            </a:extLst>
          </p:cNvPr>
          <p:cNvSpPr/>
          <p:nvPr/>
        </p:nvSpPr>
        <p:spPr bwMode="auto">
          <a:xfrm>
            <a:off x="7687927" y="5690778"/>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B</a:t>
            </a:r>
            <a:endParaRPr lang="zh-TW" altLang="en-US" dirty="0">
              <a:latin typeface="微軟正黑體" panose="020B0604030504040204" pitchFamily="34" charset="-120"/>
              <a:ea typeface="微軟正黑體" panose="020B0604030504040204" pitchFamily="34" charset="-120"/>
            </a:endParaRPr>
          </a:p>
        </p:txBody>
      </p:sp>
      <p:sp>
        <p:nvSpPr>
          <p:cNvPr id="182" name="流程圖: 接點 51">
            <a:extLst>
              <a:ext uri="{FF2B5EF4-FFF2-40B4-BE49-F238E27FC236}">
                <a16:creationId xmlns:a16="http://schemas.microsoft.com/office/drawing/2014/main" xmlns="" id="{944BACEF-BBED-71A3-8511-08A8418C3665}"/>
              </a:ext>
            </a:extLst>
          </p:cNvPr>
          <p:cNvSpPr/>
          <p:nvPr/>
        </p:nvSpPr>
        <p:spPr bwMode="auto">
          <a:xfrm>
            <a:off x="12771555" y="5075741"/>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B</a:t>
            </a:r>
            <a:endParaRPr lang="zh-TW" altLang="en-US" dirty="0">
              <a:latin typeface="微軟正黑體" panose="020B0604030504040204" pitchFamily="34" charset="-120"/>
              <a:ea typeface="微軟正黑體" panose="020B0604030504040204" pitchFamily="34" charset="-120"/>
            </a:endParaRPr>
          </a:p>
        </p:txBody>
      </p:sp>
      <p:cxnSp>
        <p:nvCxnSpPr>
          <p:cNvPr id="183" name="肘形接點 68">
            <a:extLst>
              <a:ext uri="{FF2B5EF4-FFF2-40B4-BE49-F238E27FC236}">
                <a16:creationId xmlns:a16="http://schemas.microsoft.com/office/drawing/2014/main" xmlns="" id="{A69FBE0A-7432-A6D7-9148-CCE6E8B4C592}"/>
              </a:ext>
            </a:extLst>
          </p:cNvPr>
          <p:cNvCxnSpPr>
            <a:cxnSpLocks/>
            <a:stCxn id="182" idx="4"/>
            <a:endCxn id="136" idx="0"/>
          </p:cNvCxnSpPr>
          <p:nvPr/>
        </p:nvCxnSpPr>
        <p:spPr>
          <a:xfrm rot="5400000">
            <a:off x="12865171" y="5718987"/>
            <a:ext cx="355000" cy="311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16522869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 </a:t>
            </a:r>
            <a:endParaRPr sz="2700" dirty="0"/>
          </a:p>
          <a:p>
            <a:endParaRPr dirty="0">
              <a:solidFill>
                <a:schemeClr val="dk1"/>
              </a:solidFill>
              <a:latin typeface="Arial"/>
              <a:ea typeface="Arial"/>
              <a:cs typeface="Arial"/>
              <a:sym typeface="Arial"/>
            </a:endParaRPr>
          </a:p>
        </p:txBody>
      </p:sp>
      <p:sp>
        <p:nvSpPr>
          <p:cNvPr id="4" name="TextBox 53">
            <a:extLst>
              <a:ext uri="{FF2B5EF4-FFF2-40B4-BE49-F238E27FC236}">
                <a16:creationId xmlns="" xmlns:a16="http://schemas.microsoft.com/office/drawing/2014/main" id="{DF940026-96D7-3867-6425-C228DF3D29BF}"/>
              </a:ext>
            </a:extLst>
          </p:cNvPr>
          <p:cNvSpPr txBox="1"/>
          <p:nvPr/>
        </p:nvSpPr>
        <p:spPr>
          <a:xfrm>
            <a:off x="353408" y="2031265"/>
            <a:ext cx="17378475" cy="1200329"/>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、固定資產請購時，需要填內部訂單號碼作預算管理。</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、機器設備</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楦頭 以外的固定資產不需要建料</a:t>
            </a:r>
            <a:r>
              <a:rPr lang="zh-TW" altLang="en-US" dirty="0" smtClean="0">
                <a:latin typeface="微軟正黑體" panose="020B0604030504040204" pitchFamily="34" charset="-120"/>
                <a:ea typeface="微軟正黑體" panose="020B0604030504040204" pitchFamily="34" charset="-120"/>
              </a:rPr>
              <a:t>號</a:t>
            </a:r>
            <a:endParaRPr lang="en-US" altLang="zh-TW" dirty="0" smtClean="0">
              <a:latin typeface="微軟正黑體" panose="020B0604030504040204" pitchFamily="34" charset="-120"/>
              <a:ea typeface="微軟正黑體" panose="020B0604030504040204" pitchFamily="34" charset="-120"/>
            </a:endParaRPr>
          </a:p>
          <a:p>
            <a:r>
              <a:rPr lang="en-US" altLang="zh-TW" dirty="0" smtClean="0">
                <a:latin typeface="微軟正黑體" panose="020B0604030504040204" pitchFamily="34" charset="-120"/>
                <a:ea typeface="微軟正黑體" panose="020B0604030504040204" pitchFamily="34" charset="-120"/>
              </a:rPr>
              <a:t>3</a:t>
            </a:r>
            <a:r>
              <a:rPr lang="zh-TW" altLang="en-US" dirty="0" smtClean="0">
                <a:latin typeface="微軟正黑體" panose="020B0604030504040204" pitchFamily="34" charset="-120"/>
                <a:ea typeface="微軟正黑體" panose="020B0604030504040204" pitchFamily="34" charset="-120"/>
              </a:rPr>
              <a:t>、物料群組自動</a:t>
            </a:r>
            <a:r>
              <a:rPr lang="zh-TW" altLang="en-US" dirty="0">
                <a:latin typeface="微軟正黑體" panose="020B0604030504040204" pitchFamily="34" charset="-120"/>
                <a:ea typeface="微軟正黑體" panose="020B0604030504040204" pitchFamily="34" charset="-120"/>
              </a:rPr>
              <a:t>帶出資產類型如下</a:t>
            </a:r>
            <a:r>
              <a:rPr lang="en-US" altLang="zh-TW" dirty="0">
                <a:latin typeface="微軟正黑體" panose="020B0604030504040204" pitchFamily="34" charset="-120"/>
                <a:ea typeface="微軟正黑體" panose="020B0604030504040204" pitchFamily="34" charset="-120"/>
              </a:rPr>
              <a:t>:</a:t>
            </a:r>
          </a:p>
          <a:p>
            <a:endParaRPr lang="en-US" altLang="zh-TW" dirty="0">
              <a:latin typeface="微軟正黑體" panose="020B0604030504040204" pitchFamily="34" charset="-120"/>
              <a:ea typeface="微軟正黑體" panose="020B0604030504040204" pitchFamily="34" charset="-120"/>
            </a:endParaRPr>
          </a:p>
        </p:txBody>
      </p:sp>
      <p:sp>
        <p:nvSpPr>
          <p:cNvPr id="5" name="Google Shape;198;p3"/>
          <p:cNvSpPr txBox="1">
            <a:spLocks/>
          </p:cNvSpPr>
          <p:nvPr/>
        </p:nvSpPr>
        <p:spPr>
          <a:xfrm>
            <a:off x="15372522" y="483437"/>
            <a:ext cx="308925" cy="218927"/>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9</a:t>
            </a:r>
          </a:p>
        </p:txBody>
      </p:sp>
      <p:graphicFrame>
        <p:nvGraphicFramePr>
          <p:cNvPr id="2" name="表格 1"/>
          <p:cNvGraphicFramePr>
            <a:graphicFrameLocks noGrp="1"/>
          </p:cNvGraphicFramePr>
          <p:nvPr>
            <p:extLst>
              <p:ext uri="{D42A27DB-BD31-4B8C-83A1-F6EECF244321}">
                <p14:modId xmlns="" xmlns:p14="http://schemas.microsoft.com/office/powerpoint/2010/main" val="3051913814"/>
              </p:ext>
            </p:extLst>
          </p:nvPr>
        </p:nvGraphicFramePr>
        <p:xfrm>
          <a:off x="923454" y="3012506"/>
          <a:ext cx="6960265" cy="6567656"/>
        </p:xfrm>
        <a:graphic>
          <a:graphicData uri="http://schemas.openxmlformats.org/drawingml/2006/table">
            <a:tbl>
              <a:tblPr/>
              <a:tblGrid>
                <a:gridCol w="1257300">
                  <a:extLst>
                    <a:ext uri="{9D8B030D-6E8A-4147-A177-3AD203B41FA5}">
                      <a16:colId xmlns="" xmlns:a16="http://schemas.microsoft.com/office/drawing/2014/main" val="20000"/>
                    </a:ext>
                  </a:extLst>
                </a:gridCol>
                <a:gridCol w="3162300">
                  <a:extLst>
                    <a:ext uri="{9D8B030D-6E8A-4147-A177-3AD203B41FA5}">
                      <a16:colId xmlns="" xmlns:a16="http://schemas.microsoft.com/office/drawing/2014/main" val="20001"/>
                    </a:ext>
                  </a:extLst>
                </a:gridCol>
                <a:gridCol w="1025942">
                  <a:extLst>
                    <a:ext uri="{9D8B030D-6E8A-4147-A177-3AD203B41FA5}">
                      <a16:colId xmlns="" xmlns:a16="http://schemas.microsoft.com/office/drawing/2014/main" val="20002"/>
                    </a:ext>
                  </a:extLst>
                </a:gridCol>
                <a:gridCol w="1514723">
                  <a:extLst>
                    <a:ext uri="{9D8B030D-6E8A-4147-A177-3AD203B41FA5}">
                      <a16:colId xmlns="" xmlns:a16="http://schemas.microsoft.com/office/drawing/2014/main" val="20003"/>
                    </a:ext>
                  </a:extLst>
                </a:gridCol>
              </a:tblGrid>
              <a:tr h="345926">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物料群組</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說明</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資產類型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分期資產類型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 xmlns:a16="http://schemas.microsoft.com/office/drawing/2014/main" val="10000"/>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土地</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房屋及建築</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運輸設備</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交通設備</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電器設備</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生財設備</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辦公設備</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F</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其他設備</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雜項</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6"/>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電腦設備</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7"/>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FF0000"/>
                          </a:solidFill>
                          <a:effectLst/>
                          <a:latin typeface="微軟正黑體" panose="020B0604030504040204" pitchFamily="34" charset="-120"/>
                          <a:ea typeface="微軟正黑體" panose="020B0604030504040204" pitchFamily="34" charset="-120"/>
                        </a:rPr>
                        <a:t>雜項設備</a:t>
                      </a:r>
                      <a:r>
                        <a:rPr lang="en-US" altLang="zh-TW" sz="2100" b="0" i="0" u="none" strike="noStrike" dirty="0">
                          <a:solidFill>
                            <a:srgbClr val="FF0000"/>
                          </a:solidFill>
                          <a:effectLst/>
                          <a:latin typeface="微軟正黑體" panose="020B0604030504040204" pitchFamily="34" charset="-120"/>
                          <a:ea typeface="微軟正黑體" panose="020B0604030504040204" pitchFamily="34" charset="-120"/>
                        </a:rPr>
                        <a:t>(</a:t>
                      </a:r>
                      <a:r>
                        <a:rPr lang="en-US" sz="2100" b="0" i="0" u="none" strike="noStrike" dirty="0">
                          <a:solidFill>
                            <a:srgbClr val="FF0000"/>
                          </a:solidFill>
                          <a:effectLst/>
                          <a:latin typeface="微軟正黑體" panose="020B0604030504040204" pitchFamily="34" charset="-120"/>
                          <a:ea typeface="微軟正黑體" panose="020B0604030504040204" pitchFamily="34" charset="-120"/>
                        </a:rPr>
                        <a:t>VN)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8"/>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無形資產</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9"/>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未攤銷費用</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0"/>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預付設備款</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有分期機器</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1"/>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預付土地款</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有分期土地</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2"/>
                  </a:ext>
                </a:extLst>
              </a:tr>
              <a:tr h="64960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未完成工程</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有分期房屋及建築</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3"/>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機器設備</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4"/>
                  </a:ext>
                </a:extLst>
              </a:tr>
              <a:tr h="371475">
                <a:tc>
                  <a:txBody>
                    <a:bodyPr/>
                    <a:lstStyle/>
                    <a:p>
                      <a:pPr algn="ctr" fontAlgn="b"/>
                      <a:r>
                        <a:rPr lang="en-US" sz="2100" b="0" i="0" u="none" strike="noStrike" dirty="0" smtClean="0">
                          <a:solidFill>
                            <a:srgbClr val="000000"/>
                          </a:solidFill>
                          <a:effectLst/>
                          <a:latin typeface="微軟正黑體" panose="020B0604030504040204" pitchFamily="34" charset="-120"/>
                          <a:ea typeface="微軟正黑體" panose="020B0604030504040204" pitchFamily="34" charset="-120"/>
                        </a:rPr>
                        <a:t>TL</a:t>
                      </a:r>
                      <a:endParaRPr lang="en-US" sz="2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楦頭</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不分期</a:t>
                      </a:r>
                      <a:endParaRPr lang="en-US" sz="18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5"/>
                  </a:ext>
                </a:extLst>
              </a:tr>
              <a:tr h="371475">
                <a:tc>
                  <a:txBody>
                    <a:bodyPr/>
                    <a:lstStyle/>
                    <a:p>
                      <a:pPr algn="ctr" fontAlgn="b"/>
                      <a:r>
                        <a:rPr lang="en-US" sz="2100" b="0" i="0" u="none" strike="noStrike" dirty="0" smtClean="0">
                          <a:solidFill>
                            <a:srgbClr val="000000"/>
                          </a:solidFill>
                          <a:effectLst/>
                          <a:latin typeface="微軟正黑體" panose="020B0604030504040204" pitchFamily="34" charset="-120"/>
                          <a:ea typeface="微軟正黑體" panose="020B0604030504040204" pitchFamily="34" charset="-120"/>
                        </a:rPr>
                        <a:t>TM</a:t>
                      </a:r>
                      <a:endParaRPr lang="en-US" sz="2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smtClean="0">
                          <a:solidFill>
                            <a:srgbClr val="000000"/>
                          </a:solidFill>
                          <a:effectLst/>
                          <a:latin typeface="微軟正黑體" panose="020B0604030504040204" pitchFamily="34" charset="-120"/>
                          <a:ea typeface="微軟正黑體" panose="020B0604030504040204" pitchFamily="34" charset="-120"/>
                        </a:rPr>
                        <a:t>底模</a:t>
                      </a:r>
                      <a:endPar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smtClean="0">
                          <a:solidFill>
                            <a:srgbClr val="000000"/>
                          </a:solidFill>
                          <a:effectLst/>
                          <a:latin typeface="微軟正黑體" panose="020B0604030504040204" pitchFamily="34" charset="-120"/>
                          <a:ea typeface="微軟正黑體" panose="020B0604030504040204" pitchFamily="34" charset="-120"/>
                        </a:rPr>
                        <a:t>M</a:t>
                      </a:r>
                      <a:endParaRPr lang="en-US" sz="18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8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3" name="文字方塊 2">
            <a:extLst>
              <a:ext uri="{FF2B5EF4-FFF2-40B4-BE49-F238E27FC236}">
                <a16:creationId xmlns="" xmlns:a16="http://schemas.microsoft.com/office/drawing/2014/main" id="{0298F9C4-F6CC-7E4E-147B-014500C15840}"/>
              </a:ext>
            </a:extLst>
          </p:cNvPr>
          <p:cNvSpPr txBox="1"/>
          <p:nvPr/>
        </p:nvSpPr>
        <p:spPr>
          <a:xfrm>
            <a:off x="2444079" y="820877"/>
            <a:ext cx="9920197" cy="461665"/>
          </a:xfrm>
          <a:prstGeom prst="rect">
            <a:avLst/>
          </a:prstGeom>
          <a:noFill/>
        </p:spPr>
        <p:txBody>
          <a:bodyPr wrap="square">
            <a:spAutoFit/>
          </a:bodyPr>
          <a:lstStyle/>
          <a:p>
            <a:pPr eaLnBrk="0" hangingPunct="0"/>
            <a:r>
              <a:rPr lang="en-US" altLang="zh-TW" sz="2400" b="1" dirty="0" smtClean="0">
                <a:latin typeface="微軟正黑體" panose="020B0604030504040204" pitchFamily="34" charset="-120"/>
                <a:ea typeface="微軟正黑體" panose="020B0604030504040204" pitchFamily="34" charset="-120"/>
              </a:rPr>
              <a:t>MM-PU-0090 </a:t>
            </a:r>
            <a:r>
              <a:rPr lang="zh-TW" altLang="en-US" sz="2400" b="1" dirty="0">
                <a:latin typeface="微軟正黑體" panose="020B0604030504040204" pitchFamily="34" charset="-120"/>
                <a:ea typeface="微軟正黑體" panose="020B0604030504040204" pitchFamily="34" charset="-120"/>
              </a:rPr>
              <a:t>固定資產請採驗</a:t>
            </a:r>
            <a:r>
              <a:rPr lang="zh-TW" altLang="en-US" sz="2400" b="1" dirty="0" smtClean="0">
                <a:latin typeface="微軟正黑體" panose="020B0604030504040204" pitchFamily="34" charset="-120"/>
                <a:ea typeface="微軟正黑體" panose="020B0604030504040204" pitchFamily="34" charset="-120"/>
              </a:rPr>
              <a:t>流程</a:t>
            </a:r>
            <a:endParaRPr lang="zh-TW" altLang="en-US" sz="2400" b="1" dirty="0">
              <a:latin typeface="微軟正黑體" panose="020B0604030504040204" pitchFamily="34" charset="-120"/>
              <a:ea typeface="微軟正黑體" panose="020B0604030504040204" pitchFamily="34" charset="-120"/>
            </a:endParaRPr>
          </a:p>
        </p:txBody>
      </p:sp>
      <p:sp>
        <p:nvSpPr>
          <p:cNvPr id="7" name="矩形 6"/>
          <p:cNvSpPr/>
          <p:nvPr/>
        </p:nvSpPr>
        <p:spPr>
          <a:xfrm>
            <a:off x="422274" y="9645135"/>
            <a:ext cx="6880410" cy="369332"/>
          </a:xfrm>
          <a:prstGeom prst="rect">
            <a:avLst/>
          </a:prstGeom>
        </p:spPr>
        <p:txBody>
          <a:bodyPr wrap="none">
            <a:spAutoFit/>
          </a:bodyPr>
          <a:lstStyle/>
          <a:p>
            <a:r>
              <a:rPr lang="en-US" altLang="zh-TW" dirty="0" smtClean="0">
                <a:latin typeface="微軟正黑體" panose="020B0604030504040204" pitchFamily="34" charset="-120"/>
                <a:ea typeface="微軟正黑體" panose="020B0604030504040204" pitchFamily="34" charset="-120"/>
              </a:rPr>
              <a:t>4</a:t>
            </a:r>
            <a:r>
              <a:rPr lang="zh-TW" altLang="en-US" dirty="0" smtClean="0">
                <a:latin typeface="微軟正黑體" panose="020B0604030504040204" pitchFamily="34" charset="-120"/>
                <a:ea typeface="微軟正黑體" panose="020B0604030504040204" pitchFamily="34" charset="-120"/>
              </a:rPr>
              <a:t>、</a:t>
            </a:r>
            <a:r>
              <a:rPr lang="en-US" altLang="zh-TW" dirty="0" smtClean="0">
                <a:latin typeface="微軟正黑體" panose="020B0604030504040204" pitchFamily="34" charset="-120"/>
                <a:ea typeface="微軟正黑體" panose="020B0604030504040204" pitchFamily="34" charset="-120"/>
              </a:rPr>
              <a:t> M</a:t>
            </a:r>
            <a:r>
              <a:rPr lang="zh-TW" altLang="en-US" dirty="0" smtClean="0">
                <a:latin typeface="微軟正黑體" panose="020B0604030504040204" pitchFamily="34" charset="-120"/>
                <a:ea typeface="微軟正黑體" panose="020B0604030504040204" pitchFamily="34" charset="-120"/>
              </a:rPr>
              <a:t>開頭的物料群組都屬於機器設備，它們資產類型都預設為  </a:t>
            </a:r>
            <a:r>
              <a:rPr lang="en-US" altLang="zh-TW" dirty="0" smtClean="0">
                <a:solidFill>
                  <a:srgbClr val="FF0000"/>
                </a:solidFill>
                <a:latin typeface="微軟正黑體" panose="020B0604030504040204" pitchFamily="34" charset="-120"/>
                <a:ea typeface="微軟正黑體" panose="020B0604030504040204" pitchFamily="34" charset="-120"/>
              </a:rPr>
              <a:t>M</a:t>
            </a:r>
            <a:endParaRPr lang="zh-TW" altLang="en-US" dirty="0">
              <a:solidFill>
                <a:srgbClr val="FF0000"/>
              </a:solidFill>
            </a:endParaRPr>
          </a:p>
        </p:txBody>
      </p:sp>
      <p:sp>
        <p:nvSpPr>
          <p:cNvPr id="8" name="TextBox 2">
            <a:extLst>
              <a:ext uri="{FF2B5EF4-FFF2-40B4-BE49-F238E27FC236}">
                <a16:creationId xmlns="" xmlns:a16="http://schemas.microsoft.com/office/drawing/2014/main" id="{6B09882B-C884-419E-9EB0-7F4E083F29C0}"/>
              </a:ext>
            </a:extLst>
          </p:cNvPr>
          <p:cNvSpPr txBox="1"/>
          <p:nvPr/>
        </p:nvSpPr>
        <p:spPr>
          <a:xfrm>
            <a:off x="16643413" y="697082"/>
            <a:ext cx="1464973" cy="338554"/>
          </a:xfrm>
          <a:prstGeom prst="rect">
            <a:avLst/>
          </a:prstGeom>
          <a:noFill/>
        </p:spPr>
        <p:txBody>
          <a:bodyPr wrap="square" rtlCol="0">
            <a:spAutoFit/>
          </a:bodyPr>
          <a:lstStyle/>
          <a:p>
            <a:r>
              <a:rPr lang="en-US" altLang="zh-TW" sz="1600" dirty="0" smtClean="0">
                <a:latin typeface="微軟正黑體" panose="020B0604030504040204" pitchFamily="34" charset="-120"/>
                <a:ea typeface="微軟正黑體" panose="020B0604030504040204" pitchFamily="34" charset="-120"/>
              </a:rPr>
              <a:t>2025/07/14</a:t>
            </a:r>
            <a:endParaRPr lang="zh-TW" altLang="en-US"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 xmlns:p14="http://schemas.microsoft.com/office/powerpoint/2010/main" val="14326997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6730180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 xmlns:a16="http://schemas.microsoft.com/office/drawing/2014/main"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 xmlns:a16="http://schemas.microsoft.com/office/drawing/2014/main"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 xmlns:a16="http://schemas.microsoft.com/office/drawing/2014/main"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 xmlns:a16="http://schemas.microsoft.com/office/drawing/2014/main"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 xmlns:a16="http://schemas.microsoft.com/office/drawing/2014/main"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 xmlns:a16="http://schemas.microsoft.com/office/drawing/2014/main"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11" name="流程圖: 預設處理作業 21">
            <a:extLst>
              <a:ext uri="{FF2B5EF4-FFF2-40B4-BE49-F238E27FC236}">
                <a16:creationId xmlns="" xmlns:a16="http://schemas.microsoft.com/office/drawing/2014/main"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 xmlns:a16="http://schemas.microsoft.com/office/drawing/2014/main"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 xmlns:a16="http://schemas.microsoft.com/office/drawing/2014/main"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 xmlns:a16="http://schemas.microsoft.com/office/drawing/2014/main"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 xmlns:a16="http://schemas.microsoft.com/office/drawing/2014/main"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 xmlns:a16="http://schemas.microsoft.com/office/drawing/2014/main"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 xmlns:a16="http://schemas.microsoft.com/office/drawing/2014/main"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 xmlns:a16="http://schemas.microsoft.com/office/drawing/2014/main"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 xmlns:a16="http://schemas.microsoft.com/office/drawing/2014/main"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 xmlns:a16="http://schemas.microsoft.com/office/drawing/2014/main"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 xmlns:a16="http://schemas.microsoft.com/office/drawing/2014/main"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 xmlns:a16="http://schemas.microsoft.com/office/drawing/2014/main"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 xmlns:a16="http://schemas.microsoft.com/office/drawing/2014/main"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7" name="Group 232">
            <a:extLst>
              <a:ext uri="{FF2B5EF4-FFF2-40B4-BE49-F238E27FC236}">
                <a16:creationId xmlns="" xmlns:a16="http://schemas.microsoft.com/office/drawing/2014/main"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 xmlns:a16="http://schemas.microsoft.com/office/drawing/2014/main"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 xmlns:a16="http://schemas.microsoft.com/office/drawing/2014/main"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 xmlns:a16="http://schemas.microsoft.com/office/drawing/2014/main"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 xmlns:a16="http://schemas.microsoft.com/office/drawing/2014/main"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 xmlns:a16="http://schemas.microsoft.com/office/drawing/2014/main"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 xmlns:a16="http://schemas.microsoft.com/office/drawing/2014/main"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 xmlns:a16="http://schemas.microsoft.com/office/drawing/2014/main"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 xmlns:a16="http://schemas.microsoft.com/office/drawing/2014/main"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 xmlns:p14="http://schemas.microsoft.com/office/powerpoint/2010/main"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16017</TotalTime>
  <Words>2278</Words>
  <Application>Microsoft Office PowerPoint</Application>
  <PresentationFormat>自訂</PresentationFormat>
  <Paragraphs>654</Paragraphs>
  <Slides>14</Slides>
  <Notes>12</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2013 - 2022 Theme</vt:lpstr>
      <vt:lpstr>投影片 1</vt:lpstr>
      <vt:lpstr>投影片 2</vt:lpstr>
      <vt:lpstr>投影片 3</vt:lpstr>
      <vt:lpstr>投影片 4</vt:lpstr>
      <vt:lpstr>投影片 5</vt:lpstr>
      <vt:lpstr>投影片 6</vt:lpstr>
      <vt:lpstr>投影片 7</vt:lpstr>
      <vt:lpstr>投影片 8</vt:lpstr>
      <vt:lpstr>投影片 9</vt:lpstr>
      <vt:lpstr>投影片 10</vt:lpstr>
      <vt:lpstr>投影片 11</vt:lpstr>
      <vt:lpstr>投影片 12</vt:lpstr>
      <vt:lpstr>投影片 13</vt:lpstr>
      <vt:lpstr>投影片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229</cp:revision>
  <dcterms:created xsi:type="dcterms:W3CDTF">2023-05-31T01:27:04Z</dcterms:created>
  <dcterms:modified xsi:type="dcterms:W3CDTF">2025-07-15T08:38:43Z</dcterms:modified>
</cp:coreProperties>
</file>