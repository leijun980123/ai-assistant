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9.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0"/>
  </p:notesMasterIdLst>
  <p:sldIdLst>
    <p:sldId id="261" r:id="rId2"/>
    <p:sldId id="2147472997" r:id="rId3"/>
    <p:sldId id="257" r:id="rId4"/>
    <p:sldId id="275" r:id="rId5"/>
    <p:sldId id="2147375391" r:id="rId6"/>
    <p:sldId id="2147375392" r:id="rId7"/>
    <p:sldId id="2147473000" r:id="rId8"/>
    <p:sldId id="2147375389" r:id="rId9"/>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9818" autoAdjust="0"/>
    <p:restoredTop sz="94142"/>
  </p:normalViewPr>
  <p:slideViewPr>
    <p:cSldViewPr snapToGrid="0">
      <p:cViewPr>
        <p:scale>
          <a:sx n="50" d="100"/>
          <a:sy n="50" d="100"/>
        </p:scale>
        <p:origin x="-448" y="8"/>
      </p:cViewPr>
      <p:guideLst>
        <p:guide orient="horz" pos="3240"/>
        <p:guide pos="576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2025/7/22</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 xmlns:p14="http://schemas.microsoft.com/office/powerpoint/2010/main"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996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902090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 xmlns:a16="http://schemas.microsoft.com/office/drawing/2014/main" id="{E25844F4-1900-BFFB-A55D-854D27EE700E}"/>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 xmlns:a16="http://schemas.microsoft.com/office/drawing/2014/main" id="{1089C009-AC07-C46C-AE77-052C754A5BCD}"/>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 xmlns:a16="http://schemas.microsoft.com/office/drawing/2014/main"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 xmlns:a16="http://schemas.microsoft.com/office/drawing/2014/main"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 xmlns:a16="http://schemas.microsoft.com/office/drawing/2014/main"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 xmlns:a16="http://schemas.microsoft.com/office/drawing/2014/main"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 xmlns:p14="http://schemas.microsoft.com/office/powerpoint/2010/main"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3675913295"/>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11889371">
                  <a:extLst>
                    <a:ext uri="{9D8B030D-6E8A-4147-A177-3AD203B41FA5}">
                      <a16:colId xmlns="" xmlns:a16="http://schemas.microsoft.com/office/drawing/2014/main" val="20001"/>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 xmlns:a16="http://schemas.microsoft.com/office/drawing/2014/main"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642626727"/>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9468940">
                  <a:extLst>
                    <a:ext uri="{9D8B030D-6E8A-4147-A177-3AD203B41FA5}">
                      <a16:colId xmlns="" xmlns:a16="http://schemas.microsoft.com/office/drawing/2014/main" val="20001"/>
                    </a:ext>
                  </a:extLst>
                </a:gridCol>
                <a:gridCol w="2420431">
                  <a:extLst>
                    <a:ext uri="{9D8B030D-6E8A-4147-A177-3AD203B41FA5}">
                      <a16:colId xmlns="" xmlns:a16="http://schemas.microsoft.com/office/drawing/2014/main" val="697488759"/>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 xmlns:a16="http://schemas.microsoft.com/office/drawing/2014/main"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3940032794"/>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 xmlns:a16="http://schemas.microsoft.com/office/drawing/2014/main"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 xmlns:a16="http://schemas.microsoft.com/office/drawing/2014/main" id="{0B02BF32-51F7-DDF0-4455-62412D8BC839}"/>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7/22/2025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 xmlns:a16="http://schemas.microsoft.com/office/drawing/2014/main"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 xmlns:a16="http://schemas.microsoft.com/office/drawing/2014/main"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smtClean="0">
                <a:latin typeface="Microsoft JhengHei" panose="020B0604030504040204" pitchFamily="34" charset="-120"/>
                <a:ea typeface="Microsoft JhengHei" panose="020B0604030504040204" pitchFamily="34" charset="-120"/>
              </a:rPr>
              <a:t>2025/07/01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 xmlns:a16="http://schemas.microsoft.com/office/drawing/2014/main"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MM-PU-0050</a:t>
            </a:r>
            <a:endParaRPr lang="zh-TW" altLang="en-US" sz="3600" b="0" dirty="0">
              <a:ea typeface="新細明體" panose="02020500000000000000" pitchFamily="18" charset="-120"/>
            </a:endParaRPr>
          </a:p>
        </p:txBody>
      </p:sp>
      <p:sp>
        <p:nvSpPr>
          <p:cNvPr id="5" name="矩形 1">
            <a:extLst>
              <a:ext uri="{FF2B5EF4-FFF2-40B4-BE49-F238E27FC236}">
                <a16:creationId xmlns="" xmlns:a16="http://schemas.microsoft.com/office/drawing/2014/main"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trike="noStrike" spc="-1" dirty="0">
                <a:solidFill>
                  <a:schemeClr val="dk1"/>
                </a:solidFill>
                <a:latin typeface="Microsoft JhengHei"/>
                <a:ea typeface="Microsoft JhengHei"/>
              </a:rPr>
              <a:t>製工具請採驗流程</a:t>
            </a:r>
            <a:endParaRPr lang="zh-TW" altLang="en-US" sz="3600" b="0" dirty="0">
              <a:ea typeface="新細明體" panose="02020500000000000000" pitchFamily="18" charset="-120"/>
            </a:endParaRPr>
          </a:p>
        </p:txBody>
      </p:sp>
    </p:spTree>
    <p:extLst>
      <p:ext uri="{BB962C8B-B14F-4D97-AF65-F5344CB8AC3E}">
        <p14:creationId xmlns="" xmlns:p14="http://schemas.microsoft.com/office/powerpoint/2010/main"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 xmlns:p14="http://schemas.microsoft.com/office/powerpoint/2010/main" val="2966851121"/>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 xmlns:a16="http://schemas.microsoft.com/office/drawing/2014/main" val="1034483988"/>
                    </a:ext>
                  </a:extLst>
                </a:gridCol>
                <a:gridCol w="2061420">
                  <a:extLst>
                    <a:ext uri="{9D8B030D-6E8A-4147-A177-3AD203B41FA5}">
                      <a16:colId xmlns="" xmlns:a16="http://schemas.microsoft.com/office/drawing/2014/main" val="20000"/>
                    </a:ext>
                  </a:extLst>
                </a:gridCol>
                <a:gridCol w="8327926">
                  <a:extLst>
                    <a:ext uri="{9D8B030D-6E8A-4147-A177-3AD203B41FA5}">
                      <a16:colId xmlns="" xmlns:a16="http://schemas.microsoft.com/office/drawing/2014/main" val="20001"/>
                    </a:ext>
                  </a:extLst>
                </a:gridCol>
                <a:gridCol w="1423236">
                  <a:extLst>
                    <a:ext uri="{9D8B030D-6E8A-4147-A177-3AD203B41FA5}">
                      <a16:colId xmlns="" xmlns:a16="http://schemas.microsoft.com/office/drawing/2014/main" val="20002"/>
                    </a:ext>
                  </a:extLst>
                </a:gridCol>
                <a:gridCol w="634687">
                  <a:extLst>
                    <a:ext uri="{9D8B030D-6E8A-4147-A177-3AD203B41FA5}">
                      <a16:colId xmlns="" xmlns:a16="http://schemas.microsoft.com/office/drawing/2014/main" val="20003"/>
                    </a:ext>
                  </a:extLst>
                </a:gridCol>
                <a:gridCol w="1192442">
                  <a:extLst>
                    <a:ext uri="{9D8B030D-6E8A-4147-A177-3AD203B41FA5}">
                      <a16:colId xmlns="" xmlns:a16="http://schemas.microsoft.com/office/drawing/2014/main" val="2445255174"/>
                    </a:ext>
                  </a:extLst>
                </a:gridCol>
                <a:gridCol w="576988">
                  <a:extLst>
                    <a:ext uri="{9D8B030D-6E8A-4147-A177-3AD203B41FA5}">
                      <a16:colId xmlns="" xmlns:a16="http://schemas.microsoft.com/office/drawing/2014/main" val="3610384773"/>
                    </a:ext>
                  </a:extLst>
                </a:gridCol>
                <a:gridCol w="1240658">
                  <a:extLst>
                    <a:ext uri="{9D8B030D-6E8A-4147-A177-3AD203B41FA5}">
                      <a16:colId xmlns="" xmlns:a16="http://schemas.microsoft.com/office/drawing/2014/main"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a:solidFill>
                            <a:schemeClr val="lt1"/>
                          </a:solidFill>
                          <a:latin typeface="Microsoft JhengHei"/>
                          <a:ea typeface="Microsoft JhengHei"/>
                          <a:cs typeface="Microsoft JhengHei"/>
                          <a:sym typeface="Microsoft JhengHei"/>
                        </a:rPr>
                        <a:t> </a:t>
                      </a:r>
                      <a:r>
                        <a:rPr lang="en-US" altLang="zh-TW" sz="1800" b="1" u="none" strike="noStrike" cap="none" dirty="0" smtClean="0">
                          <a:solidFill>
                            <a:schemeClr val="lt1"/>
                          </a:solidFill>
                          <a:latin typeface="Microsoft JhengHei"/>
                          <a:ea typeface="Microsoft JhengHei"/>
                          <a:cs typeface="Microsoft JhengHei"/>
                          <a:sym typeface="Microsoft JhengHei"/>
                        </a:rPr>
                        <a:t>2025/07/01</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a:t>
                      </a:r>
                      <a:r>
                        <a:rPr lang="en-US" sz="1800" b="1" u="none" strike="noStrike" cap="none" dirty="0" smtClean="0">
                          <a:solidFill>
                            <a:schemeClr val="dk1"/>
                          </a:solidFill>
                          <a:latin typeface="Microsoft JhengHei"/>
                          <a:ea typeface="Microsoft JhengHei"/>
                          <a:cs typeface="Microsoft JhengHei"/>
                          <a:sym typeface="Microsoft JhengHei"/>
                        </a:rPr>
                        <a:t>v2.2</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2"/>
                  </a:ext>
                </a:extLst>
              </a:tr>
            </a:tbl>
          </a:graphicData>
        </a:graphic>
      </p:graphicFrame>
      <p:graphicFrame>
        <p:nvGraphicFramePr>
          <p:cNvPr id="191" name="Google Shape;191;p2"/>
          <p:cNvGraphicFramePr/>
          <p:nvPr>
            <p:extLst>
              <p:ext uri="{D42A27DB-BD31-4B8C-83A1-F6EECF244321}">
                <p14:modId xmlns="" xmlns:p14="http://schemas.microsoft.com/office/powerpoint/2010/main" val="3644532040"/>
              </p:ext>
            </p:extLst>
          </p:nvPr>
        </p:nvGraphicFramePr>
        <p:xfrm>
          <a:off x="366270" y="3155451"/>
          <a:ext cx="17518775" cy="3149589"/>
        </p:xfrm>
        <a:graphic>
          <a:graphicData uri="http://schemas.openxmlformats.org/drawingml/2006/table">
            <a:tbl>
              <a:tblPr>
                <a:noFill/>
              </a:tblPr>
              <a:tblGrid>
                <a:gridCol w="2061420">
                  <a:extLst>
                    <a:ext uri="{9D8B030D-6E8A-4147-A177-3AD203B41FA5}">
                      <a16:colId xmlns="" xmlns:a16="http://schemas.microsoft.com/office/drawing/2014/main" val="2419195791"/>
                    </a:ext>
                  </a:extLst>
                </a:gridCol>
                <a:gridCol w="2061420">
                  <a:extLst>
                    <a:ext uri="{9D8B030D-6E8A-4147-A177-3AD203B41FA5}">
                      <a16:colId xmlns="" xmlns:a16="http://schemas.microsoft.com/office/drawing/2014/main" val="20000"/>
                    </a:ext>
                  </a:extLst>
                </a:gridCol>
                <a:gridCol w="8327988">
                  <a:extLst>
                    <a:ext uri="{9D8B030D-6E8A-4147-A177-3AD203B41FA5}">
                      <a16:colId xmlns="" xmlns:a16="http://schemas.microsoft.com/office/drawing/2014/main" val="20001"/>
                    </a:ext>
                  </a:extLst>
                </a:gridCol>
                <a:gridCol w="3270143">
                  <a:extLst>
                    <a:ext uri="{9D8B030D-6E8A-4147-A177-3AD203B41FA5}">
                      <a16:colId xmlns="" xmlns:a16="http://schemas.microsoft.com/office/drawing/2014/main" val="20002"/>
                    </a:ext>
                  </a:extLst>
                </a:gridCol>
                <a:gridCol w="1797804">
                  <a:extLst>
                    <a:ext uri="{9D8B030D-6E8A-4147-A177-3AD203B41FA5}">
                      <a16:colId xmlns="" xmlns:a16="http://schemas.microsoft.com/office/drawing/2014/main"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dirty="0" smtClean="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2.1</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r>
                        <a:rPr lang="zh-TW" altLang="en-US" sz="1800" b="1" strike="noStrike" spc="-1" dirty="0" smtClean="0">
                          <a:solidFill>
                            <a:srgbClr val="000000"/>
                          </a:solidFill>
                          <a:latin typeface="Microsoft JhengHei" panose="020B0604030504040204" pitchFamily="34" charset="-120"/>
                          <a:ea typeface="Microsoft JhengHei" panose="020B0604030504040204" pitchFamily="34" charset="-120"/>
                        </a:rPr>
                        <a:t>修改不合宜的</a:t>
                      </a:r>
                      <a:r>
                        <a:rPr lang="en-US" altLang="zh-TW" sz="1800" b="1" strike="noStrike" spc="-1" dirty="0" smtClean="0">
                          <a:solidFill>
                            <a:srgbClr val="000000"/>
                          </a:solidFill>
                          <a:latin typeface="Microsoft JhengHei" panose="020B0604030504040204" pitchFamily="34" charset="-120"/>
                          <a:ea typeface="Microsoft JhengHei" panose="020B0604030504040204" pitchFamily="34" charset="-120"/>
                        </a:rPr>
                        <a:t>103/105</a:t>
                      </a:r>
                      <a:r>
                        <a:rPr lang="zh-TW" altLang="en-US" sz="1800" b="1" strike="noStrike" spc="-1" dirty="0" smtClean="0">
                          <a:solidFill>
                            <a:srgbClr val="000000"/>
                          </a:solidFill>
                          <a:latin typeface="Microsoft JhengHei" panose="020B0604030504040204" pitchFamily="34" charset="-120"/>
                          <a:ea typeface="Microsoft JhengHei" panose="020B0604030504040204" pitchFamily="34" charset="-120"/>
                        </a:rPr>
                        <a:t>，改為</a:t>
                      </a:r>
                      <a:r>
                        <a:rPr lang="en-US" altLang="zh-TW" sz="1800" b="1" strike="noStrike" spc="-1" dirty="0" smtClean="0">
                          <a:solidFill>
                            <a:srgbClr val="000000"/>
                          </a:solidFill>
                          <a:latin typeface="Microsoft JhengHei" panose="020B0604030504040204" pitchFamily="34" charset="-120"/>
                          <a:ea typeface="Microsoft JhengHei" panose="020B0604030504040204" pitchFamily="34" charset="-120"/>
                        </a:rPr>
                        <a:t>101</a:t>
                      </a:r>
                      <a:r>
                        <a:rPr lang="zh-TW" altLang="en-US" sz="1800" b="1" strike="noStrike" spc="-1" dirty="0" smtClean="0">
                          <a:solidFill>
                            <a:srgbClr val="000000"/>
                          </a:solidFill>
                          <a:latin typeface="Microsoft JhengHei" panose="020B0604030504040204" pitchFamily="34" charset="-120"/>
                          <a:ea typeface="Microsoft JhengHei" panose="020B0604030504040204" pitchFamily="34" charset="-120"/>
                        </a:rPr>
                        <a:t>直接入庫</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r>
                        <a:rPr lang="en-US" altLang="zh-TW" sz="1800" b="0" strike="noStrike" spc="-1" dirty="0" smtClean="0">
                          <a:solidFill>
                            <a:schemeClr val="dk1"/>
                          </a:solidFill>
                          <a:latin typeface="Microsoft JhengHei"/>
                          <a:ea typeface="Microsoft JhengHei"/>
                        </a:rPr>
                        <a:t>Vincent</a:t>
                      </a:r>
                      <a:r>
                        <a:rPr lang="en-US" altLang="zh-TW" sz="1800" b="0" strike="noStrike" spc="-1" baseline="0" dirty="0" smtClean="0">
                          <a:solidFill>
                            <a:schemeClr val="dk1"/>
                          </a:solidFill>
                          <a:latin typeface="Microsoft JhengHei"/>
                          <a:ea typeface="Microsoft JhengHei"/>
                        </a:rPr>
                        <a:t> Yeh</a:t>
                      </a: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r>
                        <a:rPr lang="en-US" sz="1800" b="1" strike="noStrike" spc="-1" dirty="0" smtClean="0">
                          <a:solidFill>
                            <a:srgbClr val="000000"/>
                          </a:solidFill>
                          <a:latin typeface="Microsoft JhengHei" panose="020B0604030504040204" pitchFamily="34" charset="-120"/>
                          <a:ea typeface="Microsoft JhengHei" panose="020B0604030504040204" pitchFamily="34" charset="-120"/>
                        </a:rPr>
                        <a:t>2025/07/14</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dirty="0" smtClean="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2.2</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indent="0" algn="l" defTabSz="1371600" rtl="0" eaLnBrk="1" fontAlgn="auto" latinLnBrk="0" hangingPunct="1">
                        <a:lnSpc>
                          <a:spcPct val="166000"/>
                        </a:lnSpc>
                        <a:spcBef>
                          <a:spcPts val="0"/>
                        </a:spcBef>
                        <a:spcAft>
                          <a:spcPts val="0"/>
                        </a:spcAft>
                        <a:buClrTx/>
                        <a:buSzTx/>
                        <a:buFontTx/>
                        <a:buNone/>
                        <a:tabLst>
                          <a:tab pos="0" algn="l"/>
                        </a:tabLst>
                        <a:defRPr/>
                      </a:pPr>
                      <a:r>
                        <a:rPr lang="zh-TW" altLang="en-US" sz="1800" b="1" strike="noStrike" spc="-1" dirty="0" smtClean="0">
                          <a:solidFill>
                            <a:srgbClr val="000000"/>
                          </a:solidFill>
                          <a:latin typeface="Microsoft JhengHei" panose="020B0604030504040204" pitchFamily="34" charset="-120"/>
                          <a:ea typeface="Microsoft JhengHei" panose="020B0604030504040204" pitchFamily="34" charset="-120"/>
                        </a:rPr>
                        <a:t>修改送</a:t>
                      </a:r>
                      <a:r>
                        <a:rPr lang="en-US" altLang="zh-TW" sz="1800" b="1" strike="noStrike" spc="-1" dirty="0" smtClean="0">
                          <a:solidFill>
                            <a:srgbClr val="000000"/>
                          </a:solidFill>
                          <a:latin typeface="Microsoft JhengHei" panose="020B0604030504040204" pitchFamily="34" charset="-120"/>
                          <a:ea typeface="Microsoft JhengHei" panose="020B0604030504040204" pitchFamily="34" charset="-120"/>
                        </a:rPr>
                        <a:t>BPM</a:t>
                      </a:r>
                      <a:r>
                        <a:rPr lang="zh-TW" altLang="en-US" sz="1800" b="1" strike="noStrike" spc="-1" dirty="0" smtClean="0">
                          <a:solidFill>
                            <a:srgbClr val="000000"/>
                          </a:solidFill>
                          <a:latin typeface="Microsoft JhengHei" panose="020B0604030504040204" pitchFamily="34" charset="-120"/>
                          <a:ea typeface="Microsoft JhengHei" panose="020B0604030504040204" pitchFamily="34" charset="-120"/>
                        </a:rPr>
                        <a:t>前要作</a:t>
                      </a:r>
                      <a:r>
                        <a:rPr lang="en-US" altLang="zh-TW" sz="1800" b="1" strike="noStrike" spc="-1" dirty="0" smtClean="0">
                          <a:solidFill>
                            <a:srgbClr val="000000"/>
                          </a:solidFill>
                          <a:latin typeface="Microsoft JhengHei" panose="020B0604030504040204" pitchFamily="34" charset="-120"/>
                          <a:ea typeface="Microsoft JhengHei" panose="020B0604030504040204" pitchFamily="34" charset="-120"/>
                        </a:rPr>
                        <a:t>SAP</a:t>
                      </a:r>
                      <a:r>
                        <a:rPr lang="zh-TW" altLang="en-US" sz="1800" b="1" strike="noStrike" spc="-1" dirty="0" smtClean="0">
                          <a:solidFill>
                            <a:srgbClr val="000000"/>
                          </a:solidFill>
                          <a:latin typeface="Microsoft JhengHei" panose="020B0604030504040204" pitchFamily="34" charset="-120"/>
                          <a:ea typeface="Microsoft JhengHei" panose="020B0604030504040204" pitchFamily="34" charset="-120"/>
                        </a:rPr>
                        <a:t>的核發</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r>
                        <a:rPr lang="en-US" altLang="zh-TW" sz="1800" b="0" strike="noStrike" spc="-1" dirty="0" smtClean="0">
                          <a:solidFill>
                            <a:schemeClr val="dk1"/>
                          </a:solidFill>
                          <a:latin typeface="Microsoft JhengHei"/>
                          <a:ea typeface="Microsoft JhengHei"/>
                        </a:rPr>
                        <a:t>Vincent</a:t>
                      </a:r>
                      <a:r>
                        <a:rPr lang="en-US" altLang="zh-TW" sz="1800" b="0" strike="noStrike" spc="-1" baseline="0" dirty="0" smtClean="0">
                          <a:solidFill>
                            <a:schemeClr val="dk1"/>
                          </a:solidFill>
                          <a:latin typeface="Microsoft JhengHei"/>
                          <a:ea typeface="Microsoft JhengHei"/>
                        </a:rPr>
                        <a:t> Yeh</a:t>
                      </a: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r>
                        <a:rPr lang="en-US" sz="1800" b="1" strike="noStrike" spc="-1" dirty="0" smtClean="0">
                          <a:solidFill>
                            <a:srgbClr val="000000"/>
                          </a:solidFill>
                          <a:latin typeface="Microsoft JhengHei" panose="020B0604030504040204" pitchFamily="34" charset="-120"/>
                          <a:ea typeface="Microsoft JhengHei" panose="020B0604030504040204" pitchFamily="34" charset="-120"/>
                        </a:rPr>
                        <a:t>2025/07/18</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 xmlns:a16="http://schemas.microsoft.com/office/drawing/2014/main" val="1342071289"/>
                  </a:ext>
                </a:extLst>
              </a:tr>
            </a:tbl>
          </a:graphicData>
        </a:graphic>
      </p:graphicFrame>
      <p:graphicFrame>
        <p:nvGraphicFramePr>
          <p:cNvPr id="192" name="Google Shape;192;p2"/>
          <p:cNvGraphicFramePr/>
          <p:nvPr>
            <p:extLst>
              <p:ext uri="{D42A27DB-BD31-4B8C-83A1-F6EECF244321}">
                <p14:modId xmlns="" xmlns:p14="http://schemas.microsoft.com/office/powerpoint/2010/main"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 xmlns:a16="http://schemas.microsoft.com/office/drawing/2014/main" val="2993713426"/>
                    </a:ext>
                  </a:extLst>
                </a:gridCol>
                <a:gridCol w="2066819">
                  <a:extLst>
                    <a:ext uri="{9D8B030D-6E8A-4147-A177-3AD203B41FA5}">
                      <a16:colId xmlns="" xmlns:a16="http://schemas.microsoft.com/office/drawing/2014/main" val="20000"/>
                    </a:ext>
                  </a:extLst>
                </a:gridCol>
                <a:gridCol w="1797521">
                  <a:extLst>
                    <a:ext uri="{9D8B030D-6E8A-4147-A177-3AD203B41FA5}">
                      <a16:colId xmlns="" xmlns:a16="http://schemas.microsoft.com/office/drawing/2014/main" val="20001"/>
                    </a:ext>
                  </a:extLst>
                </a:gridCol>
                <a:gridCol w="1932170">
                  <a:extLst>
                    <a:ext uri="{9D8B030D-6E8A-4147-A177-3AD203B41FA5}">
                      <a16:colId xmlns="" xmlns:a16="http://schemas.microsoft.com/office/drawing/2014/main" val="20002"/>
                    </a:ext>
                  </a:extLst>
                </a:gridCol>
                <a:gridCol w="1932170">
                  <a:extLst>
                    <a:ext uri="{9D8B030D-6E8A-4147-A177-3AD203B41FA5}">
                      <a16:colId xmlns="" xmlns:a16="http://schemas.microsoft.com/office/drawing/2014/main" val="20003"/>
                    </a:ext>
                  </a:extLst>
                </a:gridCol>
                <a:gridCol w="1932170">
                  <a:extLst>
                    <a:ext uri="{9D8B030D-6E8A-4147-A177-3AD203B41FA5}">
                      <a16:colId xmlns="" xmlns:a16="http://schemas.microsoft.com/office/drawing/2014/main" val="20004"/>
                    </a:ext>
                  </a:extLst>
                </a:gridCol>
                <a:gridCol w="1932170">
                  <a:extLst>
                    <a:ext uri="{9D8B030D-6E8A-4147-A177-3AD203B41FA5}">
                      <a16:colId xmlns="" xmlns:a16="http://schemas.microsoft.com/office/drawing/2014/main" val="20005"/>
                    </a:ext>
                  </a:extLst>
                </a:gridCol>
                <a:gridCol w="1932170">
                  <a:extLst>
                    <a:ext uri="{9D8B030D-6E8A-4147-A177-3AD203B41FA5}">
                      <a16:colId xmlns="" xmlns:a16="http://schemas.microsoft.com/office/drawing/2014/main" val="20006"/>
                    </a:ext>
                  </a:extLst>
                </a:gridCol>
                <a:gridCol w="1932170">
                  <a:extLst>
                    <a:ext uri="{9D8B030D-6E8A-4147-A177-3AD203B41FA5}">
                      <a16:colId xmlns="" xmlns:a16="http://schemas.microsoft.com/office/drawing/2014/main"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 xmlns:a16="http://schemas.microsoft.com/office/drawing/2014/main" val="10000"/>
                  </a:ext>
                </a:extLst>
              </a:tr>
            </a:tbl>
          </a:graphicData>
        </a:graphic>
      </p:graphicFrame>
      <p:graphicFrame>
        <p:nvGraphicFramePr>
          <p:cNvPr id="193" name="Google Shape;193;p2"/>
          <p:cNvGraphicFramePr/>
          <p:nvPr>
            <p:extLst>
              <p:ext uri="{D42A27DB-BD31-4B8C-83A1-F6EECF244321}">
                <p14:modId xmlns="" xmlns:p14="http://schemas.microsoft.com/office/powerpoint/2010/main" val="2533766799"/>
              </p:ext>
            </p:extLst>
          </p:nvPr>
        </p:nvGraphicFramePr>
        <p:xfrm>
          <a:off x="366270" y="6835335"/>
          <a:ext cx="17518773" cy="3195196"/>
        </p:xfrm>
        <a:graphic>
          <a:graphicData uri="http://schemas.openxmlformats.org/drawingml/2006/table">
            <a:tbl>
              <a:tblPr>
                <a:noFill/>
              </a:tblPr>
              <a:tblGrid>
                <a:gridCol w="2045751">
                  <a:extLst>
                    <a:ext uri="{9D8B030D-6E8A-4147-A177-3AD203B41FA5}">
                      <a16:colId xmlns="" xmlns:a16="http://schemas.microsoft.com/office/drawing/2014/main" val="1293584311"/>
                    </a:ext>
                  </a:extLst>
                </a:gridCol>
                <a:gridCol w="2066989">
                  <a:extLst>
                    <a:ext uri="{9D8B030D-6E8A-4147-A177-3AD203B41FA5}">
                      <a16:colId xmlns="" xmlns:a16="http://schemas.microsoft.com/office/drawing/2014/main" val="20000"/>
                    </a:ext>
                  </a:extLst>
                </a:gridCol>
                <a:gridCol w="8024943">
                  <a:extLst>
                    <a:ext uri="{9D8B030D-6E8A-4147-A177-3AD203B41FA5}">
                      <a16:colId xmlns="" xmlns:a16="http://schemas.microsoft.com/office/drawing/2014/main" val="20001"/>
                    </a:ext>
                  </a:extLst>
                </a:gridCol>
                <a:gridCol w="2861625">
                  <a:extLst>
                    <a:ext uri="{9D8B030D-6E8A-4147-A177-3AD203B41FA5}">
                      <a16:colId xmlns="" xmlns:a16="http://schemas.microsoft.com/office/drawing/2014/main" val="20002"/>
                    </a:ext>
                  </a:extLst>
                </a:gridCol>
                <a:gridCol w="2519465">
                  <a:extLst>
                    <a:ext uri="{9D8B030D-6E8A-4147-A177-3AD203B41FA5}">
                      <a16:colId xmlns="" xmlns:a16="http://schemas.microsoft.com/office/drawing/2014/main"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endParaRPr lang="en-US" sz="1800" b="1" strike="noStrike" spc="-1" dirty="0">
                        <a:solidFill>
                          <a:schemeClr val="dk1"/>
                        </a:solidFill>
                        <a:latin typeface="Microsoft JhengHei"/>
                        <a:ea typeface="Microsoft JhengHei"/>
                      </a:endParaRPr>
                    </a:p>
                  </a:txBody>
                  <a:tcPr marL="102600" marR="10260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5"/>
                  </a:ext>
                </a:extLst>
              </a:tr>
            </a:tbl>
          </a:graphicData>
        </a:graphic>
      </p:graphicFrame>
      <p:sp>
        <p:nvSpPr>
          <p:cNvPr id="2" name="TextBox 1">
            <a:extLst>
              <a:ext uri="{FF2B5EF4-FFF2-40B4-BE49-F238E27FC236}">
                <a16:creationId xmlns="" xmlns:a16="http://schemas.microsoft.com/office/drawing/2014/main" id="{632BD657-D42C-B5C5-74AF-5218C346A770}"/>
              </a:ext>
            </a:extLst>
          </p:cNvPr>
          <p:cNvSpPr txBox="1"/>
          <p:nvPr/>
        </p:nvSpPr>
        <p:spPr>
          <a:xfrm>
            <a:off x="2456660" y="762478"/>
            <a:ext cx="8244896" cy="625620"/>
          </a:xfrm>
          <a:prstGeom prst="rect">
            <a:avLst/>
          </a:prstGeom>
          <a:noFill/>
        </p:spPr>
        <p:txBody>
          <a:bodyPr wrap="square" rtlCol="0">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MM-PU-0050 </a:t>
            </a:r>
            <a:r>
              <a:rPr lang="zh-TW" altLang="en-US" sz="2400" dirty="0"/>
              <a:t>製工具請採驗流程</a:t>
            </a:r>
            <a:r>
              <a:rPr lang="en-US" altLang="zh-TW" dirty="0"/>
              <a:t>		</a:t>
            </a:r>
            <a:endParaRPr lang="zh-TW" altLang="en-US" dirty="0"/>
          </a:p>
        </p:txBody>
      </p:sp>
      <p:sp>
        <p:nvSpPr>
          <p:cNvPr id="3" name="TextBox 2">
            <a:extLst>
              <a:ext uri="{FF2B5EF4-FFF2-40B4-BE49-F238E27FC236}">
                <a16:creationId xmlns="" xmlns:a16="http://schemas.microsoft.com/office/drawing/2014/main" id="{6B09882B-C884-419E-9EB0-7F4E083F29C0}"/>
              </a:ext>
            </a:extLst>
          </p:cNvPr>
          <p:cNvSpPr txBox="1"/>
          <p:nvPr/>
        </p:nvSpPr>
        <p:spPr>
          <a:xfrm>
            <a:off x="16690584" y="686196"/>
            <a:ext cx="1597416" cy="346249"/>
          </a:xfrm>
          <a:prstGeom prst="rect">
            <a:avLst/>
          </a:prstGeom>
          <a:noFill/>
        </p:spPr>
        <p:txBody>
          <a:bodyPr wrap="square" rtlCol="0">
            <a:spAutoFit/>
          </a:bodyPr>
          <a:lstStyle/>
          <a:p>
            <a:r>
              <a:rPr lang="en-US" altLang="zh-TW" sz="1600" dirty="0" smtClean="0">
                <a:latin typeface="微軟正黑體" panose="020B0604030504040204" pitchFamily="34" charset="-120"/>
                <a:ea typeface="微軟正黑體" panose="020B0604030504040204" pitchFamily="34" charset="-120"/>
              </a:rPr>
              <a:t>2025/07/18</a:t>
            </a:r>
            <a:endParaRPr lang="zh-TW" altLang="en-US" sz="16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79" name="流程圖: 文件 42">
            <a:extLst>
              <a:ext uri="{FF2B5EF4-FFF2-40B4-BE49-F238E27FC236}">
                <a16:creationId xmlns="" xmlns:a16="http://schemas.microsoft.com/office/drawing/2014/main" id="{91F9B27C-7F80-2BDA-7707-DDBD4E112805}"/>
              </a:ext>
            </a:extLst>
          </p:cNvPr>
          <p:cNvSpPr/>
          <p:nvPr/>
        </p:nvSpPr>
        <p:spPr bwMode="auto">
          <a:xfrm>
            <a:off x="6739228" y="3005745"/>
            <a:ext cx="1106048" cy="538089"/>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申請單</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紙本</a:t>
            </a:r>
            <a:r>
              <a:rPr lang="en-US" altLang="zh-TW" sz="1500" dirty="0">
                <a:latin typeface="微軟正黑體" panose="020B0604030504040204" pitchFamily="34" charset="-120"/>
                <a:ea typeface="微軟正黑體" panose="020B0604030504040204" pitchFamily="34" charset="-120"/>
              </a:rPr>
              <a:t>/EXCEL)</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sp>
        <p:nvSpPr>
          <p:cNvPr id="4" name="文字方塊 3">
            <a:extLst>
              <a:ext uri="{FF2B5EF4-FFF2-40B4-BE49-F238E27FC236}">
                <a16:creationId xmlns="" xmlns:a16="http://schemas.microsoft.com/office/drawing/2014/main" id="{83E6F622-2FBE-CC67-50FE-4ABD7D8B9696}"/>
              </a:ext>
            </a:extLst>
          </p:cNvPr>
          <p:cNvSpPr txBox="1"/>
          <p:nvPr/>
        </p:nvSpPr>
        <p:spPr>
          <a:xfrm>
            <a:off x="2444080" y="820877"/>
            <a:ext cx="7218711"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MM-PU-0050 </a:t>
            </a:r>
            <a:r>
              <a:rPr lang="zh-TW" altLang="en-US" sz="2400" b="1" dirty="0">
                <a:latin typeface="微軟正黑體" panose="020B0604030504040204" pitchFamily="34" charset="-120"/>
                <a:ea typeface="微軟正黑體" panose="020B0604030504040204" pitchFamily="34" charset="-120"/>
              </a:rPr>
              <a:t>製工具請採購驗流程</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142197" y="882848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15" name="表格 30">
            <a:extLst>
              <a:ext uri="{FF2B5EF4-FFF2-40B4-BE49-F238E27FC236}">
                <a16:creationId xmlns="" xmlns:a16="http://schemas.microsoft.com/office/drawing/2014/main" id="{DD4D6B14-D3B2-B7AE-AA9C-20D4B4848A80}"/>
              </a:ext>
            </a:extLst>
          </p:cNvPr>
          <p:cNvGraphicFramePr>
            <a:graphicFrameLocks noGrp="1"/>
          </p:cNvGraphicFramePr>
          <p:nvPr/>
        </p:nvGraphicFramePr>
        <p:xfrm>
          <a:off x="7640583" y="3969409"/>
          <a:ext cx="1797832" cy="129672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94360">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6" name="Straight Connector 284">
            <a:extLst>
              <a:ext uri="{FF2B5EF4-FFF2-40B4-BE49-F238E27FC236}">
                <a16:creationId xmlns="" xmlns:a16="http://schemas.microsoft.com/office/drawing/2014/main" id="{3343F13F-0020-F344-5B28-F9AEB09CA3FA}"/>
              </a:ext>
            </a:extLst>
          </p:cNvPr>
          <p:cNvCxnSpPr>
            <a:cxnSpLocks/>
          </p:cNvCxnSpPr>
          <p:nvPr/>
        </p:nvCxnSpPr>
        <p:spPr>
          <a:xfrm>
            <a:off x="7387758" y="1352311"/>
            <a:ext cx="0" cy="87988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 xmlns:a16="http://schemas.microsoft.com/office/drawing/2014/main" id="{DE52170D-3194-E094-D743-3842F95326FE}"/>
              </a:ext>
            </a:extLst>
          </p:cNvPr>
          <p:cNvSpPr txBox="1"/>
          <p:nvPr/>
        </p:nvSpPr>
        <p:spPr>
          <a:xfrm>
            <a:off x="9815927" y="1268691"/>
            <a:ext cx="2088897" cy="738664"/>
          </a:xfrm>
          <a:prstGeom prst="rect">
            <a:avLst/>
          </a:prstGeom>
          <a:noFill/>
        </p:spPr>
        <p:txBody>
          <a:bodyPr wrap="square" rtlCol="0">
            <a:spAutoFit/>
          </a:bodyPr>
          <a:lstStyle/>
          <a:p>
            <a:pPr algn="ctr"/>
            <a:r>
              <a:rPr lang="zh-TW" altLang="en-US" sz="1400" dirty="0">
                <a:latin typeface="微軟正黑體" panose="020B0604030504040204" pitchFamily="34" charset="-120"/>
                <a:ea typeface="微軟正黑體" panose="020B0604030504040204" pitchFamily="34" charset="-120"/>
              </a:rPr>
              <a:t>面</a:t>
            </a:r>
            <a:r>
              <a:rPr lang="en-US" altLang="zh-TW" sz="1400" dirty="0">
                <a:latin typeface="微軟正黑體" panose="020B0604030504040204" pitchFamily="34" charset="-120"/>
                <a:ea typeface="微軟正黑體" panose="020B0604030504040204" pitchFamily="34" charset="-120"/>
              </a:rPr>
              <a:t>&amp;</a:t>
            </a:r>
            <a:r>
              <a:rPr lang="zh-TW" altLang="en-US" sz="1400" dirty="0">
                <a:latin typeface="微軟正黑體" panose="020B0604030504040204" pitchFamily="34" charset="-120"/>
                <a:ea typeface="微軟正黑體" panose="020B0604030504040204" pitchFamily="34" charset="-120"/>
              </a:rPr>
              <a:t>底技術工程</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採購及總務</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化工</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開發及業務</a:t>
            </a:r>
          </a:p>
          <a:p>
            <a:pPr algn="ctr"/>
            <a:endParaRPr lang="zh-TW" altLang="en-US" sz="1400" dirty="0">
              <a:latin typeface="微軟正黑體" panose="020B0604030504040204" pitchFamily="34" charset="-120"/>
              <a:ea typeface="微軟正黑體" panose="020B0604030504040204" pitchFamily="34" charset="-120"/>
            </a:endParaRPr>
          </a:p>
        </p:txBody>
      </p:sp>
      <p:cxnSp>
        <p:nvCxnSpPr>
          <p:cNvPr id="57" name="肘形接點 68">
            <a:extLst>
              <a:ext uri="{FF2B5EF4-FFF2-40B4-BE49-F238E27FC236}">
                <a16:creationId xmlns="" xmlns:a16="http://schemas.microsoft.com/office/drawing/2014/main" id="{8E184E7B-49D4-0B0F-DFF1-32CCB2A9AB0C}"/>
              </a:ext>
            </a:extLst>
          </p:cNvPr>
          <p:cNvCxnSpPr>
            <a:cxnSpLocks/>
            <a:stCxn id="15" idx="2"/>
            <a:endCxn id="35" idx="0"/>
          </p:cNvCxnSpPr>
          <p:nvPr/>
        </p:nvCxnSpPr>
        <p:spPr>
          <a:xfrm rot="5400000">
            <a:off x="6809103" y="4492739"/>
            <a:ext cx="957007" cy="250378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 name="肘形接點 68">
            <a:extLst>
              <a:ext uri="{FF2B5EF4-FFF2-40B4-BE49-F238E27FC236}">
                <a16:creationId xmlns="" xmlns:a16="http://schemas.microsoft.com/office/drawing/2014/main" id="{5D236408-3F02-99D0-9ECC-DC4D4E746909}"/>
              </a:ext>
            </a:extLst>
          </p:cNvPr>
          <p:cNvCxnSpPr>
            <a:cxnSpLocks/>
            <a:endCxn id="88" idx="0"/>
          </p:cNvCxnSpPr>
          <p:nvPr/>
        </p:nvCxnSpPr>
        <p:spPr>
          <a:xfrm rot="5400000">
            <a:off x="5323554" y="3214548"/>
            <a:ext cx="1116794" cy="2170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7" name="肘形接點 68">
            <a:extLst>
              <a:ext uri="{FF2B5EF4-FFF2-40B4-BE49-F238E27FC236}">
                <a16:creationId xmlns="" xmlns:a16="http://schemas.microsoft.com/office/drawing/2014/main" id="{4D315B82-E1CA-313C-D4BB-3BBD9FD7F973}"/>
              </a:ext>
            </a:extLst>
          </p:cNvPr>
          <p:cNvCxnSpPr>
            <a:cxnSpLocks/>
            <a:stCxn id="88" idx="2"/>
            <a:endCxn id="84" idx="0"/>
          </p:cNvCxnSpPr>
          <p:nvPr/>
        </p:nvCxnSpPr>
        <p:spPr>
          <a:xfrm rot="5400000">
            <a:off x="3796850" y="4084446"/>
            <a:ext cx="2014900" cy="2133600"/>
          </a:xfrm>
          <a:prstGeom prst="bentConnector3">
            <a:avLst>
              <a:gd name="adj1" fmla="val 67018"/>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 xmlns:a16="http://schemas.microsoft.com/office/drawing/2014/main" id="{8037CA89-DBE3-1441-8E4C-7EA04E993D61}"/>
              </a:ext>
            </a:extLst>
          </p:cNvPr>
          <p:cNvSpPr/>
          <p:nvPr/>
        </p:nvSpPr>
        <p:spPr bwMode="auto">
          <a:xfrm>
            <a:off x="5114738" y="6223136"/>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1" name="肘形接點 68">
            <a:extLst>
              <a:ext uri="{FF2B5EF4-FFF2-40B4-BE49-F238E27FC236}">
                <a16:creationId xmlns="" xmlns:a16="http://schemas.microsoft.com/office/drawing/2014/main" id="{2AA47122-2BF1-7633-656B-9B6710026CD9}"/>
              </a:ext>
            </a:extLst>
          </p:cNvPr>
          <p:cNvCxnSpPr>
            <a:cxnSpLocks/>
            <a:stCxn id="35" idx="3"/>
            <a:endCxn id="81" idx="1"/>
          </p:cNvCxnSpPr>
          <p:nvPr/>
        </p:nvCxnSpPr>
        <p:spPr>
          <a:xfrm>
            <a:off x="6956687" y="6579236"/>
            <a:ext cx="683896" cy="604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10" name="文字方塊 17">
            <a:extLst>
              <a:ext uri="{FF2B5EF4-FFF2-40B4-BE49-F238E27FC236}">
                <a16:creationId xmlns="" xmlns:a16="http://schemas.microsoft.com/office/drawing/2014/main" id="{306A0461-FB0A-6B8E-26F4-F4121B822258}"/>
              </a:ext>
            </a:extLst>
          </p:cNvPr>
          <p:cNvSpPr txBox="1"/>
          <p:nvPr/>
        </p:nvSpPr>
        <p:spPr>
          <a:xfrm>
            <a:off x="7497110" y="1403862"/>
            <a:ext cx="1828530"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處主管</a:t>
            </a:r>
          </a:p>
        </p:txBody>
      </p:sp>
      <p:cxnSp>
        <p:nvCxnSpPr>
          <p:cNvPr id="217" name="肘形接點 68">
            <a:extLst>
              <a:ext uri="{FF2B5EF4-FFF2-40B4-BE49-F238E27FC236}">
                <a16:creationId xmlns="" xmlns:a16="http://schemas.microsoft.com/office/drawing/2014/main" id="{3C63507D-83FD-0025-3EF4-B6F87A20780B}"/>
              </a:ext>
            </a:extLst>
          </p:cNvPr>
          <p:cNvCxnSpPr>
            <a:cxnSpLocks/>
            <a:stCxn id="35" idx="2"/>
            <a:endCxn id="80" idx="0"/>
          </p:cNvCxnSpPr>
          <p:nvPr/>
        </p:nvCxnSpPr>
        <p:spPr>
          <a:xfrm rot="16200000" flipH="1">
            <a:off x="5627211" y="7343837"/>
            <a:ext cx="817925" cy="92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1" name="表格 30">
            <a:extLst>
              <a:ext uri="{FF2B5EF4-FFF2-40B4-BE49-F238E27FC236}">
                <a16:creationId xmlns="" xmlns:a16="http://schemas.microsoft.com/office/drawing/2014/main" id="{E2D1DE07-F765-0D8A-0A3C-D52A5A690ECB}"/>
              </a:ext>
            </a:extLst>
          </p:cNvPr>
          <p:cNvGraphicFramePr>
            <a:graphicFrameLocks noGrp="1"/>
          </p:cNvGraphicFramePr>
          <p:nvPr/>
        </p:nvGraphicFramePr>
        <p:xfrm>
          <a:off x="9962864" y="2137893"/>
          <a:ext cx="1797832" cy="1134202"/>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ME57</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484608">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請購單轉採購單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39" name="肘形接點 68">
            <a:extLst>
              <a:ext uri="{FF2B5EF4-FFF2-40B4-BE49-F238E27FC236}">
                <a16:creationId xmlns="" xmlns:a16="http://schemas.microsoft.com/office/drawing/2014/main" id="{6710C215-D2A9-AE8A-C825-CAB394FDF69B}"/>
              </a:ext>
            </a:extLst>
          </p:cNvPr>
          <p:cNvCxnSpPr>
            <a:cxnSpLocks/>
            <a:endCxn id="123" idx="0"/>
          </p:cNvCxnSpPr>
          <p:nvPr/>
        </p:nvCxnSpPr>
        <p:spPr>
          <a:xfrm rot="16200000" flipH="1">
            <a:off x="10733752" y="3388648"/>
            <a:ext cx="342096" cy="6720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40" name="表格 30">
            <a:extLst>
              <a:ext uri="{FF2B5EF4-FFF2-40B4-BE49-F238E27FC236}">
                <a16:creationId xmlns="" xmlns:a16="http://schemas.microsoft.com/office/drawing/2014/main" id="{D50514A0-AA46-1916-EFBB-5F1C0FA347E6}"/>
              </a:ext>
            </a:extLst>
          </p:cNvPr>
          <p:cNvGraphicFramePr>
            <a:graphicFrameLocks noGrp="1"/>
          </p:cNvGraphicFramePr>
          <p:nvPr/>
        </p:nvGraphicFramePr>
        <p:xfrm>
          <a:off x="9964982" y="5423423"/>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將採購單發起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41" name="肘形接點 68">
            <a:extLst>
              <a:ext uri="{FF2B5EF4-FFF2-40B4-BE49-F238E27FC236}">
                <a16:creationId xmlns="" xmlns:a16="http://schemas.microsoft.com/office/drawing/2014/main" id="{A46CDCFE-67EF-4E51-A944-F4A0C09EC5BD}"/>
              </a:ext>
            </a:extLst>
          </p:cNvPr>
          <p:cNvCxnSpPr>
            <a:cxnSpLocks/>
            <a:stCxn id="240" idx="3"/>
            <a:endCxn id="193" idx="1"/>
          </p:cNvCxnSpPr>
          <p:nvPr/>
        </p:nvCxnSpPr>
        <p:spPr>
          <a:xfrm rot="16200000" flipH="1">
            <a:off x="10694818" y="5592502"/>
            <a:ext cx="2377289" cy="2039130"/>
          </a:xfrm>
          <a:prstGeom prst="bentConnector4">
            <a:avLst>
              <a:gd name="adj1" fmla="val -9616"/>
              <a:gd name="adj2" fmla="val 72042"/>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Connector 284">
            <a:extLst>
              <a:ext uri="{FF2B5EF4-FFF2-40B4-BE49-F238E27FC236}">
                <a16:creationId xmlns="" xmlns:a16="http://schemas.microsoft.com/office/drawing/2014/main" id="{3E7471C9-C79F-A59B-27B9-5790F81098EC}"/>
              </a:ext>
            </a:extLst>
          </p:cNvPr>
          <p:cNvCxnSpPr>
            <a:cxnSpLocks/>
          </p:cNvCxnSpPr>
          <p:nvPr/>
        </p:nvCxnSpPr>
        <p:spPr>
          <a:xfrm>
            <a:off x="9813581" y="1339059"/>
            <a:ext cx="0" cy="88121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流程圖: 換頁接點 52">
            <a:extLst>
              <a:ext uri="{FF2B5EF4-FFF2-40B4-BE49-F238E27FC236}">
                <a16:creationId xmlns="" xmlns:a16="http://schemas.microsoft.com/office/drawing/2014/main" id="{81294BE7-C300-D1CD-4376-34B54DFCC2AF}"/>
              </a:ext>
            </a:extLst>
          </p:cNvPr>
          <p:cNvSpPr/>
          <p:nvPr/>
        </p:nvSpPr>
        <p:spPr bwMode="auto">
          <a:xfrm>
            <a:off x="12903028" y="7567060"/>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 xmlns:a16="http://schemas.microsoft.com/office/drawing/2014/main" id="{6FB1FA4C-3B8A-FBB5-B280-85555F843464}"/>
              </a:ext>
            </a:extLst>
          </p:cNvPr>
          <p:cNvSpPr txBox="1"/>
          <p:nvPr/>
        </p:nvSpPr>
        <p:spPr>
          <a:xfrm>
            <a:off x="6067850" y="716831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 xmlns:a16="http://schemas.microsoft.com/office/drawing/2014/main" id="{29D95A87-8E81-E79E-403B-C860DCAF45F5}"/>
              </a:ext>
            </a:extLst>
          </p:cNvPr>
          <p:cNvSpPr txBox="1"/>
          <p:nvPr/>
        </p:nvSpPr>
        <p:spPr>
          <a:xfrm>
            <a:off x="6783462" y="618830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8" name="文字方塊 17">
            <a:extLst>
              <a:ext uri="{FF2B5EF4-FFF2-40B4-BE49-F238E27FC236}">
                <a16:creationId xmlns="" xmlns:a16="http://schemas.microsoft.com/office/drawing/2014/main" id="{BBC38995-B8DF-63A0-4401-9FE50A36E787}"/>
              </a:ext>
            </a:extLst>
          </p:cNvPr>
          <p:cNvSpPr txBox="1"/>
          <p:nvPr/>
        </p:nvSpPr>
        <p:spPr>
          <a:xfrm>
            <a:off x="2478158" y="1363001"/>
            <a:ext cx="4909600" cy="307777"/>
          </a:xfrm>
          <a:prstGeom prst="rect">
            <a:avLst/>
          </a:prstGeom>
          <a:noFill/>
        </p:spPr>
        <p:txBody>
          <a:bodyPr wrap="square" rtlCol="0">
            <a:spAutoFit/>
          </a:bodyPr>
          <a:lstStyle/>
          <a:p>
            <a:pPr algn="ctr"/>
            <a:r>
              <a:rPr lang="zh-TW" altLang="en-US" sz="1400" dirty="0">
                <a:latin typeface="微軟正黑體" panose="020B0604030504040204" pitchFamily="34" charset="-120"/>
                <a:ea typeface="微軟正黑體" panose="020B0604030504040204" pitchFamily="34" charset="-120"/>
              </a:rPr>
              <a:t>開發、樣品室及廠廠、總生管、廠務單位</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化工</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開發及業務</a:t>
            </a:r>
          </a:p>
        </p:txBody>
      </p:sp>
      <p:sp>
        <p:nvSpPr>
          <p:cNvPr id="2" name="TextBox 53">
            <a:extLst>
              <a:ext uri="{FF2B5EF4-FFF2-40B4-BE49-F238E27FC236}">
                <a16:creationId xmlns="" xmlns:a16="http://schemas.microsoft.com/office/drawing/2014/main" id="{B72E3EFF-4B3C-A9C8-E3E4-F926D0F3D738}"/>
              </a:ext>
            </a:extLst>
          </p:cNvPr>
          <p:cNvSpPr txBox="1"/>
          <p:nvPr/>
        </p:nvSpPr>
        <p:spPr>
          <a:xfrm>
            <a:off x="14380627" y="2064631"/>
            <a:ext cx="3594197" cy="9510296"/>
          </a:xfrm>
          <a:prstGeom prst="rect">
            <a:avLst/>
          </a:prstGeom>
          <a:noFill/>
        </p:spPr>
        <p:txBody>
          <a:bodyPr wrap="square" rtlCol="0">
            <a:spAutoFit/>
          </a:bodyPr>
          <a:lstStyle/>
          <a:p>
            <a:r>
              <a:rPr lang="zh-TW" altLang="en-US" dirty="0">
                <a:latin typeface="微軟正黑體" panose="020B0604030504040204" pitchFamily="34" charset="-120"/>
                <a:ea typeface="微軟正黑體" panose="020B0604030504040204" pitchFamily="34" charset="-120"/>
              </a:rPr>
              <a:t>楦</a:t>
            </a:r>
            <a:r>
              <a:rPr lang="zh-TW" altLang="en-US" dirty="0" smtClean="0">
                <a:latin typeface="微軟正黑體" panose="020B0604030504040204" pitchFamily="34" charset="-120"/>
                <a:ea typeface="微軟正黑體" panose="020B0604030504040204" pitchFamily="34" charset="-120"/>
              </a:rPr>
              <a:t>頭</a:t>
            </a:r>
            <a:r>
              <a:rPr lang="en-US" altLang="zh-TW" dirty="0" smtClean="0">
                <a:latin typeface="微軟正黑體" panose="020B0604030504040204" pitchFamily="34" charset="-120"/>
                <a:ea typeface="微軟正黑體" panose="020B0604030504040204" pitchFamily="34" charset="-120"/>
              </a:rPr>
              <a:t>/</a:t>
            </a:r>
            <a:r>
              <a:rPr lang="zh-TW" altLang="en-US" dirty="0" smtClean="0">
                <a:latin typeface="微軟正黑體" panose="020B0604030504040204" pitchFamily="34" charset="-120"/>
                <a:ea typeface="微軟正黑體" panose="020B0604030504040204" pitchFamily="34" charset="-120"/>
              </a:rPr>
              <a:t>模具以外</a:t>
            </a:r>
            <a:r>
              <a:rPr lang="zh-TW" altLang="en-US" dirty="0">
                <a:latin typeface="微軟正黑體" panose="020B0604030504040204" pitchFamily="34" charset="-120"/>
                <a:ea typeface="微軟正黑體" panose="020B0604030504040204" pitchFamily="34" charset="-120"/>
              </a:rPr>
              <a:t>的製工具</a:t>
            </a:r>
            <a:r>
              <a:rPr lang="en-US" altLang="zh-TW" dirty="0" smtClean="0">
                <a:latin typeface="微軟正黑體" panose="020B0604030504040204" pitchFamily="34" charset="-120"/>
                <a:ea typeface="微軟正黑體" panose="020B0604030504040204" pitchFamily="34" charset="-120"/>
              </a:rPr>
              <a:t>:</a:t>
            </a:r>
          </a:p>
          <a:p>
            <a:pPr marL="342900" indent="-342900">
              <a:buFont typeface="+mj-lt"/>
              <a:buAutoNum type="arabicPeriod"/>
            </a:pPr>
            <a:r>
              <a:rPr lang="zh-TW" altLang="en-US" dirty="0" smtClean="0">
                <a:latin typeface="微軟正黑體" panose="020B0604030504040204" pitchFamily="34" charset="-120"/>
                <a:ea typeface="微軟正黑體" panose="020B0604030504040204" pitchFamily="34" charset="-120"/>
              </a:rPr>
              <a:t>如果是新開發的製工具，需要建立新料號。</a:t>
            </a:r>
            <a:endParaRPr lang="en-US" altLang="zh-TW" dirty="0" smtClean="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smtClean="0">
                <a:latin typeface="微軟正黑體" panose="020B0604030504040204" pitchFamily="34" charset="-120"/>
                <a:ea typeface="微軟正黑體" panose="020B0604030504040204" pitchFamily="34" charset="-120"/>
              </a:rPr>
              <a:t>ZMM002</a:t>
            </a:r>
            <a:r>
              <a:rPr lang="zh-TW" altLang="en-US" dirty="0">
                <a:latin typeface="微軟正黑體" panose="020B0604030504040204" pitchFamily="34" charset="-120"/>
                <a:ea typeface="微軟正黑體" panose="020B0604030504040204" pitchFamily="34" charset="-120"/>
              </a:rPr>
              <a:t>上載</a:t>
            </a:r>
            <a:r>
              <a:rPr lang="en-US" altLang="zh-TW" dirty="0">
                <a:latin typeface="微軟正黑體" panose="020B0604030504040204" pitchFamily="34" charset="-120"/>
                <a:ea typeface="微軟正黑體" panose="020B0604030504040204" pitchFamily="34" charset="-120"/>
              </a:rPr>
              <a:t>EXCEL</a:t>
            </a:r>
            <a:r>
              <a:rPr lang="zh-TW" altLang="en-US" dirty="0">
                <a:latin typeface="微軟正黑體" panose="020B0604030504040204" pitchFamily="34" charset="-120"/>
                <a:ea typeface="微軟正黑體" panose="020B0604030504040204" pitchFamily="34" charset="-120"/>
              </a:rPr>
              <a:t>檔案建立製工具請購單，或是用標準功能建請購</a:t>
            </a:r>
            <a:r>
              <a:rPr lang="zh-TW" altLang="en-US" dirty="0" smtClean="0">
                <a:latin typeface="微軟正黑體" panose="020B0604030504040204" pitchFamily="34" charset="-120"/>
                <a:ea typeface="微軟正黑體" panose="020B0604030504040204" pitchFamily="34" charset="-120"/>
              </a:rPr>
              <a:t>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smtClean="0">
                <a:latin typeface="微軟正黑體" panose="020B0604030504040204" pitchFamily="34" charset="-120"/>
                <a:ea typeface="微軟正黑體" panose="020B0604030504040204" pitchFamily="34" charset="-120"/>
              </a:rPr>
              <a:t>手動在</a:t>
            </a:r>
            <a:r>
              <a:rPr lang="en-US" altLang="zh-TW" dirty="0" smtClean="0">
                <a:latin typeface="微軟正黑體" panose="020B0604030504040204" pitchFamily="34" charset="-120"/>
                <a:ea typeface="微軟正黑體" panose="020B0604030504040204" pitchFamily="34" charset="-120"/>
              </a:rPr>
              <a:t>SAP</a:t>
            </a:r>
            <a:r>
              <a:rPr lang="zh-TW" altLang="en-US" dirty="0" smtClean="0">
                <a:latin typeface="微軟正黑體" panose="020B0604030504040204" pitchFamily="34" charset="-120"/>
                <a:ea typeface="微軟正黑體" panose="020B0604030504040204" pitchFamily="34" charset="-120"/>
              </a:rPr>
              <a:t>上核發請購單核發代碼</a:t>
            </a:r>
            <a:r>
              <a:rPr lang="en-US" altLang="zh-TW" dirty="0" smtClean="0">
                <a:latin typeface="微軟正黑體" panose="020B0604030504040204" pitchFamily="34" charset="-120"/>
                <a:ea typeface="微軟正黑體" panose="020B0604030504040204" pitchFamily="34" charset="-120"/>
              </a:rPr>
              <a:t>R1</a:t>
            </a:r>
            <a:r>
              <a:rPr lang="zh-TW" altLang="en-US" dirty="0" smtClean="0">
                <a:latin typeface="微軟正黑體" panose="020B0604030504040204" pitchFamily="34" charset="-120"/>
                <a:ea typeface="微軟正黑體" panose="020B0604030504040204" pitchFamily="34" charset="-120"/>
              </a:rPr>
              <a:t>，才能用</a:t>
            </a:r>
            <a:r>
              <a:rPr lang="zh-TW" altLang="en-US" dirty="0">
                <a:latin typeface="微軟正黑體" panose="020B0604030504040204" pitchFamily="34" charset="-120"/>
                <a:ea typeface="微軟正黑體" panose="020B0604030504040204" pitchFamily="34" charset="-120"/>
              </a:rPr>
              <a:t>程式</a:t>
            </a:r>
            <a:r>
              <a:rPr lang="en-US" altLang="zh-TW" dirty="0" smtClean="0">
                <a:latin typeface="微軟正黑體" panose="020B0604030504040204" pitchFamily="34" charset="-120"/>
                <a:ea typeface="微軟正黑體" panose="020B0604030504040204" pitchFamily="34" charset="-120"/>
              </a:rPr>
              <a:t>ZMM017</a:t>
            </a:r>
            <a:r>
              <a:rPr lang="zh-TW" altLang="en-US" dirty="0" smtClean="0">
                <a:latin typeface="微軟正黑體" panose="020B0604030504040204" pitchFamily="34" charset="-120"/>
                <a:ea typeface="微軟正黑體" panose="020B0604030504040204" pitchFamily="34" charset="-120"/>
              </a:rPr>
              <a:t>將</a:t>
            </a:r>
            <a:r>
              <a:rPr lang="zh-TW" altLang="en-US" dirty="0">
                <a:latin typeface="微軟正黑體" panose="020B0604030504040204" pitchFamily="34" charset="-120"/>
                <a:ea typeface="微軟正黑體" panose="020B0604030504040204" pitchFamily="34" charset="-120"/>
              </a:rPr>
              <a:t>製工具請購單拋至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a:t>
            </a:r>
            <a:r>
              <a:rPr lang="zh-TW" altLang="en-US" dirty="0" smtClean="0">
                <a:latin typeface="微軟正黑體" panose="020B0604030504040204" pitchFamily="34" charset="-120"/>
                <a:ea typeface="微軟正黑體" panose="020B0604030504040204" pitchFamily="34" charset="-120"/>
              </a:rPr>
              <a:t>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上簽核請購</a:t>
            </a:r>
            <a:r>
              <a:rPr lang="zh-TW" altLang="en-US" dirty="0" smtClean="0">
                <a:latin typeface="微軟正黑體" panose="020B0604030504040204" pitchFamily="34" charset="-120"/>
                <a:ea typeface="微軟正黑體" panose="020B0604030504040204" pitchFamily="34" charset="-120"/>
              </a:rPr>
              <a:t>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通過簽核的採購單透過程式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a:t>
            </a:r>
            <a:r>
              <a:rPr lang="zh-TW" altLang="en-US" dirty="0" smtClean="0">
                <a:latin typeface="微軟正黑體" panose="020B0604030504040204" pitchFamily="34" charset="-120"/>
                <a:ea typeface="微軟正黑體" panose="020B0604030504040204" pitchFamily="34" charset="-120"/>
              </a:rPr>
              <a:t>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採購進行請購單轉採購單，允許手動填入單價 </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smtClean="0">
                <a:latin typeface="微軟正黑體" panose="020B0604030504040204" pitchFamily="34" charset="-120"/>
                <a:ea typeface="微軟正黑體" panose="020B0604030504040204" pitchFamily="34" charset="-120"/>
              </a:rPr>
              <a:t>手動核發採購單核發代碼</a:t>
            </a:r>
            <a:r>
              <a:rPr lang="en-US" altLang="zh-TW" dirty="0" smtClean="0">
                <a:latin typeface="微軟正黑體" panose="020B0604030504040204" pitchFamily="34" charset="-120"/>
                <a:ea typeface="微軟正黑體" panose="020B0604030504040204" pitchFamily="34" charset="-120"/>
              </a:rPr>
              <a:t>R1</a:t>
            </a:r>
            <a:r>
              <a:rPr lang="zh-TW" altLang="en-US" dirty="0" smtClean="0">
                <a:latin typeface="微軟正黑體" panose="020B0604030504040204" pitchFamily="34" charset="-120"/>
                <a:ea typeface="微軟正黑體" panose="020B0604030504040204" pitchFamily="34" charset="-120"/>
              </a:rPr>
              <a:t>，才能用</a:t>
            </a:r>
            <a:r>
              <a:rPr lang="zh-TW" altLang="en-US" dirty="0">
                <a:latin typeface="微軟正黑體" panose="020B0604030504040204" pitchFamily="34" charset="-120"/>
                <a:ea typeface="微軟正黑體" panose="020B0604030504040204" pitchFamily="34" charset="-120"/>
              </a:rPr>
              <a:t>程式</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將製工具採購單上傳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發起簽核流程，將廠商報價資料作為附件一並呈核</a:t>
            </a:r>
            <a:r>
              <a:rPr lang="zh-TW" altLang="en-US" dirty="0" smtClean="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簽核未通過的請購單透過程式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將</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請購單標記為刪除</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zh-TW" altLang="en-US"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p:txBody>
      </p:sp>
      <p:grpSp>
        <p:nvGrpSpPr>
          <p:cNvPr id="5" name="Group 220">
            <a:extLst>
              <a:ext uri="{FF2B5EF4-FFF2-40B4-BE49-F238E27FC236}">
                <a16:creationId xmlns="" xmlns:a16="http://schemas.microsoft.com/office/drawing/2014/main" id="{33DE9BA6-990E-DE54-C6C1-2FDFC3EF39E7}"/>
              </a:ext>
            </a:extLst>
          </p:cNvPr>
          <p:cNvGrpSpPr/>
          <p:nvPr/>
        </p:nvGrpSpPr>
        <p:grpSpPr>
          <a:xfrm>
            <a:off x="9171545" y="3764816"/>
            <a:ext cx="533400" cy="415761"/>
            <a:chOff x="5906184" y="1486857"/>
            <a:chExt cx="355600" cy="272361"/>
          </a:xfrm>
        </p:grpSpPr>
        <p:sp>
          <p:nvSpPr>
            <p:cNvPr id="9" name="Oval 221">
              <a:extLst>
                <a:ext uri="{FF2B5EF4-FFF2-40B4-BE49-F238E27FC236}">
                  <a16:creationId xmlns="" xmlns:a16="http://schemas.microsoft.com/office/drawing/2014/main"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0" name="TextBox 222">
              <a:extLst>
                <a:ext uri="{FF2B5EF4-FFF2-40B4-BE49-F238E27FC236}">
                  <a16:creationId xmlns="" xmlns:a16="http://schemas.microsoft.com/office/drawing/2014/main" id="{C4D33436-02F5-686F-699E-8597EF0E4654}"/>
                </a:ext>
              </a:extLst>
            </p:cNvPr>
            <p:cNvSpPr txBox="1"/>
            <p:nvPr/>
          </p:nvSpPr>
          <p:spPr>
            <a:xfrm>
              <a:off x="5906184" y="1507079"/>
              <a:ext cx="355600"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26" name="肘形接點 68">
            <a:extLst>
              <a:ext uri="{FF2B5EF4-FFF2-40B4-BE49-F238E27FC236}">
                <a16:creationId xmlns="" xmlns:a16="http://schemas.microsoft.com/office/drawing/2014/main" id="{B2824798-4B78-A1CF-38E5-866C1466A958}"/>
              </a:ext>
            </a:extLst>
          </p:cNvPr>
          <p:cNvCxnSpPr>
            <a:cxnSpLocks/>
            <a:stCxn id="81" idx="3"/>
            <a:endCxn id="231" idx="1"/>
          </p:cNvCxnSpPr>
          <p:nvPr/>
        </p:nvCxnSpPr>
        <p:spPr>
          <a:xfrm flipV="1">
            <a:off x="9438415" y="2704994"/>
            <a:ext cx="524449" cy="388028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24" name="肘形接點 68">
            <a:extLst>
              <a:ext uri="{FF2B5EF4-FFF2-40B4-BE49-F238E27FC236}">
                <a16:creationId xmlns="" xmlns:a16="http://schemas.microsoft.com/office/drawing/2014/main" id="{0D8E5BB0-4C1F-C1B0-CED9-29476DA9F88C}"/>
              </a:ext>
            </a:extLst>
          </p:cNvPr>
          <p:cNvCxnSpPr>
            <a:cxnSpLocks/>
            <a:stCxn id="80" idx="2"/>
            <a:endCxn id="25" idx="1"/>
          </p:cNvCxnSpPr>
          <p:nvPr/>
        </p:nvCxnSpPr>
        <p:spPr>
          <a:xfrm rot="16200000" flipH="1">
            <a:off x="8975394" y="6052900"/>
            <a:ext cx="228042" cy="610556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8" name="矩形 77"/>
          <p:cNvSpPr/>
          <p:nvPr/>
        </p:nvSpPr>
        <p:spPr>
          <a:xfrm>
            <a:off x="15456169" y="424952"/>
            <a:ext cx="34496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1 </a:t>
            </a:r>
            <a:endParaRPr lang="zh-TW" altLang="en-US" sz="1500" dirty="0"/>
          </a:p>
        </p:txBody>
      </p:sp>
      <p:graphicFrame>
        <p:nvGraphicFramePr>
          <p:cNvPr id="80"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5137718" y="7753261"/>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更新</a:t>
                      </a:r>
                      <a:r>
                        <a:rPr kumimoji="0" lang="en-US" altLang="zh-TW" sz="1500" dirty="0">
                          <a:latin typeface="微軟正黑體" panose="020B0604030504040204" pitchFamily="34" charset="-120"/>
                          <a:ea typeface="微軟正黑體" panose="020B0604030504040204" pitchFamily="34" charset="-120"/>
                        </a:rPr>
                        <a:t>SAP </a:t>
                      </a:r>
                      <a:r>
                        <a:rPr kumimoji="0" lang="zh-TW" altLang="en-US" sz="1500" dirty="0">
                          <a:latin typeface="微軟正黑體" panose="020B0604030504040204" pitchFamily="34" charset="-120"/>
                          <a:ea typeface="微軟正黑體" panose="020B0604030504040204" pitchFamily="34" charset="-120"/>
                        </a:rPr>
                        <a:t>請購單，刪除標記</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81"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7640583" y="6080381"/>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核發請購單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43" name="Group 220">
            <a:extLst>
              <a:ext uri="{FF2B5EF4-FFF2-40B4-BE49-F238E27FC236}">
                <a16:creationId xmlns="" xmlns:a16="http://schemas.microsoft.com/office/drawing/2014/main" id="{37FAA661-93D8-A7F3-93A2-E50B7C685CF8}"/>
              </a:ext>
            </a:extLst>
          </p:cNvPr>
          <p:cNvGrpSpPr/>
          <p:nvPr/>
        </p:nvGrpSpPr>
        <p:grpSpPr>
          <a:xfrm>
            <a:off x="6725783" y="7569572"/>
            <a:ext cx="533400" cy="415761"/>
            <a:chOff x="5906184" y="1486857"/>
            <a:chExt cx="355600" cy="272361"/>
          </a:xfrm>
        </p:grpSpPr>
        <p:sp>
          <p:nvSpPr>
            <p:cNvPr id="244" name="Oval 221">
              <a:extLst>
                <a:ext uri="{FF2B5EF4-FFF2-40B4-BE49-F238E27FC236}">
                  <a16:creationId xmlns="" xmlns:a16="http://schemas.microsoft.com/office/drawing/2014/main" id="{521FC91A-AD8C-DDE3-E130-C3CC2C0FE9D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5" name="TextBox 222">
              <a:extLst>
                <a:ext uri="{FF2B5EF4-FFF2-40B4-BE49-F238E27FC236}">
                  <a16:creationId xmlns="" xmlns:a16="http://schemas.microsoft.com/office/drawing/2014/main" id="{DD721C15-43F9-6A19-6D70-6D97ECBBE7AC}"/>
                </a:ext>
              </a:extLst>
            </p:cNvPr>
            <p:cNvSpPr txBox="1"/>
            <p:nvPr/>
          </p:nvSpPr>
          <p:spPr>
            <a:xfrm>
              <a:off x="5906184" y="1507079"/>
              <a:ext cx="355600"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grpSp>
        <p:nvGrpSpPr>
          <p:cNvPr id="233" name="Group 220">
            <a:extLst>
              <a:ext uri="{FF2B5EF4-FFF2-40B4-BE49-F238E27FC236}">
                <a16:creationId xmlns="" xmlns:a16="http://schemas.microsoft.com/office/drawing/2014/main" id="{76F27002-B211-1613-08D4-ACC5D9893B23}"/>
              </a:ext>
            </a:extLst>
          </p:cNvPr>
          <p:cNvGrpSpPr/>
          <p:nvPr/>
        </p:nvGrpSpPr>
        <p:grpSpPr>
          <a:xfrm>
            <a:off x="9161850" y="5843201"/>
            <a:ext cx="543519" cy="415761"/>
            <a:chOff x="5906472" y="1486857"/>
            <a:chExt cx="362346" cy="272361"/>
          </a:xfrm>
        </p:grpSpPr>
        <p:sp>
          <p:nvSpPr>
            <p:cNvPr id="234" name="Oval 221">
              <a:extLst>
                <a:ext uri="{FF2B5EF4-FFF2-40B4-BE49-F238E27FC236}">
                  <a16:creationId xmlns="" xmlns:a16="http://schemas.microsoft.com/office/drawing/2014/main" id="{70FA0A9A-F2A8-14A1-EE93-9490F659C08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2" name="TextBox 222">
              <a:extLst>
                <a:ext uri="{FF2B5EF4-FFF2-40B4-BE49-F238E27FC236}">
                  <a16:creationId xmlns="" xmlns:a16="http://schemas.microsoft.com/office/drawing/2014/main" id="{0D76D332-E98E-3472-ED97-8708B53AA741}"/>
                </a:ext>
              </a:extLst>
            </p:cNvPr>
            <p:cNvSpPr txBox="1"/>
            <p:nvPr/>
          </p:nvSpPr>
          <p:spPr>
            <a:xfrm>
              <a:off x="5913218" y="1507079"/>
              <a:ext cx="355600"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20" name="Group 220">
            <a:extLst>
              <a:ext uri="{FF2B5EF4-FFF2-40B4-BE49-F238E27FC236}">
                <a16:creationId xmlns="" xmlns:a16="http://schemas.microsoft.com/office/drawing/2014/main" id="{0B79EBBA-F242-48C7-ECC3-55BEDF3FDDA8}"/>
              </a:ext>
            </a:extLst>
          </p:cNvPr>
          <p:cNvGrpSpPr/>
          <p:nvPr/>
        </p:nvGrpSpPr>
        <p:grpSpPr>
          <a:xfrm>
            <a:off x="11514228" y="1914091"/>
            <a:ext cx="533400" cy="415761"/>
            <a:chOff x="5906184" y="1486857"/>
            <a:chExt cx="355600" cy="272361"/>
          </a:xfrm>
        </p:grpSpPr>
        <p:sp>
          <p:nvSpPr>
            <p:cNvPr id="21" name="Oval 221">
              <a:extLst>
                <a:ext uri="{FF2B5EF4-FFF2-40B4-BE49-F238E27FC236}">
                  <a16:creationId xmlns="" xmlns:a16="http://schemas.microsoft.com/office/drawing/2014/main"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latin typeface="微軟正黑體" panose="020B0604030504040204" pitchFamily="34" charset="-120"/>
                <a:ea typeface="微軟正黑體" panose="020B0604030504040204" pitchFamily="34" charset="-120"/>
              </a:endParaRPr>
            </a:p>
          </p:txBody>
        </p:sp>
        <p:sp>
          <p:nvSpPr>
            <p:cNvPr id="22" name="TextBox 222">
              <a:extLst>
                <a:ext uri="{FF2B5EF4-FFF2-40B4-BE49-F238E27FC236}">
                  <a16:creationId xmlns="" xmlns:a16="http://schemas.microsoft.com/office/drawing/2014/main" id="{7751ACA8-5935-4AA1-4521-923760069DB5}"/>
                </a:ext>
              </a:extLst>
            </p:cNvPr>
            <p:cNvSpPr txBox="1"/>
            <p:nvPr/>
          </p:nvSpPr>
          <p:spPr>
            <a:xfrm>
              <a:off x="5906184" y="1507079"/>
              <a:ext cx="355600"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sp>
        <p:nvSpPr>
          <p:cNvPr id="55" name="流程圖: 結束點 8">
            <a:extLst>
              <a:ext uri="{FF2B5EF4-FFF2-40B4-BE49-F238E27FC236}">
                <a16:creationId xmlns="" xmlns:a16="http://schemas.microsoft.com/office/drawing/2014/main" id="{A0DBA237-CDB5-528B-0345-5BE2CBAC9775}"/>
              </a:ext>
            </a:extLst>
          </p:cNvPr>
          <p:cNvSpPr/>
          <p:nvPr/>
        </p:nvSpPr>
        <p:spPr bwMode="auto">
          <a:xfrm>
            <a:off x="211573" y="2104429"/>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56" name="流程圖: 決策 50">
            <a:extLst>
              <a:ext uri="{FF2B5EF4-FFF2-40B4-BE49-F238E27FC236}">
                <a16:creationId xmlns="" xmlns:a16="http://schemas.microsoft.com/office/drawing/2014/main" id="{DF0A16A6-B7B2-9F64-2B8C-2130D087B551}"/>
              </a:ext>
            </a:extLst>
          </p:cNvPr>
          <p:cNvSpPr/>
          <p:nvPr/>
        </p:nvSpPr>
        <p:spPr bwMode="auto">
          <a:xfrm>
            <a:off x="2658694" y="2152765"/>
            <a:ext cx="1578422"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新製工具</a:t>
            </a:r>
            <a:endParaRPr lang="zh-TW" altLang="en-US" sz="1500" dirty="0">
              <a:latin typeface="微軟正黑體" panose="020B0604030504040204" pitchFamily="34" charset="-120"/>
              <a:ea typeface="微軟正黑體" panose="020B0604030504040204" pitchFamily="34" charset="-120"/>
            </a:endParaRPr>
          </a:p>
        </p:txBody>
      </p:sp>
      <p:sp>
        <p:nvSpPr>
          <p:cNvPr id="58" name="文字方塊 57">
            <a:extLst>
              <a:ext uri="{FF2B5EF4-FFF2-40B4-BE49-F238E27FC236}">
                <a16:creationId xmlns="" xmlns:a16="http://schemas.microsoft.com/office/drawing/2014/main" id="{6EEF240C-77D0-D23F-D48A-305334081FE5}"/>
              </a:ext>
            </a:extLst>
          </p:cNvPr>
          <p:cNvSpPr txBox="1"/>
          <p:nvPr/>
        </p:nvSpPr>
        <p:spPr>
          <a:xfrm>
            <a:off x="4073428" y="212572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59" name="文字方塊 58">
            <a:extLst>
              <a:ext uri="{FF2B5EF4-FFF2-40B4-BE49-F238E27FC236}">
                <a16:creationId xmlns="" xmlns:a16="http://schemas.microsoft.com/office/drawing/2014/main" id="{4356C966-2848-A63B-1047-263376AA3E7C}"/>
              </a:ext>
            </a:extLst>
          </p:cNvPr>
          <p:cNvSpPr txBox="1"/>
          <p:nvPr/>
        </p:nvSpPr>
        <p:spPr>
          <a:xfrm>
            <a:off x="3081232" y="3434025"/>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60" name="肘形接點 68">
            <a:extLst>
              <a:ext uri="{FF2B5EF4-FFF2-40B4-BE49-F238E27FC236}">
                <a16:creationId xmlns="" xmlns:a16="http://schemas.microsoft.com/office/drawing/2014/main" id="{69589159-4809-2E90-640D-3429993E649B}"/>
              </a:ext>
            </a:extLst>
          </p:cNvPr>
          <p:cNvCxnSpPr>
            <a:cxnSpLocks/>
            <a:stCxn id="61" idx="3"/>
            <a:endCxn id="73" idx="1"/>
          </p:cNvCxnSpPr>
          <p:nvPr/>
        </p:nvCxnSpPr>
        <p:spPr>
          <a:xfrm flipV="1">
            <a:off x="4362260" y="2524119"/>
            <a:ext cx="590740" cy="210202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1" name="流程圖: 預設處理作業 21">
            <a:extLst>
              <a:ext uri="{FF2B5EF4-FFF2-40B4-BE49-F238E27FC236}">
                <a16:creationId xmlns="" xmlns:a16="http://schemas.microsoft.com/office/drawing/2014/main" id="{6AB8729A-A396-2BA6-E6B9-1B2A79082818}"/>
              </a:ext>
            </a:extLst>
          </p:cNvPr>
          <p:cNvSpPr/>
          <p:nvPr/>
        </p:nvSpPr>
        <p:spPr bwMode="auto">
          <a:xfrm>
            <a:off x="2549148" y="4006944"/>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MM-MA-0010-04</a:t>
            </a:r>
          </a:p>
          <a:p>
            <a:pPr algn="ctr" eaLnBrk="0" hangingPunct="0"/>
            <a:r>
              <a:rPr lang="zh-TW" altLang="en-US" sz="1500" dirty="0">
                <a:latin typeface="微軟正黑體" panose="020B0604030504040204" pitchFamily="34" charset="-120"/>
                <a:ea typeface="微軟正黑體" panose="020B0604030504040204" pitchFamily="34" charset="-120"/>
              </a:rPr>
              <a:t>物料主檔</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建檔流程</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製</a:t>
            </a:r>
            <a:r>
              <a:rPr lang="zh-TW" altLang="en-US" sz="1500" dirty="0" smtClean="0">
                <a:latin typeface="微軟正黑體" panose="020B0604030504040204" pitchFamily="34" charset="-120"/>
                <a:ea typeface="微軟正黑體" panose="020B0604030504040204" pitchFamily="34" charset="-120"/>
              </a:rPr>
              <a:t>工具</a:t>
            </a:r>
            <a:r>
              <a:rPr lang="en-US" altLang="zh-TW" sz="1500" dirty="0" smtClean="0">
                <a:latin typeface="微軟正黑體" panose="020B0604030504040204" pitchFamily="34" charset="-120"/>
                <a:ea typeface="微軟正黑體" panose="020B0604030504040204" pitchFamily="34" charset="-120"/>
              </a:rPr>
              <a:t>)</a:t>
            </a:r>
            <a:endParaRPr lang="en-US" altLang="zh-TW" sz="1500" dirty="0">
              <a:latin typeface="微軟正黑體" panose="020B0604030504040204" pitchFamily="34" charset="-120"/>
              <a:ea typeface="微軟正黑體" panose="020B0604030504040204" pitchFamily="34" charset="-120"/>
            </a:endParaRPr>
          </a:p>
        </p:txBody>
      </p:sp>
      <p:grpSp>
        <p:nvGrpSpPr>
          <p:cNvPr id="62" name="Group 220">
            <a:extLst>
              <a:ext uri="{FF2B5EF4-FFF2-40B4-BE49-F238E27FC236}">
                <a16:creationId xmlns="" xmlns:a16="http://schemas.microsoft.com/office/drawing/2014/main" id="{A9B401BC-DE49-5FC0-6565-D216316A23DA}"/>
              </a:ext>
            </a:extLst>
          </p:cNvPr>
          <p:cNvGrpSpPr/>
          <p:nvPr/>
        </p:nvGrpSpPr>
        <p:grpSpPr>
          <a:xfrm>
            <a:off x="4150489" y="3792400"/>
            <a:ext cx="547418" cy="408542"/>
            <a:chOff x="5906472" y="1486857"/>
            <a:chExt cx="364945" cy="272361"/>
          </a:xfrm>
        </p:grpSpPr>
        <p:sp>
          <p:nvSpPr>
            <p:cNvPr id="63"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64" name="TextBox 222">
              <a:extLst>
                <a:ext uri="{FF2B5EF4-FFF2-40B4-BE49-F238E27FC236}">
                  <a16:creationId xmlns="" xmlns:a16="http://schemas.microsoft.com/office/drawing/2014/main" id="{38213EC1-2A6F-CC6F-9F41-D87C1E84A2C8}"/>
                </a:ext>
              </a:extLst>
            </p:cNvPr>
            <p:cNvSpPr txBox="1"/>
            <p:nvPr/>
          </p:nvSpPr>
          <p:spPr>
            <a:xfrm>
              <a:off x="5915817"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66" name="直線單箭頭接點 65">
            <a:extLst>
              <a:ext uri="{FF2B5EF4-FFF2-40B4-BE49-F238E27FC236}">
                <a16:creationId xmlns="" xmlns:a16="http://schemas.microsoft.com/office/drawing/2014/main" id="{30F40FCB-3B68-A111-C1B6-F7B667FDB45E}"/>
              </a:ext>
            </a:extLst>
          </p:cNvPr>
          <p:cNvCxnSpPr>
            <a:cxnSpLocks/>
            <a:stCxn id="55" idx="3"/>
            <a:endCxn id="56" idx="1"/>
          </p:cNvCxnSpPr>
          <p:nvPr/>
        </p:nvCxnSpPr>
        <p:spPr>
          <a:xfrm>
            <a:off x="2009404" y="2495651"/>
            <a:ext cx="649290" cy="132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直線單箭頭接點 66">
            <a:extLst>
              <a:ext uri="{FF2B5EF4-FFF2-40B4-BE49-F238E27FC236}">
                <a16:creationId xmlns="" xmlns:a16="http://schemas.microsoft.com/office/drawing/2014/main" id="{75A891B9-47AC-C698-135F-2D0E20B3C312}"/>
              </a:ext>
            </a:extLst>
          </p:cNvPr>
          <p:cNvCxnSpPr>
            <a:cxnSpLocks/>
            <a:stCxn id="56" idx="2"/>
            <a:endCxn id="61" idx="0"/>
          </p:cNvCxnSpPr>
          <p:nvPr/>
        </p:nvCxnSpPr>
        <p:spPr>
          <a:xfrm rot="16200000" flipH="1">
            <a:off x="2880815" y="3432054"/>
            <a:ext cx="1141979" cy="77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直線單箭頭接點 67">
            <a:extLst>
              <a:ext uri="{FF2B5EF4-FFF2-40B4-BE49-F238E27FC236}">
                <a16:creationId xmlns="" xmlns:a16="http://schemas.microsoft.com/office/drawing/2014/main" id="{3AB54E48-A607-BBC9-B18A-6CC63CA641D2}"/>
              </a:ext>
            </a:extLst>
          </p:cNvPr>
          <p:cNvCxnSpPr>
            <a:cxnSpLocks/>
            <a:stCxn id="56" idx="3"/>
            <a:endCxn id="73" idx="1"/>
          </p:cNvCxnSpPr>
          <p:nvPr/>
        </p:nvCxnSpPr>
        <p:spPr>
          <a:xfrm>
            <a:off x="4237116" y="2508865"/>
            <a:ext cx="715884" cy="152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1" name="群組 70"/>
          <p:cNvGrpSpPr/>
          <p:nvPr/>
        </p:nvGrpSpPr>
        <p:grpSpPr>
          <a:xfrm>
            <a:off x="4953000" y="1916896"/>
            <a:ext cx="1817458" cy="1217256"/>
            <a:chOff x="15073354" y="8308668"/>
            <a:chExt cx="1817458" cy="1217256"/>
          </a:xfrm>
        </p:grpSpPr>
        <p:sp>
          <p:nvSpPr>
            <p:cNvPr id="72" name="流程圖: 程序 7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US" altLang="zh-TW" sz="1600" b="1" dirty="0" smtClean="0">
                  <a:latin typeface="微軟正黑體" panose="020B0604030504040204" pitchFamily="34" charset="-120"/>
                  <a:ea typeface="微軟正黑體" panose="020B0604030504040204" pitchFamily="34" charset="-120"/>
                </a:rPr>
                <a:t>ZMM002</a:t>
              </a:r>
              <a:r>
                <a:rPr lang="en-GB" sz="1600" b="1" dirty="0" smtClean="0">
                  <a:latin typeface="微軟正黑體" panose="020B0604030504040204" pitchFamily="34" charset="-120"/>
                  <a:ea typeface="微軟正黑體" panose="020B0604030504040204" pitchFamily="34" charset="-120"/>
                </a:rPr>
                <a:t>/ME51N</a:t>
              </a:r>
            </a:p>
          </p:txBody>
        </p:sp>
        <p:sp>
          <p:nvSpPr>
            <p:cNvPr id="73" name="流程圖: 程序 7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600" dirty="0" smtClean="0">
                  <a:latin typeface="微軟正黑體" panose="020B0604030504040204" pitchFamily="34" charset="-120"/>
                  <a:ea typeface="微軟正黑體" panose="020B0604030504040204" pitchFamily="34" charset="-120"/>
                </a:rPr>
                <a:t>建立製工具請購單</a:t>
              </a:r>
              <a:endParaRPr lang="zh-TW" altLang="en-US" sz="1600" dirty="0">
                <a:latin typeface="微軟正黑體" panose="020B0604030504040204" pitchFamily="34" charset="-120"/>
                <a:ea typeface="微軟正黑體" panose="020B0604030504040204" pitchFamily="34" charset="-120"/>
              </a:endParaRPr>
            </a:p>
          </p:txBody>
        </p:sp>
        <p:sp>
          <p:nvSpPr>
            <p:cNvPr id="74" name="流程圖: 程序 7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75" name="流程圖: 程序 74"/>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76" name="Group 220">
            <a:extLst>
              <a:ext uri="{FF2B5EF4-FFF2-40B4-BE49-F238E27FC236}">
                <a16:creationId xmlns="" xmlns:a16="http://schemas.microsoft.com/office/drawing/2014/main" id="{A9B401BC-DE49-5FC0-6565-D216316A23DA}"/>
              </a:ext>
            </a:extLst>
          </p:cNvPr>
          <p:cNvGrpSpPr/>
          <p:nvPr/>
        </p:nvGrpSpPr>
        <p:grpSpPr>
          <a:xfrm>
            <a:off x="6524636" y="1702582"/>
            <a:ext cx="533400" cy="408605"/>
            <a:chOff x="5906184" y="1486857"/>
            <a:chExt cx="355600" cy="272361"/>
          </a:xfrm>
        </p:grpSpPr>
        <p:sp>
          <p:nvSpPr>
            <p:cNvPr id="77"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82" name="TextBox 222">
              <a:extLst>
                <a:ext uri="{FF2B5EF4-FFF2-40B4-BE49-F238E27FC236}">
                  <a16:creationId xmlns=""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87" name="群組 86"/>
          <p:cNvGrpSpPr/>
          <p:nvPr/>
        </p:nvGrpSpPr>
        <p:grpSpPr>
          <a:xfrm>
            <a:off x="4965700" y="3783796"/>
            <a:ext cx="1817458" cy="1217256"/>
            <a:chOff x="15073354" y="8308668"/>
            <a:chExt cx="1817458" cy="1217256"/>
          </a:xfrm>
        </p:grpSpPr>
        <p:sp>
          <p:nvSpPr>
            <p:cNvPr id="88" name="流程圖: 程序 87"/>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US" sz="1600" b="1" dirty="0" smtClean="0">
                  <a:latin typeface="微軟正黑體" panose="020B0604030504040204" pitchFamily="34" charset="-120"/>
                  <a:ea typeface="微軟正黑體" panose="020B0604030504040204" pitchFamily="34" charset="-120"/>
                </a:rPr>
                <a:t>ME54N/ME55</a:t>
              </a:r>
              <a:endParaRPr lang="en-GB" sz="1600" b="1" dirty="0" smtClean="0">
                <a:latin typeface="微軟正黑體" panose="020B0604030504040204" pitchFamily="34" charset="-120"/>
                <a:ea typeface="微軟正黑體" panose="020B0604030504040204" pitchFamily="34" charset="-120"/>
              </a:endParaRPr>
            </a:p>
          </p:txBody>
        </p:sp>
        <p:sp>
          <p:nvSpPr>
            <p:cNvPr id="89" name="流程圖: 程序 88"/>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600" dirty="0" smtClean="0">
                  <a:latin typeface="微軟正黑體" panose="020B0604030504040204" pitchFamily="34" charset="-120"/>
                  <a:ea typeface="微軟正黑體" panose="020B0604030504040204" pitchFamily="34" charset="-120"/>
                </a:rPr>
                <a:t>核發請購單</a:t>
              </a:r>
              <a:endParaRPr lang="en-US" altLang="zh-TW" sz="1600" dirty="0">
                <a:latin typeface="微軟正黑體" panose="020B0604030504040204" pitchFamily="34" charset="-120"/>
                <a:ea typeface="微軟正黑體" panose="020B0604030504040204" pitchFamily="34" charset="-120"/>
              </a:endParaRPr>
            </a:p>
          </p:txBody>
        </p:sp>
        <p:sp>
          <p:nvSpPr>
            <p:cNvPr id="90" name="流程圖: 程序 89"/>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1" name="流程圖: 程序 90"/>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92" name="Group 220">
            <a:extLst>
              <a:ext uri="{FF2B5EF4-FFF2-40B4-BE49-F238E27FC236}">
                <a16:creationId xmlns="" xmlns:a16="http://schemas.microsoft.com/office/drawing/2014/main" id="{A9B401BC-DE49-5FC0-6565-D216316A23DA}"/>
              </a:ext>
            </a:extLst>
          </p:cNvPr>
          <p:cNvGrpSpPr/>
          <p:nvPr/>
        </p:nvGrpSpPr>
        <p:grpSpPr>
          <a:xfrm>
            <a:off x="6537336" y="3569482"/>
            <a:ext cx="533400" cy="408605"/>
            <a:chOff x="5906184" y="1486857"/>
            <a:chExt cx="355600" cy="272361"/>
          </a:xfrm>
        </p:grpSpPr>
        <p:sp>
          <p:nvSpPr>
            <p:cNvPr id="93"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94" name="TextBox 222">
              <a:extLst>
                <a:ext uri="{FF2B5EF4-FFF2-40B4-BE49-F238E27FC236}">
                  <a16:creationId xmlns=""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83" name="群組 82"/>
          <p:cNvGrpSpPr/>
          <p:nvPr/>
        </p:nvGrpSpPr>
        <p:grpSpPr>
          <a:xfrm>
            <a:off x="2832100" y="6158696"/>
            <a:ext cx="1817458" cy="1217256"/>
            <a:chOff x="15073354" y="8308668"/>
            <a:chExt cx="1817458" cy="1217256"/>
          </a:xfrm>
        </p:grpSpPr>
        <p:sp>
          <p:nvSpPr>
            <p:cNvPr id="84" name="流程圖: 程序 83"/>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600" b="1" dirty="0" smtClean="0">
                  <a:latin typeface="微軟正黑體" panose="020B0604030504040204" pitchFamily="34" charset="-120"/>
                  <a:ea typeface="微軟正黑體" panose="020B0604030504040204" pitchFamily="34" charset="-120"/>
                </a:rPr>
                <a:t>ZMM017</a:t>
              </a:r>
              <a:endParaRPr lang="en-GB" sz="1600" b="1" dirty="0" smtClean="0">
                <a:latin typeface="微軟正黑體" panose="020B0604030504040204" pitchFamily="34" charset="-120"/>
                <a:ea typeface="微軟正黑體" panose="020B0604030504040204" pitchFamily="34" charset="-120"/>
              </a:endParaRPr>
            </a:p>
          </p:txBody>
        </p:sp>
        <p:sp>
          <p:nvSpPr>
            <p:cNvPr id="85" name="流程圖: 程序 84"/>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600" dirty="0" smtClean="0">
                  <a:latin typeface="微軟正黑體" panose="020B0604030504040204" pitchFamily="34" charset="-120"/>
                  <a:ea typeface="微軟正黑體" panose="020B0604030504040204" pitchFamily="34" charset="-120"/>
                </a:rPr>
                <a:t>將請購單發起</a:t>
              </a:r>
              <a:r>
                <a:rPr lang="en-US" altLang="zh-TW" sz="1600" dirty="0" smtClean="0">
                  <a:latin typeface="微軟正黑體" panose="020B0604030504040204" pitchFamily="34" charset="-120"/>
                  <a:ea typeface="微軟正黑體" panose="020B0604030504040204" pitchFamily="34" charset="-120"/>
                </a:rPr>
                <a:t>BPM</a:t>
              </a:r>
              <a:r>
                <a:rPr lang="zh-TW" altLang="en-US" sz="1600" dirty="0" smtClean="0">
                  <a:latin typeface="微軟正黑體" panose="020B0604030504040204" pitchFamily="34" charset="-120"/>
                  <a:ea typeface="微軟正黑體" panose="020B0604030504040204" pitchFamily="34" charset="-120"/>
                </a:rPr>
                <a:t>簽核</a:t>
              </a:r>
              <a:endParaRPr lang="en-US" altLang="zh-TW" sz="1600" dirty="0">
                <a:latin typeface="微軟正黑體" panose="020B0604030504040204" pitchFamily="34" charset="-120"/>
                <a:ea typeface="微軟正黑體" panose="020B0604030504040204" pitchFamily="34" charset="-120"/>
              </a:endParaRPr>
            </a:p>
          </p:txBody>
        </p:sp>
        <p:sp>
          <p:nvSpPr>
            <p:cNvPr id="86" name="流程圖: 程序 85"/>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5" name="流程圖: 程序 94"/>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cxnSp>
        <p:nvCxnSpPr>
          <p:cNvPr id="107" name="肘形接點 68">
            <a:extLst>
              <a:ext uri="{FF2B5EF4-FFF2-40B4-BE49-F238E27FC236}">
                <a16:creationId xmlns="" xmlns:a16="http://schemas.microsoft.com/office/drawing/2014/main" id="{4D315B82-E1CA-313C-D4BB-3BBD9FD7F973}"/>
              </a:ext>
            </a:extLst>
          </p:cNvPr>
          <p:cNvCxnSpPr>
            <a:cxnSpLocks/>
            <a:endCxn id="115" idx="0"/>
          </p:cNvCxnSpPr>
          <p:nvPr/>
        </p:nvCxnSpPr>
        <p:spPr>
          <a:xfrm rot="5400000">
            <a:off x="3256351" y="7470093"/>
            <a:ext cx="949843" cy="5585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5" name="流程圖: 接點 51">
            <a:extLst>
              <a:ext uri="{FF2B5EF4-FFF2-40B4-BE49-F238E27FC236}">
                <a16:creationId xmlns="" xmlns:a16="http://schemas.microsoft.com/office/drawing/2014/main" id="{1E4DE6F3-3BB0-2B05-BD87-45921D4C3C01}"/>
              </a:ext>
            </a:extLst>
          </p:cNvPr>
          <p:cNvSpPr/>
          <p:nvPr/>
        </p:nvSpPr>
        <p:spPr bwMode="auto">
          <a:xfrm>
            <a:off x="3430671" y="79729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17" name="流程圖: 接點 51">
            <a:extLst>
              <a:ext uri="{FF2B5EF4-FFF2-40B4-BE49-F238E27FC236}">
                <a16:creationId xmlns="" xmlns:a16="http://schemas.microsoft.com/office/drawing/2014/main" id="{1E4DE6F3-3BB0-2B05-BD87-45921D4C3C01}"/>
              </a:ext>
            </a:extLst>
          </p:cNvPr>
          <p:cNvSpPr/>
          <p:nvPr/>
        </p:nvSpPr>
        <p:spPr bwMode="auto">
          <a:xfrm>
            <a:off x="8269371" y="29437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cxnSp>
        <p:nvCxnSpPr>
          <p:cNvPr id="118" name="肘形接點 68">
            <a:extLst>
              <a:ext uri="{FF2B5EF4-FFF2-40B4-BE49-F238E27FC236}">
                <a16:creationId xmlns="" xmlns:a16="http://schemas.microsoft.com/office/drawing/2014/main" id="{4D315B82-E1CA-313C-D4BB-3BBD9FD7F973}"/>
              </a:ext>
            </a:extLst>
          </p:cNvPr>
          <p:cNvCxnSpPr>
            <a:cxnSpLocks/>
            <a:stCxn id="117" idx="4"/>
          </p:cNvCxnSpPr>
          <p:nvPr/>
        </p:nvCxnSpPr>
        <p:spPr>
          <a:xfrm rot="16200000" flipH="1">
            <a:off x="8268894" y="3684196"/>
            <a:ext cx="551357" cy="505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122" name="群組 121"/>
          <p:cNvGrpSpPr/>
          <p:nvPr/>
        </p:nvGrpSpPr>
        <p:grpSpPr>
          <a:xfrm>
            <a:off x="10033000" y="3593296"/>
            <a:ext cx="1817458" cy="1217256"/>
            <a:chOff x="15073354" y="8308668"/>
            <a:chExt cx="1817458" cy="1217256"/>
          </a:xfrm>
        </p:grpSpPr>
        <p:sp>
          <p:nvSpPr>
            <p:cNvPr id="123" name="流程圖: 程序 122"/>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US" sz="1600" b="1" dirty="0" smtClean="0">
                  <a:latin typeface="微軟正黑體" panose="020B0604030504040204" pitchFamily="34" charset="-120"/>
                  <a:ea typeface="微軟正黑體" panose="020B0604030504040204" pitchFamily="34" charset="-120"/>
                </a:rPr>
                <a:t>ME28/ME29N</a:t>
              </a:r>
              <a:endParaRPr lang="en-GB" sz="1600" b="1" dirty="0" smtClean="0">
                <a:latin typeface="微軟正黑體" panose="020B0604030504040204" pitchFamily="34" charset="-120"/>
                <a:ea typeface="微軟正黑體" panose="020B0604030504040204" pitchFamily="34" charset="-120"/>
              </a:endParaRPr>
            </a:p>
          </p:txBody>
        </p:sp>
        <p:sp>
          <p:nvSpPr>
            <p:cNvPr id="124" name="流程圖: 程序 12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600" dirty="0" smtClean="0">
                  <a:latin typeface="微軟正黑體" panose="020B0604030504040204" pitchFamily="34" charset="-120"/>
                  <a:ea typeface="微軟正黑體" panose="020B0604030504040204" pitchFamily="34" charset="-120"/>
                </a:rPr>
                <a:t>核發採購單</a:t>
              </a:r>
              <a:endParaRPr lang="en-US" altLang="zh-TW" sz="1600" dirty="0">
                <a:latin typeface="微軟正黑體" panose="020B0604030504040204" pitchFamily="34" charset="-120"/>
                <a:ea typeface="微軟正黑體" panose="020B0604030504040204" pitchFamily="34" charset="-120"/>
              </a:endParaRPr>
            </a:p>
          </p:txBody>
        </p:sp>
        <p:sp>
          <p:nvSpPr>
            <p:cNvPr id="125" name="流程圖: 程序 12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26" name="流程圖: 程序 125"/>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127" name="Group 220">
            <a:extLst>
              <a:ext uri="{FF2B5EF4-FFF2-40B4-BE49-F238E27FC236}">
                <a16:creationId xmlns="" xmlns:a16="http://schemas.microsoft.com/office/drawing/2014/main" id="{A9B401BC-DE49-5FC0-6565-D216316A23DA}"/>
              </a:ext>
            </a:extLst>
          </p:cNvPr>
          <p:cNvGrpSpPr/>
          <p:nvPr/>
        </p:nvGrpSpPr>
        <p:grpSpPr>
          <a:xfrm>
            <a:off x="11668136" y="3455182"/>
            <a:ext cx="533400" cy="408605"/>
            <a:chOff x="5906184" y="1486857"/>
            <a:chExt cx="355600" cy="272361"/>
          </a:xfrm>
        </p:grpSpPr>
        <p:sp>
          <p:nvSpPr>
            <p:cNvPr id="128"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129" name="TextBox 222">
              <a:extLst>
                <a:ext uri="{FF2B5EF4-FFF2-40B4-BE49-F238E27FC236}">
                  <a16:creationId xmlns=""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 xmlns:p14="http://schemas.microsoft.com/office/powerpoint/2010/main" val="34078046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 xmlns:a16="http://schemas.microsoft.com/office/drawing/2014/main" id="{580160BC-29D0-9D19-BFCE-78B7FC429FBC}"/>
              </a:ext>
            </a:extLst>
          </p:cNvPr>
          <p:cNvSpPr/>
          <p:nvPr/>
        </p:nvSpPr>
        <p:spPr bwMode="auto">
          <a:xfrm>
            <a:off x="6144650" y="4845731"/>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 xmlns:a16="http://schemas.microsoft.com/office/drawing/2014/main" id="{83E6F622-2FBE-CC67-50FE-4ABD7D8B9696}"/>
              </a:ext>
            </a:extLst>
          </p:cNvPr>
          <p:cNvSpPr txBox="1"/>
          <p:nvPr/>
        </p:nvSpPr>
        <p:spPr>
          <a:xfrm>
            <a:off x="2444080" y="781122"/>
            <a:ext cx="845003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MM-PU-0050 </a:t>
            </a:r>
            <a:r>
              <a:rPr lang="zh-TW" altLang="en-US" sz="2400" b="1" dirty="0">
                <a:latin typeface="微軟正黑體" panose="020B0604030504040204" pitchFamily="34" charset="-120"/>
                <a:ea typeface="微軟正黑體" panose="020B0604030504040204" pitchFamily="34" charset="-120"/>
              </a:rPr>
              <a:t>製工具請採購驗流程</a:t>
            </a: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4927600" y="1167112"/>
            <a:ext cx="2362199" cy="830997"/>
          </a:xfrm>
          <a:prstGeom prst="rect">
            <a:avLst/>
          </a:prstGeom>
          <a:noFill/>
        </p:spPr>
        <p:txBody>
          <a:bodyPr wrap="square" rtlCol="0">
            <a:spAutoFit/>
          </a:bodyPr>
          <a:lstStyle/>
          <a:p>
            <a:pPr algn="ctr"/>
            <a:r>
              <a:rPr lang="zh-TW" altLang="en-US" sz="1600" dirty="0">
                <a:latin typeface="微軟正黑體" panose="020B0604030504040204" pitchFamily="34" charset="-120"/>
                <a:ea typeface="微軟正黑體" panose="020B0604030504040204" pitchFamily="34" charset="-120"/>
              </a:rPr>
              <a:t>面</a:t>
            </a:r>
            <a:r>
              <a:rPr lang="en-US" altLang="zh-TW" sz="1600" dirty="0">
                <a:latin typeface="微軟正黑體" panose="020B0604030504040204" pitchFamily="34" charset="-120"/>
                <a:ea typeface="微軟正黑體" panose="020B0604030504040204" pitchFamily="34" charset="-120"/>
              </a:rPr>
              <a:t>&amp;</a:t>
            </a:r>
            <a:r>
              <a:rPr lang="zh-TW" altLang="en-US" sz="1600" dirty="0">
                <a:latin typeface="微軟正黑體" panose="020B0604030504040204" pitchFamily="34" charset="-120"/>
                <a:ea typeface="微軟正黑體" panose="020B0604030504040204" pitchFamily="34" charset="-120"/>
              </a:rPr>
              <a:t>底技術工程</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採購及總務</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化工</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開發及業務</a:t>
            </a:r>
          </a:p>
          <a:p>
            <a:pPr algn="ctr"/>
            <a:endParaRPr lang="zh-TW" altLang="en-US" sz="1600" dirty="0">
              <a:latin typeface="微軟正黑體" panose="020B0604030504040204" pitchFamily="34" charset="-120"/>
              <a:ea typeface="微軟正黑體" panose="020B0604030504040204" pitchFamily="34" charset="-120"/>
            </a:endParaRP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142197" y="868536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30" name="表格 30">
            <a:extLst>
              <a:ext uri="{FF2B5EF4-FFF2-40B4-BE49-F238E27FC236}">
                <a16:creationId xmlns="" xmlns:a16="http://schemas.microsoft.com/office/drawing/2014/main" id="{18197701-0564-3E2B-648E-413A6C8BBE0A}"/>
              </a:ext>
            </a:extLst>
          </p:cNvPr>
          <p:cNvGraphicFramePr>
            <a:graphicFrameLocks noGrp="1"/>
          </p:cNvGraphicFramePr>
          <p:nvPr/>
        </p:nvGraphicFramePr>
        <p:xfrm>
          <a:off x="5111588" y="2034279"/>
          <a:ext cx="1797832" cy="139774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748146">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1" name="Group 220">
            <a:extLst>
              <a:ext uri="{FF2B5EF4-FFF2-40B4-BE49-F238E27FC236}">
                <a16:creationId xmlns="" xmlns:a16="http://schemas.microsoft.com/office/drawing/2014/main" id="{A9B401BC-DE49-5FC0-6565-D216316A23DA}"/>
              </a:ext>
            </a:extLst>
          </p:cNvPr>
          <p:cNvGrpSpPr/>
          <p:nvPr/>
        </p:nvGrpSpPr>
        <p:grpSpPr>
          <a:xfrm>
            <a:off x="6669645" y="1837208"/>
            <a:ext cx="543519" cy="408542"/>
            <a:chOff x="5906472" y="1486857"/>
            <a:chExt cx="362346" cy="272361"/>
          </a:xfrm>
        </p:grpSpPr>
        <p:sp>
          <p:nvSpPr>
            <p:cNvPr id="32"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latin typeface="微軟正黑體" panose="020B0604030504040204" pitchFamily="34" charset="-120"/>
                <a:ea typeface="微軟正黑體" panose="020B0604030504040204" pitchFamily="34" charset="-120"/>
              </a:endParaRPr>
            </a:p>
          </p:txBody>
        </p:sp>
        <p:sp>
          <p:nvSpPr>
            <p:cNvPr id="33" name="TextBox 222">
              <a:extLst>
                <a:ext uri="{FF2B5EF4-FFF2-40B4-BE49-F238E27FC236}">
                  <a16:creationId xmlns="" xmlns:a16="http://schemas.microsoft.com/office/drawing/2014/main" id="{38213EC1-2A6F-CC6F-9F41-D87C1E84A2C8}"/>
                </a:ext>
              </a:extLst>
            </p:cNvPr>
            <p:cNvSpPr txBox="1"/>
            <p:nvPr/>
          </p:nvSpPr>
          <p:spPr>
            <a:xfrm>
              <a:off x="591321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49" name="肘形接點 68">
            <a:extLst>
              <a:ext uri="{FF2B5EF4-FFF2-40B4-BE49-F238E27FC236}">
                <a16:creationId xmlns="" xmlns:a16="http://schemas.microsoft.com/office/drawing/2014/main" id="{8DD1663D-3235-8D1E-F1BD-80C90EB0F8CB}"/>
              </a:ext>
            </a:extLst>
          </p:cNvPr>
          <p:cNvCxnSpPr>
            <a:cxnSpLocks/>
            <a:stCxn id="216" idx="3"/>
            <a:endCxn id="25" idx="1"/>
          </p:cNvCxnSpPr>
          <p:nvPr/>
        </p:nvCxnSpPr>
        <p:spPr>
          <a:xfrm flipV="1">
            <a:off x="11515972" y="9076585"/>
            <a:ext cx="626225" cy="121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5" name="表格 30">
            <a:extLst>
              <a:ext uri="{FF2B5EF4-FFF2-40B4-BE49-F238E27FC236}">
                <a16:creationId xmlns="" xmlns:a16="http://schemas.microsoft.com/office/drawing/2014/main" id="{DD4D6B14-D3B2-B7AE-AA9C-20D4B4848A80}"/>
              </a:ext>
            </a:extLst>
          </p:cNvPr>
          <p:cNvGraphicFramePr>
            <a:graphicFrameLocks noGrp="1"/>
          </p:cNvGraphicFramePr>
          <p:nvPr/>
        </p:nvGraphicFramePr>
        <p:xfrm>
          <a:off x="9725027" y="5270888"/>
          <a:ext cx="1797832" cy="118443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功能確認</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6" name="Straight Connector 284">
            <a:extLst>
              <a:ext uri="{FF2B5EF4-FFF2-40B4-BE49-F238E27FC236}">
                <a16:creationId xmlns="" xmlns:a16="http://schemas.microsoft.com/office/drawing/2014/main" id="{3343F13F-0020-F344-5B28-F9AEB09CA3FA}"/>
              </a:ext>
            </a:extLst>
          </p:cNvPr>
          <p:cNvCxnSpPr>
            <a:cxnSpLocks/>
          </p:cNvCxnSpPr>
          <p:nvPr/>
        </p:nvCxnSpPr>
        <p:spPr>
          <a:xfrm>
            <a:off x="7294542" y="1319036"/>
            <a:ext cx="0" cy="85411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肘形接點 68">
            <a:extLst>
              <a:ext uri="{FF2B5EF4-FFF2-40B4-BE49-F238E27FC236}">
                <a16:creationId xmlns="" xmlns:a16="http://schemas.microsoft.com/office/drawing/2014/main" id="{8E184E7B-49D4-0B0F-DFF1-32CCB2A9AB0C}"/>
              </a:ext>
            </a:extLst>
          </p:cNvPr>
          <p:cNvCxnSpPr>
            <a:cxnSpLocks/>
            <a:stCxn id="15" idx="2"/>
            <a:endCxn id="35" idx="0"/>
          </p:cNvCxnSpPr>
          <p:nvPr/>
        </p:nvCxnSpPr>
        <p:spPr>
          <a:xfrm rot="5400000">
            <a:off x="10262052" y="6812842"/>
            <a:ext cx="719406" cy="437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 name="肘形接點 68">
            <a:extLst>
              <a:ext uri="{FF2B5EF4-FFF2-40B4-BE49-F238E27FC236}">
                <a16:creationId xmlns="" xmlns:a16="http://schemas.microsoft.com/office/drawing/2014/main" id="{70F961FE-0AA7-D2B8-F257-ECB0C3D45D2D}"/>
              </a:ext>
            </a:extLst>
          </p:cNvPr>
          <p:cNvCxnSpPr>
            <a:cxnSpLocks/>
            <a:stCxn id="5" idx="3"/>
            <a:endCxn id="83" idx="1"/>
          </p:cNvCxnSpPr>
          <p:nvPr/>
        </p:nvCxnSpPr>
        <p:spPr>
          <a:xfrm flipV="1">
            <a:off x="2008377" y="3371518"/>
            <a:ext cx="651206" cy="619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0" name="肘形接點 68">
            <a:extLst>
              <a:ext uri="{FF2B5EF4-FFF2-40B4-BE49-F238E27FC236}">
                <a16:creationId xmlns="" xmlns:a16="http://schemas.microsoft.com/office/drawing/2014/main" id="{1DF5F1F4-D706-20CD-2C91-619F7E00C1C5}"/>
              </a:ext>
            </a:extLst>
          </p:cNvPr>
          <p:cNvCxnSpPr>
            <a:cxnSpLocks/>
            <a:stCxn id="19" idx="3"/>
            <a:endCxn id="24" idx="1"/>
          </p:cNvCxnSpPr>
          <p:nvPr/>
        </p:nvCxnSpPr>
        <p:spPr>
          <a:xfrm flipV="1">
            <a:off x="6904263" y="2712651"/>
            <a:ext cx="2826950" cy="157427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9" name="表格 30">
            <a:extLst>
              <a:ext uri="{FF2B5EF4-FFF2-40B4-BE49-F238E27FC236}">
                <a16:creationId xmlns="" xmlns:a16="http://schemas.microsoft.com/office/drawing/2014/main" id="{323DEA68-B2E9-C177-AF6C-305B02CA9243}"/>
              </a:ext>
            </a:extLst>
          </p:cNvPr>
          <p:cNvGraphicFramePr>
            <a:graphicFrameLocks noGrp="1"/>
          </p:cNvGraphicFramePr>
          <p:nvPr/>
        </p:nvGraphicFramePr>
        <p:xfrm>
          <a:off x="5106431" y="3694708"/>
          <a:ext cx="1797832" cy="118443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24" name="表格 30">
            <a:extLst>
              <a:ext uri="{FF2B5EF4-FFF2-40B4-BE49-F238E27FC236}">
                <a16:creationId xmlns="" xmlns:a16="http://schemas.microsoft.com/office/drawing/2014/main" id="{DB7A0832-7D21-1719-AE8D-90899BF1A64F}"/>
              </a:ext>
            </a:extLst>
          </p:cNvPr>
          <p:cNvGraphicFramePr>
            <a:graphicFrameLocks noGrp="1"/>
          </p:cNvGraphicFramePr>
          <p:nvPr/>
        </p:nvGraphicFramePr>
        <p:xfrm>
          <a:off x="9731213" y="2120432"/>
          <a:ext cx="1797832" cy="118443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a:t>
                      </a:r>
                      <a:r>
                        <a:rPr lang="zh-TW" altLang="en-US" sz="1500" dirty="0" smtClean="0">
                          <a:latin typeface="微軟正黑體" panose="020B0604030504040204" pitchFamily="34" charset="-120"/>
                          <a:ea typeface="微軟正黑體" panose="020B0604030504040204" pitchFamily="34" charset="-120"/>
                        </a:rPr>
                        <a:t>單收貨</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7" name="肘形接點 68">
            <a:extLst>
              <a:ext uri="{FF2B5EF4-FFF2-40B4-BE49-F238E27FC236}">
                <a16:creationId xmlns="" xmlns:a16="http://schemas.microsoft.com/office/drawing/2014/main" id="{4D315B82-E1CA-313C-D4BB-3BBD9FD7F973}"/>
              </a:ext>
            </a:extLst>
          </p:cNvPr>
          <p:cNvCxnSpPr>
            <a:cxnSpLocks/>
            <a:stCxn id="2" idx="2"/>
            <a:endCxn id="15" idx="0"/>
          </p:cNvCxnSpPr>
          <p:nvPr/>
        </p:nvCxnSpPr>
        <p:spPr>
          <a:xfrm rot="16200000" flipH="1">
            <a:off x="10408480" y="5055425"/>
            <a:ext cx="430782" cy="14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 xmlns:a16="http://schemas.microsoft.com/office/drawing/2014/main" id="{8037CA89-DBE3-1441-8E4C-7EA04E993D61}"/>
              </a:ext>
            </a:extLst>
          </p:cNvPr>
          <p:cNvSpPr/>
          <p:nvPr/>
        </p:nvSpPr>
        <p:spPr bwMode="auto">
          <a:xfrm>
            <a:off x="9698591" y="7174733"/>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cxnSp>
        <p:nvCxnSpPr>
          <p:cNvPr id="51" name="肘形接點 68">
            <a:extLst>
              <a:ext uri="{FF2B5EF4-FFF2-40B4-BE49-F238E27FC236}">
                <a16:creationId xmlns="" xmlns:a16="http://schemas.microsoft.com/office/drawing/2014/main" id="{2AA47122-2BF1-7633-656B-9B6710026CD9}"/>
              </a:ext>
            </a:extLst>
          </p:cNvPr>
          <p:cNvCxnSpPr>
            <a:cxnSpLocks/>
            <a:stCxn id="35" idx="2"/>
            <a:endCxn id="216" idx="0"/>
          </p:cNvCxnSpPr>
          <p:nvPr/>
        </p:nvCxnSpPr>
        <p:spPr>
          <a:xfrm rot="5400000">
            <a:off x="10270864" y="8109897"/>
            <a:ext cx="694895" cy="251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5" name="文字方塊 54">
            <a:extLst>
              <a:ext uri="{FF2B5EF4-FFF2-40B4-BE49-F238E27FC236}">
                <a16:creationId xmlns="" xmlns:a16="http://schemas.microsoft.com/office/drawing/2014/main" id="{B106DB5A-3C2B-C42B-E706-9F53E0CA364F}"/>
              </a:ext>
            </a:extLst>
          </p:cNvPr>
          <p:cNvSpPr txBox="1"/>
          <p:nvPr/>
        </p:nvSpPr>
        <p:spPr>
          <a:xfrm>
            <a:off x="8960478" y="715923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56" name="文字方塊 55">
            <a:extLst>
              <a:ext uri="{FF2B5EF4-FFF2-40B4-BE49-F238E27FC236}">
                <a16:creationId xmlns="" xmlns:a16="http://schemas.microsoft.com/office/drawing/2014/main" id="{7BDD8B3B-9FC5-B431-B92A-CADEB291222C}"/>
              </a:ext>
            </a:extLst>
          </p:cNvPr>
          <p:cNvSpPr txBox="1"/>
          <p:nvPr/>
        </p:nvSpPr>
        <p:spPr>
          <a:xfrm>
            <a:off x="10630128" y="778996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210" name="文字方塊 17">
            <a:extLst>
              <a:ext uri="{FF2B5EF4-FFF2-40B4-BE49-F238E27FC236}">
                <a16:creationId xmlns="" xmlns:a16="http://schemas.microsoft.com/office/drawing/2014/main" id="{306A0461-FB0A-6B8E-26F4-F4121B822258}"/>
              </a:ext>
            </a:extLst>
          </p:cNvPr>
          <p:cNvSpPr txBox="1"/>
          <p:nvPr/>
        </p:nvSpPr>
        <p:spPr>
          <a:xfrm>
            <a:off x="9258247" y="1408031"/>
            <a:ext cx="2906789" cy="600164"/>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技術工程</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化工</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開發及業務</a:t>
            </a:r>
          </a:p>
          <a:p>
            <a:pPr algn="ctr"/>
            <a:endParaRPr lang="zh-TW" altLang="en-US" sz="1650" dirty="0">
              <a:latin typeface="微軟正黑體" panose="020B0604030504040204" pitchFamily="34" charset="-120"/>
              <a:ea typeface="微軟正黑體" panose="020B0604030504040204" pitchFamily="34" charset="-120"/>
            </a:endParaRPr>
          </a:p>
        </p:txBody>
      </p:sp>
      <p:grpSp>
        <p:nvGrpSpPr>
          <p:cNvPr id="58" name="Group 220">
            <a:extLst>
              <a:ext uri="{FF2B5EF4-FFF2-40B4-BE49-F238E27FC236}">
                <a16:creationId xmlns="" xmlns:a16="http://schemas.microsoft.com/office/drawing/2014/main" id="{AF722532-AA0E-95E7-B907-A3CB6D919095}"/>
              </a:ext>
            </a:extLst>
          </p:cNvPr>
          <p:cNvGrpSpPr/>
          <p:nvPr/>
        </p:nvGrpSpPr>
        <p:grpSpPr>
          <a:xfrm>
            <a:off x="11280635" y="5049607"/>
            <a:ext cx="598686" cy="415761"/>
            <a:chOff x="5906472" y="1486857"/>
            <a:chExt cx="399124" cy="272361"/>
          </a:xfrm>
        </p:grpSpPr>
        <p:sp>
          <p:nvSpPr>
            <p:cNvPr id="59" name="Oval 221">
              <a:extLst>
                <a:ext uri="{FF2B5EF4-FFF2-40B4-BE49-F238E27FC236}">
                  <a16:creationId xmlns="" xmlns:a16="http://schemas.microsoft.com/office/drawing/2014/main" id="{91328368-781B-F220-72AD-BA847F003BA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60" name="TextBox 222">
              <a:extLst>
                <a:ext uri="{FF2B5EF4-FFF2-40B4-BE49-F238E27FC236}">
                  <a16:creationId xmlns="" xmlns:a16="http://schemas.microsoft.com/office/drawing/2014/main" id="{63E2F604-AD25-D3BC-73D4-8D2027AFE9C5}"/>
                </a:ext>
              </a:extLst>
            </p:cNvPr>
            <p:cNvSpPr txBox="1"/>
            <p:nvPr/>
          </p:nvSpPr>
          <p:spPr>
            <a:xfrm>
              <a:off x="5920251" y="1507079"/>
              <a:ext cx="385345"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61" name="TextBox 53">
            <a:extLst>
              <a:ext uri="{FF2B5EF4-FFF2-40B4-BE49-F238E27FC236}">
                <a16:creationId xmlns="" xmlns:a16="http://schemas.microsoft.com/office/drawing/2014/main" id="{2DE69ECC-E293-FAA8-6082-E6D2F887DBFF}"/>
              </a:ext>
            </a:extLst>
          </p:cNvPr>
          <p:cNvSpPr txBox="1"/>
          <p:nvPr/>
        </p:nvSpPr>
        <p:spPr>
          <a:xfrm>
            <a:off x="14380627" y="2064631"/>
            <a:ext cx="3594197" cy="369332"/>
          </a:xfrm>
          <a:prstGeom prst="rect">
            <a:avLst/>
          </a:prstGeom>
          <a:noFill/>
        </p:spPr>
        <p:txBody>
          <a:bodyPr wrap="square" rtlCol="0">
            <a:spAutoFit/>
          </a:bodyPr>
          <a:lstStyle/>
          <a:p>
            <a:endParaRPr lang="zh-TW" altLang="en-US" dirty="0"/>
          </a:p>
        </p:txBody>
      </p:sp>
      <p:sp>
        <p:nvSpPr>
          <p:cNvPr id="5" name="流程圖: 換頁接點 52">
            <a:extLst>
              <a:ext uri="{FF2B5EF4-FFF2-40B4-BE49-F238E27FC236}">
                <a16:creationId xmlns="" xmlns:a16="http://schemas.microsoft.com/office/drawing/2014/main" id="{A020D090-1F04-66A8-DDD2-0A428105439C}"/>
              </a:ext>
            </a:extLst>
          </p:cNvPr>
          <p:cNvSpPr/>
          <p:nvPr/>
        </p:nvSpPr>
        <p:spPr bwMode="auto">
          <a:xfrm>
            <a:off x="1447750" y="3144057"/>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cxnSp>
        <p:nvCxnSpPr>
          <p:cNvPr id="10" name="肘形接點 68">
            <a:extLst>
              <a:ext uri="{FF2B5EF4-FFF2-40B4-BE49-F238E27FC236}">
                <a16:creationId xmlns="" xmlns:a16="http://schemas.microsoft.com/office/drawing/2014/main" id="{88423D2F-5852-EF3C-C85E-11AFB02032A8}"/>
              </a:ext>
            </a:extLst>
          </p:cNvPr>
          <p:cNvCxnSpPr>
            <a:cxnSpLocks/>
            <a:stCxn id="30" idx="2"/>
            <a:endCxn id="19" idx="0"/>
          </p:cNvCxnSpPr>
          <p:nvPr/>
        </p:nvCxnSpPr>
        <p:spPr>
          <a:xfrm rot="5400000">
            <a:off x="5876582" y="3560785"/>
            <a:ext cx="262689" cy="51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41" name="Group 220">
            <a:extLst>
              <a:ext uri="{FF2B5EF4-FFF2-40B4-BE49-F238E27FC236}">
                <a16:creationId xmlns="" xmlns:a16="http://schemas.microsoft.com/office/drawing/2014/main" id="{8CFE2FFC-F192-E4BE-BA08-1FF5A5D8B2F9}"/>
              </a:ext>
            </a:extLst>
          </p:cNvPr>
          <p:cNvGrpSpPr/>
          <p:nvPr/>
        </p:nvGrpSpPr>
        <p:grpSpPr>
          <a:xfrm>
            <a:off x="6732147" y="3519588"/>
            <a:ext cx="555446" cy="408542"/>
            <a:chOff x="5906472" y="1486857"/>
            <a:chExt cx="370297" cy="272361"/>
          </a:xfrm>
        </p:grpSpPr>
        <p:sp>
          <p:nvSpPr>
            <p:cNvPr id="42" name="Oval 221">
              <a:extLst>
                <a:ext uri="{FF2B5EF4-FFF2-40B4-BE49-F238E27FC236}">
                  <a16:creationId xmlns="" xmlns:a16="http://schemas.microsoft.com/office/drawing/2014/main" id="{7919AE74-A7E0-3890-38AC-DCBB5AA39E9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3" name="TextBox 222">
              <a:extLst>
                <a:ext uri="{FF2B5EF4-FFF2-40B4-BE49-F238E27FC236}">
                  <a16:creationId xmlns="" xmlns:a16="http://schemas.microsoft.com/office/drawing/2014/main" id="{3F82B52D-D32E-9A97-A08F-EE46FBDF7380}"/>
                </a:ext>
              </a:extLst>
            </p:cNvPr>
            <p:cNvSpPr txBox="1"/>
            <p:nvPr/>
          </p:nvSpPr>
          <p:spPr>
            <a:xfrm>
              <a:off x="5921169" y="1493011"/>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192" name="Straight Connector 284">
            <a:extLst>
              <a:ext uri="{FF2B5EF4-FFF2-40B4-BE49-F238E27FC236}">
                <a16:creationId xmlns="" xmlns:a16="http://schemas.microsoft.com/office/drawing/2014/main" id="{C36848AC-567E-F826-6EDD-9E7A1F454AA8}"/>
              </a:ext>
            </a:extLst>
          </p:cNvPr>
          <p:cNvCxnSpPr>
            <a:cxnSpLocks/>
          </p:cNvCxnSpPr>
          <p:nvPr/>
        </p:nvCxnSpPr>
        <p:spPr>
          <a:xfrm>
            <a:off x="9458183" y="1464808"/>
            <a:ext cx="9170" cy="8556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0" name="文字方塊 17">
            <a:extLst>
              <a:ext uri="{FF2B5EF4-FFF2-40B4-BE49-F238E27FC236}">
                <a16:creationId xmlns="" xmlns:a16="http://schemas.microsoft.com/office/drawing/2014/main" id="{46781F1A-BA99-952E-F060-2BBE7B71DFBE}"/>
              </a:ext>
            </a:extLst>
          </p:cNvPr>
          <p:cNvSpPr txBox="1"/>
          <p:nvPr/>
        </p:nvSpPr>
        <p:spPr>
          <a:xfrm>
            <a:off x="7312893" y="1347606"/>
            <a:ext cx="2224807" cy="600164"/>
          </a:xfrm>
          <a:prstGeom prst="rect">
            <a:avLst/>
          </a:prstGeom>
          <a:noFill/>
        </p:spPr>
        <p:txBody>
          <a:bodyPr wrap="square" rtlCol="0">
            <a:spAutoFit/>
          </a:bodyPr>
          <a:lstStyle/>
          <a:p>
            <a:pPr algn="ctr"/>
            <a:r>
              <a:rPr lang="zh-TW" altLang="en-US" sz="1600" dirty="0">
                <a:latin typeface="微軟正黑體" panose="020B0604030504040204" pitchFamily="34" charset="-120"/>
                <a:ea typeface="微軟正黑體" panose="020B0604030504040204" pitchFamily="34" charset="-120"/>
              </a:rPr>
              <a:t>試作</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技術工程</a:t>
            </a:r>
            <a:endParaRPr lang="en-US" altLang="zh-TW" sz="1600" dirty="0">
              <a:latin typeface="微軟正黑體" panose="020B0604030504040204" pitchFamily="34" charset="-120"/>
              <a:ea typeface="微軟正黑體" panose="020B0604030504040204" pitchFamily="34" charset="-120"/>
            </a:endParaRPr>
          </a:p>
          <a:p>
            <a:pPr algn="ctr"/>
            <a:r>
              <a:rPr lang="zh-TW" altLang="en-US" sz="1600" dirty="0">
                <a:latin typeface="微軟正黑體" panose="020B0604030504040204" pitchFamily="34" charset="-120"/>
                <a:ea typeface="微軟正黑體" panose="020B0604030504040204" pitchFamily="34" charset="-120"/>
              </a:rPr>
              <a:t>量產</a:t>
            </a:r>
            <a:r>
              <a:rPr lang="en-US" altLang="zh-TW" sz="1600" dirty="0">
                <a:latin typeface="微軟正黑體" panose="020B0604030504040204" pitchFamily="34" charset="-120"/>
                <a:ea typeface="微軟正黑體" panose="020B0604030504040204" pitchFamily="34" charset="-120"/>
              </a:rPr>
              <a:t>: </a:t>
            </a:r>
            <a:r>
              <a:rPr lang="zh-TW" altLang="en-US" sz="1600" dirty="0">
                <a:latin typeface="微軟正黑體" panose="020B0604030504040204" pitchFamily="34" charset="-120"/>
                <a:ea typeface="微軟正黑體" panose="020B0604030504040204" pitchFamily="34" charset="-120"/>
              </a:rPr>
              <a:t>生管</a:t>
            </a:r>
          </a:p>
        </p:txBody>
      </p:sp>
      <p:graphicFrame>
        <p:nvGraphicFramePr>
          <p:cNvPr id="216" name="表格 30">
            <a:extLst>
              <a:ext uri="{FF2B5EF4-FFF2-40B4-BE49-F238E27FC236}">
                <a16:creationId xmlns="" xmlns:a16="http://schemas.microsoft.com/office/drawing/2014/main" id="{8964F375-68D2-CB08-85C1-496EBD1EEBD8}"/>
              </a:ext>
            </a:extLst>
          </p:cNvPr>
          <p:cNvGraphicFramePr>
            <a:graphicFrameLocks noGrp="1"/>
          </p:cNvGraphicFramePr>
          <p:nvPr/>
        </p:nvGraphicFramePr>
        <p:xfrm>
          <a:off x="9718140" y="8458600"/>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採購單退貨，通知廠商收退重送</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26" name="肘形接點 68">
            <a:extLst>
              <a:ext uri="{FF2B5EF4-FFF2-40B4-BE49-F238E27FC236}">
                <a16:creationId xmlns="" xmlns:a16="http://schemas.microsoft.com/office/drawing/2014/main" id="{125A8A52-5CEB-3185-4F86-EE30C2E88477}"/>
              </a:ext>
            </a:extLst>
          </p:cNvPr>
          <p:cNvCxnSpPr>
            <a:cxnSpLocks/>
            <a:stCxn id="35" idx="1"/>
            <a:endCxn id="17" idx="3"/>
          </p:cNvCxnSpPr>
          <p:nvPr/>
        </p:nvCxnSpPr>
        <p:spPr>
          <a:xfrm rot="10800000" flipV="1">
            <a:off x="7070987" y="7469219"/>
            <a:ext cx="2627604" cy="1201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 name="表格 30">
            <a:extLst>
              <a:ext uri="{FF2B5EF4-FFF2-40B4-BE49-F238E27FC236}">
                <a16:creationId xmlns="" xmlns:a16="http://schemas.microsoft.com/office/drawing/2014/main" id="{E21EC354-C092-735E-555B-03B233812079}"/>
              </a:ext>
            </a:extLst>
          </p:cNvPr>
          <p:cNvGraphicFramePr>
            <a:graphicFrameLocks noGrp="1"/>
          </p:cNvGraphicFramePr>
          <p:nvPr>
            <p:extLst>
              <p:ext uri="{D42A27DB-BD31-4B8C-83A1-F6EECF244321}">
                <p14:modId xmlns="" xmlns:p14="http://schemas.microsoft.com/office/powerpoint/2010/main" val="1712859353"/>
              </p:ext>
            </p:extLst>
          </p:nvPr>
        </p:nvGraphicFramePr>
        <p:xfrm>
          <a:off x="9724883" y="3830306"/>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b="1" dirty="0">
                          <a:solidFill>
                            <a:schemeClr val="tx1"/>
                          </a:solidFill>
                          <a:latin typeface="微軟正黑體" panose="020B0604030504040204" pitchFamily="34" charset="-120"/>
                          <a:ea typeface="微軟正黑體" panose="020B0604030504040204" pitchFamily="34" charset="-120"/>
                        </a:rPr>
                        <a:t>ZMM016</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列印收貨驗收單</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 name="Group 220">
            <a:extLst>
              <a:ext uri="{FF2B5EF4-FFF2-40B4-BE49-F238E27FC236}">
                <a16:creationId xmlns="" xmlns:a16="http://schemas.microsoft.com/office/drawing/2014/main" id="{A1983CA1-988B-B586-6B79-EED6E53CD361}"/>
              </a:ext>
            </a:extLst>
          </p:cNvPr>
          <p:cNvGrpSpPr/>
          <p:nvPr/>
        </p:nvGrpSpPr>
        <p:grpSpPr>
          <a:xfrm>
            <a:off x="11320830" y="3626036"/>
            <a:ext cx="533400" cy="408542"/>
            <a:chOff x="5906184" y="1486857"/>
            <a:chExt cx="355600" cy="272361"/>
          </a:xfrm>
        </p:grpSpPr>
        <p:sp>
          <p:nvSpPr>
            <p:cNvPr id="7" name="Oval 221">
              <a:extLst>
                <a:ext uri="{FF2B5EF4-FFF2-40B4-BE49-F238E27FC236}">
                  <a16:creationId xmlns="" xmlns:a16="http://schemas.microsoft.com/office/drawing/2014/main" id="{C9A8929E-42CE-DCDD-06D7-93FEB4DAB3B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8" name="TextBox 222">
              <a:extLst>
                <a:ext uri="{FF2B5EF4-FFF2-40B4-BE49-F238E27FC236}">
                  <a16:creationId xmlns="" xmlns:a16="http://schemas.microsoft.com/office/drawing/2014/main" id="{B52B9FCC-FC80-B8A2-DA40-E3EA863599DF}"/>
                </a:ext>
              </a:extLst>
            </p:cNvPr>
            <p:cNvSpPr txBox="1"/>
            <p:nvPr/>
          </p:nvSpPr>
          <p:spPr>
            <a:xfrm>
              <a:off x="5906184"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22" name="肘形接點 68">
            <a:extLst>
              <a:ext uri="{FF2B5EF4-FFF2-40B4-BE49-F238E27FC236}">
                <a16:creationId xmlns="" xmlns:a16="http://schemas.microsoft.com/office/drawing/2014/main" id="{B9D9241B-E321-AAEA-5E2F-A02A4DAFB81F}"/>
              </a:ext>
            </a:extLst>
          </p:cNvPr>
          <p:cNvCxnSpPr>
            <a:cxnSpLocks/>
            <a:stCxn id="24" idx="2"/>
            <a:endCxn id="2" idx="0"/>
          </p:cNvCxnSpPr>
          <p:nvPr/>
        </p:nvCxnSpPr>
        <p:spPr>
          <a:xfrm rot="5400000">
            <a:off x="10364247" y="3564423"/>
            <a:ext cx="525435" cy="633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3" name="流程圖: 接點 51">
            <a:extLst>
              <a:ext uri="{FF2B5EF4-FFF2-40B4-BE49-F238E27FC236}">
                <a16:creationId xmlns="" xmlns:a16="http://schemas.microsoft.com/office/drawing/2014/main" id="{45158078-F12B-D917-88FB-10ABC9A4D526}"/>
              </a:ext>
            </a:extLst>
          </p:cNvPr>
          <p:cNvSpPr/>
          <p:nvPr/>
        </p:nvSpPr>
        <p:spPr bwMode="auto">
          <a:xfrm>
            <a:off x="4433462" y="7248108"/>
            <a:ext cx="49406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20" name="肘形接點 68">
            <a:extLst>
              <a:ext uri="{FF2B5EF4-FFF2-40B4-BE49-F238E27FC236}">
                <a16:creationId xmlns="" xmlns:a16="http://schemas.microsoft.com/office/drawing/2014/main" id="{09355053-4479-47A2-84D2-B6D903481707}"/>
              </a:ext>
            </a:extLst>
          </p:cNvPr>
          <p:cNvCxnSpPr>
            <a:cxnSpLocks/>
            <a:stCxn id="102" idx="4"/>
            <a:endCxn id="25" idx="0"/>
          </p:cNvCxnSpPr>
          <p:nvPr/>
        </p:nvCxnSpPr>
        <p:spPr>
          <a:xfrm rot="16200000" flipH="1">
            <a:off x="12672767" y="8317016"/>
            <a:ext cx="735435" cy="12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 name="TextBox 53">
            <a:extLst>
              <a:ext uri="{FF2B5EF4-FFF2-40B4-BE49-F238E27FC236}">
                <a16:creationId xmlns="" xmlns:a16="http://schemas.microsoft.com/office/drawing/2014/main" id="{04612EE1-7D42-C47D-2705-304DF742CE7B}"/>
              </a:ext>
            </a:extLst>
          </p:cNvPr>
          <p:cNvSpPr txBox="1"/>
          <p:nvPr/>
        </p:nvSpPr>
        <p:spPr>
          <a:xfrm>
            <a:off x="14380627" y="2064631"/>
            <a:ext cx="3594197" cy="6740307"/>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採購單簽核未通過，透過程式</a:t>
            </a:r>
            <a:r>
              <a:rPr lang="en-US" altLang="zh-TW" dirty="0">
                <a:latin typeface="微軟正黑體" panose="020B0604030504040204" pitchFamily="34" charset="-120"/>
                <a:ea typeface="微軟正黑體" panose="020B0604030504040204" pitchFamily="34" charset="-120"/>
              </a:rPr>
              <a:t>ZMM006</a:t>
            </a:r>
            <a:r>
              <a:rPr lang="zh-TW" altLang="en-US" dirty="0">
                <a:latin typeface="微軟正黑體" panose="020B0604030504040204" pitchFamily="34" charset="-120"/>
                <a:ea typeface="微軟正黑體" panose="020B0604030504040204" pitchFamily="34" charset="-120"/>
              </a:rPr>
              <a:t>將請</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採購單標記為刪除</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完成簽核</a:t>
            </a:r>
            <a:r>
              <a:rPr lang="en-US" altLang="zh-TW" dirty="0">
                <a:latin typeface="微軟正黑體" panose="020B0604030504040204" pitchFamily="34" charset="-120"/>
                <a:ea typeface="微軟正黑體" panose="020B0604030504040204" pitchFamily="34" charset="-120"/>
              </a:rPr>
              <a:t>BPM </a:t>
            </a:r>
            <a:r>
              <a:rPr lang="zh-TW" altLang="en-US" dirty="0">
                <a:latin typeface="微軟正黑體" panose="020B0604030504040204" pitchFamily="34" charset="-120"/>
                <a:ea typeface="微軟正黑體" panose="020B0604030504040204" pitchFamily="34" charset="-120"/>
              </a:rPr>
              <a:t>自動核發採購單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採購於</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列印採購單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廠商交貨、進行點收，用</a:t>
            </a:r>
            <a:r>
              <a:rPr lang="en-US" altLang="zh-TW" dirty="0">
                <a:latin typeface="微軟正黑體" panose="020B0604030504040204" pitchFamily="34" charset="-120"/>
                <a:ea typeface="微軟正黑體" panose="020B0604030504040204" pitchFamily="34" charset="-120"/>
              </a:rPr>
              <a:t>MIGO </a:t>
            </a:r>
            <a:r>
              <a:rPr lang="zh-TW" altLang="en-US" dirty="0" smtClean="0">
                <a:latin typeface="微軟正黑體" panose="020B0604030504040204" pitchFamily="34" charset="-120"/>
                <a:ea typeface="微軟正黑體" panose="020B0604030504040204" pitchFamily="34" charset="-120"/>
              </a:rPr>
              <a:t>進行收貨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列印收貨驗收單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進行製工具功能確認，必要時會請</a:t>
            </a:r>
            <a:r>
              <a:rPr lang="zh-TW" altLang="en-US" dirty="0" smtClean="0">
                <a:latin typeface="微軟正黑體" panose="020B0604030504040204" pitchFamily="34" charset="-120"/>
                <a:ea typeface="微軟正黑體" panose="020B0604030504040204" pitchFamily="34" charset="-120"/>
              </a:rPr>
              <a:t>廠商修改</a:t>
            </a:r>
            <a:r>
              <a:rPr lang="zh-TW" altLang="en-US" dirty="0">
                <a:latin typeface="微軟正黑體" panose="020B0604030504040204" pitchFamily="34" charset="-120"/>
                <a:ea typeface="微軟正黑體" panose="020B0604030504040204" pitchFamily="34" charset="-120"/>
              </a:rPr>
              <a:t>到完善。</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檢驗不合格進行驗收 </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a:t>
            </a:r>
            <a:r>
              <a:rPr lang="en-US" altLang="zh-TW" dirty="0" smtClean="0">
                <a:latin typeface="微軟正黑體" panose="020B0604030504040204" pitchFamily="34" charset="-120"/>
                <a:ea typeface="微軟正黑體" panose="020B0604030504040204" pitchFamily="34" charset="-120"/>
              </a:rPr>
              <a:t>122</a:t>
            </a:r>
            <a:r>
              <a:rPr lang="zh-TW" altLang="en-US" dirty="0" smtClean="0">
                <a:latin typeface="微軟正黑體" panose="020B0604030504040204" pitchFamily="34" charset="-120"/>
                <a:ea typeface="微軟正黑體" panose="020B0604030504040204" pitchFamily="34" charset="-120"/>
              </a:rPr>
              <a:t>退貨</a:t>
            </a:r>
            <a:r>
              <a:rPr lang="zh-TW" altLang="en-US" dirty="0">
                <a:latin typeface="微軟正黑體" panose="020B0604030504040204" pitchFamily="34" charset="-120"/>
                <a:ea typeface="微軟正黑體" panose="020B0604030504040204" pitchFamily="34" charset="-120"/>
              </a:rPr>
              <a:t>作業，通知廠商收退貨重送</a:t>
            </a:r>
            <a:endParaRPr lang="en-US" altLang="zh-TW" dirty="0">
              <a:latin typeface="微軟正黑體" panose="020B0604030504040204" pitchFamily="34" charset="-120"/>
              <a:ea typeface="微軟正黑體" panose="020B0604030504040204" pitchFamily="34" charset="-120"/>
            </a:endParaRPr>
          </a:p>
          <a:p>
            <a:endParaRPr lang="en-US" altLang="zh-TW" dirty="0"/>
          </a:p>
        </p:txBody>
      </p:sp>
      <p:sp>
        <p:nvSpPr>
          <p:cNvPr id="17" name="流程圖: 預設處理作業 21">
            <a:extLst>
              <a:ext uri="{FF2B5EF4-FFF2-40B4-BE49-F238E27FC236}">
                <a16:creationId xmlns="" xmlns:a16="http://schemas.microsoft.com/office/drawing/2014/main" id="{382F103B-7D21-5064-1FD5-9E2DC164870C}"/>
              </a:ext>
            </a:extLst>
          </p:cNvPr>
          <p:cNvSpPr/>
          <p:nvPr/>
        </p:nvSpPr>
        <p:spPr bwMode="auto">
          <a:xfrm>
            <a:off x="5342060" y="6862031"/>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21" name="肘形接點 68">
            <a:extLst>
              <a:ext uri="{FF2B5EF4-FFF2-40B4-BE49-F238E27FC236}">
                <a16:creationId xmlns="" xmlns:a16="http://schemas.microsoft.com/office/drawing/2014/main" id="{032ABC90-7C48-F99D-AC78-D65511CBE425}"/>
              </a:ext>
            </a:extLst>
          </p:cNvPr>
          <p:cNvCxnSpPr>
            <a:cxnSpLocks/>
            <a:stCxn id="17" idx="1"/>
            <a:endCxn id="13" idx="6"/>
          </p:cNvCxnSpPr>
          <p:nvPr/>
        </p:nvCxnSpPr>
        <p:spPr>
          <a:xfrm rot="10800000" flipV="1">
            <a:off x="4927523" y="7481231"/>
            <a:ext cx="414539" cy="52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6" name="矩形 65"/>
          <p:cNvSpPr/>
          <p:nvPr/>
        </p:nvSpPr>
        <p:spPr>
          <a:xfrm>
            <a:off x="15456168" y="444705"/>
            <a:ext cx="29687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p>
        </p:txBody>
      </p:sp>
      <p:grpSp>
        <p:nvGrpSpPr>
          <p:cNvPr id="36" name="Group 220">
            <a:extLst>
              <a:ext uri="{FF2B5EF4-FFF2-40B4-BE49-F238E27FC236}">
                <a16:creationId xmlns="" xmlns:a16="http://schemas.microsoft.com/office/drawing/2014/main" id="{49B965EA-5488-20F5-FB4A-DE694754D613}"/>
              </a:ext>
            </a:extLst>
          </p:cNvPr>
          <p:cNvGrpSpPr/>
          <p:nvPr/>
        </p:nvGrpSpPr>
        <p:grpSpPr>
          <a:xfrm>
            <a:off x="11255022" y="1887350"/>
            <a:ext cx="556821" cy="408542"/>
            <a:chOff x="5906472" y="1486857"/>
            <a:chExt cx="371214" cy="272361"/>
          </a:xfrm>
        </p:grpSpPr>
        <p:sp>
          <p:nvSpPr>
            <p:cNvPr id="37" name="Oval 221">
              <a:extLst>
                <a:ext uri="{FF2B5EF4-FFF2-40B4-BE49-F238E27FC236}">
                  <a16:creationId xmlns="" xmlns:a16="http://schemas.microsoft.com/office/drawing/2014/main"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latin typeface="微軟正黑體" panose="020B0604030504040204" pitchFamily="34" charset="-120"/>
                <a:ea typeface="微軟正黑體" panose="020B0604030504040204" pitchFamily="34" charset="-120"/>
              </a:endParaRPr>
            </a:p>
          </p:txBody>
        </p:sp>
        <p:sp>
          <p:nvSpPr>
            <p:cNvPr id="38" name="TextBox 222">
              <a:extLst>
                <a:ext uri="{FF2B5EF4-FFF2-40B4-BE49-F238E27FC236}">
                  <a16:creationId xmlns="" xmlns:a16="http://schemas.microsoft.com/office/drawing/2014/main" id="{AA6B41EE-F383-4448-3FC3-5177F4E9C325}"/>
                </a:ext>
              </a:extLst>
            </p:cNvPr>
            <p:cNvSpPr txBox="1"/>
            <p:nvPr/>
          </p:nvSpPr>
          <p:spPr>
            <a:xfrm>
              <a:off x="5922086"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206" name="Group 220">
            <a:extLst>
              <a:ext uri="{FF2B5EF4-FFF2-40B4-BE49-F238E27FC236}">
                <a16:creationId xmlns="" xmlns:a16="http://schemas.microsoft.com/office/drawing/2014/main" id="{702B54F9-F874-D716-A8BD-24F6E527E949}"/>
              </a:ext>
            </a:extLst>
          </p:cNvPr>
          <p:cNvGrpSpPr/>
          <p:nvPr/>
        </p:nvGrpSpPr>
        <p:grpSpPr>
          <a:xfrm>
            <a:off x="11251965" y="8215765"/>
            <a:ext cx="601437" cy="415761"/>
            <a:chOff x="5906472" y="1486857"/>
            <a:chExt cx="400958" cy="272361"/>
          </a:xfrm>
        </p:grpSpPr>
        <p:sp>
          <p:nvSpPr>
            <p:cNvPr id="207" name="Oval 221">
              <a:extLst>
                <a:ext uri="{FF2B5EF4-FFF2-40B4-BE49-F238E27FC236}">
                  <a16:creationId xmlns="" xmlns:a16="http://schemas.microsoft.com/office/drawing/2014/main" id="{E21F96BD-5F64-3551-3780-660884FBA41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08" name="TextBox 222">
              <a:extLst>
                <a:ext uri="{FF2B5EF4-FFF2-40B4-BE49-F238E27FC236}">
                  <a16:creationId xmlns="" xmlns:a16="http://schemas.microsoft.com/office/drawing/2014/main" id="{C57E2463-7C52-8272-BCC7-A417DDCEBBDE}"/>
                </a:ext>
              </a:extLst>
            </p:cNvPr>
            <p:cNvSpPr txBox="1"/>
            <p:nvPr/>
          </p:nvSpPr>
          <p:spPr>
            <a:xfrm>
              <a:off x="5922085" y="1507079"/>
              <a:ext cx="385345" cy="211702"/>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cxnSp>
        <p:nvCxnSpPr>
          <p:cNvPr id="81" name="Straight Connector 284">
            <a:extLst>
              <a:ext uri="{FF2B5EF4-FFF2-40B4-BE49-F238E27FC236}">
                <a16:creationId xmlns="" xmlns:a16="http://schemas.microsoft.com/office/drawing/2014/main" id="{3343F13F-0020-F344-5B28-F9AEB09CA3FA}"/>
              </a:ext>
            </a:extLst>
          </p:cNvPr>
          <p:cNvCxnSpPr>
            <a:cxnSpLocks/>
          </p:cNvCxnSpPr>
          <p:nvPr/>
        </p:nvCxnSpPr>
        <p:spPr>
          <a:xfrm>
            <a:off x="4927520" y="1345539"/>
            <a:ext cx="0" cy="85411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文字方塊 81">
            <a:extLst>
              <a:ext uri="{FF2B5EF4-FFF2-40B4-BE49-F238E27FC236}">
                <a16:creationId xmlns="" xmlns:a16="http://schemas.microsoft.com/office/drawing/2014/main" id="{B106DB5A-3C2B-C42B-E706-9F53E0CA364F}"/>
              </a:ext>
            </a:extLst>
          </p:cNvPr>
          <p:cNvSpPr txBox="1"/>
          <p:nvPr/>
        </p:nvSpPr>
        <p:spPr>
          <a:xfrm>
            <a:off x="4354458" y="519242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graphicFrame>
        <p:nvGraphicFramePr>
          <p:cNvPr id="83" name="表格 30">
            <a:extLst>
              <a:ext uri="{FF2B5EF4-FFF2-40B4-BE49-F238E27FC236}">
                <a16:creationId xmlns="" xmlns:a16="http://schemas.microsoft.com/office/drawing/2014/main" id="{AFF9763D-0DA0-D7C1-DED2-F1F470C624C4}"/>
              </a:ext>
            </a:extLst>
          </p:cNvPr>
          <p:cNvGraphicFramePr>
            <a:graphicFrameLocks noGrp="1"/>
          </p:cNvGraphicFramePr>
          <p:nvPr/>
        </p:nvGraphicFramePr>
        <p:xfrm>
          <a:off x="2659583" y="2723158"/>
          <a:ext cx="1797832" cy="129672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94360">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84" name="流程圖: 決策 50">
            <a:extLst>
              <a:ext uri="{FF2B5EF4-FFF2-40B4-BE49-F238E27FC236}">
                <a16:creationId xmlns="" xmlns:a16="http://schemas.microsoft.com/office/drawing/2014/main" id="{4211AE0E-E934-C866-6745-99857AA1659D}"/>
              </a:ext>
            </a:extLst>
          </p:cNvPr>
          <p:cNvSpPr/>
          <p:nvPr/>
        </p:nvSpPr>
        <p:spPr bwMode="auto">
          <a:xfrm>
            <a:off x="2623923" y="4822891"/>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85" name="肘形接點 68">
            <a:extLst>
              <a:ext uri="{FF2B5EF4-FFF2-40B4-BE49-F238E27FC236}">
                <a16:creationId xmlns="" xmlns:a16="http://schemas.microsoft.com/office/drawing/2014/main" id="{4A3048A1-DF9E-B19F-4A1B-A34D05AE9CF9}"/>
              </a:ext>
            </a:extLst>
          </p:cNvPr>
          <p:cNvCxnSpPr>
            <a:cxnSpLocks/>
            <a:stCxn id="83" idx="2"/>
            <a:endCxn id="84" idx="0"/>
          </p:cNvCxnSpPr>
          <p:nvPr/>
        </p:nvCxnSpPr>
        <p:spPr>
          <a:xfrm rot="5400000">
            <a:off x="3150193" y="4414584"/>
            <a:ext cx="803013" cy="1360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86" name="肘形接點 68">
            <a:extLst>
              <a:ext uri="{FF2B5EF4-FFF2-40B4-BE49-F238E27FC236}">
                <a16:creationId xmlns="" xmlns:a16="http://schemas.microsoft.com/office/drawing/2014/main" id="{A1760115-079D-78EA-1EA4-A9CBDFE3271D}"/>
              </a:ext>
            </a:extLst>
          </p:cNvPr>
          <p:cNvCxnSpPr>
            <a:cxnSpLocks/>
            <a:stCxn id="84" idx="3"/>
            <a:endCxn id="30" idx="1"/>
          </p:cNvCxnSpPr>
          <p:nvPr/>
        </p:nvCxnSpPr>
        <p:spPr>
          <a:xfrm flipV="1">
            <a:off x="4465872" y="2733149"/>
            <a:ext cx="645716" cy="244584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88" name="表格 30">
            <a:extLst>
              <a:ext uri="{FF2B5EF4-FFF2-40B4-BE49-F238E27FC236}">
                <a16:creationId xmlns="" xmlns:a16="http://schemas.microsoft.com/office/drawing/2014/main" id="{F01C209B-B17B-4A96-180F-16E309C71563}"/>
              </a:ext>
            </a:extLst>
          </p:cNvPr>
          <p:cNvGraphicFramePr>
            <a:graphicFrameLocks noGrp="1"/>
          </p:cNvGraphicFramePr>
          <p:nvPr/>
        </p:nvGraphicFramePr>
        <p:xfrm>
          <a:off x="2640551" y="5978962"/>
          <a:ext cx="1797832" cy="1251133"/>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601539">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請</a:t>
                      </a:r>
                      <a:r>
                        <a:rPr kumimoji="0" lang="en-US" altLang="zh-TW" sz="1400">
                          <a:latin typeface="微軟正黑體" panose="020B0604030504040204" pitchFamily="34" charset="-120"/>
                          <a:ea typeface="微軟正黑體" panose="020B0604030504040204" pitchFamily="34" charset="-120"/>
                        </a:rPr>
                        <a:t>/</a:t>
                      </a:r>
                      <a:r>
                        <a:rPr kumimoji="0" lang="zh-TW" altLang="en-US" sz="1400">
                          <a:latin typeface="微軟正黑體" panose="020B0604030504040204" pitchFamily="34" charset="-120"/>
                          <a:ea typeface="微軟正黑體" panose="020B0604030504040204" pitchFamily="34" charset="-120"/>
                        </a:rPr>
                        <a:t>採購</a:t>
                      </a:r>
                      <a:r>
                        <a:rPr kumimoji="0" lang="zh-TW" altLang="en-US" sz="1400" dirty="0">
                          <a:latin typeface="微軟正黑體" panose="020B0604030504040204" pitchFamily="34" charset="-120"/>
                          <a:ea typeface="微軟正黑體" panose="020B0604030504040204" pitchFamily="34" charset="-120"/>
                        </a:rPr>
                        <a:t>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89" name="Group 220">
            <a:extLst>
              <a:ext uri="{FF2B5EF4-FFF2-40B4-BE49-F238E27FC236}">
                <a16:creationId xmlns="" xmlns:a16="http://schemas.microsoft.com/office/drawing/2014/main" id="{59C5E449-3A3C-4961-8C65-BA5D3C53E14C}"/>
              </a:ext>
            </a:extLst>
          </p:cNvPr>
          <p:cNvGrpSpPr/>
          <p:nvPr/>
        </p:nvGrpSpPr>
        <p:grpSpPr>
          <a:xfrm>
            <a:off x="4166729" y="5797148"/>
            <a:ext cx="558212" cy="408542"/>
            <a:chOff x="5906472" y="1486857"/>
            <a:chExt cx="372141" cy="272361"/>
          </a:xfrm>
        </p:grpSpPr>
        <p:sp>
          <p:nvSpPr>
            <p:cNvPr id="90" name="Oval 221">
              <a:extLst>
                <a:ext uri="{FF2B5EF4-FFF2-40B4-BE49-F238E27FC236}">
                  <a16:creationId xmlns="" xmlns:a16="http://schemas.microsoft.com/office/drawing/2014/main" id="{A5C4F96E-C02D-73E4-3391-3B02689835A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1" name="TextBox 222">
              <a:extLst>
                <a:ext uri="{FF2B5EF4-FFF2-40B4-BE49-F238E27FC236}">
                  <a16:creationId xmlns="" xmlns:a16="http://schemas.microsoft.com/office/drawing/2014/main" id="{B01901D6-0F7F-11D6-F9CD-B9F2D7972AA5}"/>
                </a:ext>
              </a:extLst>
            </p:cNvPr>
            <p:cNvSpPr txBox="1"/>
            <p:nvPr/>
          </p:nvSpPr>
          <p:spPr>
            <a:xfrm>
              <a:off x="5923013"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92" name="Group 220">
            <a:extLst>
              <a:ext uri="{FF2B5EF4-FFF2-40B4-BE49-F238E27FC236}">
                <a16:creationId xmlns="" xmlns:a16="http://schemas.microsoft.com/office/drawing/2014/main" id="{56A53D60-F177-B66D-1052-09F00D9EB829}"/>
              </a:ext>
            </a:extLst>
          </p:cNvPr>
          <p:cNvGrpSpPr/>
          <p:nvPr/>
        </p:nvGrpSpPr>
        <p:grpSpPr>
          <a:xfrm>
            <a:off x="4280730" y="2502658"/>
            <a:ext cx="546285" cy="408542"/>
            <a:chOff x="5906472" y="1486857"/>
            <a:chExt cx="364190" cy="272361"/>
          </a:xfrm>
        </p:grpSpPr>
        <p:sp>
          <p:nvSpPr>
            <p:cNvPr id="93" name="Oval 221">
              <a:extLst>
                <a:ext uri="{FF2B5EF4-FFF2-40B4-BE49-F238E27FC236}">
                  <a16:creationId xmlns="" xmlns:a16="http://schemas.microsoft.com/office/drawing/2014/main"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4" name="TextBox 222">
              <a:extLst>
                <a:ext uri="{FF2B5EF4-FFF2-40B4-BE49-F238E27FC236}">
                  <a16:creationId xmlns="" xmlns:a16="http://schemas.microsoft.com/office/drawing/2014/main" id="{58D156B1-9578-40C0-E02B-A11714005BD3}"/>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95" name="肘形接點 68">
            <a:extLst>
              <a:ext uri="{FF2B5EF4-FFF2-40B4-BE49-F238E27FC236}">
                <a16:creationId xmlns="" xmlns:a16="http://schemas.microsoft.com/office/drawing/2014/main" id="{4A3048A1-DF9E-B19F-4A1B-A34D05AE9CF9}"/>
              </a:ext>
            </a:extLst>
          </p:cNvPr>
          <p:cNvCxnSpPr>
            <a:cxnSpLocks/>
            <a:stCxn id="84" idx="2"/>
            <a:endCxn id="88" idx="0"/>
          </p:cNvCxnSpPr>
          <p:nvPr/>
        </p:nvCxnSpPr>
        <p:spPr>
          <a:xfrm rot="5400000">
            <a:off x="3320248" y="5754311"/>
            <a:ext cx="443871" cy="543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02" name="流程圖: 接點 51">
            <a:extLst>
              <a:ext uri="{FF2B5EF4-FFF2-40B4-BE49-F238E27FC236}">
                <a16:creationId xmlns="" xmlns:a16="http://schemas.microsoft.com/office/drawing/2014/main" id="{45158078-F12B-D917-88FB-10ABC9A4D526}"/>
              </a:ext>
            </a:extLst>
          </p:cNvPr>
          <p:cNvSpPr/>
          <p:nvPr/>
        </p:nvSpPr>
        <p:spPr bwMode="auto">
          <a:xfrm>
            <a:off x="12792826" y="7482625"/>
            <a:ext cx="49406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sp>
        <p:nvSpPr>
          <p:cNvPr id="104" name="文字方塊 17">
            <a:extLst>
              <a:ext uri="{FF2B5EF4-FFF2-40B4-BE49-F238E27FC236}">
                <a16:creationId xmlns="" xmlns:a16="http://schemas.microsoft.com/office/drawing/2014/main" id="{BBC38995-B8DF-63A0-4401-9FE50A36E787}"/>
              </a:ext>
            </a:extLst>
          </p:cNvPr>
          <p:cNvSpPr txBox="1"/>
          <p:nvPr/>
        </p:nvSpPr>
        <p:spPr>
          <a:xfrm>
            <a:off x="2905695" y="1408032"/>
            <a:ext cx="161018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sp>
        <p:nvSpPr>
          <p:cNvPr id="105" name="文字方塊 104">
            <a:extLst>
              <a:ext uri="{FF2B5EF4-FFF2-40B4-BE49-F238E27FC236}">
                <a16:creationId xmlns="" xmlns:a16="http://schemas.microsoft.com/office/drawing/2014/main" id="{7BDD8B3B-9FC5-B431-B92A-CADEB291222C}"/>
              </a:ext>
            </a:extLst>
          </p:cNvPr>
          <p:cNvSpPr txBox="1"/>
          <p:nvPr/>
        </p:nvSpPr>
        <p:spPr>
          <a:xfrm>
            <a:off x="2885796" y="5518249"/>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79" name="TextBox 2">
            <a:extLst>
              <a:ext uri="{FF2B5EF4-FFF2-40B4-BE49-F238E27FC236}">
                <a16:creationId xmlns="" xmlns:a16="http://schemas.microsoft.com/office/drawing/2014/main" id="{6B09882B-C884-419E-9EB0-7F4E083F29C0}"/>
              </a:ext>
            </a:extLst>
          </p:cNvPr>
          <p:cNvSpPr txBox="1"/>
          <p:nvPr/>
        </p:nvSpPr>
        <p:spPr>
          <a:xfrm>
            <a:off x="16690584" y="686196"/>
            <a:ext cx="1597416" cy="346249"/>
          </a:xfrm>
          <a:prstGeom prst="rect">
            <a:avLst/>
          </a:prstGeom>
          <a:noFill/>
        </p:spPr>
        <p:txBody>
          <a:bodyPr wrap="square" rtlCol="0">
            <a:spAutoFit/>
          </a:bodyPr>
          <a:lstStyle/>
          <a:p>
            <a:r>
              <a:rPr lang="en-US" altLang="zh-TW" sz="1600" dirty="0" smtClean="0">
                <a:latin typeface="微軟正黑體" panose="020B0604030504040204" pitchFamily="34" charset="-120"/>
                <a:ea typeface="微軟正黑體" panose="020B0604030504040204" pitchFamily="34" charset="-120"/>
              </a:rPr>
              <a:t>2025/07/18</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 xmlns:p14="http://schemas.microsoft.com/office/powerpoint/2010/main" val="42840725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dirty="0">
              <a:solidFill>
                <a:schemeClr val="dk1"/>
              </a:solidFill>
              <a:latin typeface="Arial"/>
              <a:ea typeface="Arial"/>
              <a:cs typeface="Arial"/>
              <a:sym typeface="Arial"/>
            </a:endParaRPr>
          </a:p>
        </p:txBody>
      </p:sp>
      <p:sp>
        <p:nvSpPr>
          <p:cNvPr id="4" name="TextBox 53">
            <a:extLst>
              <a:ext uri="{FF2B5EF4-FFF2-40B4-BE49-F238E27FC236}">
                <a16:creationId xmlns="" xmlns:a16="http://schemas.microsoft.com/office/drawing/2014/main" id="{DF940026-96D7-3867-6425-C228DF3D29BF}"/>
              </a:ext>
            </a:extLst>
          </p:cNvPr>
          <p:cNvSpPr txBox="1"/>
          <p:nvPr/>
        </p:nvSpPr>
        <p:spPr>
          <a:xfrm>
            <a:off x="369737" y="2243536"/>
            <a:ext cx="17378475" cy="646331"/>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、製工具採購單簽核</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製工具通常採購主管核準後，由廠區主管簽核</a:t>
            </a:r>
            <a:endParaRPr lang="en-US" altLang="zh-TW" dirty="0">
              <a:latin typeface="微軟正黑體" panose="020B0604030504040204" pitchFamily="34" charset="-120"/>
              <a:ea typeface="微軟正黑體" panose="020B0604030504040204" pitchFamily="34" charset="-120"/>
            </a:endParaRPr>
          </a:p>
          <a:p>
            <a:endParaRPr lang="zh-TW" altLang="en-US" dirty="0"/>
          </a:p>
        </p:txBody>
      </p:sp>
      <p:sp>
        <p:nvSpPr>
          <p:cNvPr id="5" name="Google Shape;198;p3"/>
          <p:cNvSpPr txBox="1">
            <a:spLocks/>
          </p:cNvSpPr>
          <p:nvPr/>
        </p:nvSpPr>
        <p:spPr>
          <a:xfrm>
            <a:off x="15425531" y="518751"/>
            <a:ext cx="297004" cy="170362"/>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3</a:t>
            </a:r>
          </a:p>
        </p:txBody>
      </p:sp>
      <p:sp>
        <p:nvSpPr>
          <p:cNvPr id="2" name="文字方塊 1">
            <a:extLst>
              <a:ext uri="{FF2B5EF4-FFF2-40B4-BE49-F238E27FC236}">
                <a16:creationId xmlns="" xmlns:a16="http://schemas.microsoft.com/office/drawing/2014/main" id="{55838DD7-C6C6-703C-6B22-768F917533B5}"/>
              </a:ext>
            </a:extLst>
          </p:cNvPr>
          <p:cNvSpPr txBox="1"/>
          <p:nvPr/>
        </p:nvSpPr>
        <p:spPr>
          <a:xfrm>
            <a:off x="2444080" y="781122"/>
            <a:ext cx="845003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MM-PU-0050 </a:t>
            </a:r>
            <a:r>
              <a:rPr lang="zh-TW" altLang="en-US" sz="2400" b="1" dirty="0">
                <a:latin typeface="微軟正黑體" panose="020B0604030504040204" pitchFamily="34" charset="-120"/>
                <a:ea typeface="微軟正黑體" panose="020B0604030504040204" pitchFamily="34" charset="-120"/>
              </a:rPr>
              <a:t>製工具請採購驗流程</a:t>
            </a:r>
          </a:p>
        </p:txBody>
      </p:sp>
    </p:spTree>
    <p:extLst>
      <p:ext uri="{BB962C8B-B14F-4D97-AF65-F5344CB8AC3E}">
        <p14:creationId xmlns="" xmlns:p14="http://schemas.microsoft.com/office/powerpoint/2010/main" val="23942493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6730180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 xmlns:a16="http://schemas.microsoft.com/office/drawing/2014/main"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 xmlns:a16="http://schemas.microsoft.com/office/drawing/2014/main"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 xmlns:a16="http://schemas.microsoft.com/office/drawing/2014/main"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 xmlns:a16="http://schemas.microsoft.com/office/drawing/2014/main"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 xmlns:a16="http://schemas.microsoft.com/office/drawing/2014/main"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 xmlns:a16="http://schemas.microsoft.com/office/drawing/2014/main"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11" name="流程圖: 預設處理作業 21">
            <a:extLst>
              <a:ext uri="{FF2B5EF4-FFF2-40B4-BE49-F238E27FC236}">
                <a16:creationId xmlns="" xmlns:a16="http://schemas.microsoft.com/office/drawing/2014/main"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 xmlns:a16="http://schemas.microsoft.com/office/drawing/2014/main"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 xmlns:a16="http://schemas.microsoft.com/office/drawing/2014/main"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 xmlns:a16="http://schemas.microsoft.com/office/drawing/2014/main"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 xmlns:a16="http://schemas.microsoft.com/office/drawing/2014/main"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 xmlns:a16="http://schemas.microsoft.com/office/drawing/2014/main"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 xmlns:a16="http://schemas.microsoft.com/office/drawing/2014/main"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 xmlns:a16="http://schemas.microsoft.com/office/drawing/2014/main"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 xmlns:a16="http://schemas.microsoft.com/office/drawing/2014/main"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 xmlns:a16="http://schemas.microsoft.com/office/drawing/2014/main"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 xmlns:a16="http://schemas.microsoft.com/office/drawing/2014/main"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 xmlns:a16="http://schemas.microsoft.com/office/drawing/2014/main"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 xmlns:a16="http://schemas.microsoft.com/office/drawing/2014/main"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7" name="Group 232">
            <a:extLst>
              <a:ext uri="{FF2B5EF4-FFF2-40B4-BE49-F238E27FC236}">
                <a16:creationId xmlns="" xmlns:a16="http://schemas.microsoft.com/office/drawing/2014/main"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 xmlns:a16="http://schemas.microsoft.com/office/drawing/2014/main"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 xmlns:a16="http://schemas.microsoft.com/office/drawing/2014/main"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 xmlns:a16="http://schemas.microsoft.com/office/drawing/2014/main"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 xmlns:a16="http://schemas.microsoft.com/office/drawing/2014/main"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 xmlns:a16="http://schemas.microsoft.com/office/drawing/2014/main"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 xmlns:a16="http://schemas.microsoft.com/office/drawing/2014/main"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 xmlns:a16="http://schemas.microsoft.com/office/drawing/2014/main"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 xmlns:a16="http://schemas.microsoft.com/office/drawing/2014/main"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 xmlns:p14="http://schemas.microsoft.com/office/powerpoint/2010/main"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15716</TotalTime>
  <Words>937</Words>
  <Application>Microsoft Office PowerPoint</Application>
  <PresentationFormat>自訂</PresentationFormat>
  <Paragraphs>260</Paragraphs>
  <Slides>8</Slides>
  <Notes>6</Notes>
  <HiddenSlides>0</HiddenSlides>
  <MMClips>0</MMClips>
  <ScaleCrop>false</ScaleCrop>
  <HeadingPairs>
    <vt:vector size="4" baseType="variant">
      <vt:variant>
        <vt:lpstr>佈景主題</vt:lpstr>
      </vt:variant>
      <vt:variant>
        <vt:i4>1</vt:i4>
      </vt:variant>
      <vt:variant>
        <vt:lpstr>投影片標題</vt:lpstr>
      </vt:variant>
      <vt:variant>
        <vt:i4>8</vt:i4>
      </vt:variant>
    </vt:vector>
  </HeadingPairs>
  <TitlesOfParts>
    <vt:vector size="9" baseType="lpstr">
      <vt:lpstr>Office 2013 - 2022 Theme</vt:lpstr>
      <vt:lpstr>投影片 1</vt:lpstr>
      <vt:lpstr>投影片 2</vt:lpstr>
      <vt:lpstr>投影片 3</vt:lpstr>
      <vt:lpstr>投影片 4</vt:lpstr>
      <vt:lpstr>投影片 5</vt:lpstr>
      <vt:lpstr>投影片 6</vt:lpstr>
      <vt:lpstr>投影片 7</vt:lpstr>
      <vt:lpstr>投影片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150</cp:revision>
  <dcterms:created xsi:type="dcterms:W3CDTF">2023-05-31T01:27:04Z</dcterms:created>
  <dcterms:modified xsi:type="dcterms:W3CDTF">2025-07-22T01:24:34Z</dcterms:modified>
</cp:coreProperties>
</file>