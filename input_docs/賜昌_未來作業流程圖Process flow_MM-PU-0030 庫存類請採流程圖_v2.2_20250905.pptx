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Lst>
  <p:notesMasterIdLst>
    <p:notesMasterId r:id="rId14"/>
  </p:notesMasterIdLst>
  <p:sldIdLst>
    <p:sldId id="261" r:id="rId2"/>
    <p:sldId id="2147472997" r:id="rId3"/>
    <p:sldId id="257" r:id="rId4"/>
    <p:sldId id="2147473008" r:id="rId5"/>
    <p:sldId id="2147473007" r:id="rId6"/>
    <p:sldId id="2147473006" r:id="rId7"/>
    <p:sldId id="2147473003" r:id="rId8"/>
    <p:sldId id="2147375391" r:id="rId9"/>
    <p:sldId id="2147473001" r:id="rId10"/>
    <p:sldId id="2147473002" r:id="rId11"/>
    <p:sldId id="2147473000" r:id="rId12"/>
    <p:sldId id="2147375389" r:id="rId13"/>
  </p:sldIdLst>
  <p:sldSz cx="18288000" cy="1028858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240">
          <p15:clr>
            <a:srgbClr val="A4A3A4"/>
          </p15:clr>
        </p15:guide>
        <p15:guide id="2" pos="57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D7CC"/>
    <a:srgbClr val="F1CB78"/>
    <a:srgbClr val="A82415"/>
    <a:srgbClr val="BE5107"/>
    <a:srgbClr val="FFA92A"/>
    <a:srgbClr val="4472C4"/>
    <a:srgbClr val="70170F"/>
    <a:srgbClr val="FF9300"/>
    <a:srgbClr val="ED8278"/>
    <a:srgbClr val="C40A1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FC74D4-67C8-4CC4-A397-FA31446E56E5}" v="5" dt="2025-09-05T03:39:38.2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271" autoAdjust="0"/>
    <p:restoredTop sz="94142"/>
  </p:normalViewPr>
  <p:slideViewPr>
    <p:cSldViewPr snapToGrid="0">
      <p:cViewPr varScale="1">
        <p:scale>
          <a:sx n="42" d="100"/>
          <a:sy n="42" d="100"/>
        </p:scale>
        <p:origin x="868" y="52"/>
      </p:cViewPr>
      <p:guideLst>
        <p:guide orient="horz" pos="3240"/>
        <p:guide pos="57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A05686-526E-EA47-AD21-0320394F441D}" type="datetimeFigureOut">
              <a:rPr kumimoji="1" lang="zh-TW" altLang="en-US" smtClean="0"/>
              <a:pPr/>
              <a:t>2025/9/8</a:t>
            </a:fld>
            <a:endParaRPr kumimoji="1"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en-US" altLang="zh-TW"/>
              <a:t>Click to edit Master text styles</a:t>
            </a:r>
          </a:p>
          <a:p>
            <a:pPr lvl="1"/>
            <a:r>
              <a:rPr kumimoji="1" lang="en-US" altLang="zh-TW"/>
              <a:t>Second level</a:t>
            </a:r>
          </a:p>
          <a:p>
            <a:pPr lvl="2"/>
            <a:r>
              <a:rPr kumimoji="1" lang="en-US" altLang="zh-TW"/>
              <a:t>Third level</a:t>
            </a:r>
          </a:p>
          <a:p>
            <a:pPr lvl="3"/>
            <a:r>
              <a:rPr kumimoji="1" lang="en-US" altLang="zh-TW"/>
              <a:t>Fourth level</a:t>
            </a:r>
          </a:p>
          <a:p>
            <a:pPr lvl="4"/>
            <a:r>
              <a:rPr kumimoji="1" lang="en-US" altLang="zh-TW"/>
              <a:t>Fifth level</a:t>
            </a:r>
            <a:endParaRPr kumimoji="1"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98844B-D7EC-8749-B720-E795CFF10818}" type="slidenum">
              <a:rPr kumimoji="1" lang="zh-TW" altLang="en-US" smtClean="0"/>
              <a:pPr/>
              <a:t>‹#›</a:t>
            </a:fld>
            <a:endParaRPr kumimoji="1" lang="zh-TW" altLang="en-US"/>
          </a:p>
        </p:txBody>
      </p:sp>
    </p:spTree>
    <p:extLst>
      <p:ext uri="{BB962C8B-B14F-4D97-AF65-F5344CB8AC3E}">
        <p14:creationId xmlns:p14="http://schemas.microsoft.com/office/powerpoint/2010/main" val="3481488999"/>
      </p:ext>
    </p:extLst>
  </p:cSld>
  <p:clrMap bg1="lt1" tx1="dk1" bg2="lt2" tx2="dk2" accent1="accent1" accent2="accent2" accent3="accent3" accent4="accent4" accent5="accent5" accent6="accent6" hlink="hlink" folHlink="folHlink"/>
  <p:notesStyle>
    <a:lvl1pPr marL="0" algn="l" defTabSz="1371327" rtl="0" eaLnBrk="1" latinLnBrk="0" hangingPunct="1">
      <a:defRPr sz="1800" kern="1200">
        <a:solidFill>
          <a:schemeClr val="tx1"/>
        </a:solidFill>
        <a:latin typeface="+mn-lt"/>
        <a:ea typeface="+mn-ea"/>
        <a:cs typeface="+mn-cs"/>
      </a:defRPr>
    </a:lvl1pPr>
    <a:lvl2pPr marL="685662" algn="l" defTabSz="1371327" rtl="0" eaLnBrk="1" latinLnBrk="0" hangingPunct="1">
      <a:defRPr sz="1800" kern="1200">
        <a:solidFill>
          <a:schemeClr val="tx1"/>
        </a:solidFill>
        <a:latin typeface="+mn-lt"/>
        <a:ea typeface="+mn-ea"/>
        <a:cs typeface="+mn-cs"/>
      </a:defRPr>
    </a:lvl2pPr>
    <a:lvl3pPr marL="1371327" algn="l" defTabSz="1371327" rtl="0" eaLnBrk="1" latinLnBrk="0" hangingPunct="1">
      <a:defRPr sz="1800" kern="1200">
        <a:solidFill>
          <a:schemeClr val="tx1"/>
        </a:solidFill>
        <a:latin typeface="+mn-lt"/>
        <a:ea typeface="+mn-ea"/>
        <a:cs typeface="+mn-cs"/>
      </a:defRPr>
    </a:lvl3pPr>
    <a:lvl4pPr marL="2056989" algn="l" defTabSz="1371327" rtl="0" eaLnBrk="1" latinLnBrk="0" hangingPunct="1">
      <a:defRPr sz="1800" kern="1200">
        <a:solidFill>
          <a:schemeClr val="tx1"/>
        </a:solidFill>
        <a:latin typeface="+mn-lt"/>
        <a:ea typeface="+mn-ea"/>
        <a:cs typeface="+mn-cs"/>
      </a:defRPr>
    </a:lvl4pPr>
    <a:lvl5pPr marL="2742651" algn="l" defTabSz="1371327" rtl="0" eaLnBrk="1" latinLnBrk="0" hangingPunct="1">
      <a:defRPr sz="1800" kern="1200">
        <a:solidFill>
          <a:schemeClr val="tx1"/>
        </a:solidFill>
        <a:latin typeface="+mn-lt"/>
        <a:ea typeface="+mn-ea"/>
        <a:cs typeface="+mn-cs"/>
      </a:defRPr>
    </a:lvl5pPr>
    <a:lvl6pPr marL="3428315" algn="l" defTabSz="1371327" rtl="0" eaLnBrk="1" latinLnBrk="0" hangingPunct="1">
      <a:defRPr sz="1800" kern="1200">
        <a:solidFill>
          <a:schemeClr val="tx1"/>
        </a:solidFill>
        <a:latin typeface="+mn-lt"/>
        <a:ea typeface="+mn-ea"/>
        <a:cs typeface="+mn-cs"/>
      </a:defRPr>
    </a:lvl6pPr>
    <a:lvl7pPr marL="4113978" algn="l" defTabSz="1371327" rtl="0" eaLnBrk="1" latinLnBrk="0" hangingPunct="1">
      <a:defRPr sz="1800" kern="1200">
        <a:solidFill>
          <a:schemeClr val="tx1"/>
        </a:solidFill>
        <a:latin typeface="+mn-lt"/>
        <a:ea typeface="+mn-ea"/>
        <a:cs typeface="+mn-cs"/>
      </a:defRPr>
    </a:lvl7pPr>
    <a:lvl8pPr marL="4799640" algn="l" defTabSz="1371327" rtl="0" eaLnBrk="1" latinLnBrk="0" hangingPunct="1">
      <a:defRPr sz="1800" kern="1200">
        <a:solidFill>
          <a:schemeClr val="tx1"/>
        </a:solidFill>
        <a:latin typeface="+mn-lt"/>
        <a:ea typeface="+mn-ea"/>
        <a:cs typeface="+mn-cs"/>
      </a:defRPr>
    </a:lvl8pPr>
    <a:lvl9pPr marL="5485302" algn="l" defTabSz="1371327"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TW" altLang="en-US" dirty="0"/>
          </a:p>
        </p:txBody>
      </p:sp>
      <p:sp>
        <p:nvSpPr>
          <p:cNvPr id="4" name="Slide Number Placeholder 3"/>
          <p:cNvSpPr>
            <a:spLocks noGrp="1"/>
          </p:cNvSpPr>
          <p:nvPr>
            <p:ph type="sldNum" sz="quarter" idx="5"/>
          </p:nvPr>
        </p:nvSpPr>
        <p:spPr/>
        <p:txBody>
          <a:bodyPr/>
          <a:lstStyle/>
          <a:p>
            <a:fld id="{4598844B-D7EC-8749-B720-E795CFF10818}" type="slidenum">
              <a:rPr kumimoji="1" lang="zh-TW" altLang="en-US" smtClean="0"/>
              <a:pPr/>
              <a:t>1</a:t>
            </a:fld>
            <a:endParaRPr kumimoji="1" lang="zh-TW" altLang="en-US"/>
          </a:p>
        </p:txBody>
      </p:sp>
    </p:spTree>
    <p:extLst>
      <p:ext uri="{BB962C8B-B14F-4D97-AF65-F5344CB8AC3E}">
        <p14:creationId xmlns:p14="http://schemas.microsoft.com/office/powerpoint/2010/main" val="7090808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614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5A308213-629C-4B3B-0E62-A86CE8E9844B}"/>
            </a:ext>
          </a:extLst>
        </p:cNvPr>
        <p:cNvGrpSpPr/>
        <p:nvPr/>
      </p:nvGrpSpPr>
      <p:grpSpPr>
        <a:xfrm>
          <a:off x="0" y="0"/>
          <a:ext cx="0" cy="0"/>
          <a:chOff x="0" y="0"/>
          <a:chExt cx="0" cy="0"/>
        </a:xfrm>
      </p:grpSpPr>
      <p:sp>
        <p:nvSpPr>
          <p:cNvPr id="200" name="Google Shape;200;p4:notes">
            <a:extLst>
              <a:ext uri="{FF2B5EF4-FFF2-40B4-BE49-F238E27FC236}">
                <a16:creationId xmlns:a16="http://schemas.microsoft.com/office/drawing/2014/main" id="{9750245C-D440-67CB-C462-45C3E4ED580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4:notes">
            <a:extLst>
              <a:ext uri="{FF2B5EF4-FFF2-40B4-BE49-F238E27FC236}">
                <a16:creationId xmlns:a16="http://schemas.microsoft.com/office/drawing/2014/main" id="{1DB9C198-7C89-26FA-9964-BFD5CFB247F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9310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40EEC280-26EE-7913-F459-0110244E822C}"/>
            </a:ext>
          </a:extLst>
        </p:cNvPr>
        <p:cNvGrpSpPr/>
        <p:nvPr/>
      </p:nvGrpSpPr>
      <p:grpSpPr>
        <a:xfrm>
          <a:off x="0" y="0"/>
          <a:ext cx="0" cy="0"/>
          <a:chOff x="0" y="0"/>
          <a:chExt cx="0" cy="0"/>
        </a:xfrm>
      </p:grpSpPr>
      <p:sp>
        <p:nvSpPr>
          <p:cNvPr id="200" name="Google Shape;200;p4:notes">
            <a:extLst>
              <a:ext uri="{FF2B5EF4-FFF2-40B4-BE49-F238E27FC236}">
                <a16:creationId xmlns:a16="http://schemas.microsoft.com/office/drawing/2014/main" id="{51C6E8A9-F2F9-87E3-7864-E0162411AC1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4:notes">
            <a:extLst>
              <a:ext uri="{FF2B5EF4-FFF2-40B4-BE49-F238E27FC236}">
                <a16:creationId xmlns:a16="http://schemas.microsoft.com/office/drawing/2014/main" id="{508C244B-6DC9-FA99-D3E0-658F58416EA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24796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13844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804"/>
            <a:ext cx="13716000" cy="3581953"/>
          </a:xfrm>
        </p:spPr>
        <p:txBody>
          <a:bodyPr anchor="b"/>
          <a:lstStyle>
            <a:lvl1pPr algn="ctr">
              <a:defRPr sz="9000"/>
            </a:lvl1pPr>
          </a:lstStyle>
          <a:p>
            <a:r>
              <a:rPr lang="en-US" altLang="zh-TW" dirty="0"/>
              <a:t>Click to edit Master title style</a:t>
            </a:r>
            <a:endParaRPr lang="en-US" dirty="0"/>
          </a:p>
        </p:txBody>
      </p:sp>
      <p:sp>
        <p:nvSpPr>
          <p:cNvPr id="3" name="Subtitle 2"/>
          <p:cNvSpPr>
            <a:spLocks noGrp="1"/>
          </p:cNvSpPr>
          <p:nvPr>
            <p:ph type="subTitle" idx="1"/>
          </p:nvPr>
        </p:nvSpPr>
        <p:spPr>
          <a:xfrm>
            <a:off x="2286000" y="5403891"/>
            <a:ext cx="13716000" cy="2484026"/>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ltLang="zh-TW" dirty="0"/>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9/8/2025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val="46888777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Content Placeholder 2"/>
          <p:cNvSpPr>
            <a:spLocks noGrp="1"/>
          </p:cNvSpPr>
          <p:nvPr>
            <p:ph idx="1"/>
          </p:nvPr>
        </p:nvSpPr>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9/8/2025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val="272288323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5004"/>
            <a:ext cx="15773400" cy="4279766"/>
          </a:xfrm>
        </p:spPr>
        <p:txBody>
          <a:bodyPr anchor="b"/>
          <a:lstStyle>
            <a:lvl1pPr>
              <a:defRPr sz="9000"/>
            </a:lvl1pPr>
          </a:lstStyle>
          <a:p>
            <a:r>
              <a:rPr lang="en-US" altLang="zh-TW" dirty="0"/>
              <a:t>Click to edit Master title style</a:t>
            </a:r>
            <a:endParaRPr lang="en-US" dirty="0"/>
          </a:p>
        </p:txBody>
      </p:sp>
      <p:sp>
        <p:nvSpPr>
          <p:cNvPr id="3" name="Text Placeholder 2"/>
          <p:cNvSpPr>
            <a:spLocks noGrp="1"/>
          </p:cNvSpPr>
          <p:nvPr>
            <p:ph type="body" idx="1"/>
          </p:nvPr>
        </p:nvSpPr>
        <p:spPr>
          <a:xfrm>
            <a:off x="1247775" y="6885258"/>
            <a:ext cx="15773400" cy="2250628"/>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ltLang="zh-TW" dirty="0"/>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pPr/>
              <a:t>9/8/2025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val="275249958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Content Placeholder 2"/>
          <p:cNvSpPr>
            <a:spLocks noGrp="1"/>
          </p:cNvSpPr>
          <p:nvPr>
            <p:ph sz="half" idx="1"/>
          </p:nvPr>
        </p:nvSpPr>
        <p:spPr>
          <a:xfrm>
            <a:off x="1257300" y="2738860"/>
            <a:ext cx="7772400" cy="652801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Content Placeholder 3"/>
          <p:cNvSpPr>
            <a:spLocks noGrp="1"/>
          </p:cNvSpPr>
          <p:nvPr>
            <p:ph sz="half" idx="2"/>
          </p:nvPr>
        </p:nvSpPr>
        <p:spPr>
          <a:xfrm>
            <a:off x="9258300" y="2738860"/>
            <a:ext cx="7772400" cy="652801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pPr/>
              <a:t>9/8/2025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val="106830400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773"/>
            <a:ext cx="15773400" cy="1988651"/>
          </a:xfrm>
        </p:spPr>
        <p:txBody>
          <a:bodyPr/>
          <a:lstStyle/>
          <a:p>
            <a:r>
              <a:rPr lang="en-US" altLang="zh-TW" dirty="0"/>
              <a:t>Click to edit Master title style</a:t>
            </a:r>
            <a:endParaRPr lang="en-US" dirty="0"/>
          </a:p>
        </p:txBody>
      </p:sp>
      <p:sp>
        <p:nvSpPr>
          <p:cNvPr id="3" name="Text Placeholder 2"/>
          <p:cNvSpPr>
            <a:spLocks noGrp="1"/>
          </p:cNvSpPr>
          <p:nvPr>
            <p:ph type="body" idx="1"/>
          </p:nvPr>
        </p:nvSpPr>
        <p:spPr>
          <a:xfrm>
            <a:off x="1259683" y="2522134"/>
            <a:ext cx="7736681" cy="1236059"/>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ltLang="zh-TW" dirty="0"/>
              <a:t>Click to edit Master text styles</a:t>
            </a:r>
          </a:p>
        </p:txBody>
      </p:sp>
      <p:sp>
        <p:nvSpPr>
          <p:cNvPr id="4" name="Content Placeholder 3"/>
          <p:cNvSpPr>
            <a:spLocks noGrp="1"/>
          </p:cNvSpPr>
          <p:nvPr>
            <p:ph sz="half" idx="2"/>
          </p:nvPr>
        </p:nvSpPr>
        <p:spPr>
          <a:xfrm>
            <a:off x="1259683" y="3758193"/>
            <a:ext cx="7736681" cy="552773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5" name="Text Placeholder 4"/>
          <p:cNvSpPr>
            <a:spLocks noGrp="1"/>
          </p:cNvSpPr>
          <p:nvPr>
            <p:ph type="body" sz="quarter" idx="3"/>
          </p:nvPr>
        </p:nvSpPr>
        <p:spPr>
          <a:xfrm>
            <a:off x="9258300" y="2522134"/>
            <a:ext cx="7774782" cy="1236059"/>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ltLang="zh-TW" dirty="0"/>
              <a:t>Click to edit Master text styles</a:t>
            </a:r>
          </a:p>
        </p:txBody>
      </p:sp>
      <p:sp>
        <p:nvSpPr>
          <p:cNvPr id="6" name="Content Placeholder 5"/>
          <p:cNvSpPr>
            <a:spLocks noGrp="1"/>
          </p:cNvSpPr>
          <p:nvPr>
            <p:ph sz="quarter" idx="4"/>
          </p:nvPr>
        </p:nvSpPr>
        <p:spPr>
          <a:xfrm>
            <a:off x="9258300" y="3758193"/>
            <a:ext cx="7774782" cy="552773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pPr/>
              <a:t>9/8/2025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val="63192732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pPr/>
              <a:t>9/8/2025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val="28347444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pPr/>
              <a:t>9/8/2025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val="230187064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906"/>
            <a:ext cx="5898356" cy="2400671"/>
          </a:xfrm>
        </p:spPr>
        <p:txBody>
          <a:bodyPr anchor="b"/>
          <a:lstStyle>
            <a:lvl1pPr>
              <a:defRPr sz="4800"/>
            </a:lvl1pPr>
          </a:lstStyle>
          <a:p>
            <a:r>
              <a:rPr lang="en-US" altLang="zh-TW" dirty="0"/>
              <a:t>Click to edit Master title style</a:t>
            </a:r>
            <a:endParaRPr lang="en-US" dirty="0"/>
          </a:p>
        </p:txBody>
      </p:sp>
      <p:sp>
        <p:nvSpPr>
          <p:cNvPr id="3" name="Content Placeholder 2"/>
          <p:cNvSpPr>
            <a:spLocks noGrp="1"/>
          </p:cNvSpPr>
          <p:nvPr>
            <p:ph idx="1"/>
          </p:nvPr>
        </p:nvSpPr>
        <p:spPr>
          <a:xfrm>
            <a:off x="7774782" y="1481367"/>
            <a:ext cx="9258300" cy="7311566"/>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Text Placeholder 3"/>
          <p:cNvSpPr>
            <a:spLocks noGrp="1"/>
          </p:cNvSpPr>
          <p:nvPr>
            <p:ph type="body" sz="half" idx="2"/>
          </p:nvPr>
        </p:nvSpPr>
        <p:spPr>
          <a:xfrm>
            <a:off x="1259683" y="3086576"/>
            <a:ext cx="5898356" cy="5718265"/>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ltLang="zh-TW"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pPr/>
              <a:t>9/8/2025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val="353915219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906"/>
            <a:ext cx="5898356" cy="2400671"/>
          </a:xfrm>
        </p:spPr>
        <p:txBody>
          <a:bodyPr anchor="b"/>
          <a:lstStyle>
            <a:lvl1pPr>
              <a:defRPr sz="4800"/>
            </a:lvl1pPr>
          </a:lstStyle>
          <a:p>
            <a:r>
              <a:rPr lang="en-US" altLang="zh-TW" dirty="0"/>
              <a:t>Click to edit Master title style</a:t>
            </a:r>
            <a:endParaRPr lang="en-US" dirty="0"/>
          </a:p>
        </p:txBody>
      </p:sp>
      <p:sp>
        <p:nvSpPr>
          <p:cNvPr id="3" name="Picture Placeholder 2"/>
          <p:cNvSpPr>
            <a:spLocks noGrp="1" noChangeAspect="1"/>
          </p:cNvSpPr>
          <p:nvPr>
            <p:ph type="pic" idx="1"/>
          </p:nvPr>
        </p:nvSpPr>
        <p:spPr>
          <a:xfrm>
            <a:off x="7774782" y="1481367"/>
            <a:ext cx="9258300" cy="7311566"/>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ltLang="zh-TW" dirty="0"/>
              <a:t>Click icon to add picture</a:t>
            </a:r>
            <a:endParaRPr lang="en-US" dirty="0"/>
          </a:p>
        </p:txBody>
      </p:sp>
      <p:sp>
        <p:nvSpPr>
          <p:cNvPr id="4" name="Text Placeholder 3"/>
          <p:cNvSpPr>
            <a:spLocks noGrp="1"/>
          </p:cNvSpPr>
          <p:nvPr>
            <p:ph type="body" sz="half" idx="2"/>
          </p:nvPr>
        </p:nvSpPr>
        <p:spPr>
          <a:xfrm>
            <a:off x="1259683" y="3086576"/>
            <a:ext cx="5898356" cy="5718265"/>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ltLang="zh-TW"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pPr/>
              <a:t>9/8/2025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val="258747696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9/8/2025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val="214385171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772"/>
            <a:ext cx="3943350" cy="8719103"/>
          </a:xfrm>
        </p:spPr>
        <p:txBody>
          <a:bodyPr vert="eaVert"/>
          <a:lstStyle/>
          <a:p>
            <a:r>
              <a:rPr lang="en-US" altLang="zh-TW" dirty="0"/>
              <a:t>Click to edit Master title style</a:t>
            </a:r>
            <a:endParaRPr lang="en-US" dirty="0"/>
          </a:p>
        </p:txBody>
      </p:sp>
      <p:sp>
        <p:nvSpPr>
          <p:cNvPr id="3" name="Vertical Text Placeholder 2"/>
          <p:cNvSpPr>
            <a:spLocks noGrp="1"/>
          </p:cNvSpPr>
          <p:nvPr>
            <p:ph type="body" orient="vert" idx="1"/>
          </p:nvPr>
        </p:nvSpPr>
        <p:spPr>
          <a:xfrm>
            <a:off x="1257300" y="547772"/>
            <a:ext cx="11601450" cy="8719103"/>
          </a:xfrm>
        </p:spPr>
        <p:txBody>
          <a:bodyPr vert="eaVert"/>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9/8/2025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val="114701806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自訂版面配置">
    <p:spTree>
      <p:nvGrpSpPr>
        <p:cNvPr id="1" name=""/>
        <p:cNvGrpSpPr/>
        <p:nvPr/>
      </p:nvGrpSpPr>
      <p:grpSpPr>
        <a:xfrm>
          <a:off x="0" y="0"/>
          <a:ext cx="0" cy="0"/>
          <a:chOff x="0" y="0"/>
          <a:chExt cx="0" cy="0"/>
        </a:xfrm>
      </p:grpSpPr>
      <p:pic>
        <p:nvPicPr>
          <p:cNvPr id="9" name="圖片 8">
            <a:extLst>
              <a:ext uri="{FF2B5EF4-FFF2-40B4-BE49-F238E27FC236}">
                <a16:creationId xmlns:a16="http://schemas.microsoft.com/office/drawing/2014/main" id="{E25844F4-1900-BFFB-A55D-854D27EE700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8288000" cy="10288588"/>
          </a:xfrm>
          <a:prstGeom prst="rect">
            <a:avLst/>
          </a:prstGeom>
        </p:spPr>
      </p:pic>
    </p:spTree>
    <p:extLst>
      <p:ext uri="{BB962C8B-B14F-4D97-AF65-F5344CB8AC3E}">
        <p14:creationId xmlns:p14="http://schemas.microsoft.com/office/powerpoint/2010/main" val="833539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自訂版面配置">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id="{1089C009-AC07-C46C-AE77-052C754A5BC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 y="2575"/>
            <a:ext cx="18287997" cy="10286015"/>
          </a:xfrm>
          <a:prstGeom prst="rect">
            <a:avLst/>
          </a:prstGeom>
        </p:spPr>
      </p:pic>
    </p:spTree>
    <p:extLst>
      <p:ext uri="{BB962C8B-B14F-4D97-AF65-F5344CB8AC3E}">
        <p14:creationId xmlns:p14="http://schemas.microsoft.com/office/powerpoint/2010/main" val="9564581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自訂版面配置">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8BD2CC32-CECA-3D65-6472-4640E726C04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290"/>
            <a:ext cx="18288000" cy="10286015"/>
          </a:xfrm>
          <a:prstGeom prst="rect">
            <a:avLst/>
          </a:prstGeom>
        </p:spPr>
      </p:pic>
      <p:sp>
        <p:nvSpPr>
          <p:cNvPr id="2" name="TextBox 1">
            <a:extLst>
              <a:ext uri="{FF2B5EF4-FFF2-40B4-BE49-F238E27FC236}">
                <a16:creationId xmlns:a16="http://schemas.microsoft.com/office/drawing/2014/main" id="{3C3275E5-3531-FFFA-3798-282621745510}"/>
              </a:ext>
            </a:extLst>
          </p:cNvPr>
          <p:cNvSpPr txBox="1"/>
          <p:nvPr userDrawn="1"/>
        </p:nvSpPr>
        <p:spPr>
          <a:xfrm>
            <a:off x="644238" y="600812"/>
            <a:ext cx="3262432" cy="1015663"/>
          </a:xfrm>
          <a:prstGeom prst="rect">
            <a:avLst/>
          </a:prstGeom>
          <a:noFill/>
        </p:spPr>
        <p:txBody>
          <a:bodyPr wrap="none" rtlCol="0">
            <a:spAutoFit/>
          </a:bodyPr>
          <a:lstStyle/>
          <a:p>
            <a:r>
              <a:rPr kumimoji="1" lang="zh-TW" altLang="en-US" sz="6000" b="1">
                <a:latin typeface="Microsoft JhengHei" panose="020B0604030504040204" pitchFamily="34" charset="-120"/>
                <a:ea typeface="Microsoft JhengHei" panose="020B0604030504040204" pitchFamily="34" charset="-120"/>
              </a:rPr>
              <a:t>重要聲明</a:t>
            </a:r>
          </a:p>
        </p:txBody>
      </p:sp>
      <p:sp>
        <p:nvSpPr>
          <p:cNvPr id="4" name="TextBox 3">
            <a:extLst>
              <a:ext uri="{FF2B5EF4-FFF2-40B4-BE49-F238E27FC236}">
                <a16:creationId xmlns:a16="http://schemas.microsoft.com/office/drawing/2014/main" id="{D3BA386D-4EF9-4F60-02E3-7C1A898CF24E}"/>
              </a:ext>
            </a:extLst>
          </p:cNvPr>
          <p:cNvSpPr txBox="1"/>
          <p:nvPr userDrawn="1"/>
        </p:nvSpPr>
        <p:spPr>
          <a:xfrm>
            <a:off x="561111" y="3205004"/>
            <a:ext cx="17165778" cy="3416320"/>
          </a:xfrm>
          <a:prstGeom prst="rect">
            <a:avLst/>
          </a:prstGeom>
          <a:noFill/>
        </p:spPr>
        <p:txBody>
          <a:bodyPr wrap="square" rtlCol="0">
            <a:spAutoFit/>
          </a:bodyPr>
          <a:lstStyle/>
          <a:p>
            <a:pPr>
              <a:buClr>
                <a:srgbClr val="000000"/>
              </a:buClr>
            </a:pPr>
            <a:r>
              <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rPr>
              <a:t>本簡報依據</a:t>
            </a:r>
            <a:r>
              <a:rPr lang="zh-TW" altLang="en-US" sz="2400" b="1" dirty="0">
                <a:latin typeface="微軟正黑體" panose="020B0604030504040204" pitchFamily="34" charset="-120"/>
                <a:ea typeface="微軟正黑體" panose="020B0604030504040204" pitchFamily="34" charset="-120"/>
              </a:rPr>
              <a:t>裕榮昌科技股份有限公司台中分公司</a:t>
            </a:r>
            <a:r>
              <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rPr>
              <a:t>之需求所編製。</a:t>
            </a:r>
            <a:endParaRPr lang="en-US" altLang="zh-TW" sz="2400" b="1" kern="0" dirty="0">
              <a:solidFill>
                <a:srgbClr val="000000"/>
              </a:solidFill>
              <a:latin typeface="微軟正黑體" panose="020B0604030504040204" pitchFamily="34" charset="-120"/>
              <a:ea typeface="微軟正黑體" panose="020B0604030504040204" pitchFamily="34" charset="-120"/>
              <a:cs typeface="Arial"/>
              <a:sym typeface="Arial"/>
            </a:endParaRPr>
          </a:p>
          <a:p>
            <a:pPr>
              <a:buClr>
                <a:srgbClr val="000000"/>
              </a:buClr>
            </a:pPr>
            <a:endParaRPr lang="en-US" altLang="zh-TW" sz="2400" b="1" kern="0" dirty="0">
              <a:solidFill>
                <a:srgbClr val="000000"/>
              </a:solidFill>
              <a:latin typeface="微軟正黑體" panose="020B0604030504040204" pitchFamily="34" charset="-120"/>
              <a:ea typeface="微軟正黑體" panose="020B0604030504040204" pitchFamily="34" charset="-120"/>
              <a:cs typeface="Arial"/>
              <a:sym typeface="Arial"/>
            </a:endParaRPr>
          </a:p>
          <a:p>
            <a:pPr algn="just" fontAlgn="base"/>
            <a:r>
              <a:rPr lang="zh-TW" altLang="en-US" sz="2400" b="1" dirty="0">
                <a:latin typeface="微軟正黑體" panose="020B0604030504040204" pitchFamily="34" charset="-120"/>
                <a:ea typeface="微軟正黑體" panose="020B0604030504040204" pitchFamily="34" charset="-120"/>
              </a:rPr>
              <a:t>本份簡報係於</a:t>
            </a:r>
            <a:r>
              <a:rPr lang="en-US" altLang="zh-TW" sz="2400" b="1" dirty="0">
                <a:latin typeface="微軟正黑體" panose="020B0604030504040204" pitchFamily="34" charset="-120"/>
                <a:ea typeface="微軟正黑體" panose="020B0604030504040204" pitchFamily="34" charset="-120"/>
              </a:rPr>
              <a:t>2025</a:t>
            </a:r>
            <a:r>
              <a:rPr lang="zh-TW" altLang="en-US" sz="2400" b="1" dirty="0">
                <a:latin typeface="微軟正黑體" panose="020B0604030504040204" pitchFamily="34" charset="-120"/>
                <a:ea typeface="微軟正黑體" panose="020B0604030504040204" pitchFamily="34" charset="-120"/>
              </a:rPr>
              <a:t>年</a:t>
            </a:r>
            <a:r>
              <a:rPr lang="en-US" altLang="zh-TW" sz="2400" b="1" dirty="0">
                <a:latin typeface="微軟正黑體" panose="020B0604030504040204" pitchFamily="34" charset="-120"/>
                <a:ea typeface="微軟正黑體" panose="020B0604030504040204" pitchFamily="34" charset="-120"/>
              </a:rPr>
              <a:t>4</a:t>
            </a:r>
            <a:r>
              <a:rPr lang="zh-TW" altLang="en-US" sz="2400" b="1" dirty="0">
                <a:latin typeface="微軟正黑體" panose="020B0604030504040204" pitchFamily="34" charset="-120"/>
                <a:ea typeface="微軟正黑體" panose="020B0604030504040204" pitchFamily="34" charset="-120"/>
              </a:rPr>
              <a:t>月</a:t>
            </a:r>
            <a:r>
              <a:rPr lang="en-US" altLang="zh-TW" sz="2400" b="1" dirty="0">
                <a:latin typeface="微軟正黑體" panose="020B0604030504040204" pitchFamily="34" charset="-120"/>
                <a:ea typeface="微軟正黑體" panose="020B0604030504040204" pitchFamily="34" charset="-120"/>
              </a:rPr>
              <a:t>1</a:t>
            </a:r>
            <a:r>
              <a:rPr lang="zh-TW" altLang="en-US" sz="2400" b="1" dirty="0">
                <a:latin typeface="微軟正黑體" panose="020B0604030504040204" pitchFamily="34" charset="-120"/>
                <a:ea typeface="微軟正黑體" panose="020B0604030504040204" pitchFamily="34" charset="-120"/>
              </a:rPr>
              <a:t>日簽訂之服務委任合約製作完成，僅提供賜昌集團內部參考使用。</a:t>
            </a:r>
          </a:p>
          <a:p>
            <a:pPr algn="just" fontAlgn="base"/>
            <a:endParaRPr lang="en-US" altLang="zh-TW" sz="2400" b="1" dirty="0">
              <a:latin typeface="微軟正黑體" panose="020B0604030504040204" pitchFamily="34" charset="-120"/>
              <a:ea typeface="微軟正黑體" panose="020B0604030504040204" pitchFamily="34" charset="-120"/>
            </a:endParaRPr>
          </a:p>
          <a:p>
            <a:pPr algn="just" fontAlgn="base"/>
            <a:r>
              <a:rPr lang="zh-TW" altLang="en-US" sz="2400" b="1" dirty="0">
                <a:latin typeface="微軟正黑體" panose="020B0604030504040204" pitchFamily="34" charset="-120"/>
                <a:ea typeface="微軟正黑體" panose="020B0604030504040204" pitchFamily="34" charset="-120"/>
              </a:rPr>
              <a:t>本份簡報為機密文件，在未取得本公司書面同意下，除委任合約中指明之對象及用途外，本簡報不得複製或提供第三人使用，亦不得作為其他用途。對於任何人因違反前述規定，任意傳閱、複製或使用本份報告所引發之任何損失，本公司將不負任何義務及責任。</a:t>
            </a:r>
          </a:p>
          <a:p>
            <a:endParaRPr lang="zh-TW" altLang="en-US" sz="2400" b="1" dirty="0">
              <a:latin typeface="微軟正黑體" panose="020B0604030504040204" pitchFamily="34" charset="-120"/>
              <a:ea typeface="微軟正黑體" panose="020B0604030504040204" pitchFamily="34" charset="-120"/>
            </a:endParaRPr>
          </a:p>
          <a:p>
            <a:pPr>
              <a:buClr>
                <a:srgbClr val="000000"/>
              </a:buClr>
            </a:pPr>
            <a:r>
              <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rPr>
              <a:t>未經本公司書面同意，  貴公司以及專案所有成員不得將本簡報之全部或部分提供予任何第三人或使第三人得知其內容。</a:t>
            </a:r>
          </a:p>
        </p:txBody>
      </p:sp>
    </p:spTree>
    <p:extLst>
      <p:ext uri="{BB962C8B-B14F-4D97-AF65-F5344CB8AC3E}">
        <p14:creationId xmlns:p14="http://schemas.microsoft.com/office/powerpoint/2010/main" val="194200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自訂版面配置">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8BD2CC32-CECA-3D65-6472-4640E726C04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290"/>
            <a:ext cx="18288000" cy="10286015"/>
          </a:xfrm>
          <a:prstGeom prst="rect">
            <a:avLst/>
          </a:prstGeom>
        </p:spPr>
      </p:pic>
    </p:spTree>
    <p:extLst>
      <p:ext uri="{BB962C8B-B14F-4D97-AF65-F5344CB8AC3E}">
        <p14:creationId xmlns:p14="http://schemas.microsoft.com/office/powerpoint/2010/main" val="27547859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Title and Full Content - Subtitle" preserve="1">
  <p:cSld name="2_Title and Full Content - Subtitle">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664371" y="715994"/>
            <a:ext cx="16959261" cy="684373"/>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800"/>
              <a:buFont typeface="Microsoft JhengHei"/>
              <a:buNone/>
              <a:defRPr sz="4200" b="1">
                <a:latin typeface="Microsoft JhengHei"/>
                <a:ea typeface="Microsoft JhengHei"/>
                <a:cs typeface="Microsoft JhengHei"/>
                <a:sym typeface="Microsoft JhengHe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ftr" idx="11"/>
          </p:nvPr>
        </p:nvSpPr>
        <p:spPr>
          <a:xfrm>
            <a:off x="664368" y="9534091"/>
            <a:ext cx="8210552" cy="205772"/>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8"/>
          <p:cNvSpPr txBox="1">
            <a:spLocks noGrp="1"/>
          </p:cNvSpPr>
          <p:nvPr>
            <p:ph type="dt" idx="10"/>
          </p:nvPr>
        </p:nvSpPr>
        <p:spPr>
          <a:xfrm>
            <a:off x="14976444" y="9534091"/>
            <a:ext cx="2647188" cy="205772"/>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
          <p:cNvSpPr txBox="1">
            <a:spLocks noGrp="1"/>
          </p:cNvSpPr>
          <p:nvPr>
            <p:ph type="sldNum" idx="12"/>
          </p:nvPr>
        </p:nvSpPr>
        <p:spPr>
          <a:xfrm>
            <a:off x="14976444" y="9739863"/>
            <a:ext cx="2647188" cy="205772"/>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lang="en-US"/>
          </a:p>
        </p:txBody>
      </p:sp>
      <p:sp>
        <p:nvSpPr>
          <p:cNvPr id="28" name="Google Shape;28;p8"/>
          <p:cNvSpPr txBox="1">
            <a:spLocks noGrp="1"/>
          </p:cNvSpPr>
          <p:nvPr>
            <p:ph type="subTitle" idx="1"/>
          </p:nvPr>
        </p:nvSpPr>
        <p:spPr>
          <a:xfrm>
            <a:off x="664368" y="1674730"/>
            <a:ext cx="16959264" cy="1212484"/>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accent4"/>
              </a:buClr>
              <a:buSzPts val="2000"/>
              <a:buNone/>
              <a:defRPr sz="3000" b="1">
                <a:solidFill>
                  <a:schemeClr val="accent4"/>
                </a:solidFill>
                <a:latin typeface="Microsoft JhengHei"/>
                <a:ea typeface="Microsoft JhengHei"/>
                <a:cs typeface="Microsoft JhengHei"/>
                <a:sym typeface="Microsoft JhengHei"/>
              </a:defRPr>
            </a:lvl1pPr>
            <a:lvl2pPr lvl="1" algn="l">
              <a:lnSpc>
                <a:spcPct val="85000"/>
              </a:lnSpc>
              <a:spcBef>
                <a:spcPts val="0"/>
              </a:spcBef>
              <a:spcAft>
                <a:spcPts val="0"/>
              </a:spcAft>
              <a:buClr>
                <a:schemeClr val="dk1"/>
              </a:buClr>
              <a:buSzPts val="2400"/>
              <a:buNone/>
              <a:defRPr sz="3600"/>
            </a:lvl2pPr>
            <a:lvl3pPr lvl="2" algn="l">
              <a:lnSpc>
                <a:spcPct val="85000"/>
              </a:lnSpc>
              <a:spcBef>
                <a:spcPts val="0"/>
              </a:spcBef>
              <a:spcAft>
                <a:spcPts val="0"/>
              </a:spcAft>
              <a:buClr>
                <a:schemeClr val="dk1"/>
              </a:buClr>
              <a:buSzPts val="2400"/>
              <a:buNone/>
              <a:defRPr sz="3600"/>
            </a:lvl3pPr>
            <a:lvl4pPr lvl="3" algn="l">
              <a:lnSpc>
                <a:spcPct val="85000"/>
              </a:lnSpc>
              <a:spcBef>
                <a:spcPts val="0"/>
              </a:spcBef>
              <a:spcAft>
                <a:spcPts val="0"/>
              </a:spcAft>
              <a:buClr>
                <a:schemeClr val="dk1"/>
              </a:buClr>
              <a:buSzPts val="2400"/>
              <a:buNone/>
              <a:defRPr sz="3600"/>
            </a:lvl4pPr>
            <a:lvl5pPr lvl="4" algn="l">
              <a:lnSpc>
                <a:spcPct val="85000"/>
              </a:lnSpc>
              <a:spcBef>
                <a:spcPts val="0"/>
              </a:spcBef>
              <a:spcAft>
                <a:spcPts val="0"/>
              </a:spcAft>
              <a:buClr>
                <a:schemeClr val="dk1"/>
              </a:buClr>
              <a:buSzPts val="2400"/>
              <a:buNone/>
              <a:defRPr sz="3600"/>
            </a:lvl5pPr>
            <a:lvl6pPr lvl="5" algn="l">
              <a:lnSpc>
                <a:spcPct val="85000"/>
              </a:lnSpc>
              <a:spcBef>
                <a:spcPts val="0"/>
              </a:spcBef>
              <a:spcAft>
                <a:spcPts val="0"/>
              </a:spcAft>
              <a:buClr>
                <a:schemeClr val="dk1"/>
              </a:buClr>
              <a:buSzPts val="2400"/>
              <a:buNone/>
              <a:defRPr sz="3600"/>
            </a:lvl6pPr>
            <a:lvl7pPr lvl="6" algn="l">
              <a:lnSpc>
                <a:spcPct val="85000"/>
              </a:lnSpc>
              <a:spcBef>
                <a:spcPts val="0"/>
              </a:spcBef>
              <a:spcAft>
                <a:spcPts val="0"/>
              </a:spcAft>
              <a:buClr>
                <a:schemeClr val="dk1"/>
              </a:buClr>
              <a:buSzPts val="2400"/>
              <a:buNone/>
              <a:defRPr sz="3600"/>
            </a:lvl7pPr>
            <a:lvl8pPr lvl="7" algn="l">
              <a:lnSpc>
                <a:spcPct val="85000"/>
              </a:lnSpc>
              <a:spcBef>
                <a:spcPts val="0"/>
              </a:spcBef>
              <a:spcAft>
                <a:spcPts val="0"/>
              </a:spcAft>
              <a:buClr>
                <a:schemeClr val="dk1"/>
              </a:buClr>
              <a:buSzPts val="2400"/>
              <a:buNone/>
              <a:defRPr sz="3600"/>
            </a:lvl8pPr>
            <a:lvl9pPr lvl="8" algn="l">
              <a:lnSpc>
                <a:spcPct val="85000"/>
              </a:lnSpc>
              <a:spcBef>
                <a:spcPts val="0"/>
              </a:spcBef>
              <a:spcAft>
                <a:spcPts val="0"/>
              </a:spcAft>
              <a:buClr>
                <a:schemeClr val="dk1"/>
              </a:buClr>
              <a:buSzPts val="2400"/>
              <a:buNone/>
              <a:defRPr sz="3600"/>
            </a:lvl9pPr>
          </a:lstStyle>
          <a:p>
            <a:endParaRPr/>
          </a:p>
        </p:txBody>
      </p:sp>
      <p:cxnSp>
        <p:nvCxnSpPr>
          <p:cNvPr id="2" name="Google Shape;26;p8">
            <a:extLst>
              <a:ext uri="{FF2B5EF4-FFF2-40B4-BE49-F238E27FC236}">
                <a16:creationId xmlns:a16="http://schemas.microsoft.com/office/drawing/2014/main" id="{3C44852E-2A4F-C390-0531-598DA50C7D0D}"/>
              </a:ext>
            </a:extLst>
          </p:cNvPr>
          <p:cNvCxnSpPr>
            <a:cxnSpLocks/>
          </p:cNvCxnSpPr>
          <p:nvPr userDrawn="1"/>
        </p:nvCxnSpPr>
        <p:spPr>
          <a:xfrm>
            <a:off x="609166" y="1512141"/>
            <a:ext cx="17014463" cy="0"/>
          </a:xfrm>
          <a:prstGeom prst="straightConnector1">
            <a:avLst/>
          </a:prstGeom>
          <a:noFill/>
          <a:ln w="38100" cap="sq" cmpd="sng">
            <a:solidFill>
              <a:srgbClr val="A82415"/>
            </a:solidFill>
            <a:prstDash val="solid"/>
            <a:round/>
            <a:headEnd type="none" w="sm" len="sm"/>
            <a:tailEnd type="none" w="sm" len="sm"/>
          </a:ln>
        </p:spPr>
      </p:cxnSp>
      <p:pic>
        <p:nvPicPr>
          <p:cNvPr id="3" name="Google Shape;27;p8" descr="A red and black logo&#10;&#10;Description automatically generated">
            <a:extLst>
              <a:ext uri="{FF2B5EF4-FFF2-40B4-BE49-F238E27FC236}">
                <a16:creationId xmlns:a16="http://schemas.microsoft.com/office/drawing/2014/main" id="{7203C895-E48E-5654-59B4-87C538B70FA1}"/>
              </a:ext>
            </a:extLst>
          </p:cNvPr>
          <p:cNvPicPr preferRelativeResize="0"/>
          <p:nvPr userDrawn="1"/>
        </p:nvPicPr>
        <p:blipFill rotWithShape="1">
          <a:blip r:embed="rId2">
            <a:alphaModFix/>
          </a:blip>
          <a:srcRect/>
          <a:stretch/>
        </p:blipFill>
        <p:spPr>
          <a:xfrm>
            <a:off x="16791708" y="695699"/>
            <a:ext cx="831921" cy="724961"/>
          </a:xfrm>
          <a:prstGeom prst="rect">
            <a:avLst/>
          </a:prstGeom>
          <a:noFill/>
          <a:ln>
            <a:noFill/>
          </a:ln>
        </p:spPr>
      </p:pic>
    </p:spTree>
    <p:extLst>
      <p:ext uri="{BB962C8B-B14F-4D97-AF65-F5344CB8AC3E}">
        <p14:creationId xmlns:p14="http://schemas.microsoft.com/office/powerpoint/2010/main" val="18044274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_Title and Full Content - Subtitle" preserve="1" userDrawn="1">
  <p:cSld name="2_Title and Full Content - Subtitle">
    <p:spTree>
      <p:nvGrpSpPr>
        <p:cNvPr id="1" name="Shape 21"/>
        <p:cNvGrpSpPr/>
        <p:nvPr/>
      </p:nvGrpSpPr>
      <p:grpSpPr>
        <a:xfrm>
          <a:off x="0" y="0"/>
          <a:ext cx="0" cy="0"/>
          <a:chOff x="0" y="0"/>
          <a:chExt cx="0" cy="0"/>
        </a:xfrm>
      </p:grpSpPr>
      <p:graphicFrame>
        <p:nvGraphicFramePr>
          <p:cNvPr id="2" name="Google Shape;35;p9">
            <a:extLst>
              <a:ext uri="{FF2B5EF4-FFF2-40B4-BE49-F238E27FC236}">
                <a16:creationId xmlns:a16="http://schemas.microsoft.com/office/drawing/2014/main" id="{DDE4C3EC-89CD-BB54-5F4C-D558F5C045CB}"/>
              </a:ext>
            </a:extLst>
          </p:cNvPr>
          <p:cNvGraphicFramePr/>
          <p:nvPr userDrawn="1">
            <p:extLst>
              <p:ext uri="{D42A27DB-BD31-4B8C-83A1-F6EECF244321}">
                <p14:modId xmlns:p14="http://schemas.microsoft.com/office/powerpoint/2010/main" val="3675913295"/>
              </p:ext>
            </p:extLst>
          </p:nvPr>
        </p:nvGraphicFramePr>
        <p:xfrm>
          <a:off x="122557" y="114450"/>
          <a:ext cx="18019970" cy="10027077"/>
        </p:xfrm>
        <a:graphic>
          <a:graphicData uri="http://schemas.openxmlformats.org/drawingml/2006/table">
            <a:tbl>
              <a:tblPr>
                <a:noFill/>
              </a:tblPr>
              <a:tblGrid>
                <a:gridCol w="2311228">
                  <a:extLst>
                    <a:ext uri="{9D8B030D-6E8A-4147-A177-3AD203B41FA5}">
                      <a16:colId xmlns:a16="http://schemas.microsoft.com/office/drawing/2014/main" val="20000"/>
                    </a:ext>
                  </a:extLst>
                </a:gridCol>
                <a:gridCol w="11889371">
                  <a:extLst>
                    <a:ext uri="{9D8B030D-6E8A-4147-A177-3AD203B41FA5}">
                      <a16:colId xmlns:a16="http://schemas.microsoft.com/office/drawing/2014/main" val="20001"/>
                    </a:ext>
                  </a:extLst>
                </a:gridCol>
                <a:gridCol w="3819371">
                  <a:extLst>
                    <a:ext uri="{9D8B030D-6E8A-4147-A177-3AD203B41FA5}">
                      <a16:colId xmlns:a16="http://schemas.microsoft.com/office/drawing/2014/main" val="20002"/>
                    </a:ext>
                  </a:extLst>
                </a:gridCol>
              </a:tblGrid>
              <a:tr h="626091">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Company / 公司名稱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50000"/>
                        </a:lnSpc>
                        <a:spcBef>
                          <a:spcPts val="0"/>
                        </a:spcBef>
                        <a:spcAft>
                          <a:spcPts val="0"/>
                        </a:spcAft>
                        <a:buNone/>
                      </a:pPr>
                      <a:r>
                        <a:rPr lang="en-US" sz="2400" b="1">
                          <a:solidFill>
                            <a:schemeClr val="dk1"/>
                          </a:solidFill>
                          <a:latin typeface="Microsoft JhengHei"/>
                          <a:ea typeface="Microsoft JhengHei"/>
                          <a:cs typeface="Microsoft JhengHei"/>
                          <a:sym typeface="Microsoft JhengHei"/>
                        </a:rPr>
                        <a:t>                Freetrend </a:t>
                      </a:r>
                      <a:r>
                        <a:rPr lang="zh-TW" altLang="en-US" sz="2400" b="1">
                          <a:solidFill>
                            <a:schemeClr val="dk1"/>
                          </a:solidFill>
                          <a:latin typeface="Microsoft JhengHei"/>
                          <a:ea typeface="Microsoft JhengHei"/>
                          <a:cs typeface="Microsoft JhengHei"/>
                          <a:sym typeface="Microsoft JhengHei"/>
                        </a:rPr>
                        <a:t>賜昌集團</a:t>
                      </a:r>
                      <a:endParaRPr sz="2400" b="1">
                        <a:solidFill>
                          <a:schemeClr val="dk1"/>
                        </a:solidFill>
                        <a:latin typeface="Microsoft JhengHei"/>
                        <a:ea typeface="Microsoft JhengHei"/>
                        <a:cs typeface="Microsoft JhengHei"/>
                        <a:sym typeface="Microsoft JhengHei"/>
                      </a:endParaRPr>
                    </a:p>
                  </a:txBody>
                  <a:tcPr marL="84400" marR="84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rowSpan="2">
                  <a:txBody>
                    <a:bodyPr/>
                    <a:lstStyle/>
                    <a:p>
                      <a:pPr marL="0" marR="0" lvl="0" indent="0" algn="l" rtl="0">
                        <a:lnSpc>
                          <a:spcPct val="100000"/>
                        </a:lnSpc>
                        <a:spcBef>
                          <a:spcPts val="0"/>
                        </a:spcBef>
                        <a:spcAft>
                          <a:spcPts val="0"/>
                        </a:spcAft>
                        <a:buNone/>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Page </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頁次：</a:t>
                      </a:r>
                      <a:endParaRPr lang="zh-TW" altLang="en-US" sz="1600" b="1">
                        <a:latin typeface="Microsoft JhengHei" panose="020B0604030504040204" pitchFamily="34" charset="-120"/>
                        <a:ea typeface="Microsoft JhengHei" panose="020B0604030504040204" pitchFamily="34" charset="-120"/>
                      </a:endParaRPr>
                    </a:p>
                    <a:p>
                      <a:pPr marL="0" marR="0" lvl="0" indent="0" algn="l" defTabSz="914446" rtl="0" eaLnBrk="1" fontAlgn="auto" latinLnBrk="0" hangingPunct="1">
                        <a:lnSpc>
                          <a:spcPct val="100000"/>
                        </a:lnSpc>
                        <a:spcBef>
                          <a:spcPts val="300"/>
                        </a:spcBef>
                        <a:spcAft>
                          <a:spcPts val="0"/>
                        </a:spcAft>
                        <a:buClrTx/>
                        <a:buSzTx/>
                        <a:buFontTx/>
                        <a:buNone/>
                        <a:tabLst/>
                        <a:defRPr/>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Latest Update 最後更新</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a:t>
                      </a:r>
                      <a:endParaRPr lang="en-US" altLang="zh-TW"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601603">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Process ID / Name</a:t>
                      </a:r>
                      <a:endParaRPr sz="1600" b="1">
                        <a:latin typeface="Microsoft JhengHei" panose="020B0604030504040204" pitchFamily="34" charset="-120"/>
                        <a:ea typeface="Microsoft JhengHei" panose="020B0604030504040204" pitchFamily="34" charset="-120"/>
                      </a:endParaRPr>
                    </a:p>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流程代碼 / 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600">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vMerge="1">
                  <a:txBody>
                    <a:bodyPr/>
                    <a:lstStyle/>
                    <a:p>
                      <a:endParaRPr lang="en-US"/>
                    </a:p>
                  </a:txBody>
                  <a:tcPr/>
                </a:tc>
                <a:extLst>
                  <a:ext uri="{0D108BD9-81ED-4DB2-BD59-A6C34878D82A}">
                    <a16:rowId xmlns:a16="http://schemas.microsoft.com/office/drawing/2014/main" val="10001"/>
                  </a:ext>
                </a:extLst>
              </a:tr>
              <a:tr h="8799383">
                <a:tc gridSpan="3">
                  <a:txBody>
                    <a:bodyPr/>
                    <a:lstStyle/>
                    <a:p>
                      <a:pPr marL="0" marR="0" lvl="0" indent="0" algn="ctr" rtl="0">
                        <a:spcBef>
                          <a:spcPts val="0"/>
                        </a:spcBef>
                        <a:spcAft>
                          <a:spcPts val="0"/>
                        </a:spcAft>
                        <a:buNone/>
                      </a:pP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hMerge="1">
                  <a:txBody>
                    <a:bodyPr/>
                    <a:lstStyle/>
                    <a:p>
                      <a:pPr marL="0" marR="0" lvl="0" indent="0" algn="ctr" rtl="0">
                        <a:spcBef>
                          <a:spcPts val="0"/>
                        </a:spcBef>
                        <a:spcAft>
                          <a:spcPts val="0"/>
                        </a:spcAft>
                        <a:buNone/>
                      </a:pPr>
                      <a:endParaRPr sz="1600" b="1">
                        <a:solidFill>
                          <a:schemeClr val="dk1"/>
                        </a:solidFill>
                        <a:latin typeface="Microsoft JhengHei" panose="020B0604030504040204" pitchFamily="34" charset="-120"/>
                        <a:ea typeface="Microsoft JhengHei" panose="020B0604030504040204" pitchFamily="34" charset="-120"/>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hMerge="1">
                  <a:txBody>
                    <a:bodyPr/>
                    <a:lstStyle/>
                    <a:p>
                      <a:pPr marL="0" marR="0" lvl="0" indent="0" algn="ctr" rtl="0">
                        <a:lnSpc>
                          <a:spcPct val="100000"/>
                        </a:lnSpc>
                        <a:spcBef>
                          <a:spcPts val="0"/>
                        </a:spcBef>
                        <a:spcAft>
                          <a:spcPts val="0"/>
                        </a:spcAft>
                        <a:buClr>
                          <a:schemeClr val="dk1"/>
                        </a:buClr>
                        <a:buSzPts val="1000"/>
                        <a:buFont typeface="Arial"/>
                        <a:buNone/>
                      </a:pP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438868285"/>
                  </a:ext>
                </a:extLst>
              </a:tr>
            </a:tbl>
          </a:graphicData>
        </a:graphic>
      </p:graphicFrame>
      <p:pic>
        <p:nvPicPr>
          <p:cNvPr id="3" name="Google Shape;37;p9" descr="A red and black logo&#10;&#10;Description automatically generated">
            <a:extLst>
              <a:ext uri="{FF2B5EF4-FFF2-40B4-BE49-F238E27FC236}">
                <a16:creationId xmlns:a16="http://schemas.microsoft.com/office/drawing/2014/main" id="{FEC0DF01-974E-FA50-4309-25053ECD68E4}"/>
              </a:ext>
            </a:extLst>
          </p:cNvPr>
          <p:cNvPicPr preferRelativeResize="0"/>
          <p:nvPr userDrawn="1"/>
        </p:nvPicPr>
        <p:blipFill rotWithShape="1">
          <a:blip r:embed="rId2">
            <a:alphaModFix/>
          </a:blip>
          <a:srcRect/>
          <a:stretch/>
        </p:blipFill>
        <p:spPr>
          <a:xfrm>
            <a:off x="7067490" y="213243"/>
            <a:ext cx="482734" cy="420132"/>
          </a:xfrm>
          <a:prstGeom prst="rect">
            <a:avLst/>
          </a:prstGeom>
          <a:noFill/>
          <a:ln>
            <a:noFill/>
          </a:ln>
        </p:spPr>
      </p:pic>
      <p:sp>
        <p:nvSpPr>
          <p:cNvPr id="4" name="Google Shape;24;p8">
            <a:extLst>
              <a:ext uri="{FF2B5EF4-FFF2-40B4-BE49-F238E27FC236}">
                <a16:creationId xmlns:a16="http://schemas.microsoft.com/office/drawing/2014/main" id="{10ED93F3-E6DB-99ED-6C71-93C2253FB3D7}"/>
              </a:ext>
            </a:extLst>
          </p:cNvPr>
          <p:cNvSpPr txBox="1">
            <a:spLocks noGrp="1"/>
          </p:cNvSpPr>
          <p:nvPr>
            <p:ph type="dt" idx="10"/>
          </p:nvPr>
        </p:nvSpPr>
        <p:spPr>
          <a:xfrm>
            <a:off x="16862156" y="726363"/>
            <a:ext cx="1164432" cy="260837"/>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4/4/25</a:t>
            </a:r>
            <a:endParaRPr/>
          </a:p>
        </p:txBody>
      </p:sp>
    </p:spTree>
    <p:extLst>
      <p:ext uri="{BB962C8B-B14F-4D97-AF65-F5344CB8AC3E}">
        <p14:creationId xmlns:p14="http://schemas.microsoft.com/office/powerpoint/2010/main" val="19753370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_Title and Full Content - Subtitle" userDrawn="1">
  <p:cSld name="1_Title and Full Content - Subtitle">
    <p:spTree>
      <p:nvGrpSpPr>
        <p:cNvPr id="1" name="Shape 21"/>
        <p:cNvGrpSpPr/>
        <p:nvPr/>
      </p:nvGrpSpPr>
      <p:grpSpPr>
        <a:xfrm>
          <a:off x="0" y="0"/>
          <a:ext cx="0" cy="0"/>
          <a:chOff x="0" y="0"/>
          <a:chExt cx="0" cy="0"/>
        </a:xfrm>
      </p:grpSpPr>
      <p:graphicFrame>
        <p:nvGraphicFramePr>
          <p:cNvPr id="2" name="Google Shape;35;p9">
            <a:extLst>
              <a:ext uri="{FF2B5EF4-FFF2-40B4-BE49-F238E27FC236}">
                <a16:creationId xmlns:a16="http://schemas.microsoft.com/office/drawing/2014/main" id="{DDE4C3EC-89CD-BB54-5F4C-D558F5C045CB}"/>
              </a:ext>
            </a:extLst>
          </p:cNvPr>
          <p:cNvGraphicFramePr/>
          <p:nvPr userDrawn="1">
            <p:extLst>
              <p:ext uri="{D42A27DB-BD31-4B8C-83A1-F6EECF244321}">
                <p14:modId xmlns:p14="http://schemas.microsoft.com/office/powerpoint/2010/main" val="642626727"/>
              </p:ext>
            </p:extLst>
          </p:nvPr>
        </p:nvGraphicFramePr>
        <p:xfrm>
          <a:off x="122557" y="114450"/>
          <a:ext cx="18019970" cy="10027077"/>
        </p:xfrm>
        <a:graphic>
          <a:graphicData uri="http://schemas.openxmlformats.org/drawingml/2006/table">
            <a:tbl>
              <a:tblPr>
                <a:noFill/>
              </a:tblPr>
              <a:tblGrid>
                <a:gridCol w="2311228">
                  <a:extLst>
                    <a:ext uri="{9D8B030D-6E8A-4147-A177-3AD203B41FA5}">
                      <a16:colId xmlns:a16="http://schemas.microsoft.com/office/drawing/2014/main" val="20000"/>
                    </a:ext>
                  </a:extLst>
                </a:gridCol>
                <a:gridCol w="9468940">
                  <a:extLst>
                    <a:ext uri="{9D8B030D-6E8A-4147-A177-3AD203B41FA5}">
                      <a16:colId xmlns:a16="http://schemas.microsoft.com/office/drawing/2014/main" val="20001"/>
                    </a:ext>
                  </a:extLst>
                </a:gridCol>
                <a:gridCol w="2420431">
                  <a:extLst>
                    <a:ext uri="{9D8B030D-6E8A-4147-A177-3AD203B41FA5}">
                      <a16:colId xmlns:a16="http://schemas.microsoft.com/office/drawing/2014/main" val="697488759"/>
                    </a:ext>
                  </a:extLst>
                </a:gridCol>
                <a:gridCol w="3819371">
                  <a:extLst>
                    <a:ext uri="{9D8B030D-6E8A-4147-A177-3AD203B41FA5}">
                      <a16:colId xmlns:a16="http://schemas.microsoft.com/office/drawing/2014/main" val="20002"/>
                    </a:ext>
                  </a:extLst>
                </a:gridCol>
              </a:tblGrid>
              <a:tr h="626091">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Company / 公司名稱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gridSpan="2">
                  <a:txBody>
                    <a:bodyPr/>
                    <a:lstStyle/>
                    <a:p>
                      <a:pPr marL="0" marR="0" lvl="0" indent="0" algn="ctr" rtl="0">
                        <a:lnSpc>
                          <a:spcPct val="150000"/>
                        </a:lnSpc>
                        <a:spcBef>
                          <a:spcPts val="0"/>
                        </a:spcBef>
                        <a:spcAft>
                          <a:spcPts val="0"/>
                        </a:spcAft>
                        <a:buNone/>
                      </a:pPr>
                      <a:r>
                        <a:rPr lang="en-US" sz="2400" b="1">
                          <a:solidFill>
                            <a:schemeClr val="dk1"/>
                          </a:solidFill>
                          <a:latin typeface="Microsoft JhengHei"/>
                          <a:ea typeface="Microsoft JhengHei"/>
                          <a:cs typeface="Microsoft JhengHei"/>
                          <a:sym typeface="Microsoft JhengHei"/>
                        </a:rPr>
                        <a:t>                Freetrend </a:t>
                      </a:r>
                      <a:r>
                        <a:rPr lang="zh-TW" altLang="en-US" sz="2400" b="1">
                          <a:solidFill>
                            <a:schemeClr val="dk1"/>
                          </a:solidFill>
                          <a:latin typeface="Microsoft JhengHei"/>
                          <a:ea typeface="Microsoft JhengHei"/>
                          <a:cs typeface="Microsoft JhengHei"/>
                          <a:sym typeface="Microsoft JhengHei"/>
                        </a:rPr>
                        <a:t>賜昌集團</a:t>
                      </a:r>
                      <a:endParaRPr sz="2400" b="1">
                        <a:solidFill>
                          <a:schemeClr val="dk1"/>
                        </a:solidFill>
                        <a:latin typeface="Microsoft JhengHei"/>
                        <a:ea typeface="Microsoft JhengHei"/>
                        <a:cs typeface="Microsoft JhengHei"/>
                        <a:sym typeface="Microsoft JhengHei"/>
                      </a:endParaRPr>
                    </a:p>
                  </a:txBody>
                  <a:tcPr marL="84400" marR="84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hMerge="1">
                  <a:txBody>
                    <a:bodyPr/>
                    <a:lstStyle/>
                    <a:p>
                      <a:endParaRPr lang="zh-TW" altLang="en-US"/>
                    </a:p>
                  </a:txBody>
                  <a:tcPr/>
                </a:tc>
                <a:tc rowSpan="2">
                  <a:txBody>
                    <a:bodyPr/>
                    <a:lstStyle/>
                    <a:p>
                      <a:pPr marL="0" marR="0" lvl="0" indent="0" algn="l" rtl="0">
                        <a:lnSpc>
                          <a:spcPct val="100000"/>
                        </a:lnSpc>
                        <a:spcBef>
                          <a:spcPts val="0"/>
                        </a:spcBef>
                        <a:spcAft>
                          <a:spcPts val="0"/>
                        </a:spcAft>
                        <a:buNone/>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Page </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頁次：</a:t>
                      </a:r>
                      <a:endParaRPr lang="zh-TW" altLang="en-US" sz="1600" b="1">
                        <a:latin typeface="Microsoft JhengHei" panose="020B0604030504040204" pitchFamily="34" charset="-120"/>
                        <a:ea typeface="Microsoft JhengHei" panose="020B0604030504040204" pitchFamily="34" charset="-120"/>
                      </a:endParaRPr>
                    </a:p>
                    <a:p>
                      <a:pPr marL="0" marR="0" lvl="0" indent="0" algn="l" defTabSz="914446" rtl="0" eaLnBrk="1" fontAlgn="auto" latinLnBrk="0" hangingPunct="1">
                        <a:lnSpc>
                          <a:spcPct val="100000"/>
                        </a:lnSpc>
                        <a:spcBef>
                          <a:spcPts val="300"/>
                        </a:spcBef>
                        <a:spcAft>
                          <a:spcPts val="0"/>
                        </a:spcAft>
                        <a:buClrTx/>
                        <a:buSzTx/>
                        <a:buFontTx/>
                        <a:buNone/>
                        <a:tabLst/>
                        <a:defRPr/>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Latest Update 最後更新</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a:t>
                      </a:r>
                      <a:endParaRPr lang="en-US" altLang="zh-TW"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601603">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Process ID / Name</a:t>
                      </a:r>
                      <a:endParaRPr sz="1600" b="1">
                        <a:latin typeface="Microsoft JhengHei" panose="020B0604030504040204" pitchFamily="34" charset="-120"/>
                        <a:ea typeface="Microsoft JhengHei" panose="020B0604030504040204" pitchFamily="34" charset="-120"/>
                      </a:endParaRPr>
                    </a:p>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流程代碼 / 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gridSpan="2">
                  <a:txBody>
                    <a:bodyPr/>
                    <a:lstStyle/>
                    <a:p>
                      <a:pPr marL="0" marR="0" lvl="0" indent="0" algn="l" rtl="0">
                        <a:spcBef>
                          <a:spcPts val="0"/>
                        </a:spcBef>
                        <a:spcAft>
                          <a:spcPts val="0"/>
                        </a:spcAft>
                        <a:buNone/>
                      </a:pPr>
                      <a:endParaRPr sz="1600">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hMerge="1">
                  <a:txBody>
                    <a:bodyPr/>
                    <a:lstStyle/>
                    <a:p>
                      <a:endParaRPr lang="zh-TW" altLang="en-US"/>
                    </a:p>
                  </a:txBody>
                  <a:tcPr/>
                </a:tc>
                <a:tc vMerge="1">
                  <a:txBody>
                    <a:bodyPr/>
                    <a:lstStyle/>
                    <a:p>
                      <a:endParaRPr lang="en-US"/>
                    </a:p>
                  </a:txBody>
                  <a:tcPr/>
                </a:tc>
                <a:extLst>
                  <a:ext uri="{0D108BD9-81ED-4DB2-BD59-A6C34878D82A}">
                    <a16:rowId xmlns:a16="http://schemas.microsoft.com/office/drawing/2014/main" val="10001"/>
                  </a:ext>
                </a:extLst>
              </a:tr>
              <a:tr h="370223">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Input</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Output</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ctr" rtl="0">
                        <a:lnSpc>
                          <a:spcPct val="100000"/>
                        </a:lnSpc>
                        <a:spcBef>
                          <a:spcPts val="0"/>
                        </a:spcBef>
                        <a:spcAft>
                          <a:spcPts val="0"/>
                        </a:spcAft>
                        <a:buClr>
                          <a:schemeClr val="dk1"/>
                        </a:buClr>
                        <a:buSzPts val="1000"/>
                        <a:buFont typeface="Arial"/>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Process Activities</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438868285"/>
                  </a:ext>
                </a:extLst>
              </a:tr>
              <a:tr h="8429160">
                <a:tc>
                  <a:txBody>
                    <a:bodyPr/>
                    <a:lstStyle/>
                    <a:p>
                      <a:pPr marL="0" marR="0" lvl="0" indent="0" algn="l" rtl="0">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l" rtl="0">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l" rtl="0">
                        <a:lnSpc>
                          <a:spcPct val="100000"/>
                        </a:lnSpc>
                        <a:spcBef>
                          <a:spcPts val="0"/>
                        </a:spcBef>
                        <a:spcAft>
                          <a:spcPts val="0"/>
                        </a:spcAft>
                        <a:buClr>
                          <a:schemeClr val="dk1"/>
                        </a:buClr>
                        <a:buSzPts val="1000"/>
                        <a:buFont typeface="Arial"/>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lgn="ctr">
                      <a:solidFill>
                        <a:schemeClr val="tx1"/>
                      </a:solidFill>
                      <a:prstDash val="solid"/>
                      <a:round/>
                      <a:headEnd type="none" w="med" len="med"/>
                      <a:tailEnd type="none" w="med" len="med"/>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3940032794"/>
                  </a:ext>
                </a:extLst>
              </a:tr>
            </a:tbl>
          </a:graphicData>
        </a:graphic>
      </p:graphicFrame>
      <p:pic>
        <p:nvPicPr>
          <p:cNvPr id="3" name="Google Shape;37;p9" descr="A red and black logo&#10;&#10;Description automatically generated">
            <a:extLst>
              <a:ext uri="{FF2B5EF4-FFF2-40B4-BE49-F238E27FC236}">
                <a16:creationId xmlns:a16="http://schemas.microsoft.com/office/drawing/2014/main" id="{FEC0DF01-974E-FA50-4309-25053ECD68E4}"/>
              </a:ext>
            </a:extLst>
          </p:cNvPr>
          <p:cNvPicPr preferRelativeResize="0"/>
          <p:nvPr userDrawn="1"/>
        </p:nvPicPr>
        <p:blipFill rotWithShape="1">
          <a:blip r:embed="rId2">
            <a:alphaModFix/>
          </a:blip>
          <a:srcRect/>
          <a:stretch/>
        </p:blipFill>
        <p:spPr>
          <a:xfrm>
            <a:off x="7067490" y="213243"/>
            <a:ext cx="482734" cy="420132"/>
          </a:xfrm>
          <a:prstGeom prst="rect">
            <a:avLst/>
          </a:prstGeom>
          <a:noFill/>
          <a:ln>
            <a:noFill/>
          </a:ln>
        </p:spPr>
      </p:pic>
      <p:sp>
        <p:nvSpPr>
          <p:cNvPr id="10" name="Google Shape;24;p8">
            <a:extLst>
              <a:ext uri="{FF2B5EF4-FFF2-40B4-BE49-F238E27FC236}">
                <a16:creationId xmlns:a16="http://schemas.microsoft.com/office/drawing/2014/main" id="{0448B46C-C68B-BB74-204F-0F458130E386}"/>
              </a:ext>
            </a:extLst>
          </p:cNvPr>
          <p:cNvSpPr txBox="1">
            <a:spLocks noGrp="1"/>
          </p:cNvSpPr>
          <p:nvPr>
            <p:ph type="dt" idx="10"/>
          </p:nvPr>
        </p:nvSpPr>
        <p:spPr>
          <a:xfrm>
            <a:off x="16862156" y="726363"/>
            <a:ext cx="1164432" cy="260837"/>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4/4/25</a:t>
            </a:r>
            <a:endParaRPr/>
          </a:p>
        </p:txBody>
      </p:sp>
    </p:spTree>
    <p:extLst>
      <p:ext uri="{BB962C8B-B14F-4D97-AF65-F5344CB8AC3E}">
        <p14:creationId xmlns:p14="http://schemas.microsoft.com/office/powerpoint/2010/main" val="34162246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自訂版面配置">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0B02BF32-51F7-DDF0-4455-62412D8BC83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8288000" cy="10288588"/>
          </a:xfrm>
          <a:prstGeom prst="rect">
            <a:avLst/>
          </a:prstGeom>
        </p:spPr>
      </p:pic>
    </p:spTree>
    <p:extLst>
      <p:ext uri="{BB962C8B-B14F-4D97-AF65-F5344CB8AC3E}">
        <p14:creationId xmlns:p14="http://schemas.microsoft.com/office/powerpoint/2010/main" val="4204613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773"/>
            <a:ext cx="15773400" cy="1988651"/>
          </a:xfrm>
          <a:prstGeom prst="rect">
            <a:avLst/>
          </a:prstGeom>
        </p:spPr>
        <p:txBody>
          <a:bodyPr vert="horz" lIns="91440" tIns="45720" rIns="91440" bIns="45720" rtlCol="0" anchor="ctr">
            <a:normAutofit/>
          </a:bodyPr>
          <a:lstStyle/>
          <a:p>
            <a:r>
              <a:rPr lang="en-US" altLang="zh-TW" dirty="0"/>
              <a:t>Click to edit Master title style</a:t>
            </a:r>
            <a:endParaRPr lang="en-US" dirty="0"/>
          </a:p>
        </p:txBody>
      </p:sp>
      <p:sp>
        <p:nvSpPr>
          <p:cNvPr id="3" name="Text Placeholder 2"/>
          <p:cNvSpPr>
            <a:spLocks noGrp="1"/>
          </p:cNvSpPr>
          <p:nvPr>
            <p:ph type="body" idx="1"/>
          </p:nvPr>
        </p:nvSpPr>
        <p:spPr>
          <a:xfrm>
            <a:off x="1257300" y="2738860"/>
            <a:ext cx="15773400" cy="6528015"/>
          </a:xfrm>
          <a:prstGeom prst="rect">
            <a:avLst/>
          </a:prstGeom>
        </p:spPr>
        <p:txBody>
          <a:bodyPr vert="horz" lIns="91440" tIns="45720" rIns="91440" bIns="45720" rtlCol="0">
            <a:normAutofit/>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2"/>
          </p:nvPr>
        </p:nvSpPr>
        <p:spPr>
          <a:xfrm>
            <a:off x="1257300" y="9535998"/>
            <a:ext cx="4114800" cy="547772"/>
          </a:xfrm>
          <a:prstGeom prst="rect">
            <a:avLst/>
          </a:prstGeom>
        </p:spPr>
        <p:txBody>
          <a:bodyPr vert="horz" lIns="91440" tIns="45720" rIns="91440" bIns="45720" rtlCol="0" anchor="ctr"/>
          <a:lstStyle>
            <a:lvl1pPr algn="l">
              <a:defRPr sz="1800">
                <a:solidFill>
                  <a:schemeClr val="tx1">
                    <a:tint val="75000"/>
                  </a:schemeClr>
                </a:solidFill>
              </a:defRPr>
            </a:lvl1pPr>
          </a:lstStyle>
          <a:p>
            <a:fld id="{C764DE79-268F-4C1A-8933-263129D2AF90}" type="datetimeFigureOut">
              <a:rPr lang="en-US" dirty="0"/>
              <a:pPr/>
              <a:t>9/8/2025</a:t>
            </a:fld>
            <a:endParaRPr lang="en-US" dirty="0"/>
          </a:p>
        </p:txBody>
      </p:sp>
      <p:sp>
        <p:nvSpPr>
          <p:cNvPr id="5" name="Footer Placeholder 4"/>
          <p:cNvSpPr>
            <a:spLocks noGrp="1"/>
          </p:cNvSpPr>
          <p:nvPr>
            <p:ph type="ftr" sz="quarter" idx="3"/>
          </p:nvPr>
        </p:nvSpPr>
        <p:spPr>
          <a:xfrm>
            <a:off x="6057900" y="9535998"/>
            <a:ext cx="6172200" cy="547772"/>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2915900" y="9535998"/>
            <a:ext cx="4114800" cy="547772"/>
          </a:xfrm>
          <a:prstGeom prst="rect">
            <a:avLst/>
          </a:prstGeom>
        </p:spPr>
        <p:txBody>
          <a:bodyPr vert="horz" lIns="91440" tIns="45720" rIns="91440" bIns="45720" rtlCol="0" anchor="ctr"/>
          <a:lstStyle>
            <a:lvl1pPr algn="r">
              <a:defRPr sz="1800">
                <a:solidFill>
                  <a:schemeClr val="tx1">
                    <a:tint val="75000"/>
                  </a:schemeClr>
                </a:solidFill>
              </a:defRPr>
            </a:lvl1pPr>
          </a:lstStyle>
          <a:p>
            <a:fld id="{48F63A3B-78C7-47BE-AE5E-E10140E04643}" type="slidenum">
              <a:rPr lang="en-US" dirty="0"/>
              <a:pPr/>
              <a:t>‹#›</a:t>
            </a:fld>
            <a:endParaRPr lang="en-US" dirty="0"/>
          </a:p>
        </p:txBody>
      </p:sp>
    </p:spTree>
    <p:extLst>
      <p:ext uri="{BB962C8B-B14F-4D97-AF65-F5344CB8AC3E}">
        <p14:creationId xmlns:p14="http://schemas.microsoft.com/office/powerpoint/2010/main" val="319702633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65" r:id="rId13"/>
    <p:sldLayoutId id="2147483668" r:id="rId14"/>
    <p:sldLayoutId id="2147483664" r:id="rId15"/>
    <p:sldLayoutId id="2147483683" r:id="rId16"/>
    <p:sldLayoutId id="2147483684" r:id="rId17"/>
    <p:sldLayoutId id="2147483682" r:id="rId18"/>
    <p:sldLayoutId id="2147483663" r:id="rId19"/>
  </p:sldLayoutIdLst>
  <p:hf sldNum="0" hdr="0" ftr="0" dt="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1">
            <a:extLst>
              <a:ext uri="{FF2B5EF4-FFF2-40B4-BE49-F238E27FC236}">
                <a16:creationId xmlns:a16="http://schemas.microsoft.com/office/drawing/2014/main" id="{7F582E9E-3697-760D-DA26-BA27025404FB}"/>
              </a:ext>
            </a:extLst>
          </p:cNvPr>
          <p:cNvSpPr>
            <a:spLocks noChangeArrowheads="1"/>
          </p:cNvSpPr>
          <p:nvPr/>
        </p:nvSpPr>
        <p:spPr bwMode="auto">
          <a:xfrm>
            <a:off x="843405" y="5144294"/>
            <a:ext cx="653711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b="1">
                <a:solidFill>
                  <a:schemeClr val="tx1"/>
                </a:solidFill>
                <a:latin typeface="Arial" panose="020B0604020202020204" pitchFamily="34" charset="0"/>
                <a:ea typeface="微軟正黑體" panose="020B0604030504040204" pitchFamily="34" charset="-12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微軟正黑體" panose="020B0604030504040204" pitchFamily="34" charset="-12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ea typeface="微軟正黑體" panose="020B0604030504040204" pitchFamily="34" charset="-12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ea typeface="微軟正黑體" panose="020B0604030504040204" pitchFamily="34" charset="-120"/>
                <a:cs typeface="Arial" panose="020B0604020202020204" pitchFamily="34" charset="0"/>
              </a:defRPr>
            </a:lvl4pPr>
            <a:lvl5pPr marL="2057400" indent="-228600">
              <a:spcBef>
                <a:spcPct val="20000"/>
              </a:spcBef>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9pPr>
          </a:lstStyle>
          <a:p>
            <a:pPr eaLnBrk="1" hangingPunct="1">
              <a:spcBef>
                <a:spcPct val="0"/>
              </a:spcBef>
              <a:buFontTx/>
              <a:buNone/>
            </a:pPr>
            <a:r>
              <a:rPr lang="zh-TW" altLang="en-US" sz="4800" dirty="0">
                <a:latin typeface="Microsoft JhengHei" panose="020B0604030504040204" pitchFamily="34" charset="-120"/>
                <a:ea typeface="Microsoft JhengHei" panose="020B0604030504040204" pitchFamily="34" charset="-120"/>
              </a:rPr>
              <a:t>賜昌集團 </a:t>
            </a:r>
            <a:r>
              <a:rPr lang="en-US" altLang="zh-TW" sz="4800" dirty="0">
                <a:latin typeface="Microsoft JhengHei" panose="020B0604030504040204" pitchFamily="34" charset="-120"/>
                <a:ea typeface="Microsoft JhengHei" panose="020B0604030504040204" pitchFamily="34" charset="-120"/>
              </a:rPr>
              <a:t>SAP</a:t>
            </a:r>
            <a:r>
              <a:rPr lang="zh-TW" altLang="en-US" sz="4800" dirty="0">
                <a:latin typeface="Microsoft JhengHei" panose="020B0604030504040204" pitchFamily="34" charset="-120"/>
                <a:ea typeface="Microsoft JhengHei" panose="020B0604030504040204" pitchFamily="34" charset="-120"/>
              </a:rPr>
              <a:t>推進中心</a:t>
            </a:r>
          </a:p>
        </p:txBody>
      </p:sp>
      <p:sp>
        <p:nvSpPr>
          <p:cNvPr id="3" name="TextBox 2">
            <a:extLst>
              <a:ext uri="{FF2B5EF4-FFF2-40B4-BE49-F238E27FC236}">
                <a16:creationId xmlns:a16="http://schemas.microsoft.com/office/drawing/2014/main" id="{8859345E-AB13-0337-28A8-72F68FB71A83}"/>
              </a:ext>
            </a:extLst>
          </p:cNvPr>
          <p:cNvSpPr txBox="1"/>
          <p:nvPr/>
        </p:nvSpPr>
        <p:spPr>
          <a:xfrm>
            <a:off x="843407" y="7871570"/>
            <a:ext cx="2833853" cy="738664"/>
          </a:xfrm>
          <a:prstGeom prst="rect">
            <a:avLst/>
          </a:prstGeom>
          <a:noFill/>
        </p:spPr>
        <p:txBody>
          <a:bodyPr wrap="none" rtlCol="0">
            <a:spAutoFit/>
          </a:bodyPr>
          <a:lstStyle/>
          <a:p>
            <a:r>
              <a:rPr kumimoji="1" lang="en-US" altLang="zh-TW" sz="2100" dirty="0">
                <a:latin typeface="Microsoft JhengHei" panose="020B0604030504040204" pitchFamily="34" charset="-120"/>
                <a:ea typeface="Microsoft JhengHei" panose="020B0604030504040204" pitchFamily="34" charset="-120"/>
              </a:rPr>
              <a:t>Presentation by </a:t>
            </a:r>
            <a:r>
              <a:rPr kumimoji="1" lang="en-US" altLang="zh-TW" sz="2100" b="1" dirty="0">
                <a:latin typeface="Microsoft JhengHei" panose="020B0604030504040204" pitchFamily="34" charset="-120"/>
                <a:ea typeface="Microsoft JhengHei" panose="020B0604030504040204" pitchFamily="34" charset="-120"/>
              </a:rPr>
              <a:t>DSIT</a:t>
            </a:r>
          </a:p>
          <a:p>
            <a:r>
              <a:rPr kumimoji="1" lang="en-US" altLang="zh-TW" sz="2100" dirty="0">
                <a:latin typeface="Microsoft JhengHei" panose="020B0604030504040204" pitchFamily="34" charset="-120"/>
                <a:ea typeface="Microsoft JhengHei" panose="020B0604030504040204" pitchFamily="34" charset="-120"/>
              </a:rPr>
              <a:t>2025/06/30</a:t>
            </a:r>
            <a:endParaRPr kumimoji="1" lang="zh-TW" altLang="en-US" sz="2100" dirty="0">
              <a:latin typeface="Microsoft JhengHei" panose="020B0604030504040204" pitchFamily="34" charset="-120"/>
              <a:ea typeface="Microsoft JhengHei" panose="020B0604030504040204" pitchFamily="34" charset="-120"/>
            </a:endParaRPr>
          </a:p>
        </p:txBody>
      </p:sp>
      <p:sp>
        <p:nvSpPr>
          <p:cNvPr id="4" name="矩形 1">
            <a:extLst>
              <a:ext uri="{FF2B5EF4-FFF2-40B4-BE49-F238E27FC236}">
                <a16:creationId xmlns:a16="http://schemas.microsoft.com/office/drawing/2014/main" id="{B99C6C67-25AF-0B71-AD21-378FF0D6B16C}"/>
              </a:ext>
            </a:extLst>
          </p:cNvPr>
          <p:cNvSpPr>
            <a:spLocks noChangeArrowheads="1"/>
          </p:cNvSpPr>
          <p:nvPr/>
        </p:nvSpPr>
        <p:spPr bwMode="auto">
          <a:xfrm>
            <a:off x="843405" y="6523311"/>
            <a:ext cx="653711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b="1">
                <a:solidFill>
                  <a:schemeClr val="tx1"/>
                </a:solidFill>
                <a:latin typeface="Arial" panose="020B0604020202020204" pitchFamily="34" charset="0"/>
                <a:ea typeface="微軟正黑體" panose="020B0604030504040204" pitchFamily="34" charset="-12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微軟正黑體" panose="020B0604030504040204" pitchFamily="34" charset="-12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ea typeface="微軟正黑體" panose="020B0604030504040204" pitchFamily="34" charset="-12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ea typeface="微軟正黑體" panose="020B0604030504040204" pitchFamily="34" charset="-120"/>
                <a:cs typeface="Arial" panose="020B0604020202020204" pitchFamily="34" charset="0"/>
              </a:defRPr>
            </a:lvl4pPr>
            <a:lvl5pPr marL="2057400" indent="-228600">
              <a:spcBef>
                <a:spcPct val="20000"/>
              </a:spcBef>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9pPr>
          </a:lstStyle>
          <a:p>
            <a:pPr eaLnBrk="1" hangingPunct="1">
              <a:spcBef>
                <a:spcPct val="0"/>
              </a:spcBef>
              <a:buFontTx/>
              <a:buNone/>
            </a:pPr>
            <a:r>
              <a:rPr lang="en-US" altLang="zh-TW" sz="3600" b="0" strike="noStrike" spc="-1" dirty="0">
                <a:solidFill>
                  <a:schemeClr val="dk1"/>
                </a:solidFill>
                <a:latin typeface="Microsoft JhengHei"/>
                <a:ea typeface="Microsoft JhengHei"/>
              </a:rPr>
              <a:t>MM-PU-0030</a:t>
            </a:r>
            <a:endParaRPr lang="zh-TW" altLang="en-US" sz="3600" b="0" dirty="0">
              <a:ea typeface="新細明體" panose="02020500000000000000" pitchFamily="18" charset="-120"/>
            </a:endParaRPr>
          </a:p>
        </p:txBody>
      </p:sp>
      <p:sp>
        <p:nvSpPr>
          <p:cNvPr id="5" name="矩形 1">
            <a:extLst>
              <a:ext uri="{FF2B5EF4-FFF2-40B4-BE49-F238E27FC236}">
                <a16:creationId xmlns:a16="http://schemas.microsoft.com/office/drawing/2014/main" id="{E1637891-39B6-9F83-1E67-17C75D44F0A1}"/>
              </a:ext>
            </a:extLst>
          </p:cNvPr>
          <p:cNvSpPr>
            <a:spLocks noChangeArrowheads="1"/>
          </p:cNvSpPr>
          <p:nvPr/>
        </p:nvSpPr>
        <p:spPr bwMode="auto">
          <a:xfrm>
            <a:off x="843405" y="7179076"/>
            <a:ext cx="653711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b="1">
                <a:solidFill>
                  <a:schemeClr val="tx1"/>
                </a:solidFill>
                <a:latin typeface="Arial" panose="020B0604020202020204" pitchFamily="34" charset="0"/>
                <a:ea typeface="微軟正黑體" panose="020B0604030504040204" pitchFamily="34" charset="-12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微軟正黑體" panose="020B0604030504040204" pitchFamily="34" charset="-12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ea typeface="微軟正黑體" panose="020B0604030504040204" pitchFamily="34" charset="-12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ea typeface="微軟正黑體" panose="020B0604030504040204" pitchFamily="34" charset="-120"/>
                <a:cs typeface="Arial" panose="020B0604020202020204" pitchFamily="34" charset="0"/>
              </a:defRPr>
            </a:lvl4pPr>
            <a:lvl5pPr marL="2057400" indent="-228600">
              <a:spcBef>
                <a:spcPct val="20000"/>
              </a:spcBef>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9pPr>
          </a:lstStyle>
          <a:p>
            <a:pPr eaLnBrk="1" hangingPunct="1">
              <a:spcBef>
                <a:spcPct val="0"/>
              </a:spcBef>
              <a:buFontTx/>
              <a:buNone/>
            </a:pPr>
            <a:r>
              <a:rPr lang="zh-TW" altLang="en-US" sz="3600" b="0" strike="noStrike" spc="-1" dirty="0">
                <a:solidFill>
                  <a:schemeClr val="dk1"/>
                </a:solidFill>
                <a:latin typeface="Microsoft JhengHei"/>
                <a:ea typeface="Microsoft JhengHei"/>
              </a:rPr>
              <a:t>庫存類請採流程</a:t>
            </a:r>
            <a:endParaRPr lang="zh-TW" altLang="en-US" sz="3600" b="0" dirty="0">
              <a:ea typeface="新細明體" panose="02020500000000000000" pitchFamily="18" charset="-120"/>
            </a:endParaRPr>
          </a:p>
        </p:txBody>
      </p:sp>
    </p:spTree>
    <p:extLst>
      <p:ext uri="{BB962C8B-B14F-4D97-AF65-F5344CB8AC3E}">
        <p14:creationId xmlns:p14="http://schemas.microsoft.com/office/powerpoint/2010/main" val="428307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309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graphicFrame>
        <p:nvGraphicFramePr>
          <p:cNvPr id="190" name="Google Shape;190;p2"/>
          <p:cNvGraphicFramePr/>
          <p:nvPr>
            <p:extLst>
              <p:ext uri="{D42A27DB-BD31-4B8C-83A1-F6EECF244321}">
                <p14:modId xmlns:p14="http://schemas.microsoft.com/office/powerpoint/2010/main" val="4221912561"/>
              </p:ext>
            </p:extLst>
          </p:nvPr>
        </p:nvGraphicFramePr>
        <p:xfrm>
          <a:off x="366269" y="1567509"/>
          <a:ext cx="17518777" cy="1512000"/>
        </p:xfrm>
        <a:graphic>
          <a:graphicData uri="http://schemas.openxmlformats.org/drawingml/2006/table">
            <a:tbl>
              <a:tblPr>
                <a:noFill/>
              </a:tblPr>
              <a:tblGrid>
                <a:gridCol w="2061420">
                  <a:extLst>
                    <a:ext uri="{9D8B030D-6E8A-4147-A177-3AD203B41FA5}">
                      <a16:colId xmlns:a16="http://schemas.microsoft.com/office/drawing/2014/main" val="1034483988"/>
                    </a:ext>
                  </a:extLst>
                </a:gridCol>
                <a:gridCol w="2061420">
                  <a:extLst>
                    <a:ext uri="{9D8B030D-6E8A-4147-A177-3AD203B41FA5}">
                      <a16:colId xmlns:a16="http://schemas.microsoft.com/office/drawing/2014/main" val="20000"/>
                    </a:ext>
                  </a:extLst>
                </a:gridCol>
                <a:gridCol w="8327926">
                  <a:extLst>
                    <a:ext uri="{9D8B030D-6E8A-4147-A177-3AD203B41FA5}">
                      <a16:colId xmlns:a16="http://schemas.microsoft.com/office/drawing/2014/main" val="20001"/>
                    </a:ext>
                  </a:extLst>
                </a:gridCol>
                <a:gridCol w="1423236">
                  <a:extLst>
                    <a:ext uri="{9D8B030D-6E8A-4147-A177-3AD203B41FA5}">
                      <a16:colId xmlns:a16="http://schemas.microsoft.com/office/drawing/2014/main" val="20002"/>
                    </a:ext>
                  </a:extLst>
                </a:gridCol>
                <a:gridCol w="634687">
                  <a:extLst>
                    <a:ext uri="{9D8B030D-6E8A-4147-A177-3AD203B41FA5}">
                      <a16:colId xmlns:a16="http://schemas.microsoft.com/office/drawing/2014/main" val="20003"/>
                    </a:ext>
                  </a:extLst>
                </a:gridCol>
                <a:gridCol w="1192442">
                  <a:extLst>
                    <a:ext uri="{9D8B030D-6E8A-4147-A177-3AD203B41FA5}">
                      <a16:colId xmlns:a16="http://schemas.microsoft.com/office/drawing/2014/main" val="2445255174"/>
                    </a:ext>
                  </a:extLst>
                </a:gridCol>
                <a:gridCol w="576988">
                  <a:extLst>
                    <a:ext uri="{9D8B030D-6E8A-4147-A177-3AD203B41FA5}">
                      <a16:colId xmlns:a16="http://schemas.microsoft.com/office/drawing/2014/main" val="3610384773"/>
                    </a:ext>
                  </a:extLst>
                </a:gridCol>
                <a:gridCol w="1240658">
                  <a:extLst>
                    <a:ext uri="{9D8B030D-6E8A-4147-A177-3AD203B41FA5}">
                      <a16:colId xmlns:a16="http://schemas.microsoft.com/office/drawing/2014/main" val="4169125416"/>
                    </a:ext>
                  </a:extLst>
                </a:gridCol>
              </a:tblGrid>
              <a:tr h="504000">
                <a:tc rowSpan="3">
                  <a:txBody>
                    <a:bodyPr/>
                    <a:lstStyle/>
                    <a:p>
                      <a:pPr marL="0" marR="0" lvl="0" indent="0" algn="l" rtl="0">
                        <a:lnSpc>
                          <a:spcPct val="166666"/>
                        </a:lnSpc>
                        <a:spcBef>
                          <a:spcPts val="0"/>
                        </a:spcBef>
                        <a:spcAft>
                          <a:spcPts val="0"/>
                        </a:spcAft>
                        <a:buNone/>
                      </a:pPr>
                      <a:r>
                        <a:rPr lang="x-none" sz="1800" b="1" u="none" strike="noStrike" cap="none" dirty="0">
                          <a:solidFill>
                            <a:schemeClr val="lt1"/>
                          </a:solidFill>
                          <a:latin typeface="Microsoft JhengHei"/>
                          <a:ea typeface="Microsoft JhengHei"/>
                          <a:cs typeface="Microsoft JhengHei"/>
                          <a:sym typeface="Microsoft JhengHei"/>
                        </a:rPr>
                        <a:t>文件基本訊息</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文件主題</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 To be_Business Process</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創建日期</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gridSpan="4">
                  <a:txBody>
                    <a:bodyPr/>
                    <a:lstStyle/>
                    <a:p>
                      <a:pPr marL="0" marR="0" lvl="0" indent="0" algn="l" defTabSz="1371600" rtl="0" eaLnBrk="1" fontAlgn="auto" latinLnBrk="0" hangingPunct="1">
                        <a:lnSpc>
                          <a:spcPct val="166666"/>
                        </a:lnSpc>
                        <a:spcBef>
                          <a:spcPts val="0"/>
                        </a:spcBef>
                        <a:spcAft>
                          <a:spcPts val="0"/>
                        </a:spcAft>
                        <a:buClrTx/>
                        <a:buSzTx/>
                        <a:buFontTx/>
                        <a:buNone/>
                        <a:tabLst/>
                        <a:defRPr/>
                      </a:pPr>
                      <a:r>
                        <a:rPr lang="en-US" sz="1800" b="1" u="none" strike="noStrike" cap="none" dirty="0">
                          <a:solidFill>
                            <a:schemeClr val="lt1"/>
                          </a:solidFill>
                          <a:latin typeface="Microsoft JhengHei"/>
                          <a:ea typeface="Microsoft JhengHei"/>
                          <a:cs typeface="Microsoft JhengHei"/>
                          <a:sym typeface="Microsoft JhengHei"/>
                        </a:rPr>
                        <a:t> </a:t>
                      </a:r>
                      <a:r>
                        <a:rPr lang="en-US" altLang="zh-TW" sz="1800" b="1" u="none" strike="noStrike" cap="none" dirty="0">
                          <a:solidFill>
                            <a:schemeClr val="lt1"/>
                          </a:solidFill>
                          <a:latin typeface="Microsoft JhengHei"/>
                          <a:ea typeface="Microsoft JhengHei"/>
                          <a:cs typeface="Microsoft JhengHei"/>
                          <a:sym typeface="Microsoft JhengHei"/>
                        </a:rPr>
                        <a:t>2025/06/30</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10000"/>
                  </a:ext>
                </a:extLst>
              </a:tr>
              <a:tr h="504000">
                <a:tc vMerge="1">
                  <a:txBody>
                    <a:bodyPr/>
                    <a:lstStyle/>
                    <a:p>
                      <a:pPr marL="0" marR="0" lvl="0" indent="0" algn="l" rtl="0">
                        <a:lnSpc>
                          <a:spcPct val="166666"/>
                        </a:lnSpc>
                        <a:spcBef>
                          <a:spcPts val="0"/>
                        </a:spcBef>
                        <a:spcAft>
                          <a:spcPts val="0"/>
                        </a:spcAft>
                        <a:buNone/>
                      </a:pP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err="1">
                          <a:solidFill>
                            <a:schemeClr val="lt1"/>
                          </a:solidFill>
                          <a:latin typeface="Microsoft JhengHei"/>
                          <a:ea typeface="Microsoft JhengHei"/>
                          <a:cs typeface="Microsoft JhengHei"/>
                          <a:sym typeface="Microsoft JhengHei"/>
                        </a:rPr>
                        <a:t>作者</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altLang="zh-TW" sz="1800" b="1" u="none" strike="noStrike" cap="none" dirty="0">
                          <a:solidFill>
                            <a:schemeClr val="dk1"/>
                          </a:solidFill>
                          <a:latin typeface="Microsoft JhengHei"/>
                          <a:ea typeface="Microsoft JhengHei"/>
                          <a:cs typeface="Microsoft JhengHei"/>
                          <a:sym typeface="Microsoft JhengHei"/>
                        </a:rPr>
                        <a:t>DSIT</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l" rtl="0">
                        <a:lnSpc>
                          <a:spcPct val="166666"/>
                        </a:lnSpc>
                        <a:spcBef>
                          <a:spcPts val="0"/>
                        </a:spcBef>
                        <a:spcAft>
                          <a:spcPts val="0"/>
                        </a:spcAft>
                        <a:buNone/>
                      </a:pPr>
                      <a:r>
                        <a:rPr lang="en-US" sz="1800" b="1" u="none" strike="noStrike" cap="none" dirty="0" err="1">
                          <a:solidFill>
                            <a:schemeClr val="dk1"/>
                          </a:solidFill>
                          <a:latin typeface="Microsoft JhengHei"/>
                          <a:ea typeface="Microsoft JhengHei"/>
                          <a:cs typeface="Microsoft JhengHei"/>
                          <a:sym typeface="Microsoft JhengHei"/>
                        </a:rPr>
                        <a:t>文件狀態</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Clr>
                          <a:schemeClr val="dk1"/>
                        </a:buClr>
                        <a:buSzPts val="1200"/>
                        <a:buFont typeface="Arimo"/>
                        <a:buNone/>
                      </a:pP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l" rtl="0">
                        <a:lnSpc>
                          <a:spcPct val="166666"/>
                        </a:lnSpc>
                        <a:spcBef>
                          <a:spcPts val="0"/>
                        </a:spcBef>
                        <a:spcAft>
                          <a:spcPts val="0"/>
                        </a:spcAft>
                        <a:buClr>
                          <a:schemeClr val="dk1"/>
                        </a:buClr>
                        <a:buSzPts val="1200"/>
                        <a:buFont typeface="Arimo"/>
                        <a:buNone/>
                      </a:pPr>
                      <a:r>
                        <a:rPr lang="en-US" sz="1800" b="1" u="none" strike="noStrike" cap="none" dirty="0" err="1">
                          <a:solidFill>
                            <a:schemeClr val="dk1"/>
                          </a:solidFill>
                          <a:latin typeface="Microsoft JhengHei"/>
                          <a:ea typeface="Microsoft JhengHei"/>
                          <a:cs typeface="Microsoft JhengHei"/>
                          <a:sym typeface="Microsoft JhengHei"/>
                        </a:rPr>
                        <a:t>草稿版</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Clr>
                          <a:schemeClr val="dk1"/>
                        </a:buClr>
                        <a:buSzPts val="1200"/>
                        <a:buFont typeface="Arimo"/>
                        <a:buNone/>
                      </a:pPr>
                      <a:r>
                        <a:rPr lang="x-none" sz="1800" b="1" u="none" strike="noStrike" cap="none" dirty="0">
                          <a:solidFill>
                            <a:schemeClr val="dk1"/>
                          </a:solidFill>
                          <a:latin typeface="Microsoft JhengHei"/>
                          <a:ea typeface="Microsoft JhengHei"/>
                          <a:cs typeface="Microsoft JhengHei"/>
                          <a:sym typeface="Microsoft JhengHei"/>
                        </a:rPr>
                        <a:t>V</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0" algn="l" defTabSz="1371600" rtl="0" eaLnBrk="1" fontAlgn="auto" latinLnBrk="0" hangingPunct="1">
                        <a:lnSpc>
                          <a:spcPct val="166666"/>
                        </a:lnSpc>
                        <a:spcBef>
                          <a:spcPts val="0"/>
                        </a:spcBef>
                        <a:spcAft>
                          <a:spcPts val="0"/>
                        </a:spcAft>
                        <a:buClr>
                          <a:schemeClr val="dk1"/>
                        </a:buClr>
                        <a:buSzPts val="1200"/>
                        <a:buFont typeface="Arimo"/>
                        <a:buNone/>
                        <a:tabLst/>
                        <a:defRPr/>
                      </a:pPr>
                      <a:r>
                        <a:rPr lang="zh-TW" altLang="en-US" sz="1800" b="1" u="none" strike="noStrike" cap="none" dirty="0">
                          <a:solidFill>
                            <a:schemeClr val="dk1"/>
                          </a:solidFill>
                          <a:latin typeface="Microsoft JhengHei"/>
                          <a:ea typeface="Microsoft JhengHei"/>
                          <a:cs typeface="Microsoft JhengHei"/>
                          <a:sym typeface="Microsoft JhengHei"/>
                        </a:rPr>
                        <a:t>確認版</a:t>
                      </a: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extLst>
                  <a:ext uri="{0D108BD9-81ED-4DB2-BD59-A6C34878D82A}">
                    <a16:rowId xmlns:a16="http://schemas.microsoft.com/office/drawing/2014/main" val="10001"/>
                  </a:ext>
                </a:extLst>
              </a:tr>
              <a:tr h="504000">
                <a:tc vMerge="1">
                  <a:txBody>
                    <a:bodyPr/>
                    <a:lstStyle/>
                    <a:p>
                      <a:pPr marL="0" marR="0" lvl="0" indent="0" algn="l" rtl="0">
                        <a:lnSpc>
                          <a:spcPct val="166666"/>
                        </a:lnSpc>
                        <a:spcBef>
                          <a:spcPts val="0"/>
                        </a:spcBef>
                        <a:spcAft>
                          <a:spcPts val="0"/>
                        </a:spcAft>
                        <a:buNone/>
                      </a:pPr>
                      <a:endParaRPr sz="4100"/>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endParaRPr sz="1800" dirty="0"/>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l" defTabSz="1371600" rtl="0" eaLnBrk="1" fontAlgn="auto" latinLnBrk="0" hangingPunct="1">
                        <a:lnSpc>
                          <a:spcPct val="166666"/>
                        </a:lnSpc>
                        <a:spcBef>
                          <a:spcPts val="0"/>
                        </a:spcBef>
                        <a:spcAft>
                          <a:spcPts val="0"/>
                        </a:spcAft>
                        <a:buClrTx/>
                        <a:buSzTx/>
                        <a:buFontTx/>
                        <a:buNone/>
                        <a:tabLst/>
                        <a:defRPr/>
                      </a:pPr>
                      <a:endParaRPr lang="zh-TW" altLang="en-US" sz="1800" b="1"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a:txBody>
                    <a:bodyPr/>
                    <a:lstStyle/>
                    <a:p>
                      <a:pPr marL="0" marR="0" lvl="0" indent="0" algn="l" rtl="0">
                        <a:lnSpc>
                          <a:spcPct val="166666"/>
                        </a:lnSpc>
                        <a:spcBef>
                          <a:spcPts val="0"/>
                        </a:spcBef>
                        <a:spcAft>
                          <a:spcPts val="0"/>
                        </a:spcAft>
                        <a:buNone/>
                      </a:pPr>
                      <a:r>
                        <a:rPr lang="en-US" sz="1800" b="1" u="none" strike="noStrike" cap="none" dirty="0" err="1">
                          <a:solidFill>
                            <a:schemeClr val="dk1"/>
                          </a:solidFill>
                          <a:latin typeface="Microsoft JhengHei"/>
                          <a:ea typeface="Microsoft JhengHei"/>
                          <a:cs typeface="Microsoft JhengHei"/>
                          <a:sym typeface="Microsoft JhengHei"/>
                        </a:rPr>
                        <a:t>版本</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gridSpan="4">
                  <a:txBody>
                    <a:bodyPr/>
                    <a:lstStyle/>
                    <a:p>
                      <a:pPr marL="0" marR="0" lvl="0" indent="0" algn="l" rtl="0">
                        <a:lnSpc>
                          <a:spcPct val="166666"/>
                        </a:lnSpc>
                        <a:spcBef>
                          <a:spcPts val="0"/>
                        </a:spcBef>
                        <a:spcAft>
                          <a:spcPts val="0"/>
                        </a:spcAft>
                        <a:buNone/>
                      </a:pPr>
                      <a:r>
                        <a:rPr lang="en-US" sz="1800" b="1" u="none" strike="noStrike" cap="none" dirty="0">
                          <a:solidFill>
                            <a:schemeClr val="dk1"/>
                          </a:solidFill>
                          <a:latin typeface="Microsoft JhengHei"/>
                          <a:ea typeface="Microsoft JhengHei"/>
                          <a:cs typeface="Microsoft JhengHei"/>
                          <a:sym typeface="Microsoft JhengHei"/>
                        </a:rPr>
                        <a:t> v2.1</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10002"/>
                  </a:ext>
                </a:extLst>
              </a:tr>
            </a:tbl>
          </a:graphicData>
        </a:graphic>
      </p:graphicFrame>
      <p:graphicFrame>
        <p:nvGraphicFramePr>
          <p:cNvPr id="191" name="Google Shape;191;p2"/>
          <p:cNvGraphicFramePr/>
          <p:nvPr>
            <p:extLst>
              <p:ext uri="{D42A27DB-BD31-4B8C-83A1-F6EECF244321}">
                <p14:modId xmlns:p14="http://schemas.microsoft.com/office/powerpoint/2010/main" val="3644532040"/>
              </p:ext>
            </p:extLst>
          </p:nvPr>
        </p:nvGraphicFramePr>
        <p:xfrm>
          <a:off x="366270" y="3155451"/>
          <a:ext cx="17518775" cy="3024000"/>
        </p:xfrm>
        <a:graphic>
          <a:graphicData uri="http://schemas.openxmlformats.org/drawingml/2006/table">
            <a:tbl>
              <a:tblPr>
                <a:noFill/>
              </a:tblPr>
              <a:tblGrid>
                <a:gridCol w="2061420">
                  <a:extLst>
                    <a:ext uri="{9D8B030D-6E8A-4147-A177-3AD203B41FA5}">
                      <a16:colId xmlns:a16="http://schemas.microsoft.com/office/drawing/2014/main" val="2419195791"/>
                    </a:ext>
                  </a:extLst>
                </a:gridCol>
                <a:gridCol w="2061420">
                  <a:extLst>
                    <a:ext uri="{9D8B030D-6E8A-4147-A177-3AD203B41FA5}">
                      <a16:colId xmlns:a16="http://schemas.microsoft.com/office/drawing/2014/main" val="20000"/>
                    </a:ext>
                  </a:extLst>
                </a:gridCol>
                <a:gridCol w="8327988">
                  <a:extLst>
                    <a:ext uri="{9D8B030D-6E8A-4147-A177-3AD203B41FA5}">
                      <a16:colId xmlns:a16="http://schemas.microsoft.com/office/drawing/2014/main" val="20001"/>
                    </a:ext>
                  </a:extLst>
                </a:gridCol>
                <a:gridCol w="3270143">
                  <a:extLst>
                    <a:ext uri="{9D8B030D-6E8A-4147-A177-3AD203B41FA5}">
                      <a16:colId xmlns:a16="http://schemas.microsoft.com/office/drawing/2014/main" val="20002"/>
                    </a:ext>
                  </a:extLst>
                </a:gridCol>
                <a:gridCol w="1797804">
                  <a:extLst>
                    <a:ext uri="{9D8B030D-6E8A-4147-A177-3AD203B41FA5}">
                      <a16:colId xmlns:a16="http://schemas.microsoft.com/office/drawing/2014/main" val="20003"/>
                    </a:ext>
                  </a:extLst>
                </a:gridCol>
              </a:tblGrid>
              <a:tr h="428821">
                <a:tc rowSpan="6">
                  <a:txBody>
                    <a:bodyPr/>
                    <a:lstStyle/>
                    <a:p>
                      <a:pPr marL="0" marR="0" lvl="0" indent="0" algn="l" rtl="0">
                        <a:lnSpc>
                          <a:spcPct val="166666"/>
                        </a:lnSpc>
                        <a:spcBef>
                          <a:spcPts val="0"/>
                        </a:spcBef>
                        <a:spcAft>
                          <a:spcPts val="0"/>
                        </a:spcAft>
                        <a:buNone/>
                      </a:pPr>
                      <a:r>
                        <a:rPr lang="x-none"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文件版本</a:t>
                      </a:r>
                      <a:endParaRPr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版本號</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變更說明(修改內容說明)</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修改人</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日期</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extLst>
                  <a:ext uri="{0D108BD9-81ED-4DB2-BD59-A6C34878D82A}">
                    <a16:rowId xmlns:a16="http://schemas.microsoft.com/office/drawing/2014/main" val="10000"/>
                  </a:ext>
                </a:extLst>
              </a:tr>
              <a:tr h="590284">
                <a:tc vMerge="1">
                  <a:txBody>
                    <a:bodyPr/>
                    <a:lstStyle/>
                    <a:p>
                      <a:pPr marL="0" marR="0" lvl="0" indent="0" algn="l" rtl="0">
                        <a:lnSpc>
                          <a:spcPct val="166666"/>
                        </a:lnSpc>
                        <a:spcBef>
                          <a:spcPts val="0"/>
                        </a:spcBef>
                        <a:spcAft>
                          <a:spcPts val="0"/>
                        </a:spcAft>
                        <a:buNone/>
                      </a:pPr>
                      <a:endParaRPr sz="1800"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2.1</a:t>
                      </a:r>
                      <a:endParaRPr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a:lnSpc>
                          <a:spcPct val="166000"/>
                        </a:lnSpc>
                        <a:tabLst>
                          <a:tab pos="0" algn="l"/>
                        </a:tabLst>
                      </a:pPr>
                      <a:r>
                        <a:rPr lang="zh-TW" altLang="en-US" sz="1800" b="1" strike="noStrike" spc="-1" dirty="0">
                          <a:solidFill>
                            <a:srgbClr val="000000"/>
                          </a:solidFill>
                          <a:latin typeface="Microsoft JhengHei" panose="020B0604030504040204" pitchFamily="34" charset="-120"/>
                          <a:ea typeface="Microsoft JhengHei" panose="020B0604030504040204" pitchFamily="34" charset="-120"/>
                        </a:rPr>
                        <a:t>增加借料採購單流程</a:t>
                      </a: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0" algn="ctr" defTabSz="1371600" rtl="0" eaLnBrk="1" fontAlgn="auto" latinLnBrk="0" hangingPunct="1">
                        <a:lnSpc>
                          <a:spcPct val="166000"/>
                        </a:lnSpc>
                        <a:spcBef>
                          <a:spcPts val="0"/>
                        </a:spcBef>
                        <a:spcAft>
                          <a:spcPts val="0"/>
                        </a:spcAft>
                        <a:buClrTx/>
                        <a:buSzTx/>
                        <a:buFontTx/>
                        <a:buNone/>
                        <a:tabLst>
                          <a:tab pos="0" algn="l"/>
                        </a:tabLst>
                        <a:defRPr/>
                      </a:pPr>
                      <a:r>
                        <a:rPr lang="en-US" altLang="zh-TW" sz="1800" b="0" strike="noStrike" spc="-1" dirty="0">
                          <a:solidFill>
                            <a:schemeClr val="dk1"/>
                          </a:solidFill>
                          <a:latin typeface="Microsoft JhengHei"/>
                          <a:ea typeface="Microsoft JhengHei"/>
                        </a:rPr>
                        <a:t>Vincent</a:t>
                      </a:r>
                      <a:r>
                        <a:rPr lang="en-US" altLang="zh-TW" sz="1800" b="0" strike="noStrike" spc="-1" baseline="0" dirty="0">
                          <a:solidFill>
                            <a:schemeClr val="dk1"/>
                          </a:solidFill>
                          <a:latin typeface="Microsoft JhengHei"/>
                          <a:ea typeface="Microsoft JhengHei"/>
                        </a:rPr>
                        <a:t> Yeh</a:t>
                      </a:r>
                      <a:endParaRPr lang="en-US" altLang="zh-TW" sz="1800" b="0" strike="noStrike" spc="-1" dirty="0">
                        <a:solidFill>
                          <a:schemeClr val="dk1"/>
                        </a:solidFill>
                        <a:latin typeface="Microsoft JhengHei"/>
                        <a:ea typeface="Microsoft JhengHei"/>
                      </a:endParaRPr>
                    </a:p>
                  </a:txBody>
                  <a:tcP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algn="ctr">
                        <a:lnSpc>
                          <a:spcPct val="166000"/>
                        </a:lnSpc>
                        <a:tabLst>
                          <a:tab pos="0" algn="l"/>
                        </a:tabLst>
                      </a:pPr>
                      <a:r>
                        <a:rPr lang="en-US" sz="1800" b="1" strike="noStrike" spc="-1" dirty="0">
                          <a:solidFill>
                            <a:srgbClr val="000000"/>
                          </a:solidFill>
                          <a:latin typeface="Microsoft JhengHei" panose="020B0604030504040204" pitchFamily="34" charset="-120"/>
                          <a:ea typeface="Microsoft JhengHei" panose="020B0604030504040204" pitchFamily="34" charset="-120"/>
                        </a:rPr>
                        <a:t>2025/07/23</a:t>
                      </a:r>
                    </a:p>
                  </a:txBody>
                  <a:tcPr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extLst>
                  <a:ext uri="{0D108BD9-81ED-4DB2-BD59-A6C34878D82A}">
                    <a16:rowId xmlns:a16="http://schemas.microsoft.com/office/drawing/2014/main" val="10001"/>
                  </a:ext>
                </a:extLst>
              </a:tr>
              <a:tr h="524626">
                <a:tc vMerge="1">
                  <a:txBody>
                    <a:bodyPr/>
                    <a:lstStyle/>
                    <a:p>
                      <a:pPr marL="0" marR="0" lvl="0" indent="0" algn="l" defTabSz="914400" rtl="0" eaLnBrk="1" fontAlgn="auto" latinLnBrk="0" hangingPunct="1">
                        <a:lnSpc>
                          <a:spcPct val="166666"/>
                        </a:lnSpc>
                        <a:spcBef>
                          <a:spcPts val="0"/>
                        </a:spcBef>
                        <a:spcAft>
                          <a:spcPts val="0"/>
                        </a:spcAft>
                        <a:buClr>
                          <a:srgbClr val="000000"/>
                        </a:buClr>
                        <a:buSzTx/>
                        <a:buFont typeface="Arial"/>
                        <a:buNone/>
                        <a:tabLst/>
                        <a:defRPr/>
                      </a:pPr>
                      <a:endParaRPr lang="en-US" altLang="zh-TW" sz="1800" u="none" strike="noStrike" cap="none" dirty="0">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endParaRPr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algn="ct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algn="ctr">
                        <a:lnSpc>
                          <a:spcPct val="166000"/>
                        </a:lnSpc>
                        <a:tabLst>
                          <a:tab pos="0" algn="l"/>
                        </a:tabLst>
                      </a:pPr>
                      <a:endParaRPr lang="en-US" sz="1800" b="1" strike="noStrike" spc="-1">
                        <a:solidFill>
                          <a:srgbClr val="000000"/>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extLst>
                  <a:ext uri="{0D108BD9-81ED-4DB2-BD59-A6C34878D82A}">
                    <a16:rowId xmlns:a16="http://schemas.microsoft.com/office/drawing/2014/main" val="10002"/>
                  </a:ext>
                </a:extLst>
              </a:tr>
              <a:tr h="524626">
                <a:tc vMerge="1">
                  <a:txBody>
                    <a:bodyPr/>
                    <a:lstStyle/>
                    <a:p>
                      <a:pPr marL="0" marR="0" lvl="0" indent="0" algn="l" rtl="0">
                        <a:lnSpc>
                          <a:spcPct val="166666"/>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en-US" altLang="zh-TW"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algn="ct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algn="ct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a16="http://schemas.microsoft.com/office/drawing/2014/main" val="10003"/>
                  </a:ext>
                </a:extLst>
              </a:tr>
              <a:tr h="526822">
                <a:tc vMerge="1">
                  <a:txBody>
                    <a:bodyPr/>
                    <a:lstStyle/>
                    <a:p>
                      <a:pPr marL="0" marR="0" lvl="0" indent="0" algn="l" rtl="0">
                        <a:lnSpc>
                          <a:spcPct val="166666"/>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endParaRPr sz="1800"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endParaRPr lang="en-US" sz="1800" b="1" strike="noStrike" spc="-1" dirty="0">
                        <a:solidFill>
                          <a:schemeClr val="dk1"/>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zh-TW" altLang="en-US" sz="1800" b="1" i="0" u="none" strike="noStrike" cap="none" dirty="0">
                        <a:solidFill>
                          <a:schemeClr val="dk1"/>
                        </a:solidFill>
                        <a:latin typeface="Microsoft JhengHei" panose="020B0604030504040204" pitchFamily="34" charset="-120"/>
                        <a:ea typeface="Microsoft JhengHei" panose="020B0604030504040204" pitchFamily="34" charset="-120"/>
                        <a:cs typeface="Arial"/>
                        <a:sym typeface="Microsoft JhengHei"/>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algn="ctr"/>
                      <a:endParaRPr lang="en-US" sz="1800" b="1" strike="noStrike" spc="-1" dirty="0">
                        <a:solidFill>
                          <a:schemeClr val="dk1"/>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extLst>
                  <a:ext uri="{0D108BD9-81ED-4DB2-BD59-A6C34878D82A}">
                    <a16:rowId xmlns:a16="http://schemas.microsoft.com/office/drawing/2014/main" val="10004"/>
                  </a:ext>
                </a:extLst>
              </a:tr>
              <a:tr h="428821">
                <a:tc vMerge="1">
                  <a:txBody>
                    <a:bodyPr/>
                    <a:lstStyle/>
                    <a:p>
                      <a:pPr marL="0" marR="0" lvl="0" indent="0" algn="l" rtl="0">
                        <a:lnSpc>
                          <a:spcPct val="166666"/>
                        </a:lnSpc>
                        <a:spcBef>
                          <a:spcPts val="0"/>
                        </a:spcBef>
                        <a:spcAft>
                          <a:spcPts val="0"/>
                        </a:spcAft>
                        <a:buNone/>
                      </a:pP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en-US" altLang="zh-TW"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endParaRPr sz="1800" b="1" u="none" strike="noStrike" cap="none" dirty="0">
                        <a:solidFill>
                          <a:schemeClr val="dk1"/>
                        </a:solidFill>
                        <a:latin typeface="Microsoft JhengHei" panose="020B0604030504040204" pitchFamily="34" charset="-120"/>
                        <a:ea typeface="Microsoft JhengHei" panose="020B0604030504040204" pitchFamily="34" charset="-120"/>
                        <a:cs typeface="Arial"/>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7CC"/>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zh-TW" altLang="en-US" sz="1800" b="1" i="0" u="none" strike="noStrike" cap="none" dirty="0">
                        <a:solidFill>
                          <a:schemeClr val="dk1"/>
                        </a:solidFill>
                        <a:latin typeface="Microsoft JhengHei" panose="020B0604030504040204" pitchFamily="34" charset="-120"/>
                        <a:ea typeface="Microsoft JhengHei" panose="020B0604030504040204" pitchFamily="34" charset="-120"/>
                        <a:cs typeface="Arial"/>
                        <a:sym typeface="Microsoft JhengHei"/>
                      </a:endParaRPr>
                    </a:p>
                  </a:txBody>
                  <a:tcPr marL="0" marR="0"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7CC"/>
                    </a:solidFill>
                  </a:tcPr>
                </a:tc>
                <a:tc>
                  <a:txBody>
                    <a:bodyPr/>
                    <a:lstStyle/>
                    <a:p>
                      <a:pPr marL="0" marR="0" lvl="0" indent="0" algn="ctr" rtl="0">
                        <a:spcBef>
                          <a:spcPts val="0"/>
                        </a:spcBef>
                        <a:spcAft>
                          <a:spcPts val="0"/>
                        </a:spcAft>
                        <a:buNone/>
                      </a:pPr>
                      <a:endParaRPr sz="1800" b="1" i="0" u="none" strike="noStrike" cap="none" dirty="0">
                        <a:solidFill>
                          <a:srgbClr val="000000"/>
                        </a:solidFill>
                        <a:latin typeface="Microsoft JhengHei" panose="020B0604030504040204" pitchFamily="34" charset="-120"/>
                        <a:ea typeface="Microsoft JhengHei" panose="020B0604030504040204" pitchFamily="34" charset="-120"/>
                        <a:cs typeface="Arial"/>
                        <a:sym typeface="Microsoft JhengHei"/>
                      </a:endParaRPr>
                    </a:p>
                  </a:txBody>
                  <a:tcPr marL="0" marR="0" marT="0" marB="0"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7CC"/>
                    </a:solidFill>
                  </a:tcPr>
                </a:tc>
                <a:extLst>
                  <a:ext uri="{0D108BD9-81ED-4DB2-BD59-A6C34878D82A}">
                    <a16:rowId xmlns:a16="http://schemas.microsoft.com/office/drawing/2014/main" val="1342071289"/>
                  </a:ext>
                </a:extLst>
              </a:tr>
            </a:tbl>
          </a:graphicData>
        </a:graphic>
      </p:graphicFrame>
      <p:graphicFrame>
        <p:nvGraphicFramePr>
          <p:cNvPr id="192" name="Google Shape;192;p2"/>
          <p:cNvGraphicFramePr/>
          <p:nvPr>
            <p:extLst>
              <p:ext uri="{D42A27DB-BD31-4B8C-83A1-F6EECF244321}">
                <p14:modId xmlns:p14="http://schemas.microsoft.com/office/powerpoint/2010/main" val="2853513147"/>
              </p:ext>
            </p:extLst>
          </p:nvPr>
        </p:nvGraphicFramePr>
        <p:xfrm>
          <a:off x="366269" y="6255393"/>
          <a:ext cx="17518780" cy="504000"/>
        </p:xfrm>
        <a:graphic>
          <a:graphicData uri="http://schemas.openxmlformats.org/drawingml/2006/table">
            <a:tbl>
              <a:tblPr>
                <a:noFill/>
              </a:tblPr>
              <a:tblGrid>
                <a:gridCol w="2061420">
                  <a:extLst>
                    <a:ext uri="{9D8B030D-6E8A-4147-A177-3AD203B41FA5}">
                      <a16:colId xmlns:a16="http://schemas.microsoft.com/office/drawing/2014/main" val="2993713426"/>
                    </a:ext>
                  </a:extLst>
                </a:gridCol>
                <a:gridCol w="2066819">
                  <a:extLst>
                    <a:ext uri="{9D8B030D-6E8A-4147-A177-3AD203B41FA5}">
                      <a16:colId xmlns:a16="http://schemas.microsoft.com/office/drawing/2014/main" val="20000"/>
                    </a:ext>
                  </a:extLst>
                </a:gridCol>
                <a:gridCol w="1797521">
                  <a:extLst>
                    <a:ext uri="{9D8B030D-6E8A-4147-A177-3AD203B41FA5}">
                      <a16:colId xmlns:a16="http://schemas.microsoft.com/office/drawing/2014/main" val="20001"/>
                    </a:ext>
                  </a:extLst>
                </a:gridCol>
                <a:gridCol w="1932170">
                  <a:extLst>
                    <a:ext uri="{9D8B030D-6E8A-4147-A177-3AD203B41FA5}">
                      <a16:colId xmlns:a16="http://schemas.microsoft.com/office/drawing/2014/main" val="20002"/>
                    </a:ext>
                  </a:extLst>
                </a:gridCol>
                <a:gridCol w="1932170">
                  <a:extLst>
                    <a:ext uri="{9D8B030D-6E8A-4147-A177-3AD203B41FA5}">
                      <a16:colId xmlns:a16="http://schemas.microsoft.com/office/drawing/2014/main" val="20003"/>
                    </a:ext>
                  </a:extLst>
                </a:gridCol>
                <a:gridCol w="1932170">
                  <a:extLst>
                    <a:ext uri="{9D8B030D-6E8A-4147-A177-3AD203B41FA5}">
                      <a16:colId xmlns:a16="http://schemas.microsoft.com/office/drawing/2014/main" val="20004"/>
                    </a:ext>
                  </a:extLst>
                </a:gridCol>
                <a:gridCol w="1932170">
                  <a:extLst>
                    <a:ext uri="{9D8B030D-6E8A-4147-A177-3AD203B41FA5}">
                      <a16:colId xmlns:a16="http://schemas.microsoft.com/office/drawing/2014/main" val="20005"/>
                    </a:ext>
                  </a:extLst>
                </a:gridCol>
                <a:gridCol w="1932170">
                  <a:extLst>
                    <a:ext uri="{9D8B030D-6E8A-4147-A177-3AD203B41FA5}">
                      <a16:colId xmlns:a16="http://schemas.microsoft.com/office/drawing/2014/main" val="20006"/>
                    </a:ext>
                  </a:extLst>
                </a:gridCol>
                <a:gridCol w="1932170">
                  <a:extLst>
                    <a:ext uri="{9D8B030D-6E8A-4147-A177-3AD203B41FA5}">
                      <a16:colId xmlns:a16="http://schemas.microsoft.com/office/drawing/2014/main" val="20007"/>
                    </a:ext>
                  </a:extLst>
                </a:gridCol>
              </a:tblGrid>
              <a:tr h="504000">
                <a:tc>
                  <a:txBody>
                    <a:bodyPr/>
                    <a:lstStyle/>
                    <a:p>
                      <a:pPr marL="0" marR="0" lvl="0" indent="0" algn="l" rtl="0">
                        <a:lnSpc>
                          <a:spcPct val="150000"/>
                        </a:lnSpc>
                        <a:spcBef>
                          <a:spcPts val="0"/>
                        </a:spcBef>
                        <a:spcAft>
                          <a:spcPts val="0"/>
                        </a:spcAft>
                        <a:buNone/>
                      </a:pPr>
                      <a:r>
                        <a:rPr lang="x-none" sz="1800" b="1" u="none" strike="noStrike" cap="none">
                          <a:solidFill>
                            <a:schemeClr val="lt1"/>
                          </a:solidFill>
                          <a:latin typeface="Microsoft JhengHei"/>
                          <a:ea typeface="Microsoft JhengHei"/>
                          <a:cs typeface="Microsoft JhengHei"/>
                          <a:sym typeface="Microsoft JhengHei"/>
                        </a:rPr>
                        <a:t>機密等級</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極機密</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機密</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內部使用</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V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一般</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extLst>
                  <a:ext uri="{0D108BD9-81ED-4DB2-BD59-A6C34878D82A}">
                    <a16:rowId xmlns:a16="http://schemas.microsoft.com/office/drawing/2014/main" val="10000"/>
                  </a:ext>
                </a:extLst>
              </a:tr>
            </a:tbl>
          </a:graphicData>
        </a:graphic>
      </p:graphicFrame>
      <p:graphicFrame>
        <p:nvGraphicFramePr>
          <p:cNvPr id="193" name="Google Shape;193;p2"/>
          <p:cNvGraphicFramePr/>
          <p:nvPr>
            <p:extLst>
              <p:ext uri="{D42A27DB-BD31-4B8C-83A1-F6EECF244321}">
                <p14:modId xmlns:p14="http://schemas.microsoft.com/office/powerpoint/2010/main" val="787786542"/>
              </p:ext>
            </p:extLst>
          </p:nvPr>
        </p:nvGraphicFramePr>
        <p:xfrm>
          <a:off x="366270" y="6835335"/>
          <a:ext cx="17518773" cy="3024000"/>
        </p:xfrm>
        <a:graphic>
          <a:graphicData uri="http://schemas.openxmlformats.org/drawingml/2006/table">
            <a:tbl>
              <a:tblPr>
                <a:noFill/>
              </a:tblPr>
              <a:tblGrid>
                <a:gridCol w="2045751">
                  <a:extLst>
                    <a:ext uri="{9D8B030D-6E8A-4147-A177-3AD203B41FA5}">
                      <a16:colId xmlns:a16="http://schemas.microsoft.com/office/drawing/2014/main" val="1293584311"/>
                    </a:ext>
                  </a:extLst>
                </a:gridCol>
                <a:gridCol w="2066989">
                  <a:extLst>
                    <a:ext uri="{9D8B030D-6E8A-4147-A177-3AD203B41FA5}">
                      <a16:colId xmlns:a16="http://schemas.microsoft.com/office/drawing/2014/main" val="20000"/>
                    </a:ext>
                  </a:extLst>
                </a:gridCol>
                <a:gridCol w="8024943">
                  <a:extLst>
                    <a:ext uri="{9D8B030D-6E8A-4147-A177-3AD203B41FA5}">
                      <a16:colId xmlns:a16="http://schemas.microsoft.com/office/drawing/2014/main" val="20001"/>
                    </a:ext>
                  </a:extLst>
                </a:gridCol>
                <a:gridCol w="2861625">
                  <a:extLst>
                    <a:ext uri="{9D8B030D-6E8A-4147-A177-3AD203B41FA5}">
                      <a16:colId xmlns:a16="http://schemas.microsoft.com/office/drawing/2014/main" val="20002"/>
                    </a:ext>
                  </a:extLst>
                </a:gridCol>
                <a:gridCol w="2519465">
                  <a:extLst>
                    <a:ext uri="{9D8B030D-6E8A-4147-A177-3AD203B41FA5}">
                      <a16:colId xmlns:a16="http://schemas.microsoft.com/office/drawing/2014/main" val="20003"/>
                    </a:ext>
                  </a:extLst>
                </a:gridCol>
              </a:tblGrid>
              <a:tr h="504000">
                <a:tc rowSpan="6">
                  <a:txBody>
                    <a:bodyPr/>
                    <a:lstStyle/>
                    <a:p>
                      <a:pPr marL="0" marR="0" lvl="0" indent="0" algn="l" rtl="0">
                        <a:lnSpc>
                          <a:spcPct val="166666"/>
                        </a:lnSpc>
                        <a:spcBef>
                          <a:spcPts val="0"/>
                        </a:spcBef>
                        <a:spcAft>
                          <a:spcPts val="0"/>
                        </a:spcAft>
                        <a:buNone/>
                      </a:pPr>
                      <a:r>
                        <a:rPr lang="x-none" sz="1800" b="1" u="none" strike="noStrike" cap="none" dirty="0">
                          <a:solidFill>
                            <a:schemeClr val="lt1"/>
                          </a:solidFill>
                          <a:latin typeface="Microsoft JhengHei"/>
                          <a:ea typeface="Microsoft JhengHei"/>
                          <a:cs typeface="Microsoft JhengHei"/>
                          <a:sym typeface="Microsoft JhengHei"/>
                        </a:rPr>
                        <a:t>審批</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角色</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姓名 與 職稱</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簽名</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日期</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extLst>
                  <a:ext uri="{0D108BD9-81ED-4DB2-BD59-A6C34878D82A}">
                    <a16:rowId xmlns:a16="http://schemas.microsoft.com/office/drawing/2014/main" val="10000"/>
                  </a:ext>
                </a:extLst>
              </a:tr>
              <a:tr h="504000">
                <a:tc vMerge="1">
                  <a:txBody>
                    <a:bodyPr/>
                    <a:lstStyle/>
                    <a:p>
                      <a:pPr marL="0" marR="0" lvl="0" indent="0" algn="l" rtl="0">
                        <a:lnSpc>
                          <a:spcPct val="166666"/>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專案顧問</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chemeClr val="bg1"/>
                      </a:solidFill>
                      <a:prstDash val="solid"/>
                      <a:round/>
                      <a:headEnd type="none" w="med" len="med"/>
                      <a:tailEnd type="none" w="med" len="med"/>
                    </a:lnB>
                    <a:solidFill>
                      <a:srgbClr val="ED7D31"/>
                    </a:solidFill>
                  </a:tcPr>
                </a:tc>
                <a:tc>
                  <a:txBody>
                    <a:bodyPr/>
                    <a:lstStyle/>
                    <a:p>
                      <a:pPr marL="0" marR="0" lvl="0" indent="0" algn="l" defTabSz="914400" rtl="0" eaLnBrk="1" fontAlgn="auto" latinLnBrk="0" hangingPunct="1">
                        <a:lnSpc>
                          <a:spcPct val="166666"/>
                        </a:lnSpc>
                        <a:spcBef>
                          <a:spcPts val="0"/>
                        </a:spcBef>
                        <a:spcAft>
                          <a:spcPts val="0"/>
                        </a:spcAft>
                        <a:buClr>
                          <a:srgbClr val="000000"/>
                        </a:buClr>
                        <a:buSzTx/>
                        <a:buFont typeface="Arial"/>
                        <a:buNone/>
                        <a:tabLst/>
                        <a:defRPr/>
                      </a:pPr>
                      <a:r>
                        <a:rPr lang="en-US" altLang="zh-TW" sz="1800" b="0" strike="noStrike" spc="-1" dirty="0">
                          <a:solidFill>
                            <a:schemeClr val="dk1"/>
                          </a:solidFill>
                          <a:latin typeface="Microsoft JhengHei"/>
                          <a:ea typeface="Microsoft JhengHei"/>
                        </a:rPr>
                        <a:t>Robert</a:t>
                      </a:r>
                      <a:endParaRPr sz="1800" b="1" i="0" u="none" strike="noStrike" cap="none" dirty="0">
                        <a:solidFill>
                          <a:schemeClr val="dk1"/>
                        </a:solidFill>
                        <a:latin typeface="Microsoft JhengHei"/>
                        <a:ea typeface="Microsoft JhengHei"/>
                        <a:cs typeface="Arial"/>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a16="http://schemas.microsoft.com/office/drawing/2014/main" val="10001"/>
                  </a:ext>
                </a:extLst>
              </a:tr>
              <a:tr h="504000">
                <a:tc vMerge="1">
                  <a:txBody>
                    <a:bodyPr/>
                    <a:lstStyle/>
                    <a:p>
                      <a:endParaRPr lang="zh-TW" altLang="en-US"/>
                    </a:p>
                  </a:txBody>
                  <a:tcPr>
                    <a:lnT w="12700" cap="flat" cmpd="sng" algn="ctr">
                      <a:solidFill>
                        <a:srgbClr val="FFFFFF"/>
                      </a:solidFill>
                      <a:prstDash val="solid"/>
                      <a:round/>
                      <a:headEnd type="none" w="sm" len="sm"/>
                      <a:tailEnd type="none" w="sm" len="sm"/>
                    </a:lnT>
                  </a:tcPr>
                </a:tc>
                <a:tc>
                  <a:txBody>
                    <a:bodyPr/>
                    <a:lstStyle/>
                    <a:p>
                      <a:pPr marL="0" marR="0" lvl="0" indent="0" algn="ctr" rtl="0">
                        <a:lnSpc>
                          <a:spcPct val="100000"/>
                        </a:lnSpc>
                        <a:spcBef>
                          <a:spcPts val="0"/>
                        </a:spcBef>
                        <a:spcAft>
                          <a:spcPts val="0"/>
                        </a:spcAft>
                        <a:buNone/>
                      </a:pPr>
                      <a:r>
                        <a:rPr lang="x-none" sz="1800" b="1" u="none" strike="noStrike" cap="none" dirty="0">
                          <a:solidFill>
                            <a:schemeClr val="lt1"/>
                          </a:solidFill>
                          <a:latin typeface="Microsoft JhengHei"/>
                          <a:ea typeface="Microsoft JhengHei"/>
                          <a:cs typeface="Microsoft JhengHei"/>
                          <a:sym typeface="Microsoft JhengHei"/>
                        </a:rPr>
                        <a:t>關鍵使用者</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D7D31"/>
                    </a:solidFill>
                  </a:tcPr>
                </a:tc>
                <a:tc>
                  <a:txBody>
                    <a:bodyPr/>
                    <a:lstStyle/>
                    <a:p>
                      <a:pPr marL="0" marR="0" lvl="0" indent="0" algn="l" defTabSz="914400" rtl="0" eaLnBrk="1" fontAlgn="auto" latinLnBrk="0" hangingPunct="1">
                        <a:lnSpc>
                          <a:spcPct val="166666"/>
                        </a:lnSpc>
                        <a:spcBef>
                          <a:spcPts val="0"/>
                        </a:spcBef>
                        <a:spcAft>
                          <a:spcPts val="0"/>
                        </a:spcAft>
                        <a:buClr>
                          <a:srgbClr val="000000"/>
                        </a:buClr>
                        <a:buSzTx/>
                        <a:buFont typeface="Arial"/>
                        <a:buNone/>
                        <a:tabLst/>
                        <a:defRPr/>
                      </a:pPr>
                      <a:endParaRPr lang="en-US" altLang="zh-TW" sz="1800" b="1" i="0"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extLst>
                  <a:ext uri="{0D108BD9-81ED-4DB2-BD59-A6C34878D82A}">
                    <a16:rowId xmlns:a16="http://schemas.microsoft.com/office/drawing/2014/main" val="2466057711"/>
                  </a:ext>
                </a:extLst>
              </a:tr>
              <a:tr h="504000">
                <a:tc vMerge="1">
                  <a:txBody>
                    <a:bodyPr/>
                    <a:lstStyle/>
                    <a:p>
                      <a:pPr marL="0" marR="0" lvl="0" indent="0" algn="l" rtl="0">
                        <a:lnSpc>
                          <a:spcPct val="100000"/>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00000"/>
                        </a:lnSpc>
                        <a:spcBef>
                          <a:spcPts val="0"/>
                        </a:spcBef>
                        <a:spcAft>
                          <a:spcPts val="0"/>
                        </a:spcAft>
                        <a:buNone/>
                      </a:pPr>
                      <a:r>
                        <a:rPr lang="en-US" sz="1800" b="1" u="none" strike="noStrike" cap="none" dirty="0" err="1">
                          <a:solidFill>
                            <a:schemeClr val="lt1"/>
                          </a:solidFill>
                          <a:latin typeface="Microsoft JhengHei"/>
                          <a:ea typeface="Microsoft JhengHei"/>
                          <a:cs typeface="Microsoft JhengHei"/>
                          <a:sym typeface="Microsoft JhengHei"/>
                        </a:rPr>
                        <a:t>流程負責人</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chemeClr val="bg1"/>
                      </a:solidFill>
                      <a:prstDash val="solid"/>
                      <a:round/>
                      <a:headEnd type="none" w="med" len="med"/>
                      <a:tailEnd type="none" w="med" len="med"/>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l" defTabSz="914400" rtl="0" eaLnBrk="1" fontAlgn="auto" latinLnBrk="0" hangingPunct="1">
                        <a:lnSpc>
                          <a:spcPct val="166666"/>
                        </a:lnSpc>
                        <a:spcBef>
                          <a:spcPts val="0"/>
                        </a:spcBef>
                        <a:spcAft>
                          <a:spcPts val="0"/>
                        </a:spcAft>
                        <a:buClr>
                          <a:srgbClr val="000000"/>
                        </a:buClr>
                        <a:buSzTx/>
                        <a:buFont typeface="Arial"/>
                        <a:buNone/>
                        <a:tabLst/>
                        <a:defRPr/>
                      </a:pPr>
                      <a:endParaRPr lang="en-US" altLang="zh-TW" sz="1800" b="1" i="0"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dirty="0">
                          <a:latin typeface="Microsoft JhengHei"/>
                          <a:ea typeface="Microsoft JhengHei"/>
                          <a:cs typeface="Microsoft JhengHei"/>
                          <a:sym typeface="Microsoft JhengHei"/>
                        </a:rPr>
                        <a:t> </a:t>
                      </a: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dirty="0">
                          <a:latin typeface="Microsoft JhengHei"/>
                          <a:ea typeface="Microsoft JhengHei"/>
                          <a:cs typeface="Microsoft JhengHei"/>
                          <a:sym typeface="Microsoft JhengHei"/>
                        </a:rPr>
                        <a:t> </a:t>
                      </a:r>
                      <a:endParaRPr sz="1800" u="none" strike="noStrike" cap="none"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a16="http://schemas.microsoft.com/office/drawing/2014/main" val="10003"/>
                  </a:ext>
                </a:extLst>
              </a:tr>
              <a:tr h="504000">
                <a:tc vMerge="1">
                  <a:txBody>
                    <a:bodyPr/>
                    <a:lstStyle/>
                    <a:p>
                      <a:pPr marL="0" marR="0" lvl="0" indent="0" algn="l" rtl="0">
                        <a:lnSpc>
                          <a:spcPct val="100000"/>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00000"/>
                        </a:lnSpc>
                        <a:spcBef>
                          <a:spcPts val="0"/>
                        </a:spcBef>
                        <a:spcAft>
                          <a:spcPts val="0"/>
                        </a:spcAft>
                        <a:buNone/>
                      </a:pPr>
                      <a:r>
                        <a:rPr lang="en-US" sz="1800" b="1" u="none" strike="noStrike" cap="none" dirty="0" err="1">
                          <a:solidFill>
                            <a:schemeClr val="lt1"/>
                          </a:solidFill>
                          <a:latin typeface="Microsoft JhengHei"/>
                          <a:ea typeface="Microsoft JhengHei"/>
                          <a:cs typeface="Microsoft JhengHei"/>
                          <a:sym typeface="Microsoft JhengHei"/>
                        </a:rPr>
                        <a:t>資訊單位</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l" defTabSz="914400" rtl="0" eaLnBrk="1" fontAlgn="auto" latinLnBrk="0" hangingPunct="1">
                        <a:lnSpc>
                          <a:spcPct val="166666"/>
                        </a:lnSpc>
                        <a:spcBef>
                          <a:spcPts val="0"/>
                        </a:spcBef>
                        <a:spcAft>
                          <a:spcPts val="0"/>
                        </a:spcAft>
                        <a:buClr>
                          <a:srgbClr val="000000"/>
                        </a:buClr>
                        <a:buSzTx/>
                        <a:buFont typeface="Arial"/>
                        <a:buNone/>
                        <a:tabLst/>
                        <a:defRPr/>
                      </a:pPr>
                      <a:r>
                        <a:rPr lang="zh-TW" altLang="en-US" sz="1800" b="0" strike="noStrike" spc="-1" dirty="0">
                          <a:solidFill>
                            <a:srgbClr val="000000"/>
                          </a:solidFill>
                          <a:latin typeface="Microsoft JhengHei"/>
                          <a:ea typeface="Microsoft JhengHei"/>
                        </a:rPr>
                        <a:t>余哲 </a:t>
                      </a:r>
                      <a:r>
                        <a:rPr lang="en-US" sz="1800" b="0" strike="noStrike" spc="-1" dirty="0">
                          <a:solidFill>
                            <a:srgbClr val="000000"/>
                          </a:solidFill>
                          <a:latin typeface="Microsoft JhengHei"/>
                          <a:ea typeface="Microsoft JhengHei"/>
                        </a:rPr>
                        <a:t>Mark Yu</a:t>
                      </a:r>
                      <a:endParaRPr sz="1800" b="1" i="0" u="none" strike="noStrike" cap="none" dirty="0">
                        <a:solidFill>
                          <a:schemeClr val="dk1"/>
                        </a:solidFill>
                        <a:latin typeface="Microsoft JhengHei"/>
                        <a:ea typeface="Microsoft JhengHei"/>
                        <a:cs typeface="Arial"/>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a:txBody>
                    <a:bodyPr/>
                    <a:lstStyle/>
                    <a:p>
                      <a:pPr marL="0" marR="0" lvl="0" indent="279400" algn="ctr" rtl="0">
                        <a:lnSpc>
                          <a:spcPct val="100000"/>
                        </a:lnSpc>
                        <a:spcBef>
                          <a:spcPts val="0"/>
                        </a:spcBef>
                        <a:spcAft>
                          <a:spcPts val="0"/>
                        </a:spcAft>
                        <a:buNone/>
                      </a:pPr>
                      <a:endParaRPr sz="1800" u="none" strike="noStrike" cap="none">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a:txBody>
                    <a:bodyPr/>
                    <a:lstStyle/>
                    <a:p>
                      <a:pPr marL="0" marR="0" lvl="0" indent="279400" algn="ctr" rtl="0">
                        <a:lnSpc>
                          <a:spcPct val="100000"/>
                        </a:lnSpc>
                        <a:spcBef>
                          <a:spcPts val="0"/>
                        </a:spcBef>
                        <a:spcAft>
                          <a:spcPts val="0"/>
                        </a:spcAft>
                        <a:buNone/>
                      </a:pPr>
                      <a:endParaRPr sz="1800" u="none" strike="noStrike" cap="none">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extLst>
                  <a:ext uri="{0D108BD9-81ED-4DB2-BD59-A6C34878D82A}">
                    <a16:rowId xmlns:a16="http://schemas.microsoft.com/office/drawing/2014/main" val="10004"/>
                  </a:ext>
                </a:extLst>
              </a:tr>
              <a:tr h="504000">
                <a:tc vMerge="1">
                  <a:txBody>
                    <a:bodyPr/>
                    <a:lstStyle/>
                    <a:p>
                      <a:pPr marL="0" marR="0" lvl="0" indent="0" algn="l" rtl="0">
                        <a:lnSpc>
                          <a:spcPct val="100000"/>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0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專案經理</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l" defTabSz="914400" rtl="0" eaLnBrk="1" fontAlgn="auto" latinLnBrk="0" hangingPunct="1">
                        <a:lnSpc>
                          <a:spcPct val="166666"/>
                        </a:lnSpc>
                        <a:spcBef>
                          <a:spcPts val="0"/>
                        </a:spcBef>
                        <a:spcAft>
                          <a:spcPts val="0"/>
                        </a:spcAft>
                        <a:buClr>
                          <a:srgbClr val="000000"/>
                        </a:buClr>
                        <a:buSzTx/>
                        <a:buFont typeface="Arial"/>
                        <a:buNone/>
                        <a:tabLst/>
                        <a:defRPr/>
                      </a:pPr>
                      <a:r>
                        <a:rPr lang="zh-TW" altLang="en-US" sz="1800" b="1" i="0" u="none" strike="noStrike" cap="none" dirty="0">
                          <a:solidFill>
                            <a:schemeClr val="dk1"/>
                          </a:solidFill>
                          <a:latin typeface="Microsoft JhengHei"/>
                          <a:ea typeface="Microsoft JhengHei"/>
                          <a:cs typeface="Arial"/>
                          <a:sym typeface="Arial"/>
                        </a:rPr>
                        <a:t>蘇靖之 </a:t>
                      </a:r>
                      <a:r>
                        <a:rPr lang="en-US" altLang="zh-TW" sz="1800" b="1" i="0" u="none" strike="noStrike" cap="none" dirty="0" err="1">
                          <a:solidFill>
                            <a:schemeClr val="dk1"/>
                          </a:solidFill>
                          <a:latin typeface="Microsoft JhengHei"/>
                          <a:ea typeface="Microsoft JhengHei"/>
                          <a:cs typeface="Arial"/>
                          <a:sym typeface="Arial"/>
                        </a:rPr>
                        <a:t>Giovenni</a:t>
                      </a:r>
                      <a:r>
                        <a:rPr lang="en-US" altLang="zh-TW" sz="1800" b="1" i="0" u="none" strike="noStrike" cap="none" dirty="0">
                          <a:solidFill>
                            <a:schemeClr val="dk1"/>
                          </a:solidFill>
                          <a:latin typeface="Microsoft JhengHei"/>
                          <a:ea typeface="Microsoft JhengHei"/>
                          <a:cs typeface="Arial"/>
                          <a:sym typeface="Arial"/>
                        </a:rPr>
                        <a:t> </a:t>
                      </a:r>
                      <a:r>
                        <a:rPr lang="en-US" altLang="zh-TW" sz="1800" b="1" i="0" u="none" strike="noStrike" cap="none" dirty="0" err="1">
                          <a:solidFill>
                            <a:schemeClr val="dk1"/>
                          </a:solidFill>
                          <a:latin typeface="Microsoft JhengHei"/>
                          <a:ea typeface="Microsoft JhengHei"/>
                          <a:cs typeface="Arial"/>
                          <a:sym typeface="Arial"/>
                        </a:rPr>
                        <a:t>Su</a:t>
                      </a:r>
                      <a:r>
                        <a:rPr lang="en-US" sz="1800" b="1" i="0" u="none" strike="noStrike" cap="none" dirty="0">
                          <a:solidFill>
                            <a:schemeClr val="dk1"/>
                          </a:solidFill>
                          <a:latin typeface="Microsoft JhengHei"/>
                          <a:ea typeface="Microsoft JhengHei"/>
                          <a:cs typeface="Arial"/>
                          <a:sym typeface="Microsoft JhengHei"/>
                        </a:rPr>
                        <a:t> </a:t>
                      </a:r>
                      <a:endParaRPr sz="1800" b="1" i="0" u="none" strike="noStrike" cap="none" dirty="0">
                        <a:solidFill>
                          <a:schemeClr val="dk1"/>
                        </a:solidFill>
                        <a:latin typeface="Microsoft JhengHei"/>
                        <a:ea typeface="Microsoft JhengHei"/>
                        <a:cs typeface="Arial"/>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a:latin typeface="Microsoft JhengHei"/>
                          <a:ea typeface="Microsoft JhengHei"/>
                          <a:cs typeface="Microsoft JhengHei"/>
                          <a:sym typeface="Microsoft JhengHei"/>
                        </a:rPr>
                        <a:t> </a:t>
                      </a:r>
                      <a:endParaRPr sz="1800" u="none" strike="noStrike" cap="none">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dirty="0">
                          <a:latin typeface="Microsoft JhengHei"/>
                          <a:ea typeface="Microsoft JhengHei"/>
                          <a:cs typeface="Microsoft JhengHei"/>
                          <a:sym typeface="Microsoft JhengHei"/>
                        </a:rPr>
                        <a:t> </a:t>
                      </a:r>
                      <a:endParaRPr sz="1800" u="none" strike="noStrike" cap="none"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a16="http://schemas.microsoft.com/office/drawing/2014/main" val="10005"/>
                  </a:ext>
                </a:extLst>
              </a:tr>
            </a:tbl>
          </a:graphicData>
        </a:graphic>
      </p:graphicFrame>
      <p:sp>
        <p:nvSpPr>
          <p:cNvPr id="2" name="TextBox 1">
            <a:extLst>
              <a:ext uri="{FF2B5EF4-FFF2-40B4-BE49-F238E27FC236}">
                <a16:creationId xmlns:a16="http://schemas.microsoft.com/office/drawing/2014/main" id="{632BD657-D42C-B5C5-74AF-5218C346A770}"/>
              </a:ext>
            </a:extLst>
          </p:cNvPr>
          <p:cNvSpPr txBox="1"/>
          <p:nvPr/>
        </p:nvSpPr>
        <p:spPr>
          <a:xfrm>
            <a:off x="2445230" y="662810"/>
            <a:ext cx="8244896" cy="625620"/>
          </a:xfrm>
          <a:prstGeom prst="rect">
            <a:avLst/>
          </a:prstGeom>
          <a:noFill/>
        </p:spPr>
        <p:txBody>
          <a:bodyPr wrap="square" rtlCol="0" anchor="ctr">
            <a:spAutoFit/>
          </a:bodyPr>
          <a:lstStyle>
            <a:defPPr>
              <a:defRPr lang="en-US"/>
            </a:defPPr>
            <a:lvl1pPr>
              <a:lnSpc>
                <a:spcPct val="166666"/>
              </a:lnSpc>
              <a:defRPr sz="2000" b="1">
                <a:solidFill>
                  <a:schemeClr val="dk1"/>
                </a:solidFill>
                <a:latin typeface="Microsoft JhengHei"/>
                <a:ea typeface="Microsoft JhengHei"/>
                <a:cs typeface="Microsoft JhengHei"/>
              </a:defRPr>
            </a:lvl1pPr>
          </a:lstStyle>
          <a:p>
            <a:r>
              <a:rPr lang="en-US" altLang="zh-TW" sz="2400" dirty="0"/>
              <a:t>MM-PU-0030</a:t>
            </a:r>
            <a:r>
              <a:rPr lang="zh-TW" altLang="en-US" sz="2400" dirty="0"/>
              <a:t>庫存類請採流程</a:t>
            </a:r>
            <a:endParaRPr lang="zh-TW" altLang="en-US" dirty="0"/>
          </a:p>
        </p:txBody>
      </p:sp>
      <p:sp>
        <p:nvSpPr>
          <p:cNvPr id="3" name="TextBox 2">
            <a:extLst>
              <a:ext uri="{FF2B5EF4-FFF2-40B4-BE49-F238E27FC236}">
                <a16:creationId xmlns:a16="http://schemas.microsoft.com/office/drawing/2014/main" id="{6B09882B-C884-419E-9EB0-7F4E083F29C0}"/>
              </a:ext>
            </a:extLst>
          </p:cNvPr>
          <p:cNvSpPr txBox="1"/>
          <p:nvPr/>
        </p:nvSpPr>
        <p:spPr>
          <a:xfrm>
            <a:off x="15598384" y="419496"/>
            <a:ext cx="551112" cy="346249"/>
          </a:xfrm>
          <a:prstGeom prst="rect">
            <a:avLst/>
          </a:prstGeom>
          <a:noFill/>
        </p:spPr>
        <p:txBody>
          <a:bodyPr wrap="square" rtlCol="0">
            <a:spAutoFit/>
          </a:bodyPr>
          <a:lstStyle/>
          <a:p>
            <a:r>
              <a:rPr lang="en-US" altLang="zh-TW" sz="1600" dirty="0">
                <a:latin typeface="微軟正黑體" panose="020B0604030504040204" pitchFamily="34" charset="-120"/>
                <a:ea typeface="微軟正黑體" panose="020B0604030504040204" pitchFamily="34" charset="-120"/>
              </a:rPr>
              <a:t>0</a:t>
            </a:r>
            <a:endParaRPr lang="zh-TW" altLang="en-US" sz="1600" dirty="0">
              <a:latin typeface="微軟正黑體" panose="020B0604030504040204" pitchFamily="34" charset="-120"/>
              <a:ea typeface="微軟正黑體" panose="020B0604030504040204" pitchFamily="34" charset="-120"/>
            </a:endParaRPr>
          </a:p>
        </p:txBody>
      </p:sp>
      <p:pic>
        <p:nvPicPr>
          <p:cNvPr id="5" name="圖片 4">
            <a:extLst>
              <a:ext uri="{FF2B5EF4-FFF2-40B4-BE49-F238E27FC236}">
                <a16:creationId xmlns:a16="http://schemas.microsoft.com/office/drawing/2014/main" id="{AD7BD4B2-0EA1-F38F-267A-A3F44C6D2D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687425" y="8331359"/>
            <a:ext cx="516255" cy="45461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3">
            <a:extLst>
              <a:ext uri="{FF2B5EF4-FFF2-40B4-BE49-F238E27FC236}">
                <a16:creationId xmlns:a16="http://schemas.microsoft.com/office/drawing/2014/main" id="{50A6D862-470D-BFEF-C787-DA591CC87A7C}"/>
              </a:ext>
            </a:extLst>
          </p:cNvPr>
          <p:cNvSpPr/>
          <p:nvPr/>
        </p:nvSpPr>
        <p:spPr>
          <a:xfrm>
            <a:off x="2431440" y="820800"/>
            <a:ext cx="7218360" cy="41404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1371600">
              <a:lnSpc>
                <a:spcPct val="100000"/>
              </a:lnSpc>
            </a:pPr>
            <a:r>
              <a:rPr lang="en-US" sz="2100" b="1" strike="noStrike" spc="-1" dirty="0">
                <a:solidFill>
                  <a:srgbClr val="000000"/>
                </a:solidFill>
                <a:latin typeface="微軟正黑體"/>
                <a:ea typeface="微軟正黑體"/>
              </a:rPr>
              <a:t>MM-PU-0030</a:t>
            </a:r>
            <a:r>
              <a:rPr lang="zh-TW" sz="2100" b="1" strike="noStrike" spc="-1" dirty="0">
                <a:solidFill>
                  <a:srgbClr val="000000"/>
                </a:solidFill>
                <a:latin typeface="微軟正黑體"/>
                <a:ea typeface="微軟正黑體"/>
              </a:rPr>
              <a:t>庫存類採購流程</a:t>
            </a:r>
            <a:endParaRPr lang="en-US" sz="2100" b="0" strike="noStrike" spc="-1" dirty="0">
              <a:solidFill>
                <a:srgbClr val="000000"/>
              </a:solidFill>
              <a:latin typeface="Calibri"/>
            </a:endParaRPr>
          </a:p>
        </p:txBody>
      </p:sp>
      <p:sp>
        <p:nvSpPr>
          <p:cNvPr id="3" name="流程圖: 結束點 8">
            <a:extLst>
              <a:ext uri="{FF2B5EF4-FFF2-40B4-BE49-F238E27FC236}">
                <a16:creationId xmlns:a16="http://schemas.microsoft.com/office/drawing/2014/main" id="{81CE5D65-201A-8DA1-2381-A14F8F0AE871}"/>
              </a:ext>
            </a:extLst>
          </p:cNvPr>
          <p:cNvSpPr/>
          <p:nvPr/>
        </p:nvSpPr>
        <p:spPr>
          <a:xfrm>
            <a:off x="12301200" y="8963640"/>
            <a:ext cx="1797480" cy="781920"/>
          </a:xfrm>
          <a:prstGeom prst="flowChartTermina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1371600">
              <a:lnSpc>
                <a:spcPct val="100000"/>
              </a:lnSpc>
            </a:pPr>
            <a:r>
              <a:rPr lang="zh-TW" sz="1500" b="0" strike="noStrike" spc="-1">
                <a:solidFill>
                  <a:srgbClr val="000000"/>
                </a:solidFill>
                <a:latin typeface="微軟正黑體"/>
                <a:ea typeface="微軟正黑體"/>
              </a:rPr>
              <a:t>結束</a:t>
            </a:r>
            <a:endParaRPr lang="en-US" sz="1500" b="0" strike="noStrike" spc="-1">
              <a:solidFill>
                <a:srgbClr val="000000"/>
              </a:solidFill>
              <a:latin typeface="Calibri"/>
            </a:endParaRPr>
          </a:p>
        </p:txBody>
      </p:sp>
      <p:sp>
        <p:nvSpPr>
          <p:cNvPr id="4" name="文字方塊 17">
            <a:extLst>
              <a:ext uri="{FF2B5EF4-FFF2-40B4-BE49-F238E27FC236}">
                <a16:creationId xmlns:a16="http://schemas.microsoft.com/office/drawing/2014/main" id="{AB19DF53-8003-0894-C803-91C70DF4E1DE}"/>
              </a:ext>
            </a:extLst>
          </p:cNvPr>
          <p:cNvSpPr/>
          <p:nvPr/>
        </p:nvSpPr>
        <p:spPr>
          <a:xfrm>
            <a:off x="8567512" y="1353277"/>
            <a:ext cx="3245220" cy="344795"/>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defTabSz="1371600">
              <a:lnSpc>
                <a:spcPct val="100000"/>
              </a:lnSpc>
            </a:pPr>
            <a:r>
              <a:rPr lang="zh-TW" sz="1650" b="0" strike="noStrike" spc="-1">
                <a:solidFill>
                  <a:srgbClr val="000000"/>
                </a:solidFill>
                <a:latin typeface="Arial"/>
              </a:rPr>
              <a:t>採購</a:t>
            </a:r>
            <a:endParaRPr lang="en-US" sz="1650" b="0" strike="noStrike" spc="-1">
              <a:solidFill>
                <a:srgbClr val="000000"/>
              </a:solidFill>
              <a:latin typeface="Calibri"/>
            </a:endParaRPr>
          </a:p>
        </p:txBody>
      </p:sp>
      <p:sp>
        <p:nvSpPr>
          <p:cNvPr id="5" name="TextBox 53">
            <a:extLst>
              <a:ext uri="{FF2B5EF4-FFF2-40B4-BE49-F238E27FC236}">
                <a16:creationId xmlns:a16="http://schemas.microsoft.com/office/drawing/2014/main" id="{E93AE3DF-9F57-613E-57C0-C4A55E4A0677}"/>
              </a:ext>
            </a:extLst>
          </p:cNvPr>
          <p:cNvSpPr/>
          <p:nvPr/>
        </p:nvSpPr>
        <p:spPr>
          <a:xfrm>
            <a:off x="14367240" y="1957320"/>
            <a:ext cx="3593880" cy="369186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343080" defTabSz="1371600">
              <a:lnSpc>
                <a:spcPct val="100000"/>
              </a:lnSpc>
              <a:buClr>
                <a:srgbClr val="000000"/>
              </a:buClr>
              <a:buFont typeface="Calibri Light"/>
              <a:buAutoNum type="arabicPeriod"/>
            </a:pPr>
            <a:r>
              <a:rPr lang="zh-TW" sz="1800" b="0" strike="noStrike" spc="-1" dirty="0">
                <a:solidFill>
                  <a:srgbClr val="000000"/>
                </a:solidFill>
                <a:latin typeface="微軟正黑體"/>
                <a:ea typeface="微軟正黑體"/>
              </a:rPr>
              <a:t>建立預補</a:t>
            </a:r>
            <a:r>
              <a:rPr lang="en-US" sz="1800" b="0" strike="noStrike" spc="-1" dirty="0">
                <a:solidFill>
                  <a:srgbClr val="000000"/>
                </a:solidFill>
                <a:latin typeface="微軟正黑體"/>
                <a:ea typeface="微軟正黑體"/>
              </a:rPr>
              <a:t>/</a:t>
            </a:r>
            <a:r>
              <a:rPr lang="zh-TW" sz="1800" b="0" strike="noStrike" spc="-1" dirty="0">
                <a:solidFill>
                  <a:srgbClr val="000000"/>
                </a:solidFill>
                <a:latin typeface="微軟正黑體"/>
                <a:ea typeface="微軟正黑體"/>
              </a:rPr>
              <a:t>預買請購單</a:t>
            </a:r>
            <a:endParaRPr lang="en-US" sz="1800" b="0" strike="noStrike" spc="-1" dirty="0">
              <a:solidFill>
                <a:srgbClr val="000000"/>
              </a:solidFill>
              <a:latin typeface="Calibri"/>
            </a:endParaRPr>
          </a:p>
          <a:p>
            <a:pPr marL="343080" indent="-343080" defTabSz="1371600">
              <a:lnSpc>
                <a:spcPct val="100000"/>
              </a:lnSpc>
              <a:buClr>
                <a:srgbClr val="000000"/>
              </a:buClr>
              <a:buFont typeface="Calibri Light"/>
              <a:buAutoNum type="arabicPeriod"/>
            </a:pPr>
            <a:r>
              <a:rPr lang="zh-TW" sz="1800" b="0" strike="noStrike" spc="-1" dirty="0">
                <a:solidFill>
                  <a:srgbClr val="000000"/>
                </a:solidFill>
                <a:latin typeface="微軟正黑體"/>
                <a:ea typeface="微軟正黑體"/>
              </a:rPr>
              <a:t>將請購單利用</a:t>
            </a:r>
            <a:r>
              <a:rPr lang="en-US" sz="1800" b="0" strike="noStrike" spc="-1" dirty="0">
                <a:solidFill>
                  <a:srgbClr val="000000"/>
                </a:solidFill>
                <a:latin typeface="微軟正黑體"/>
                <a:ea typeface="微軟正黑體"/>
              </a:rPr>
              <a:t>ZMM017</a:t>
            </a:r>
            <a:r>
              <a:rPr lang="zh-TW" sz="1800" b="0" strike="noStrike" spc="-1" dirty="0">
                <a:solidFill>
                  <a:srgbClr val="000000"/>
                </a:solidFill>
                <a:latin typeface="微軟正黑體"/>
                <a:ea typeface="微軟正黑體"/>
              </a:rPr>
              <a:t>匯入</a:t>
            </a:r>
            <a:r>
              <a:rPr lang="en-US" sz="1800" b="0" strike="noStrike" spc="-1" dirty="0">
                <a:solidFill>
                  <a:srgbClr val="000000"/>
                </a:solidFill>
                <a:latin typeface="微軟正黑體"/>
                <a:ea typeface="微軟正黑體"/>
              </a:rPr>
              <a:t>BPM</a:t>
            </a:r>
            <a:r>
              <a:rPr lang="zh-TW" sz="1800" b="0" strike="noStrike" spc="-1" dirty="0">
                <a:solidFill>
                  <a:srgbClr val="000000"/>
                </a:solidFill>
                <a:latin typeface="微軟正黑體"/>
                <a:ea typeface="微軟正黑體"/>
              </a:rPr>
              <a:t>發起簽核流程</a:t>
            </a:r>
            <a:endParaRPr lang="en-US" sz="1800" b="0" strike="noStrike" spc="-1" dirty="0">
              <a:solidFill>
                <a:srgbClr val="000000"/>
              </a:solidFill>
              <a:latin typeface="Calibri"/>
            </a:endParaRPr>
          </a:p>
          <a:p>
            <a:pPr marL="343080" indent="-343080" defTabSz="1371600">
              <a:lnSpc>
                <a:spcPct val="100000"/>
              </a:lnSpc>
              <a:buClr>
                <a:srgbClr val="000000"/>
              </a:buClr>
              <a:buFont typeface="Calibri Light"/>
              <a:buAutoNum type="arabicPeriod"/>
            </a:pPr>
            <a:r>
              <a:rPr lang="zh-TW" sz="1800" b="0" strike="noStrike" spc="-1" dirty="0">
                <a:solidFill>
                  <a:srgbClr val="000000"/>
                </a:solidFill>
                <a:latin typeface="微軟正黑體"/>
                <a:ea typeface="微軟正黑體"/>
              </a:rPr>
              <a:t>主管進行</a:t>
            </a:r>
            <a:r>
              <a:rPr lang="en-US" sz="1800" b="0" strike="noStrike" spc="-1" dirty="0">
                <a:solidFill>
                  <a:srgbClr val="000000"/>
                </a:solidFill>
                <a:latin typeface="微軟正黑體"/>
                <a:ea typeface="微軟正黑體"/>
              </a:rPr>
              <a:t>BPM</a:t>
            </a:r>
            <a:r>
              <a:rPr lang="zh-TW" sz="1800" b="0" strike="noStrike" spc="-1" dirty="0">
                <a:solidFill>
                  <a:srgbClr val="000000"/>
                </a:solidFill>
                <a:latin typeface="微軟正黑體"/>
                <a:ea typeface="微軟正黑體"/>
              </a:rPr>
              <a:t>本簽核請購單</a:t>
            </a:r>
            <a:endParaRPr lang="en-US" sz="1800" b="0" strike="noStrike" spc="-1" dirty="0">
              <a:solidFill>
                <a:srgbClr val="000000"/>
              </a:solidFill>
              <a:latin typeface="Calibri"/>
            </a:endParaRPr>
          </a:p>
          <a:p>
            <a:pPr marL="343080" indent="-343080" defTabSz="1371600">
              <a:lnSpc>
                <a:spcPct val="100000"/>
              </a:lnSpc>
              <a:buClr>
                <a:srgbClr val="000000"/>
              </a:buClr>
              <a:buFont typeface="Calibri Light"/>
              <a:buAutoNum type="arabicPeriod"/>
            </a:pPr>
            <a:r>
              <a:rPr lang="zh-TW" sz="1800" b="0" strike="noStrike" spc="-1" dirty="0">
                <a:solidFill>
                  <a:srgbClr val="000000"/>
                </a:solidFill>
                <a:latin typeface="微軟正黑體"/>
                <a:ea typeface="微軟正黑體"/>
              </a:rPr>
              <a:t>完成簽核請購單先使用</a:t>
            </a:r>
            <a:r>
              <a:rPr lang="en-US" sz="1800" b="0" strike="noStrike" spc="-1" dirty="0">
                <a:solidFill>
                  <a:srgbClr val="000000"/>
                </a:solidFill>
                <a:latin typeface="微軟正黑體"/>
                <a:ea typeface="微軟正黑體"/>
              </a:rPr>
              <a:t>ME59N/ME27</a:t>
            </a:r>
            <a:r>
              <a:rPr lang="zh-TW" sz="1800" b="0" strike="noStrike" spc="-1" dirty="0">
                <a:solidFill>
                  <a:srgbClr val="000000"/>
                </a:solidFill>
                <a:latin typeface="微軟正黑體"/>
                <a:ea typeface="微軟正黑體"/>
              </a:rPr>
              <a:t>處理已指派請購單或可指派請購單，建立採購單</a:t>
            </a:r>
            <a:endParaRPr lang="en-US" sz="1800" b="0" strike="noStrike" spc="-1" dirty="0">
              <a:solidFill>
                <a:srgbClr val="000000"/>
              </a:solidFill>
              <a:latin typeface="Calibri"/>
            </a:endParaRPr>
          </a:p>
          <a:p>
            <a:pPr marL="343080" indent="-343080" defTabSz="1371600">
              <a:lnSpc>
                <a:spcPct val="100000"/>
              </a:lnSpc>
              <a:buClr>
                <a:srgbClr val="000000"/>
              </a:buClr>
              <a:buFont typeface="Calibri Light"/>
              <a:buAutoNum type="arabicPeriod"/>
            </a:pPr>
            <a:r>
              <a:rPr lang="zh-TW" sz="1800" b="0" strike="noStrike" spc="-1" dirty="0">
                <a:solidFill>
                  <a:srgbClr val="000000"/>
                </a:solidFill>
                <a:latin typeface="微軟正黑體"/>
                <a:ea typeface="微軟正黑體"/>
              </a:rPr>
              <a:t>再使用</a:t>
            </a:r>
            <a:r>
              <a:rPr lang="en-US" sz="1800" b="0" strike="noStrike" spc="-1" dirty="0">
                <a:solidFill>
                  <a:srgbClr val="000000"/>
                </a:solidFill>
                <a:latin typeface="微軟正黑體"/>
                <a:ea typeface="微軟正黑體"/>
              </a:rPr>
              <a:t>ME21N </a:t>
            </a:r>
            <a:r>
              <a:rPr lang="zh-TW" sz="1800" b="0" strike="noStrike" spc="-1" dirty="0">
                <a:solidFill>
                  <a:srgbClr val="000000"/>
                </a:solidFill>
                <a:latin typeface="微軟正黑體"/>
                <a:ea typeface="微軟正黑體"/>
              </a:rPr>
              <a:t>處理上一步驟無法自動轉單的請購單，如果沒有帶入有效價格，可以暫存採購單並得採購編號</a:t>
            </a:r>
            <a:r>
              <a:rPr lang="en-US" sz="1800" b="0" strike="noStrike" spc="-1" dirty="0">
                <a:solidFill>
                  <a:srgbClr val="000000"/>
                </a:solidFill>
                <a:latin typeface="微軟正黑體"/>
                <a:ea typeface="微軟正黑體"/>
              </a:rPr>
              <a:t>, </a:t>
            </a:r>
            <a:r>
              <a:rPr lang="zh-TW" sz="1800" b="0" strike="noStrike" spc="-1" dirty="0">
                <a:solidFill>
                  <a:srgbClr val="000000"/>
                </a:solidFill>
                <a:latin typeface="微軟正黑體"/>
                <a:ea typeface="微軟正黑體"/>
              </a:rPr>
              <a:t>並且使用暫存採購單進行詢價流程</a:t>
            </a:r>
            <a:endParaRPr lang="en-US" sz="1800" b="0" strike="noStrike" spc="-1" dirty="0">
              <a:solidFill>
                <a:srgbClr val="000000"/>
              </a:solidFill>
              <a:latin typeface="Calibri"/>
            </a:endParaRPr>
          </a:p>
        </p:txBody>
      </p:sp>
      <p:graphicFrame>
        <p:nvGraphicFramePr>
          <p:cNvPr id="6" name="表格 30">
            <a:extLst>
              <a:ext uri="{FF2B5EF4-FFF2-40B4-BE49-F238E27FC236}">
                <a16:creationId xmlns:a16="http://schemas.microsoft.com/office/drawing/2014/main" id="{B2C4B320-5FC3-3A03-98E0-E3249FB9629A}"/>
              </a:ext>
            </a:extLst>
          </p:cNvPr>
          <p:cNvGraphicFramePr/>
          <p:nvPr>
            <p:extLst>
              <p:ext uri="{D42A27DB-BD31-4B8C-83A1-F6EECF244321}">
                <p14:modId xmlns:p14="http://schemas.microsoft.com/office/powerpoint/2010/main" val="1886370595"/>
              </p:ext>
            </p:extLst>
          </p:nvPr>
        </p:nvGraphicFramePr>
        <p:xfrm>
          <a:off x="9280203" y="1936800"/>
          <a:ext cx="1797120" cy="1335120"/>
        </p:xfrm>
        <a:graphic>
          <a:graphicData uri="http://schemas.openxmlformats.org/drawingml/2006/table">
            <a:tbl>
              <a:tblPr/>
              <a:tblGrid>
                <a:gridCol w="898560">
                  <a:extLst>
                    <a:ext uri="{9D8B030D-6E8A-4147-A177-3AD203B41FA5}">
                      <a16:colId xmlns:a16="http://schemas.microsoft.com/office/drawing/2014/main" val="20000"/>
                    </a:ext>
                  </a:extLst>
                </a:gridCol>
                <a:gridCol w="898560">
                  <a:extLst>
                    <a:ext uri="{9D8B030D-6E8A-4147-A177-3AD203B41FA5}">
                      <a16:colId xmlns:a16="http://schemas.microsoft.com/office/drawing/2014/main" val="20001"/>
                    </a:ext>
                  </a:extLst>
                </a:gridCol>
              </a:tblGrid>
              <a:tr h="330120">
                <a:tc gridSpan="2">
                  <a:txBody>
                    <a:bodyPr/>
                    <a:lstStyle/>
                    <a:p>
                      <a:pPr algn="ctr" defTabSz="1371600">
                        <a:lnSpc>
                          <a:spcPct val="100000"/>
                        </a:lnSpc>
                      </a:pPr>
                      <a:r>
                        <a:rPr lang="en-GB" sz="1400" b="1" strike="noStrike" spc="-1" dirty="0">
                          <a:solidFill>
                            <a:schemeClr val="dk1"/>
                          </a:solidFill>
                          <a:latin typeface="微軟正黑體"/>
                          <a:ea typeface="微軟正黑體"/>
                        </a:rPr>
                        <a:t>ME59N/ME57</a:t>
                      </a:r>
                      <a:endParaRPr lang="en-US" sz="1400" b="0" strike="noStrike" spc="-1" dirty="0">
                        <a:solidFill>
                          <a:srgbClr val="000000"/>
                        </a:solidFill>
                        <a:latin typeface="Calibri"/>
                      </a:endParaRPr>
                    </a:p>
                  </a:txBody>
                  <a:tcPr marL="124560" marR="12456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0"/>
                  </a:ext>
                </a:extLst>
              </a:tr>
              <a:tr h="700200">
                <a:tc gridSpan="2">
                  <a:txBody>
                    <a:bodyPr/>
                    <a:lstStyle/>
                    <a:p>
                      <a:pPr algn="ctr" defTabSz="1371600">
                        <a:lnSpc>
                          <a:spcPct val="100000"/>
                        </a:lnSpc>
                      </a:pPr>
                      <a:r>
                        <a:rPr lang="zh-TW" sz="1400" b="0" strike="noStrike" spc="-1">
                          <a:solidFill>
                            <a:schemeClr val="dk1"/>
                          </a:solidFill>
                          <a:latin typeface="微軟正黑體"/>
                          <a:ea typeface="微軟正黑體"/>
                        </a:rPr>
                        <a:t>自動建立採購單</a:t>
                      </a:r>
                      <a:r>
                        <a:rPr lang="en-US" sz="1400" b="0" strike="noStrike" spc="-1">
                          <a:solidFill>
                            <a:schemeClr val="dk1"/>
                          </a:solidFill>
                          <a:latin typeface="微軟正黑體"/>
                          <a:ea typeface="微軟正黑體"/>
                        </a:rPr>
                        <a:t>/</a:t>
                      </a:r>
                      <a:r>
                        <a:rPr lang="zh-TW" sz="1400" b="0" strike="noStrike" spc="-1">
                          <a:solidFill>
                            <a:schemeClr val="dk1"/>
                          </a:solidFill>
                          <a:latin typeface="微軟正黑體"/>
                          <a:ea typeface="微軟正黑體"/>
                        </a:rPr>
                        <a:t>請購轉採購單</a:t>
                      </a:r>
                      <a:endParaRPr lang="en-US" sz="1400" b="0" strike="noStrike" spc="-1">
                        <a:solidFill>
                          <a:srgbClr val="000000"/>
                        </a:solidFill>
                        <a:latin typeface="Calibri"/>
                      </a:endParaRPr>
                    </a:p>
                  </a:txBody>
                  <a:tcPr marL="124560" marR="12456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1"/>
                  </a:ext>
                </a:extLst>
              </a:tr>
              <a:tr h="303840">
                <a:tc>
                  <a:txBody>
                    <a:bodyPr/>
                    <a:lstStyle/>
                    <a:p>
                      <a:pPr algn="ctr" defTabSz="1371600">
                        <a:lnSpc>
                          <a:spcPct val="100000"/>
                        </a:lnSpc>
                      </a:pPr>
                      <a:r>
                        <a:rPr lang="en-US" sz="1400" b="0" strike="noStrike" spc="-1">
                          <a:solidFill>
                            <a:schemeClr val="dk1"/>
                          </a:solidFill>
                          <a:latin typeface="微軟正黑體"/>
                          <a:ea typeface="微軟正黑體"/>
                        </a:rPr>
                        <a:t>SAP</a:t>
                      </a:r>
                      <a:endParaRPr lang="en-US" sz="14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400" b="0" strike="noStrike" spc="-1" dirty="0">
                          <a:solidFill>
                            <a:schemeClr val="dk1"/>
                          </a:solidFill>
                          <a:latin typeface="微軟正黑體"/>
                          <a:ea typeface="微軟正黑體"/>
                        </a:rPr>
                        <a:t>手動</a:t>
                      </a:r>
                      <a:endParaRPr lang="en-US" sz="1400" b="0" strike="noStrike" spc="-1" dirty="0">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extLst>
                  <a:ext uri="{0D108BD9-81ED-4DB2-BD59-A6C34878D82A}">
                    <a16:rowId xmlns:a16="http://schemas.microsoft.com/office/drawing/2014/main" val="10002"/>
                  </a:ext>
                </a:extLst>
              </a:tr>
            </a:tbl>
          </a:graphicData>
        </a:graphic>
      </p:graphicFrame>
      <p:graphicFrame>
        <p:nvGraphicFramePr>
          <p:cNvPr id="7" name="表格 30">
            <a:extLst>
              <a:ext uri="{FF2B5EF4-FFF2-40B4-BE49-F238E27FC236}">
                <a16:creationId xmlns:a16="http://schemas.microsoft.com/office/drawing/2014/main" id="{C665D2B1-AFE6-C325-BB82-ED863A4AF3EA}"/>
              </a:ext>
            </a:extLst>
          </p:cNvPr>
          <p:cNvGraphicFramePr/>
          <p:nvPr>
            <p:extLst>
              <p:ext uri="{D42A27DB-BD31-4B8C-83A1-F6EECF244321}">
                <p14:modId xmlns:p14="http://schemas.microsoft.com/office/powerpoint/2010/main" val="2797667715"/>
              </p:ext>
            </p:extLst>
          </p:nvPr>
        </p:nvGraphicFramePr>
        <p:xfrm>
          <a:off x="9280203" y="3882662"/>
          <a:ext cx="1797120" cy="1213080"/>
        </p:xfrm>
        <a:graphic>
          <a:graphicData uri="http://schemas.openxmlformats.org/drawingml/2006/table">
            <a:tbl>
              <a:tblPr/>
              <a:tblGrid>
                <a:gridCol w="898560">
                  <a:extLst>
                    <a:ext uri="{9D8B030D-6E8A-4147-A177-3AD203B41FA5}">
                      <a16:colId xmlns:a16="http://schemas.microsoft.com/office/drawing/2014/main" val="20000"/>
                    </a:ext>
                  </a:extLst>
                </a:gridCol>
                <a:gridCol w="898560">
                  <a:extLst>
                    <a:ext uri="{9D8B030D-6E8A-4147-A177-3AD203B41FA5}">
                      <a16:colId xmlns:a16="http://schemas.microsoft.com/office/drawing/2014/main" val="20001"/>
                    </a:ext>
                  </a:extLst>
                </a:gridCol>
              </a:tblGrid>
              <a:tr h="330120">
                <a:tc gridSpan="2">
                  <a:txBody>
                    <a:bodyPr/>
                    <a:lstStyle/>
                    <a:p>
                      <a:pPr algn="ctr" defTabSz="1371600">
                        <a:lnSpc>
                          <a:spcPct val="100000"/>
                        </a:lnSpc>
                      </a:pPr>
                      <a:r>
                        <a:rPr lang="en-GB" sz="1400" b="1" strike="noStrike" spc="-1">
                          <a:solidFill>
                            <a:schemeClr val="dk1"/>
                          </a:solidFill>
                          <a:latin typeface="微軟正黑體"/>
                          <a:ea typeface="微軟正黑體"/>
                        </a:rPr>
                        <a:t>ME21N</a:t>
                      </a:r>
                      <a:endParaRPr lang="en-US" sz="1400" b="0" strike="noStrike" spc="-1">
                        <a:solidFill>
                          <a:srgbClr val="000000"/>
                        </a:solidFill>
                        <a:latin typeface="Calibri"/>
                      </a:endParaRPr>
                    </a:p>
                  </a:txBody>
                  <a:tcPr marL="124560" marR="12456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0"/>
                  </a:ext>
                </a:extLst>
              </a:tr>
              <a:tr h="578160">
                <a:tc gridSpan="2">
                  <a:txBody>
                    <a:bodyPr/>
                    <a:lstStyle/>
                    <a:p>
                      <a:pPr algn="ctr" defTabSz="1371600">
                        <a:lnSpc>
                          <a:spcPct val="100000"/>
                        </a:lnSpc>
                      </a:pPr>
                      <a:r>
                        <a:rPr lang="zh-TW" sz="1400" b="0" strike="noStrike" spc="-1" dirty="0">
                          <a:solidFill>
                            <a:schemeClr val="dk1"/>
                          </a:solidFill>
                          <a:latin typeface="微軟正黑體"/>
                          <a:ea typeface="微軟正黑體"/>
                        </a:rPr>
                        <a:t>參照請購單建立採購單</a:t>
                      </a:r>
                      <a:endParaRPr lang="en-US" sz="1400" b="0" strike="noStrike" spc="-1" dirty="0">
                        <a:solidFill>
                          <a:srgbClr val="000000"/>
                        </a:solidFill>
                        <a:latin typeface="Calibri"/>
                      </a:endParaRPr>
                    </a:p>
                  </a:txBody>
                  <a:tcPr marL="124560" marR="12456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1"/>
                  </a:ext>
                </a:extLst>
              </a:tr>
              <a:tr h="303840">
                <a:tc>
                  <a:txBody>
                    <a:bodyPr/>
                    <a:lstStyle/>
                    <a:p>
                      <a:pPr algn="ctr" defTabSz="1371600">
                        <a:lnSpc>
                          <a:spcPct val="100000"/>
                        </a:lnSpc>
                      </a:pPr>
                      <a:r>
                        <a:rPr lang="en-US" sz="1400" b="0" strike="noStrike" spc="-1">
                          <a:solidFill>
                            <a:schemeClr val="dk1"/>
                          </a:solidFill>
                          <a:latin typeface="微軟正黑體"/>
                          <a:ea typeface="微軟正黑體"/>
                        </a:rPr>
                        <a:t>SAP</a:t>
                      </a:r>
                      <a:endParaRPr lang="en-US" sz="14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400" b="0" strike="noStrike" spc="-1" dirty="0">
                          <a:solidFill>
                            <a:schemeClr val="dk1"/>
                          </a:solidFill>
                          <a:latin typeface="微軟正黑體"/>
                          <a:ea typeface="微軟正黑體"/>
                        </a:rPr>
                        <a:t>手動</a:t>
                      </a:r>
                      <a:endParaRPr lang="en-US" sz="1400" b="0" strike="noStrike" spc="-1" dirty="0">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extLst>
                  <a:ext uri="{0D108BD9-81ED-4DB2-BD59-A6C34878D82A}">
                    <a16:rowId xmlns:a16="http://schemas.microsoft.com/office/drawing/2014/main" val="10002"/>
                  </a:ext>
                </a:extLst>
              </a:tr>
            </a:tbl>
          </a:graphicData>
        </a:graphic>
      </p:graphicFrame>
      <p:sp>
        <p:nvSpPr>
          <p:cNvPr id="8" name="文字方塊 241">
            <a:extLst>
              <a:ext uri="{FF2B5EF4-FFF2-40B4-BE49-F238E27FC236}">
                <a16:creationId xmlns:a16="http://schemas.microsoft.com/office/drawing/2014/main" id="{6B97940F-FE7C-1340-FB6E-4B103B0B2B33}"/>
              </a:ext>
            </a:extLst>
          </p:cNvPr>
          <p:cNvSpPr/>
          <p:nvPr/>
        </p:nvSpPr>
        <p:spPr>
          <a:xfrm>
            <a:off x="4332893" y="7128323"/>
            <a:ext cx="788400" cy="295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1371600">
              <a:lnSpc>
                <a:spcPct val="100000"/>
              </a:lnSpc>
            </a:pPr>
            <a:r>
              <a:rPr lang="zh-TW" sz="1350" b="0" strike="noStrike" spc="-1" dirty="0">
                <a:solidFill>
                  <a:srgbClr val="000000"/>
                </a:solidFill>
                <a:latin typeface="微軟正黑體"/>
                <a:ea typeface="微軟正黑體"/>
              </a:rPr>
              <a:t>否</a:t>
            </a:r>
            <a:endParaRPr lang="en-US" sz="1350" b="0" strike="noStrike" spc="-1" dirty="0">
              <a:solidFill>
                <a:srgbClr val="000000"/>
              </a:solidFill>
              <a:latin typeface="Calibri"/>
            </a:endParaRPr>
          </a:p>
        </p:txBody>
      </p:sp>
      <p:sp>
        <p:nvSpPr>
          <p:cNvPr id="9" name="流程圖: 預設處理作業 21">
            <a:extLst>
              <a:ext uri="{FF2B5EF4-FFF2-40B4-BE49-F238E27FC236}">
                <a16:creationId xmlns:a16="http://schemas.microsoft.com/office/drawing/2014/main" id="{7B2E9A8F-BFFD-8660-34F8-C520D6DCA008}"/>
              </a:ext>
            </a:extLst>
          </p:cNvPr>
          <p:cNvSpPr/>
          <p:nvPr/>
        </p:nvSpPr>
        <p:spPr>
          <a:xfrm>
            <a:off x="468360" y="1977840"/>
            <a:ext cx="1812600" cy="1238040"/>
          </a:xfrm>
          <a:prstGeom prst="flowChartPredefined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1371600">
              <a:lnSpc>
                <a:spcPct val="100000"/>
              </a:lnSpc>
            </a:pPr>
            <a:r>
              <a:rPr lang="en-US" sz="1500" b="0" strike="noStrike" spc="-1">
                <a:solidFill>
                  <a:srgbClr val="000000"/>
                </a:solidFill>
                <a:latin typeface="Microsoft JhengHei"/>
                <a:ea typeface="Microsoft JhengHei"/>
              </a:rPr>
              <a:t>PP-PP-0030</a:t>
            </a:r>
            <a:endParaRPr lang="en-US" sz="1500" b="0" strike="noStrike" spc="-1">
              <a:solidFill>
                <a:srgbClr val="000000"/>
              </a:solidFill>
              <a:latin typeface="Calibri"/>
            </a:endParaRPr>
          </a:p>
          <a:p>
            <a:pPr algn="ctr" defTabSz="1371600">
              <a:lnSpc>
                <a:spcPct val="100000"/>
              </a:lnSpc>
            </a:pPr>
            <a:r>
              <a:rPr lang="en-US" sz="1500" b="0" strike="noStrike" spc="-1">
                <a:solidFill>
                  <a:srgbClr val="000000"/>
                </a:solidFill>
                <a:latin typeface="Microsoft JhengHei"/>
                <a:ea typeface="Microsoft JhengHei"/>
              </a:rPr>
              <a:t>MRP</a:t>
            </a:r>
            <a:r>
              <a:rPr lang="zh-TW" sz="1500" b="0" strike="noStrike" spc="-1">
                <a:solidFill>
                  <a:srgbClr val="000000"/>
                </a:solidFill>
                <a:latin typeface="Microsoft JhengHei"/>
                <a:ea typeface="Microsoft JhengHei"/>
              </a:rPr>
              <a:t>物料需求計畫維護作業</a:t>
            </a:r>
            <a:endParaRPr lang="en-US" sz="1500" b="0" strike="noStrike" spc="-1">
              <a:solidFill>
                <a:srgbClr val="000000"/>
              </a:solidFill>
              <a:latin typeface="Calibri"/>
            </a:endParaRPr>
          </a:p>
        </p:txBody>
      </p:sp>
      <p:cxnSp>
        <p:nvCxnSpPr>
          <p:cNvPr id="10" name="Straight Connector 284">
            <a:extLst>
              <a:ext uri="{FF2B5EF4-FFF2-40B4-BE49-F238E27FC236}">
                <a16:creationId xmlns:a16="http://schemas.microsoft.com/office/drawing/2014/main" id="{41F5A536-B777-5ABA-9C5D-32DA511F0733}"/>
              </a:ext>
            </a:extLst>
          </p:cNvPr>
          <p:cNvCxnSpPr>
            <a:cxnSpLocks/>
          </p:cNvCxnSpPr>
          <p:nvPr/>
        </p:nvCxnSpPr>
        <p:spPr>
          <a:xfrm>
            <a:off x="8364071" y="1353277"/>
            <a:ext cx="360" cy="8615880"/>
          </a:xfrm>
          <a:prstGeom prst="straightConnector1">
            <a:avLst/>
          </a:prstGeom>
          <a:ln>
            <a:solidFill>
              <a:srgbClr val="000000"/>
            </a:solidFill>
          </a:ln>
        </p:spPr>
      </p:cxnSp>
      <p:cxnSp>
        <p:nvCxnSpPr>
          <p:cNvPr id="11" name="Straight Connector 284">
            <a:extLst>
              <a:ext uri="{FF2B5EF4-FFF2-40B4-BE49-F238E27FC236}">
                <a16:creationId xmlns:a16="http://schemas.microsoft.com/office/drawing/2014/main" id="{72A2E3B6-5E34-49A3-D1B8-C3A895685959}"/>
              </a:ext>
            </a:extLst>
          </p:cNvPr>
          <p:cNvCxnSpPr/>
          <p:nvPr/>
        </p:nvCxnSpPr>
        <p:spPr>
          <a:xfrm>
            <a:off x="5491972" y="1435680"/>
            <a:ext cx="360" cy="8615520"/>
          </a:xfrm>
          <a:prstGeom prst="straightConnector1">
            <a:avLst/>
          </a:prstGeom>
          <a:ln>
            <a:solidFill>
              <a:srgbClr val="000000"/>
            </a:solidFill>
          </a:ln>
        </p:spPr>
      </p:cxnSp>
      <p:graphicFrame>
        <p:nvGraphicFramePr>
          <p:cNvPr id="12" name="表格 30">
            <a:extLst>
              <a:ext uri="{FF2B5EF4-FFF2-40B4-BE49-F238E27FC236}">
                <a16:creationId xmlns:a16="http://schemas.microsoft.com/office/drawing/2014/main" id="{E3C459AB-07F7-959C-1DCF-07D2FD72B31D}"/>
              </a:ext>
            </a:extLst>
          </p:cNvPr>
          <p:cNvGraphicFramePr/>
          <p:nvPr>
            <p:extLst>
              <p:ext uri="{D42A27DB-BD31-4B8C-83A1-F6EECF244321}">
                <p14:modId xmlns:p14="http://schemas.microsoft.com/office/powerpoint/2010/main" val="3921139983"/>
              </p:ext>
            </p:extLst>
          </p:nvPr>
        </p:nvGraphicFramePr>
        <p:xfrm>
          <a:off x="6202271" y="4420440"/>
          <a:ext cx="1730520" cy="1037040"/>
        </p:xfrm>
        <a:graphic>
          <a:graphicData uri="http://schemas.openxmlformats.org/drawingml/2006/table">
            <a:tbl>
              <a:tblPr/>
              <a:tblGrid>
                <a:gridCol w="865440">
                  <a:extLst>
                    <a:ext uri="{9D8B030D-6E8A-4147-A177-3AD203B41FA5}">
                      <a16:colId xmlns:a16="http://schemas.microsoft.com/office/drawing/2014/main" val="20000"/>
                    </a:ext>
                  </a:extLst>
                </a:gridCol>
                <a:gridCol w="865080">
                  <a:extLst>
                    <a:ext uri="{9D8B030D-6E8A-4147-A177-3AD203B41FA5}">
                      <a16:colId xmlns:a16="http://schemas.microsoft.com/office/drawing/2014/main" val="20001"/>
                    </a:ext>
                  </a:extLst>
                </a:gridCol>
              </a:tblGrid>
              <a:tr h="330120">
                <a:tc gridSpan="2">
                  <a:txBody>
                    <a:bodyPr/>
                    <a:lstStyle/>
                    <a:p>
                      <a:pPr algn="ctr" defTabSz="1371600">
                        <a:lnSpc>
                          <a:spcPct val="100000"/>
                        </a:lnSpc>
                      </a:pPr>
                      <a:r>
                        <a:rPr lang="en-GB" sz="1400" b="1" strike="noStrike" spc="-1">
                          <a:solidFill>
                            <a:schemeClr val="dk1"/>
                          </a:solidFill>
                          <a:latin typeface="微軟正黑體"/>
                          <a:ea typeface="微軟正黑體"/>
                        </a:rPr>
                        <a:t> </a:t>
                      </a:r>
                      <a:endParaRPr lang="en-US" sz="1400" b="0" strike="noStrike" spc="-1">
                        <a:solidFill>
                          <a:srgbClr val="000000"/>
                        </a:solidFill>
                        <a:latin typeface="Calibri"/>
                      </a:endParaRPr>
                    </a:p>
                  </a:txBody>
                  <a:tcPr marL="124560" marR="12456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0"/>
                  </a:ext>
                </a:extLst>
              </a:tr>
              <a:tr h="402120">
                <a:tc gridSpan="2">
                  <a:txBody>
                    <a:bodyPr/>
                    <a:lstStyle/>
                    <a:p>
                      <a:pPr algn="ctr" defTabSz="1371600">
                        <a:lnSpc>
                          <a:spcPct val="100000"/>
                        </a:lnSpc>
                      </a:pPr>
                      <a:r>
                        <a:rPr lang="zh-TW" sz="1400" b="0" strike="noStrike" spc="-1">
                          <a:solidFill>
                            <a:schemeClr val="dk1"/>
                          </a:solidFill>
                          <a:latin typeface="微軟正黑體"/>
                          <a:ea typeface="微軟正黑體"/>
                        </a:rPr>
                        <a:t>主管進行簽核</a:t>
                      </a:r>
                      <a:endParaRPr lang="en-US" sz="1400" b="0" strike="noStrike" spc="-1">
                        <a:solidFill>
                          <a:srgbClr val="000000"/>
                        </a:solidFill>
                        <a:latin typeface="Calibri"/>
                      </a:endParaRPr>
                    </a:p>
                  </a:txBody>
                  <a:tcPr marL="124560" marR="12456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1"/>
                  </a:ext>
                </a:extLst>
              </a:tr>
              <a:tr h="303840">
                <a:tc>
                  <a:txBody>
                    <a:bodyPr/>
                    <a:lstStyle/>
                    <a:p>
                      <a:pPr algn="ctr" defTabSz="1371600">
                        <a:lnSpc>
                          <a:spcPct val="100000"/>
                        </a:lnSpc>
                      </a:pPr>
                      <a:r>
                        <a:rPr lang="en-US" sz="1400" b="0" strike="noStrike" spc="-1">
                          <a:solidFill>
                            <a:schemeClr val="dk1"/>
                          </a:solidFill>
                          <a:latin typeface="微軟正黑體"/>
                          <a:ea typeface="微軟正黑體"/>
                        </a:rPr>
                        <a:t>BPM</a:t>
                      </a:r>
                      <a:endParaRPr lang="en-US" sz="14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400" b="0" strike="noStrike" spc="-1" dirty="0">
                          <a:solidFill>
                            <a:schemeClr val="dk1"/>
                          </a:solidFill>
                          <a:latin typeface="微軟正黑體"/>
                          <a:ea typeface="微軟正黑體"/>
                        </a:rPr>
                        <a:t>手動</a:t>
                      </a:r>
                      <a:endParaRPr lang="en-US" sz="1400" b="0" strike="noStrike" spc="-1" dirty="0">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extLst>
                  <a:ext uri="{0D108BD9-81ED-4DB2-BD59-A6C34878D82A}">
                    <a16:rowId xmlns:a16="http://schemas.microsoft.com/office/drawing/2014/main" val="10002"/>
                  </a:ext>
                </a:extLst>
              </a:tr>
            </a:tbl>
          </a:graphicData>
        </a:graphic>
      </p:graphicFrame>
      <p:sp>
        <p:nvSpPr>
          <p:cNvPr id="13" name="文字方塊 17">
            <a:extLst>
              <a:ext uri="{FF2B5EF4-FFF2-40B4-BE49-F238E27FC236}">
                <a16:creationId xmlns:a16="http://schemas.microsoft.com/office/drawing/2014/main" id="{F6A21705-8A39-26D0-86E9-E117FA3FCD9C}"/>
              </a:ext>
            </a:extLst>
          </p:cNvPr>
          <p:cNvSpPr/>
          <p:nvPr/>
        </p:nvSpPr>
        <p:spPr>
          <a:xfrm>
            <a:off x="2289600" y="1382040"/>
            <a:ext cx="3196612" cy="344795"/>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defTabSz="1371600">
              <a:lnSpc>
                <a:spcPct val="100000"/>
              </a:lnSpc>
            </a:pPr>
            <a:r>
              <a:rPr lang="zh-TW" sz="1650" b="0" strike="noStrike" spc="-1" dirty="0">
                <a:solidFill>
                  <a:srgbClr val="000000"/>
                </a:solidFill>
                <a:latin typeface="Arial"/>
              </a:rPr>
              <a:t>生管</a:t>
            </a:r>
            <a:r>
              <a:rPr lang="en-US" sz="1650" b="0" strike="noStrike" spc="-1" dirty="0">
                <a:solidFill>
                  <a:srgbClr val="000000"/>
                </a:solidFill>
                <a:latin typeface="Arial"/>
              </a:rPr>
              <a:t>/</a:t>
            </a:r>
            <a:r>
              <a:rPr lang="zh-TW" sz="1650" b="0" strike="noStrike" spc="-1" dirty="0">
                <a:solidFill>
                  <a:srgbClr val="000000"/>
                </a:solidFill>
                <a:latin typeface="Arial"/>
              </a:rPr>
              <a:t>倉庫</a:t>
            </a:r>
            <a:r>
              <a:rPr lang="en-US" sz="1650" b="0" strike="noStrike" spc="-1" dirty="0">
                <a:solidFill>
                  <a:srgbClr val="000000"/>
                </a:solidFill>
                <a:latin typeface="Arial"/>
              </a:rPr>
              <a:t>/</a:t>
            </a:r>
            <a:r>
              <a:rPr lang="zh-TW" sz="1650" b="0" strike="noStrike" spc="-1" dirty="0">
                <a:solidFill>
                  <a:srgbClr val="000000"/>
                </a:solidFill>
                <a:latin typeface="Arial"/>
              </a:rPr>
              <a:t>業務</a:t>
            </a:r>
            <a:endParaRPr lang="en-US" sz="1650" b="0" strike="noStrike" spc="-1" dirty="0">
              <a:solidFill>
                <a:srgbClr val="000000"/>
              </a:solidFill>
              <a:latin typeface="Calibri"/>
            </a:endParaRPr>
          </a:p>
        </p:txBody>
      </p:sp>
      <p:sp>
        <p:nvSpPr>
          <p:cNvPr id="14" name="文字方塊 17">
            <a:extLst>
              <a:ext uri="{FF2B5EF4-FFF2-40B4-BE49-F238E27FC236}">
                <a16:creationId xmlns:a16="http://schemas.microsoft.com/office/drawing/2014/main" id="{6A7AD60C-DA87-FA66-B675-225699E5A152}"/>
              </a:ext>
            </a:extLst>
          </p:cNvPr>
          <p:cNvSpPr/>
          <p:nvPr/>
        </p:nvSpPr>
        <p:spPr>
          <a:xfrm>
            <a:off x="5481772" y="1411140"/>
            <a:ext cx="3005460" cy="344795"/>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defTabSz="1371600">
              <a:lnSpc>
                <a:spcPct val="100000"/>
              </a:lnSpc>
            </a:pPr>
            <a:r>
              <a:rPr lang="zh-TW" sz="1650" b="0" strike="noStrike" spc="-1" dirty="0">
                <a:solidFill>
                  <a:srgbClr val="000000"/>
                </a:solidFill>
                <a:latin typeface="Arial"/>
              </a:rPr>
              <a:t>生管</a:t>
            </a:r>
            <a:r>
              <a:rPr lang="en-US" sz="1650" b="0" strike="noStrike" spc="-1" dirty="0">
                <a:solidFill>
                  <a:srgbClr val="000000"/>
                </a:solidFill>
                <a:latin typeface="Arial"/>
              </a:rPr>
              <a:t>/</a:t>
            </a:r>
            <a:r>
              <a:rPr lang="zh-TW" sz="1650" b="0" strike="noStrike" spc="-1" dirty="0">
                <a:solidFill>
                  <a:srgbClr val="000000"/>
                </a:solidFill>
                <a:latin typeface="Arial"/>
              </a:rPr>
              <a:t>倉庫</a:t>
            </a:r>
            <a:r>
              <a:rPr lang="en-US" sz="1650" b="0" strike="noStrike" spc="-1" dirty="0">
                <a:solidFill>
                  <a:srgbClr val="000000"/>
                </a:solidFill>
                <a:latin typeface="Arial"/>
              </a:rPr>
              <a:t>/</a:t>
            </a:r>
            <a:r>
              <a:rPr lang="zh-TW" sz="1650" b="0" strike="noStrike" spc="-1" dirty="0">
                <a:solidFill>
                  <a:srgbClr val="000000"/>
                </a:solidFill>
                <a:latin typeface="Arial"/>
              </a:rPr>
              <a:t>廠務主管</a:t>
            </a:r>
            <a:endParaRPr lang="en-US" sz="1650" b="0" strike="noStrike" spc="-1" dirty="0">
              <a:solidFill>
                <a:srgbClr val="000000"/>
              </a:solidFill>
              <a:latin typeface="Calibri"/>
            </a:endParaRPr>
          </a:p>
        </p:txBody>
      </p:sp>
      <p:cxnSp>
        <p:nvCxnSpPr>
          <p:cNvPr id="15" name="肘形接點 68">
            <a:extLst>
              <a:ext uri="{FF2B5EF4-FFF2-40B4-BE49-F238E27FC236}">
                <a16:creationId xmlns:a16="http://schemas.microsoft.com/office/drawing/2014/main" id="{DBC629D5-DE0A-9733-3064-57081183DEF0}"/>
              </a:ext>
            </a:extLst>
          </p:cNvPr>
          <p:cNvCxnSpPr>
            <a:cxnSpLocks/>
            <a:stCxn id="35" idx="1"/>
            <a:endCxn id="43" idx="0"/>
          </p:cNvCxnSpPr>
          <p:nvPr/>
        </p:nvCxnSpPr>
        <p:spPr>
          <a:xfrm rot="10800000" flipV="1">
            <a:off x="4306073" y="7141498"/>
            <a:ext cx="1836438" cy="748981"/>
          </a:xfrm>
          <a:prstGeom prst="bentConnector2">
            <a:avLst/>
          </a:prstGeom>
          <a:ln>
            <a:solidFill>
              <a:srgbClr val="000000"/>
            </a:solidFill>
            <a:tailEnd type="triangle" w="med" len="med"/>
          </a:ln>
        </p:spPr>
      </p:cxnSp>
      <p:grpSp>
        <p:nvGrpSpPr>
          <p:cNvPr id="16" name="Group 220">
            <a:extLst>
              <a:ext uri="{FF2B5EF4-FFF2-40B4-BE49-F238E27FC236}">
                <a16:creationId xmlns:a16="http://schemas.microsoft.com/office/drawing/2014/main" id="{6CDBEBE8-FDB7-EA2B-216C-7C4C46E20CBB}"/>
              </a:ext>
            </a:extLst>
          </p:cNvPr>
          <p:cNvGrpSpPr/>
          <p:nvPr/>
        </p:nvGrpSpPr>
        <p:grpSpPr>
          <a:xfrm>
            <a:off x="10856283" y="3656942"/>
            <a:ext cx="543240" cy="415440"/>
            <a:chOff x="8328240" y="3307320"/>
            <a:chExt cx="543240" cy="415440"/>
          </a:xfrm>
        </p:grpSpPr>
        <p:sp>
          <p:nvSpPr>
            <p:cNvPr id="17" name="Oval 221">
              <a:extLst>
                <a:ext uri="{FF2B5EF4-FFF2-40B4-BE49-F238E27FC236}">
                  <a16:creationId xmlns:a16="http://schemas.microsoft.com/office/drawing/2014/main" id="{1FBE68CF-542C-C1EE-1E3C-267A2A9F65DD}"/>
                </a:ext>
              </a:extLst>
            </p:cNvPr>
            <p:cNvSpPr/>
            <p:nvPr/>
          </p:nvSpPr>
          <p:spPr>
            <a:xfrm>
              <a:off x="8328240" y="3307320"/>
              <a:ext cx="411120" cy="415440"/>
            </a:xfrm>
            <a:prstGeom prst="ellipse">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1371600">
                <a:lnSpc>
                  <a:spcPct val="100000"/>
                </a:lnSpc>
              </a:pPr>
              <a:endParaRPr lang="en-US" sz="1500" b="0" strike="noStrike" spc="-1">
                <a:solidFill>
                  <a:srgbClr val="FFFFFF"/>
                </a:solidFill>
                <a:latin typeface="Arial"/>
                <a:ea typeface="新細明體"/>
              </a:endParaRPr>
            </a:p>
          </p:txBody>
        </p:sp>
        <p:sp>
          <p:nvSpPr>
            <p:cNvPr id="18" name="TextBox 222">
              <a:extLst>
                <a:ext uri="{FF2B5EF4-FFF2-40B4-BE49-F238E27FC236}">
                  <a16:creationId xmlns:a16="http://schemas.microsoft.com/office/drawing/2014/main" id="{4139C6DA-9533-2F04-06F0-603AAAAF98AC}"/>
                </a:ext>
              </a:extLst>
            </p:cNvPr>
            <p:cNvSpPr/>
            <p:nvPr/>
          </p:nvSpPr>
          <p:spPr>
            <a:xfrm>
              <a:off x="8338320" y="3337920"/>
              <a:ext cx="533160" cy="31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1371600">
                <a:lnSpc>
                  <a:spcPct val="100000"/>
                </a:lnSpc>
              </a:pPr>
              <a:r>
                <a:rPr lang="en-US" sz="1500" b="0" strike="noStrike" spc="-1">
                  <a:solidFill>
                    <a:srgbClr val="000000"/>
                  </a:solidFill>
                  <a:latin typeface="微軟正黑體"/>
                  <a:ea typeface="微軟正黑體"/>
                </a:rPr>
                <a:t>5</a:t>
              </a:r>
              <a:endParaRPr lang="en-US" sz="1500" b="0" strike="noStrike" spc="-1">
                <a:solidFill>
                  <a:srgbClr val="000000"/>
                </a:solidFill>
                <a:latin typeface="Calibri"/>
              </a:endParaRPr>
            </a:p>
          </p:txBody>
        </p:sp>
      </p:grpSp>
      <p:cxnSp>
        <p:nvCxnSpPr>
          <p:cNvPr id="19" name="肘形接點 68">
            <a:extLst>
              <a:ext uri="{FF2B5EF4-FFF2-40B4-BE49-F238E27FC236}">
                <a16:creationId xmlns:a16="http://schemas.microsoft.com/office/drawing/2014/main" id="{1A9BC8E8-2559-28EE-CBA4-DF9669CC0C2B}"/>
              </a:ext>
            </a:extLst>
          </p:cNvPr>
          <p:cNvCxnSpPr>
            <a:cxnSpLocks/>
            <a:stCxn id="20" idx="3"/>
            <a:endCxn id="33" idx="1"/>
          </p:cNvCxnSpPr>
          <p:nvPr/>
        </p:nvCxnSpPr>
        <p:spPr>
          <a:xfrm flipV="1">
            <a:off x="2062440" y="3923131"/>
            <a:ext cx="1261733" cy="3749"/>
          </a:xfrm>
          <a:prstGeom prst="bentConnector3">
            <a:avLst>
              <a:gd name="adj1" fmla="val 50000"/>
            </a:avLst>
          </a:prstGeom>
          <a:ln>
            <a:solidFill>
              <a:srgbClr val="000000"/>
            </a:solidFill>
            <a:tailEnd type="triangle" w="med" len="med"/>
          </a:ln>
        </p:spPr>
      </p:cxnSp>
      <p:sp>
        <p:nvSpPr>
          <p:cNvPr id="20" name="流程圖: 結束點 8">
            <a:extLst>
              <a:ext uri="{FF2B5EF4-FFF2-40B4-BE49-F238E27FC236}">
                <a16:creationId xmlns:a16="http://schemas.microsoft.com/office/drawing/2014/main" id="{FCC64451-DB53-ED16-5794-7829E8A93420}"/>
              </a:ext>
            </a:extLst>
          </p:cNvPr>
          <p:cNvSpPr/>
          <p:nvPr/>
        </p:nvSpPr>
        <p:spPr>
          <a:xfrm>
            <a:off x="264960" y="3535920"/>
            <a:ext cx="1797480" cy="781920"/>
          </a:xfrm>
          <a:prstGeom prst="flowChartTermina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1371600">
              <a:lnSpc>
                <a:spcPct val="100000"/>
              </a:lnSpc>
            </a:pPr>
            <a:r>
              <a:rPr lang="zh-TW" sz="1500" b="0" strike="noStrike" spc="-1">
                <a:solidFill>
                  <a:srgbClr val="000000"/>
                </a:solidFill>
                <a:latin typeface="微軟正黑體"/>
                <a:ea typeface="微軟正黑體"/>
              </a:rPr>
              <a:t>開始</a:t>
            </a:r>
            <a:endParaRPr lang="en-US" sz="1500" b="0" strike="noStrike" spc="-1">
              <a:solidFill>
                <a:srgbClr val="000000"/>
              </a:solidFill>
              <a:latin typeface="Calibri"/>
            </a:endParaRPr>
          </a:p>
        </p:txBody>
      </p:sp>
      <p:cxnSp>
        <p:nvCxnSpPr>
          <p:cNvPr id="21" name="肘形接點 68">
            <a:extLst>
              <a:ext uri="{FF2B5EF4-FFF2-40B4-BE49-F238E27FC236}">
                <a16:creationId xmlns:a16="http://schemas.microsoft.com/office/drawing/2014/main" id="{318CE6DB-7C68-343C-1AF1-259F169F3F44}"/>
              </a:ext>
            </a:extLst>
          </p:cNvPr>
          <p:cNvCxnSpPr>
            <a:stCxn id="9" idx="3"/>
            <a:endCxn id="6" idx="1"/>
          </p:cNvCxnSpPr>
          <p:nvPr/>
        </p:nvCxnSpPr>
        <p:spPr>
          <a:xfrm>
            <a:off x="2280960" y="2596860"/>
            <a:ext cx="6999243" cy="7500"/>
          </a:xfrm>
          <a:prstGeom prst="bentConnector3">
            <a:avLst>
              <a:gd name="adj1" fmla="val 50000"/>
            </a:avLst>
          </a:prstGeom>
          <a:ln>
            <a:solidFill>
              <a:srgbClr val="000000"/>
            </a:solidFill>
            <a:tailEnd type="triangle" w="med" len="med"/>
          </a:ln>
        </p:spPr>
      </p:cxnSp>
      <p:sp>
        <p:nvSpPr>
          <p:cNvPr id="22" name="Google Shape;198;p3">
            <a:extLst>
              <a:ext uri="{FF2B5EF4-FFF2-40B4-BE49-F238E27FC236}">
                <a16:creationId xmlns:a16="http://schemas.microsoft.com/office/drawing/2014/main" id="{EE719976-15BD-4AA7-7D6D-F19AA086EA8C}"/>
              </a:ext>
            </a:extLst>
          </p:cNvPr>
          <p:cNvSpPr/>
          <p:nvPr/>
        </p:nvSpPr>
        <p:spPr>
          <a:xfrm>
            <a:off x="15588360" y="517680"/>
            <a:ext cx="1578960" cy="190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defTabSz="1371600">
              <a:lnSpc>
                <a:spcPct val="100000"/>
              </a:lnSpc>
              <a:tabLst>
                <a:tab pos="0" algn="l"/>
              </a:tabLst>
            </a:pPr>
            <a:r>
              <a:rPr lang="en-US" sz="1500" b="0" strike="noStrike" spc="-1">
                <a:solidFill>
                  <a:srgbClr val="000000"/>
                </a:solidFill>
                <a:latin typeface="Arial"/>
                <a:ea typeface="Arial"/>
              </a:rPr>
              <a:t>1</a:t>
            </a:r>
            <a:endParaRPr lang="en-US" sz="1500" b="0" strike="noStrike" spc="-1">
              <a:solidFill>
                <a:srgbClr val="000000"/>
              </a:solidFill>
              <a:latin typeface="Calibri"/>
            </a:endParaRPr>
          </a:p>
        </p:txBody>
      </p:sp>
      <p:graphicFrame>
        <p:nvGraphicFramePr>
          <p:cNvPr id="23" name="表格 30">
            <a:extLst>
              <a:ext uri="{FF2B5EF4-FFF2-40B4-BE49-F238E27FC236}">
                <a16:creationId xmlns:a16="http://schemas.microsoft.com/office/drawing/2014/main" id="{664D1B97-6B2A-2E63-48DF-CF26E760DDEC}"/>
              </a:ext>
            </a:extLst>
          </p:cNvPr>
          <p:cNvGraphicFramePr/>
          <p:nvPr>
            <p:extLst>
              <p:ext uri="{D42A27DB-BD31-4B8C-83A1-F6EECF244321}">
                <p14:modId xmlns:p14="http://schemas.microsoft.com/office/powerpoint/2010/main" val="129257815"/>
              </p:ext>
            </p:extLst>
          </p:nvPr>
        </p:nvGraphicFramePr>
        <p:xfrm>
          <a:off x="3324173" y="5533200"/>
          <a:ext cx="1797120" cy="1323720"/>
        </p:xfrm>
        <a:graphic>
          <a:graphicData uri="http://schemas.openxmlformats.org/drawingml/2006/table">
            <a:tbl>
              <a:tblPr/>
              <a:tblGrid>
                <a:gridCol w="898560">
                  <a:extLst>
                    <a:ext uri="{9D8B030D-6E8A-4147-A177-3AD203B41FA5}">
                      <a16:colId xmlns:a16="http://schemas.microsoft.com/office/drawing/2014/main" val="20000"/>
                    </a:ext>
                  </a:extLst>
                </a:gridCol>
                <a:gridCol w="898560">
                  <a:extLst>
                    <a:ext uri="{9D8B030D-6E8A-4147-A177-3AD203B41FA5}">
                      <a16:colId xmlns:a16="http://schemas.microsoft.com/office/drawing/2014/main" val="20001"/>
                    </a:ext>
                  </a:extLst>
                </a:gridCol>
              </a:tblGrid>
              <a:tr h="421920">
                <a:tc gridSpan="2">
                  <a:txBody>
                    <a:bodyPr/>
                    <a:lstStyle/>
                    <a:p>
                      <a:pPr algn="ctr" defTabSz="914400">
                        <a:lnSpc>
                          <a:spcPct val="100000"/>
                        </a:lnSpc>
                        <a:tabLst>
                          <a:tab pos="0" algn="l"/>
                        </a:tabLst>
                      </a:pPr>
                      <a:r>
                        <a:rPr lang="en-GB" sz="1500" b="1" strike="noStrike" spc="-1">
                          <a:solidFill>
                            <a:schemeClr val="dk1"/>
                          </a:solidFill>
                          <a:latin typeface="微軟正黑體"/>
                          <a:ea typeface="微軟正黑體"/>
                        </a:rPr>
                        <a:t>Z</a:t>
                      </a:r>
                      <a:r>
                        <a:rPr lang="en-US" sz="1500" b="1" strike="noStrike" spc="-1">
                          <a:solidFill>
                            <a:schemeClr val="dk1"/>
                          </a:solidFill>
                          <a:latin typeface="微軟正黑體"/>
                          <a:ea typeface="微軟正黑體"/>
                        </a:rPr>
                        <a:t>MM017</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0"/>
                  </a:ext>
                </a:extLst>
              </a:tr>
              <a:tr h="565200">
                <a:tc gridSpan="2">
                  <a:txBody>
                    <a:bodyPr/>
                    <a:lstStyle/>
                    <a:p>
                      <a:pPr algn="ctr" defTabSz="1371600">
                        <a:lnSpc>
                          <a:spcPct val="100000"/>
                        </a:lnSpc>
                      </a:pPr>
                      <a:r>
                        <a:rPr lang="zh-TW" sz="1500" b="0" strike="noStrike" spc="-1" dirty="0">
                          <a:solidFill>
                            <a:schemeClr val="dk1"/>
                          </a:solidFill>
                          <a:latin typeface="微軟正黑體"/>
                          <a:ea typeface="微軟正黑體"/>
                        </a:rPr>
                        <a:t>將請購單發起</a:t>
                      </a:r>
                      <a:r>
                        <a:rPr lang="en-US" sz="1500" b="0" strike="noStrike" spc="-1" dirty="0">
                          <a:solidFill>
                            <a:schemeClr val="dk1"/>
                          </a:solidFill>
                          <a:latin typeface="微軟正黑體"/>
                          <a:ea typeface="微軟正黑體"/>
                        </a:rPr>
                        <a:t>BPM</a:t>
                      </a:r>
                      <a:r>
                        <a:rPr lang="zh-TW" sz="1500" b="0" strike="noStrike" spc="-1" dirty="0">
                          <a:solidFill>
                            <a:schemeClr val="dk1"/>
                          </a:solidFill>
                          <a:latin typeface="微軟正黑體"/>
                          <a:ea typeface="微軟正黑體"/>
                        </a:rPr>
                        <a:t>簽核</a:t>
                      </a:r>
                      <a:endParaRPr lang="en-US" sz="1500" b="0" strike="noStrike" spc="-1" dirty="0">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1"/>
                  </a:ext>
                </a:extLst>
              </a:tr>
              <a:tr h="336600">
                <a:tc>
                  <a:txBody>
                    <a:bodyPr/>
                    <a:lstStyle/>
                    <a:p>
                      <a:pPr algn="ctr" defTabSz="1371600">
                        <a:lnSpc>
                          <a:spcPct val="100000"/>
                        </a:lnSpc>
                      </a:pPr>
                      <a:r>
                        <a:rPr lang="en-US" sz="1500" b="0" strike="noStrike" spc="-1">
                          <a:solidFill>
                            <a:schemeClr val="dk1"/>
                          </a:solidFill>
                          <a:latin typeface="微軟正黑體"/>
                          <a:ea typeface="微軟正黑體"/>
                        </a:rPr>
                        <a:t>SAP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500" b="0" strike="noStrike" spc="-1" dirty="0">
                          <a:solidFill>
                            <a:schemeClr val="dk1"/>
                          </a:solidFill>
                          <a:latin typeface="微軟正黑體"/>
                          <a:ea typeface="微軟正黑體"/>
                        </a:rPr>
                        <a:t>手動</a:t>
                      </a:r>
                      <a:endParaRPr lang="en-US" sz="1500" b="0" strike="noStrike" spc="-1" dirty="0">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extLst>
                  <a:ext uri="{0D108BD9-81ED-4DB2-BD59-A6C34878D82A}">
                    <a16:rowId xmlns:a16="http://schemas.microsoft.com/office/drawing/2014/main" val="10002"/>
                  </a:ext>
                </a:extLst>
              </a:tr>
            </a:tbl>
          </a:graphicData>
        </a:graphic>
      </p:graphicFrame>
      <p:grpSp>
        <p:nvGrpSpPr>
          <p:cNvPr id="24" name="Group 220">
            <a:extLst>
              <a:ext uri="{FF2B5EF4-FFF2-40B4-BE49-F238E27FC236}">
                <a16:creationId xmlns:a16="http://schemas.microsoft.com/office/drawing/2014/main" id="{18BD5A68-A6C7-92F0-8501-6F2B8AE9D5E3}"/>
              </a:ext>
            </a:extLst>
          </p:cNvPr>
          <p:cNvGrpSpPr/>
          <p:nvPr/>
        </p:nvGrpSpPr>
        <p:grpSpPr>
          <a:xfrm>
            <a:off x="7634711" y="4210920"/>
            <a:ext cx="549360" cy="415440"/>
            <a:chOff x="6128640" y="4210920"/>
            <a:chExt cx="549360" cy="415440"/>
          </a:xfrm>
        </p:grpSpPr>
        <p:sp>
          <p:nvSpPr>
            <p:cNvPr id="25" name="Oval 221">
              <a:extLst>
                <a:ext uri="{FF2B5EF4-FFF2-40B4-BE49-F238E27FC236}">
                  <a16:creationId xmlns:a16="http://schemas.microsoft.com/office/drawing/2014/main" id="{348BD6D0-1931-7223-C52D-7014FCA925F7}"/>
                </a:ext>
              </a:extLst>
            </p:cNvPr>
            <p:cNvSpPr/>
            <p:nvPr/>
          </p:nvSpPr>
          <p:spPr>
            <a:xfrm>
              <a:off x="6128640" y="4210920"/>
              <a:ext cx="411120" cy="415440"/>
            </a:xfrm>
            <a:prstGeom prst="ellipse">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1371600">
                <a:lnSpc>
                  <a:spcPct val="100000"/>
                </a:lnSpc>
              </a:pPr>
              <a:endParaRPr lang="en-US" sz="1500" b="0" strike="noStrike" spc="-1">
                <a:solidFill>
                  <a:srgbClr val="FFFFFF"/>
                </a:solidFill>
                <a:latin typeface="Arial"/>
                <a:ea typeface="新細明體"/>
              </a:endParaRPr>
            </a:p>
          </p:txBody>
        </p:sp>
        <p:sp>
          <p:nvSpPr>
            <p:cNvPr id="26" name="TextBox 222">
              <a:extLst>
                <a:ext uri="{FF2B5EF4-FFF2-40B4-BE49-F238E27FC236}">
                  <a16:creationId xmlns:a16="http://schemas.microsoft.com/office/drawing/2014/main" id="{DEE37A85-0DD1-2703-E685-C1BB2BD4C68B}"/>
                </a:ext>
              </a:extLst>
            </p:cNvPr>
            <p:cNvSpPr/>
            <p:nvPr/>
          </p:nvSpPr>
          <p:spPr>
            <a:xfrm>
              <a:off x="6144840" y="4231440"/>
              <a:ext cx="533160" cy="31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1371600">
                <a:lnSpc>
                  <a:spcPct val="100000"/>
                </a:lnSpc>
              </a:pPr>
              <a:r>
                <a:rPr lang="en-US" sz="1500" b="0" strike="noStrike" spc="-1">
                  <a:solidFill>
                    <a:srgbClr val="000000"/>
                  </a:solidFill>
                  <a:latin typeface="微軟正黑體"/>
                  <a:ea typeface="微軟正黑體"/>
                </a:rPr>
                <a:t>3</a:t>
              </a:r>
              <a:endParaRPr lang="en-US" sz="1500" b="0" strike="noStrike" spc="-1">
                <a:solidFill>
                  <a:srgbClr val="000000"/>
                </a:solidFill>
                <a:latin typeface="Calibri"/>
              </a:endParaRPr>
            </a:p>
          </p:txBody>
        </p:sp>
      </p:grpSp>
      <p:grpSp>
        <p:nvGrpSpPr>
          <p:cNvPr id="27" name="Group 220">
            <a:extLst>
              <a:ext uri="{FF2B5EF4-FFF2-40B4-BE49-F238E27FC236}">
                <a16:creationId xmlns:a16="http://schemas.microsoft.com/office/drawing/2014/main" id="{1B400396-996D-EBB6-00C9-6AFE9A77578A}"/>
              </a:ext>
            </a:extLst>
          </p:cNvPr>
          <p:cNvGrpSpPr/>
          <p:nvPr/>
        </p:nvGrpSpPr>
        <p:grpSpPr>
          <a:xfrm>
            <a:off x="4825373" y="5340240"/>
            <a:ext cx="549360" cy="415440"/>
            <a:chOff x="4032000" y="5340240"/>
            <a:chExt cx="549360" cy="415440"/>
          </a:xfrm>
        </p:grpSpPr>
        <p:sp>
          <p:nvSpPr>
            <p:cNvPr id="28" name="Oval 221">
              <a:extLst>
                <a:ext uri="{FF2B5EF4-FFF2-40B4-BE49-F238E27FC236}">
                  <a16:creationId xmlns:a16="http://schemas.microsoft.com/office/drawing/2014/main" id="{5E441C57-BDE8-382D-F273-7DD36AFE85D6}"/>
                </a:ext>
              </a:extLst>
            </p:cNvPr>
            <p:cNvSpPr/>
            <p:nvPr/>
          </p:nvSpPr>
          <p:spPr>
            <a:xfrm>
              <a:off x="4032000" y="5340240"/>
              <a:ext cx="411120" cy="415440"/>
            </a:xfrm>
            <a:prstGeom prst="ellipse">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1371600">
                <a:lnSpc>
                  <a:spcPct val="100000"/>
                </a:lnSpc>
              </a:pPr>
              <a:endParaRPr lang="en-US" sz="1500" b="0" strike="noStrike" spc="-1">
                <a:solidFill>
                  <a:srgbClr val="FFFFFF"/>
                </a:solidFill>
                <a:latin typeface="Arial"/>
                <a:ea typeface="新細明體"/>
              </a:endParaRPr>
            </a:p>
          </p:txBody>
        </p:sp>
        <p:sp>
          <p:nvSpPr>
            <p:cNvPr id="29" name="TextBox 222">
              <a:extLst>
                <a:ext uri="{FF2B5EF4-FFF2-40B4-BE49-F238E27FC236}">
                  <a16:creationId xmlns:a16="http://schemas.microsoft.com/office/drawing/2014/main" id="{EFB0631D-DFD1-0DFA-29CE-63B4E5402EBD}"/>
                </a:ext>
              </a:extLst>
            </p:cNvPr>
            <p:cNvSpPr/>
            <p:nvPr/>
          </p:nvSpPr>
          <p:spPr>
            <a:xfrm>
              <a:off x="4048200" y="5357520"/>
              <a:ext cx="533160" cy="31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1371600">
                <a:lnSpc>
                  <a:spcPct val="100000"/>
                </a:lnSpc>
              </a:pPr>
              <a:r>
                <a:rPr lang="en-US" sz="1500" b="0" strike="noStrike" spc="-1">
                  <a:solidFill>
                    <a:srgbClr val="000000"/>
                  </a:solidFill>
                  <a:latin typeface="微軟正黑體"/>
                  <a:ea typeface="微軟正黑體"/>
                </a:rPr>
                <a:t>2</a:t>
              </a:r>
              <a:endParaRPr lang="en-US" sz="1500" b="0" strike="noStrike" spc="-1">
                <a:solidFill>
                  <a:srgbClr val="000000"/>
                </a:solidFill>
                <a:latin typeface="Calibri"/>
              </a:endParaRPr>
            </a:p>
          </p:txBody>
        </p:sp>
      </p:grpSp>
      <p:grpSp>
        <p:nvGrpSpPr>
          <p:cNvPr id="30" name="Group 220">
            <a:extLst>
              <a:ext uri="{FF2B5EF4-FFF2-40B4-BE49-F238E27FC236}">
                <a16:creationId xmlns:a16="http://schemas.microsoft.com/office/drawing/2014/main" id="{F8BD6BF5-C91C-F652-70B2-E4FD8ACD5766}"/>
              </a:ext>
            </a:extLst>
          </p:cNvPr>
          <p:cNvGrpSpPr/>
          <p:nvPr/>
        </p:nvGrpSpPr>
        <p:grpSpPr>
          <a:xfrm>
            <a:off x="10890843" y="1758600"/>
            <a:ext cx="546120" cy="415440"/>
            <a:chOff x="8362800" y="1758600"/>
            <a:chExt cx="546120" cy="415440"/>
          </a:xfrm>
        </p:grpSpPr>
        <p:sp>
          <p:nvSpPr>
            <p:cNvPr id="31" name="Oval 221">
              <a:extLst>
                <a:ext uri="{FF2B5EF4-FFF2-40B4-BE49-F238E27FC236}">
                  <a16:creationId xmlns:a16="http://schemas.microsoft.com/office/drawing/2014/main" id="{0A3E38AF-FBC8-D03C-9D3E-40163B7BCAC0}"/>
                </a:ext>
              </a:extLst>
            </p:cNvPr>
            <p:cNvSpPr/>
            <p:nvPr/>
          </p:nvSpPr>
          <p:spPr>
            <a:xfrm>
              <a:off x="8362800" y="1758600"/>
              <a:ext cx="411120" cy="415440"/>
            </a:xfrm>
            <a:prstGeom prst="ellipse">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1371600">
                <a:lnSpc>
                  <a:spcPct val="100000"/>
                </a:lnSpc>
              </a:pPr>
              <a:endParaRPr lang="en-US" sz="1500" b="0" strike="noStrike" spc="-1">
                <a:solidFill>
                  <a:srgbClr val="FFFFFF"/>
                </a:solidFill>
                <a:latin typeface="Arial"/>
                <a:ea typeface="新細明體"/>
              </a:endParaRPr>
            </a:p>
          </p:txBody>
        </p:sp>
        <p:sp>
          <p:nvSpPr>
            <p:cNvPr id="32" name="TextBox 222">
              <a:extLst>
                <a:ext uri="{FF2B5EF4-FFF2-40B4-BE49-F238E27FC236}">
                  <a16:creationId xmlns:a16="http://schemas.microsoft.com/office/drawing/2014/main" id="{28452DD7-C799-4AAA-0430-79CE79AC7011}"/>
                </a:ext>
              </a:extLst>
            </p:cNvPr>
            <p:cNvSpPr/>
            <p:nvPr/>
          </p:nvSpPr>
          <p:spPr>
            <a:xfrm>
              <a:off x="8375760" y="1789560"/>
              <a:ext cx="533160" cy="31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1371600">
                <a:lnSpc>
                  <a:spcPct val="100000"/>
                </a:lnSpc>
              </a:pPr>
              <a:r>
                <a:rPr lang="en-US" sz="1500" b="0" strike="noStrike" spc="-1">
                  <a:solidFill>
                    <a:srgbClr val="000000"/>
                  </a:solidFill>
                  <a:latin typeface="微軟正黑體"/>
                  <a:ea typeface="微軟正黑體"/>
                </a:rPr>
                <a:t>4</a:t>
              </a:r>
              <a:endParaRPr lang="en-US" sz="1500" b="0" strike="noStrike" spc="-1">
                <a:solidFill>
                  <a:srgbClr val="000000"/>
                </a:solidFill>
                <a:latin typeface="Calibri"/>
              </a:endParaRPr>
            </a:p>
          </p:txBody>
        </p:sp>
      </p:grpSp>
      <p:graphicFrame>
        <p:nvGraphicFramePr>
          <p:cNvPr id="33" name="表格 10">
            <a:extLst>
              <a:ext uri="{FF2B5EF4-FFF2-40B4-BE49-F238E27FC236}">
                <a16:creationId xmlns:a16="http://schemas.microsoft.com/office/drawing/2014/main" id="{6FC90C2D-8CE3-A8F1-4C45-9972C4D7744A}"/>
              </a:ext>
            </a:extLst>
          </p:cNvPr>
          <p:cNvGraphicFramePr/>
          <p:nvPr>
            <p:extLst>
              <p:ext uri="{D42A27DB-BD31-4B8C-83A1-F6EECF244321}">
                <p14:modId xmlns:p14="http://schemas.microsoft.com/office/powerpoint/2010/main" val="3061320411"/>
              </p:ext>
            </p:extLst>
          </p:nvPr>
        </p:nvGraphicFramePr>
        <p:xfrm>
          <a:off x="3324173" y="3290971"/>
          <a:ext cx="1797120" cy="1264320"/>
        </p:xfrm>
        <a:graphic>
          <a:graphicData uri="http://schemas.openxmlformats.org/drawingml/2006/table">
            <a:tbl>
              <a:tblPr/>
              <a:tblGrid>
                <a:gridCol w="898560">
                  <a:extLst>
                    <a:ext uri="{9D8B030D-6E8A-4147-A177-3AD203B41FA5}">
                      <a16:colId xmlns:a16="http://schemas.microsoft.com/office/drawing/2014/main" val="20000"/>
                    </a:ext>
                  </a:extLst>
                </a:gridCol>
                <a:gridCol w="898560">
                  <a:extLst>
                    <a:ext uri="{9D8B030D-6E8A-4147-A177-3AD203B41FA5}">
                      <a16:colId xmlns:a16="http://schemas.microsoft.com/office/drawing/2014/main" val="20001"/>
                    </a:ext>
                  </a:extLst>
                </a:gridCol>
              </a:tblGrid>
              <a:tr h="565200">
                <a:tc gridSpan="2">
                  <a:txBody>
                    <a:bodyPr/>
                    <a:lstStyle/>
                    <a:p>
                      <a:pPr algn="ctr" defTabSz="914400">
                        <a:lnSpc>
                          <a:spcPct val="100000"/>
                        </a:lnSpc>
                        <a:tabLst>
                          <a:tab pos="0" algn="l"/>
                        </a:tabLst>
                      </a:pPr>
                      <a:endParaRPr lang="en-US" sz="1500" b="0" strike="noStrike" spc="-1">
                        <a:solidFill>
                          <a:srgbClr val="000000"/>
                        </a:solidFill>
                        <a:latin typeface="Calibri"/>
                      </a:endParaRPr>
                    </a:p>
                    <a:p>
                      <a:pPr algn="ctr" defTabSz="914400">
                        <a:lnSpc>
                          <a:spcPct val="100000"/>
                        </a:lnSpc>
                        <a:tabLst>
                          <a:tab pos="0" algn="l"/>
                        </a:tabLst>
                      </a:pPr>
                      <a:r>
                        <a:rPr lang="en-GB" sz="1500" b="1" strike="noStrike" spc="-1">
                          <a:solidFill>
                            <a:schemeClr val="dk1"/>
                          </a:solidFill>
                          <a:latin typeface="微軟正黑體"/>
                          <a:ea typeface="微軟正黑體"/>
                        </a:rPr>
                        <a:t>ME51N</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0"/>
                  </a:ext>
                </a:extLst>
              </a:tr>
              <a:tr h="362520">
                <a:tc gridSpan="2">
                  <a:txBody>
                    <a:bodyPr/>
                    <a:lstStyle/>
                    <a:p>
                      <a:pPr algn="ctr" defTabSz="1371600">
                        <a:lnSpc>
                          <a:spcPct val="100000"/>
                        </a:lnSpc>
                      </a:pPr>
                      <a:r>
                        <a:rPr lang="zh-TW" sz="1500" b="0" strike="noStrike" spc="-1">
                          <a:solidFill>
                            <a:schemeClr val="dk1"/>
                          </a:solidFill>
                          <a:latin typeface="微軟正黑體"/>
                          <a:ea typeface="微軟正黑體"/>
                        </a:rPr>
                        <a:t>補單</a:t>
                      </a:r>
                      <a:r>
                        <a:rPr lang="en-US" sz="1500" b="0" strike="noStrike" spc="-1">
                          <a:solidFill>
                            <a:schemeClr val="dk1"/>
                          </a:solidFill>
                          <a:latin typeface="微軟正黑體"/>
                          <a:ea typeface="微軟正黑體"/>
                        </a:rPr>
                        <a:t>/</a:t>
                      </a:r>
                      <a:r>
                        <a:rPr lang="zh-TW" sz="1500" b="0" strike="noStrike" spc="-1">
                          <a:solidFill>
                            <a:schemeClr val="dk1"/>
                          </a:solidFill>
                          <a:latin typeface="微軟正黑體"/>
                          <a:ea typeface="微軟正黑體"/>
                        </a:rPr>
                        <a:t>預買申請</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1"/>
                  </a:ext>
                </a:extLst>
              </a:tr>
              <a:tr h="336600">
                <a:tc>
                  <a:txBody>
                    <a:bodyPr/>
                    <a:lstStyle/>
                    <a:p>
                      <a:pPr defTabSz="1371600">
                        <a:lnSpc>
                          <a:spcPct val="100000"/>
                        </a:lnSpc>
                      </a:pPr>
                      <a:r>
                        <a:rPr lang="en-US" sz="1500" b="0" strike="noStrike" spc="-1" dirty="0">
                          <a:solidFill>
                            <a:schemeClr val="dk1"/>
                          </a:solidFill>
                          <a:latin typeface="微軟正黑體"/>
                          <a:ea typeface="微軟正黑體"/>
                        </a:rPr>
                        <a:t>   SAP</a:t>
                      </a:r>
                      <a:endParaRPr lang="en-US" sz="1500" b="0" strike="noStrike" spc="-1" dirty="0">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500" b="0" strike="noStrike" spc="-1" dirty="0">
                          <a:solidFill>
                            <a:schemeClr val="dk1"/>
                          </a:solidFill>
                          <a:latin typeface="微軟正黑體"/>
                          <a:ea typeface="微軟正黑體"/>
                        </a:rPr>
                        <a:t>手動</a:t>
                      </a:r>
                      <a:endParaRPr lang="en-US" sz="1500" b="0" strike="noStrike" spc="-1" dirty="0">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extLst>
                  <a:ext uri="{0D108BD9-81ED-4DB2-BD59-A6C34878D82A}">
                    <a16:rowId xmlns:a16="http://schemas.microsoft.com/office/drawing/2014/main" val="10002"/>
                  </a:ext>
                </a:extLst>
              </a:tr>
            </a:tbl>
          </a:graphicData>
        </a:graphic>
      </p:graphicFrame>
      <p:cxnSp>
        <p:nvCxnSpPr>
          <p:cNvPr id="34" name="肘形接點 68">
            <a:extLst>
              <a:ext uri="{FF2B5EF4-FFF2-40B4-BE49-F238E27FC236}">
                <a16:creationId xmlns:a16="http://schemas.microsoft.com/office/drawing/2014/main" id="{436F352D-2BF2-AE8C-5C5F-1EC76DCFC745}"/>
              </a:ext>
            </a:extLst>
          </p:cNvPr>
          <p:cNvCxnSpPr>
            <a:cxnSpLocks/>
            <a:stCxn id="23" idx="3"/>
            <a:endCxn id="12" idx="1"/>
          </p:cNvCxnSpPr>
          <p:nvPr/>
        </p:nvCxnSpPr>
        <p:spPr>
          <a:xfrm flipV="1">
            <a:off x="5121293" y="4938960"/>
            <a:ext cx="1080978" cy="1256100"/>
          </a:xfrm>
          <a:prstGeom prst="bentConnector3">
            <a:avLst>
              <a:gd name="adj1" fmla="val 50000"/>
            </a:avLst>
          </a:prstGeom>
          <a:ln>
            <a:solidFill>
              <a:srgbClr val="000000"/>
            </a:solidFill>
            <a:tailEnd type="triangle" w="med" len="med"/>
          </a:ln>
        </p:spPr>
      </p:cxnSp>
      <p:sp>
        <p:nvSpPr>
          <p:cNvPr id="35" name="流程圖: 決策 50">
            <a:extLst>
              <a:ext uri="{FF2B5EF4-FFF2-40B4-BE49-F238E27FC236}">
                <a16:creationId xmlns:a16="http://schemas.microsoft.com/office/drawing/2014/main" id="{136078CC-B62B-AC32-01BB-130E930BBB5E}"/>
              </a:ext>
            </a:extLst>
          </p:cNvPr>
          <p:cNvSpPr/>
          <p:nvPr/>
        </p:nvSpPr>
        <p:spPr>
          <a:xfrm>
            <a:off x="6142511" y="6785639"/>
            <a:ext cx="1841760" cy="711720"/>
          </a:xfrm>
          <a:prstGeom prst="flowChartDecision">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1371600">
              <a:lnSpc>
                <a:spcPct val="100000"/>
              </a:lnSpc>
            </a:pPr>
            <a:r>
              <a:rPr lang="zh-TW" sz="1500" b="0" strike="noStrike" spc="-1" dirty="0">
                <a:solidFill>
                  <a:srgbClr val="000000"/>
                </a:solidFill>
                <a:latin typeface="微軟正黑體"/>
                <a:ea typeface="微軟正黑體"/>
              </a:rPr>
              <a:t>是否核淮</a:t>
            </a:r>
            <a:endParaRPr lang="en-US" sz="1500" b="0" strike="noStrike" spc="-1" dirty="0">
              <a:solidFill>
                <a:srgbClr val="000000"/>
              </a:solidFill>
              <a:latin typeface="Calibri"/>
            </a:endParaRPr>
          </a:p>
        </p:txBody>
      </p:sp>
      <p:grpSp>
        <p:nvGrpSpPr>
          <p:cNvPr id="36" name="Group 220">
            <a:extLst>
              <a:ext uri="{FF2B5EF4-FFF2-40B4-BE49-F238E27FC236}">
                <a16:creationId xmlns:a16="http://schemas.microsoft.com/office/drawing/2014/main" id="{E0A57621-FC35-E52A-952A-9914B235272E}"/>
              </a:ext>
            </a:extLst>
          </p:cNvPr>
          <p:cNvGrpSpPr/>
          <p:nvPr/>
        </p:nvGrpSpPr>
        <p:grpSpPr>
          <a:xfrm>
            <a:off x="4888733" y="3075331"/>
            <a:ext cx="549360" cy="415440"/>
            <a:chOff x="4095360" y="2900520"/>
            <a:chExt cx="549360" cy="415440"/>
          </a:xfrm>
        </p:grpSpPr>
        <p:sp>
          <p:nvSpPr>
            <p:cNvPr id="37" name="Oval 221">
              <a:extLst>
                <a:ext uri="{FF2B5EF4-FFF2-40B4-BE49-F238E27FC236}">
                  <a16:creationId xmlns:a16="http://schemas.microsoft.com/office/drawing/2014/main" id="{2BADB57C-B456-E1DE-69A6-753B360E63B7}"/>
                </a:ext>
              </a:extLst>
            </p:cNvPr>
            <p:cNvSpPr/>
            <p:nvPr/>
          </p:nvSpPr>
          <p:spPr>
            <a:xfrm>
              <a:off x="4095360" y="2900520"/>
              <a:ext cx="411120" cy="415440"/>
            </a:xfrm>
            <a:prstGeom prst="ellipse">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1371600">
                <a:lnSpc>
                  <a:spcPct val="100000"/>
                </a:lnSpc>
              </a:pPr>
              <a:endParaRPr lang="en-US" sz="1500" b="0" strike="noStrike" spc="-1">
                <a:solidFill>
                  <a:srgbClr val="FFFFFF"/>
                </a:solidFill>
                <a:latin typeface="Arial"/>
                <a:ea typeface="新細明體"/>
              </a:endParaRPr>
            </a:p>
          </p:txBody>
        </p:sp>
        <p:sp>
          <p:nvSpPr>
            <p:cNvPr id="38" name="TextBox 222">
              <a:extLst>
                <a:ext uri="{FF2B5EF4-FFF2-40B4-BE49-F238E27FC236}">
                  <a16:creationId xmlns:a16="http://schemas.microsoft.com/office/drawing/2014/main" id="{4D6214C2-9141-A13D-F15E-DD650F9573CC}"/>
                </a:ext>
              </a:extLst>
            </p:cNvPr>
            <p:cNvSpPr/>
            <p:nvPr/>
          </p:nvSpPr>
          <p:spPr>
            <a:xfrm>
              <a:off x="4111560" y="2931120"/>
              <a:ext cx="533160" cy="31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1371600">
                <a:lnSpc>
                  <a:spcPct val="100000"/>
                </a:lnSpc>
              </a:pPr>
              <a:r>
                <a:rPr lang="en-US" sz="1500" b="0" strike="noStrike" spc="-1">
                  <a:solidFill>
                    <a:srgbClr val="000000"/>
                  </a:solidFill>
                  <a:latin typeface="微軟正黑體"/>
                  <a:ea typeface="微軟正黑體"/>
                </a:rPr>
                <a:t>1</a:t>
              </a:r>
              <a:endParaRPr lang="en-US" sz="1500" b="0" strike="noStrike" spc="-1">
                <a:solidFill>
                  <a:srgbClr val="000000"/>
                </a:solidFill>
                <a:latin typeface="Calibri"/>
              </a:endParaRPr>
            </a:p>
          </p:txBody>
        </p:sp>
      </p:grpSp>
      <p:cxnSp>
        <p:nvCxnSpPr>
          <p:cNvPr id="39" name="直線單箭頭接點 227">
            <a:extLst>
              <a:ext uri="{FF2B5EF4-FFF2-40B4-BE49-F238E27FC236}">
                <a16:creationId xmlns:a16="http://schemas.microsoft.com/office/drawing/2014/main" id="{91ADC3B3-D9FF-8871-E78C-19EB94D72283}"/>
              </a:ext>
            </a:extLst>
          </p:cNvPr>
          <p:cNvCxnSpPr>
            <a:stCxn id="12" idx="2"/>
            <a:endCxn id="35" idx="0"/>
          </p:cNvCxnSpPr>
          <p:nvPr/>
        </p:nvCxnSpPr>
        <p:spPr>
          <a:xfrm flipH="1">
            <a:off x="7063391" y="5457480"/>
            <a:ext cx="4140" cy="1328159"/>
          </a:xfrm>
          <a:prstGeom prst="straightConnector1">
            <a:avLst/>
          </a:prstGeom>
          <a:ln>
            <a:solidFill>
              <a:srgbClr val="000000"/>
            </a:solidFill>
            <a:tailEnd type="triangle" w="med" len="med"/>
          </a:ln>
        </p:spPr>
      </p:cxnSp>
      <p:sp>
        <p:nvSpPr>
          <p:cNvPr id="40" name="文字方塊 96">
            <a:extLst>
              <a:ext uri="{FF2B5EF4-FFF2-40B4-BE49-F238E27FC236}">
                <a16:creationId xmlns:a16="http://schemas.microsoft.com/office/drawing/2014/main" id="{1F7F2DA7-1917-CEF4-4ACE-0FDC0E84DA0D}"/>
              </a:ext>
            </a:extLst>
          </p:cNvPr>
          <p:cNvSpPr/>
          <p:nvPr/>
        </p:nvSpPr>
        <p:spPr>
          <a:xfrm>
            <a:off x="7051871" y="7497358"/>
            <a:ext cx="788400" cy="295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1371600">
              <a:lnSpc>
                <a:spcPct val="100000"/>
              </a:lnSpc>
            </a:pPr>
            <a:r>
              <a:rPr lang="zh-TW" sz="1350" b="0" strike="noStrike" spc="-1" dirty="0">
                <a:solidFill>
                  <a:srgbClr val="000000"/>
                </a:solidFill>
                <a:latin typeface="微軟正黑體"/>
                <a:ea typeface="微軟正黑體"/>
              </a:rPr>
              <a:t>是</a:t>
            </a:r>
            <a:endParaRPr lang="en-US" sz="1350" b="0" strike="noStrike" spc="-1" dirty="0">
              <a:solidFill>
                <a:srgbClr val="000000"/>
              </a:solidFill>
              <a:latin typeface="Calibri"/>
            </a:endParaRPr>
          </a:p>
        </p:txBody>
      </p:sp>
      <p:cxnSp>
        <p:nvCxnSpPr>
          <p:cNvPr id="41" name="直線單箭頭接點 97">
            <a:extLst>
              <a:ext uri="{FF2B5EF4-FFF2-40B4-BE49-F238E27FC236}">
                <a16:creationId xmlns:a16="http://schemas.microsoft.com/office/drawing/2014/main" id="{A3622161-7C95-A650-F383-6109E5607A99}"/>
              </a:ext>
            </a:extLst>
          </p:cNvPr>
          <p:cNvCxnSpPr>
            <a:cxnSpLocks/>
            <a:stCxn id="35" idx="2"/>
          </p:cNvCxnSpPr>
          <p:nvPr/>
        </p:nvCxnSpPr>
        <p:spPr>
          <a:xfrm flipH="1">
            <a:off x="7061231" y="7497359"/>
            <a:ext cx="2520" cy="622080"/>
          </a:xfrm>
          <a:prstGeom prst="straightConnector1">
            <a:avLst/>
          </a:prstGeom>
          <a:ln>
            <a:solidFill>
              <a:srgbClr val="000000"/>
            </a:solidFill>
            <a:tailEnd type="triangle" w="med" len="med"/>
          </a:ln>
        </p:spPr>
      </p:cxnSp>
      <p:graphicFrame>
        <p:nvGraphicFramePr>
          <p:cNvPr id="42" name="表格 30">
            <a:extLst>
              <a:ext uri="{FF2B5EF4-FFF2-40B4-BE49-F238E27FC236}">
                <a16:creationId xmlns:a16="http://schemas.microsoft.com/office/drawing/2014/main" id="{31BBB522-9DB6-BFB6-BFA1-546FE0363DC1}"/>
              </a:ext>
            </a:extLst>
          </p:cNvPr>
          <p:cNvGraphicFramePr/>
          <p:nvPr>
            <p:extLst>
              <p:ext uri="{D42A27DB-BD31-4B8C-83A1-F6EECF244321}">
                <p14:modId xmlns:p14="http://schemas.microsoft.com/office/powerpoint/2010/main" val="685128836"/>
              </p:ext>
            </p:extLst>
          </p:nvPr>
        </p:nvGraphicFramePr>
        <p:xfrm>
          <a:off x="6196151" y="8119079"/>
          <a:ext cx="1730520" cy="1037040"/>
        </p:xfrm>
        <a:graphic>
          <a:graphicData uri="http://schemas.openxmlformats.org/drawingml/2006/table">
            <a:tbl>
              <a:tblPr/>
              <a:tblGrid>
                <a:gridCol w="865440">
                  <a:extLst>
                    <a:ext uri="{9D8B030D-6E8A-4147-A177-3AD203B41FA5}">
                      <a16:colId xmlns:a16="http://schemas.microsoft.com/office/drawing/2014/main" val="20000"/>
                    </a:ext>
                  </a:extLst>
                </a:gridCol>
                <a:gridCol w="865080">
                  <a:extLst>
                    <a:ext uri="{9D8B030D-6E8A-4147-A177-3AD203B41FA5}">
                      <a16:colId xmlns:a16="http://schemas.microsoft.com/office/drawing/2014/main" val="20001"/>
                    </a:ext>
                  </a:extLst>
                </a:gridCol>
              </a:tblGrid>
              <a:tr h="330120">
                <a:tc gridSpan="2">
                  <a:txBody>
                    <a:bodyPr/>
                    <a:lstStyle/>
                    <a:p>
                      <a:pPr algn="ctr" defTabSz="1371600">
                        <a:lnSpc>
                          <a:spcPct val="100000"/>
                        </a:lnSpc>
                      </a:pPr>
                      <a:r>
                        <a:rPr lang="en-GB" sz="1400" b="1" strike="noStrike" spc="-1">
                          <a:solidFill>
                            <a:schemeClr val="dk1"/>
                          </a:solidFill>
                          <a:latin typeface="微軟正黑體"/>
                          <a:ea typeface="微軟正黑體"/>
                        </a:rPr>
                        <a:t>ZMM018</a:t>
                      </a:r>
                      <a:endParaRPr lang="en-US" sz="1400" b="0" strike="noStrike" spc="-1">
                        <a:solidFill>
                          <a:srgbClr val="000000"/>
                        </a:solidFill>
                        <a:latin typeface="Calibri"/>
                      </a:endParaRPr>
                    </a:p>
                  </a:txBody>
                  <a:tcPr marL="124560" marR="12456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0"/>
                  </a:ext>
                </a:extLst>
              </a:tr>
              <a:tr h="402120">
                <a:tc gridSpan="2">
                  <a:txBody>
                    <a:bodyPr/>
                    <a:lstStyle/>
                    <a:p>
                      <a:pPr algn="ctr" defTabSz="1371600">
                        <a:lnSpc>
                          <a:spcPct val="100000"/>
                        </a:lnSpc>
                      </a:pPr>
                      <a:r>
                        <a:rPr lang="zh-TW" sz="1400" b="0" strike="noStrike" spc="-1">
                          <a:solidFill>
                            <a:schemeClr val="dk1"/>
                          </a:solidFill>
                          <a:latin typeface="微軟正黑體"/>
                          <a:ea typeface="微軟正黑體"/>
                        </a:rPr>
                        <a:t>核發請購單</a:t>
                      </a:r>
                      <a:endParaRPr lang="en-US" sz="1400" b="0" strike="noStrike" spc="-1">
                        <a:solidFill>
                          <a:srgbClr val="000000"/>
                        </a:solidFill>
                        <a:latin typeface="Calibri"/>
                      </a:endParaRPr>
                    </a:p>
                  </a:txBody>
                  <a:tcPr marL="124560" marR="12456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1"/>
                  </a:ext>
                </a:extLst>
              </a:tr>
              <a:tr h="303840">
                <a:tc>
                  <a:txBody>
                    <a:bodyPr/>
                    <a:lstStyle/>
                    <a:p>
                      <a:pPr algn="ctr" defTabSz="1371600">
                        <a:lnSpc>
                          <a:spcPct val="100000"/>
                        </a:lnSpc>
                      </a:pPr>
                      <a:r>
                        <a:rPr lang="en-US" sz="1400" b="0" strike="noStrike" spc="-1">
                          <a:solidFill>
                            <a:schemeClr val="dk1"/>
                          </a:solidFill>
                          <a:latin typeface="微軟正黑體"/>
                          <a:ea typeface="微軟正黑體"/>
                        </a:rPr>
                        <a:t>SAP</a:t>
                      </a:r>
                      <a:endParaRPr lang="en-US" sz="14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400" b="0" strike="noStrike" spc="-1">
                          <a:solidFill>
                            <a:schemeClr val="dk1"/>
                          </a:solidFill>
                          <a:latin typeface="微軟正黑體"/>
                          <a:ea typeface="微軟正黑體"/>
                        </a:rPr>
                        <a:t>自動</a:t>
                      </a:r>
                      <a:endParaRPr lang="en-US" sz="14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extLst>
                  <a:ext uri="{0D108BD9-81ED-4DB2-BD59-A6C34878D82A}">
                    <a16:rowId xmlns:a16="http://schemas.microsoft.com/office/drawing/2014/main" val="10002"/>
                  </a:ext>
                </a:extLst>
              </a:tr>
            </a:tbl>
          </a:graphicData>
        </a:graphic>
      </p:graphicFrame>
      <p:graphicFrame>
        <p:nvGraphicFramePr>
          <p:cNvPr id="43" name="表格 30">
            <a:extLst>
              <a:ext uri="{FF2B5EF4-FFF2-40B4-BE49-F238E27FC236}">
                <a16:creationId xmlns:a16="http://schemas.microsoft.com/office/drawing/2014/main" id="{A8D1102B-B11C-612B-F9F0-39BAEEE97D35}"/>
              </a:ext>
            </a:extLst>
          </p:cNvPr>
          <p:cNvGraphicFramePr/>
          <p:nvPr>
            <p:extLst>
              <p:ext uri="{D42A27DB-BD31-4B8C-83A1-F6EECF244321}">
                <p14:modId xmlns:p14="http://schemas.microsoft.com/office/powerpoint/2010/main" val="2435476899"/>
              </p:ext>
            </p:extLst>
          </p:nvPr>
        </p:nvGraphicFramePr>
        <p:xfrm>
          <a:off x="3440813" y="7890480"/>
          <a:ext cx="1730520" cy="1037040"/>
        </p:xfrm>
        <a:graphic>
          <a:graphicData uri="http://schemas.openxmlformats.org/drawingml/2006/table">
            <a:tbl>
              <a:tblPr/>
              <a:tblGrid>
                <a:gridCol w="865440">
                  <a:extLst>
                    <a:ext uri="{9D8B030D-6E8A-4147-A177-3AD203B41FA5}">
                      <a16:colId xmlns:a16="http://schemas.microsoft.com/office/drawing/2014/main" val="20000"/>
                    </a:ext>
                  </a:extLst>
                </a:gridCol>
                <a:gridCol w="865080">
                  <a:extLst>
                    <a:ext uri="{9D8B030D-6E8A-4147-A177-3AD203B41FA5}">
                      <a16:colId xmlns:a16="http://schemas.microsoft.com/office/drawing/2014/main" val="20001"/>
                    </a:ext>
                  </a:extLst>
                </a:gridCol>
              </a:tblGrid>
              <a:tr h="330120">
                <a:tc gridSpan="2">
                  <a:txBody>
                    <a:bodyPr/>
                    <a:lstStyle/>
                    <a:p>
                      <a:pPr algn="ctr" defTabSz="1371600">
                        <a:lnSpc>
                          <a:spcPct val="100000"/>
                        </a:lnSpc>
                      </a:pPr>
                      <a:r>
                        <a:rPr lang="en-GB" sz="1400" b="1" strike="noStrike" spc="-1">
                          <a:solidFill>
                            <a:schemeClr val="dk1"/>
                          </a:solidFill>
                          <a:latin typeface="微軟正黑體"/>
                          <a:ea typeface="微軟正黑體"/>
                        </a:rPr>
                        <a:t>ZMM018 </a:t>
                      </a:r>
                      <a:endParaRPr lang="en-US" sz="1400" b="0" strike="noStrike" spc="-1">
                        <a:solidFill>
                          <a:srgbClr val="000000"/>
                        </a:solidFill>
                        <a:latin typeface="Calibri"/>
                      </a:endParaRPr>
                    </a:p>
                  </a:txBody>
                  <a:tcPr marL="124560" marR="12456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0"/>
                  </a:ext>
                </a:extLst>
              </a:tr>
              <a:tr h="402120">
                <a:tc gridSpan="2">
                  <a:txBody>
                    <a:bodyPr/>
                    <a:lstStyle/>
                    <a:p>
                      <a:pPr algn="ctr" defTabSz="1371600">
                        <a:lnSpc>
                          <a:spcPct val="100000"/>
                        </a:lnSpc>
                      </a:pPr>
                      <a:r>
                        <a:rPr lang="zh-TW" sz="1400" b="0" strike="noStrike" spc="-1">
                          <a:solidFill>
                            <a:schemeClr val="dk1"/>
                          </a:solidFill>
                          <a:latin typeface="微軟正黑體"/>
                          <a:ea typeface="微軟正黑體"/>
                        </a:rPr>
                        <a:t>標記請購單為刪除</a:t>
                      </a:r>
                      <a:endParaRPr lang="en-US" sz="1400" b="0" strike="noStrike" spc="-1">
                        <a:solidFill>
                          <a:srgbClr val="000000"/>
                        </a:solidFill>
                        <a:latin typeface="Calibri"/>
                      </a:endParaRPr>
                    </a:p>
                  </a:txBody>
                  <a:tcPr marL="124560" marR="12456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1"/>
                  </a:ext>
                </a:extLst>
              </a:tr>
              <a:tr h="303840">
                <a:tc>
                  <a:txBody>
                    <a:bodyPr/>
                    <a:lstStyle/>
                    <a:p>
                      <a:pPr algn="ctr" defTabSz="1371600">
                        <a:lnSpc>
                          <a:spcPct val="100000"/>
                        </a:lnSpc>
                      </a:pPr>
                      <a:r>
                        <a:rPr lang="en-US" sz="1400" b="0" strike="noStrike" spc="-1">
                          <a:solidFill>
                            <a:schemeClr val="dk1"/>
                          </a:solidFill>
                          <a:latin typeface="微軟正黑體"/>
                          <a:ea typeface="微軟正黑體"/>
                        </a:rPr>
                        <a:t>SAP</a:t>
                      </a:r>
                      <a:endParaRPr lang="en-US" sz="14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400" b="0" strike="noStrike" spc="-1">
                          <a:solidFill>
                            <a:schemeClr val="dk1"/>
                          </a:solidFill>
                          <a:latin typeface="微軟正黑體"/>
                          <a:ea typeface="微軟正黑體"/>
                        </a:rPr>
                        <a:t>自動</a:t>
                      </a:r>
                      <a:endParaRPr lang="en-US" sz="14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extLst>
                  <a:ext uri="{0D108BD9-81ED-4DB2-BD59-A6C34878D82A}">
                    <a16:rowId xmlns:a16="http://schemas.microsoft.com/office/drawing/2014/main" val="10002"/>
                  </a:ext>
                </a:extLst>
              </a:tr>
            </a:tbl>
          </a:graphicData>
        </a:graphic>
      </p:graphicFrame>
      <p:cxnSp>
        <p:nvCxnSpPr>
          <p:cNvPr id="44" name="直線單箭頭接點 112">
            <a:extLst>
              <a:ext uri="{FF2B5EF4-FFF2-40B4-BE49-F238E27FC236}">
                <a16:creationId xmlns:a16="http://schemas.microsoft.com/office/drawing/2014/main" id="{FE6C4ECA-9AE2-DB6E-746C-9C36F87A7F20}"/>
              </a:ext>
            </a:extLst>
          </p:cNvPr>
          <p:cNvCxnSpPr>
            <a:cxnSpLocks/>
            <a:stCxn id="33" idx="2"/>
            <a:endCxn id="23" idx="0"/>
          </p:cNvCxnSpPr>
          <p:nvPr/>
        </p:nvCxnSpPr>
        <p:spPr>
          <a:xfrm>
            <a:off x="4222733" y="4555291"/>
            <a:ext cx="0" cy="977909"/>
          </a:xfrm>
          <a:prstGeom prst="straightConnector1">
            <a:avLst/>
          </a:prstGeom>
          <a:ln>
            <a:solidFill>
              <a:srgbClr val="000000"/>
            </a:solidFill>
            <a:tailEnd type="triangle" w="med" len="med"/>
          </a:ln>
        </p:spPr>
      </p:cxnSp>
      <p:cxnSp>
        <p:nvCxnSpPr>
          <p:cNvPr id="45" name="直線單箭頭接點 227">
            <a:extLst>
              <a:ext uri="{FF2B5EF4-FFF2-40B4-BE49-F238E27FC236}">
                <a16:creationId xmlns:a16="http://schemas.microsoft.com/office/drawing/2014/main" id="{7193DCE9-475B-96A3-4FFF-627417862B40}"/>
              </a:ext>
            </a:extLst>
          </p:cNvPr>
          <p:cNvCxnSpPr>
            <a:cxnSpLocks/>
            <a:stCxn id="6" idx="2"/>
            <a:endCxn id="7" idx="0"/>
          </p:cNvCxnSpPr>
          <p:nvPr/>
        </p:nvCxnSpPr>
        <p:spPr>
          <a:xfrm>
            <a:off x="10178763" y="3271920"/>
            <a:ext cx="0" cy="610742"/>
          </a:xfrm>
          <a:prstGeom prst="straightConnector1">
            <a:avLst/>
          </a:prstGeom>
          <a:ln>
            <a:solidFill>
              <a:srgbClr val="000000"/>
            </a:solidFill>
            <a:tailEnd type="triangle" w="med" len="med"/>
          </a:ln>
        </p:spPr>
      </p:cxnSp>
      <p:cxnSp>
        <p:nvCxnSpPr>
          <p:cNvPr id="46" name="肘形接點 68">
            <a:extLst>
              <a:ext uri="{FF2B5EF4-FFF2-40B4-BE49-F238E27FC236}">
                <a16:creationId xmlns:a16="http://schemas.microsoft.com/office/drawing/2014/main" id="{EAD397D9-A496-4E1C-9D60-4CB8F7F381D6}"/>
              </a:ext>
            </a:extLst>
          </p:cNvPr>
          <p:cNvCxnSpPr>
            <a:cxnSpLocks/>
            <a:stCxn id="42" idx="3"/>
            <a:endCxn id="6" idx="1"/>
          </p:cNvCxnSpPr>
          <p:nvPr/>
        </p:nvCxnSpPr>
        <p:spPr>
          <a:xfrm flipV="1">
            <a:off x="7926671" y="2604360"/>
            <a:ext cx="1353532" cy="6033239"/>
          </a:xfrm>
          <a:prstGeom prst="bentConnector3">
            <a:avLst>
              <a:gd name="adj1" fmla="val 50000"/>
            </a:avLst>
          </a:prstGeom>
          <a:ln>
            <a:solidFill>
              <a:srgbClr val="000000"/>
            </a:solidFill>
            <a:tailEnd type="triangle" w="med" len="med"/>
          </a:ln>
        </p:spPr>
      </p:cxnSp>
      <p:cxnSp>
        <p:nvCxnSpPr>
          <p:cNvPr id="47" name="肘形接點 68">
            <a:extLst>
              <a:ext uri="{FF2B5EF4-FFF2-40B4-BE49-F238E27FC236}">
                <a16:creationId xmlns:a16="http://schemas.microsoft.com/office/drawing/2014/main" id="{B15A8175-F977-CE48-17EF-E867AD0CBCC3}"/>
              </a:ext>
            </a:extLst>
          </p:cNvPr>
          <p:cNvCxnSpPr>
            <a:cxnSpLocks/>
            <a:stCxn id="43" idx="2"/>
            <a:endCxn id="3" idx="1"/>
          </p:cNvCxnSpPr>
          <p:nvPr/>
        </p:nvCxnSpPr>
        <p:spPr>
          <a:xfrm rot="16200000" flipH="1">
            <a:off x="8090096" y="5143496"/>
            <a:ext cx="427080" cy="7995127"/>
          </a:xfrm>
          <a:prstGeom prst="bentConnector2">
            <a:avLst/>
          </a:prstGeom>
          <a:ln>
            <a:solidFill>
              <a:srgbClr val="000000"/>
            </a:solidFill>
            <a:tailEnd type="triangle" w="med" len="med"/>
          </a:ln>
        </p:spPr>
      </p:cxnSp>
      <p:sp>
        <p:nvSpPr>
          <p:cNvPr id="48" name="流程圖: 決策 50">
            <a:extLst>
              <a:ext uri="{FF2B5EF4-FFF2-40B4-BE49-F238E27FC236}">
                <a16:creationId xmlns:a16="http://schemas.microsoft.com/office/drawing/2014/main" id="{A27784A6-546E-5A47-22CB-A04727A05C00}"/>
              </a:ext>
            </a:extLst>
          </p:cNvPr>
          <p:cNvSpPr/>
          <p:nvPr/>
        </p:nvSpPr>
        <p:spPr>
          <a:xfrm>
            <a:off x="9243378" y="5576819"/>
            <a:ext cx="1841760" cy="711720"/>
          </a:xfrm>
          <a:prstGeom prst="flowChartDecision">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1371600">
              <a:lnSpc>
                <a:spcPct val="100000"/>
              </a:lnSpc>
            </a:pPr>
            <a:r>
              <a:rPr lang="zh-TW" sz="1500" b="0" strike="noStrike" spc="-1" dirty="0">
                <a:solidFill>
                  <a:srgbClr val="000000"/>
                </a:solidFill>
                <a:latin typeface="微軟正黑體"/>
                <a:ea typeface="微軟正黑體"/>
              </a:rPr>
              <a:t>是否</a:t>
            </a:r>
            <a:r>
              <a:rPr lang="zh-TW" altLang="en-US" sz="1500" spc="-1" dirty="0">
                <a:solidFill>
                  <a:srgbClr val="000000"/>
                </a:solidFill>
                <a:latin typeface="微軟正黑體"/>
                <a:ea typeface="微軟正黑體"/>
              </a:rPr>
              <a:t>需簽核</a:t>
            </a:r>
            <a:endParaRPr lang="en-US" sz="1500" b="0" strike="noStrike" spc="-1" dirty="0">
              <a:solidFill>
                <a:srgbClr val="000000"/>
              </a:solidFill>
              <a:latin typeface="Calibri"/>
            </a:endParaRPr>
          </a:p>
        </p:txBody>
      </p:sp>
      <p:cxnSp>
        <p:nvCxnSpPr>
          <p:cNvPr id="49" name="直線單箭頭接點 227">
            <a:extLst>
              <a:ext uri="{FF2B5EF4-FFF2-40B4-BE49-F238E27FC236}">
                <a16:creationId xmlns:a16="http://schemas.microsoft.com/office/drawing/2014/main" id="{CEF9F0F2-8A67-78DC-ABBB-4E6DAD269292}"/>
              </a:ext>
            </a:extLst>
          </p:cNvPr>
          <p:cNvCxnSpPr>
            <a:cxnSpLocks/>
            <a:stCxn id="7" idx="2"/>
            <a:endCxn id="48" idx="0"/>
          </p:cNvCxnSpPr>
          <p:nvPr/>
        </p:nvCxnSpPr>
        <p:spPr>
          <a:xfrm flipH="1">
            <a:off x="10164258" y="5095742"/>
            <a:ext cx="14505" cy="481077"/>
          </a:xfrm>
          <a:prstGeom prst="straightConnector1">
            <a:avLst/>
          </a:prstGeom>
          <a:ln>
            <a:solidFill>
              <a:srgbClr val="000000"/>
            </a:solidFill>
            <a:tailEnd type="triangle" w="med" len="med"/>
          </a:ln>
        </p:spPr>
      </p:cxnSp>
      <p:sp>
        <p:nvSpPr>
          <p:cNvPr id="50" name="流程圖: 換頁接點 52">
            <a:extLst>
              <a:ext uri="{FF2B5EF4-FFF2-40B4-BE49-F238E27FC236}">
                <a16:creationId xmlns:a16="http://schemas.microsoft.com/office/drawing/2014/main" id="{A11853F2-C956-E926-89D3-3BF29E592A80}"/>
              </a:ext>
            </a:extLst>
          </p:cNvPr>
          <p:cNvSpPr/>
          <p:nvPr/>
        </p:nvSpPr>
        <p:spPr bwMode="auto">
          <a:xfrm>
            <a:off x="10998714" y="6864708"/>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P3</a:t>
            </a:r>
            <a:endParaRPr lang="zh-TW" altLang="en-US" dirty="0">
              <a:latin typeface="微軟正黑體" panose="020B0604030504040204" pitchFamily="34" charset="-120"/>
              <a:ea typeface="微軟正黑體" panose="020B0604030504040204" pitchFamily="34" charset="-120"/>
            </a:endParaRPr>
          </a:p>
        </p:txBody>
      </p:sp>
      <p:sp>
        <p:nvSpPr>
          <p:cNvPr id="51" name="流程圖: 換頁接點 52">
            <a:extLst>
              <a:ext uri="{FF2B5EF4-FFF2-40B4-BE49-F238E27FC236}">
                <a16:creationId xmlns:a16="http://schemas.microsoft.com/office/drawing/2014/main" id="{4EB1DA24-2848-DC57-22F3-7B16502B0DF9}"/>
              </a:ext>
            </a:extLst>
          </p:cNvPr>
          <p:cNvSpPr/>
          <p:nvPr/>
        </p:nvSpPr>
        <p:spPr bwMode="auto">
          <a:xfrm>
            <a:off x="8756410" y="6894671"/>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P2</a:t>
            </a:r>
            <a:endParaRPr lang="zh-TW" altLang="en-US" dirty="0">
              <a:latin typeface="微軟正黑體" panose="020B0604030504040204" pitchFamily="34" charset="-120"/>
              <a:ea typeface="微軟正黑體" panose="020B0604030504040204" pitchFamily="34" charset="-120"/>
            </a:endParaRPr>
          </a:p>
        </p:txBody>
      </p:sp>
      <p:cxnSp>
        <p:nvCxnSpPr>
          <p:cNvPr id="52" name="肘形接點 68">
            <a:extLst>
              <a:ext uri="{FF2B5EF4-FFF2-40B4-BE49-F238E27FC236}">
                <a16:creationId xmlns:a16="http://schemas.microsoft.com/office/drawing/2014/main" id="{96B68B78-4D4A-44B3-3890-F0A03C9D64DB}"/>
              </a:ext>
            </a:extLst>
          </p:cNvPr>
          <p:cNvCxnSpPr>
            <a:cxnSpLocks/>
            <a:stCxn id="48" idx="1"/>
            <a:endCxn id="51" idx="0"/>
          </p:cNvCxnSpPr>
          <p:nvPr/>
        </p:nvCxnSpPr>
        <p:spPr>
          <a:xfrm rot="10800000" flipV="1">
            <a:off x="9036724" y="5932679"/>
            <a:ext cx="206654" cy="961992"/>
          </a:xfrm>
          <a:prstGeom prst="bentConnector2">
            <a:avLst/>
          </a:prstGeom>
          <a:ln>
            <a:solidFill>
              <a:srgbClr val="000000"/>
            </a:solidFill>
            <a:tailEnd type="triangle" w="med" len="med"/>
          </a:ln>
        </p:spPr>
      </p:cxnSp>
      <p:cxnSp>
        <p:nvCxnSpPr>
          <p:cNvPr id="53" name="肘形接點 68">
            <a:extLst>
              <a:ext uri="{FF2B5EF4-FFF2-40B4-BE49-F238E27FC236}">
                <a16:creationId xmlns:a16="http://schemas.microsoft.com/office/drawing/2014/main" id="{FAAA7CD3-485C-3001-8F7D-7F7B1C0E2F8A}"/>
              </a:ext>
            </a:extLst>
          </p:cNvPr>
          <p:cNvCxnSpPr>
            <a:cxnSpLocks/>
            <a:stCxn id="48" idx="3"/>
            <a:endCxn id="50" idx="0"/>
          </p:cNvCxnSpPr>
          <p:nvPr/>
        </p:nvCxnSpPr>
        <p:spPr>
          <a:xfrm>
            <a:off x="11085138" y="5932679"/>
            <a:ext cx="193890" cy="932029"/>
          </a:xfrm>
          <a:prstGeom prst="bentConnector2">
            <a:avLst/>
          </a:prstGeom>
          <a:ln>
            <a:solidFill>
              <a:srgbClr val="000000"/>
            </a:solidFill>
            <a:tailEnd type="triangle" w="med" len="med"/>
          </a:ln>
        </p:spPr>
      </p:cxnSp>
      <p:sp>
        <p:nvSpPr>
          <p:cNvPr id="54" name="文字方塊 241">
            <a:extLst>
              <a:ext uri="{FF2B5EF4-FFF2-40B4-BE49-F238E27FC236}">
                <a16:creationId xmlns:a16="http://schemas.microsoft.com/office/drawing/2014/main" id="{13F3CBD6-1C03-D6DB-2277-462A97766736}"/>
              </a:ext>
            </a:extLst>
          </p:cNvPr>
          <p:cNvSpPr/>
          <p:nvPr/>
        </p:nvSpPr>
        <p:spPr>
          <a:xfrm>
            <a:off x="9026160" y="5990756"/>
            <a:ext cx="788400" cy="295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1371600">
              <a:lnSpc>
                <a:spcPct val="100000"/>
              </a:lnSpc>
            </a:pPr>
            <a:r>
              <a:rPr lang="zh-TW" sz="1350" b="0" strike="noStrike" spc="-1" dirty="0">
                <a:solidFill>
                  <a:srgbClr val="000000"/>
                </a:solidFill>
                <a:latin typeface="微軟正黑體"/>
                <a:ea typeface="微軟正黑體"/>
              </a:rPr>
              <a:t>否</a:t>
            </a:r>
            <a:endParaRPr lang="en-US" sz="1350" b="0" strike="noStrike" spc="-1" dirty="0">
              <a:solidFill>
                <a:srgbClr val="000000"/>
              </a:solidFill>
              <a:latin typeface="Calibri"/>
            </a:endParaRPr>
          </a:p>
        </p:txBody>
      </p:sp>
      <p:sp>
        <p:nvSpPr>
          <p:cNvPr id="55" name="文字方塊 96">
            <a:extLst>
              <a:ext uri="{FF2B5EF4-FFF2-40B4-BE49-F238E27FC236}">
                <a16:creationId xmlns:a16="http://schemas.microsoft.com/office/drawing/2014/main" id="{4A2CED25-7CA4-8EA6-A329-F3902CA21759}"/>
              </a:ext>
            </a:extLst>
          </p:cNvPr>
          <p:cNvSpPr/>
          <p:nvPr/>
        </p:nvSpPr>
        <p:spPr>
          <a:xfrm>
            <a:off x="10913331" y="6007905"/>
            <a:ext cx="788400" cy="295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1371600">
              <a:lnSpc>
                <a:spcPct val="100000"/>
              </a:lnSpc>
            </a:pPr>
            <a:r>
              <a:rPr lang="zh-TW" sz="1350" b="0" strike="noStrike" spc="-1" dirty="0">
                <a:solidFill>
                  <a:srgbClr val="000000"/>
                </a:solidFill>
                <a:latin typeface="微軟正黑體"/>
                <a:ea typeface="微軟正黑體"/>
              </a:rPr>
              <a:t>是</a:t>
            </a:r>
            <a:endParaRPr lang="en-US" sz="1350" b="0" strike="noStrike" spc="-1" dirty="0">
              <a:solidFill>
                <a:srgbClr val="000000"/>
              </a:solidFill>
              <a:latin typeface="Calibri"/>
            </a:endParaRPr>
          </a:p>
        </p:txBody>
      </p:sp>
    </p:spTree>
    <p:extLst>
      <p:ext uri="{BB962C8B-B14F-4D97-AF65-F5344CB8AC3E}">
        <p14:creationId xmlns:p14="http://schemas.microsoft.com/office/powerpoint/2010/main" val="23959192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3">
            <a:extLst>
              <a:ext uri="{FF2B5EF4-FFF2-40B4-BE49-F238E27FC236}">
                <a16:creationId xmlns:a16="http://schemas.microsoft.com/office/drawing/2014/main" id="{B8775B54-156B-03CA-77C6-E8CF777D245E}"/>
              </a:ext>
            </a:extLst>
          </p:cNvPr>
          <p:cNvSpPr/>
          <p:nvPr/>
        </p:nvSpPr>
        <p:spPr>
          <a:xfrm>
            <a:off x="2431440" y="820800"/>
            <a:ext cx="7218360" cy="41404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1371600">
              <a:lnSpc>
                <a:spcPct val="100000"/>
              </a:lnSpc>
            </a:pPr>
            <a:r>
              <a:rPr lang="en-US" sz="2100" b="1" strike="noStrike" spc="-1" dirty="0">
                <a:solidFill>
                  <a:srgbClr val="000000"/>
                </a:solidFill>
                <a:latin typeface="微軟正黑體"/>
                <a:ea typeface="微軟正黑體"/>
              </a:rPr>
              <a:t>MM-PU-0030</a:t>
            </a:r>
            <a:r>
              <a:rPr lang="zh-TW" sz="2100" b="1" strike="noStrike" spc="-1" dirty="0">
                <a:solidFill>
                  <a:srgbClr val="000000"/>
                </a:solidFill>
                <a:latin typeface="微軟正黑體"/>
                <a:ea typeface="微軟正黑體"/>
              </a:rPr>
              <a:t>庫存類採購流程</a:t>
            </a:r>
            <a:r>
              <a:rPr lang="en-US" altLang="zh-TW" sz="2100" b="1" strike="noStrike" spc="-1" dirty="0">
                <a:solidFill>
                  <a:srgbClr val="000000"/>
                </a:solidFill>
                <a:latin typeface="微軟正黑體"/>
                <a:ea typeface="微軟正黑體"/>
              </a:rPr>
              <a:t>(</a:t>
            </a:r>
            <a:r>
              <a:rPr lang="zh-TW" altLang="en-US" sz="2100" b="1" strike="noStrike" spc="-1" dirty="0">
                <a:solidFill>
                  <a:srgbClr val="000000"/>
                </a:solidFill>
                <a:latin typeface="微軟正黑體"/>
                <a:ea typeface="微軟正黑體"/>
              </a:rPr>
              <a:t>不需簽核</a:t>
            </a:r>
            <a:r>
              <a:rPr lang="en-US" altLang="zh-TW" sz="2100" b="1" strike="noStrike" spc="-1" dirty="0">
                <a:solidFill>
                  <a:srgbClr val="000000"/>
                </a:solidFill>
                <a:latin typeface="微軟正黑體"/>
                <a:ea typeface="微軟正黑體"/>
              </a:rPr>
              <a:t>)</a:t>
            </a:r>
            <a:endParaRPr lang="en-US" sz="2100" b="0" strike="noStrike" spc="-1" dirty="0">
              <a:solidFill>
                <a:srgbClr val="000000"/>
              </a:solidFill>
              <a:latin typeface="Calibri"/>
            </a:endParaRPr>
          </a:p>
        </p:txBody>
      </p:sp>
      <p:sp>
        <p:nvSpPr>
          <p:cNvPr id="3" name="流程圖: 結束點 8">
            <a:extLst>
              <a:ext uri="{FF2B5EF4-FFF2-40B4-BE49-F238E27FC236}">
                <a16:creationId xmlns:a16="http://schemas.microsoft.com/office/drawing/2014/main" id="{6CE72E43-97A4-8188-F92C-F4458B1E8A93}"/>
              </a:ext>
            </a:extLst>
          </p:cNvPr>
          <p:cNvSpPr/>
          <p:nvPr/>
        </p:nvSpPr>
        <p:spPr>
          <a:xfrm>
            <a:off x="12301200" y="8963640"/>
            <a:ext cx="1797480" cy="781920"/>
          </a:xfrm>
          <a:prstGeom prst="flowChartTermina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1371600">
              <a:lnSpc>
                <a:spcPct val="100000"/>
              </a:lnSpc>
            </a:pPr>
            <a:r>
              <a:rPr lang="zh-TW" sz="1500" b="0" strike="noStrike" spc="-1">
                <a:solidFill>
                  <a:srgbClr val="000000"/>
                </a:solidFill>
                <a:latin typeface="微軟正黑體"/>
                <a:ea typeface="微軟正黑體"/>
              </a:rPr>
              <a:t>結束</a:t>
            </a:r>
            <a:endParaRPr lang="en-US" sz="1500" b="0" strike="noStrike" spc="-1">
              <a:solidFill>
                <a:srgbClr val="000000"/>
              </a:solidFill>
              <a:latin typeface="Calibri"/>
            </a:endParaRPr>
          </a:p>
        </p:txBody>
      </p:sp>
      <p:sp>
        <p:nvSpPr>
          <p:cNvPr id="4" name="文字方塊 17">
            <a:extLst>
              <a:ext uri="{FF2B5EF4-FFF2-40B4-BE49-F238E27FC236}">
                <a16:creationId xmlns:a16="http://schemas.microsoft.com/office/drawing/2014/main" id="{46B01CFE-489B-B27C-2183-F6AF64C87D88}"/>
              </a:ext>
            </a:extLst>
          </p:cNvPr>
          <p:cNvSpPr/>
          <p:nvPr/>
        </p:nvSpPr>
        <p:spPr>
          <a:xfrm>
            <a:off x="2431440" y="1379520"/>
            <a:ext cx="9428866" cy="344795"/>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defTabSz="1371600">
              <a:lnSpc>
                <a:spcPct val="100000"/>
              </a:lnSpc>
            </a:pPr>
            <a:r>
              <a:rPr lang="zh-TW" sz="1650" b="0" strike="noStrike" spc="-1">
                <a:solidFill>
                  <a:srgbClr val="000000"/>
                </a:solidFill>
                <a:latin typeface="Arial"/>
              </a:rPr>
              <a:t>採購</a:t>
            </a:r>
            <a:endParaRPr lang="en-US" sz="1650" b="0" strike="noStrike" spc="-1">
              <a:solidFill>
                <a:srgbClr val="000000"/>
              </a:solidFill>
              <a:latin typeface="Calibri"/>
            </a:endParaRPr>
          </a:p>
        </p:txBody>
      </p:sp>
      <p:sp>
        <p:nvSpPr>
          <p:cNvPr id="5" name="TextBox 53">
            <a:extLst>
              <a:ext uri="{FF2B5EF4-FFF2-40B4-BE49-F238E27FC236}">
                <a16:creationId xmlns:a16="http://schemas.microsoft.com/office/drawing/2014/main" id="{FEBB3DA3-5B41-E46B-15B0-09F3EBF4B2FD}"/>
              </a:ext>
            </a:extLst>
          </p:cNvPr>
          <p:cNvSpPr/>
          <p:nvPr/>
        </p:nvSpPr>
        <p:spPr>
          <a:xfrm>
            <a:off x="14367240" y="1957320"/>
            <a:ext cx="3593880" cy="313786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343080" defTabSz="1371600">
              <a:lnSpc>
                <a:spcPct val="100000"/>
              </a:lnSpc>
              <a:buClr>
                <a:srgbClr val="000000"/>
              </a:buClr>
              <a:buFont typeface="Calibri Light"/>
              <a:buAutoNum type="arabicPeriod"/>
            </a:pPr>
            <a:r>
              <a:rPr lang="zh-TW" sz="1800" b="0" strike="noStrike" spc="-1" dirty="0">
                <a:solidFill>
                  <a:srgbClr val="000000"/>
                </a:solidFill>
                <a:latin typeface="微軟正黑體"/>
                <a:ea typeface="微軟正黑體"/>
              </a:rPr>
              <a:t>在詢報價流程建立最新價格</a:t>
            </a:r>
            <a:endParaRPr lang="en-US" sz="1800" b="0" strike="noStrike" spc="-1" dirty="0">
              <a:solidFill>
                <a:srgbClr val="000000"/>
              </a:solidFill>
              <a:latin typeface="Calibri"/>
            </a:endParaRPr>
          </a:p>
          <a:p>
            <a:pPr marL="343080" indent="-343080" defTabSz="1371600">
              <a:lnSpc>
                <a:spcPct val="100000"/>
              </a:lnSpc>
              <a:buClr>
                <a:srgbClr val="000000"/>
              </a:buClr>
              <a:buFont typeface="Calibri Light"/>
              <a:buAutoNum type="arabicPeriod"/>
            </a:pPr>
            <a:r>
              <a:rPr lang="zh-TW" sz="1800" b="0" strike="noStrike" spc="-1" dirty="0">
                <a:solidFill>
                  <a:srgbClr val="000000"/>
                </a:solidFill>
                <a:latin typeface="微軟正黑體"/>
                <a:ea typeface="微軟正黑體"/>
              </a:rPr>
              <a:t>更新採購單讀取最新廠商價格</a:t>
            </a:r>
            <a:endParaRPr lang="en-US" sz="1800" b="0" strike="noStrike" spc="-1" dirty="0">
              <a:solidFill>
                <a:srgbClr val="000000"/>
              </a:solidFill>
              <a:latin typeface="Calibri"/>
            </a:endParaRPr>
          </a:p>
          <a:p>
            <a:pPr marL="343080" indent="-343080" defTabSz="1371600">
              <a:lnSpc>
                <a:spcPct val="100000"/>
              </a:lnSpc>
              <a:buClr>
                <a:srgbClr val="000000"/>
              </a:buClr>
              <a:buFont typeface="Calibri Light"/>
              <a:buAutoNum type="arabicPeriod"/>
            </a:pPr>
            <a:r>
              <a:rPr lang="zh-TW" sz="1800" b="0" strike="noStrike" spc="-1" dirty="0">
                <a:solidFill>
                  <a:srgbClr val="000000"/>
                </a:solidFill>
                <a:latin typeface="微軟正黑體"/>
                <a:ea typeface="微軟正黑體"/>
              </a:rPr>
              <a:t>使用</a:t>
            </a:r>
            <a:r>
              <a:rPr lang="en-US" sz="1800" b="0" strike="noStrike" spc="-1" dirty="0">
                <a:solidFill>
                  <a:srgbClr val="000000"/>
                </a:solidFill>
                <a:latin typeface="微軟正黑體"/>
                <a:ea typeface="微軟正黑體"/>
              </a:rPr>
              <a:t>ZMM003</a:t>
            </a:r>
            <a:r>
              <a:rPr lang="zh-TW" sz="1800" b="0" strike="noStrike" spc="-1" dirty="0">
                <a:solidFill>
                  <a:srgbClr val="000000"/>
                </a:solidFill>
                <a:latin typeface="微軟正黑體"/>
                <a:ea typeface="微軟正黑體"/>
              </a:rPr>
              <a:t>將採購單資料匯入</a:t>
            </a:r>
            <a:r>
              <a:rPr lang="en-US" sz="1800" b="0" strike="noStrike" spc="-1" dirty="0">
                <a:solidFill>
                  <a:srgbClr val="000000"/>
                </a:solidFill>
                <a:latin typeface="微軟正黑體"/>
                <a:ea typeface="微軟正黑體"/>
              </a:rPr>
              <a:t>B2B</a:t>
            </a:r>
            <a:r>
              <a:rPr lang="zh-TW" sz="1800" b="0" strike="noStrike" spc="-1" dirty="0">
                <a:solidFill>
                  <a:srgbClr val="000000"/>
                </a:solidFill>
                <a:latin typeface="微軟正黑體"/>
                <a:ea typeface="微軟正黑體"/>
              </a:rPr>
              <a:t>平台</a:t>
            </a:r>
            <a:endParaRPr lang="en-US" sz="1800" b="0" strike="noStrike" spc="-1" dirty="0">
              <a:solidFill>
                <a:srgbClr val="000000"/>
              </a:solidFill>
              <a:latin typeface="Calibri"/>
            </a:endParaRPr>
          </a:p>
          <a:p>
            <a:pPr marL="343080" indent="-343080" defTabSz="1371600">
              <a:lnSpc>
                <a:spcPct val="100000"/>
              </a:lnSpc>
              <a:buClr>
                <a:srgbClr val="000000"/>
              </a:buClr>
              <a:buFont typeface="Calibri Light"/>
              <a:buAutoNum type="arabicPeriod"/>
            </a:pPr>
            <a:r>
              <a:rPr lang="zh-TW" sz="1800" b="0" strike="noStrike" spc="-1" dirty="0">
                <a:solidFill>
                  <a:srgbClr val="000000"/>
                </a:solidFill>
                <a:latin typeface="微軟正黑體"/>
                <a:ea typeface="微軟正黑體"/>
              </a:rPr>
              <a:t>未使用</a:t>
            </a:r>
            <a:r>
              <a:rPr lang="en-US" sz="1800" b="0" strike="noStrike" spc="-1" dirty="0">
                <a:solidFill>
                  <a:srgbClr val="000000"/>
                </a:solidFill>
                <a:latin typeface="微軟正黑體"/>
                <a:ea typeface="微軟正黑體"/>
              </a:rPr>
              <a:t>DS B2B</a:t>
            </a:r>
            <a:r>
              <a:rPr lang="zh-TW" sz="1800" b="0" strike="noStrike" spc="-1" dirty="0">
                <a:solidFill>
                  <a:srgbClr val="000000"/>
                </a:solidFill>
                <a:latin typeface="微軟正黑體"/>
                <a:ea typeface="微軟正黑體"/>
              </a:rPr>
              <a:t>平台廠商寄發採購單檔案或紙本採購單</a:t>
            </a:r>
            <a:endParaRPr lang="en-US" sz="1800" b="0" strike="noStrike" spc="-1" dirty="0">
              <a:solidFill>
                <a:srgbClr val="000000"/>
              </a:solidFill>
              <a:latin typeface="Calibri"/>
            </a:endParaRPr>
          </a:p>
          <a:p>
            <a:pPr marL="343080" indent="-343080" defTabSz="1371600">
              <a:lnSpc>
                <a:spcPct val="100000"/>
              </a:lnSpc>
              <a:buClr>
                <a:srgbClr val="000000"/>
              </a:buClr>
              <a:buFont typeface="Calibri Light"/>
              <a:buAutoNum type="arabicPeriod"/>
            </a:pPr>
            <a:r>
              <a:rPr lang="zh-TW" sz="1800" b="0" strike="noStrike" spc="-1" dirty="0">
                <a:solidFill>
                  <a:srgbClr val="000000"/>
                </a:solidFill>
                <a:latin typeface="微軟正黑體"/>
                <a:ea typeface="微軟正黑體"/>
              </a:rPr>
              <a:t>將</a:t>
            </a:r>
            <a:r>
              <a:rPr lang="en-US" sz="1800" b="0" strike="noStrike" spc="-1" dirty="0">
                <a:solidFill>
                  <a:srgbClr val="000000"/>
                </a:solidFill>
                <a:latin typeface="微軟正黑體"/>
                <a:ea typeface="微軟正黑體"/>
              </a:rPr>
              <a:t>DS B2B</a:t>
            </a:r>
            <a:r>
              <a:rPr lang="zh-TW" sz="1800" b="0" strike="noStrike" spc="-1" dirty="0">
                <a:solidFill>
                  <a:srgbClr val="000000"/>
                </a:solidFill>
                <a:latin typeface="微軟正黑體"/>
                <a:ea typeface="微軟正黑體"/>
              </a:rPr>
              <a:t>平台確認交期，利用程式</a:t>
            </a:r>
            <a:r>
              <a:rPr lang="en-US" sz="1800" b="0" strike="noStrike" spc="-1" dirty="0">
                <a:solidFill>
                  <a:srgbClr val="000000"/>
                </a:solidFill>
                <a:latin typeface="微軟正黑體"/>
                <a:ea typeface="微軟正黑體"/>
              </a:rPr>
              <a:t>ZMM011</a:t>
            </a:r>
            <a:r>
              <a:rPr lang="zh-TW" sz="1800" b="0" strike="noStrike" spc="-1" dirty="0">
                <a:solidFill>
                  <a:srgbClr val="000000"/>
                </a:solidFill>
                <a:latin typeface="微軟正黑體"/>
                <a:ea typeface="微軟正黑體"/>
              </a:rPr>
              <a:t>匯回</a:t>
            </a:r>
            <a:r>
              <a:rPr lang="en-US" sz="1800" b="0" strike="noStrike" spc="-1" dirty="0">
                <a:solidFill>
                  <a:srgbClr val="000000"/>
                </a:solidFill>
                <a:latin typeface="微軟正黑體"/>
                <a:ea typeface="微軟正黑體"/>
              </a:rPr>
              <a:t>SAP</a:t>
            </a:r>
            <a:endParaRPr lang="en-US" sz="1800" b="0" strike="noStrike" spc="-1" dirty="0">
              <a:solidFill>
                <a:srgbClr val="000000"/>
              </a:solidFill>
              <a:latin typeface="Calibri"/>
            </a:endParaRPr>
          </a:p>
          <a:p>
            <a:pPr marL="343080" indent="-343080" defTabSz="1371600">
              <a:lnSpc>
                <a:spcPct val="100000"/>
              </a:lnSpc>
              <a:buClr>
                <a:srgbClr val="000000"/>
              </a:buClr>
              <a:buFont typeface="Calibri Light"/>
              <a:buAutoNum type="arabicPeriod"/>
            </a:pPr>
            <a:r>
              <a:rPr lang="zh-TW" sz="1800" b="0" strike="noStrike" spc="-1" dirty="0">
                <a:solidFill>
                  <a:srgbClr val="000000"/>
                </a:solidFill>
                <a:latin typeface="微軟正黑體"/>
                <a:ea typeface="微軟正黑體"/>
              </a:rPr>
              <a:t>需要訂金的採購單，由採購在預付款流程中完成訂金申請</a:t>
            </a:r>
            <a:endParaRPr lang="en-US" sz="1800" b="0" strike="noStrike" spc="-1" dirty="0">
              <a:solidFill>
                <a:srgbClr val="000000"/>
              </a:solidFill>
              <a:latin typeface="Calibri"/>
            </a:endParaRPr>
          </a:p>
          <a:p>
            <a:pPr defTabSz="1371600">
              <a:lnSpc>
                <a:spcPct val="100000"/>
              </a:lnSpc>
            </a:pPr>
            <a:endParaRPr lang="en-US" sz="1800" b="0" strike="noStrike" spc="-1" dirty="0">
              <a:solidFill>
                <a:srgbClr val="000000"/>
              </a:solidFill>
              <a:latin typeface="Calibri"/>
            </a:endParaRPr>
          </a:p>
        </p:txBody>
      </p:sp>
      <p:cxnSp>
        <p:nvCxnSpPr>
          <p:cNvPr id="6" name="肘形接點 68">
            <a:extLst>
              <a:ext uri="{FF2B5EF4-FFF2-40B4-BE49-F238E27FC236}">
                <a16:creationId xmlns:a16="http://schemas.microsoft.com/office/drawing/2014/main" id="{61ED0665-43AA-58F3-EE4B-85779DC0F125}"/>
              </a:ext>
            </a:extLst>
          </p:cNvPr>
          <p:cNvCxnSpPr>
            <a:cxnSpLocks/>
            <a:stCxn id="9" idx="3"/>
            <a:endCxn id="45" idx="0"/>
          </p:cNvCxnSpPr>
          <p:nvPr/>
        </p:nvCxnSpPr>
        <p:spPr>
          <a:xfrm flipV="1">
            <a:off x="4733429" y="4057560"/>
            <a:ext cx="3486200" cy="2088560"/>
          </a:xfrm>
          <a:prstGeom prst="bentConnector4">
            <a:avLst>
              <a:gd name="adj1" fmla="val 36792"/>
              <a:gd name="adj2" fmla="val 110945"/>
            </a:avLst>
          </a:prstGeom>
          <a:ln>
            <a:solidFill>
              <a:srgbClr val="000000"/>
            </a:solidFill>
            <a:tailEnd type="triangle" w="med" len="med"/>
          </a:ln>
        </p:spPr>
      </p:cxnSp>
      <p:cxnSp>
        <p:nvCxnSpPr>
          <p:cNvPr id="7" name="肘形接點 68">
            <a:extLst>
              <a:ext uri="{FF2B5EF4-FFF2-40B4-BE49-F238E27FC236}">
                <a16:creationId xmlns:a16="http://schemas.microsoft.com/office/drawing/2014/main" id="{A2882AD1-8638-727D-1BE9-EAD2936E8250}"/>
              </a:ext>
            </a:extLst>
          </p:cNvPr>
          <p:cNvCxnSpPr>
            <a:cxnSpLocks/>
            <a:stCxn id="8" idx="2"/>
            <a:endCxn id="9" idx="0"/>
          </p:cNvCxnSpPr>
          <p:nvPr/>
        </p:nvCxnSpPr>
        <p:spPr>
          <a:xfrm rot="16200000" flipH="1">
            <a:off x="3546419" y="5250170"/>
            <a:ext cx="536040" cy="180"/>
          </a:xfrm>
          <a:prstGeom prst="bentConnector3">
            <a:avLst>
              <a:gd name="adj1" fmla="val 50000"/>
            </a:avLst>
          </a:prstGeom>
          <a:ln>
            <a:solidFill>
              <a:srgbClr val="000000"/>
            </a:solidFill>
            <a:tailEnd type="triangle" w="med" len="med"/>
          </a:ln>
        </p:spPr>
      </p:cxnSp>
      <p:sp>
        <p:nvSpPr>
          <p:cNvPr id="8" name="流程圖: 預設處理作業 21">
            <a:extLst>
              <a:ext uri="{FF2B5EF4-FFF2-40B4-BE49-F238E27FC236}">
                <a16:creationId xmlns:a16="http://schemas.microsoft.com/office/drawing/2014/main" id="{8756CABB-4135-E904-6917-A57D35059F65}"/>
              </a:ext>
            </a:extLst>
          </p:cNvPr>
          <p:cNvSpPr/>
          <p:nvPr/>
        </p:nvSpPr>
        <p:spPr>
          <a:xfrm>
            <a:off x="2931629" y="3744200"/>
            <a:ext cx="1765440" cy="1238040"/>
          </a:xfrm>
          <a:prstGeom prst="flowChartPredefined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1371600">
              <a:lnSpc>
                <a:spcPct val="100000"/>
              </a:lnSpc>
            </a:pPr>
            <a:r>
              <a:rPr lang="en-US" sz="1500" b="0" strike="noStrike" spc="-1">
                <a:solidFill>
                  <a:srgbClr val="000000"/>
                </a:solidFill>
                <a:latin typeface="Microsoft JhengHei"/>
                <a:ea typeface="Microsoft JhengHei"/>
              </a:rPr>
              <a:t>MM-PU-0010</a:t>
            </a:r>
            <a:endParaRPr lang="en-US" sz="1500" b="0" strike="noStrike" spc="-1">
              <a:solidFill>
                <a:srgbClr val="000000"/>
              </a:solidFill>
              <a:latin typeface="Calibri"/>
            </a:endParaRPr>
          </a:p>
          <a:p>
            <a:pPr algn="ctr" defTabSz="1371600">
              <a:lnSpc>
                <a:spcPct val="100000"/>
              </a:lnSpc>
            </a:pPr>
            <a:r>
              <a:rPr lang="zh-TW" sz="1500" b="0" strike="noStrike" spc="-1">
                <a:solidFill>
                  <a:srgbClr val="000000"/>
                </a:solidFill>
                <a:latin typeface="Microsoft JhengHei"/>
                <a:ea typeface="Microsoft JhengHei"/>
              </a:rPr>
              <a:t>詢報價更新價格主檔</a:t>
            </a:r>
            <a:r>
              <a:rPr lang="en-US" sz="1500" b="0" strike="noStrike" spc="-1">
                <a:solidFill>
                  <a:srgbClr val="000000"/>
                </a:solidFill>
                <a:latin typeface="Arial"/>
                <a:ea typeface="Microsoft JhengHei"/>
              </a:rPr>
              <a:t> </a:t>
            </a:r>
            <a:endParaRPr lang="en-US" sz="1500" b="0" strike="noStrike" spc="-1">
              <a:solidFill>
                <a:srgbClr val="000000"/>
              </a:solidFill>
              <a:latin typeface="Calibri"/>
            </a:endParaRPr>
          </a:p>
        </p:txBody>
      </p:sp>
      <p:graphicFrame>
        <p:nvGraphicFramePr>
          <p:cNvPr id="9" name="表格 30">
            <a:extLst>
              <a:ext uri="{FF2B5EF4-FFF2-40B4-BE49-F238E27FC236}">
                <a16:creationId xmlns:a16="http://schemas.microsoft.com/office/drawing/2014/main" id="{A2FB1D21-D44C-3E3A-E5A0-C2A8A59D3BAA}"/>
              </a:ext>
            </a:extLst>
          </p:cNvPr>
          <p:cNvGraphicFramePr/>
          <p:nvPr>
            <p:extLst>
              <p:ext uri="{D42A27DB-BD31-4B8C-83A1-F6EECF244321}">
                <p14:modId xmlns:p14="http://schemas.microsoft.com/office/powerpoint/2010/main" val="2006962660"/>
              </p:ext>
            </p:extLst>
          </p:nvPr>
        </p:nvGraphicFramePr>
        <p:xfrm>
          <a:off x="2895629" y="5518280"/>
          <a:ext cx="1837800" cy="1255680"/>
        </p:xfrm>
        <a:graphic>
          <a:graphicData uri="http://schemas.openxmlformats.org/drawingml/2006/table">
            <a:tbl>
              <a:tblPr/>
              <a:tblGrid>
                <a:gridCol w="924480">
                  <a:extLst>
                    <a:ext uri="{9D8B030D-6E8A-4147-A177-3AD203B41FA5}">
                      <a16:colId xmlns:a16="http://schemas.microsoft.com/office/drawing/2014/main" val="20000"/>
                    </a:ext>
                  </a:extLst>
                </a:gridCol>
                <a:gridCol w="913320">
                  <a:extLst>
                    <a:ext uri="{9D8B030D-6E8A-4147-A177-3AD203B41FA5}">
                      <a16:colId xmlns:a16="http://schemas.microsoft.com/office/drawing/2014/main" val="20001"/>
                    </a:ext>
                  </a:extLst>
                </a:gridCol>
              </a:tblGrid>
              <a:tr h="342000">
                <a:tc gridSpan="2">
                  <a:txBody>
                    <a:bodyPr/>
                    <a:lstStyle/>
                    <a:p>
                      <a:pPr algn="ctr" defTabSz="1371600">
                        <a:lnSpc>
                          <a:spcPct val="100000"/>
                        </a:lnSpc>
                      </a:pPr>
                      <a:r>
                        <a:rPr lang="en-GB" sz="1400" b="1" strike="noStrike" spc="-1">
                          <a:solidFill>
                            <a:schemeClr val="dk1"/>
                          </a:solidFill>
                          <a:latin typeface="微軟正黑體"/>
                          <a:ea typeface="微軟正黑體"/>
                        </a:rPr>
                        <a:t>ME22N</a:t>
                      </a:r>
                      <a:endParaRPr lang="en-US" sz="1400" b="0" strike="noStrike" spc="-1">
                        <a:solidFill>
                          <a:srgbClr val="000000"/>
                        </a:solidFill>
                        <a:latin typeface="Calibri"/>
                      </a:endParaRPr>
                    </a:p>
                  </a:txBody>
                  <a:tcPr marL="124560" marR="12456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0"/>
                  </a:ext>
                </a:extLst>
              </a:tr>
              <a:tr h="599040">
                <a:tc gridSpan="2">
                  <a:txBody>
                    <a:bodyPr/>
                    <a:lstStyle/>
                    <a:p>
                      <a:pPr algn="ctr" defTabSz="1371600">
                        <a:lnSpc>
                          <a:spcPct val="100000"/>
                        </a:lnSpc>
                      </a:pPr>
                      <a:r>
                        <a:rPr lang="zh-TW" sz="1400" b="0" strike="noStrike" spc="-1">
                          <a:solidFill>
                            <a:schemeClr val="dk1"/>
                          </a:solidFill>
                          <a:latin typeface="微軟正黑體"/>
                          <a:ea typeface="微軟正黑體"/>
                        </a:rPr>
                        <a:t>更新採購單，讀取價格</a:t>
                      </a:r>
                      <a:endParaRPr lang="en-US" sz="1400" b="0" strike="noStrike" spc="-1">
                        <a:solidFill>
                          <a:srgbClr val="000000"/>
                        </a:solidFill>
                        <a:latin typeface="Calibri"/>
                      </a:endParaRPr>
                    </a:p>
                  </a:txBody>
                  <a:tcPr marL="124560" marR="12456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1"/>
                  </a:ext>
                </a:extLst>
              </a:tr>
              <a:tr h="314640">
                <a:tc>
                  <a:txBody>
                    <a:bodyPr/>
                    <a:lstStyle/>
                    <a:p>
                      <a:pPr algn="ctr" defTabSz="1371600">
                        <a:lnSpc>
                          <a:spcPct val="100000"/>
                        </a:lnSpc>
                      </a:pPr>
                      <a:r>
                        <a:rPr lang="en-US" sz="1400" b="0" strike="noStrike" spc="-1">
                          <a:solidFill>
                            <a:schemeClr val="dk1"/>
                          </a:solidFill>
                          <a:latin typeface="微軟正黑體"/>
                          <a:ea typeface="微軟正黑體"/>
                        </a:rPr>
                        <a:t>SAP</a:t>
                      </a:r>
                      <a:endParaRPr lang="en-US" sz="14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400" b="0" strike="noStrike" spc="-1" dirty="0">
                          <a:solidFill>
                            <a:schemeClr val="dk1"/>
                          </a:solidFill>
                          <a:latin typeface="微軟正黑體"/>
                          <a:ea typeface="微軟正黑體"/>
                        </a:rPr>
                        <a:t>手動</a:t>
                      </a:r>
                      <a:endParaRPr lang="en-US" sz="1400" b="0" strike="noStrike" spc="-1" dirty="0">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extLst>
                  <a:ext uri="{0D108BD9-81ED-4DB2-BD59-A6C34878D82A}">
                    <a16:rowId xmlns:a16="http://schemas.microsoft.com/office/drawing/2014/main" val="10002"/>
                  </a:ext>
                </a:extLst>
              </a:tr>
            </a:tbl>
          </a:graphicData>
        </a:graphic>
      </p:graphicFrame>
      <p:graphicFrame>
        <p:nvGraphicFramePr>
          <p:cNvPr id="10" name="表格 30">
            <a:extLst>
              <a:ext uri="{FF2B5EF4-FFF2-40B4-BE49-F238E27FC236}">
                <a16:creationId xmlns:a16="http://schemas.microsoft.com/office/drawing/2014/main" id="{9C3734FE-8932-CEC6-D51D-95DD2CABA0A0}"/>
              </a:ext>
            </a:extLst>
          </p:cNvPr>
          <p:cNvGraphicFramePr/>
          <p:nvPr>
            <p:extLst>
              <p:ext uri="{D42A27DB-BD31-4B8C-83A1-F6EECF244321}">
                <p14:modId xmlns:p14="http://schemas.microsoft.com/office/powerpoint/2010/main" val="3762753959"/>
              </p:ext>
            </p:extLst>
          </p:nvPr>
        </p:nvGraphicFramePr>
        <p:xfrm>
          <a:off x="7319621" y="2091537"/>
          <a:ext cx="1802880" cy="1170960"/>
        </p:xfrm>
        <a:graphic>
          <a:graphicData uri="http://schemas.openxmlformats.org/drawingml/2006/table">
            <a:tbl>
              <a:tblPr/>
              <a:tblGrid>
                <a:gridCol w="901440">
                  <a:extLst>
                    <a:ext uri="{9D8B030D-6E8A-4147-A177-3AD203B41FA5}">
                      <a16:colId xmlns:a16="http://schemas.microsoft.com/office/drawing/2014/main" val="20000"/>
                    </a:ext>
                  </a:extLst>
                </a:gridCol>
                <a:gridCol w="901440">
                  <a:extLst>
                    <a:ext uri="{9D8B030D-6E8A-4147-A177-3AD203B41FA5}">
                      <a16:colId xmlns:a16="http://schemas.microsoft.com/office/drawing/2014/main" val="20001"/>
                    </a:ext>
                  </a:extLst>
                </a:gridCol>
              </a:tblGrid>
              <a:tr h="330120">
                <a:tc gridSpan="2">
                  <a:txBody>
                    <a:bodyPr/>
                    <a:lstStyle/>
                    <a:p>
                      <a:pPr algn="ctr" defTabSz="1371600">
                        <a:lnSpc>
                          <a:spcPct val="100000"/>
                        </a:lnSpc>
                      </a:pPr>
                      <a:r>
                        <a:rPr lang="en-GB" sz="1400" b="1" strike="noStrike" spc="-1">
                          <a:solidFill>
                            <a:schemeClr val="dk1"/>
                          </a:solidFill>
                          <a:latin typeface="微軟正黑體"/>
                          <a:ea typeface="微軟正黑體"/>
                        </a:rPr>
                        <a:t>ZMM003</a:t>
                      </a:r>
                      <a:endParaRPr lang="en-US" sz="1400" b="0" strike="noStrike" spc="-1">
                        <a:solidFill>
                          <a:srgbClr val="000000"/>
                        </a:solidFill>
                        <a:latin typeface="Calibri"/>
                      </a:endParaRPr>
                    </a:p>
                  </a:txBody>
                  <a:tcPr marL="124560" marR="12456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0"/>
                  </a:ext>
                </a:extLst>
              </a:tr>
              <a:tr h="536040">
                <a:tc gridSpan="2">
                  <a:txBody>
                    <a:bodyPr/>
                    <a:lstStyle/>
                    <a:p>
                      <a:pPr algn="ctr" defTabSz="1371600">
                        <a:lnSpc>
                          <a:spcPct val="100000"/>
                        </a:lnSpc>
                      </a:pPr>
                      <a:r>
                        <a:rPr lang="zh-TW" sz="1400" b="0" strike="noStrike" spc="-1">
                          <a:solidFill>
                            <a:schemeClr val="dk1"/>
                          </a:solidFill>
                          <a:latin typeface="微軟正黑體"/>
                          <a:ea typeface="微軟正黑體"/>
                        </a:rPr>
                        <a:t>採購單資料匯入</a:t>
                      </a:r>
                      <a:r>
                        <a:rPr lang="en-US" sz="1400" b="0" strike="noStrike" spc="-1">
                          <a:solidFill>
                            <a:schemeClr val="dk1"/>
                          </a:solidFill>
                          <a:latin typeface="微軟正黑體"/>
                          <a:ea typeface="微軟正黑體"/>
                        </a:rPr>
                        <a:t>DS B2B</a:t>
                      </a:r>
                      <a:r>
                        <a:rPr lang="zh-TW" sz="1400" b="0" strike="noStrike" spc="-1">
                          <a:solidFill>
                            <a:schemeClr val="dk1"/>
                          </a:solidFill>
                          <a:latin typeface="微軟正黑體"/>
                          <a:ea typeface="微軟正黑體"/>
                        </a:rPr>
                        <a:t>平台</a:t>
                      </a:r>
                      <a:endParaRPr lang="en-US" sz="1400" b="0" strike="noStrike" spc="-1">
                        <a:solidFill>
                          <a:srgbClr val="000000"/>
                        </a:solidFill>
                        <a:latin typeface="Calibri"/>
                      </a:endParaRPr>
                    </a:p>
                  </a:txBody>
                  <a:tcPr marL="124560" marR="12456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1"/>
                  </a:ext>
                </a:extLst>
              </a:tr>
              <a:tr h="303840">
                <a:tc>
                  <a:txBody>
                    <a:bodyPr/>
                    <a:lstStyle/>
                    <a:p>
                      <a:pPr algn="ctr" defTabSz="1371600">
                        <a:lnSpc>
                          <a:spcPct val="100000"/>
                        </a:lnSpc>
                      </a:pPr>
                      <a:r>
                        <a:rPr lang="en-US" sz="1400" b="0" strike="noStrike" spc="-1">
                          <a:solidFill>
                            <a:schemeClr val="dk1"/>
                          </a:solidFill>
                          <a:latin typeface="微軟正黑體"/>
                          <a:ea typeface="微軟正黑體"/>
                        </a:rPr>
                        <a:t>SAP</a:t>
                      </a:r>
                      <a:endParaRPr lang="en-US" sz="14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400" b="0" strike="noStrike" spc="-1" dirty="0">
                          <a:solidFill>
                            <a:schemeClr val="dk1"/>
                          </a:solidFill>
                          <a:latin typeface="微軟正黑體"/>
                          <a:ea typeface="微軟正黑體"/>
                        </a:rPr>
                        <a:t>手動</a:t>
                      </a:r>
                      <a:endParaRPr lang="en-US" sz="1400" b="0" strike="noStrike" spc="-1" dirty="0">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extLst>
                  <a:ext uri="{0D108BD9-81ED-4DB2-BD59-A6C34878D82A}">
                    <a16:rowId xmlns:a16="http://schemas.microsoft.com/office/drawing/2014/main" val="10002"/>
                  </a:ext>
                </a:extLst>
              </a:tr>
            </a:tbl>
          </a:graphicData>
        </a:graphic>
      </p:graphicFrame>
      <p:sp>
        <p:nvSpPr>
          <p:cNvPr id="11" name="流程圖: 決策 50">
            <a:extLst>
              <a:ext uri="{FF2B5EF4-FFF2-40B4-BE49-F238E27FC236}">
                <a16:creationId xmlns:a16="http://schemas.microsoft.com/office/drawing/2014/main" id="{09B977E3-F65C-A1E0-419F-318672DD64F0}"/>
              </a:ext>
            </a:extLst>
          </p:cNvPr>
          <p:cNvSpPr/>
          <p:nvPr/>
        </p:nvSpPr>
        <p:spPr>
          <a:xfrm>
            <a:off x="2894547" y="2320335"/>
            <a:ext cx="1841760" cy="711720"/>
          </a:xfrm>
          <a:prstGeom prst="flowChartDecision">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1371600">
              <a:lnSpc>
                <a:spcPct val="100000"/>
              </a:lnSpc>
            </a:pPr>
            <a:r>
              <a:rPr lang="zh-TW" sz="1500" b="0" strike="noStrike" spc="-1">
                <a:solidFill>
                  <a:srgbClr val="000000"/>
                </a:solidFill>
                <a:latin typeface="微軟正黑體"/>
                <a:ea typeface="微軟正黑體"/>
              </a:rPr>
              <a:t>採購單自動帶入價格</a:t>
            </a:r>
            <a:endParaRPr lang="en-US" sz="1500" b="0" strike="noStrike" spc="-1">
              <a:solidFill>
                <a:srgbClr val="000000"/>
              </a:solidFill>
              <a:latin typeface="Calibri"/>
            </a:endParaRPr>
          </a:p>
        </p:txBody>
      </p:sp>
      <p:sp>
        <p:nvSpPr>
          <p:cNvPr id="12" name="文字方塊 240">
            <a:extLst>
              <a:ext uri="{FF2B5EF4-FFF2-40B4-BE49-F238E27FC236}">
                <a16:creationId xmlns:a16="http://schemas.microsoft.com/office/drawing/2014/main" id="{882E5AD8-C86C-37A7-DE42-4CC691AA9BB6}"/>
              </a:ext>
            </a:extLst>
          </p:cNvPr>
          <p:cNvSpPr/>
          <p:nvPr/>
        </p:nvSpPr>
        <p:spPr>
          <a:xfrm>
            <a:off x="4704555" y="2699747"/>
            <a:ext cx="788400" cy="295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1371600">
              <a:lnSpc>
                <a:spcPct val="100000"/>
              </a:lnSpc>
            </a:pPr>
            <a:r>
              <a:rPr lang="zh-TW" sz="1350" b="0" strike="noStrike" spc="-1" dirty="0">
                <a:solidFill>
                  <a:srgbClr val="000000"/>
                </a:solidFill>
                <a:latin typeface="微軟正黑體"/>
                <a:ea typeface="微軟正黑體"/>
              </a:rPr>
              <a:t>是</a:t>
            </a:r>
            <a:endParaRPr lang="en-US" sz="1350" b="0" strike="noStrike" spc="-1" dirty="0">
              <a:solidFill>
                <a:srgbClr val="000000"/>
              </a:solidFill>
              <a:latin typeface="Calibri"/>
            </a:endParaRPr>
          </a:p>
        </p:txBody>
      </p:sp>
      <p:cxnSp>
        <p:nvCxnSpPr>
          <p:cNvPr id="13" name="肘形接點 68">
            <a:extLst>
              <a:ext uri="{FF2B5EF4-FFF2-40B4-BE49-F238E27FC236}">
                <a16:creationId xmlns:a16="http://schemas.microsoft.com/office/drawing/2014/main" id="{C1B002A7-B699-9327-C255-F20E50CC9A64}"/>
              </a:ext>
            </a:extLst>
          </p:cNvPr>
          <p:cNvCxnSpPr>
            <a:stCxn id="11" idx="3"/>
            <a:endCxn id="10" idx="1"/>
          </p:cNvCxnSpPr>
          <p:nvPr/>
        </p:nvCxnSpPr>
        <p:spPr>
          <a:xfrm>
            <a:off x="4736307" y="2676195"/>
            <a:ext cx="2583314" cy="822"/>
          </a:xfrm>
          <a:prstGeom prst="bentConnector3">
            <a:avLst>
              <a:gd name="adj1" fmla="val 50000"/>
            </a:avLst>
          </a:prstGeom>
          <a:ln>
            <a:solidFill>
              <a:srgbClr val="000000"/>
            </a:solidFill>
            <a:tailEnd type="triangle" w="med" len="med"/>
          </a:ln>
        </p:spPr>
      </p:cxnSp>
      <p:cxnSp>
        <p:nvCxnSpPr>
          <p:cNvPr id="14" name="肘形接點 68">
            <a:extLst>
              <a:ext uri="{FF2B5EF4-FFF2-40B4-BE49-F238E27FC236}">
                <a16:creationId xmlns:a16="http://schemas.microsoft.com/office/drawing/2014/main" id="{21AACF5B-761F-0550-FFC9-B8207D87365C}"/>
              </a:ext>
            </a:extLst>
          </p:cNvPr>
          <p:cNvCxnSpPr>
            <a:stCxn id="11" idx="2"/>
            <a:endCxn id="8" idx="0"/>
          </p:cNvCxnSpPr>
          <p:nvPr/>
        </p:nvCxnSpPr>
        <p:spPr>
          <a:xfrm rot="5400000">
            <a:off x="3458816" y="3387588"/>
            <a:ext cx="712145" cy="1078"/>
          </a:xfrm>
          <a:prstGeom prst="bentConnector3">
            <a:avLst>
              <a:gd name="adj1" fmla="val 50000"/>
            </a:avLst>
          </a:prstGeom>
          <a:ln>
            <a:solidFill>
              <a:srgbClr val="000000"/>
            </a:solidFill>
            <a:tailEnd type="triangle" w="med" len="med"/>
          </a:ln>
        </p:spPr>
      </p:cxnSp>
      <p:sp>
        <p:nvSpPr>
          <p:cNvPr id="15" name="流程圖: 決策 50">
            <a:extLst>
              <a:ext uri="{FF2B5EF4-FFF2-40B4-BE49-F238E27FC236}">
                <a16:creationId xmlns:a16="http://schemas.microsoft.com/office/drawing/2014/main" id="{2949CB26-6DBF-54F6-EABA-B124CE2ABAC9}"/>
              </a:ext>
            </a:extLst>
          </p:cNvPr>
          <p:cNvSpPr/>
          <p:nvPr/>
        </p:nvSpPr>
        <p:spPr>
          <a:xfrm>
            <a:off x="7291909" y="6034635"/>
            <a:ext cx="1841760" cy="711720"/>
          </a:xfrm>
          <a:prstGeom prst="flowChartDecision">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1371600">
              <a:lnSpc>
                <a:spcPct val="100000"/>
              </a:lnSpc>
            </a:pPr>
            <a:r>
              <a:rPr lang="en-US" sz="1500" b="0" strike="noStrike" spc="-1">
                <a:solidFill>
                  <a:srgbClr val="000000"/>
                </a:solidFill>
                <a:latin typeface="微軟正黑體"/>
                <a:ea typeface="微軟正黑體"/>
              </a:rPr>
              <a:t>DS B2B</a:t>
            </a:r>
            <a:r>
              <a:rPr lang="zh-TW" sz="1500" b="0" strike="noStrike" spc="-1">
                <a:solidFill>
                  <a:srgbClr val="000000"/>
                </a:solidFill>
                <a:latin typeface="微軟正黑體"/>
                <a:ea typeface="微軟正黑體"/>
              </a:rPr>
              <a:t>平台廠商</a:t>
            </a:r>
            <a:endParaRPr lang="en-US" sz="1500" b="0" strike="noStrike" spc="-1">
              <a:solidFill>
                <a:srgbClr val="000000"/>
              </a:solidFill>
              <a:latin typeface="Calibri"/>
            </a:endParaRPr>
          </a:p>
        </p:txBody>
      </p:sp>
      <p:cxnSp>
        <p:nvCxnSpPr>
          <p:cNvPr id="16" name="肘形接點 68">
            <a:extLst>
              <a:ext uri="{FF2B5EF4-FFF2-40B4-BE49-F238E27FC236}">
                <a16:creationId xmlns:a16="http://schemas.microsoft.com/office/drawing/2014/main" id="{20BBD437-812E-8E92-4056-AC18E4E3167F}"/>
              </a:ext>
            </a:extLst>
          </p:cNvPr>
          <p:cNvCxnSpPr>
            <a:stCxn id="10" idx="2"/>
            <a:endCxn id="45" idx="0"/>
          </p:cNvCxnSpPr>
          <p:nvPr/>
        </p:nvCxnSpPr>
        <p:spPr>
          <a:xfrm rot="5400000">
            <a:off x="7822814" y="3659312"/>
            <a:ext cx="795063" cy="1432"/>
          </a:xfrm>
          <a:prstGeom prst="bentConnector3">
            <a:avLst>
              <a:gd name="adj1" fmla="val 50000"/>
            </a:avLst>
          </a:prstGeom>
          <a:ln>
            <a:solidFill>
              <a:srgbClr val="000000"/>
            </a:solidFill>
            <a:tailEnd type="triangle" w="med" len="med"/>
          </a:ln>
        </p:spPr>
      </p:cxnSp>
      <p:graphicFrame>
        <p:nvGraphicFramePr>
          <p:cNvPr id="17" name="表格 30">
            <a:extLst>
              <a:ext uri="{FF2B5EF4-FFF2-40B4-BE49-F238E27FC236}">
                <a16:creationId xmlns:a16="http://schemas.microsoft.com/office/drawing/2014/main" id="{5E272234-4AD4-E87E-824D-E3DB31FBFE42}"/>
              </a:ext>
            </a:extLst>
          </p:cNvPr>
          <p:cNvGraphicFramePr/>
          <p:nvPr>
            <p:extLst>
              <p:ext uri="{D42A27DB-BD31-4B8C-83A1-F6EECF244321}">
                <p14:modId xmlns:p14="http://schemas.microsoft.com/office/powerpoint/2010/main" val="3834219801"/>
              </p:ext>
            </p:extLst>
          </p:nvPr>
        </p:nvGraphicFramePr>
        <p:xfrm>
          <a:off x="6129829" y="7416315"/>
          <a:ext cx="1809360" cy="1196400"/>
        </p:xfrm>
        <a:graphic>
          <a:graphicData uri="http://schemas.openxmlformats.org/drawingml/2006/table">
            <a:tbl>
              <a:tblPr/>
              <a:tblGrid>
                <a:gridCol w="904680">
                  <a:extLst>
                    <a:ext uri="{9D8B030D-6E8A-4147-A177-3AD203B41FA5}">
                      <a16:colId xmlns:a16="http://schemas.microsoft.com/office/drawing/2014/main" val="20000"/>
                    </a:ext>
                  </a:extLst>
                </a:gridCol>
                <a:gridCol w="904680">
                  <a:extLst>
                    <a:ext uri="{9D8B030D-6E8A-4147-A177-3AD203B41FA5}">
                      <a16:colId xmlns:a16="http://schemas.microsoft.com/office/drawing/2014/main" val="20001"/>
                    </a:ext>
                  </a:extLst>
                </a:gridCol>
              </a:tblGrid>
              <a:tr h="353160">
                <a:tc gridSpan="2">
                  <a:txBody>
                    <a:bodyPr/>
                    <a:lstStyle/>
                    <a:p>
                      <a:pPr algn="ctr" defTabSz="1371600">
                        <a:lnSpc>
                          <a:spcPct val="100000"/>
                        </a:lnSpc>
                      </a:pPr>
                      <a:r>
                        <a:rPr lang="zh-TW" sz="1400" b="1" strike="noStrike" spc="-1">
                          <a:solidFill>
                            <a:schemeClr val="dk1"/>
                          </a:solidFill>
                          <a:latin typeface="微軟正黑體"/>
                          <a:ea typeface="微軟正黑體"/>
                        </a:rPr>
                        <a:t>　</a:t>
                      </a:r>
                      <a:endParaRPr lang="en-US" sz="1400" b="0" strike="noStrike" spc="-1">
                        <a:solidFill>
                          <a:srgbClr val="000000"/>
                        </a:solidFill>
                        <a:latin typeface="Calibri"/>
                      </a:endParaRPr>
                    </a:p>
                  </a:txBody>
                  <a:tcPr marL="124560" marR="12456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0"/>
                  </a:ext>
                </a:extLst>
              </a:tr>
              <a:tr h="374040">
                <a:tc gridSpan="2">
                  <a:txBody>
                    <a:bodyPr/>
                    <a:lstStyle/>
                    <a:p>
                      <a:pPr algn="ctr" defTabSz="1371600">
                        <a:lnSpc>
                          <a:spcPct val="100000"/>
                        </a:lnSpc>
                      </a:pPr>
                      <a:r>
                        <a:rPr lang="zh-TW" sz="1400" b="0" strike="noStrike" spc="-1">
                          <a:solidFill>
                            <a:schemeClr val="dk1"/>
                          </a:solidFill>
                          <a:latin typeface="微軟正黑體"/>
                          <a:ea typeface="微軟正黑體"/>
                        </a:rPr>
                        <a:t>寄發採購單予供應商</a:t>
                      </a:r>
                      <a:endParaRPr lang="en-US" sz="1400" b="0" strike="noStrike" spc="-1">
                        <a:solidFill>
                          <a:srgbClr val="000000"/>
                        </a:solidFill>
                        <a:latin typeface="Calibri"/>
                      </a:endParaRPr>
                    </a:p>
                  </a:txBody>
                  <a:tcPr marL="124560" marR="12456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1"/>
                  </a:ext>
                </a:extLst>
              </a:tr>
              <a:tr h="325080">
                <a:tc>
                  <a:txBody>
                    <a:bodyPr/>
                    <a:lstStyle/>
                    <a:p>
                      <a:pPr algn="ctr" defTabSz="1371600">
                        <a:lnSpc>
                          <a:spcPct val="100000"/>
                        </a:lnSpc>
                      </a:pPr>
                      <a:r>
                        <a:rPr lang="zh-TW" sz="1400" b="0" strike="noStrike" spc="-1">
                          <a:solidFill>
                            <a:schemeClr val="dk1"/>
                          </a:solidFill>
                          <a:latin typeface="微軟正黑體"/>
                          <a:ea typeface="微軟正黑體"/>
                        </a:rPr>
                        <a:t>　</a:t>
                      </a:r>
                      <a:endParaRPr lang="en-US" sz="14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400" b="0" strike="noStrike" spc="-1">
                          <a:solidFill>
                            <a:schemeClr val="dk1"/>
                          </a:solidFill>
                          <a:latin typeface="微軟正黑體"/>
                          <a:ea typeface="微軟正黑體"/>
                        </a:rPr>
                        <a:t>手動</a:t>
                      </a:r>
                      <a:endParaRPr lang="en-US" sz="14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extLst>
                  <a:ext uri="{0D108BD9-81ED-4DB2-BD59-A6C34878D82A}">
                    <a16:rowId xmlns:a16="http://schemas.microsoft.com/office/drawing/2014/main" val="10002"/>
                  </a:ext>
                </a:extLst>
              </a:tr>
            </a:tbl>
          </a:graphicData>
        </a:graphic>
      </p:graphicFrame>
      <p:cxnSp>
        <p:nvCxnSpPr>
          <p:cNvPr id="18" name="肘形接點 68">
            <a:extLst>
              <a:ext uri="{FF2B5EF4-FFF2-40B4-BE49-F238E27FC236}">
                <a16:creationId xmlns:a16="http://schemas.microsoft.com/office/drawing/2014/main" id="{3D2170E7-E819-8461-E962-49AA7B2635D9}"/>
              </a:ext>
            </a:extLst>
          </p:cNvPr>
          <p:cNvCxnSpPr>
            <a:cxnSpLocks/>
            <a:stCxn id="15" idx="3"/>
            <a:endCxn id="29" idx="0"/>
          </p:cNvCxnSpPr>
          <p:nvPr/>
        </p:nvCxnSpPr>
        <p:spPr>
          <a:xfrm>
            <a:off x="9133669" y="6390495"/>
            <a:ext cx="348021" cy="1040053"/>
          </a:xfrm>
          <a:prstGeom prst="bentConnector2">
            <a:avLst/>
          </a:prstGeom>
          <a:ln>
            <a:solidFill>
              <a:srgbClr val="000000"/>
            </a:solidFill>
            <a:tailEnd type="triangle" w="med" len="med"/>
          </a:ln>
        </p:spPr>
      </p:cxnSp>
      <p:cxnSp>
        <p:nvCxnSpPr>
          <p:cNvPr id="19" name="肘形接點 68">
            <a:extLst>
              <a:ext uri="{FF2B5EF4-FFF2-40B4-BE49-F238E27FC236}">
                <a16:creationId xmlns:a16="http://schemas.microsoft.com/office/drawing/2014/main" id="{F7F0E291-0F09-2B12-6687-4E353B3FFF9E}"/>
              </a:ext>
            </a:extLst>
          </p:cNvPr>
          <p:cNvCxnSpPr>
            <a:cxnSpLocks/>
            <a:stCxn id="15" idx="1"/>
            <a:endCxn id="17" idx="0"/>
          </p:cNvCxnSpPr>
          <p:nvPr/>
        </p:nvCxnSpPr>
        <p:spPr>
          <a:xfrm rot="10800000" flipV="1">
            <a:off x="7034509" y="6390495"/>
            <a:ext cx="257400" cy="1025820"/>
          </a:xfrm>
          <a:prstGeom prst="bentConnector2">
            <a:avLst/>
          </a:prstGeom>
          <a:ln>
            <a:solidFill>
              <a:srgbClr val="000000"/>
            </a:solidFill>
            <a:tailEnd type="triangle" w="med" len="med"/>
          </a:ln>
        </p:spPr>
      </p:cxnSp>
      <p:cxnSp>
        <p:nvCxnSpPr>
          <p:cNvPr id="20" name="肘形接點 68">
            <a:extLst>
              <a:ext uri="{FF2B5EF4-FFF2-40B4-BE49-F238E27FC236}">
                <a16:creationId xmlns:a16="http://schemas.microsoft.com/office/drawing/2014/main" id="{21518FC8-950B-E38B-1742-6EF273FCF288}"/>
              </a:ext>
            </a:extLst>
          </p:cNvPr>
          <p:cNvCxnSpPr>
            <a:cxnSpLocks/>
            <a:stCxn id="17" idx="2"/>
            <a:endCxn id="3" idx="1"/>
          </p:cNvCxnSpPr>
          <p:nvPr/>
        </p:nvCxnSpPr>
        <p:spPr>
          <a:xfrm rot="16200000" flipH="1">
            <a:off x="9296912" y="6350311"/>
            <a:ext cx="741885" cy="5266691"/>
          </a:xfrm>
          <a:prstGeom prst="bentConnector2">
            <a:avLst/>
          </a:prstGeom>
          <a:ln>
            <a:solidFill>
              <a:srgbClr val="000000"/>
            </a:solidFill>
            <a:tailEnd type="triangle" w="med" len="med"/>
          </a:ln>
        </p:spPr>
      </p:cxnSp>
      <p:grpSp>
        <p:nvGrpSpPr>
          <p:cNvPr id="21" name="Group 220">
            <a:extLst>
              <a:ext uri="{FF2B5EF4-FFF2-40B4-BE49-F238E27FC236}">
                <a16:creationId xmlns:a16="http://schemas.microsoft.com/office/drawing/2014/main" id="{D1B25F62-603B-6FBE-7738-E02049158DDB}"/>
              </a:ext>
            </a:extLst>
          </p:cNvPr>
          <p:cNvGrpSpPr/>
          <p:nvPr/>
        </p:nvGrpSpPr>
        <p:grpSpPr>
          <a:xfrm>
            <a:off x="8835221" y="1887057"/>
            <a:ext cx="560160" cy="415440"/>
            <a:chOff x="11376720" y="1779480"/>
            <a:chExt cx="560160" cy="415440"/>
          </a:xfrm>
        </p:grpSpPr>
        <p:sp>
          <p:nvSpPr>
            <p:cNvPr id="22" name="Oval 221">
              <a:extLst>
                <a:ext uri="{FF2B5EF4-FFF2-40B4-BE49-F238E27FC236}">
                  <a16:creationId xmlns:a16="http://schemas.microsoft.com/office/drawing/2014/main" id="{AEC5E949-ABEC-92D3-6EF2-3745AC9C4F38}"/>
                </a:ext>
              </a:extLst>
            </p:cNvPr>
            <p:cNvSpPr/>
            <p:nvPr/>
          </p:nvSpPr>
          <p:spPr>
            <a:xfrm>
              <a:off x="11376720" y="1779480"/>
              <a:ext cx="411120" cy="415440"/>
            </a:xfrm>
            <a:prstGeom prst="ellipse">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1371600">
                <a:lnSpc>
                  <a:spcPct val="100000"/>
                </a:lnSpc>
              </a:pPr>
              <a:endParaRPr lang="en-US" sz="1500" b="0" strike="noStrike" spc="-1">
                <a:solidFill>
                  <a:srgbClr val="FFFFFF"/>
                </a:solidFill>
                <a:latin typeface="Arial"/>
                <a:ea typeface="新細明體"/>
              </a:endParaRPr>
            </a:p>
          </p:txBody>
        </p:sp>
        <p:sp>
          <p:nvSpPr>
            <p:cNvPr id="23" name="TextBox 222">
              <a:extLst>
                <a:ext uri="{FF2B5EF4-FFF2-40B4-BE49-F238E27FC236}">
                  <a16:creationId xmlns:a16="http://schemas.microsoft.com/office/drawing/2014/main" id="{C17B8198-1142-E57F-8DDB-76318D0F9BD5}"/>
                </a:ext>
              </a:extLst>
            </p:cNvPr>
            <p:cNvSpPr/>
            <p:nvPr/>
          </p:nvSpPr>
          <p:spPr>
            <a:xfrm>
              <a:off x="11403720" y="1810080"/>
              <a:ext cx="533160" cy="32171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1371600">
                <a:lnSpc>
                  <a:spcPct val="100000"/>
                </a:lnSpc>
              </a:pPr>
              <a:r>
                <a:rPr lang="en-US" sz="1500" spc="-1" dirty="0">
                  <a:solidFill>
                    <a:srgbClr val="000000"/>
                  </a:solidFill>
                  <a:latin typeface="微軟正黑體"/>
                  <a:ea typeface="微軟正黑體"/>
                </a:rPr>
                <a:t>3</a:t>
              </a:r>
              <a:endParaRPr lang="en-US" sz="1500" b="0" strike="noStrike" spc="-1" dirty="0">
                <a:solidFill>
                  <a:srgbClr val="000000"/>
                </a:solidFill>
                <a:latin typeface="Calibri"/>
              </a:endParaRPr>
            </a:p>
          </p:txBody>
        </p:sp>
      </p:grpSp>
      <p:grpSp>
        <p:nvGrpSpPr>
          <p:cNvPr id="24" name="Group 220">
            <a:extLst>
              <a:ext uri="{FF2B5EF4-FFF2-40B4-BE49-F238E27FC236}">
                <a16:creationId xmlns:a16="http://schemas.microsoft.com/office/drawing/2014/main" id="{B6013544-7989-2D8C-9FE0-A59710074B15}"/>
              </a:ext>
            </a:extLst>
          </p:cNvPr>
          <p:cNvGrpSpPr/>
          <p:nvPr/>
        </p:nvGrpSpPr>
        <p:grpSpPr>
          <a:xfrm>
            <a:off x="7706269" y="7151715"/>
            <a:ext cx="556920" cy="415440"/>
            <a:chOff x="10247760" y="6546600"/>
            <a:chExt cx="556920" cy="415440"/>
          </a:xfrm>
        </p:grpSpPr>
        <p:sp>
          <p:nvSpPr>
            <p:cNvPr id="25" name="Oval 221">
              <a:extLst>
                <a:ext uri="{FF2B5EF4-FFF2-40B4-BE49-F238E27FC236}">
                  <a16:creationId xmlns:a16="http://schemas.microsoft.com/office/drawing/2014/main" id="{058CB88E-D778-9F2D-CECE-B61CF78269F6}"/>
                </a:ext>
              </a:extLst>
            </p:cNvPr>
            <p:cNvSpPr/>
            <p:nvPr/>
          </p:nvSpPr>
          <p:spPr>
            <a:xfrm>
              <a:off x="10247760" y="6546600"/>
              <a:ext cx="411120" cy="415440"/>
            </a:xfrm>
            <a:prstGeom prst="ellipse">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1371600">
                <a:lnSpc>
                  <a:spcPct val="100000"/>
                </a:lnSpc>
              </a:pPr>
              <a:endParaRPr lang="en-US" sz="1500" b="0" strike="noStrike" spc="-1">
                <a:solidFill>
                  <a:srgbClr val="FFFFFF"/>
                </a:solidFill>
                <a:latin typeface="Arial"/>
                <a:ea typeface="新細明體"/>
              </a:endParaRPr>
            </a:p>
          </p:txBody>
        </p:sp>
        <p:sp>
          <p:nvSpPr>
            <p:cNvPr id="26" name="TextBox 222">
              <a:extLst>
                <a:ext uri="{FF2B5EF4-FFF2-40B4-BE49-F238E27FC236}">
                  <a16:creationId xmlns:a16="http://schemas.microsoft.com/office/drawing/2014/main" id="{E95D77E1-3994-ADF2-5B6D-4F89AE82659C}"/>
                </a:ext>
              </a:extLst>
            </p:cNvPr>
            <p:cNvSpPr/>
            <p:nvPr/>
          </p:nvSpPr>
          <p:spPr>
            <a:xfrm>
              <a:off x="10271520" y="6577920"/>
              <a:ext cx="533160" cy="32171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1371600">
                <a:lnSpc>
                  <a:spcPct val="100000"/>
                </a:lnSpc>
              </a:pPr>
              <a:r>
                <a:rPr lang="en-US" sz="1500" spc="-1" dirty="0">
                  <a:solidFill>
                    <a:srgbClr val="000000"/>
                  </a:solidFill>
                  <a:latin typeface="微軟正黑體"/>
                  <a:ea typeface="微軟正黑體"/>
                </a:rPr>
                <a:t>4</a:t>
              </a:r>
              <a:endParaRPr lang="en-US" sz="1500" b="0" strike="noStrike" spc="-1" dirty="0">
                <a:solidFill>
                  <a:srgbClr val="000000"/>
                </a:solidFill>
                <a:latin typeface="Calibri"/>
              </a:endParaRPr>
            </a:p>
          </p:txBody>
        </p:sp>
      </p:grpSp>
      <p:sp>
        <p:nvSpPr>
          <p:cNvPr id="27" name="文字方塊 29">
            <a:extLst>
              <a:ext uri="{FF2B5EF4-FFF2-40B4-BE49-F238E27FC236}">
                <a16:creationId xmlns:a16="http://schemas.microsoft.com/office/drawing/2014/main" id="{B8D6C2B1-46A0-178F-14DF-527DF8EDC4B2}"/>
              </a:ext>
            </a:extLst>
          </p:cNvPr>
          <p:cNvSpPr/>
          <p:nvPr/>
        </p:nvSpPr>
        <p:spPr>
          <a:xfrm>
            <a:off x="7003374" y="6406805"/>
            <a:ext cx="788400" cy="295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1371600">
              <a:lnSpc>
                <a:spcPct val="100000"/>
              </a:lnSpc>
            </a:pPr>
            <a:r>
              <a:rPr lang="zh-TW" sz="1350" b="0" strike="noStrike" spc="-1" dirty="0">
                <a:solidFill>
                  <a:srgbClr val="000000"/>
                </a:solidFill>
                <a:latin typeface="微軟正黑體"/>
                <a:ea typeface="微軟正黑體"/>
              </a:rPr>
              <a:t>否</a:t>
            </a:r>
            <a:endParaRPr lang="en-US" sz="1350" b="0" strike="noStrike" spc="-1" dirty="0">
              <a:solidFill>
                <a:srgbClr val="000000"/>
              </a:solidFill>
              <a:latin typeface="Calibri"/>
            </a:endParaRPr>
          </a:p>
        </p:txBody>
      </p:sp>
      <p:sp>
        <p:nvSpPr>
          <p:cNvPr id="28" name="文字方塊 30">
            <a:extLst>
              <a:ext uri="{FF2B5EF4-FFF2-40B4-BE49-F238E27FC236}">
                <a16:creationId xmlns:a16="http://schemas.microsoft.com/office/drawing/2014/main" id="{519C9728-4690-23D6-580A-F9C4FE7B4DD8}"/>
              </a:ext>
            </a:extLst>
          </p:cNvPr>
          <p:cNvSpPr/>
          <p:nvPr/>
        </p:nvSpPr>
        <p:spPr>
          <a:xfrm>
            <a:off x="9021600" y="6406805"/>
            <a:ext cx="788400" cy="295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1371600">
              <a:lnSpc>
                <a:spcPct val="100000"/>
              </a:lnSpc>
            </a:pPr>
            <a:r>
              <a:rPr lang="zh-TW" sz="1350" b="0" strike="noStrike" spc="-1" dirty="0">
                <a:solidFill>
                  <a:srgbClr val="000000"/>
                </a:solidFill>
                <a:latin typeface="微軟正黑體"/>
                <a:ea typeface="微軟正黑體"/>
              </a:rPr>
              <a:t>是</a:t>
            </a:r>
            <a:endParaRPr lang="en-US" sz="1350" b="0" strike="noStrike" spc="-1" dirty="0">
              <a:solidFill>
                <a:srgbClr val="000000"/>
              </a:solidFill>
              <a:latin typeface="Calibri"/>
            </a:endParaRPr>
          </a:p>
        </p:txBody>
      </p:sp>
      <p:graphicFrame>
        <p:nvGraphicFramePr>
          <p:cNvPr id="29" name="表格 30">
            <a:extLst>
              <a:ext uri="{FF2B5EF4-FFF2-40B4-BE49-F238E27FC236}">
                <a16:creationId xmlns:a16="http://schemas.microsoft.com/office/drawing/2014/main" id="{EC73A227-558D-5C63-C10C-8A0974A4FA2B}"/>
              </a:ext>
            </a:extLst>
          </p:cNvPr>
          <p:cNvGraphicFramePr/>
          <p:nvPr>
            <p:extLst>
              <p:ext uri="{D42A27DB-BD31-4B8C-83A1-F6EECF244321}">
                <p14:modId xmlns:p14="http://schemas.microsoft.com/office/powerpoint/2010/main" val="4014643594"/>
              </p:ext>
            </p:extLst>
          </p:nvPr>
        </p:nvGraphicFramePr>
        <p:xfrm>
          <a:off x="8580610" y="7430548"/>
          <a:ext cx="1802160" cy="1156080"/>
        </p:xfrm>
        <a:graphic>
          <a:graphicData uri="http://schemas.openxmlformats.org/drawingml/2006/table">
            <a:tbl>
              <a:tblPr/>
              <a:tblGrid>
                <a:gridCol w="901080">
                  <a:extLst>
                    <a:ext uri="{9D8B030D-6E8A-4147-A177-3AD203B41FA5}">
                      <a16:colId xmlns:a16="http://schemas.microsoft.com/office/drawing/2014/main" val="20000"/>
                    </a:ext>
                  </a:extLst>
                </a:gridCol>
                <a:gridCol w="901080">
                  <a:extLst>
                    <a:ext uri="{9D8B030D-6E8A-4147-A177-3AD203B41FA5}">
                      <a16:colId xmlns:a16="http://schemas.microsoft.com/office/drawing/2014/main" val="20001"/>
                    </a:ext>
                  </a:extLst>
                </a:gridCol>
              </a:tblGrid>
              <a:tr h="332280">
                <a:tc gridSpan="2">
                  <a:txBody>
                    <a:bodyPr/>
                    <a:lstStyle/>
                    <a:p>
                      <a:pPr algn="ctr" defTabSz="1371600">
                        <a:lnSpc>
                          <a:spcPct val="100000"/>
                        </a:lnSpc>
                      </a:pPr>
                      <a:r>
                        <a:rPr lang="en-US" sz="1400" b="1" strike="noStrike" spc="-1">
                          <a:solidFill>
                            <a:schemeClr val="dk1"/>
                          </a:solidFill>
                          <a:latin typeface="微軟正黑體"/>
                          <a:ea typeface="微軟正黑體"/>
                        </a:rPr>
                        <a:t>ZMM011</a:t>
                      </a:r>
                      <a:r>
                        <a:rPr lang="zh-TW" sz="1400" b="1" strike="noStrike" spc="-1">
                          <a:solidFill>
                            <a:schemeClr val="dk1"/>
                          </a:solidFill>
                          <a:latin typeface="微軟正黑體"/>
                          <a:ea typeface="微軟正黑體"/>
                        </a:rPr>
                        <a:t>　</a:t>
                      </a:r>
                      <a:endParaRPr lang="en-US" sz="1400" b="0" strike="noStrike" spc="-1">
                        <a:solidFill>
                          <a:srgbClr val="000000"/>
                        </a:solidFill>
                        <a:latin typeface="Calibri"/>
                      </a:endParaRPr>
                    </a:p>
                  </a:txBody>
                  <a:tcPr marL="124560" marR="12456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0"/>
                  </a:ext>
                </a:extLst>
              </a:tr>
              <a:tr h="356400">
                <a:tc gridSpan="2">
                  <a:txBody>
                    <a:bodyPr/>
                    <a:lstStyle/>
                    <a:p>
                      <a:pPr algn="ctr" defTabSz="1371600">
                        <a:lnSpc>
                          <a:spcPct val="100000"/>
                        </a:lnSpc>
                      </a:pPr>
                      <a:r>
                        <a:rPr lang="zh-TW" sz="1400" b="0" strike="noStrike" spc="-1" dirty="0">
                          <a:solidFill>
                            <a:schemeClr val="dk1"/>
                          </a:solidFill>
                          <a:latin typeface="微軟正黑體"/>
                          <a:ea typeface="微軟正黑體"/>
                        </a:rPr>
                        <a:t>交期回傳</a:t>
                      </a:r>
                      <a:r>
                        <a:rPr lang="en-US" sz="1400" b="0" strike="noStrike" spc="-1" dirty="0">
                          <a:solidFill>
                            <a:schemeClr val="dk1"/>
                          </a:solidFill>
                          <a:latin typeface="微軟正黑體"/>
                          <a:ea typeface="微軟正黑體"/>
                        </a:rPr>
                        <a:t>SAP</a:t>
                      </a:r>
                    </a:p>
                    <a:p>
                      <a:pPr algn="ctr" defTabSz="1371600">
                        <a:lnSpc>
                          <a:spcPct val="100000"/>
                        </a:lnSpc>
                      </a:pPr>
                      <a:endParaRPr lang="en-US" sz="1400" b="0" strike="noStrike" spc="-1" dirty="0">
                        <a:solidFill>
                          <a:srgbClr val="000000"/>
                        </a:solidFill>
                        <a:latin typeface="Calibri"/>
                      </a:endParaRPr>
                    </a:p>
                  </a:txBody>
                  <a:tcPr marL="124560" marR="12456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1"/>
                  </a:ext>
                </a:extLst>
              </a:tr>
              <a:tr h="305640">
                <a:tc>
                  <a:txBody>
                    <a:bodyPr/>
                    <a:lstStyle/>
                    <a:p>
                      <a:pPr algn="ctr" defTabSz="1371600">
                        <a:lnSpc>
                          <a:spcPct val="100000"/>
                        </a:lnSpc>
                      </a:pPr>
                      <a:r>
                        <a:rPr lang="en-US" sz="1400" b="0" strike="noStrike" spc="-1">
                          <a:solidFill>
                            <a:schemeClr val="dk1"/>
                          </a:solidFill>
                          <a:latin typeface="微軟正黑體"/>
                          <a:ea typeface="微軟正黑體"/>
                        </a:rPr>
                        <a:t>SAP</a:t>
                      </a:r>
                      <a:r>
                        <a:rPr lang="zh-TW" sz="1400" b="0" strike="noStrike" spc="-1">
                          <a:solidFill>
                            <a:schemeClr val="dk1"/>
                          </a:solidFill>
                          <a:latin typeface="微軟正黑體"/>
                          <a:ea typeface="微軟正黑體"/>
                        </a:rPr>
                        <a:t>　</a:t>
                      </a:r>
                      <a:endParaRPr lang="en-US" sz="14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400" b="0" strike="noStrike" spc="-1" dirty="0">
                          <a:solidFill>
                            <a:schemeClr val="dk1"/>
                          </a:solidFill>
                          <a:latin typeface="微軟正黑體"/>
                          <a:ea typeface="微軟正黑體"/>
                        </a:rPr>
                        <a:t>自動</a:t>
                      </a:r>
                      <a:endParaRPr lang="en-US" sz="1400" b="0" strike="noStrike" spc="-1" dirty="0">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extLst>
                  <a:ext uri="{0D108BD9-81ED-4DB2-BD59-A6C34878D82A}">
                    <a16:rowId xmlns:a16="http://schemas.microsoft.com/office/drawing/2014/main" val="10002"/>
                  </a:ext>
                </a:extLst>
              </a:tr>
            </a:tbl>
          </a:graphicData>
        </a:graphic>
      </p:graphicFrame>
      <p:grpSp>
        <p:nvGrpSpPr>
          <p:cNvPr id="30" name="Group 220">
            <a:extLst>
              <a:ext uri="{FF2B5EF4-FFF2-40B4-BE49-F238E27FC236}">
                <a16:creationId xmlns:a16="http://schemas.microsoft.com/office/drawing/2014/main" id="{A04B886A-D849-033D-A043-98BB1E9716D8}"/>
              </a:ext>
            </a:extLst>
          </p:cNvPr>
          <p:cNvGrpSpPr/>
          <p:nvPr/>
        </p:nvGrpSpPr>
        <p:grpSpPr>
          <a:xfrm>
            <a:off x="10136530" y="7222828"/>
            <a:ext cx="533160" cy="415440"/>
            <a:chOff x="11407320" y="7930080"/>
            <a:chExt cx="533160" cy="415440"/>
          </a:xfrm>
        </p:grpSpPr>
        <p:sp>
          <p:nvSpPr>
            <p:cNvPr id="31" name="Oval 221">
              <a:extLst>
                <a:ext uri="{FF2B5EF4-FFF2-40B4-BE49-F238E27FC236}">
                  <a16:creationId xmlns:a16="http://schemas.microsoft.com/office/drawing/2014/main" id="{3E0456AE-C82D-BABA-10B6-F9F6F2F6A629}"/>
                </a:ext>
              </a:extLst>
            </p:cNvPr>
            <p:cNvSpPr/>
            <p:nvPr/>
          </p:nvSpPr>
          <p:spPr>
            <a:xfrm>
              <a:off x="11448000" y="7930080"/>
              <a:ext cx="411120" cy="415440"/>
            </a:xfrm>
            <a:prstGeom prst="ellipse">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1371600">
                <a:lnSpc>
                  <a:spcPct val="100000"/>
                </a:lnSpc>
              </a:pPr>
              <a:r>
                <a:rPr lang="en-US" sz="1500" b="0" strike="noStrike" spc="-1" dirty="0">
                  <a:solidFill>
                    <a:srgbClr val="FFFFFF"/>
                  </a:solidFill>
                  <a:latin typeface="Arial"/>
                  <a:ea typeface="新細明體"/>
                </a:rPr>
                <a:t> </a:t>
              </a:r>
            </a:p>
          </p:txBody>
        </p:sp>
        <p:sp>
          <p:nvSpPr>
            <p:cNvPr id="32" name="TextBox 222">
              <a:extLst>
                <a:ext uri="{FF2B5EF4-FFF2-40B4-BE49-F238E27FC236}">
                  <a16:creationId xmlns:a16="http://schemas.microsoft.com/office/drawing/2014/main" id="{065EA5E8-6BD8-7837-63B1-3F48F6AA982F}"/>
                </a:ext>
              </a:extLst>
            </p:cNvPr>
            <p:cNvSpPr/>
            <p:nvPr/>
          </p:nvSpPr>
          <p:spPr>
            <a:xfrm>
              <a:off x="11407320" y="7947360"/>
              <a:ext cx="533160" cy="32171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1371600">
                <a:lnSpc>
                  <a:spcPct val="100000"/>
                </a:lnSpc>
              </a:pPr>
              <a:r>
                <a:rPr lang="en-US" sz="1500" spc="-1" dirty="0">
                  <a:solidFill>
                    <a:srgbClr val="000000"/>
                  </a:solidFill>
                  <a:latin typeface="微軟正黑體"/>
                  <a:ea typeface="微軟正黑體"/>
                </a:rPr>
                <a:t> 5</a:t>
              </a:r>
              <a:endParaRPr lang="en-US" sz="1500" b="0" strike="noStrike" spc="-1" dirty="0">
                <a:solidFill>
                  <a:srgbClr val="000000"/>
                </a:solidFill>
                <a:latin typeface="Calibri"/>
              </a:endParaRPr>
            </a:p>
          </p:txBody>
        </p:sp>
      </p:grpSp>
      <p:cxnSp>
        <p:nvCxnSpPr>
          <p:cNvPr id="33" name="肘形接點 68">
            <a:extLst>
              <a:ext uri="{FF2B5EF4-FFF2-40B4-BE49-F238E27FC236}">
                <a16:creationId xmlns:a16="http://schemas.microsoft.com/office/drawing/2014/main" id="{860FC6A1-22BA-E440-B68E-8B79E1F57E91}"/>
              </a:ext>
            </a:extLst>
          </p:cNvPr>
          <p:cNvCxnSpPr>
            <a:cxnSpLocks/>
            <a:stCxn id="29" idx="2"/>
            <a:endCxn id="3" idx="1"/>
          </p:cNvCxnSpPr>
          <p:nvPr/>
        </p:nvCxnSpPr>
        <p:spPr>
          <a:xfrm rot="16200000" flipH="1">
            <a:off x="10507459" y="7560859"/>
            <a:ext cx="767972" cy="2819510"/>
          </a:xfrm>
          <a:prstGeom prst="bentConnector2">
            <a:avLst/>
          </a:prstGeom>
          <a:ln>
            <a:solidFill>
              <a:srgbClr val="000000"/>
            </a:solidFill>
            <a:tailEnd type="triangle" w="med" len="med"/>
          </a:ln>
        </p:spPr>
      </p:cxnSp>
      <p:sp>
        <p:nvSpPr>
          <p:cNvPr id="34" name="Google Shape;198;p3">
            <a:extLst>
              <a:ext uri="{FF2B5EF4-FFF2-40B4-BE49-F238E27FC236}">
                <a16:creationId xmlns:a16="http://schemas.microsoft.com/office/drawing/2014/main" id="{D0230510-67E4-BA07-2140-8F6A9F5D3E33}"/>
              </a:ext>
            </a:extLst>
          </p:cNvPr>
          <p:cNvSpPr/>
          <p:nvPr/>
        </p:nvSpPr>
        <p:spPr>
          <a:xfrm>
            <a:off x="15588360" y="517680"/>
            <a:ext cx="1578960" cy="190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defTabSz="1371600">
              <a:lnSpc>
                <a:spcPct val="100000"/>
              </a:lnSpc>
              <a:tabLst>
                <a:tab pos="0" algn="l"/>
              </a:tabLst>
            </a:pPr>
            <a:r>
              <a:rPr lang="en-US" sz="1500" spc="-1" dirty="0">
                <a:solidFill>
                  <a:srgbClr val="000000"/>
                </a:solidFill>
                <a:latin typeface="Arial"/>
              </a:rPr>
              <a:t>2</a:t>
            </a:r>
            <a:endParaRPr lang="en-US" sz="1500" b="0" strike="noStrike" spc="-1" dirty="0">
              <a:solidFill>
                <a:srgbClr val="000000"/>
              </a:solidFill>
              <a:latin typeface="Calibri"/>
            </a:endParaRPr>
          </a:p>
        </p:txBody>
      </p:sp>
      <p:grpSp>
        <p:nvGrpSpPr>
          <p:cNvPr id="35" name="Group 220">
            <a:extLst>
              <a:ext uri="{FF2B5EF4-FFF2-40B4-BE49-F238E27FC236}">
                <a16:creationId xmlns:a16="http://schemas.microsoft.com/office/drawing/2014/main" id="{4586614D-3A45-5DCA-7213-59E751BDDC8F}"/>
              </a:ext>
            </a:extLst>
          </p:cNvPr>
          <p:cNvGrpSpPr/>
          <p:nvPr/>
        </p:nvGrpSpPr>
        <p:grpSpPr>
          <a:xfrm>
            <a:off x="4423469" y="3474920"/>
            <a:ext cx="546120" cy="415440"/>
            <a:chOff x="8255880" y="6540840"/>
            <a:chExt cx="546120" cy="415440"/>
          </a:xfrm>
        </p:grpSpPr>
        <p:sp>
          <p:nvSpPr>
            <p:cNvPr id="36" name="Oval 221">
              <a:extLst>
                <a:ext uri="{FF2B5EF4-FFF2-40B4-BE49-F238E27FC236}">
                  <a16:creationId xmlns:a16="http://schemas.microsoft.com/office/drawing/2014/main" id="{AF20DC97-EC26-E642-033D-1A32863A203F}"/>
                </a:ext>
              </a:extLst>
            </p:cNvPr>
            <p:cNvSpPr/>
            <p:nvPr/>
          </p:nvSpPr>
          <p:spPr>
            <a:xfrm>
              <a:off x="8255880" y="6540840"/>
              <a:ext cx="411120" cy="415440"/>
            </a:xfrm>
            <a:prstGeom prst="ellipse">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1371600">
                <a:lnSpc>
                  <a:spcPct val="100000"/>
                </a:lnSpc>
              </a:pPr>
              <a:endParaRPr lang="en-US" sz="1500" b="0" strike="noStrike" spc="-1">
                <a:solidFill>
                  <a:srgbClr val="FFFFFF"/>
                </a:solidFill>
                <a:latin typeface="Arial"/>
                <a:ea typeface="新細明體"/>
              </a:endParaRPr>
            </a:p>
          </p:txBody>
        </p:sp>
        <p:sp>
          <p:nvSpPr>
            <p:cNvPr id="37" name="TextBox 222">
              <a:extLst>
                <a:ext uri="{FF2B5EF4-FFF2-40B4-BE49-F238E27FC236}">
                  <a16:creationId xmlns:a16="http://schemas.microsoft.com/office/drawing/2014/main" id="{38F592B1-3192-E6C9-C874-1EB9FE5BD805}"/>
                </a:ext>
              </a:extLst>
            </p:cNvPr>
            <p:cNvSpPr/>
            <p:nvPr/>
          </p:nvSpPr>
          <p:spPr>
            <a:xfrm>
              <a:off x="8268840" y="6571800"/>
              <a:ext cx="533160" cy="32171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1371600">
                <a:lnSpc>
                  <a:spcPct val="100000"/>
                </a:lnSpc>
              </a:pPr>
              <a:r>
                <a:rPr lang="en-US" sz="1500" spc="-1" dirty="0">
                  <a:solidFill>
                    <a:srgbClr val="000000"/>
                  </a:solidFill>
                  <a:latin typeface="微軟正黑體"/>
                  <a:ea typeface="微軟正黑體"/>
                </a:rPr>
                <a:t>1</a:t>
              </a:r>
              <a:endParaRPr lang="en-US" sz="1500" b="0" strike="noStrike" spc="-1" dirty="0">
                <a:solidFill>
                  <a:srgbClr val="000000"/>
                </a:solidFill>
                <a:latin typeface="Calibri"/>
              </a:endParaRPr>
            </a:p>
          </p:txBody>
        </p:sp>
      </p:grpSp>
      <p:grpSp>
        <p:nvGrpSpPr>
          <p:cNvPr id="38" name="Group 220">
            <a:extLst>
              <a:ext uri="{FF2B5EF4-FFF2-40B4-BE49-F238E27FC236}">
                <a16:creationId xmlns:a16="http://schemas.microsoft.com/office/drawing/2014/main" id="{FD90924E-B677-C35F-3A92-79BA06858DD6}"/>
              </a:ext>
            </a:extLst>
          </p:cNvPr>
          <p:cNvGrpSpPr/>
          <p:nvPr/>
        </p:nvGrpSpPr>
        <p:grpSpPr>
          <a:xfrm>
            <a:off x="4463789" y="5274560"/>
            <a:ext cx="560160" cy="415440"/>
            <a:chOff x="8296200" y="8340480"/>
            <a:chExt cx="560160" cy="415440"/>
          </a:xfrm>
        </p:grpSpPr>
        <p:sp>
          <p:nvSpPr>
            <p:cNvPr id="39" name="Oval 221">
              <a:extLst>
                <a:ext uri="{FF2B5EF4-FFF2-40B4-BE49-F238E27FC236}">
                  <a16:creationId xmlns:a16="http://schemas.microsoft.com/office/drawing/2014/main" id="{7B07C93E-FFD8-5D04-64AA-8151E6B4DF27}"/>
                </a:ext>
              </a:extLst>
            </p:cNvPr>
            <p:cNvSpPr/>
            <p:nvPr/>
          </p:nvSpPr>
          <p:spPr>
            <a:xfrm>
              <a:off x="8296200" y="8340480"/>
              <a:ext cx="411120" cy="415440"/>
            </a:xfrm>
            <a:prstGeom prst="ellipse">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1371600">
                <a:lnSpc>
                  <a:spcPct val="100000"/>
                </a:lnSpc>
              </a:pPr>
              <a:endParaRPr lang="en-US" sz="1500" b="0" strike="noStrike" spc="-1">
                <a:solidFill>
                  <a:srgbClr val="FFFFFF"/>
                </a:solidFill>
                <a:latin typeface="Arial"/>
                <a:ea typeface="新細明體"/>
              </a:endParaRPr>
            </a:p>
          </p:txBody>
        </p:sp>
        <p:sp>
          <p:nvSpPr>
            <p:cNvPr id="40" name="TextBox 222">
              <a:extLst>
                <a:ext uri="{FF2B5EF4-FFF2-40B4-BE49-F238E27FC236}">
                  <a16:creationId xmlns:a16="http://schemas.microsoft.com/office/drawing/2014/main" id="{A7B388DA-BA40-C7A2-F721-D74FACE691AB}"/>
                </a:ext>
              </a:extLst>
            </p:cNvPr>
            <p:cNvSpPr/>
            <p:nvPr/>
          </p:nvSpPr>
          <p:spPr>
            <a:xfrm>
              <a:off x="8323200" y="8384760"/>
              <a:ext cx="533160" cy="32171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1371600">
                <a:lnSpc>
                  <a:spcPct val="100000"/>
                </a:lnSpc>
              </a:pPr>
              <a:r>
                <a:rPr lang="en-US" sz="1500" spc="-1" dirty="0">
                  <a:solidFill>
                    <a:srgbClr val="000000"/>
                  </a:solidFill>
                  <a:latin typeface="微軟正黑體"/>
                  <a:ea typeface="微軟正黑體"/>
                </a:rPr>
                <a:t>2</a:t>
              </a:r>
              <a:endParaRPr lang="en-US" sz="1500" b="0" strike="noStrike" spc="-1" dirty="0">
                <a:solidFill>
                  <a:srgbClr val="000000"/>
                </a:solidFill>
                <a:latin typeface="Calibri"/>
              </a:endParaRPr>
            </a:p>
          </p:txBody>
        </p:sp>
      </p:grpSp>
      <p:sp>
        <p:nvSpPr>
          <p:cNvPr id="41" name="文字方塊 95">
            <a:extLst>
              <a:ext uri="{FF2B5EF4-FFF2-40B4-BE49-F238E27FC236}">
                <a16:creationId xmlns:a16="http://schemas.microsoft.com/office/drawing/2014/main" id="{B34CF56A-2574-B7DF-B846-6A1B5A992B16}"/>
              </a:ext>
            </a:extLst>
          </p:cNvPr>
          <p:cNvSpPr/>
          <p:nvPr/>
        </p:nvSpPr>
        <p:spPr>
          <a:xfrm>
            <a:off x="3433680" y="3074255"/>
            <a:ext cx="788400" cy="295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1371600">
              <a:lnSpc>
                <a:spcPct val="100000"/>
              </a:lnSpc>
            </a:pPr>
            <a:r>
              <a:rPr lang="zh-TW" sz="1350" b="0" strike="noStrike" spc="-1" dirty="0">
                <a:solidFill>
                  <a:srgbClr val="000000"/>
                </a:solidFill>
                <a:latin typeface="微軟正黑體"/>
                <a:ea typeface="微軟正黑體"/>
              </a:rPr>
              <a:t>否</a:t>
            </a:r>
            <a:endParaRPr lang="en-US" sz="1350" b="0" strike="noStrike" spc="-1" dirty="0">
              <a:solidFill>
                <a:srgbClr val="000000"/>
              </a:solidFill>
              <a:latin typeface="Calibri"/>
            </a:endParaRPr>
          </a:p>
        </p:txBody>
      </p:sp>
      <p:sp>
        <p:nvSpPr>
          <p:cNvPr id="42" name="流程圖: 接點 51">
            <a:extLst>
              <a:ext uri="{FF2B5EF4-FFF2-40B4-BE49-F238E27FC236}">
                <a16:creationId xmlns:a16="http://schemas.microsoft.com/office/drawing/2014/main" id="{A79D8839-4B34-5B99-274D-C9CC0EEABEAB}"/>
              </a:ext>
            </a:extLst>
          </p:cNvPr>
          <p:cNvSpPr/>
          <p:nvPr/>
        </p:nvSpPr>
        <p:spPr>
          <a:xfrm>
            <a:off x="12917160" y="8045640"/>
            <a:ext cx="545040" cy="466920"/>
          </a:xfrm>
          <a:prstGeom prst="flowChart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1371600">
              <a:lnSpc>
                <a:spcPct val="100000"/>
              </a:lnSpc>
            </a:pPr>
            <a:r>
              <a:rPr lang="en-US" sz="1800" b="0" strike="noStrike" spc="-1">
                <a:solidFill>
                  <a:srgbClr val="000000"/>
                </a:solidFill>
                <a:latin typeface="微軟正黑體"/>
                <a:ea typeface="微軟正黑體"/>
              </a:rPr>
              <a:t>C</a:t>
            </a:r>
            <a:endParaRPr lang="en-US" sz="1800" b="0" strike="noStrike" spc="-1">
              <a:solidFill>
                <a:srgbClr val="000000"/>
              </a:solidFill>
              <a:latin typeface="Calibri"/>
            </a:endParaRPr>
          </a:p>
        </p:txBody>
      </p:sp>
      <p:cxnSp>
        <p:nvCxnSpPr>
          <p:cNvPr id="43" name="直線單箭頭接點 108">
            <a:extLst>
              <a:ext uri="{FF2B5EF4-FFF2-40B4-BE49-F238E27FC236}">
                <a16:creationId xmlns:a16="http://schemas.microsoft.com/office/drawing/2014/main" id="{A4E6180C-66C7-F80D-F8A8-151696059054}"/>
              </a:ext>
            </a:extLst>
          </p:cNvPr>
          <p:cNvCxnSpPr>
            <a:stCxn id="42" idx="1"/>
            <a:endCxn id="3" idx="0"/>
          </p:cNvCxnSpPr>
          <p:nvPr/>
        </p:nvCxnSpPr>
        <p:spPr>
          <a:xfrm>
            <a:off x="13189320" y="8512920"/>
            <a:ext cx="10800" cy="451080"/>
          </a:xfrm>
          <a:prstGeom prst="straightConnector1">
            <a:avLst/>
          </a:prstGeom>
          <a:ln>
            <a:solidFill>
              <a:srgbClr val="000000"/>
            </a:solidFill>
            <a:tailEnd type="triangle" w="med" len="med"/>
          </a:ln>
        </p:spPr>
      </p:cxnSp>
      <p:sp>
        <p:nvSpPr>
          <p:cNvPr id="44" name="流程圖: 預設處理作業 21">
            <a:extLst>
              <a:ext uri="{FF2B5EF4-FFF2-40B4-BE49-F238E27FC236}">
                <a16:creationId xmlns:a16="http://schemas.microsoft.com/office/drawing/2014/main" id="{47D3F726-018A-0392-4386-AB1936A8780D}"/>
              </a:ext>
            </a:extLst>
          </p:cNvPr>
          <p:cNvSpPr/>
          <p:nvPr/>
        </p:nvSpPr>
        <p:spPr>
          <a:xfrm>
            <a:off x="9684935" y="3997440"/>
            <a:ext cx="1812600" cy="823320"/>
          </a:xfrm>
          <a:prstGeom prst="flowChartPredefined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1371600">
              <a:lnSpc>
                <a:spcPct val="100000"/>
              </a:lnSpc>
            </a:pPr>
            <a:r>
              <a:rPr lang="en-US" sz="1500" b="0" strike="noStrike" spc="-1">
                <a:solidFill>
                  <a:srgbClr val="000000"/>
                </a:solidFill>
                <a:latin typeface="微軟正黑體"/>
                <a:ea typeface="微軟正黑體"/>
              </a:rPr>
              <a:t>FI-AP-0040</a:t>
            </a:r>
            <a:endParaRPr lang="en-US" sz="1500" b="0" strike="noStrike" spc="-1">
              <a:solidFill>
                <a:srgbClr val="000000"/>
              </a:solidFill>
              <a:latin typeface="Calibri"/>
            </a:endParaRPr>
          </a:p>
          <a:p>
            <a:pPr algn="ctr" defTabSz="1371600">
              <a:lnSpc>
                <a:spcPct val="100000"/>
              </a:lnSpc>
            </a:pPr>
            <a:r>
              <a:rPr lang="zh-TW" sz="1500" b="0" strike="noStrike" spc="-1">
                <a:solidFill>
                  <a:srgbClr val="000000"/>
                </a:solidFill>
                <a:latin typeface="微軟正黑體"/>
                <a:ea typeface="微軟正黑體"/>
              </a:rPr>
              <a:t>預付款作業流程</a:t>
            </a:r>
            <a:endParaRPr lang="en-US" sz="1500" b="0" strike="noStrike" spc="-1">
              <a:solidFill>
                <a:srgbClr val="000000"/>
              </a:solidFill>
              <a:latin typeface="Calibri"/>
            </a:endParaRPr>
          </a:p>
        </p:txBody>
      </p:sp>
      <p:sp>
        <p:nvSpPr>
          <p:cNvPr id="45" name="流程圖: 決策 50">
            <a:extLst>
              <a:ext uri="{FF2B5EF4-FFF2-40B4-BE49-F238E27FC236}">
                <a16:creationId xmlns:a16="http://schemas.microsoft.com/office/drawing/2014/main" id="{51F80891-2A38-4A9A-C8D6-39917EEA2240}"/>
              </a:ext>
            </a:extLst>
          </p:cNvPr>
          <p:cNvSpPr/>
          <p:nvPr/>
        </p:nvSpPr>
        <p:spPr>
          <a:xfrm>
            <a:off x="7298749" y="4057560"/>
            <a:ext cx="1841760" cy="711720"/>
          </a:xfrm>
          <a:prstGeom prst="flowChartDecision">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1371600">
              <a:lnSpc>
                <a:spcPct val="100000"/>
              </a:lnSpc>
            </a:pPr>
            <a:r>
              <a:rPr lang="zh-TW" sz="1500" b="0" strike="noStrike" spc="-1" dirty="0">
                <a:solidFill>
                  <a:srgbClr val="000000"/>
                </a:solidFill>
                <a:latin typeface="微軟正黑體"/>
                <a:ea typeface="微軟正黑體"/>
              </a:rPr>
              <a:t>需預付</a:t>
            </a:r>
            <a:endParaRPr lang="en-US" sz="1500" b="0" strike="noStrike" spc="-1" dirty="0">
              <a:solidFill>
                <a:srgbClr val="000000"/>
              </a:solidFill>
              <a:latin typeface="Calibri"/>
            </a:endParaRPr>
          </a:p>
        </p:txBody>
      </p:sp>
      <p:cxnSp>
        <p:nvCxnSpPr>
          <p:cNvPr id="46" name="肘形接點 68">
            <a:extLst>
              <a:ext uri="{FF2B5EF4-FFF2-40B4-BE49-F238E27FC236}">
                <a16:creationId xmlns:a16="http://schemas.microsoft.com/office/drawing/2014/main" id="{BF65469A-70D8-9C24-BCFD-BDE926027AB3}"/>
              </a:ext>
            </a:extLst>
          </p:cNvPr>
          <p:cNvCxnSpPr>
            <a:stCxn id="45" idx="3"/>
            <a:endCxn id="44" idx="1"/>
          </p:cNvCxnSpPr>
          <p:nvPr/>
        </p:nvCxnSpPr>
        <p:spPr>
          <a:xfrm flipV="1">
            <a:off x="9140509" y="4409100"/>
            <a:ext cx="544426" cy="4320"/>
          </a:xfrm>
          <a:prstGeom prst="bentConnector3">
            <a:avLst>
              <a:gd name="adj1" fmla="val 50000"/>
            </a:avLst>
          </a:prstGeom>
          <a:ln>
            <a:solidFill>
              <a:srgbClr val="000000"/>
            </a:solidFill>
            <a:tailEnd type="triangle" w="med" len="med"/>
          </a:ln>
        </p:spPr>
      </p:cxnSp>
      <p:cxnSp>
        <p:nvCxnSpPr>
          <p:cNvPr id="47" name="肘形接點 68">
            <a:extLst>
              <a:ext uri="{FF2B5EF4-FFF2-40B4-BE49-F238E27FC236}">
                <a16:creationId xmlns:a16="http://schemas.microsoft.com/office/drawing/2014/main" id="{A9F0018A-D496-A396-4FF8-6EB2EB305197}"/>
              </a:ext>
            </a:extLst>
          </p:cNvPr>
          <p:cNvCxnSpPr>
            <a:cxnSpLocks/>
            <a:stCxn id="45" idx="2"/>
            <a:endCxn id="15" idx="0"/>
          </p:cNvCxnSpPr>
          <p:nvPr/>
        </p:nvCxnSpPr>
        <p:spPr>
          <a:xfrm rot="5400000">
            <a:off x="7583532" y="5398537"/>
            <a:ext cx="1265355" cy="6840"/>
          </a:xfrm>
          <a:prstGeom prst="bentConnector3">
            <a:avLst>
              <a:gd name="adj1" fmla="val 50000"/>
            </a:avLst>
          </a:prstGeom>
          <a:ln>
            <a:solidFill>
              <a:srgbClr val="000000"/>
            </a:solidFill>
            <a:tailEnd type="triangle" w="med" len="med"/>
          </a:ln>
        </p:spPr>
      </p:cxnSp>
      <p:sp>
        <p:nvSpPr>
          <p:cNvPr id="48" name="文字方塊 113">
            <a:extLst>
              <a:ext uri="{FF2B5EF4-FFF2-40B4-BE49-F238E27FC236}">
                <a16:creationId xmlns:a16="http://schemas.microsoft.com/office/drawing/2014/main" id="{BC901D92-A89F-1617-AF47-CCF92898EA73}"/>
              </a:ext>
            </a:extLst>
          </p:cNvPr>
          <p:cNvSpPr/>
          <p:nvPr/>
        </p:nvSpPr>
        <p:spPr>
          <a:xfrm>
            <a:off x="9112429" y="4088880"/>
            <a:ext cx="788400" cy="295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1371600">
              <a:lnSpc>
                <a:spcPct val="100000"/>
              </a:lnSpc>
            </a:pPr>
            <a:r>
              <a:rPr lang="zh-TW" sz="1350" b="0" strike="noStrike" spc="-1">
                <a:solidFill>
                  <a:srgbClr val="000000"/>
                </a:solidFill>
                <a:latin typeface="微軟正黑體"/>
                <a:ea typeface="微軟正黑體"/>
              </a:rPr>
              <a:t>是</a:t>
            </a:r>
            <a:endParaRPr lang="en-US" sz="1350" b="0" strike="noStrike" spc="-1">
              <a:solidFill>
                <a:srgbClr val="000000"/>
              </a:solidFill>
              <a:latin typeface="Calibri"/>
            </a:endParaRPr>
          </a:p>
        </p:txBody>
      </p:sp>
      <p:sp>
        <p:nvSpPr>
          <p:cNvPr id="49" name="文字方塊 114">
            <a:extLst>
              <a:ext uri="{FF2B5EF4-FFF2-40B4-BE49-F238E27FC236}">
                <a16:creationId xmlns:a16="http://schemas.microsoft.com/office/drawing/2014/main" id="{9A67E9F4-0C06-9E2D-FECE-2A31FB544C80}"/>
              </a:ext>
            </a:extLst>
          </p:cNvPr>
          <p:cNvSpPr/>
          <p:nvPr/>
        </p:nvSpPr>
        <p:spPr>
          <a:xfrm>
            <a:off x="7877629" y="4754605"/>
            <a:ext cx="788400" cy="295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1371600">
              <a:lnSpc>
                <a:spcPct val="100000"/>
              </a:lnSpc>
            </a:pPr>
            <a:r>
              <a:rPr lang="zh-TW" sz="1350" b="0" strike="noStrike" spc="-1" dirty="0">
                <a:solidFill>
                  <a:srgbClr val="000000"/>
                </a:solidFill>
                <a:latin typeface="微軟正黑體"/>
                <a:ea typeface="微軟正黑體"/>
              </a:rPr>
              <a:t>否</a:t>
            </a:r>
            <a:endParaRPr lang="en-US" sz="1350" b="0" strike="noStrike" spc="-1" dirty="0">
              <a:solidFill>
                <a:srgbClr val="000000"/>
              </a:solidFill>
              <a:latin typeface="Calibri"/>
            </a:endParaRPr>
          </a:p>
        </p:txBody>
      </p:sp>
      <p:cxnSp>
        <p:nvCxnSpPr>
          <p:cNvPr id="50" name="肘形接點 68">
            <a:extLst>
              <a:ext uri="{FF2B5EF4-FFF2-40B4-BE49-F238E27FC236}">
                <a16:creationId xmlns:a16="http://schemas.microsoft.com/office/drawing/2014/main" id="{ACF5A357-C417-B033-F14C-F5981958903A}"/>
              </a:ext>
            </a:extLst>
          </p:cNvPr>
          <p:cNvCxnSpPr>
            <a:cxnSpLocks/>
            <a:stCxn id="44" idx="2"/>
            <a:endCxn id="15" idx="0"/>
          </p:cNvCxnSpPr>
          <p:nvPr/>
        </p:nvCxnSpPr>
        <p:spPr>
          <a:xfrm rot="5400000">
            <a:off x="8795075" y="4238474"/>
            <a:ext cx="1213875" cy="2378446"/>
          </a:xfrm>
          <a:prstGeom prst="bentConnector3">
            <a:avLst>
              <a:gd name="adj1" fmla="val 50000"/>
            </a:avLst>
          </a:prstGeom>
          <a:ln>
            <a:solidFill>
              <a:srgbClr val="000000"/>
            </a:solidFill>
            <a:tailEnd type="triangle" w="med" len="med"/>
          </a:ln>
        </p:spPr>
      </p:cxnSp>
      <p:grpSp>
        <p:nvGrpSpPr>
          <p:cNvPr id="51" name="Group 220">
            <a:extLst>
              <a:ext uri="{FF2B5EF4-FFF2-40B4-BE49-F238E27FC236}">
                <a16:creationId xmlns:a16="http://schemas.microsoft.com/office/drawing/2014/main" id="{6211F1B4-D6E7-B198-1581-2F2F0D331155}"/>
              </a:ext>
            </a:extLst>
          </p:cNvPr>
          <p:cNvGrpSpPr/>
          <p:nvPr/>
        </p:nvGrpSpPr>
        <p:grpSpPr>
          <a:xfrm>
            <a:off x="11214935" y="3796560"/>
            <a:ext cx="533160" cy="415440"/>
            <a:chOff x="13783320" y="3796560"/>
            <a:chExt cx="533160" cy="415440"/>
          </a:xfrm>
        </p:grpSpPr>
        <p:sp>
          <p:nvSpPr>
            <p:cNvPr id="52" name="Oval 221">
              <a:extLst>
                <a:ext uri="{FF2B5EF4-FFF2-40B4-BE49-F238E27FC236}">
                  <a16:creationId xmlns:a16="http://schemas.microsoft.com/office/drawing/2014/main" id="{9AE3AB57-8E46-8DBD-E0F1-90E71B57B857}"/>
                </a:ext>
              </a:extLst>
            </p:cNvPr>
            <p:cNvSpPr/>
            <p:nvPr/>
          </p:nvSpPr>
          <p:spPr>
            <a:xfrm>
              <a:off x="13824000" y="3796560"/>
              <a:ext cx="411120" cy="415440"/>
            </a:xfrm>
            <a:prstGeom prst="ellipse">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1371600">
                <a:lnSpc>
                  <a:spcPct val="100000"/>
                </a:lnSpc>
              </a:pPr>
              <a:endParaRPr lang="en-US" sz="1500" b="0" strike="noStrike" spc="-1">
                <a:solidFill>
                  <a:srgbClr val="FFFFFF"/>
                </a:solidFill>
                <a:latin typeface="Arial"/>
                <a:ea typeface="新細明體"/>
              </a:endParaRPr>
            </a:p>
          </p:txBody>
        </p:sp>
        <p:sp>
          <p:nvSpPr>
            <p:cNvPr id="53" name="TextBox 222">
              <a:extLst>
                <a:ext uri="{FF2B5EF4-FFF2-40B4-BE49-F238E27FC236}">
                  <a16:creationId xmlns:a16="http://schemas.microsoft.com/office/drawing/2014/main" id="{BBBD029E-0B32-F06C-5E41-10CBBBBF1E6D}"/>
                </a:ext>
              </a:extLst>
            </p:cNvPr>
            <p:cNvSpPr/>
            <p:nvPr/>
          </p:nvSpPr>
          <p:spPr>
            <a:xfrm>
              <a:off x="13783320" y="3813840"/>
              <a:ext cx="533160" cy="32171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1371600">
                <a:lnSpc>
                  <a:spcPct val="100000"/>
                </a:lnSpc>
              </a:pPr>
              <a:r>
                <a:rPr lang="en-US" sz="1500" spc="-1" dirty="0">
                  <a:solidFill>
                    <a:srgbClr val="000000"/>
                  </a:solidFill>
                  <a:latin typeface="微軟正黑體"/>
                  <a:ea typeface="微軟正黑體"/>
                </a:rPr>
                <a:t> 6</a:t>
              </a:r>
              <a:endParaRPr lang="en-US" sz="1500" b="0" strike="noStrike" spc="-1" dirty="0">
                <a:solidFill>
                  <a:srgbClr val="000000"/>
                </a:solidFill>
                <a:latin typeface="Calibri"/>
              </a:endParaRPr>
            </a:p>
          </p:txBody>
        </p:sp>
      </p:grpSp>
      <p:sp>
        <p:nvSpPr>
          <p:cNvPr id="54" name="流程圖: 換頁接點 52">
            <a:extLst>
              <a:ext uri="{FF2B5EF4-FFF2-40B4-BE49-F238E27FC236}">
                <a16:creationId xmlns:a16="http://schemas.microsoft.com/office/drawing/2014/main" id="{D26F5B85-003C-CCCD-21AB-E63B9DAE5A48}"/>
              </a:ext>
            </a:extLst>
          </p:cNvPr>
          <p:cNvSpPr/>
          <p:nvPr/>
        </p:nvSpPr>
        <p:spPr bwMode="auto">
          <a:xfrm>
            <a:off x="943669" y="2450413"/>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P1</a:t>
            </a:r>
            <a:endParaRPr lang="zh-TW" altLang="en-US" dirty="0">
              <a:latin typeface="微軟正黑體" panose="020B0604030504040204" pitchFamily="34" charset="-120"/>
              <a:ea typeface="微軟正黑體" panose="020B0604030504040204" pitchFamily="34" charset="-120"/>
            </a:endParaRPr>
          </a:p>
        </p:txBody>
      </p:sp>
      <p:cxnSp>
        <p:nvCxnSpPr>
          <p:cNvPr id="55" name="直線單箭頭接點 227">
            <a:extLst>
              <a:ext uri="{FF2B5EF4-FFF2-40B4-BE49-F238E27FC236}">
                <a16:creationId xmlns:a16="http://schemas.microsoft.com/office/drawing/2014/main" id="{761221DD-5E08-E00B-FFA0-C9F46F73179B}"/>
              </a:ext>
            </a:extLst>
          </p:cNvPr>
          <p:cNvCxnSpPr>
            <a:cxnSpLocks/>
            <a:stCxn id="54" idx="3"/>
            <a:endCxn id="11" idx="1"/>
          </p:cNvCxnSpPr>
          <p:nvPr/>
        </p:nvCxnSpPr>
        <p:spPr>
          <a:xfrm flipV="1">
            <a:off x="1504296" y="2676195"/>
            <a:ext cx="1390251" cy="7870"/>
          </a:xfrm>
          <a:prstGeom prst="straightConnector1">
            <a:avLst/>
          </a:prstGeom>
          <a:ln>
            <a:solidFill>
              <a:srgbClr val="000000"/>
            </a:solidFill>
            <a:tailEnd type="triangle" w="med" len="med"/>
          </a:ln>
        </p:spPr>
      </p:cxnSp>
    </p:spTree>
    <p:extLst>
      <p:ext uri="{BB962C8B-B14F-4D97-AF65-F5344CB8AC3E}">
        <p14:creationId xmlns:p14="http://schemas.microsoft.com/office/powerpoint/2010/main" val="18336112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3">
            <a:extLst>
              <a:ext uri="{FF2B5EF4-FFF2-40B4-BE49-F238E27FC236}">
                <a16:creationId xmlns:a16="http://schemas.microsoft.com/office/drawing/2014/main" id="{DE0A60CA-A976-740A-79CC-5BBC7AE79A92}"/>
              </a:ext>
            </a:extLst>
          </p:cNvPr>
          <p:cNvSpPr/>
          <p:nvPr/>
        </p:nvSpPr>
        <p:spPr>
          <a:xfrm>
            <a:off x="2431440" y="820800"/>
            <a:ext cx="7218360" cy="41404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1371600">
              <a:lnSpc>
                <a:spcPct val="100000"/>
              </a:lnSpc>
            </a:pPr>
            <a:r>
              <a:rPr lang="en-US" sz="2100" b="1" strike="noStrike" spc="-1" dirty="0">
                <a:solidFill>
                  <a:srgbClr val="000000"/>
                </a:solidFill>
                <a:latin typeface="微軟正黑體"/>
                <a:ea typeface="微軟正黑體"/>
              </a:rPr>
              <a:t>MM-PU-0030</a:t>
            </a:r>
            <a:r>
              <a:rPr lang="zh-TW" sz="2100" b="1" strike="noStrike" spc="-1" dirty="0">
                <a:solidFill>
                  <a:srgbClr val="000000"/>
                </a:solidFill>
                <a:latin typeface="微軟正黑體"/>
                <a:ea typeface="微軟正黑體"/>
              </a:rPr>
              <a:t>庫存類採購流程</a:t>
            </a:r>
            <a:r>
              <a:rPr lang="en-US" altLang="zh-TW" sz="2100" b="1" strike="noStrike" spc="-1" dirty="0">
                <a:solidFill>
                  <a:srgbClr val="000000"/>
                </a:solidFill>
                <a:latin typeface="微軟正黑體"/>
                <a:ea typeface="微軟正黑體"/>
              </a:rPr>
              <a:t>(</a:t>
            </a:r>
            <a:r>
              <a:rPr lang="zh-TW" altLang="en-US" sz="2100" b="1" strike="noStrike" spc="-1" dirty="0">
                <a:solidFill>
                  <a:srgbClr val="000000"/>
                </a:solidFill>
                <a:latin typeface="微軟正黑體"/>
                <a:ea typeface="微軟正黑體"/>
              </a:rPr>
              <a:t>需簽核</a:t>
            </a:r>
            <a:r>
              <a:rPr lang="en-US" altLang="zh-TW" sz="2100" b="1" strike="noStrike" spc="-1" dirty="0">
                <a:solidFill>
                  <a:srgbClr val="000000"/>
                </a:solidFill>
                <a:latin typeface="微軟正黑體"/>
                <a:ea typeface="微軟正黑體"/>
              </a:rPr>
              <a:t>)</a:t>
            </a:r>
            <a:endParaRPr lang="en-US" sz="2100" b="0" strike="noStrike" spc="-1" dirty="0">
              <a:solidFill>
                <a:srgbClr val="000000"/>
              </a:solidFill>
              <a:latin typeface="Calibri"/>
            </a:endParaRPr>
          </a:p>
        </p:txBody>
      </p:sp>
      <p:sp>
        <p:nvSpPr>
          <p:cNvPr id="3" name="流程圖: 結束點 8">
            <a:extLst>
              <a:ext uri="{FF2B5EF4-FFF2-40B4-BE49-F238E27FC236}">
                <a16:creationId xmlns:a16="http://schemas.microsoft.com/office/drawing/2014/main" id="{A7177A37-5931-D656-D151-775568D80234}"/>
              </a:ext>
            </a:extLst>
          </p:cNvPr>
          <p:cNvSpPr/>
          <p:nvPr/>
        </p:nvSpPr>
        <p:spPr>
          <a:xfrm>
            <a:off x="12301200" y="8963640"/>
            <a:ext cx="1797480" cy="781920"/>
          </a:xfrm>
          <a:prstGeom prst="flowChartTermina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1371600">
              <a:lnSpc>
                <a:spcPct val="100000"/>
              </a:lnSpc>
            </a:pPr>
            <a:r>
              <a:rPr lang="zh-TW" sz="1500" b="0" strike="noStrike" spc="-1">
                <a:solidFill>
                  <a:srgbClr val="000000"/>
                </a:solidFill>
                <a:latin typeface="微軟正黑體"/>
                <a:ea typeface="微軟正黑體"/>
              </a:rPr>
              <a:t>結束</a:t>
            </a:r>
            <a:endParaRPr lang="en-US" sz="1500" b="0" strike="noStrike" spc="-1">
              <a:solidFill>
                <a:srgbClr val="000000"/>
              </a:solidFill>
              <a:latin typeface="Calibri"/>
            </a:endParaRPr>
          </a:p>
        </p:txBody>
      </p:sp>
      <p:sp>
        <p:nvSpPr>
          <p:cNvPr id="4" name="文字方塊 17">
            <a:extLst>
              <a:ext uri="{FF2B5EF4-FFF2-40B4-BE49-F238E27FC236}">
                <a16:creationId xmlns:a16="http://schemas.microsoft.com/office/drawing/2014/main" id="{F27F6545-8B82-99F9-7BD2-D38A02862CBB}"/>
              </a:ext>
            </a:extLst>
          </p:cNvPr>
          <p:cNvSpPr/>
          <p:nvPr/>
        </p:nvSpPr>
        <p:spPr>
          <a:xfrm>
            <a:off x="2402380" y="1351451"/>
            <a:ext cx="5201578" cy="344795"/>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defTabSz="1371600">
              <a:lnSpc>
                <a:spcPct val="100000"/>
              </a:lnSpc>
            </a:pPr>
            <a:r>
              <a:rPr lang="zh-TW" sz="1650" b="0" strike="noStrike" spc="-1" dirty="0">
                <a:solidFill>
                  <a:srgbClr val="000000"/>
                </a:solidFill>
                <a:latin typeface="Arial"/>
              </a:rPr>
              <a:t>採購</a:t>
            </a:r>
            <a:endParaRPr lang="en-US" sz="1650" b="0" strike="noStrike" spc="-1" dirty="0">
              <a:solidFill>
                <a:srgbClr val="000000"/>
              </a:solidFill>
              <a:latin typeface="Calibri"/>
            </a:endParaRPr>
          </a:p>
        </p:txBody>
      </p:sp>
      <p:sp>
        <p:nvSpPr>
          <p:cNvPr id="5" name="TextBox 53">
            <a:extLst>
              <a:ext uri="{FF2B5EF4-FFF2-40B4-BE49-F238E27FC236}">
                <a16:creationId xmlns:a16="http://schemas.microsoft.com/office/drawing/2014/main" id="{AB74AA59-AD1F-5838-D1DB-36EA6322BA04}"/>
              </a:ext>
            </a:extLst>
          </p:cNvPr>
          <p:cNvSpPr/>
          <p:nvPr/>
        </p:nvSpPr>
        <p:spPr>
          <a:xfrm>
            <a:off x="14367240" y="1957320"/>
            <a:ext cx="3593880" cy="535385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343080" defTabSz="1371600">
              <a:lnSpc>
                <a:spcPct val="100000"/>
              </a:lnSpc>
              <a:buClr>
                <a:srgbClr val="000000"/>
              </a:buClr>
              <a:buFont typeface="Calibri Light"/>
              <a:buAutoNum type="arabicPeriod"/>
            </a:pPr>
            <a:r>
              <a:rPr lang="zh-TW" sz="1800" b="0" strike="noStrike" spc="-1" dirty="0">
                <a:solidFill>
                  <a:srgbClr val="000000"/>
                </a:solidFill>
                <a:latin typeface="微軟正黑體"/>
                <a:ea typeface="微軟正黑體"/>
              </a:rPr>
              <a:t>在詢報價流程建立最新價格</a:t>
            </a:r>
            <a:endParaRPr lang="en-US" sz="1800" b="0" strike="noStrike" spc="-1" dirty="0">
              <a:solidFill>
                <a:srgbClr val="000000"/>
              </a:solidFill>
              <a:latin typeface="Calibri"/>
            </a:endParaRPr>
          </a:p>
          <a:p>
            <a:pPr marL="343080" indent="-343080" defTabSz="1371600">
              <a:lnSpc>
                <a:spcPct val="100000"/>
              </a:lnSpc>
              <a:buClr>
                <a:srgbClr val="000000"/>
              </a:buClr>
              <a:buFont typeface="Calibri Light"/>
              <a:buAutoNum type="arabicPeriod"/>
            </a:pPr>
            <a:r>
              <a:rPr lang="zh-TW" sz="1800" b="0" strike="noStrike" spc="-1" dirty="0">
                <a:solidFill>
                  <a:srgbClr val="000000"/>
                </a:solidFill>
                <a:latin typeface="微軟正黑體"/>
                <a:ea typeface="微軟正黑體"/>
              </a:rPr>
              <a:t>更新採購單讀取最新廠商價格</a:t>
            </a:r>
            <a:endParaRPr lang="en-US" sz="1800" b="0" strike="noStrike" spc="-1" dirty="0">
              <a:solidFill>
                <a:srgbClr val="000000"/>
              </a:solidFill>
              <a:latin typeface="Calibri"/>
            </a:endParaRPr>
          </a:p>
          <a:p>
            <a:pPr marL="343080" indent="-343080" defTabSz="1371600">
              <a:lnSpc>
                <a:spcPct val="100000"/>
              </a:lnSpc>
              <a:buClr>
                <a:srgbClr val="000000"/>
              </a:buClr>
              <a:buFont typeface="Calibri Light"/>
              <a:buAutoNum type="arabicPeriod"/>
            </a:pPr>
            <a:r>
              <a:rPr lang="zh-TW" altLang="en-US" sz="1800" b="0" strike="noStrike" spc="-1" dirty="0">
                <a:solidFill>
                  <a:srgbClr val="000000"/>
                </a:solidFill>
                <a:latin typeface="微軟正黑體"/>
                <a:ea typeface="微軟正黑體"/>
              </a:rPr>
              <a:t>透過</a:t>
            </a:r>
            <a:r>
              <a:rPr lang="en-US" altLang="zh-TW" sz="1800" b="0" strike="noStrike" spc="-1" dirty="0">
                <a:solidFill>
                  <a:srgbClr val="000000"/>
                </a:solidFill>
                <a:latin typeface="微軟正黑體"/>
                <a:ea typeface="微軟正黑體"/>
              </a:rPr>
              <a:t>ZMM019</a:t>
            </a:r>
            <a:r>
              <a:rPr lang="zh-TW" altLang="en-US" sz="1800" b="0" strike="noStrike" spc="-1" dirty="0">
                <a:solidFill>
                  <a:srgbClr val="000000"/>
                </a:solidFill>
                <a:latin typeface="微軟正黑體"/>
                <a:ea typeface="微軟正黑體"/>
              </a:rPr>
              <a:t>程式把資料匯入</a:t>
            </a:r>
            <a:r>
              <a:rPr lang="en-US" altLang="zh-TW" sz="1800" b="0" strike="noStrike" spc="-1" dirty="0">
                <a:solidFill>
                  <a:srgbClr val="000000"/>
                </a:solidFill>
                <a:latin typeface="微軟正黑體"/>
                <a:ea typeface="微軟正黑體"/>
              </a:rPr>
              <a:t>BPM</a:t>
            </a:r>
            <a:r>
              <a:rPr lang="zh-TW" altLang="en-US" sz="1800" b="0" strike="noStrike" spc="-1" dirty="0">
                <a:solidFill>
                  <a:srgbClr val="000000"/>
                </a:solidFill>
                <a:latin typeface="微軟正黑體"/>
                <a:ea typeface="微軟正黑體"/>
              </a:rPr>
              <a:t>發起採購單</a:t>
            </a:r>
            <a:r>
              <a:rPr lang="en-US" altLang="zh-TW" sz="1800" b="0" strike="noStrike" spc="-1" dirty="0">
                <a:solidFill>
                  <a:srgbClr val="000000"/>
                </a:solidFill>
                <a:latin typeface="微軟正黑體"/>
                <a:ea typeface="微軟正黑體"/>
              </a:rPr>
              <a:t>BPM</a:t>
            </a:r>
            <a:r>
              <a:rPr lang="zh-TW" altLang="en-US" sz="1800" b="0" strike="noStrike" spc="-1" dirty="0">
                <a:solidFill>
                  <a:srgbClr val="000000"/>
                </a:solidFill>
                <a:latin typeface="微軟正黑體"/>
                <a:ea typeface="微軟正黑體"/>
              </a:rPr>
              <a:t>簽核</a:t>
            </a:r>
          </a:p>
          <a:p>
            <a:pPr marL="343080" indent="-343080" defTabSz="1371600">
              <a:lnSpc>
                <a:spcPct val="100000"/>
              </a:lnSpc>
              <a:buClr>
                <a:srgbClr val="000000"/>
              </a:buClr>
              <a:buFont typeface="Calibri Light"/>
              <a:buAutoNum type="arabicPeriod"/>
            </a:pPr>
            <a:r>
              <a:rPr lang="zh-TW" altLang="en-US" sz="1800" b="0" strike="noStrike" spc="-1" dirty="0">
                <a:solidFill>
                  <a:srgbClr val="000000"/>
                </a:solidFill>
                <a:latin typeface="微軟正黑體"/>
                <a:ea typeface="微軟正黑體"/>
              </a:rPr>
              <a:t>由權責主管在</a:t>
            </a:r>
            <a:r>
              <a:rPr lang="en-US" altLang="zh-TW" sz="1800" b="0" strike="noStrike" spc="-1" dirty="0">
                <a:solidFill>
                  <a:srgbClr val="000000"/>
                </a:solidFill>
                <a:latin typeface="微軟正黑體"/>
                <a:ea typeface="微軟正黑體"/>
              </a:rPr>
              <a:t>BPM</a:t>
            </a:r>
            <a:r>
              <a:rPr lang="zh-TW" altLang="en-US" sz="1800" b="0" strike="noStrike" spc="-1" dirty="0">
                <a:solidFill>
                  <a:srgbClr val="000000"/>
                </a:solidFill>
                <a:latin typeface="微軟正黑體"/>
                <a:ea typeface="微軟正黑體"/>
              </a:rPr>
              <a:t>上進行簽核採購單</a:t>
            </a:r>
            <a:endParaRPr lang="en-US" altLang="zh-TW" sz="1800" b="0" strike="noStrike" spc="-1" dirty="0">
              <a:solidFill>
                <a:srgbClr val="000000"/>
              </a:solidFill>
              <a:latin typeface="微軟正黑體"/>
              <a:ea typeface="微軟正黑體"/>
            </a:endParaRPr>
          </a:p>
          <a:p>
            <a:pPr marL="343080" indent="-343080" defTabSz="1371600">
              <a:lnSpc>
                <a:spcPct val="100000"/>
              </a:lnSpc>
              <a:buClr>
                <a:srgbClr val="000000"/>
              </a:buClr>
              <a:buFont typeface="Calibri Light"/>
              <a:buAutoNum type="arabicPeriod"/>
            </a:pPr>
            <a:r>
              <a:rPr lang="zh-TW" altLang="en-US" sz="1800" b="0" strike="noStrike" spc="-1" dirty="0">
                <a:solidFill>
                  <a:srgbClr val="000000"/>
                </a:solidFill>
                <a:latin typeface="微軟正黑體"/>
                <a:ea typeface="微軟正黑體"/>
              </a:rPr>
              <a:t>簽核未通過，透過程式</a:t>
            </a:r>
            <a:r>
              <a:rPr lang="en-US" altLang="zh-TW" sz="1800" b="0" strike="noStrike" spc="-1" dirty="0">
                <a:solidFill>
                  <a:srgbClr val="000000"/>
                </a:solidFill>
                <a:latin typeface="微軟正黑體"/>
                <a:ea typeface="微軟正黑體"/>
              </a:rPr>
              <a:t>ZMM006 </a:t>
            </a:r>
            <a:r>
              <a:rPr lang="zh-TW" altLang="en-US" sz="1800" b="0" strike="noStrike" spc="-1" dirty="0">
                <a:solidFill>
                  <a:srgbClr val="000000"/>
                </a:solidFill>
                <a:latin typeface="微軟正黑體"/>
                <a:ea typeface="微軟正黑體"/>
              </a:rPr>
              <a:t>將採購單標記為刪除，以及刪除對應請購單</a:t>
            </a:r>
            <a:endParaRPr lang="en-US" altLang="zh-TW" sz="1800" b="0" strike="noStrike" spc="-1" dirty="0">
              <a:solidFill>
                <a:srgbClr val="000000"/>
              </a:solidFill>
              <a:latin typeface="微軟正黑體"/>
              <a:ea typeface="微軟正黑體"/>
            </a:endParaRPr>
          </a:p>
          <a:p>
            <a:pPr marL="343080" indent="-343080" defTabSz="1371600">
              <a:lnSpc>
                <a:spcPct val="100000"/>
              </a:lnSpc>
              <a:buClr>
                <a:srgbClr val="000000"/>
              </a:buClr>
              <a:buFont typeface="Calibri Light"/>
              <a:buAutoNum type="arabicPeriod"/>
            </a:pPr>
            <a:r>
              <a:rPr lang="zh-TW" altLang="en-US" sz="1800" b="0" strike="noStrike" spc="-1" dirty="0">
                <a:solidFill>
                  <a:srgbClr val="000000"/>
                </a:solidFill>
                <a:latin typeface="微軟正黑體"/>
                <a:ea typeface="微軟正黑體"/>
              </a:rPr>
              <a:t>通過簽核的採購單透過程式</a:t>
            </a:r>
            <a:r>
              <a:rPr lang="en-US" altLang="zh-TW" sz="1800" b="0" strike="noStrike" spc="-1" dirty="0">
                <a:solidFill>
                  <a:srgbClr val="000000"/>
                </a:solidFill>
                <a:latin typeface="微軟正黑體"/>
                <a:ea typeface="微軟正黑體"/>
              </a:rPr>
              <a:t>ZMM006 </a:t>
            </a:r>
            <a:r>
              <a:rPr lang="zh-TW" altLang="en-US" sz="1800" b="0" strike="noStrike" spc="-1" dirty="0">
                <a:solidFill>
                  <a:srgbClr val="000000"/>
                </a:solidFill>
                <a:latin typeface="微軟正黑體"/>
                <a:ea typeface="微軟正黑體"/>
              </a:rPr>
              <a:t>核發</a:t>
            </a:r>
            <a:r>
              <a:rPr lang="en-US" altLang="zh-TW" sz="1800" b="0" strike="noStrike" spc="-1" dirty="0">
                <a:solidFill>
                  <a:srgbClr val="000000"/>
                </a:solidFill>
                <a:latin typeface="微軟正黑體"/>
                <a:ea typeface="微軟正黑體"/>
              </a:rPr>
              <a:t>SAP</a:t>
            </a:r>
            <a:r>
              <a:rPr lang="zh-TW" altLang="en-US" sz="1800" b="0" strike="noStrike" spc="-1" dirty="0">
                <a:solidFill>
                  <a:srgbClr val="000000"/>
                </a:solidFill>
                <a:latin typeface="微軟正黑體"/>
                <a:ea typeface="微軟正黑體"/>
              </a:rPr>
              <a:t>採購單</a:t>
            </a:r>
            <a:endParaRPr lang="en-US" altLang="zh-TW" sz="1800" b="0" strike="noStrike" spc="-1" dirty="0">
              <a:solidFill>
                <a:srgbClr val="000000"/>
              </a:solidFill>
              <a:latin typeface="微軟正黑體"/>
              <a:ea typeface="微軟正黑體"/>
            </a:endParaRPr>
          </a:p>
          <a:p>
            <a:pPr marL="343080" indent="-343080" defTabSz="1371600">
              <a:buClr>
                <a:srgbClr val="000000"/>
              </a:buClr>
              <a:buFont typeface="Calibri Light"/>
              <a:buAutoNum type="arabicPeriod"/>
            </a:pPr>
            <a:r>
              <a:rPr lang="zh-TW" altLang="en-US" dirty="0">
                <a:latin typeface="微軟正黑體" panose="020B0604030504040204" pitchFamily="34" charset="-120"/>
                <a:ea typeface="微軟正黑體" panose="020B0604030504040204" pitchFamily="34" charset="-120"/>
              </a:rPr>
              <a:t>當底原料類的採購單有調整數量、金額、付款條件時，需重新執行</a:t>
            </a:r>
            <a:r>
              <a:rPr lang="en-US" altLang="zh-TW" dirty="0">
                <a:latin typeface="微軟正黑體" panose="020B0604030504040204" pitchFamily="34" charset="-120"/>
                <a:ea typeface="微軟正黑體" panose="020B0604030504040204" pitchFamily="34" charset="-120"/>
              </a:rPr>
              <a:t>BPM</a:t>
            </a:r>
            <a:r>
              <a:rPr lang="zh-TW" altLang="en-US" dirty="0">
                <a:latin typeface="微軟正黑體" panose="020B0604030504040204" pitchFamily="34" charset="-120"/>
                <a:ea typeface="微軟正黑體" panose="020B0604030504040204" pitchFamily="34" charset="-120"/>
              </a:rPr>
              <a:t>簽核</a:t>
            </a:r>
            <a:endParaRPr lang="en-US" altLang="zh-TW" dirty="0">
              <a:latin typeface="微軟正黑體" panose="020B0604030504040204" pitchFamily="34" charset="-120"/>
              <a:ea typeface="微軟正黑體" panose="020B0604030504040204" pitchFamily="34" charset="-120"/>
            </a:endParaRPr>
          </a:p>
          <a:p>
            <a:pPr marL="343080" indent="-343080" defTabSz="1371600">
              <a:lnSpc>
                <a:spcPct val="100000"/>
              </a:lnSpc>
              <a:buClr>
                <a:srgbClr val="000000"/>
              </a:buClr>
              <a:buFont typeface="Calibri Light"/>
              <a:buAutoNum type="arabicPeriod"/>
            </a:pPr>
            <a:endParaRPr lang="zh-TW" altLang="en-US" sz="1800" b="0" strike="noStrike" spc="-1" dirty="0">
              <a:solidFill>
                <a:srgbClr val="000000"/>
              </a:solidFill>
              <a:latin typeface="微軟正黑體"/>
              <a:ea typeface="微軟正黑體"/>
            </a:endParaRPr>
          </a:p>
          <a:p>
            <a:pPr marL="343080" indent="-343080" defTabSz="1371600">
              <a:lnSpc>
                <a:spcPct val="100000"/>
              </a:lnSpc>
              <a:buClr>
                <a:srgbClr val="000000"/>
              </a:buClr>
              <a:buFont typeface="Calibri Light"/>
              <a:buAutoNum type="arabicPeriod"/>
            </a:pPr>
            <a:endParaRPr lang="zh-TW" altLang="en-US" sz="1800" b="0" strike="noStrike" spc="-1" dirty="0">
              <a:solidFill>
                <a:srgbClr val="000000"/>
              </a:solidFill>
              <a:latin typeface="微軟正黑體"/>
              <a:ea typeface="微軟正黑體"/>
            </a:endParaRPr>
          </a:p>
          <a:p>
            <a:pPr marL="343080" indent="-343080" defTabSz="1371600">
              <a:lnSpc>
                <a:spcPct val="100000"/>
              </a:lnSpc>
              <a:buClr>
                <a:srgbClr val="000000"/>
              </a:buClr>
              <a:buFont typeface="Calibri Light"/>
              <a:buAutoNum type="arabicPeriod"/>
            </a:pPr>
            <a:endParaRPr lang="zh-TW" altLang="en-US" sz="1800" b="0" strike="noStrike" spc="-1" dirty="0">
              <a:solidFill>
                <a:srgbClr val="000000"/>
              </a:solidFill>
              <a:latin typeface="微軟正黑體"/>
              <a:ea typeface="微軟正黑體"/>
            </a:endParaRPr>
          </a:p>
          <a:p>
            <a:pPr marL="343080" indent="-343080" defTabSz="1371600">
              <a:lnSpc>
                <a:spcPct val="100000"/>
              </a:lnSpc>
              <a:buClr>
                <a:srgbClr val="000000"/>
              </a:buClr>
              <a:buFont typeface="Calibri Light"/>
              <a:buAutoNum type="arabicPeriod"/>
            </a:pPr>
            <a:endParaRPr lang="en-US" sz="1800" b="0" strike="noStrike" spc="-1" dirty="0">
              <a:solidFill>
                <a:srgbClr val="000000"/>
              </a:solidFill>
              <a:latin typeface="Calibri"/>
            </a:endParaRPr>
          </a:p>
          <a:p>
            <a:pPr defTabSz="1371600">
              <a:lnSpc>
                <a:spcPct val="100000"/>
              </a:lnSpc>
            </a:pPr>
            <a:endParaRPr lang="en-US" sz="1800" b="0" strike="noStrike" spc="-1" dirty="0">
              <a:solidFill>
                <a:srgbClr val="000000"/>
              </a:solidFill>
              <a:latin typeface="Calibri"/>
            </a:endParaRPr>
          </a:p>
        </p:txBody>
      </p:sp>
      <p:cxnSp>
        <p:nvCxnSpPr>
          <p:cNvPr id="6" name="肘形接點 68">
            <a:extLst>
              <a:ext uri="{FF2B5EF4-FFF2-40B4-BE49-F238E27FC236}">
                <a16:creationId xmlns:a16="http://schemas.microsoft.com/office/drawing/2014/main" id="{8B2DC4C0-7E03-7011-1F6B-BD07DA4FFB71}"/>
              </a:ext>
            </a:extLst>
          </p:cNvPr>
          <p:cNvCxnSpPr>
            <a:cxnSpLocks/>
            <a:stCxn id="7" idx="2"/>
            <a:endCxn id="55" idx="0"/>
          </p:cNvCxnSpPr>
          <p:nvPr/>
        </p:nvCxnSpPr>
        <p:spPr>
          <a:xfrm rot="5400000">
            <a:off x="3044511" y="5508611"/>
            <a:ext cx="946582" cy="1426"/>
          </a:xfrm>
          <a:prstGeom prst="bentConnector3">
            <a:avLst>
              <a:gd name="adj1" fmla="val 50000"/>
            </a:avLst>
          </a:prstGeom>
          <a:ln>
            <a:solidFill>
              <a:srgbClr val="000000"/>
            </a:solidFill>
            <a:tailEnd type="triangle" w="med" len="med"/>
          </a:ln>
        </p:spPr>
      </p:cxnSp>
      <p:sp>
        <p:nvSpPr>
          <p:cNvPr id="7" name="流程圖: 預設處理作業 21">
            <a:extLst>
              <a:ext uri="{FF2B5EF4-FFF2-40B4-BE49-F238E27FC236}">
                <a16:creationId xmlns:a16="http://schemas.microsoft.com/office/drawing/2014/main" id="{1E20B91B-7813-5BDC-F6BF-696A6AFE0FF6}"/>
              </a:ext>
            </a:extLst>
          </p:cNvPr>
          <p:cNvSpPr/>
          <p:nvPr/>
        </p:nvSpPr>
        <p:spPr>
          <a:xfrm>
            <a:off x="2635795" y="3797993"/>
            <a:ext cx="1765440" cy="1238040"/>
          </a:xfrm>
          <a:prstGeom prst="flowChartPredefined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1371600">
              <a:lnSpc>
                <a:spcPct val="100000"/>
              </a:lnSpc>
            </a:pPr>
            <a:r>
              <a:rPr lang="en-US" sz="1500" b="0" strike="noStrike" spc="-1" dirty="0">
                <a:solidFill>
                  <a:srgbClr val="000000"/>
                </a:solidFill>
                <a:latin typeface="Microsoft JhengHei"/>
                <a:ea typeface="Microsoft JhengHei"/>
              </a:rPr>
              <a:t>MM-PU-0010</a:t>
            </a:r>
            <a:endParaRPr lang="en-US" sz="1500" b="0" strike="noStrike" spc="-1" dirty="0">
              <a:solidFill>
                <a:srgbClr val="000000"/>
              </a:solidFill>
              <a:latin typeface="Calibri"/>
            </a:endParaRPr>
          </a:p>
          <a:p>
            <a:pPr algn="ctr" defTabSz="1371600">
              <a:lnSpc>
                <a:spcPct val="100000"/>
              </a:lnSpc>
            </a:pPr>
            <a:r>
              <a:rPr lang="zh-TW" sz="1500" b="0" strike="noStrike" spc="-1" dirty="0">
                <a:solidFill>
                  <a:srgbClr val="000000"/>
                </a:solidFill>
                <a:latin typeface="Microsoft JhengHei"/>
                <a:ea typeface="Microsoft JhengHei"/>
              </a:rPr>
              <a:t>詢報價更新價格主檔</a:t>
            </a:r>
            <a:r>
              <a:rPr lang="en-US" sz="1500" b="0" strike="noStrike" spc="-1" dirty="0">
                <a:solidFill>
                  <a:srgbClr val="000000"/>
                </a:solidFill>
                <a:latin typeface="Arial"/>
                <a:ea typeface="Microsoft JhengHei"/>
              </a:rPr>
              <a:t> </a:t>
            </a:r>
            <a:endParaRPr lang="en-US" sz="1500" b="0" strike="noStrike" spc="-1" dirty="0">
              <a:solidFill>
                <a:srgbClr val="000000"/>
              </a:solidFill>
              <a:latin typeface="Calibri"/>
            </a:endParaRPr>
          </a:p>
        </p:txBody>
      </p:sp>
      <p:graphicFrame>
        <p:nvGraphicFramePr>
          <p:cNvPr id="8" name="表格 30">
            <a:extLst>
              <a:ext uri="{FF2B5EF4-FFF2-40B4-BE49-F238E27FC236}">
                <a16:creationId xmlns:a16="http://schemas.microsoft.com/office/drawing/2014/main" id="{0D1EC039-3DEB-A159-0A1E-21C9E3FB6E6C}"/>
              </a:ext>
            </a:extLst>
          </p:cNvPr>
          <p:cNvGraphicFramePr/>
          <p:nvPr>
            <p:extLst>
              <p:ext uri="{D42A27DB-BD31-4B8C-83A1-F6EECF244321}">
                <p14:modId xmlns:p14="http://schemas.microsoft.com/office/powerpoint/2010/main" val="2239746998"/>
              </p:ext>
            </p:extLst>
          </p:nvPr>
        </p:nvGraphicFramePr>
        <p:xfrm>
          <a:off x="2599788" y="7628766"/>
          <a:ext cx="1837800" cy="1255680"/>
        </p:xfrm>
        <a:graphic>
          <a:graphicData uri="http://schemas.openxmlformats.org/drawingml/2006/table">
            <a:tbl>
              <a:tblPr/>
              <a:tblGrid>
                <a:gridCol w="924480">
                  <a:extLst>
                    <a:ext uri="{9D8B030D-6E8A-4147-A177-3AD203B41FA5}">
                      <a16:colId xmlns:a16="http://schemas.microsoft.com/office/drawing/2014/main" val="20000"/>
                    </a:ext>
                  </a:extLst>
                </a:gridCol>
                <a:gridCol w="913320">
                  <a:extLst>
                    <a:ext uri="{9D8B030D-6E8A-4147-A177-3AD203B41FA5}">
                      <a16:colId xmlns:a16="http://schemas.microsoft.com/office/drawing/2014/main" val="20001"/>
                    </a:ext>
                  </a:extLst>
                </a:gridCol>
              </a:tblGrid>
              <a:tr h="342000">
                <a:tc gridSpan="2">
                  <a:txBody>
                    <a:bodyPr/>
                    <a:lstStyle/>
                    <a:p>
                      <a:pPr algn="ctr" defTabSz="1371600">
                        <a:lnSpc>
                          <a:spcPct val="100000"/>
                        </a:lnSpc>
                      </a:pPr>
                      <a:r>
                        <a:rPr lang="en-GB" sz="1400" b="1" strike="noStrike" spc="-1" dirty="0">
                          <a:solidFill>
                            <a:schemeClr val="dk1"/>
                          </a:solidFill>
                          <a:latin typeface="微軟正黑體"/>
                          <a:ea typeface="微軟正黑體"/>
                        </a:rPr>
                        <a:t>ME22N</a:t>
                      </a:r>
                      <a:endParaRPr lang="en-US" sz="1400" b="0" strike="noStrike" spc="-1" dirty="0">
                        <a:solidFill>
                          <a:srgbClr val="000000"/>
                        </a:solidFill>
                        <a:latin typeface="Calibri"/>
                      </a:endParaRPr>
                    </a:p>
                  </a:txBody>
                  <a:tcPr marL="124560" marR="12456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0"/>
                  </a:ext>
                </a:extLst>
              </a:tr>
              <a:tr h="599040">
                <a:tc gridSpan="2">
                  <a:txBody>
                    <a:bodyPr/>
                    <a:lstStyle/>
                    <a:p>
                      <a:pPr algn="ctr" defTabSz="1371600">
                        <a:lnSpc>
                          <a:spcPct val="100000"/>
                        </a:lnSpc>
                      </a:pPr>
                      <a:r>
                        <a:rPr lang="zh-TW" sz="1400" b="0" strike="noStrike" spc="-1" dirty="0">
                          <a:solidFill>
                            <a:schemeClr val="dk1"/>
                          </a:solidFill>
                          <a:latin typeface="微軟正黑體"/>
                          <a:ea typeface="微軟正黑體"/>
                        </a:rPr>
                        <a:t>更新採購單，讀取價格</a:t>
                      </a:r>
                      <a:endParaRPr lang="en-US" sz="1400" b="0" strike="noStrike" spc="-1" dirty="0">
                        <a:solidFill>
                          <a:srgbClr val="000000"/>
                        </a:solidFill>
                        <a:latin typeface="Calibri"/>
                      </a:endParaRPr>
                    </a:p>
                  </a:txBody>
                  <a:tcPr marL="124560" marR="12456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1"/>
                  </a:ext>
                </a:extLst>
              </a:tr>
              <a:tr h="314640">
                <a:tc>
                  <a:txBody>
                    <a:bodyPr/>
                    <a:lstStyle/>
                    <a:p>
                      <a:pPr algn="ctr" defTabSz="1371600">
                        <a:lnSpc>
                          <a:spcPct val="100000"/>
                        </a:lnSpc>
                      </a:pPr>
                      <a:r>
                        <a:rPr lang="en-US" sz="1400" b="0" strike="noStrike" spc="-1">
                          <a:solidFill>
                            <a:schemeClr val="dk1"/>
                          </a:solidFill>
                          <a:latin typeface="微軟正黑體"/>
                          <a:ea typeface="微軟正黑體"/>
                        </a:rPr>
                        <a:t>SAP</a:t>
                      </a:r>
                      <a:endParaRPr lang="en-US" sz="14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400" b="0" strike="noStrike" spc="-1" dirty="0">
                          <a:solidFill>
                            <a:schemeClr val="dk1"/>
                          </a:solidFill>
                          <a:latin typeface="微軟正黑體"/>
                          <a:ea typeface="微軟正黑體"/>
                        </a:rPr>
                        <a:t>手動</a:t>
                      </a:r>
                      <a:endParaRPr lang="en-US" sz="1400" b="0" strike="noStrike" spc="-1" dirty="0">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extLst>
                  <a:ext uri="{0D108BD9-81ED-4DB2-BD59-A6C34878D82A}">
                    <a16:rowId xmlns:a16="http://schemas.microsoft.com/office/drawing/2014/main" val="10002"/>
                  </a:ext>
                </a:extLst>
              </a:tr>
            </a:tbl>
          </a:graphicData>
        </a:graphic>
      </p:graphicFrame>
      <p:graphicFrame>
        <p:nvGraphicFramePr>
          <p:cNvPr id="9" name="表格 30">
            <a:extLst>
              <a:ext uri="{FF2B5EF4-FFF2-40B4-BE49-F238E27FC236}">
                <a16:creationId xmlns:a16="http://schemas.microsoft.com/office/drawing/2014/main" id="{A2B0A6DD-2301-7A42-3026-FBDEAA6357DB}"/>
              </a:ext>
            </a:extLst>
          </p:cNvPr>
          <p:cNvGraphicFramePr/>
          <p:nvPr>
            <p:extLst>
              <p:ext uri="{D42A27DB-BD31-4B8C-83A1-F6EECF244321}">
                <p14:modId xmlns:p14="http://schemas.microsoft.com/office/powerpoint/2010/main" val="3868097038"/>
              </p:ext>
            </p:extLst>
          </p:nvPr>
        </p:nvGraphicFramePr>
        <p:xfrm>
          <a:off x="5509848" y="3521304"/>
          <a:ext cx="1802880" cy="1170960"/>
        </p:xfrm>
        <a:graphic>
          <a:graphicData uri="http://schemas.openxmlformats.org/drawingml/2006/table">
            <a:tbl>
              <a:tblPr/>
              <a:tblGrid>
                <a:gridCol w="901440">
                  <a:extLst>
                    <a:ext uri="{9D8B030D-6E8A-4147-A177-3AD203B41FA5}">
                      <a16:colId xmlns:a16="http://schemas.microsoft.com/office/drawing/2014/main" val="20000"/>
                    </a:ext>
                  </a:extLst>
                </a:gridCol>
                <a:gridCol w="901440">
                  <a:extLst>
                    <a:ext uri="{9D8B030D-6E8A-4147-A177-3AD203B41FA5}">
                      <a16:colId xmlns:a16="http://schemas.microsoft.com/office/drawing/2014/main" val="20001"/>
                    </a:ext>
                  </a:extLst>
                </a:gridCol>
              </a:tblGrid>
              <a:tr h="330120">
                <a:tc gridSpan="2">
                  <a:txBody>
                    <a:bodyPr/>
                    <a:lstStyle/>
                    <a:p>
                      <a:pPr algn="ctr" defTabSz="1371600">
                        <a:lnSpc>
                          <a:spcPct val="100000"/>
                        </a:lnSpc>
                      </a:pPr>
                      <a:r>
                        <a:rPr lang="en-GB" sz="1400" b="1" strike="noStrike" spc="-1" dirty="0">
                          <a:solidFill>
                            <a:schemeClr val="dk1"/>
                          </a:solidFill>
                          <a:latin typeface="微軟正黑體"/>
                          <a:ea typeface="微軟正黑體"/>
                        </a:rPr>
                        <a:t>ZMM019</a:t>
                      </a:r>
                      <a:endParaRPr lang="en-US" sz="1400" b="0" strike="noStrike" spc="-1" dirty="0">
                        <a:solidFill>
                          <a:srgbClr val="000000"/>
                        </a:solidFill>
                        <a:latin typeface="Calibri"/>
                      </a:endParaRPr>
                    </a:p>
                  </a:txBody>
                  <a:tcPr marL="124560" marR="12456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0"/>
                  </a:ext>
                </a:extLst>
              </a:tr>
              <a:tr h="536040">
                <a:tc gridSpan="2">
                  <a:txBody>
                    <a:bodyPr/>
                    <a:lstStyle/>
                    <a:p>
                      <a:pPr algn="ctr" defTabSz="1371600">
                        <a:lnSpc>
                          <a:spcPct val="100000"/>
                        </a:lnSpc>
                      </a:pPr>
                      <a:r>
                        <a:rPr lang="zh-TW" altLang="en-US" sz="1400" b="0" strike="noStrike" spc="-1" dirty="0">
                          <a:solidFill>
                            <a:schemeClr val="dk1"/>
                          </a:solidFill>
                          <a:latin typeface="微軟正黑體"/>
                          <a:ea typeface="微軟正黑體"/>
                        </a:rPr>
                        <a:t>採購單發起</a:t>
                      </a:r>
                      <a:r>
                        <a:rPr lang="en-US" altLang="zh-TW" sz="1400" b="0" strike="noStrike" spc="-1" dirty="0">
                          <a:solidFill>
                            <a:schemeClr val="dk1"/>
                          </a:solidFill>
                          <a:latin typeface="微軟正黑體"/>
                          <a:ea typeface="微軟正黑體"/>
                        </a:rPr>
                        <a:t>BPM</a:t>
                      </a:r>
                      <a:r>
                        <a:rPr lang="zh-TW" altLang="en-US" sz="1400" b="0" strike="noStrike" spc="-1" dirty="0">
                          <a:solidFill>
                            <a:schemeClr val="dk1"/>
                          </a:solidFill>
                          <a:latin typeface="微軟正黑體"/>
                          <a:ea typeface="微軟正黑體"/>
                        </a:rPr>
                        <a:t>簽核</a:t>
                      </a:r>
                      <a:endParaRPr lang="en-US" altLang="zh-TW" sz="1400" b="0" strike="noStrike" spc="-1" dirty="0">
                        <a:solidFill>
                          <a:schemeClr val="dk1"/>
                        </a:solidFill>
                        <a:latin typeface="微軟正黑體"/>
                        <a:ea typeface="微軟正黑體"/>
                      </a:endParaRPr>
                    </a:p>
                  </a:txBody>
                  <a:tcPr marL="124560" marR="12456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1"/>
                  </a:ext>
                </a:extLst>
              </a:tr>
              <a:tr h="303840">
                <a:tc>
                  <a:txBody>
                    <a:bodyPr/>
                    <a:lstStyle/>
                    <a:p>
                      <a:pPr algn="ctr" defTabSz="1371600">
                        <a:lnSpc>
                          <a:spcPct val="100000"/>
                        </a:lnSpc>
                      </a:pPr>
                      <a:r>
                        <a:rPr lang="en-US" sz="1400" b="0" strike="noStrike" spc="-1">
                          <a:solidFill>
                            <a:schemeClr val="dk1"/>
                          </a:solidFill>
                          <a:latin typeface="微軟正黑體"/>
                          <a:ea typeface="微軟正黑體"/>
                        </a:rPr>
                        <a:t>SAP</a:t>
                      </a:r>
                      <a:endParaRPr lang="en-US" sz="14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400" b="0" strike="noStrike" spc="-1" dirty="0">
                          <a:solidFill>
                            <a:schemeClr val="dk1"/>
                          </a:solidFill>
                          <a:latin typeface="微軟正黑體"/>
                          <a:ea typeface="微軟正黑體"/>
                        </a:rPr>
                        <a:t>手動</a:t>
                      </a:r>
                      <a:endParaRPr lang="en-US" sz="1400" b="0" strike="noStrike" spc="-1" dirty="0">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extLst>
                  <a:ext uri="{0D108BD9-81ED-4DB2-BD59-A6C34878D82A}">
                    <a16:rowId xmlns:a16="http://schemas.microsoft.com/office/drawing/2014/main" val="10002"/>
                  </a:ext>
                </a:extLst>
              </a:tr>
            </a:tbl>
          </a:graphicData>
        </a:graphic>
      </p:graphicFrame>
      <p:sp>
        <p:nvSpPr>
          <p:cNvPr id="10" name="流程圖: 決策 50">
            <a:extLst>
              <a:ext uri="{FF2B5EF4-FFF2-40B4-BE49-F238E27FC236}">
                <a16:creationId xmlns:a16="http://schemas.microsoft.com/office/drawing/2014/main" id="{54EF3745-0246-A204-526A-757CB1144DC2}"/>
              </a:ext>
            </a:extLst>
          </p:cNvPr>
          <p:cNvSpPr/>
          <p:nvPr/>
        </p:nvSpPr>
        <p:spPr>
          <a:xfrm>
            <a:off x="2602558" y="2333785"/>
            <a:ext cx="1841760" cy="711720"/>
          </a:xfrm>
          <a:prstGeom prst="flowChartDecision">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1371600">
              <a:lnSpc>
                <a:spcPct val="100000"/>
              </a:lnSpc>
            </a:pPr>
            <a:r>
              <a:rPr lang="zh-TW" sz="1500" b="0" strike="noStrike" spc="-1" dirty="0">
                <a:solidFill>
                  <a:srgbClr val="000000"/>
                </a:solidFill>
                <a:latin typeface="微軟正黑體"/>
                <a:ea typeface="微軟正黑體"/>
              </a:rPr>
              <a:t>採購單自動帶入價格</a:t>
            </a:r>
            <a:endParaRPr lang="en-US" sz="1500" b="0" strike="noStrike" spc="-1" dirty="0">
              <a:solidFill>
                <a:srgbClr val="000000"/>
              </a:solidFill>
              <a:latin typeface="Calibri"/>
            </a:endParaRPr>
          </a:p>
        </p:txBody>
      </p:sp>
      <p:cxnSp>
        <p:nvCxnSpPr>
          <p:cNvPr id="11" name="肘形接點 68">
            <a:extLst>
              <a:ext uri="{FF2B5EF4-FFF2-40B4-BE49-F238E27FC236}">
                <a16:creationId xmlns:a16="http://schemas.microsoft.com/office/drawing/2014/main" id="{C3EF0387-5C6C-A584-5F2D-EEE6EEE99A75}"/>
              </a:ext>
            </a:extLst>
          </p:cNvPr>
          <p:cNvCxnSpPr>
            <a:cxnSpLocks/>
            <a:stCxn id="10" idx="2"/>
            <a:endCxn id="7" idx="0"/>
          </p:cNvCxnSpPr>
          <p:nvPr/>
        </p:nvCxnSpPr>
        <p:spPr>
          <a:xfrm rot="5400000">
            <a:off x="3144733" y="3419288"/>
            <a:ext cx="752488" cy="4923"/>
          </a:xfrm>
          <a:prstGeom prst="bentConnector3">
            <a:avLst>
              <a:gd name="adj1" fmla="val 50000"/>
            </a:avLst>
          </a:prstGeom>
          <a:ln>
            <a:solidFill>
              <a:srgbClr val="000000"/>
            </a:solidFill>
            <a:tailEnd type="triangle" w="med" len="med"/>
          </a:ln>
        </p:spPr>
      </p:cxnSp>
      <p:grpSp>
        <p:nvGrpSpPr>
          <p:cNvPr id="12" name="Group 220">
            <a:extLst>
              <a:ext uri="{FF2B5EF4-FFF2-40B4-BE49-F238E27FC236}">
                <a16:creationId xmlns:a16="http://schemas.microsoft.com/office/drawing/2014/main" id="{3F5070CA-7DDF-D6BB-8068-F8D311DD1343}"/>
              </a:ext>
            </a:extLst>
          </p:cNvPr>
          <p:cNvGrpSpPr/>
          <p:nvPr/>
        </p:nvGrpSpPr>
        <p:grpSpPr>
          <a:xfrm>
            <a:off x="7106130" y="3249589"/>
            <a:ext cx="560160" cy="415440"/>
            <a:chOff x="11376720" y="1779480"/>
            <a:chExt cx="560160" cy="415440"/>
          </a:xfrm>
        </p:grpSpPr>
        <p:sp>
          <p:nvSpPr>
            <p:cNvPr id="13" name="Oval 221">
              <a:extLst>
                <a:ext uri="{FF2B5EF4-FFF2-40B4-BE49-F238E27FC236}">
                  <a16:creationId xmlns:a16="http://schemas.microsoft.com/office/drawing/2014/main" id="{16EDEBDF-A30F-A713-B194-E218AEC750EC}"/>
                </a:ext>
              </a:extLst>
            </p:cNvPr>
            <p:cNvSpPr/>
            <p:nvPr/>
          </p:nvSpPr>
          <p:spPr>
            <a:xfrm>
              <a:off x="11376720" y="1779480"/>
              <a:ext cx="411120" cy="415440"/>
            </a:xfrm>
            <a:prstGeom prst="ellipse">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1371600">
                <a:lnSpc>
                  <a:spcPct val="100000"/>
                </a:lnSpc>
              </a:pPr>
              <a:endParaRPr lang="en-US" sz="1500" b="0" strike="noStrike" spc="-1">
                <a:solidFill>
                  <a:srgbClr val="FFFFFF"/>
                </a:solidFill>
                <a:latin typeface="Arial"/>
                <a:ea typeface="新細明體"/>
              </a:endParaRPr>
            </a:p>
          </p:txBody>
        </p:sp>
        <p:sp>
          <p:nvSpPr>
            <p:cNvPr id="14" name="TextBox 222">
              <a:extLst>
                <a:ext uri="{FF2B5EF4-FFF2-40B4-BE49-F238E27FC236}">
                  <a16:creationId xmlns:a16="http://schemas.microsoft.com/office/drawing/2014/main" id="{E6192100-B2FD-6FFC-A08B-0E51BE78C571}"/>
                </a:ext>
              </a:extLst>
            </p:cNvPr>
            <p:cNvSpPr/>
            <p:nvPr/>
          </p:nvSpPr>
          <p:spPr>
            <a:xfrm>
              <a:off x="11403720" y="1810080"/>
              <a:ext cx="533160" cy="32171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1371600">
                <a:lnSpc>
                  <a:spcPct val="100000"/>
                </a:lnSpc>
              </a:pPr>
              <a:r>
                <a:rPr lang="en-US" sz="1500" spc="-1" dirty="0">
                  <a:solidFill>
                    <a:srgbClr val="000000"/>
                  </a:solidFill>
                  <a:latin typeface="微軟正黑體"/>
                  <a:ea typeface="微軟正黑體"/>
                </a:rPr>
                <a:t>3</a:t>
              </a:r>
              <a:endParaRPr lang="en-US" sz="1500" b="0" strike="noStrike" spc="-1" dirty="0">
                <a:solidFill>
                  <a:srgbClr val="000000"/>
                </a:solidFill>
                <a:latin typeface="Calibri"/>
              </a:endParaRPr>
            </a:p>
          </p:txBody>
        </p:sp>
      </p:grpSp>
      <p:sp>
        <p:nvSpPr>
          <p:cNvPr id="15" name="Google Shape;198;p3">
            <a:extLst>
              <a:ext uri="{FF2B5EF4-FFF2-40B4-BE49-F238E27FC236}">
                <a16:creationId xmlns:a16="http://schemas.microsoft.com/office/drawing/2014/main" id="{4C07C7AC-24DC-DF20-9522-8CD2E3D65FE1}"/>
              </a:ext>
            </a:extLst>
          </p:cNvPr>
          <p:cNvSpPr/>
          <p:nvPr/>
        </p:nvSpPr>
        <p:spPr>
          <a:xfrm>
            <a:off x="15588360" y="517680"/>
            <a:ext cx="1578960" cy="190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defTabSz="1371600">
              <a:lnSpc>
                <a:spcPct val="100000"/>
              </a:lnSpc>
              <a:tabLst>
                <a:tab pos="0" algn="l"/>
              </a:tabLst>
            </a:pPr>
            <a:r>
              <a:rPr lang="en-US" sz="1500" spc="-1" dirty="0">
                <a:solidFill>
                  <a:srgbClr val="000000"/>
                </a:solidFill>
                <a:latin typeface="Arial"/>
              </a:rPr>
              <a:t>3</a:t>
            </a:r>
            <a:endParaRPr lang="en-US" sz="1500" b="0" strike="noStrike" spc="-1" dirty="0">
              <a:solidFill>
                <a:srgbClr val="000000"/>
              </a:solidFill>
              <a:latin typeface="Calibri"/>
            </a:endParaRPr>
          </a:p>
        </p:txBody>
      </p:sp>
      <p:grpSp>
        <p:nvGrpSpPr>
          <p:cNvPr id="16" name="Group 220">
            <a:extLst>
              <a:ext uri="{FF2B5EF4-FFF2-40B4-BE49-F238E27FC236}">
                <a16:creationId xmlns:a16="http://schemas.microsoft.com/office/drawing/2014/main" id="{13774893-61EA-5D43-DED4-C5BCF3571996}"/>
              </a:ext>
            </a:extLst>
          </p:cNvPr>
          <p:cNvGrpSpPr/>
          <p:nvPr/>
        </p:nvGrpSpPr>
        <p:grpSpPr>
          <a:xfrm>
            <a:off x="4127635" y="3528713"/>
            <a:ext cx="546120" cy="415440"/>
            <a:chOff x="8255880" y="6540840"/>
            <a:chExt cx="546120" cy="415440"/>
          </a:xfrm>
        </p:grpSpPr>
        <p:sp>
          <p:nvSpPr>
            <p:cNvPr id="17" name="Oval 221">
              <a:extLst>
                <a:ext uri="{FF2B5EF4-FFF2-40B4-BE49-F238E27FC236}">
                  <a16:creationId xmlns:a16="http://schemas.microsoft.com/office/drawing/2014/main" id="{A7771D3D-5CB4-B0EE-13F4-F584187F9069}"/>
                </a:ext>
              </a:extLst>
            </p:cNvPr>
            <p:cNvSpPr/>
            <p:nvPr/>
          </p:nvSpPr>
          <p:spPr>
            <a:xfrm>
              <a:off x="8255880" y="6540840"/>
              <a:ext cx="411120" cy="415440"/>
            </a:xfrm>
            <a:prstGeom prst="ellipse">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1371600">
                <a:lnSpc>
                  <a:spcPct val="100000"/>
                </a:lnSpc>
              </a:pPr>
              <a:endParaRPr lang="en-US" sz="1500" b="0" strike="noStrike" spc="-1">
                <a:solidFill>
                  <a:srgbClr val="FFFFFF"/>
                </a:solidFill>
                <a:latin typeface="Arial"/>
                <a:ea typeface="新細明體"/>
              </a:endParaRPr>
            </a:p>
          </p:txBody>
        </p:sp>
        <p:sp>
          <p:nvSpPr>
            <p:cNvPr id="18" name="TextBox 222">
              <a:extLst>
                <a:ext uri="{FF2B5EF4-FFF2-40B4-BE49-F238E27FC236}">
                  <a16:creationId xmlns:a16="http://schemas.microsoft.com/office/drawing/2014/main" id="{53EF7C54-100D-BD07-8E3B-E9A90840CD67}"/>
                </a:ext>
              </a:extLst>
            </p:cNvPr>
            <p:cNvSpPr/>
            <p:nvPr/>
          </p:nvSpPr>
          <p:spPr>
            <a:xfrm>
              <a:off x="8268840" y="6571800"/>
              <a:ext cx="533160" cy="32171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1371600">
                <a:lnSpc>
                  <a:spcPct val="100000"/>
                </a:lnSpc>
              </a:pPr>
              <a:r>
                <a:rPr lang="en-US" sz="1500" spc="-1" dirty="0">
                  <a:solidFill>
                    <a:srgbClr val="000000"/>
                  </a:solidFill>
                  <a:latin typeface="微軟正黑體"/>
                  <a:ea typeface="微軟正黑體"/>
                </a:rPr>
                <a:t>1</a:t>
              </a:r>
              <a:endParaRPr lang="en-US" sz="1500" b="0" strike="noStrike" spc="-1" dirty="0">
                <a:solidFill>
                  <a:srgbClr val="000000"/>
                </a:solidFill>
                <a:latin typeface="Calibri"/>
              </a:endParaRPr>
            </a:p>
          </p:txBody>
        </p:sp>
      </p:grpSp>
      <p:grpSp>
        <p:nvGrpSpPr>
          <p:cNvPr id="19" name="Group 220">
            <a:extLst>
              <a:ext uri="{FF2B5EF4-FFF2-40B4-BE49-F238E27FC236}">
                <a16:creationId xmlns:a16="http://schemas.microsoft.com/office/drawing/2014/main" id="{5F468AC3-E86C-4145-C6FC-0DC27F364F94}"/>
              </a:ext>
            </a:extLst>
          </p:cNvPr>
          <p:cNvGrpSpPr/>
          <p:nvPr/>
        </p:nvGrpSpPr>
        <p:grpSpPr>
          <a:xfrm>
            <a:off x="4198800" y="7301319"/>
            <a:ext cx="560160" cy="415440"/>
            <a:chOff x="8296200" y="8340480"/>
            <a:chExt cx="560160" cy="415440"/>
          </a:xfrm>
        </p:grpSpPr>
        <p:sp>
          <p:nvSpPr>
            <p:cNvPr id="20" name="Oval 221">
              <a:extLst>
                <a:ext uri="{FF2B5EF4-FFF2-40B4-BE49-F238E27FC236}">
                  <a16:creationId xmlns:a16="http://schemas.microsoft.com/office/drawing/2014/main" id="{6EAD4759-98F7-A8E3-18D5-6D2DE0AD7356}"/>
                </a:ext>
              </a:extLst>
            </p:cNvPr>
            <p:cNvSpPr/>
            <p:nvPr/>
          </p:nvSpPr>
          <p:spPr>
            <a:xfrm>
              <a:off x="8296200" y="8340480"/>
              <a:ext cx="411120" cy="415440"/>
            </a:xfrm>
            <a:prstGeom prst="ellipse">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1371600">
                <a:lnSpc>
                  <a:spcPct val="100000"/>
                </a:lnSpc>
              </a:pPr>
              <a:endParaRPr lang="en-US" sz="1500" b="0" strike="noStrike" spc="-1">
                <a:solidFill>
                  <a:srgbClr val="FFFFFF"/>
                </a:solidFill>
                <a:latin typeface="Arial"/>
                <a:ea typeface="新細明體"/>
              </a:endParaRPr>
            </a:p>
          </p:txBody>
        </p:sp>
        <p:sp>
          <p:nvSpPr>
            <p:cNvPr id="21" name="TextBox 222">
              <a:extLst>
                <a:ext uri="{FF2B5EF4-FFF2-40B4-BE49-F238E27FC236}">
                  <a16:creationId xmlns:a16="http://schemas.microsoft.com/office/drawing/2014/main" id="{8412AE9F-E250-9F1C-F57B-1B1E7A9D1C8A}"/>
                </a:ext>
              </a:extLst>
            </p:cNvPr>
            <p:cNvSpPr/>
            <p:nvPr/>
          </p:nvSpPr>
          <p:spPr>
            <a:xfrm>
              <a:off x="8323200" y="8384760"/>
              <a:ext cx="533160" cy="32171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1371600">
                <a:lnSpc>
                  <a:spcPct val="100000"/>
                </a:lnSpc>
              </a:pPr>
              <a:r>
                <a:rPr lang="en-US" sz="1500" spc="-1" dirty="0">
                  <a:solidFill>
                    <a:srgbClr val="000000"/>
                  </a:solidFill>
                  <a:latin typeface="微軟正黑體"/>
                  <a:ea typeface="微軟正黑體"/>
                </a:rPr>
                <a:t>2</a:t>
              </a:r>
              <a:endParaRPr lang="en-US" sz="1500" b="0" strike="noStrike" spc="-1" dirty="0">
                <a:solidFill>
                  <a:srgbClr val="000000"/>
                </a:solidFill>
                <a:latin typeface="Calibri"/>
              </a:endParaRPr>
            </a:p>
          </p:txBody>
        </p:sp>
      </p:grpSp>
      <p:sp>
        <p:nvSpPr>
          <p:cNvPr id="22" name="文字方塊 95">
            <a:extLst>
              <a:ext uri="{FF2B5EF4-FFF2-40B4-BE49-F238E27FC236}">
                <a16:creationId xmlns:a16="http://schemas.microsoft.com/office/drawing/2014/main" id="{E43CC183-8E9E-A063-5688-0E1A7042E1EB}"/>
              </a:ext>
            </a:extLst>
          </p:cNvPr>
          <p:cNvSpPr/>
          <p:nvPr/>
        </p:nvSpPr>
        <p:spPr>
          <a:xfrm>
            <a:off x="3164403" y="3076465"/>
            <a:ext cx="788400" cy="295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1371600">
              <a:lnSpc>
                <a:spcPct val="100000"/>
              </a:lnSpc>
            </a:pPr>
            <a:r>
              <a:rPr lang="zh-TW" sz="1350" b="0" strike="noStrike" spc="-1" dirty="0">
                <a:solidFill>
                  <a:srgbClr val="000000"/>
                </a:solidFill>
                <a:latin typeface="微軟正黑體"/>
                <a:ea typeface="微軟正黑體"/>
              </a:rPr>
              <a:t>否</a:t>
            </a:r>
            <a:endParaRPr lang="en-US" sz="1350" b="0" strike="noStrike" spc="-1" dirty="0">
              <a:solidFill>
                <a:srgbClr val="000000"/>
              </a:solidFill>
              <a:latin typeface="Calibri"/>
            </a:endParaRPr>
          </a:p>
        </p:txBody>
      </p:sp>
      <p:cxnSp>
        <p:nvCxnSpPr>
          <p:cNvPr id="23" name="Straight Connector 284">
            <a:extLst>
              <a:ext uri="{FF2B5EF4-FFF2-40B4-BE49-F238E27FC236}">
                <a16:creationId xmlns:a16="http://schemas.microsoft.com/office/drawing/2014/main" id="{17C63C41-A9A3-B8D4-40BC-0BEBC1A69F0F}"/>
              </a:ext>
            </a:extLst>
          </p:cNvPr>
          <p:cNvCxnSpPr>
            <a:cxnSpLocks/>
          </p:cNvCxnSpPr>
          <p:nvPr/>
        </p:nvCxnSpPr>
        <p:spPr>
          <a:xfrm flipH="1">
            <a:off x="7595379" y="1351451"/>
            <a:ext cx="8228" cy="8811604"/>
          </a:xfrm>
          <a:prstGeom prst="straightConnector1">
            <a:avLst/>
          </a:prstGeom>
          <a:ln>
            <a:solidFill>
              <a:srgbClr val="000000"/>
            </a:solidFill>
          </a:ln>
        </p:spPr>
      </p:cxnSp>
      <p:sp>
        <p:nvSpPr>
          <p:cNvPr id="24" name="文字方塊 240">
            <a:extLst>
              <a:ext uri="{FF2B5EF4-FFF2-40B4-BE49-F238E27FC236}">
                <a16:creationId xmlns:a16="http://schemas.microsoft.com/office/drawing/2014/main" id="{6A08C6B9-8C54-32A3-4C99-4ADC6B7F618C}"/>
              </a:ext>
            </a:extLst>
          </p:cNvPr>
          <p:cNvSpPr/>
          <p:nvPr/>
        </p:nvSpPr>
        <p:spPr>
          <a:xfrm>
            <a:off x="4305891" y="2720845"/>
            <a:ext cx="386735" cy="303960"/>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defTabSz="1371600">
              <a:lnSpc>
                <a:spcPct val="100000"/>
              </a:lnSpc>
            </a:pPr>
            <a:r>
              <a:rPr lang="zh-TW" sz="1350" b="0" strike="noStrike" spc="-1" dirty="0">
                <a:solidFill>
                  <a:srgbClr val="000000"/>
                </a:solidFill>
                <a:latin typeface="微軟正黑體"/>
                <a:ea typeface="微軟正黑體"/>
              </a:rPr>
              <a:t>是</a:t>
            </a:r>
            <a:endParaRPr lang="en-US" sz="1350" b="0" strike="noStrike" spc="-1" dirty="0">
              <a:solidFill>
                <a:srgbClr val="000000"/>
              </a:solidFill>
              <a:latin typeface="Calibri"/>
            </a:endParaRPr>
          </a:p>
        </p:txBody>
      </p:sp>
      <p:sp>
        <p:nvSpPr>
          <p:cNvPr id="25" name="文字方塊 24">
            <a:extLst>
              <a:ext uri="{FF2B5EF4-FFF2-40B4-BE49-F238E27FC236}">
                <a16:creationId xmlns:a16="http://schemas.microsoft.com/office/drawing/2014/main" id="{89C50B7B-5003-A4F7-A293-DCBDB6FA0E14}"/>
              </a:ext>
            </a:extLst>
          </p:cNvPr>
          <p:cNvSpPr txBox="1"/>
          <p:nvPr/>
        </p:nvSpPr>
        <p:spPr>
          <a:xfrm>
            <a:off x="7603958" y="1367820"/>
            <a:ext cx="4276313" cy="346249"/>
          </a:xfrm>
          <a:prstGeom prst="rect">
            <a:avLst/>
          </a:prstGeom>
          <a:noFill/>
        </p:spPr>
        <p:txBody>
          <a:bodyPr wrap="square" rtlCol="0">
            <a:spAutoFit/>
          </a:bodyPr>
          <a:lstStyle/>
          <a:p>
            <a:pPr algn="ctr"/>
            <a:r>
              <a:rPr lang="zh-TW" altLang="en-US" sz="1650" dirty="0">
                <a:latin typeface="微軟正黑體" panose="020B0604030504040204" pitchFamily="34" charset="-120"/>
                <a:ea typeface="微軟正黑體" panose="020B0604030504040204" pitchFamily="34" charset="-120"/>
              </a:rPr>
              <a:t>權責主管</a:t>
            </a:r>
          </a:p>
        </p:txBody>
      </p:sp>
      <p:sp>
        <p:nvSpPr>
          <p:cNvPr id="27" name="流程圖: 決策 50">
            <a:extLst>
              <a:ext uri="{FF2B5EF4-FFF2-40B4-BE49-F238E27FC236}">
                <a16:creationId xmlns:a16="http://schemas.microsoft.com/office/drawing/2014/main" id="{696B8808-B4C9-4775-201C-12D20E6C98EC}"/>
              </a:ext>
            </a:extLst>
          </p:cNvPr>
          <p:cNvSpPr/>
          <p:nvPr/>
        </p:nvSpPr>
        <p:spPr bwMode="auto">
          <a:xfrm>
            <a:off x="8801249" y="5266472"/>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簽核通過</a:t>
            </a:r>
          </a:p>
        </p:txBody>
      </p:sp>
      <p:graphicFrame>
        <p:nvGraphicFramePr>
          <p:cNvPr id="28" name="表格 30">
            <a:extLst>
              <a:ext uri="{FF2B5EF4-FFF2-40B4-BE49-F238E27FC236}">
                <a16:creationId xmlns:a16="http://schemas.microsoft.com/office/drawing/2014/main" id="{E3C9C184-6B93-F442-9F16-497184CA8F62}"/>
              </a:ext>
            </a:extLst>
          </p:cNvPr>
          <p:cNvGraphicFramePr>
            <a:graphicFrameLocks noGrp="1"/>
          </p:cNvGraphicFramePr>
          <p:nvPr>
            <p:extLst>
              <p:ext uri="{D42A27DB-BD31-4B8C-83A1-F6EECF244321}">
                <p14:modId xmlns:p14="http://schemas.microsoft.com/office/powerpoint/2010/main" val="2876697763"/>
              </p:ext>
            </p:extLst>
          </p:nvPr>
        </p:nvGraphicFramePr>
        <p:xfrm>
          <a:off x="8831663" y="3463924"/>
          <a:ext cx="1797832" cy="1284252"/>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val="3433979995"/>
                    </a:ext>
                  </a:extLst>
                </a:gridCol>
                <a:gridCol w="898916">
                  <a:extLst>
                    <a:ext uri="{9D8B030D-6E8A-4147-A177-3AD203B41FA5}">
                      <a16:colId xmlns:a16="http://schemas.microsoft.com/office/drawing/2014/main" val="3727974752"/>
                    </a:ext>
                  </a:extLst>
                </a:gridCol>
              </a:tblGrid>
              <a:tr h="353292">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latin typeface="微軟正黑體" panose="020B0604030504040204" pitchFamily="34" charset="-120"/>
                          <a:ea typeface="微軟正黑體" panose="020B0604030504040204" pitchFamily="34" charset="-120"/>
                        </a:rPr>
                        <a:t>BPM_ZMMT019</a:t>
                      </a: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val="3125084632"/>
                  </a:ext>
                </a:extLst>
              </a:tr>
              <a:tr h="594360">
                <a:tc gridSpan="2">
                  <a:txBody>
                    <a:bodyPr/>
                    <a:lstStyle/>
                    <a:p>
                      <a:pPr algn="ctr"/>
                      <a:r>
                        <a:rPr lang="zh-TW" altLang="en-US" sz="1500" dirty="0">
                          <a:latin typeface="微軟正黑體" panose="020B0604030504040204" pitchFamily="34" charset="-120"/>
                          <a:ea typeface="微軟正黑體" panose="020B0604030504040204" pitchFamily="34" charset="-120"/>
                        </a:rPr>
                        <a:t>簽核採購單</a:t>
                      </a:r>
                      <a:endParaRPr lang="en-US" altLang="zh-TW" sz="1500" dirty="0">
                        <a:latin typeface="微軟正黑體" panose="020B0604030504040204" pitchFamily="34" charset="-120"/>
                        <a:ea typeface="微軟正黑體" panose="020B0604030504040204" pitchFamily="34" charset="-120"/>
                      </a:endParaRPr>
                    </a:p>
                  </a:txBody>
                  <a:tcPr marL="54000" marR="54000"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BPM</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3335046"/>
                  </a:ext>
                </a:extLst>
              </a:tr>
            </a:tbl>
          </a:graphicData>
        </a:graphic>
      </p:graphicFrame>
      <p:cxnSp>
        <p:nvCxnSpPr>
          <p:cNvPr id="30" name="肘形接點 68">
            <a:extLst>
              <a:ext uri="{FF2B5EF4-FFF2-40B4-BE49-F238E27FC236}">
                <a16:creationId xmlns:a16="http://schemas.microsoft.com/office/drawing/2014/main" id="{9FDA4C6F-E00C-9288-811E-BAA639D738A8}"/>
              </a:ext>
            </a:extLst>
          </p:cNvPr>
          <p:cNvCxnSpPr>
            <a:cxnSpLocks/>
            <a:stCxn id="28" idx="2"/>
            <a:endCxn id="27" idx="0"/>
          </p:cNvCxnSpPr>
          <p:nvPr/>
        </p:nvCxnSpPr>
        <p:spPr>
          <a:xfrm rot="5400000">
            <a:off x="9467254" y="5003147"/>
            <a:ext cx="518296" cy="8355"/>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31" name="表格 30">
            <a:extLst>
              <a:ext uri="{FF2B5EF4-FFF2-40B4-BE49-F238E27FC236}">
                <a16:creationId xmlns:a16="http://schemas.microsoft.com/office/drawing/2014/main" id="{6A7D2C38-ECE6-6480-3409-324826D86C53}"/>
              </a:ext>
            </a:extLst>
          </p:cNvPr>
          <p:cNvGraphicFramePr>
            <a:graphicFrameLocks noGrp="1"/>
          </p:cNvGraphicFramePr>
          <p:nvPr>
            <p:extLst>
              <p:ext uri="{D42A27DB-BD31-4B8C-83A1-F6EECF244321}">
                <p14:modId xmlns:p14="http://schemas.microsoft.com/office/powerpoint/2010/main" val="4018715482"/>
              </p:ext>
            </p:extLst>
          </p:nvPr>
        </p:nvGraphicFramePr>
        <p:xfrm>
          <a:off x="7706488" y="6366814"/>
          <a:ext cx="1797832" cy="1244992"/>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val="3433979995"/>
                    </a:ext>
                  </a:extLst>
                </a:gridCol>
                <a:gridCol w="898916">
                  <a:extLst>
                    <a:ext uri="{9D8B030D-6E8A-4147-A177-3AD203B41FA5}">
                      <a16:colId xmlns:a16="http://schemas.microsoft.com/office/drawing/2014/main" val="3727974752"/>
                    </a:ext>
                  </a:extLst>
                </a:gridCol>
              </a:tblGrid>
              <a:tr h="332510">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ZMM006</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val="3125084632"/>
                  </a:ext>
                </a:extLst>
              </a:tr>
              <a:tr h="595398">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更新</a:t>
                      </a:r>
                      <a:r>
                        <a:rPr kumimoji="0" lang="en-US" altLang="zh-TW" sz="1400" dirty="0">
                          <a:latin typeface="微軟正黑體" panose="020B0604030504040204" pitchFamily="34" charset="-120"/>
                          <a:ea typeface="微軟正黑體" panose="020B0604030504040204" pitchFamily="34" charset="-120"/>
                        </a:rPr>
                        <a:t>SAP </a:t>
                      </a:r>
                      <a:r>
                        <a:rPr kumimoji="0" lang="zh-TW" altLang="en-US" sz="1400" dirty="0">
                          <a:latin typeface="微軟正黑體" panose="020B0604030504040204" pitchFamily="34" charset="-120"/>
                          <a:ea typeface="微軟正黑體" panose="020B0604030504040204" pitchFamily="34" charset="-120"/>
                        </a:rPr>
                        <a:t>採購單，刪除標記</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val="1006350340"/>
                  </a:ext>
                </a:extLst>
              </a:tr>
              <a:tr h="306000">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自動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3335046"/>
                  </a:ext>
                </a:extLst>
              </a:tr>
            </a:tbl>
          </a:graphicData>
        </a:graphic>
      </p:graphicFrame>
      <p:grpSp>
        <p:nvGrpSpPr>
          <p:cNvPr id="32" name="Group 232">
            <a:extLst>
              <a:ext uri="{FF2B5EF4-FFF2-40B4-BE49-F238E27FC236}">
                <a16:creationId xmlns:a16="http://schemas.microsoft.com/office/drawing/2014/main" id="{2C7A7A0C-F158-AE66-E1C2-C4064B27F092}"/>
              </a:ext>
            </a:extLst>
          </p:cNvPr>
          <p:cNvGrpSpPr/>
          <p:nvPr/>
        </p:nvGrpSpPr>
        <p:grpSpPr>
          <a:xfrm>
            <a:off x="9238660" y="6157718"/>
            <a:ext cx="557700" cy="408542"/>
            <a:chOff x="5906472" y="1486857"/>
            <a:chExt cx="371800" cy="272361"/>
          </a:xfrm>
        </p:grpSpPr>
        <p:sp>
          <p:nvSpPr>
            <p:cNvPr id="33" name="Oval 233">
              <a:extLst>
                <a:ext uri="{FF2B5EF4-FFF2-40B4-BE49-F238E27FC236}">
                  <a16:creationId xmlns:a16="http://schemas.microsoft.com/office/drawing/2014/main" id="{A3B5BCF5-4278-C394-3511-FC1F90B7F945}"/>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34" name="TextBox 234">
              <a:extLst>
                <a:ext uri="{FF2B5EF4-FFF2-40B4-BE49-F238E27FC236}">
                  <a16:creationId xmlns:a16="http://schemas.microsoft.com/office/drawing/2014/main" id="{FD8873D9-9DF0-685B-0B18-C5FBC910644D}"/>
                </a:ext>
              </a:extLst>
            </p:cNvPr>
            <p:cNvSpPr txBox="1"/>
            <p:nvPr/>
          </p:nvSpPr>
          <p:spPr>
            <a:xfrm>
              <a:off x="5922672" y="1499926"/>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5</a:t>
              </a:r>
              <a:endParaRPr lang="zh-TW" altLang="en-US" sz="1500" dirty="0">
                <a:latin typeface="微軟正黑體" panose="020B0604030504040204" pitchFamily="34" charset="-120"/>
                <a:ea typeface="微軟正黑體" panose="020B0604030504040204" pitchFamily="34" charset="-120"/>
              </a:endParaRPr>
            </a:p>
          </p:txBody>
        </p:sp>
      </p:grpSp>
      <p:grpSp>
        <p:nvGrpSpPr>
          <p:cNvPr id="35" name="Group 232">
            <a:extLst>
              <a:ext uri="{FF2B5EF4-FFF2-40B4-BE49-F238E27FC236}">
                <a16:creationId xmlns:a16="http://schemas.microsoft.com/office/drawing/2014/main" id="{06BE8F49-0B40-3DC1-5A2B-562B45615F5E}"/>
              </a:ext>
            </a:extLst>
          </p:cNvPr>
          <p:cNvGrpSpPr/>
          <p:nvPr/>
        </p:nvGrpSpPr>
        <p:grpSpPr>
          <a:xfrm>
            <a:off x="10458124" y="3226226"/>
            <a:ext cx="557700" cy="408542"/>
            <a:chOff x="5906472" y="1486857"/>
            <a:chExt cx="371800" cy="272361"/>
          </a:xfrm>
        </p:grpSpPr>
        <p:sp>
          <p:nvSpPr>
            <p:cNvPr id="36" name="Oval 233">
              <a:extLst>
                <a:ext uri="{FF2B5EF4-FFF2-40B4-BE49-F238E27FC236}">
                  <a16:creationId xmlns:a16="http://schemas.microsoft.com/office/drawing/2014/main" id="{1C43FADD-E3B6-CD85-BF21-2C9A39FFEB9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p>
          </p:txBody>
        </p:sp>
        <p:sp>
          <p:nvSpPr>
            <p:cNvPr id="37" name="TextBox 234">
              <a:extLst>
                <a:ext uri="{FF2B5EF4-FFF2-40B4-BE49-F238E27FC236}">
                  <a16:creationId xmlns:a16="http://schemas.microsoft.com/office/drawing/2014/main" id="{2A35019D-FEED-572E-2F2D-D05BEEE41835}"/>
                </a:ext>
              </a:extLst>
            </p:cNvPr>
            <p:cNvSpPr txBox="1"/>
            <p:nvPr/>
          </p:nvSpPr>
          <p:spPr>
            <a:xfrm>
              <a:off x="5922672" y="1499926"/>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sp>
        <p:nvSpPr>
          <p:cNvPr id="38" name="文字方塊 37">
            <a:extLst>
              <a:ext uri="{FF2B5EF4-FFF2-40B4-BE49-F238E27FC236}">
                <a16:creationId xmlns:a16="http://schemas.microsoft.com/office/drawing/2014/main" id="{9066369B-9303-8F69-CAF4-0CF27E1A0F83}"/>
              </a:ext>
            </a:extLst>
          </p:cNvPr>
          <p:cNvSpPr txBox="1"/>
          <p:nvPr/>
        </p:nvSpPr>
        <p:spPr>
          <a:xfrm>
            <a:off x="8559029" y="5678229"/>
            <a:ext cx="305116" cy="30044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cxnSp>
        <p:nvCxnSpPr>
          <p:cNvPr id="39" name="肘形接點 68">
            <a:extLst>
              <a:ext uri="{FF2B5EF4-FFF2-40B4-BE49-F238E27FC236}">
                <a16:creationId xmlns:a16="http://schemas.microsoft.com/office/drawing/2014/main" id="{B70D1180-A573-5D1D-1B3D-9B41EE129BC2}"/>
              </a:ext>
            </a:extLst>
          </p:cNvPr>
          <p:cNvCxnSpPr>
            <a:cxnSpLocks/>
            <a:stCxn id="55" idx="2"/>
            <a:endCxn id="8" idx="0"/>
          </p:cNvCxnSpPr>
          <p:nvPr/>
        </p:nvCxnSpPr>
        <p:spPr>
          <a:xfrm rot="16200000" flipH="1">
            <a:off x="3050913" y="7160990"/>
            <a:ext cx="933951" cy="1599"/>
          </a:xfrm>
          <a:prstGeom prst="bentConnector3">
            <a:avLst>
              <a:gd name="adj1" fmla="val 50000"/>
            </a:avLst>
          </a:prstGeom>
          <a:ln>
            <a:solidFill>
              <a:srgbClr val="000000"/>
            </a:solidFill>
            <a:tailEnd type="triangle" w="med" len="med"/>
          </a:ln>
        </p:spPr>
      </p:cxnSp>
      <p:cxnSp>
        <p:nvCxnSpPr>
          <p:cNvPr id="40" name="肘形接點 68">
            <a:extLst>
              <a:ext uri="{FF2B5EF4-FFF2-40B4-BE49-F238E27FC236}">
                <a16:creationId xmlns:a16="http://schemas.microsoft.com/office/drawing/2014/main" id="{84D494BD-16EE-01A4-0EB6-46DA40144E9D}"/>
              </a:ext>
            </a:extLst>
          </p:cNvPr>
          <p:cNvCxnSpPr>
            <a:cxnSpLocks/>
            <a:stCxn id="9" idx="3"/>
            <a:endCxn id="28" idx="1"/>
          </p:cNvCxnSpPr>
          <p:nvPr/>
        </p:nvCxnSpPr>
        <p:spPr>
          <a:xfrm flipV="1">
            <a:off x="7312728" y="4106050"/>
            <a:ext cx="1518935" cy="734"/>
          </a:xfrm>
          <a:prstGeom prst="bentConnector3">
            <a:avLst>
              <a:gd name="adj1" fmla="val 50000"/>
            </a:avLst>
          </a:prstGeom>
          <a:ln>
            <a:solidFill>
              <a:srgbClr val="000000"/>
            </a:solidFill>
            <a:tailEnd type="triangle" w="med" len="med"/>
          </a:ln>
        </p:spPr>
      </p:cxnSp>
      <p:graphicFrame>
        <p:nvGraphicFramePr>
          <p:cNvPr id="41" name="表格 30">
            <a:extLst>
              <a:ext uri="{FF2B5EF4-FFF2-40B4-BE49-F238E27FC236}">
                <a16:creationId xmlns:a16="http://schemas.microsoft.com/office/drawing/2014/main" id="{5801F349-0910-BB58-8C38-293CE2FED023}"/>
              </a:ext>
            </a:extLst>
          </p:cNvPr>
          <p:cNvGraphicFramePr>
            <a:graphicFrameLocks noGrp="1"/>
          </p:cNvGraphicFramePr>
          <p:nvPr>
            <p:extLst>
              <p:ext uri="{D42A27DB-BD31-4B8C-83A1-F6EECF244321}">
                <p14:modId xmlns:p14="http://schemas.microsoft.com/office/powerpoint/2010/main" val="470384085"/>
              </p:ext>
            </p:extLst>
          </p:nvPr>
        </p:nvGraphicFramePr>
        <p:xfrm>
          <a:off x="9902726" y="6420076"/>
          <a:ext cx="1797832" cy="1201006"/>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val="3433979995"/>
                    </a:ext>
                  </a:extLst>
                </a:gridCol>
                <a:gridCol w="898916">
                  <a:extLst>
                    <a:ext uri="{9D8B030D-6E8A-4147-A177-3AD203B41FA5}">
                      <a16:colId xmlns:a16="http://schemas.microsoft.com/office/drawing/2014/main" val="3727974752"/>
                    </a:ext>
                  </a:extLst>
                </a:gridCol>
              </a:tblGrid>
              <a:tr h="332510">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ZMM006</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val="3125084632"/>
                  </a:ext>
                </a:extLst>
              </a:tr>
              <a:tr h="445560">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核發</a:t>
                      </a:r>
                      <a:r>
                        <a:rPr kumimoji="0" lang="en-US" altLang="zh-TW" sz="1400" dirty="0">
                          <a:latin typeface="微軟正黑體" panose="020B0604030504040204" pitchFamily="34" charset="-120"/>
                          <a:ea typeface="微軟正黑體" panose="020B0604030504040204" pitchFamily="34" charset="-120"/>
                        </a:rPr>
                        <a:t>SAP </a:t>
                      </a:r>
                      <a:r>
                        <a:rPr kumimoji="0" lang="zh-TW" altLang="en-US" sz="1400" dirty="0">
                          <a:latin typeface="微軟正黑體" panose="020B0604030504040204" pitchFamily="34" charset="-120"/>
                          <a:ea typeface="微軟正黑體" panose="020B0604030504040204" pitchFamily="34" charset="-120"/>
                        </a:rPr>
                        <a:t>採購單</a:t>
                      </a:r>
                      <a:endParaRPr kumimoji="0" lang="en-US" altLang="zh-TW" sz="1400" dirty="0">
                        <a:latin typeface="微軟正黑體" panose="020B0604030504040204" pitchFamily="34" charset="-120"/>
                        <a:ea typeface="微軟正黑體" panose="020B0604030504040204" pitchFamily="34" charset="-120"/>
                      </a:endParaRPr>
                    </a:p>
                    <a:p>
                      <a:pPr algn="ctr" eaLnBrk="0" hangingPunct="0"/>
                      <a:endParaRPr kumimoji="0" lang="zh-TW" altLang="en-US" sz="1400" dirty="0">
                        <a:latin typeface="微軟正黑體" panose="020B0604030504040204" pitchFamily="34" charset="-120"/>
                        <a:ea typeface="微軟正黑體" panose="020B0604030504040204" pitchFamily="34" charset="-120"/>
                      </a:endParaRP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val="1006350340"/>
                  </a:ext>
                </a:extLst>
              </a:tr>
              <a:tr h="306000">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自動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3335046"/>
                  </a:ext>
                </a:extLst>
              </a:tr>
            </a:tbl>
          </a:graphicData>
        </a:graphic>
      </p:graphicFrame>
      <p:grpSp>
        <p:nvGrpSpPr>
          <p:cNvPr id="43" name="Group 232">
            <a:extLst>
              <a:ext uri="{FF2B5EF4-FFF2-40B4-BE49-F238E27FC236}">
                <a16:creationId xmlns:a16="http://schemas.microsoft.com/office/drawing/2014/main" id="{DE94DE6A-08E5-66D9-BC5C-CF6D27262B8A}"/>
              </a:ext>
            </a:extLst>
          </p:cNvPr>
          <p:cNvGrpSpPr/>
          <p:nvPr/>
        </p:nvGrpSpPr>
        <p:grpSpPr>
          <a:xfrm>
            <a:off x="11423660" y="6158176"/>
            <a:ext cx="557700" cy="408542"/>
            <a:chOff x="5906472" y="1486857"/>
            <a:chExt cx="371800" cy="272361"/>
          </a:xfrm>
        </p:grpSpPr>
        <p:sp>
          <p:nvSpPr>
            <p:cNvPr id="44" name="Oval 233">
              <a:extLst>
                <a:ext uri="{FF2B5EF4-FFF2-40B4-BE49-F238E27FC236}">
                  <a16:creationId xmlns:a16="http://schemas.microsoft.com/office/drawing/2014/main" id="{65BB6DD6-F6F6-83A1-CCAD-7F43F3FE813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2700" dirty="0">
                <a:latin typeface="微軟正黑體" panose="020B0604030504040204" pitchFamily="34" charset="-120"/>
                <a:ea typeface="微軟正黑體" panose="020B0604030504040204" pitchFamily="34" charset="-120"/>
              </a:endParaRPr>
            </a:p>
          </p:txBody>
        </p:sp>
        <p:sp>
          <p:nvSpPr>
            <p:cNvPr id="45" name="TextBox 234">
              <a:extLst>
                <a:ext uri="{FF2B5EF4-FFF2-40B4-BE49-F238E27FC236}">
                  <a16:creationId xmlns:a16="http://schemas.microsoft.com/office/drawing/2014/main" id="{F8417CC3-90F0-2ABF-1115-5A7BB6C24001}"/>
                </a:ext>
              </a:extLst>
            </p:cNvPr>
            <p:cNvSpPr txBox="1"/>
            <p:nvPr/>
          </p:nvSpPr>
          <p:spPr>
            <a:xfrm>
              <a:off x="5922672" y="1499926"/>
              <a:ext cx="355600" cy="21544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6</a:t>
              </a:r>
            </a:p>
          </p:txBody>
        </p:sp>
      </p:grpSp>
      <p:cxnSp>
        <p:nvCxnSpPr>
          <p:cNvPr id="46" name="直線單箭頭接點 108">
            <a:extLst>
              <a:ext uri="{FF2B5EF4-FFF2-40B4-BE49-F238E27FC236}">
                <a16:creationId xmlns:a16="http://schemas.microsoft.com/office/drawing/2014/main" id="{51C81F2A-B6E5-D3C8-809D-3B288E81EB59}"/>
              </a:ext>
            </a:extLst>
          </p:cNvPr>
          <p:cNvCxnSpPr>
            <a:cxnSpLocks/>
            <a:stCxn id="28" idx="2"/>
            <a:endCxn id="27" idx="0"/>
          </p:cNvCxnSpPr>
          <p:nvPr/>
        </p:nvCxnSpPr>
        <p:spPr>
          <a:xfrm flipH="1">
            <a:off x="9722224" y="4748176"/>
            <a:ext cx="8355" cy="518296"/>
          </a:xfrm>
          <a:prstGeom prst="straightConnector1">
            <a:avLst/>
          </a:prstGeom>
          <a:ln>
            <a:solidFill>
              <a:srgbClr val="000000"/>
            </a:solidFill>
            <a:tailEnd type="triangle" w="med" len="med"/>
          </a:ln>
        </p:spPr>
      </p:cxnSp>
      <p:sp>
        <p:nvSpPr>
          <p:cNvPr id="47" name="文字方塊 46">
            <a:extLst>
              <a:ext uri="{FF2B5EF4-FFF2-40B4-BE49-F238E27FC236}">
                <a16:creationId xmlns:a16="http://schemas.microsoft.com/office/drawing/2014/main" id="{0115E527-58C9-9413-0578-EF3E9D156BFE}"/>
              </a:ext>
            </a:extLst>
          </p:cNvPr>
          <p:cNvSpPr txBox="1"/>
          <p:nvPr/>
        </p:nvSpPr>
        <p:spPr>
          <a:xfrm>
            <a:off x="10504211" y="5678409"/>
            <a:ext cx="305116"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en-US" altLang="zh-TW" sz="1350" dirty="0">
              <a:latin typeface="微軟正黑體" panose="020B0604030504040204" pitchFamily="34" charset="-120"/>
              <a:ea typeface="微軟正黑體" panose="020B0604030504040204" pitchFamily="34" charset="-120"/>
            </a:endParaRPr>
          </a:p>
        </p:txBody>
      </p:sp>
      <p:cxnSp>
        <p:nvCxnSpPr>
          <p:cNvPr id="48" name="肘形接點 68">
            <a:extLst>
              <a:ext uri="{FF2B5EF4-FFF2-40B4-BE49-F238E27FC236}">
                <a16:creationId xmlns:a16="http://schemas.microsoft.com/office/drawing/2014/main" id="{2C91BE92-7D3E-4553-828D-8E516596FF78}"/>
              </a:ext>
            </a:extLst>
          </p:cNvPr>
          <p:cNvCxnSpPr>
            <a:cxnSpLocks/>
            <a:stCxn id="31" idx="2"/>
            <a:endCxn id="3" idx="1"/>
          </p:cNvCxnSpPr>
          <p:nvPr/>
        </p:nvCxnSpPr>
        <p:spPr>
          <a:xfrm rot="16200000" flipH="1">
            <a:off x="9581905" y="6635305"/>
            <a:ext cx="1742794" cy="3695796"/>
          </a:xfrm>
          <a:prstGeom prst="bentConnector2">
            <a:avLst/>
          </a:prstGeom>
          <a:ln>
            <a:solidFill>
              <a:srgbClr val="000000"/>
            </a:solidFill>
            <a:tailEnd type="triangle" w="med" len="med"/>
          </a:ln>
        </p:spPr>
      </p:cxnSp>
      <p:cxnSp>
        <p:nvCxnSpPr>
          <p:cNvPr id="49" name="肘形接點 68">
            <a:extLst>
              <a:ext uri="{FF2B5EF4-FFF2-40B4-BE49-F238E27FC236}">
                <a16:creationId xmlns:a16="http://schemas.microsoft.com/office/drawing/2014/main" id="{272B292A-9CFE-B460-526D-1589F2C9C05F}"/>
              </a:ext>
            </a:extLst>
          </p:cNvPr>
          <p:cNvCxnSpPr>
            <a:cxnSpLocks/>
            <a:stCxn id="41" idx="2"/>
            <a:endCxn id="68" idx="0"/>
          </p:cNvCxnSpPr>
          <p:nvPr/>
        </p:nvCxnSpPr>
        <p:spPr>
          <a:xfrm rot="16200000" flipH="1">
            <a:off x="10556990" y="7865734"/>
            <a:ext cx="501337" cy="12032"/>
          </a:xfrm>
          <a:prstGeom prst="bentConnector3">
            <a:avLst>
              <a:gd name="adj1" fmla="val 50000"/>
            </a:avLst>
          </a:prstGeom>
          <a:ln>
            <a:solidFill>
              <a:srgbClr val="000000"/>
            </a:solidFill>
            <a:tailEnd type="triangle" w="med" len="med"/>
          </a:ln>
        </p:spPr>
      </p:cxnSp>
      <p:sp>
        <p:nvSpPr>
          <p:cNvPr id="50" name="流程圖: 換頁接點 52">
            <a:extLst>
              <a:ext uri="{FF2B5EF4-FFF2-40B4-BE49-F238E27FC236}">
                <a16:creationId xmlns:a16="http://schemas.microsoft.com/office/drawing/2014/main" id="{931CD992-A698-ABEC-7958-D67B85DF5F8D}"/>
              </a:ext>
            </a:extLst>
          </p:cNvPr>
          <p:cNvSpPr/>
          <p:nvPr/>
        </p:nvSpPr>
        <p:spPr bwMode="auto">
          <a:xfrm>
            <a:off x="943669" y="2450413"/>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P1</a:t>
            </a:r>
            <a:endParaRPr lang="zh-TW" altLang="en-US" dirty="0">
              <a:latin typeface="微軟正黑體" panose="020B0604030504040204" pitchFamily="34" charset="-120"/>
              <a:ea typeface="微軟正黑體" panose="020B0604030504040204" pitchFamily="34" charset="-120"/>
            </a:endParaRPr>
          </a:p>
        </p:txBody>
      </p:sp>
      <p:cxnSp>
        <p:nvCxnSpPr>
          <p:cNvPr id="51" name="直線單箭頭接點 227">
            <a:extLst>
              <a:ext uri="{FF2B5EF4-FFF2-40B4-BE49-F238E27FC236}">
                <a16:creationId xmlns:a16="http://schemas.microsoft.com/office/drawing/2014/main" id="{E2AAF711-D878-1D0E-8742-DF34679EFF18}"/>
              </a:ext>
            </a:extLst>
          </p:cNvPr>
          <p:cNvCxnSpPr>
            <a:cxnSpLocks/>
            <a:stCxn id="50" idx="3"/>
            <a:endCxn id="10" idx="1"/>
          </p:cNvCxnSpPr>
          <p:nvPr/>
        </p:nvCxnSpPr>
        <p:spPr>
          <a:xfrm>
            <a:off x="1504296" y="2684065"/>
            <a:ext cx="1098262" cy="5580"/>
          </a:xfrm>
          <a:prstGeom prst="straightConnector1">
            <a:avLst/>
          </a:prstGeom>
          <a:ln>
            <a:solidFill>
              <a:srgbClr val="000000"/>
            </a:solidFill>
            <a:tailEnd type="triangle" w="med" len="med"/>
          </a:ln>
        </p:spPr>
      </p:cxnSp>
      <p:cxnSp>
        <p:nvCxnSpPr>
          <p:cNvPr id="52" name="肘形接點 68">
            <a:extLst>
              <a:ext uri="{FF2B5EF4-FFF2-40B4-BE49-F238E27FC236}">
                <a16:creationId xmlns:a16="http://schemas.microsoft.com/office/drawing/2014/main" id="{878CEE9D-B81D-C4D1-0844-539E0693190D}"/>
              </a:ext>
            </a:extLst>
          </p:cNvPr>
          <p:cNvCxnSpPr>
            <a:cxnSpLocks/>
            <a:stCxn id="10" idx="3"/>
            <a:endCxn id="9" idx="1"/>
          </p:cNvCxnSpPr>
          <p:nvPr/>
        </p:nvCxnSpPr>
        <p:spPr>
          <a:xfrm>
            <a:off x="4444318" y="2689645"/>
            <a:ext cx="1065530" cy="1417139"/>
          </a:xfrm>
          <a:prstGeom prst="bentConnector3">
            <a:avLst>
              <a:gd name="adj1" fmla="val 74842"/>
            </a:avLst>
          </a:prstGeom>
          <a:ln>
            <a:solidFill>
              <a:srgbClr val="000000"/>
            </a:solidFill>
            <a:tailEnd type="triangle" w="med" len="med"/>
          </a:ln>
        </p:spPr>
      </p:cxnSp>
      <p:cxnSp>
        <p:nvCxnSpPr>
          <p:cNvPr id="53" name="肘形接點 68">
            <a:extLst>
              <a:ext uri="{FF2B5EF4-FFF2-40B4-BE49-F238E27FC236}">
                <a16:creationId xmlns:a16="http://schemas.microsoft.com/office/drawing/2014/main" id="{90C6CAD9-98D0-4B2F-C244-BAA8B0592341}"/>
              </a:ext>
            </a:extLst>
          </p:cNvPr>
          <p:cNvCxnSpPr>
            <a:cxnSpLocks/>
            <a:stCxn id="27" idx="1"/>
            <a:endCxn id="31" idx="0"/>
          </p:cNvCxnSpPr>
          <p:nvPr/>
        </p:nvCxnSpPr>
        <p:spPr>
          <a:xfrm rot="10800000" flipV="1">
            <a:off x="8605405" y="5622572"/>
            <a:ext cx="195845" cy="744242"/>
          </a:xfrm>
          <a:prstGeom prst="bentConnector2">
            <a:avLst/>
          </a:prstGeom>
          <a:ln>
            <a:solidFill>
              <a:srgbClr val="000000"/>
            </a:solidFill>
            <a:tailEnd type="triangle" w="med" len="med"/>
          </a:ln>
        </p:spPr>
      </p:cxnSp>
      <p:cxnSp>
        <p:nvCxnSpPr>
          <p:cNvPr id="54" name="肘形接點 68">
            <a:extLst>
              <a:ext uri="{FF2B5EF4-FFF2-40B4-BE49-F238E27FC236}">
                <a16:creationId xmlns:a16="http://schemas.microsoft.com/office/drawing/2014/main" id="{7CF04F5C-C630-D09F-676A-B73D9789E928}"/>
              </a:ext>
            </a:extLst>
          </p:cNvPr>
          <p:cNvCxnSpPr>
            <a:cxnSpLocks/>
            <a:stCxn id="27" idx="3"/>
            <a:endCxn id="41" idx="0"/>
          </p:cNvCxnSpPr>
          <p:nvPr/>
        </p:nvCxnSpPr>
        <p:spPr>
          <a:xfrm>
            <a:off x="10643198" y="5622572"/>
            <a:ext cx="158444" cy="797504"/>
          </a:xfrm>
          <a:prstGeom prst="bentConnector2">
            <a:avLst/>
          </a:prstGeom>
          <a:ln>
            <a:solidFill>
              <a:srgbClr val="000000"/>
            </a:solidFill>
            <a:tailEnd type="triangle" w="med" len="med"/>
          </a:ln>
        </p:spPr>
      </p:cxnSp>
      <p:sp>
        <p:nvSpPr>
          <p:cNvPr id="55" name="流程圖: 決策 50">
            <a:extLst>
              <a:ext uri="{FF2B5EF4-FFF2-40B4-BE49-F238E27FC236}">
                <a16:creationId xmlns:a16="http://schemas.microsoft.com/office/drawing/2014/main" id="{EBE8B366-15AB-4868-B659-E49C648AB58B}"/>
              </a:ext>
            </a:extLst>
          </p:cNvPr>
          <p:cNvSpPr/>
          <p:nvPr/>
        </p:nvSpPr>
        <p:spPr bwMode="auto">
          <a:xfrm>
            <a:off x="2596114" y="5982615"/>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是否修改數量</a:t>
            </a:r>
            <a:endParaRPr lang="en-US" altLang="zh-TW" sz="1500" dirty="0">
              <a:latin typeface="微軟正黑體" panose="020B0604030504040204" pitchFamily="34" charset="-120"/>
              <a:ea typeface="微軟正黑體" panose="020B0604030504040204" pitchFamily="34" charset="-120"/>
            </a:endParaRPr>
          </a:p>
          <a:p>
            <a:pPr algn="ctr" eaLnBrk="0" hangingPunct="0"/>
            <a:r>
              <a:rPr lang="en-US" altLang="zh-TW" sz="1500" dirty="0">
                <a:latin typeface="微軟正黑體" panose="020B0604030504040204" pitchFamily="34" charset="-120"/>
                <a:ea typeface="微軟正黑體" panose="020B0604030504040204" pitchFamily="34" charset="-120"/>
              </a:rPr>
              <a:t>/</a:t>
            </a:r>
            <a:r>
              <a:rPr lang="zh-TW" altLang="en-US" sz="1500" dirty="0">
                <a:latin typeface="微軟正黑體" panose="020B0604030504040204" pitchFamily="34" charset="-120"/>
                <a:ea typeface="微軟正黑體" panose="020B0604030504040204" pitchFamily="34" charset="-120"/>
              </a:rPr>
              <a:t>金額</a:t>
            </a:r>
          </a:p>
        </p:txBody>
      </p:sp>
      <p:grpSp>
        <p:nvGrpSpPr>
          <p:cNvPr id="56" name="Group 220">
            <a:extLst>
              <a:ext uri="{FF2B5EF4-FFF2-40B4-BE49-F238E27FC236}">
                <a16:creationId xmlns:a16="http://schemas.microsoft.com/office/drawing/2014/main" id="{E7D19294-45F8-DAB7-D612-56425D3D835D}"/>
              </a:ext>
            </a:extLst>
          </p:cNvPr>
          <p:cNvGrpSpPr/>
          <p:nvPr/>
        </p:nvGrpSpPr>
        <p:grpSpPr>
          <a:xfrm>
            <a:off x="3952864" y="5774271"/>
            <a:ext cx="561236" cy="415760"/>
            <a:chOff x="5906472" y="1486857"/>
            <a:chExt cx="374157" cy="272361"/>
          </a:xfrm>
        </p:grpSpPr>
        <p:sp>
          <p:nvSpPr>
            <p:cNvPr id="57" name="Oval 221">
              <a:extLst>
                <a:ext uri="{FF2B5EF4-FFF2-40B4-BE49-F238E27FC236}">
                  <a16:creationId xmlns:a16="http://schemas.microsoft.com/office/drawing/2014/main" id="{5FE3E10F-A170-C5B1-3A70-DB417E9C5C5A}"/>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1500" dirty="0"/>
            </a:p>
          </p:txBody>
        </p:sp>
        <p:sp>
          <p:nvSpPr>
            <p:cNvPr id="58" name="TextBox 222">
              <a:extLst>
                <a:ext uri="{FF2B5EF4-FFF2-40B4-BE49-F238E27FC236}">
                  <a16:creationId xmlns:a16="http://schemas.microsoft.com/office/drawing/2014/main" id="{BC6C2926-5788-D703-2869-324D4F61A132}"/>
                </a:ext>
              </a:extLst>
            </p:cNvPr>
            <p:cNvSpPr txBox="1"/>
            <p:nvPr/>
          </p:nvSpPr>
          <p:spPr>
            <a:xfrm>
              <a:off x="5925029" y="1503597"/>
              <a:ext cx="355600" cy="211703"/>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7</a:t>
              </a:r>
              <a:endParaRPr lang="zh-TW" altLang="en-US" sz="1500" dirty="0">
                <a:latin typeface="微軟正黑體" panose="020B0604030504040204" pitchFamily="34" charset="-120"/>
                <a:ea typeface="微軟正黑體" panose="020B0604030504040204" pitchFamily="34" charset="-120"/>
              </a:endParaRPr>
            </a:p>
          </p:txBody>
        </p:sp>
      </p:grpSp>
      <p:cxnSp>
        <p:nvCxnSpPr>
          <p:cNvPr id="74" name="肘形接點 68">
            <a:extLst>
              <a:ext uri="{FF2B5EF4-FFF2-40B4-BE49-F238E27FC236}">
                <a16:creationId xmlns:a16="http://schemas.microsoft.com/office/drawing/2014/main" id="{3A5FA11F-C5F0-4963-C2FF-DDE143F69107}"/>
              </a:ext>
            </a:extLst>
          </p:cNvPr>
          <p:cNvCxnSpPr>
            <a:cxnSpLocks/>
            <a:stCxn id="8" idx="3"/>
            <a:endCxn id="9" idx="1"/>
          </p:cNvCxnSpPr>
          <p:nvPr/>
        </p:nvCxnSpPr>
        <p:spPr>
          <a:xfrm flipV="1">
            <a:off x="4437588" y="4106784"/>
            <a:ext cx="1072260" cy="4149822"/>
          </a:xfrm>
          <a:prstGeom prst="bentConnector3">
            <a:avLst>
              <a:gd name="adj1" fmla="val 74686"/>
            </a:avLst>
          </a:prstGeom>
          <a:ln>
            <a:solidFill>
              <a:srgbClr val="000000"/>
            </a:solidFill>
            <a:tailEnd type="triangle" w="med" len="med"/>
          </a:ln>
        </p:spPr>
      </p:cxnSp>
      <p:sp>
        <p:nvSpPr>
          <p:cNvPr id="77" name="流程圖: 接點 51">
            <a:extLst>
              <a:ext uri="{FF2B5EF4-FFF2-40B4-BE49-F238E27FC236}">
                <a16:creationId xmlns:a16="http://schemas.microsoft.com/office/drawing/2014/main" id="{1E7AF7A3-7253-3767-0509-11D2252F96F8}"/>
              </a:ext>
            </a:extLst>
          </p:cNvPr>
          <p:cNvSpPr/>
          <p:nvPr/>
        </p:nvSpPr>
        <p:spPr bwMode="auto">
          <a:xfrm>
            <a:off x="4509286" y="6531280"/>
            <a:ext cx="494060"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B</a:t>
            </a:r>
            <a:endParaRPr lang="zh-TW" altLang="en-US" dirty="0">
              <a:latin typeface="微軟正黑體" panose="020B0604030504040204" pitchFamily="34" charset="-120"/>
              <a:ea typeface="微軟正黑體" panose="020B0604030504040204" pitchFamily="34" charset="-120"/>
            </a:endParaRPr>
          </a:p>
        </p:txBody>
      </p:sp>
      <p:cxnSp>
        <p:nvCxnSpPr>
          <p:cNvPr id="78" name="肘形接點 68">
            <a:extLst>
              <a:ext uri="{FF2B5EF4-FFF2-40B4-BE49-F238E27FC236}">
                <a16:creationId xmlns:a16="http://schemas.microsoft.com/office/drawing/2014/main" id="{A71964DF-6A23-E6FE-FAB7-4CF524CB38FF}"/>
              </a:ext>
            </a:extLst>
          </p:cNvPr>
          <p:cNvCxnSpPr>
            <a:cxnSpLocks/>
            <a:stCxn id="55" idx="3"/>
            <a:endCxn id="77" idx="0"/>
          </p:cNvCxnSpPr>
          <p:nvPr/>
        </p:nvCxnSpPr>
        <p:spPr>
          <a:xfrm>
            <a:off x="4438063" y="6338715"/>
            <a:ext cx="318253" cy="192565"/>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82" name="文字方塊 81">
            <a:extLst>
              <a:ext uri="{FF2B5EF4-FFF2-40B4-BE49-F238E27FC236}">
                <a16:creationId xmlns:a16="http://schemas.microsoft.com/office/drawing/2014/main" id="{760B9F24-5B37-7845-D94E-723A8F98A1AD}"/>
              </a:ext>
            </a:extLst>
          </p:cNvPr>
          <p:cNvSpPr txBox="1"/>
          <p:nvPr/>
        </p:nvSpPr>
        <p:spPr>
          <a:xfrm>
            <a:off x="3518568" y="6979736"/>
            <a:ext cx="305116" cy="30008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是</a:t>
            </a:r>
            <a:endParaRPr lang="en-US" altLang="zh-TW" sz="1350" dirty="0">
              <a:latin typeface="微軟正黑體" panose="020B0604030504040204" pitchFamily="34" charset="-120"/>
              <a:ea typeface="微軟正黑體" panose="020B0604030504040204" pitchFamily="34" charset="-120"/>
            </a:endParaRPr>
          </a:p>
        </p:txBody>
      </p:sp>
      <p:sp>
        <p:nvSpPr>
          <p:cNvPr id="83" name="文字方塊 82">
            <a:extLst>
              <a:ext uri="{FF2B5EF4-FFF2-40B4-BE49-F238E27FC236}">
                <a16:creationId xmlns:a16="http://schemas.microsoft.com/office/drawing/2014/main" id="{F6BCD57D-1F3D-0D11-2B9F-31B3DEAEE9C8}"/>
              </a:ext>
            </a:extLst>
          </p:cNvPr>
          <p:cNvSpPr txBox="1"/>
          <p:nvPr/>
        </p:nvSpPr>
        <p:spPr>
          <a:xfrm>
            <a:off x="4598371" y="6057308"/>
            <a:ext cx="305116" cy="300442"/>
          </a:xfrm>
          <a:prstGeom prst="rect">
            <a:avLst/>
          </a:prstGeom>
          <a:noFill/>
        </p:spPr>
        <p:txBody>
          <a:bodyPr wrap="square">
            <a:spAutoFit/>
          </a:bodyPr>
          <a:lstStyle/>
          <a:p>
            <a:r>
              <a:rPr lang="zh-TW" altLang="en-US" sz="1350" dirty="0">
                <a:latin typeface="微軟正黑體" panose="020B0604030504040204" pitchFamily="34" charset="-120"/>
                <a:ea typeface="微軟正黑體" panose="020B0604030504040204" pitchFamily="34" charset="-120"/>
              </a:rPr>
              <a:t>否</a:t>
            </a:r>
            <a:endParaRPr lang="zh-TW" altLang="en-US" sz="1350" dirty="0"/>
          </a:p>
        </p:txBody>
      </p:sp>
      <p:cxnSp>
        <p:nvCxnSpPr>
          <p:cNvPr id="84" name="肘形接點 68">
            <a:extLst>
              <a:ext uri="{FF2B5EF4-FFF2-40B4-BE49-F238E27FC236}">
                <a16:creationId xmlns:a16="http://schemas.microsoft.com/office/drawing/2014/main" id="{293FDEA1-D019-1BA7-6A3C-599AB0F832BF}"/>
              </a:ext>
            </a:extLst>
          </p:cNvPr>
          <p:cNvCxnSpPr>
            <a:cxnSpLocks/>
            <a:stCxn id="85" idx="4"/>
            <a:endCxn id="3" idx="0"/>
          </p:cNvCxnSpPr>
          <p:nvPr/>
        </p:nvCxnSpPr>
        <p:spPr>
          <a:xfrm rot="16200000" flipH="1">
            <a:off x="12871459" y="8635158"/>
            <a:ext cx="655903" cy="1059"/>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85" name="流程圖: 接點 51">
            <a:extLst>
              <a:ext uri="{FF2B5EF4-FFF2-40B4-BE49-F238E27FC236}">
                <a16:creationId xmlns:a16="http://schemas.microsoft.com/office/drawing/2014/main" id="{2D3EC3D0-0127-942D-B02C-1FA19E879732}"/>
              </a:ext>
            </a:extLst>
          </p:cNvPr>
          <p:cNvSpPr/>
          <p:nvPr/>
        </p:nvSpPr>
        <p:spPr bwMode="auto">
          <a:xfrm>
            <a:off x="12951851" y="7840434"/>
            <a:ext cx="494060"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B</a:t>
            </a:r>
            <a:endParaRPr lang="zh-TW" altLang="en-US" dirty="0">
              <a:latin typeface="微軟正黑體" panose="020B0604030504040204" pitchFamily="34" charset="-120"/>
              <a:ea typeface="微軟正黑體" panose="020B0604030504040204" pitchFamily="34" charset="-120"/>
            </a:endParaRPr>
          </a:p>
        </p:txBody>
      </p:sp>
      <p:sp>
        <p:nvSpPr>
          <p:cNvPr id="68" name="流程圖: 接點 51">
            <a:extLst>
              <a:ext uri="{FF2B5EF4-FFF2-40B4-BE49-F238E27FC236}">
                <a16:creationId xmlns:a16="http://schemas.microsoft.com/office/drawing/2014/main" id="{90C8EA9D-5198-21FE-9C0A-F428E4BD272D}"/>
              </a:ext>
            </a:extLst>
          </p:cNvPr>
          <p:cNvSpPr/>
          <p:nvPr/>
        </p:nvSpPr>
        <p:spPr bwMode="auto">
          <a:xfrm>
            <a:off x="10566644" y="8122419"/>
            <a:ext cx="494060"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A</a:t>
            </a:r>
            <a:endParaRPr lang="zh-TW" altLang="en-US" dirty="0">
              <a:latin typeface="微軟正黑體" panose="020B0604030504040204" pitchFamily="34" charset="-120"/>
              <a:ea typeface="微軟正黑體" panose="020B0604030504040204" pitchFamily="34" charset="-120"/>
            </a:endParaRPr>
          </a:p>
        </p:txBody>
      </p:sp>
      <p:cxnSp>
        <p:nvCxnSpPr>
          <p:cNvPr id="70" name="肘形接點 68">
            <a:extLst>
              <a:ext uri="{FF2B5EF4-FFF2-40B4-BE49-F238E27FC236}">
                <a16:creationId xmlns:a16="http://schemas.microsoft.com/office/drawing/2014/main" id="{E5FD9397-2CBF-58FF-D456-6BD2AEBDBB02}"/>
              </a:ext>
            </a:extLst>
          </p:cNvPr>
          <p:cNvCxnSpPr>
            <a:cxnSpLocks/>
            <a:stCxn id="71" idx="6"/>
            <a:endCxn id="55" idx="1"/>
          </p:cNvCxnSpPr>
          <p:nvPr/>
        </p:nvCxnSpPr>
        <p:spPr>
          <a:xfrm flipV="1">
            <a:off x="1687048" y="6338715"/>
            <a:ext cx="909066" cy="1"/>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71" name="流程圖: 接點 51">
            <a:extLst>
              <a:ext uri="{FF2B5EF4-FFF2-40B4-BE49-F238E27FC236}">
                <a16:creationId xmlns:a16="http://schemas.microsoft.com/office/drawing/2014/main" id="{7C829D11-B4F0-6161-D93F-DC1D3345415E}"/>
              </a:ext>
            </a:extLst>
          </p:cNvPr>
          <p:cNvSpPr/>
          <p:nvPr/>
        </p:nvSpPr>
        <p:spPr bwMode="auto">
          <a:xfrm>
            <a:off x="1192988" y="6105064"/>
            <a:ext cx="494060"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A</a:t>
            </a:r>
            <a:endParaRPr lang="zh-TW" altLang="en-US"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9261179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文字方塊 3">
            <a:extLst>
              <a:ext uri="{FF2B5EF4-FFF2-40B4-BE49-F238E27FC236}">
                <a16:creationId xmlns:a16="http://schemas.microsoft.com/office/drawing/2014/main" id="{83E6F622-2FBE-CC67-50FE-4ABD7D8B9696}"/>
              </a:ext>
            </a:extLst>
          </p:cNvPr>
          <p:cNvSpPr txBox="1"/>
          <p:nvPr/>
        </p:nvSpPr>
        <p:spPr>
          <a:xfrm>
            <a:off x="2431326" y="820877"/>
            <a:ext cx="7218711" cy="415498"/>
          </a:xfrm>
          <a:prstGeom prst="rect">
            <a:avLst/>
          </a:prstGeom>
          <a:noFill/>
        </p:spPr>
        <p:txBody>
          <a:bodyPr wrap="square">
            <a:spAutoFit/>
          </a:bodyPr>
          <a:lstStyle/>
          <a:p>
            <a:pPr defTabSz="1371600" eaLnBrk="0" hangingPunct="0">
              <a:buClr>
                <a:srgbClr val="000000"/>
              </a:buClr>
            </a:pPr>
            <a:r>
              <a:rPr lang="en-US" altLang="zh-TW" sz="2100" b="1" kern="0" dirty="0">
                <a:solidFill>
                  <a:srgbClr val="000000"/>
                </a:solidFill>
                <a:latin typeface="微軟正黑體" panose="020B0604030504040204" pitchFamily="34" charset="-120"/>
                <a:ea typeface="微軟正黑體" panose="020B0604030504040204" pitchFamily="34" charset="-120"/>
                <a:cs typeface="Arial"/>
                <a:sym typeface="Arial"/>
              </a:rPr>
              <a:t>MM-PU-0030-01</a:t>
            </a:r>
            <a:r>
              <a:rPr lang="zh-TW" altLang="en-US" sz="2100" b="1" kern="0" dirty="0">
                <a:solidFill>
                  <a:srgbClr val="000000"/>
                </a:solidFill>
                <a:latin typeface="微軟正黑體" panose="020B0604030504040204" pitchFamily="34" charset="-120"/>
                <a:ea typeface="微軟正黑體" panose="020B0604030504040204" pitchFamily="34" charset="-120"/>
                <a:cs typeface="Arial"/>
                <a:sym typeface="Arial"/>
              </a:rPr>
              <a:t>庫存類採購流程</a:t>
            </a:r>
            <a:r>
              <a:rPr lang="en-US" altLang="zh-TW" sz="2100" b="1" kern="0" dirty="0">
                <a:solidFill>
                  <a:srgbClr val="000000"/>
                </a:solidFill>
                <a:latin typeface="微軟正黑體" panose="020B0604030504040204" pitchFamily="34" charset="-120"/>
                <a:ea typeface="微軟正黑體" panose="020B0604030504040204" pitchFamily="34" charset="-120"/>
                <a:cs typeface="Arial"/>
                <a:sym typeface="Arial"/>
              </a:rPr>
              <a:t>(</a:t>
            </a:r>
            <a:r>
              <a:rPr lang="zh-TW" altLang="en-US" sz="2100" b="1" kern="0" dirty="0">
                <a:solidFill>
                  <a:srgbClr val="000000"/>
                </a:solidFill>
                <a:latin typeface="微軟正黑體" panose="020B0604030504040204" pitchFamily="34" charset="-120"/>
                <a:ea typeface="微軟正黑體" panose="020B0604030504040204" pitchFamily="34" charset="-120"/>
                <a:cs typeface="Arial"/>
                <a:sym typeface="Arial"/>
              </a:rPr>
              <a:t>借料</a:t>
            </a:r>
            <a:r>
              <a:rPr lang="en-US" altLang="zh-TW" sz="2100" b="1" kern="0" dirty="0">
                <a:solidFill>
                  <a:srgbClr val="000000"/>
                </a:solidFill>
                <a:latin typeface="微軟正黑體" panose="020B0604030504040204" pitchFamily="34" charset="-120"/>
                <a:ea typeface="微軟正黑體" panose="020B0604030504040204" pitchFamily="34" charset="-120"/>
                <a:cs typeface="Arial"/>
                <a:sym typeface="Arial"/>
              </a:rPr>
              <a:t>)</a:t>
            </a:r>
            <a:endParaRPr lang="zh-TW" altLang="en-US" sz="2100" b="1"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sp>
        <p:nvSpPr>
          <p:cNvPr id="34" name="文字方塊 17">
            <a:extLst>
              <a:ext uri="{FF2B5EF4-FFF2-40B4-BE49-F238E27FC236}">
                <a16:creationId xmlns:a16="http://schemas.microsoft.com/office/drawing/2014/main" id="{DE52170D-3194-E094-D743-3842F95326FE}"/>
              </a:ext>
            </a:extLst>
          </p:cNvPr>
          <p:cNvSpPr txBox="1"/>
          <p:nvPr/>
        </p:nvSpPr>
        <p:spPr>
          <a:xfrm>
            <a:off x="3987800" y="1379656"/>
            <a:ext cx="7544293" cy="346249"/>
          </a:xfrm>
          <a:prstGeom prst="rect">
            <a:avLst/>
          </a:prstGeom>
          <a:noFill/>
        </p:spPr>
        <p:txBody>
          <a:bodyPr wrap="square" rtlCol="0">
            <a:spAutoFit/>
          </a:bodyPr>
          <a:lstStyle/>
          <a:p>
            <a:pPr algn="ctr" defTabSz="1371600">
              <a:buClr>
                <a:srgbClr val="000000"/>
              </a:buClr>
            </a:pPr>
            <a:r>
              <a:rPr lang="zh-TW" altLang="en-US" sz="1650" kern="0" dirty="0">
                <a:solidFill>
                  <a:srgbClr val="000000"/>
                </a:solidFill>
                <a:latin typeface="Arial"/>
                <a:cs typeface="Arial"/>
                <a:sym typeface="Arial"/>
              </a:rPr>
              <a:t>採購</a:t>
            </a:r>
          </a:p>
        </p:txBody>
      </p:sp>
      <p:sp>
        <p:nvSpPr>
          <p:cNvPr id="227" name="TextBox 53">
            <a:extLst>
              <a:ext uri="{FF2B5EF4-FFF2-40B4-BE49-F238E27FC236}">
                <a16:creationId xmlns:a16="http://schemas.microsoft.com/office/drawing/2014/main" id="{DF940026-96D7-3867-6425-C228DF3D29BF}"/>
              </a:ext>
            </a:extLst>
          </p:cNvPr>
          <p:cNvSpPr txBox="1"/>
          <p:nvPr/>
        </p:nvSpPr>
        <p:spPr>
          <a:xfrm>
            <a:off x="14367310" y="1957293"/>
            <a:ext cx="3755590" cy="646331"/>
          </a:xfrm>
          <a:prstGeom prst="rect">
            <a:avLst/>
          </a:prstGeom>
          <a:noFill/>
        </p:spPr>
        <p:txBody>
          <a:bodyPr wrap="square" rtlCol="0">
            <a:spAutoFit/>
          </a:bodyPr>
          <a:lstStyle/>
          <a:p>
            <a:pPr marL="342900" indent="-342900" defTabSz="1371600">
              <a:buClr>
                <a:srgbClr val="000000"/>
              </a:buClr>
              <a:buFont typeface="+mj-lt"/>
              <a:buAutoNum type="arabicPeriod"/>
            </a:pP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手動建立借料採購單勾免費項目</a:t>
            </a: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marL="342900" indent="-342900" defTabSz="1371600">
              <a:buClr>
                <a:srgbClr val="000000"/>
              </a:buClr>
              <a:buFont typeface="+mj-lt"/>
              <a:buAutoNum type="arabicPeriod"/>
            </a:pP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借出方拒借時，要手動刪採購単</a:t>
            </a:r>
            <a:endParaRPr lang="en-US" altLang="zh-TW" kern="0" dirty="0">
              <a:solidFill>
                <a:srgbClr val="000000"/>
              </a:solidFill>
              <a:latin typeface="Arial"/>
              <a:cs typeface="Arial"/>
              <a:sym typeface="Arial"/>
            </a:endParaRPr>
          </a:p>
        </p:txBody>
      </p:sp>
      <p:cxnSp>
        <p:nvCxnSpPr>
          <p:cNvPr id="29" name="肘形接點 68">
            <a:extLst>
              <a:ext uri="{FF2B5EF4-FFF2-40B4-BE49-F238E27FC236}">
                <a16:creationId xmlns:a16="http://schemas.microsoft.com/office/drawing/2014/main" id="{8DFF4E62-5ECC-A259-B197-AF40294A22FF}"/>
              </a:ext>
            </a:extLst>
          </p:cNvPr>
          <p:cNvCxnSpPr>
            <a:cxnSpLocks/>
            <a:endCxn id="64" idx="0"/>
          </p:cNvCxnSpPr>
          <p:nvPr/>
        </p:nvCxnSpPr>
        <p:spPr>
          <a:xfrm>
            <a:off x="9169400" y="3848100"/>
            <a:ext cx="4042518" cy="912648"/>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9" name="流程圖: 結束點 8">
            <a:extLst>
              <a:ext uri="{FF2B5EF4-FFF2-40B4-BE49-F238E27FC236}">
                <a16:creationId xmlns:a16="http://schemas.microsoft.com/office/drawing/2014/main" id="{BE2FC025-C717-CBB4-4427-169CCCE61102}"/>
              </a:ext>
            </a:extLst>
          </p:cNvPr>
          <p:cNvSpPr/>
          <p:nvPr/>
        </p:nvSpPr>
        <p:spPr bwMode="auto">
          <a:xfrm>
            <a:off x="328558" y="3523380"/>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defTabSz="1371600" eaLnBrk="0" hangingPunct="0">
              <a:buClr>
                <a:srgbClr val="000000"/>
              </a:buClr>
            </a:pPr>
            <a:r>
              <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rPr>
              <a:t>開始</a:t>
            </a:r>
          </a:p>
        </p:txBody>
      </p:sp>
      <p:sp>
        <p:nvSpPr>
          <p:cNvPr id="132"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b="0" strike="noStrike" spc="-1" dirty="0">
                <a:solidFill>
                  <a:schemeClr val="dk1"/>
                </a:solidFill>
                <a:latin typeface="微軟正黑體"/>
                <a:ea typeface="微軟正黑體"/>
              </a:rPr>
              <a:t>1</a:t>
            </a:r>
            <a:endParaRPr lang="en-US" sz="1600" b="0" strike="noStrike" spc="-1" dirty="0">
              <a:solidFill>
                <a:srgbClr val="000000"/>
              </a:solidFill>
              <a:latin typeface="Calibri"/>
            </a:endParaRPr>
          </a:p>
        </p:txBody>
      </p:sp>
      <p:sp>
        <p:nvSpPr>
          <p:cNvPr id="110" name="TextBox 2"/>
          <p:cNvSpPr/>
          <p:nvPr/>
        </p:nvSpPr>
        <p:spPr>
          <a:xfrm>
            <a:off x="16779540" y="698800"/>
            <a:ext cx="2003760" cy="337100"/>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defTabSz="457200">
              <a:lnSpc>
                <a:spcPct val="100000"/>
              </a:lnSpc>
            </a:pPr>
            <a:r>
              <a:rPr lang="en-US" sz="1600" spc="-1" dirty="0">
                <a:solidFill>
                  <a:schemeClr val="dk1"/>
                </a:solidFill>
                <a:latin typeface="微軟正黑體"/>
                <a:ea typeface="微軟正黑體"/>
              </a:rPr>
              <a:t>2025/07/23</a:t>
            </a:r>
            <a:endParaRPr lang="en-US" sz="1600" b="0" strike="noStrike" spc="-1" dirty="0">
              <a:solidFill>
                <a:srgbClr val="000000"/>
              </a:solidFill>
              <a:latin typeface="Calibri"/>
            </a:endParaRPr>
          </a:p>
        </p:txBody>
      </p:sp>
      <p:grpSp>
        <p:nvGrpSpPr>
          <p:cNvPr id="155" name="群組 154"/>
          <p:cNvGrpSpPr/>
          <p:nvPr/>
        </p:nvGrpSpPr>
        <p:grpSpPr>
          <a:xfrm>
            <a:off x="7491386" y="3084504"/>
            <a:ext cx="2162966" cy="1424040"/>
            <a:chOff x="8715372" y="4366006"/>
            <a:chExt cx="2162966" cy="1424040"/>
          </a:xfrm>
        </p:grpSpPr>
        <p:grpSp>
          <p:nvGrpSpPr>
            <p:cNvPr id="156" name="群組 30"/>
            <p:cNvGrpSpPr/>
            <p:nvPr/>
          </p:nvGrpSpPr>
          <p:grpSpPr>
            <a:xfrm>
              <a:off x="8715372" y="4572790"/>
              <a:ext cx="1810800" cy="1217256"/>
              <a:chOff x="15073354" y="8308668"/>
              <a:chExt cx="1810800" cy="1217256"/>
            </a:xfrm>
          </p:grpSpPr>
          <p:sp>
            <p:nvSpPr>
              <p:cNvPr id="160" name="流程圖: 程序 159"/>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sz="1600" b="1" dirty="0">
                    <a:latin typeface="微軟正黑體" panose="020B0604030504040204" pitchFamily="34" charset="-120"/>
                    <a:ea typeface="微軟正黑體" panose="020B0604030504040204" pitchFamily="34" charset="-120"/>
                  </a:rPr>
                  <a:t>ME21N</a:t>
                </a:r>
              </a:p>
            </p:txBody>
          </p:sp>
          <p:sp>
            <p:nvSpPr>
              <p:cNvPr id="161" name="流程圖: 程序 160"/>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600" dirty="0">
                    <a:latin typeface="微軟正黑體" panose="020B0604030504040204" pitchFamily="34" charset="-120"/>
                    <a:ea typeface="微軟正黑體" panose="020B0604030504040204" pitchFamily="34" charset="-120"/>
                  </a:rPr>
                  <a:t>建立採購單</a:t>
                </a:r>
              </a:p>
            </p:txBody>
          </p:sp>
          <p:sp>
            <p:nvSpPr>
              <p:cNvPr id="162" name="流程圖: 程序 161"/>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163" name="流程圖: 程序 162"/>
              <p:cNvSpPr/>
              <p:nvPr/>
            </p:nvSpPr>
            <p:spPr>
              <a:xfrm>
                <a:off x="15999001"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p:txBody>
          </p:sp>
        </p:grpSp>
        <p:grpSp>
          <p:nvGrpSpPr>
            <p:cNvPr id="157" name="Group 220">
              <a:extLst>
                <a:ext uri="{FF2B5EF4-FFF2-40B4-BE49-F238E27FC236}">
                  <a16:creationId xmlns:a16="http://schemas.microsoft.com/office/drawing/2014/main" id="{0C75984D-876F-5104-7AA0-5996E344A44D}"/>
                </a:ext>
              </a:extLst>
            </p:cNvPr>
            <p:cNvGrpSpPr/>
            <p:nvPr/>
          </p:nvGrpSpPr>
          <p:grpSpPr>
            <a:xfrm>
              <a:off x="10344938" y="4366006"/>
              <a:ext cx="533400" cy="408605"/>
              <a:chOff x="5906184" y="1486857"/>
              <a:chExt cx="355600" cy="272361"/>
            </a:xfrm>
          </p:grpSpPr>
          <p:sp>
            <p:nvSpPr>
              <p:cNvPr id="158" name="Oval 221">
                <a:extLst>
                  <a:ext uri="{FF2B5EF4-FFF2-40B4-BE49-F238E27FC236}">
                    <a16:creationId xmlns:a16="http://schemas.microsoft.com/office/drawing/2014/main" id="{6DEF57E8-FD09-6975-8166-901E555739D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59" name="TextBox 222">
                <a:extLst>
                  <a:ext uri="{FF2B5EF4-FFF2-40B4-BE49-F238E27FC236}">
                    <a16:creationId xmlns:a16="http://schemas.microsoft.com/office/drawing/2014/main" id="{371D9DE6-3A68-9335-0D4F-1D91177F2DB2}"/>
                  </a:ext>
                </a:extLst>
              </p:cNvPr>
              <p:cNvSpPr txBox="1"/>
              <p:nvPr/>
            </p:nvSpPr>
            <p:spPr>
              <a:xfrm>
                <a:off x="5906184" y="1507079"/>
                <a:ext cx="355600" cy="215410"/>
              </a:xfrm>
              <a:prstGeom prst="rect">
                <a:avLst/>
              </a:prstGeom>
              <a:noFill/>
            </p:spPr>
            <p:txBody>
              <a:bodyPr wrap="square" rtlCol="0">
                <a:spAutoFit/>
              </a:bodyPr>
              <a:lstStyle/>
              <a:p>
                <a:r>
                  <a:rPr lang="zh-TW" altLang="en-US" sz="1500" dirty="0">
                    <a:latin typeface="微軟正黑體" panose="020B0604030504040204" pitchFamily="34" charset="-120"/>
                    <a:ea typeface="微軟正黑體" panose="020B0604030504040204" pitchFamily="34" charset="-120"/>
                  </a:rPr>
                  <a:t>１</a:t>
                </a:r>
              </a:p>
            </p:txBody>
          </p:sp>
        </p:grpSp>
      </p:grpSp>
      <p:cxnSp>
        <p:nvCxnSpPr>
          <p:cNvPr id="164" name="肘形接點 68">
            <a:extLst>
              <a:ext uri="{FF2B5EF4-FFF2-40B4-BE49-F238E27FC236}">
                <a16:creationId xmlns:a16="http://schemas.microsoft.com/office/drawing/2014/main" id="{572207AE-5E42-7ED1-8116-3A4A641EAA2C}"/>
              </a:ext>
            </a:extLst>
          </p:cNvPr>
          <p:cNvCxnSpPr>
            <a:cxnSpLocks/>
            <a:stCxn id="9" idx="3"/>
            <a:endCxn id="161" idx="1"/>
          </p:cNvCxnSpPr>
          <p:nvPr/>
        </p:nvCxnSpPr>
        <p:spPr>
          <a:xfrm flipV="1">
            <a:off x="2126389" y="3898511"/>
            <a:ext cx="5364997" cy="16091"/>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64" name="流程圖: 預設處理作業 21">
            <a:extLst>
              <a:ext uri="{FF2B5EF4-FFF2-40B4-BE49-F238E27FC236}">
                <a16:creationId xmlns:a16="http://schemas.microsoft.com/office/drawing/2014/main" id="{CA6DB04D-30B6-A903-A3EC-371FF3153FCD}"/>
              </a:ext>
            </a:extLst>
          </p:cNvPr>
          <p:cNvSpPr/>
          <p:nvPr/>
        </p:nvSpPr>
        <p:spPr bwMode="auto">
          <a:xfrm>
            <a:off x="12305362" y="4760748"/>
            <a:ext cx="1813112" cy="1238591"/>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eaLnBrk="0" hangingPunct="0"/>
            <a:r>
              <a:rPr lang="en-US" altLang="zh-TW" sz="1600" dirty="0">
                <a:latin typeface="微軟正黑體" panose="020B0604030504040204" pitchFamily="34" charset="-120"/>
                <a:ea typeface="微軟正黑體" panose="020B0604030504040204" pitchFamily="34" charset="-120"/>
              </a:rPr>
              <a:t>MM-IM-0060-01</a:t>
            </a:r>
          </a:p>
          <a:p>
            <a:pPr eaLnBrk="0" hangingPunct="0"/>
            <a:r>
              <a:rPr lang="zh-TW" altLang="en-US" sz="1600" dirty="0">
                <a:latin typeface="微軟正黑體" panose="020B0604030504040204" pitchFamily="34" charset="-120"/>
                <a:ea typeface="微軟正黑體" panose="020B0604030504040204" pitchFamily="34" charset="-120"/>
              </a:rPr>
              <a:t>原物料借料作業流程</a:t>
            </a:r>
            <a:r>
              <a:rPr lang="en-US" altLang="zh-TW" sz="1600" dirty="0">
                <a:latin typeface="微軟正黑體" panose="020B0604030504040204" pitchFamily="34" charset="-120"/>
                <a:ea typeface="微軟正黑體" panose="020B0604030504040204" pitchFamily="34" charset="-120"/>
              </a:rPr>
              <a:t>(</a:t>
            </a:r>
            <a:r>
              <a:rPr lang="zh-TW" altLang="en-US" sz="1600" dirty="0">
                <a:latin typeface="微軟正黑體" panose="020B0604030504040204" pitchFamily="34" charset="-120"/>
                <a:ea typeface="微軟正黑體" panose="020B0604030504040204" pitchFamily="34" charset="-120"/>
              </a:rPr>
              <a:t>借出</a:t>
            </a:r>
            <a:r>
              <a:rPr lang="en-US" altLang="zh-TW" sz="1600" dirty="0">
                <a:latin typeface="微軟正黑體" panose="020B0604030504040204" pitchFamily="34" charset="-120"/>
                <a:ea typeface="微軟正黑體" panose="020B0604030504040204" pitchFamily="34" charset="-120"/>
              </a:rPr>
              <a:t>)</a:t>
            </a:r>
            <a:endParaRPr lang="zh-TW" altLang="en-US" sz="1600" dirty="0">
              <a:latin typeface="微軟正黑體" panose="020B0604030504040204" pitchFamily="34" charset="-120"/>
              <a:ea typeface="微軟正黑體" panose="020B0604030504040204" pitchFamily="34" charset="-120"/>
            </a:endParaRPr>
          </a:p>
          <a:p>
            <a:pPr algn="ctr" eaLnBrk="0" hangingPunct="0"/>
            <a:endParaRPr lang="zh-TW" altLang="en-US" sz="1500" dirty="0">
              <a:latin typeface="微軟正黑體" panose="020B0604030504040204" pitchFamily="34" charset="-120"/>
              <a:ea typeface="微軟正黑體" panose="020B0604030504040204" pitchFamily="34" charset="-120"/>
            </a:endParaRPr>
          </a:p>
        </p:txBody>
      </p:sp>
      <p:sp>
        <p:nvSpPr>
          <p:cNvPr id="69" name="流程圖: 決策 50">
            <a:extLst>
              <a:ext uri="{FF2B5EF4-FFF2-40B4-BE49-F238E27FC236}">
                <a16:creationId xmlns:a16="http://schemas.microsoft.com/office/drawing/2014/main" id="{527C4236-AC24-9665-999E-BCB38749D459}"/>
              </a:ext>
            </a:extLst>
          </p:cNvPr>
          <p:cNvSpPr/>
          <p:nvPr/>
        </p:nvSpPr>
        <p:spPr bwMode="auto">
          <a:xfrm>
            <a:off x="12289406" y="6497723"/>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defTabSz="1371600" eaLnBrk="0" hangingPunct="0">
              <a:buClr>
                <a:srgbClr val="000000"/>
              </a:buClr>
            </a:pPr>
            <a:r>
              <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rPr>
              <a:t>同意借料</a:t>
            </a:r>
          </a:p>
        </p:txBody>
      </p:sp>
      <p:sp>
        <p:nvSpPr>
          <p:cNvPr id="70" name="文字方塊 69">
            <a:extLst>
              <a:ext uri="{FF2B5EF4-FFF2-40B4-BE49-F238E27FC236}">
                <a16:creationId xmlns:a16="http://schemas.microsoft.com/office/drawing/2014/main" id="{C1F79803-CD2F-DCBE-0376-1A2E7AAE8BD3}"/>
              </a:ext>
            </a:extLst>
          </p:cNvPr>
          <p:cNvSpPr txBox="1"/>
          <p:nvPr/>
        </p:nvSpPr>
        <p:spPr>
          <a:xfrm>
            <a:off x="13591204" y="7357098"/>
            <a:ext cx="788670" cy="300082"/>
          </a:xfrm>
          <a:prstGeom prst="rect">
            <a:avLst/>
          </a:prstGeom>
          <a:noFill/>
        </p:spPr>
        <p:txBody>
          <a:bodyPr wrap="square">
            <a:spAutoFit/>
          </a:bodyPr>
          <a:lstStyle/>
          <a:p>
            <a:pPr defTabSz="1371600">
              <a:buClr>
                <a:srgbClr val="000000"/>
              </a:buClr>
            </a:pPr>
            <a:r>
              <a:rPr lang="zh-TW" altLang="en-US" sz="1350" kern="0" dirty="0">
                <a:solidFill>
                  <a:srgbClr val="000000"/>
                </a:solidFill>
                <a:latin typeface="微軟正黑體" panose="020B0604030504040204" pitchFamily="34" charset="-120"/>
                <a:ea typeface="微軟正黑體" panose="020B0604030504040204" pitchFamily="34" charset="-120"/>
                <a:cs typeface="Arial"/>
                <a:sym typeface="Arial"/>
              </a:rPr>
              <a:t>是</a:t>
            </a:r>
            <a:endParaRPr lang="zh-TW" altLang="en-US" sz="1350" kern="0" dirty="0">
              <a:solidFill>
                <a:srgbClr val="000000"/>
              </a:solidFill>
              <a:latin typeface="Arial"/>
              <a:cs typeface="Arial"/>
              <a:sym typeface="Arial"/>
            </a:endParaRPr>
          </a:p>
        </p:txBody>
      </p:sp>
      <p:sp>
        <p:nvSpPr>
          <p:cNvPr id="71" name="文字方塊 70">
            <a:extLst>
              <a:ext uri="{FF2B5EF4-FFF2-40B4-BE49-F238E27FC236}">
                <a16:creationId xmlns:a16="http://schemas.microsoft.com/office/drawing/2014/main" id="{118E9DFC-AE14-CF90-1E50-B05094B07A0E}"/>
              </a:ext>
            </a:extLst>
          </p:cNvPr>
          <p:cNvSpPr txBox="1"/>
          <p:nvPr/>
        </p:nvSpPr>
        <p:spPr>
          <a:xfrm>
            <a:off x="11086730" y="6499259"/>
            <a:ext cx="788670" cy="300082"/>
          </a:xfrm>
          <a:prstGeom prst="rect">
            <a:avLst/>
          </a:prstGeom>
          <a:noFill/>
        </p:spPr>
        <p:txBody>
          <a:bodyPr wrap="square">
            <a:spAutoFit/>
          </a:bodyPr>
          <a:lstStyle/>
          <a:p>
            <a:pPr defTabSz="1371600">
              <a:buClr>
                <a:srgbClr val="000000"/>
              </a:buClr>
            </a:pPr>
            <a:r>
              <a:rPr lang="zh-TW" altLang="en-US" sz="1350" kern="0" dirty="0">
                <a:solidFill>
                  <a:srgbClr val="000000"/>
                </a:solidFill>
                <a:latin typeface="微軟正黑體" panose="020B0604030504040204" pitchFamily="34" charset="-120"/>
                <a:ea typeface="微軟正黑體" panose="020B0604030504040204" pitchFamily="34" charset="-120"/>
                <a:cs typeface="Arial"/>
                <a:sym typeface="Arial"/>
              </a:rPr>
              <a:t>否</a:t>
            </a:r>
            <a:endParaRPr lang="zh-TW" altLang="en-US" sz="1350" kern="0" dirty="0">
              <a:solidFill>
                <a:srgbClr val="000000"/>
              </a:solidFill>
              <a:latin typeface="Arial"/>
              <a:cs typeface="Arial"/>
              <a:sym typeface="Arial"/>
            </a:endParaRPr>
          </a:p>
        </p:txBody>
      </p:sp>
      <p:cxnSp>
        <p:nvCxnSpPr>
          <p:cNvPr id="74" name="肘形接點 68">
            <a:extLst>
              <a:ext uri="{FF2B5EF4-FFF2-40B4-BE49-F238E27FC236}">
                <a16:creationId xmlns:a16="http://schemas.microsoft.com/office/drawing/2014/main" id="{1342C1CD-0CFF-F5F7-DF8F-8FD8733ED079}"/>
              </a:ext>
            </a:extLst>
          </p:cNvPr>
          <p:cNvCxnSpPr>
            <a:cxnSpLocks/>
            <a:stCxn id="64" idx="2"/>
            <a:endCxn id="69" idx="0"/>
          </p:cNvCxnSpPr>
          <p:nvPr/>
        </p:nvCxnSpPr>
        <p:spPr>
          <a:xfrm rot="5400000">
            <a:off x="12961958" y="6247763"/>
            <a:ext cx="498384" cy="153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79" name="流程圖: 預設處理作業 21">
            <a:extLst>
              <a:ext uri="{FF2B5EF4-FFF2-40B4-BE49-F238E27FC236}">
                <a16:creationId xmlns:a16="http://schemas.microsoft.com/office/drawing/2014/main" id="{CA6DB04D-30B6-A903-A3EC-371FF3153FCD}"/>
              </a:ext>
            </a:extLst>
          </p:cNvPr>
          <p:cNvSpPr/>
          <p:nvPr/>
        </p:nvSpPr>
        <p:spPr bwMode="auto">
          <a:xfrm>
            <a:off x="12305362" y="7770648"/>
            <a:ext cx="1813112" cy="1238591"/>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600" dirty="0">
                <a:latin typeface="微軟正黑體" panose="020B0604030504040204" pitchFamily="34" charset="-120"/>
                <a:ea typeface="微軟正黑體" panose="020B0604030504040204" pitchFamily="34" charset="-120"/>
              </a:rPr>
              <a:t>MM-IM-0010</a:t>
            </a:r>
          </a:p>
          <a:p>
            <a:pPr algn="ctr" eaLnBrk="0" hangingPunct="0"/>
            <a:r>
              <a:rPr lang="zh-TW" altLang="en-US" sz="1600" dirty="0">
                <a:latin typeface="微軟正黑體" panose="020B0604030504040204" pitchFamily="34" charset="-120"/>
                <a:ea typeface="微軟正黑體" panose="020B0604030504040204" pitchFamily="34" charset="-120"/>
              </a:rPr>
              <a:t>採購單收貨流程圖</a:t>
            </a:r>
          </a:p>
          <a:p>
            <a:pPr algn="ctr" eaLnBrk="0" hangingPunct="0"/>
            <a:endParaRPr lang="zh-TW" altLang="en-US" sz="1500" dirty="0">
              <a:latin typeface="微軟正黑體" panose="020B0604030504040204" pitchFamily="34" charset="-120"/>
              <a:ea typeface="微軟正黑體" panose="020B0604030504040204" pitchFamily="34" charset="-120"/>
            </a:endParaRPr>
          </a:p>
        </p:txBody>
      </p:sp>
      <p:cxnSp>
        <p:nvCxnSpPr>
          <p:cNvPr id="81" name="肘形接點 68">
            <a:extLst>
              <a:ext uri="{FF2B5EF4-FFF2-40B4-BE49-F238E27FC236}">
                <a16:creationId xmlns:a16="http://schemas.microsoft.com/office/drawing/2014/main" id="{1342C1CD-0CFF-F5F7-DF8F-8FD8733ED079}"/>
              </a:ext>
            </a:extLst>
          </p:cNvPr>
          <p:cNvCxnSpPr>
            <a:cxnSpLocks/>
            <a:stCxn id="69" idx="2"/>
            <a:endCxn id="79" idx="0"/>
          </p:cNvCxnSpPr>
          <p:nvPr/>
        </p:nvCxnSpPr>
        <p:spPr>
          <a:xfrm rot="16200000" flipH="1">
            <a:off x="12930787" y="7489516"/>
            <a:ext cx="560725" cy="153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86" name="肘形接點 68">
            <a:extLst>
              <a:ext uri="{FF2B5EF4-FFF2-40B4-BE49-F238E27FC236}">
                <a16:creationId xmlns:a16="http://schemas.microsoft.com/office/drawing/2014/main" id="{687579D6-58A9-FB92-A800-B068D391BDFE}"/>
              </a:ext>
            </a:extLst>
          </p:cNvPr>
          <p:cNvCxnSpPr>
            <a:cxnSpLocks/>
            <a:stCxn id="69" idx="1"/>
            <a:endCxn id="102" idx="3"/>
          </p:cNvCxnSpPr>
          <p:nvPr/>
        </p:nvCxnSpPr>
        <p:spPr>
          <a:xfrm rot="10800000" flipV="1">
            <a:off x="9403786" y="6853823"/>
            <a:ext cx="2885620" cy="378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pSp>
        <p:nvGrpSpPr>
          <p:cNvPr id="95" name="群組 94"/>
          <p:cNvGrpSpPr/>
          <p:nvPr/>
        </p:nvGrpSpPr>
        <p:grpSpPr>
          <a:xfrm>
            <a:off x="7592986" y="6043604"/>
            <a:ext cx="2162966" cy="1424040"/>
            <a:chOff x="8715372" y="4366006"/>
            <a:chExt cx="2162966" cy="1424040"/>
          </a:xfrm>
        </p:grpSpPr>
        <p:grpSp>
          <p:nvGrpSpPr>
            <p:cNvPr id="97" name="群組 30"/>
            <p:cNvGrpSpPr/>
            <p:nvPr/>
          </p:nvGrpSpPr>
          <p:grpSpPr>
            <a:xfrm>
              <a:off x="8715372" y="4572790"/>
              <a:ext cx="1810800" cy="1217256"/>
              <a:chOff x="15073354" y="8308668"/>
              <a:chExt cx="1810800" cy="1217256"/>
            </a:xfrm>
          </p:grpSpPr>
          <p:sp>
            <p:nvSpPr>
              <p:cNvPr id="101" name="流程圖: 程序 100"/>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sz="1600" b="1" dirty="0">
                    <a:latin typeface="微軟正黑體" panose="020B0604030504040204" pitchFamily="34" charset="-120"/>
                    <a:ea typeface="微軟正黑體" panose="020B0604030504040204" pitchFamily="34" charset="-120"/>
                  </a:rPr>
                  <a:t>ME22N</a:t>
                </a:r>
              </a:p>
            </p:txBody>
          </p:sp>
          <p:sp>
            <p:nvSpPr>
              <p:cNvPr id="102" name="流程圖: 程序 101"/>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600" dirty="0">
                    <a:latin typeface="微軟正黑體" panose="020B0604030504040204" pitchFamily="34" charset="-120"/>
                    <a:ea typeface="微軟正黑體" panose="020B0604030504040204" pitchFamily="34" charset="-120"/>
                  </a:rPr>
                  <a:t>刪除借料採購單</a:t>
                </a:r>
              </a:p>
            </p:txBody>
          </p:sp>
          <p:sp>
            <p:nvSpPr>
              <p:cNvPr id="103" name="流程圖: 程序 102"/>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104" name="流程圖: 程序 103"/>
              <p:cNvSpPr/>
              <p:nvPr/>
            </p:nvSpPr>
            <p:spPr>
              <a:xfrm>
                <a:off x="15999001"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p:txBody>
          </p:sp>
        </p:grpSp>
        <p:grpSp>
          <p:nvGrpSpPr>
            <p:cNvPr id="98" name="Group 220">
              <a:extLst>
                <a:ext uri="{FF2B5EF4-FFF2-40B4-BE49-F238E27FC236}">
                  <a16:creationId xmlns:a16="http://schemas.microsoft.com/office/drawing/2014/main" id="{0C75984D-876F-5104-7AA0-5996E344A44D}"/>
                </a:ext>
              </a:extLst>
            </p:cNvPr>
            <p:cNvGrpSpPr/>
            <p:nvPr/>
          </p:nvGrpSpPr>
          <p:grpSpPr>
            <a:xfrm>
              <a:off x="10344938" y="4366006"/>
              <a:ext cx="533400" cy="408605"/>
              <a:chOff x="5906184" y="1486857"/>
              <a:chExt cx="355600" cy="272361"/>
            </a:xfrm>
          </p:grpSpPr>
          <p:sp>
            <p:nvSpPr>
              <p:cNvPr id="99" name="Oval 221">
                <a:extLst>
                  <a:ext uri="{FF2B5EF4-FFF2-40B4-BE49-F238E27FC236}">
                    <a16:creationId xmlns:a16="http://schemas.microsoft.com/office/drawing/2014/main" id="{6DEF57E8-FD09-6975-8166-901E555739D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00" name="TextBox 222">
                <a:extLst>
                  <a:ext uri="{FF2B5EF4-FFF2-40B4-BE49-F238E27FC236}">
                    <a16:creationId xmlns:a16="http://schemas.microsoft.com/office/drawing/2014/main" id="{371D9DE6-3A68-9335-0D4F-1D91177F2DB2}"/>
                  </a:ext>
                </a:extLst>
              </p:cNvPr>
              <p:cNvSpPr txBox="1"/>
              <p:nvPr/>
            </p:nvSpPr>
            <p:spPr>
              <a:xfrm>
                <a:off x="5906184" y="1507079"/>
                <a:ext cx="355600" cy="215410"/>
              </a:xfrm>
              <a:prstGeom prst="rect">
                <a:avLst/>
              </a:prstGeom>
              <a:noFill/>
            </p:spPr>
            <p:txBody>
              <a:bodyPr wrap="square" rtlCol="0">
                <a:spAutoFit/>
              </a:bodyPr>
              <a:lstStyle/>
              <a:p>
                <a:r>
                  <a:rPr lang="zh-TW" altLang="en-US" sz="1500" dirty="0">
                    <a:latin typeface="微軟正黑體" panose="020B0604030504040204" pitchFamily="34" charset="-120"/>
                    <a:ea typeface="微軟正黑體" panose="020B0604030504040204" pitchFamily="34" charset="-120"/>
                  </a:rPr>
                  <a:t>２</a:t>
                </a:r>
              </a:p>
            </p:txBody>
          </p:sp>
        </p:grpSp>
      </p:grpSp>
      <p:sp>
        <p:nvSpPr>
          <p:cNvPr id="143" name="流程圖: 結束點 8">
            <a:extLst>
              <a:ext uri="{FF2B5EF4-FFF2-40B4-BE49-F238E27FC236}">
                <a16:creationId xmlns:a16="http://schemas.microsoft.com/office/drawing/2014/main" id="{1FB9514E-6261-C7AC-D58E-6A5F2E6F81FD}"/>
              </a:ext>
            </a:extLst>
          </p:cNvPr>
          <p:cNvSpPr/>
          <p:nvPr/>
        </p:nvSpPr>
        <p:spPr bwMode="auto">
          <a:xfrm>
            <a:off x="12225021" y="9255753"/>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defTabSz="1371600" eaLnBrk="0" hangingPunct="0">
              <a:buClr>
                <a:srgbClr val="000000"/>
              </a:buClr>
            </a:pPr>
            <a:r>
              <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rPr>
              <a:t>結束</a:t>
            </a:r>
          </a:p>
        </p:txBody>
      </p:sp>
      <p:cxnSp>
        <p:nvCxnSpPr>
          <p:cNvPr id="166" name="肘形接點 68">
            <a:extLst>
              <a:ext uri="{FF2B5EF4-FFF2-40B4-BE49-F238E27FC236}">
                <a16:creationId xmlns:a16="http://schemas.microsoft.com/office/drawing/2014/main" id="{687579D6-58A9-FB92-A800-B068D391BDFE}"/>
              </a:ext>
            </a:extLst>
          </p:cNvPr>
          <p:cNvCxnSpPr>
            <a:cxnSpLocks/>
            <a:endCxn id="143" idx="1"/>
          </p:cNvCxnSpPr>
          <p:nvPr/>
        </p:nvCxnSpPr>
        <p:spPr>
          <a:xfrm>
            <a:off x="8496300" y="7086600"/>
            <a:ext cx="3728721" cy="2560375"/>
          </a:xfrm>
          <a:prstGeom prst="bentConnector3">
            <a:avLst>
              <a:gd name="adj1" fmla="val 273"/>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4631778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4" name="Google Shape;204;p4"/>
          <p:cNvSpPr/>
          <p:nvPr/>
        </p:nvSpPr>
        <p:spPr>
          <a:xfrm>
            <a:off x="197114" y="1595423"/>
            <a:ext cx="17911883" cy="8399412"/>
          </a:xfrm>
          <a:prstGeom prst="rect">
            <a:avLst/>
          </a:prstGeom>
          <a:noFill/>
          <a:ln w="19050" cap="flat" cmpd="sng">
            <a:solidFill>
              <a:schemeClr val="dk1"/>
            </a:solidFill>
            <a:prstDash val="solid"/>
            <a:round/>
            <a:headEnd type="none" w="sm" len="sm"/>
            <a:tailEnd type="none" w="sm" len="sm"/>
          </a:ln>
        </p:spPr>
        <p:txBody>
          <a:bodyPr spcFirstLastPara="1" wrap="square" lIns="137138" tIns="68550" rIns="137138" bIns="68550" anchor="t" anchorCtr="0">
            <a:noAutofit/>
          </a:bodyPr>
          <a:lstStyle/>
          <a:p>
            <a:pPr defTabSz="1371600">
              <a:buClr>
                <a:srgbClr val="000000"/>
              </a:buClr>
            </a:pPr>
            <a:r>
              <a:rPr lang="en-US" sz="2400" kern="0" dirty="0" err="1">
                <a:solidFill>
                  <a:srgbClr val="000000"/>
                </a:solidFill>
                <a:latin typeface="Arial"/>
                <a:ea typeface="Arial"/>
                <a:cs typeface="Arial"/>
                <a:sym typeface="Arial"/>
              </a:rPr>
              <a:t>流程補充說明</a:t>
            </a:r>
            <a:r>
              <a:rPr lang="en-US" sz="2400" kern="0" dirty="0">
                <a:solidFill>
                  <a:srgbClr val="000000"/>
                </a:solidFill>
                <a:latin typeface="Arial"/>
                <a:ea typeface="Arial"/>
                <a:cs typeface="Arial"/>
                <a:sym typeface="Arial"/>
              </a:rPr>
              <a:t>: </a:t>
            </a:r>
            <a:endParaRPr sz="2100" kern="0" dirty="0">
              <a:solidFill>
                <a:srgbClr val="000000"/>
              </a:solidFill>
              <a:latin typeface="Arial"/>
              <a:cs typeface="Arial"/>
              <a:sym typeface="Arial"/>
            </a:endParaRPr>
          </a:p>
          <a:p>
            <a:pPr defTabSz="1371600">
              <a:buClr>
                <a:srgbClr val="000000"/>
              </a:buClr>
            </a:pPr>
            <a:endParaRPr kern="0" dirty="0">
              <a:solidFill>
                <a:srgbClr val="000000"/>
              </a:solidFill>
              <a:latin typeface="Arial"/>
              <a:ea typeface="Arial"/>
              <a:cs typeface="Arial"/>
              <a:sym typeface="Arial"/>
            </a:endParaRPr>
          </a:p>
        </p:txBody>
      </p:sp>
      <p:sp>
        <p:nvSpPr>
          <p:cNvPr id="4" name="TextBox 53">
            <a:extLst>
              <a:ext uri="{FF2B5EF4-FFF2-40B4-BE49-F238E27FC236}">
                <a16:creationId xmlns:a16="http://schemas.microsoft.com/office/drawing/2014/main" id="{DF940026-96D7-3867-6425-C228DF3D29BF}"/>
              </a:ext>
            </a:extLst>
          </p:cNvPr>
          <p:cNvSpPr txBox="1"/>
          <p:nvPr/>
        </p:nvSpPr>
        <p:spPr>
          <a:xfrm>
            <a:off x="369737" y="2243536"/>
            <a:ext cx="17378475" cy="4524315"/>
          </a:xfrm>
          <a:prstGeom prst="rect">
            <a:avLst/>
          </a:prstGeom>
          <a:noFill/>
        </p:spPr>
        <p:txBody>
          <a:bodyPr wrap="square" rtlCol="0">
            <a:spAutoFit/>
          </a:bodyPr>
          <a:lstStyle/>
          <a:p>
            <a:pPr defTabSz="1371600">
              <a:buClr>
                <a:srgbClr val="000000"/>
              </a:buClr>
            </a:pP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1</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、加入</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DS B2B</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平台作交期</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價格回覆的廠商，採購單資料會透過</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INTERFACE</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傳入平台。有使用</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DS B2B</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平台的廠商採購單，將不會列印採購單</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或產生檔案</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 </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a:t>
            </a:r>
          </a:p>
          <a:p>
            <a:pPr defTabSz="1371600">
              <a:buClr>
                <a:srgbClr val="000000"/>
              </a:buClr>
            </a:pP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defTabSz="1371600">
              <a:buClr>
                <a:srgbClr val="000000"/>
              </a:buClr>
            </a:pP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2</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、預買</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鞋材</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 </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由業務</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生管發起長交期物料預買請購</a:t>
            </a: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defTabSz="1371600">
              <a:buClr>
                <a:srgbClr val="000000"/>
              </a:buClr>
            </a:pP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      底化工材</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 </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廠區業務、廠區開發</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化工依據確認配方入</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BOM</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展開至訂購管制表，並檢附展開雙數及計畫生產雙數分析。</a:t>
            </a: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defTabSz="1371600">
              <a:buClr>
                <a:srgbClr val="000000"/>
              </a:buClr>
            </a:pP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3</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、預補</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 :</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業務生管按同型體</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配色建立預補請購</a:t>
            </a: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defTabSz="1371600">
              <a:buClr>
                <a:srgbClr val="000000"/>
              </a:buClr>
            </a:pP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               </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倉庫按實際需求補預托外加工請購</a:t>
            </a: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defTabSz="1371600">
              <a:buClr>
                <a:srgbClr val="000000"/>
              </a:buClr>
            </a:pP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      </a:t>
            </a:r>
          </a:p>
          <a:p>
            <a:pPr defTabSz="1371600">
              <a:buClr>
                <a:srgbClr val="000000"/>
              </a:buClr>
            </a:pP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4</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、供應商在平台上回覆的交期需要回傳</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SAP</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更新數量</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 </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交期確認。</a:t>
            </a: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defTabSz="1371600">
              <a:buClr>
                <a:srgbClr val="000000"/>
              </a:buClr>
            </a:pP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defTabSz="1371600">
              <a:buClr>
                <a:srgbClr val="000000"/>
              </a:buClr>
            </a:pP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5</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、各品牌各類採購單格式需逐一討論格式內容。</a:t>
            </a: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defTabSz="1371600">
              <a:buClr>
                <a:srgbClr val="000000"/>
              </a:buClr>
            </a:pP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defTabSz="1371600">
              <a:buClr>
                <a:srgbClr val="000000"/>
              </a:buClr>
            </a:pP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6</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、未來</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Nike </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的採購單給</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 OIA </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廠商時，需要把採購單先傳入</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DEECO</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，再利用現有介面傳入</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OIA</a:t>
            </a:r>
          </a:p>
          <a:p>
            <a:pPr defTabSz="1371600">
              <a:buClr>
                <a:srgbClr val="000000"/>
              </a:buClr>
            </a:pPr>
            <a:endParaRPr lang="en-US" altLang="zh-TW" kern="0" dirty="0">
              <a:solidFill>
                <a:srgbClr val="000000"/>
              </a:solidFill>
              <a:latin typeface="Arial"/>
              <a:cs typeface="Arial"/>
              <a:sym typeface="Arial"/>
            </a:endParaRPr>
          </a:p>
          <a:p>
            <a:pPr defTabSz="1371600">
              <a:buClr>
                <a:srgbClr val="000000"/>
              </a:buClr>
            </a:pPr>
            <a:endParaRPr lang="en-US" altLang="zh-TW" kern="0" dirty="0">
              <a:solidFill>
                <a:srgbClr val="000000"/>
              </a:solidFill>
              <a:latin typeface="Arial"/>
              <a:cs typeface="Arial"/>
              <a:sym typeface="Arial"/>
            </a:endParaRPr>
          </a:p>
          <a:p>
            <a:pPr defTabSz="1371600">
              <a:buClr>
                <a:srgbClr val="000000"/>
              </a:buClr>
            </a:pPr>
            <a:endParaRPr lang="en-US" altLang="zh-TW" kern="0" dirty="0">
              <a:solidFill>
                <a:srgbClr val="000000"/>
              </a:solidFill>
              <a:latin typeface="Arial"/>
              <a:cs typeface="Arial"/>
              <a:sym typeface="Arial"/>
            </a:endParaRPr>
          </a:p>
          <a:p>
            <a:pPr defTabSz="1371600">
              <a:buClr>
                <a:srgbClr val="000000"/>
              </a:buClr>
            </a:pPr>
            <a:endParaRPr lang="zh-TW" altLang="en-US" kern="0" dirty="0">
              <a:solidFill>
                <a:srgbClr val="000000"/>
              </a:solidFill>
              <a:latin typeface="Arial"/>
              <a:cs typeface="Arial"/>
              <a:sym typeface="Arial"/>
            </a:endParaRPr>
          </a:p>
        </p:txBody>
      </p:sp>
      <p:sp>
        <p:nvSpPr>
          <p:cNvPr id="5" name="Google Shape;198;p3"/>
          <p:cNvSpPr txBox="1">
            <a:spLocks/>
          </p:cNvSpPr>
          <p:nvPr/>
        </p:nvSpPr>
        <p:spPr>
          <a:xfrm>
            <a:off x="15588398" y="535076"/>
            <a:ext cx="1282282" cy="173584"/>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9pPr>
          </a:lstStyle>
          <a:p>
            <a:pPr algn="l" defTabSz="1371600"/>
            <a:r>
              <a:rPr lang="en-US" sz="1500" kern="0" dirty="0">
                <a:solidFill>
                  <a:srgbClr val="000000"/>
                </a:solidFill>
              </a:rPr>
              <a:t>2</a:t>
            </a:r>
          </a:p>
        </p:txBody>
      </p:sp>
      <p:sp>
        <p:nvSpPr>
          <p:cNvPr id="6" name="文字方塊 5">
            <a:extLst>
              <a:ext uri="{FF2B5EF4-FFF2-40B4-BE49-F238E27FC236}">
                <a16:creationId xmlns:a16="http://schemas.microsoft.com/office/drawing/2014/main" id="{83E6F622-2FBE-CC67-50FE-4ABD7D8B9696}"/>
              </a:ext>
            </a:extLst>
          </p:cNvPr>
          <p:cNvSpPr txBox="1"/>
          <p:nvPr/>
        </p:nvSpPr>
        <p:spPr>
          <a:xfrm>
            <a:off x="2431326" y="820877"/>
            <a:ext cx="7218711" cy="415498"/>
          </a:xfrm>
          <a:prstGeom prst="rect">
            <a:avLst/>
          </a:prstGeom>
          <a:noFill/>
        </p:spPr>
        <p:txBody>
          <a:bodyPr wrap="square">
            <a:spAutoFit/>
          </a:bodyPr>
          <a:lstStyle/>
          <a:p>
            <a:pPr defTabSz="1371600" eaLnBrk="0" hangingPunct="0">
              <a:buClr>
                <a:srgbClr val="000000"/>
              </a:buClr>
            </a:pPr>
            <a:r>
              <a:rPr lang="en-US" altLang="zh-TW" sz="2100" b="1" kern="0" dirty="0">
                <a:solidFill>
                  <a:srgbClr val="000000"/>
                </a:solidFill>
                <a:latin typeface="微軟正黑體" panose="020B0604030504040204" pitchFamily="34" charset="-120"/>
                <a:ea typeface="微軟正黑體" panose="020B0604030504040204" pitchFamily="34" charset="-120"/>
                <a:cs typeface="Arial"/>
                <a:sym typeface="Arial"/>
              </a:rPr>
              <a:t>MM-PU-0030</a:t>
            </a:r>
            <a:r>
              <a:rPr lang="zh-TW" altLang="en-US" sz="2100" b="1" kern="0" dirty="0">
                <a:solidFill>
                  <a:srgbClr val="000000"/>
                </a:solidFill>
                <a:latin typeface="微軟正黑體" panose="020B0604030504040204" pitchFamily="34" charset="-120"/>
                <a:ea typeface="微軟正黑體" panose="020B0604030504040204" pitchFamily="34" charset="-120"/>
                <a:cs typeface="Arial"/>
                <a:sym typeface="Arial"/>
              </a:rPr>
              <a:t>庫存類採購流程</a:t>
            </a:r>
          </a:p>
        </p:txBody>
      </p:sp>
    </p:spTree>
    <p:extLst>
      <p:ext uri="{BB962C8B-B14F-4D97-AF65-F5344CB8AC3E}">
        <p14:creationId xmlns:p14="http://schemas.microsoft.com/office/powerpoint/2010/main" val="3085757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2">
          <a:extLst>
            <a:ext uri="{FF2B5EF4-FFF2-40B4-BE49-F238E27FC236}">
              <a16:creationId xmlns:a16="http://schemas.microsoft.com/office/drawing/2014/main" id="{2EC544C6-97CB-07C1-8F88-5F6D48BB198E}"/>
            </a:ext>
          </a:extLst>
        </p:cNvPr>
        <p:cNvGrpSpPr/>
        <p:nvPr/>
      </p:nvGrpSpPr>
      <p:grpSpPr>
        <a:xfrm>
          <a:off x="0" y="0"/>
          <a:ext cx="0" cy="0"/>
          <a:chOff x="0" y="0"/>
          <a:chExt cx="0" cy="0"/>
        </a:xfrm>
      </p:grpSpPr>
      <p:sp>
        <p:nvSpPr>
          <p:cNvPr id="204" name="Google Shape;204;p4">
            <a:extLst>
              <a:ext uri="{FF2B5EF4-FFF2-40B4-BE49-F238E27FC236}">
                <a16:creationId xmlns:a16="http://schemas.microsoft.com/office/drawing/2014/main" id="{C633067C-65EC-D8C3-6DC4-F3D5AF2A0863}"/>
              </a:ext>
            </a:extLst>
          </p:cNvPr>
          <p:cNvSpPr/>
          <p:nvPr/>
        </p:nvSpPr>
        <p:spPr>
          <a:xfrm>
            <a:off x="197114" y="1595423"/>
            <a:ext cx="17911883" cy="8399412"/>
          </a:xfrm>
          <a:prstGeom prst="rect">
            <a:avLst/>
          </a:prstGeom>
          <a:noFill/>
          <a:ln w="19050" cap="flat" cmpd="sng">
            <a:solidFill>
              <a:schemeClr val="dk1"/>
            </a:solidFill>
            <a:prstDash val="solid"/>
            <a:round/>
            <a:headEnd type="none" w="sm" len="sm"/>
            <a:tailEnd type="none" w="sm" len="sm"/>
          </a:ln>
        </p:spPr>
        <p:txBody>
          <a:bodyPr spcFirstLastPara="1" wrap="square" lIns="137138" tIns="68550" rIns="137138" bIns="68550" anchor="t" anchorCtr="0">
            <a:noAutofit/>
          </a:bodyPr>
          <a:lstStyle/>
          <a:p>
            <a:pPr defTabSz="1371600">
              <a:buClr>
                <a:srgbClr val="000000"/>
              </a:buClr>
            </a:pPr>
            <a:r>
              <a:rPr lang="en-US" sz="2400" kern="0" dirty="0">
                <a:solidFill>
                  <a:srgbClr val="000000"/>
                </a:solidFill>
                <a:latin typeface="Arial"/>
                <a:ea typeface="Arial"/>
                <a:cs typeface="Arial"/>
                <a:sym typeface="Arial"/>
              </a:rPr>
              <a:t> </a:t>
            </a:r>
            <a:endParaRPr sz="2100" kern="0" dirty="0">
              <a:solidFill>
                <a:srgbClr val="000000"/>
              </a:solidFill>
              <a:latin typeface="Arial"/>
              <a:cs typeface="Arial"/>
              <a:sym typeface="Arial"/>
            </a:endParaRPr>
          </a:p>
          <a:p>
            <a:pPr defTabSz="1371600">
              <a:buClr>
                <a:srgbClr val="000000"/>
              </a:buClr>
            </a:pPr>
            <a:endParaRPr kern="0" dirty="0">
              <a:solidFill>
                <a:srgbClr val="000000"/>
              </a:solidFill>
              <a:latin typeface="Arial"/>
              <a:ea typeface="Arial"/>
              <a:cs typeface="Arial"/>
              <a:sym typeface="Arial"/>
            </a:endParaRPr>
          </a:p>
        </p:txBody>
      </p:sp>
      <p:sp>
        <p:nvSpPr>
          <p:cNvPr id="5" name="Google Shape;198;p3">
            <a:extLst>
              <a:ext uri="{FF2B5EF4-FFF2-40B4-BE49-F238E27FC236}">
                <a16:creationId xmlns:a16="http://schemas.microsoft.com/office/drawing/2014/main" id="{B0E09180-C80C-36D3-AC80-A85DCEC6E4AF}"/>
              </a:ext>
            </a:extLst>
          </p:cNvPr>
          <p:cNvSpPr txBox="1">
            <a:spLocks/>
          </p:cNvSpPr>
          <p:nvPr/>
        </p:nvSpPr>
        <p:spPr>
          <a:xfrm>
            <a:off x="15588398" y="535076"/>
            <a:ext cx="1282282" cy="173584"/>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9pPr>
          </a:lstStyle>
          <a:p>
            <a:pPr algn="l" defTabSz="1371600"/>
            <a:r>
              <a:rPr lang="en-US" sz="1500" kern="0" dirty="0">
                <a:solidFill>
                  <a:srgbClr val="000000"/>
                </a:solidFill>
              </a:rPr>
              <a:t>3</a:t>
            </a:r>
          </a:p>
        </p:txBody>
      </p:sp>
      <p:sp>
        <p:nvSpPr>
          <p:cNvPr id="6" name="文字方塊 5">
            <a:extLst>
              <a:ext uri="{FF2B5EF4-FFF2-40B4-BE49-F238E27FC236}">
                <a16:creationId xmlns:a16="http://schemas.microsoft.com/office/drawing/2014/main" id="{5E265891-3B19-0539-9B03-75A61BEF1E20}"/>
              </a:ext>
            </a:extLst>
          </p:cNvPr>
          <p:cNvSpPr txBox="1"/>
          <p:nvPr/>
        </p:nvSpPr>
        <p:spPr>
          <a:xfrm>
            <a:off x="2431326" y="820877"/>
            <a:ext cx="7218711" cy="415498"/>
          </a:xfrm>
          <a:prstGeom prst="rect">
            <a:avLst/>
          </a:prstGeom>
          <a:noFill/>
        </p:spPr>
        <p:txBody>
          <a:bodyPr wrap="square">
            <a:spAutoFit/>
          </a:bodyPr>
          <a:lstStyle/>
          <a:p>
            <a:pPr defTabSz="1371600" eaLnBrk="0" hangingPunct="0">
              <a:buClr>
                <a:srgbClr val="000000"/>
              </a:buClr>
            </a:pPr>
            <a:r>
              <a:rPr lang="en-US" altLang="zh-TW" sz="2100" b="1" kern="0" dirty="0">
                <a:solidFill>
                  <a:srgbClr val="000000"/>
                </a:solidFill>
                <a:latin typeface="微軟正黑體" panose="020B0604030504040204" pitchFamily="34" charset="-120"/>
                <a:ea typeface="微軟正黑體" panose="020B0604030504040204" pitchFamily="34" charset="-120"/>
                <a:cs typeface="Arial"/>
                <a:sym typeface="Arial"/>
              </a:rPr>
              <a:t>MM-PU-0030</a:t>
            </a:r>
            <a:r>
              <a:rPr lang="zh-TW" altLang="en-US" sz="2100" b="1" kern="0" dirty="0">
                <a:solidFill>
                  <a:srgbClr val="000000"/>
                </a:solidFill>
                <a:latin typeface="微軟正黑體" panose="020B0604030504040204" pitchFamily="34" charset="-120"/>
                <a:ea typeface="微軟正黑體" panose="020B0604030504040204" pitchFamily="34" charset="-120"/>
                <a:cs typeface="Arial"/>
                <a:sym typeface="Arial"/>
              </a:rPr>
              <a:t>庫存類採購流程</a:t>
            </a:r>
          </a:p>
        </p:txBody>
      </p:sp>
      <p:graphicFrame>
        <p:nvGraphicFramePr>
          <p:cNvPr id="2" name="表格 1">
            <a:extLst>
              <a:ext uri="{FF2B5EF4-FFF2-40B4-BE49-F238E27FC236}">
                <a16:creationId xmlns:a16="http://schemas.microsoft.com/office/drawing/2014/main" id="{689F961B-FB5D-EBBA-F875-85F41B70849B}"/>
              </a:ext>
            </a:extLst>
          </p:cNvPr>
          <p:cNvGraphicFramePr>
            <a:graphicFrameLocks noGrp="1"/>
          </p:cNvGraphicFramePr>
          <p:nvPr>
            <p:extLst>
              <p:ext uri="{D42A27DB-BD31-4B8C-83A1-F6EECF244321}">
                <p14:modId xmlns:p14="http://schemas.microsoft.com/office/powerpoint/2010/main" val="1350969474"/>
              </p:ext>
            </p:extLst>
          </p:nvPr>
        </p:nvGraphicFramePr>
        <p:xfrm>
          <a:off x="1565910" y="2411730"/>
          <a:ext cx="14950440" cy="5770032"/>
        </p:xfrm>
        <a:graphic>
          <a:graphicData uri="http://schemas.openxmlformats.org/drawingml/2006/table">
            <a:tbl>
              <a:tblPr/>
              <a:tblGrid>
                <a:gridCol w="1204640">
                  <a:extLst>
                    <a:ext uri="{9D8B030D-6E8A-4147-A177-3AD203B41FA5}">
                      <a16:colId xmlns:a16="http://schemas.microsoft.com/office/drawing/2014/main" val="399061059"/>
                    </a:ext>
                  </a:extLst>
                </a:gridCol>
                <a:gridCol w="2538348">
                  <a:extLst>
                    <a:ext uri="{9D8B030D-6E8A-4147-A177-3AD203B41FA5}">
                      <a16:colId xmlns:a16="http://schemas.microsoft.com/office/drawing/2014/main" val="1600104557"/>
                    </a:ext>
                  </a:extLst>
                </a:gridCol>
                <a:gridCol w="1720914">
                  <a:extLst>
                    <a:ext uri="{9D8B030D-6E8A-4147-A177-3AD203B41FA5}">
                      <a16:colId xmlns:a16="http://schemas.microsoft.com/office/drawing/2014/main" val="557855018"/>
                    </a:ext>
                  </a:extLst>
                </a:gridCol>
                <a:gridCol w="1634869">
                  <a:extLst>
                    <a:ext uri="{9D8B030D-6E8A-4147-A177-3AD203B41FA5}">
                      <a16:colId xmlns:a16="http://schemas.microsoft.com/office/drawing/2014/main" val="1522395892"/>
                    </a:ext>
                  </a:extLst>
                </a:gridCol>
                <a:gridCol w="3764499">
                  <a:extLst>
                    <a:ext uri="{9D8B030D-6E8A-4147-A177-3AD203B41FA5}">
                      <a16:colId xmlns:a16="http://schemas.microsoft.com/office/drawing/2014/main" val="1394952361"/>
                    </a:ext>
                  </a:extLst>
                </a:gridCol>
                <a:gridCol w="1742426">
                  <a:extLst>
                    <a:ext uri="{9D8B030D-6E8A-4147-A177-3AD203B41FA5}">
                      <a16:colId xmlns:a16="http://schemas.microsoft.com/office/drawing/2014/main" val="347328860"/>
                    </a:ext>
                  </a:extLst>
                </a:gridCol>
                <a:gridCol w="1118593">
                  <a:extLst>
                    <a:ext uri="{9D8B030D-6E8A-4147-A177-3AD203B41FA5}">
                      <a16:colId xmlns:a16="http://schemas.microsoft.com/office/drawing/2014/main" val="1992984873"/>
                    </a:ext>
                  </a:extLst>
                </a:gridCol>
                <a:gridCol w="1226151">
                  <a:extLst>
                    <a:ext uri="{9D8B030D-6E8A-4147-A177-3AD203B41FA5}">
                      <a16:colId xmlns:a16="http://schemas.microsoft.com/office/drawing/2014/main" val="2462477422"/>
                    </a:ext>
                  </a:extLst>
                </a:gridCol>
              </a:tblGrid>
              <a:tr h="651681">
                <a:tc>
                  <a:txBody>
                    <a:bodyPr/>
                    <a:lstStyle/>
                    <a:p>
                      <a:pPr algn="ctr" rtl="0" fontAlgn="ctr"/>
                      <a:r>
                        <a:rPr lang="zh-TW" altLang="en-US" sz="1800" b="1" i="0" u="none" strike="noStrike" dirty="0">
                          <a:solidFill>
                            <a:srgbClr val="FFFFFF"/>
                          </a:solidFill>
                          <a:effectLst/>
                          <a:latin typeface="微軟正黑體" panose="020B0604030504040204" pitchFamily="34" charset="-120"/>
                          <a:ea typeface="微軟正黑體" panose="020B0604030504040204" pitchFamily="34" charset="-120"/>
                        </a:rPr>
                        <a:t>請購單類型</a:t>
                      </a:r>
                      <a:endParaRPr lang="en-US" altLang="zh-TW" sz="1800" b="1" i="0" u="none" strike="noStrike" dirty="0">
                        <a:solidFill>
                          <a:srgbClr val="FFFFFF"/>
                        </a:solidFill>
                        <a:effectLst/>
                        <a:latin typeface="微軟正黑體" panose="020B0604030504040204" pitchFamily="34" charset="-120"/>
                        <a:ea typeface="微軟正黑體" panose="020B0604030504040204" pitchFamily="34" charset="-120"/>
                      </a:endParaRPr>
                    </a:p>
                    <a:p>
                      <a:pPr algn="ctr" rtl="0" fontAlgn="ctr"/>
                      <a:r>
                        <a:rPr lang="en-US" altLang="zh-TW" sz="1800" b="1" i="0" u="none" strike="noStrike" dirty="0">
                          <a:solidFill>
                            <a:srgbClr val="FFFFFF"/>
                          </a:solidFill>
                          <a:effectLst/>
                          <a:latin typeface="微軟正黑體" panose="020B0604030504040204" pitchFamily="34" charset="-120"/>
                          <a:ea typeface="微軟正黑體" panose="020B0604030504040204" pitchFamily="34" charset="-120"/>
                        </a:rPr>
                        <a:t>(4</a:t>
                      </a:r>
                      <a:r>
                        <a:rPr lang="zh-TW" altLang="en-US" sz="1800" b="1" i="0" u="none" strike="noStrike" dirty="0">
                          <a:solidFill>
                            <a:srgbClr val="FFFFFF"/>
                          </a:solidFill>
                          <a:effectLst/>
                          <a:latin typeface="微軟正黑體" panose="020B0604030504040204" pitchFamily="34" charset="-120"/>
                          <a:ea typeface="微軟正黑體" panose="020B0604030504040204" pitchFamily="34" charset="-120"/>
                        </a:rPr>
                        <a:t>碼</a:t>
                      </a:r>
                      <a:r>
                        <a:rPr lang="en-US" altLang="zh-TW" sz="1800" b="1" i="0" u="none" strike="noStrike" dirty="0">
                          <a:solidFill>
                            <a:srgbClr val="FFFFFF"/>
                          </a:solidFill>
                          <a:effectLst/>
                          <a:latin typeface="微軟正黑體" panose="020B0604030504040204" pitchFamily="34" charset="-120"/>
                          <a:ea typeface="微軟正黑體" panose="020B0604030504040204" pitchFamily="34" charset="-120"/>
                        </a:rPr>
                        <a:t>)</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1800" b="1" i="0" u="none" strike="noStrike">
                          <a:solidFill>
                            <a:srgbClr val="FFFFFF"/>
                          </a:solidFill>
                          <a:effectLst/>
                          <a:latin typeface="微軟正黑體" panose="020B0604030504040204" pitchFamily="34" charset="-120"/>
                          <a:ea typeface="微軟正黑體" panose="020B0604030504040204" pitchFamily="34" charset="-120"/>
                        </a:rPr>
                        <a:t>請購單類型說明</a:t>
                      </a:r>
                      <a:br>
                        <a:rPr lang="zh-TW" altLang="en-US" sz="1800" b="1" i="0" u="none" strike="noStrike">
                          <a:solidFill>
                            <a:srgbClr val="FFFFFF"/>
                          </a:solidFill>
                          <a:effectLst/>
                          <a:latin typeface="微軟正黑體" panose="020B0604030504040204" pitchFamily="34" charset="-120"/>
                          <a:ea typeface="微軟正黑體" panose="020B0604030504040204" pitchFamily="34" charset="-120"/>
                        </a:rPr>
                      </a:br>
                      <a:r>
                        <a:rPr lang="en-US" altLang="zh-TW" sz="1800" b="1" i="0" u="none" strike="noStrike">
                          <a:solidFill>
                            <a:srgbClr val="FFFFFF"/>
                          </a:solidFill>
                          <a:effectLst/>
                          <a:latin typeface="微軟正黑體" panose="020B0604030504040204" pitchFamily="34" charset="-120"/>
                          <a:ea typeface="微軟正黑體" panose="020B0604030504040204" pitchFamily="34" charset="-120"/>
                        </a:rPr>
                        <a:t>(20</a:t>
                      </a:r>
                      <a:r>
                        <a:rPr lang="zh-TW" altLang="en-US" sz="1800" b="1" i="0" u="none" strike="noStrike">
                          <a:solidFill>
                            <a:srgbClr val="FFFFFF"/>
                          </a:solidFill>
                          <a:effectLst/>
                          <a:latin typeface="微軟正黑體" panose="020B0604030504040204" pitchFamily="34" charset="-120"/>
                          <a:ea typeface="微軟正黑體" panose="020B0604030504040204" pitchFamily="34" charset="-120"/>
                        </a:rPr>
                        <a:t>碼</a:t>
                      </a:r>
                      <a:r>
                        <a:rPr lang="en-US" altLang="zh-TW" sz="1800" b="1" i="0" u="none" strike="noStrike">
                          <a:solidFill>
                            <a:srgbClr val="FFFFFF"/>
                          </a:solidFill>
                          <a:effectLst/>
                          <a:latin typeface="微軟正黑體" panose="020B0604030504040204" pitchFamily="34" charset="-120"/>
                          <a:ea typeface="微軟正黑體" panose="020B0604030504040204" pitchFamily="34" charset="-120"/>
                        </a:rPr>
                        <a:t>)</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en-US" sz="1800" b="1" i="0" u="none" strike="noStrike">
                          <a:solidFill>
                            <a:srgbClr val="FFFFFF"/>
                          </a:solidFill>
                          <a:effectLst/>
                          <a:latin typeface="微軟正黑體" panose="020B0604030504040204" pitchFamily="34" charset="-120"/>
                          <a:ea typeface="微軟正黑體" panose="020B0604030504040204" pitchFamily="34" charset="-120"/>
                        </a:rPr>
                        <a:t>From</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en-US" sz="1800" b="1" i="0" u="none" strike="noStrike">
                          <a:solidFill>
                            <a:srgbClr val="FFFFFF"/>
                          </a:solidFill>
                          <a:effectLst/>
                          <a:latin typeface="微軟正黑體" panose="020B0604030504040204" pitchFamily="34" charset="-120"/>
                          <a:ea typeface="微軟正黑體" panose="020B0604030504040204" pitchFamily="34" charset="-120"/>
                        </a:rPr>
                        <a:t>To</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1800" b="1" i="0" u="none" strike="noStrike">
                          <a:solidFill>
                            <a:srgbClr val="FFFFFF"/>
                          </a:solidFill>
                          <a:effectLst/>
                          <a:latin typeface="微軟正黑體" panose="020B0604030504040204" pitchFamily="34" charset="-120"/>
                          <a:ea typeface="微軟正黑體" panose="020B0604030504040204" pitchFamily="34" charset="-120"/>
                        </a:rPr>
                        <a:t>資料來源</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1800" b="1" i="0" u="none" strike="noStrike">
                          <a:solidFill>
                            <a:srgbClr val="FFFFFF"/>
                          </a:solidFill>
                          <a:effectLst/>
                          <a:latin typeface="微軟正黑體" panose="020B0604030504040204" pitchFamily="34" charset="-120"/>
                          <a:ea typeface="微軟正黑體" panose="020B0604030504040204" pitchFamily="34" charset="-120"/>
                        </a:rPr>
                        <a:t>簽核</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1800" b="1" i="0" u="none" strike="noStrike">
                          <a:solidFill>
                            <a:srgbClr val="FFFFFF"/>
                          </a:solidFill>
                          <a:effectLst/>
                          <a:latin typeface="微軟正黑體" panose="020B0604030504040204" pitchFamily="34" charset="-120"/>
                          <a:ea typeface="微軟正黑體" panose="020B0604030504040204" pitchFamily="34" charset="-120"/>
                        </a:rPr>
                        <a:t>科目指派</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1800" b="1" i="0" u="none" strike="noStrike">
                          <a:solidFill>
                            <a:srgbClr val="FFFFFF"/>
                          </a:solidFill>
                          <a:effectLst/>
                          <a:latin typeface="微軟正黑體" panose="020B0604030504040204" pitchFamily="34" charset="-120"/>
                          <a:ea typeface="微軟正黑體" panose="020B0604030504040204" pitchFamily="34" charset="-120"/>
                        </a:rPr>
                        <a:t>庫存管理</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extLst>
                  <a:ext uri="{0D108BD9-81ED-4DB2-BD59-A6C34878D82A}">
                    <a16:rowId xmlns:a16="http://schemas.microsoft.com/office/drawing/2014/main" val="2225878389"/>
                  </a:ext>
                </a:extLst>
              </a:tr>
              <a:tr h="339394">
                <a:tc>
                  <a:txBody>
                    <a:bodyPr/>
                    <a:lstStyle/>
                    <a:p>
                      <a:pPr algn="l"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DB</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開發請購單</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0100000000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0999999999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Y</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63810198"/>
                  </a:ext>
                </a:extLst>
              </a:tr>
              <a:tr h="339394">
                <a:tc>
                  <a:txBody>
                    <a:bodyPr/>
                    <a:lstStyle/>
                    <a:p>
                      <a:pPr algn="l"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NB</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請購單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1000000000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1999999999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MRP</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No</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Y</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95787810"/>
                  </a:ext>
                </a:extLst>
              </a:tr>
              <a:tr h="339394">
                <a:tc>
                  <a:txBody>
                    <a:bodyPr/>
                    <a:lstStyle/>
                    <a:p>
                      <a:pPr algn="l"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EB</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量產補單請購單</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2000000000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2099999999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生管</a:t>
                      </a:r>
                      <a:r>
                        <a:rPr lang="en-US" altLang="zh-TW" sz="18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倉庫 手動建立</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BPM</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Y</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72391673"/>
                  </a:ext>
                </a:extLst>
              </a:tr>
              <a:tr h="326382">
                <a:tc>
                  <a:txBody>
                    <a:bodyPr/>
                    <a:lstStyle/>
                    <a:p>
                      <a:pPr algn="l"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SC</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製程委外請購單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2100000000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2199999999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工單建立核發</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Y(BPM)</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N</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13223432"/>
                  </a:ext>
                </a:extLst>
              </a:tr>
              <a:tr h="339394">
                <a:tc>
                  <a:txBody>
                    <a:bodyPr/>
                    <a:lstStyle/>
                    <a:p>
                      <a:pPr algn="l"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FA</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預買請購單</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dirty="0">
                          <a:solidFill>
                            <a:srgbClr val="000000"/>
                          </a:solidFill>
                          <a:effectLst/>
                          <a:latin typeface="微軟正黑體" panose="020B0604030504040204" pitchFamily="34" charset="-120"/>
                          <a:ea typeface="微軟正黑體" panose="020B0604030504040204" pitchFamily="34" charset="-120"/>
                        </a:rPr>
                        <a:t>3000000000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dirty="0">
                          <a:solidFill>
                            <a:srgbClr val="000000"/>
                          </a:solidFill>
                          <a:effectLst/>
                          <a:latin typeface="微軟正黑體" panose="020B0604030504040204" pitchFamily="34" charset="-120"/>
                          <a:ea typeface="微軟正黑體" panose="020B0604030504040204" pitchFamily="34" charset="-120"/>
                        </a:rPr>
                        <a:t>3099999999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BPM</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Y</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09894769"/>
                  </a:ext>
                </a:extLst>
              </a:tr>
              <a:tr h="339394">
                <a:tc>
                  <a:txBody>
                    <a:bodyPr/>
                    <a:lstStyle/>
                    <a:p>
                      <a:pPr algn="l"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FB</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預補請購單</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3100000000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3199999999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生管</a:t>
                      </a: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a:t>
                      </a:r>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廠務助理手動建立</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BPM</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Y</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4431294"/>
                  </a:ext>
                </a:extLst>
              </a:tr>
              <a:tr h="326382">
                <a:tc>
                  <a:txBody>
                    <a:bodyPr/>
                    <a:lstStyle/>
                    <a:p>
                      <a:pPr algn="l"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T1</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楦頭請購單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4000000000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4099999999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BPM</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A</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Y</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49205051"/>
                  </a:ext>
                </a:extLst>
              </a:tr>
              <a:tr h="326382">
                <a:tc>
                  <a:txBody>
                    <a:bodyPr/>
                    <a:lstStyle/>
                    <a:p>
                      <a:pPr algn="l"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T2</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製工具請購單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4100000000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4199999999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BPM</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K</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TW" altLang="en-US" sz="1800" b="0" i="0" u="none" strike="noStrike" dirty="0">
                          <a:solidFill>
                            <a:schemeClr val="tx1"/>
                          </a:solidFill>
                          <a:effectLst/>
                          <a:latin typeface="微軟正黑體" panose="020B0604030504040204" pitchFamily="34" charset="-120"/>
                          <a:ea typeface="微軟正黑體" panose="020B0604030504040204" pitchFamily="34" charset="-120"/>
                        </a:rPr>
                        <a:t>有料號</a:t>
                      </a:r>
                      <a:r>
                        <a:rPr lang="en-US" sz="1800" b="0" i="0" u="none" strike="noStrike" dirty="0">
                          <a:solidFill>
                            <a:schemeClr val="tx1"/>
                          </a:solidFill>
                          <a:effectLst/>
                          <a:latin typeface="微軟正黑體" panose="020B0604030504040204" pitchFamily="34" charset="-120"/>
                          <a:ea typeface="微軟正黑體" panose="020B0604030504040204" pitchFamily="34" charset="-120"/>
                        </a:rPr>
                        <a:t>Y</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22089142"/>
                  </a:ext>
                </a:extLst>
              </a:tr>
              <a:tr h="326382">
                <a:tc>
                  <a:txBody>
                    <a:bodyPr/>
                    <a:lstStyle/>
                    <a:p>
                      <a:pPr algn="l"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T3</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模具請購單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4200000000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4299999999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BPM</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A-&gt;K</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Y</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43313993"/>
                  </a:ext>
                </a:extLst>
              </a:tr>
              <a:tr h="326382">
                <a:tc>
                  <a:txBody>
                    <a:bodyPr/>
                    <a:lstStyle/>
                    <a:p>
                      <a:pPr algn="l"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M1</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機器設備請購單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4300000000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4399999999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BPM</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A</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N</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5227585"/>
                  </a:ext>
                </a:extLst>
              </a:tr>
              <a:tr h="339394">
                <a:tc>
                  <a:txBody>
                    <a:bodyPr/>
                    <a:lstStyle/>
                    <a:p>
                      <a:pPr algn="l"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A1</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固定資產請購單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4400000000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4499999999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BPM</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A</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有料號</a:t>
                      </a:r>
                      <a:r>
                        <a:rPr lang="en-US" sz="1800" b="0" i="0" u="none" strike="noStrike">
                          <a:solidFill>
                            <a:srgbClr val="000000"/>
                          </a:solidFill>
                          <a:effectLst/>
                          <a:latin typeface="微軟正黑體" panose="020B0604030504040204" pitchFamily="34" charset="-120"/>
                          <a:ea typeface="微軟正黑體" panose="020B0604030504040204" pitchFamily="34" charset="-120"/>
                        </a:rPr>
                        <a:t>Y</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83504821"/>
                  </a:ext>
                </a:extLst>
              </a:tr>
              <a:tr h="567104">
                <a:tc>
                  <a:txBody>
                    <a:bodyPr/>
                    <a:lstStyle/>
                    <a:p>
                      <a:pPr algn="l"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X1</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庶務庫存品請購單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5000000000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5099999999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BPM</a:t>
                      </a:r>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已簽，</a:t>
                      </a:r>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SAP</a:t>
                      </a:r>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免簽</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空白</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Y</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06121414"/>
                  </a:ext>
                </a:extLst>
              </a:tr>
              <a:tr h="425057">
                <a:tc>
                  <a:txBody>
                    <a:bodyPr/>
                    <a:lstStyle/>
                    <a:p>
                      <a:pPr algn="l"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X2</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費用類請購單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5100000000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5199999999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BPM</a:t>
                      </a:r>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已簽，</a:t>
                      </a:r>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SAP</a:t>
                      </a:r>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免簽</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K</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N</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29139042"/>
                  </a:ext>
                </a:extLst>
              </a:tr>
              <a:tr h="326382">
                <a:tc>
                  <a:txBody>
                    <a:bodyPr/>
                    <a:lstStyle/>
                    <a:p>
                      <a:pPr algn="l"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TR</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調料請購單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2200000000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dirty="0">
                          <a:solidFill>
                            <a:srgbClr val="000000"/>
                          </a:solidFill>
                          <a:effectLst/>
                          <a:latin typeface="微軟正黑體" panose="020B0604030504040204" pitchFamily="34" charset="-120"/>
                          <a:ea typeface="微軟正黑體" panose="020B0604030504040204" pitchFamily="34" charset="-120"/>
                        </a:rPr>
                        <a:t>2299999999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生管</a:t>
                      </a:r>
                      <a:r>
                        <a:rPr lang="en-US" altLang="zh-TW" sz="18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倉庫 手動建立</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No</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Y</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6492600"/>
                  </a:ext>
                </a:extLst>
              </a:tr>
            </a:tbl>
          </a:graphicData>
        </a:graphic>
      </p:graphicFrame>
    </p:spTree>
    <p:extLst>
      <p:ext uri="{BB962C8B-B14F-4D97-AF65-F5344CB8AC3E}">
        <p14:creationId xmlns:p14="http://schemas.microsoft.com/office/powerpoint/2010/main" val="9448185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2">
          <a:extLst>
            <a:ext uri="{FF2B5EF4-FFF2-40B4-BE49-F238E27FC236}">
              <a16:creationId xmlns:a16="http://schemas.microsoft.com/office/drawing/2014/main" id="{7C1625B5-16EC-7B8E-C0F2-76BEFAC2CB97}"/>
            </a:ext>
          </a:extLst>
        </p:cNvPr>
        <p:cNvGrpSpPr/>
        <p:nvPr/>
      </p:nvGrpSpPr>
      <p:grpSpPr>
        <a:xfrm>
          <a:off x="0" y="0"/>
          <a:ext cx="0" cy="0"/>
          <a:chOff x="0" y="0"/>
          <a:chExt cx="0" cy="0"/>
        </a:xfrm>
      </p:grpSpPr>
      <p:sp>
        <p:nvSpPr>
          <p:cNvPr id="204" name="Google Shape;204;p4">
            <a:extLst>
              <a:ext uri="{FF2B5EF4-FFF2-40B4-BE49-F238E27FC236}">
                <a16:creationId xmlns:a16="http://schemas.microsoft.com/office/drawing/2014/main" id="{F788C2DB-1D42-ABDF-E91E-B74659427087}"/>
              </a:ext>
            </a:extLst>
          </p:cNvPr>
          <p:cNvSpPr/>
          <p:nvPr/>
        </p:nvSpPr>
        <p:spPr>
          <a:xfrm>
            <a:off x="197114" y="1595423"/>
            <a:ext cx="17911883" cy="8399412"/>
          </a:xfrm>
          <a:prstGeom prst="rect">
            <a:avLst/>
          </a:prstGeom>
          <a:noFill/>
          <a:ln w="19050" cap="flat" cmpd="sng">
            <a:solidFill>
              <a:schemeClr val="dk1"/>
            </a:solidFill>
            <a:prstDash val="solid"/>
            <a:round/>
            <a:headEnd type="none" w="sm" len="sm"/>
            <a:tailEnd type="none" w="sm" len="sm"/>
          </a:ln>
        </p:spPr>
        <p:txBody>
          <a:bodyPr spcFirstLastPara="1" wrap="square" lIns="137138" tIns="68550" rIns="137138" bIns="68550" anchor="t" anchorCtr="0">
            <a:noAutofit/>
          </a:bodyPr>
          <a:lstStyle/>
          <a:p>
            <a:pPr defTabSz="1371600">
              <a:buClr>
                <a:srgbClr val="000000"/>
              </a:buClr>
            </a:pPr>
            <a:r>
              <a:rPr lang="en-US" sz="2400" kern="0" dirty="0">
                <a:solidFill>
                  <a:srgbClr val="000000"/>
                </a:solidFill>
                <a:latin typeface="Arial"/>
                <a:ea typeface="Arial"/>
                <a:cs typeface="Arial"/>
                <a:sym typeface="Arial"/>
              </a:rPr>
              <a:t> </a:t>
            </a:r>
            <a:endParaRPr sz="2100" kern="0" dirty="0">
              <a:solidFill>
                <a:srgbClr val="000000"/>
              </a:solidFill>
              <a:latin typeface="Arial"/>
              <a:cs typeface="Arial"/>
              <a:sym typeface="Arial"/>
            </a:endParaRPr>
          </a:p>
          <a:p>
            <a:pPr defTabSz="1371600">
              <a:buClr>
                <a:srgbClr val="000000"/>
              </a:buClr>
            </a:pPr>
            <a:endParaRPr kern="0" dirty="0">
              <a:solidFill>
                <a:srgbClr val="000000"/>
              </a:solidFill>
              <a:latin typeface="Arial"/>
              <a:ea typeface="Arial"/>
              <a:cs typeface="Arial"/>
              <a:sym typeface="Arial"/>
            </a:endParaRPr>
          </a:p>
        </p:txBody>
      </p:sp>
      <p:sp>
        <p:nvSpPr>
          <p:cNvPr id="5" name="Google Shape;198;p3">
            <a:extLst>
              <a:ext uri="{FF2B5EF4-FFF2-40B4-BE49-F238E27FC236}">
                <a16:creationId xmlns:a16="http://schemas.microsoft.com/office/drawing/2014/main" id="{594FB4A8-F9DC-9B88-DCF4-5B714A71857C}"/>
              </a:ext>
            </a:extLst>
          </p:cNvPr>
          <p:cNvSpPr txBox="1">
            <a:spLocks/>
          </p:cNvSpPr>
          <p:nvPr/>
        </p:nvSpPr>
        <p:spPr>
          <a:xfrm>
            <a:off x="15588398" y="535076"/>
            <a:ext cx="1282282" cy="173584"/>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9pPr>
          </a:lstStyle>
          <a:p>
            <a:pPr algn="l" defTabSz="1371600"/>
            <a:r>
              <a:rPr lang="en-US" sz="1500" kern="0" dirty="0">
                <a:solidFill>
                  <a:srgbClr val="000000"/>
                </a:solidFill>
              </a:rPr>
              <a:t>4</a:t>
            </a:r>
          </a:p>
        </p:txBody>
      </p:sp>
      <p:sp>
        <p:nvSpPr>
          <p:cNvPr id="6" name="文字方塊 5">
            <a:extLst>
              <a:ext uri="{FF2B5EF4-FFF2-40B4-BE49-F238E27FC236}">
                <a16:creationId xmlns:a16="http://schemas.microsoft.com/office/drawing/2014/main" id="{B737C195-AD85-5933-DBAC-AFCAA001F73A}"/>
              </a:ext>
            </a:extLst>
          </p:cNvPr>
          <p:cNvSpPr txBox="1"/>
          <p:nvPr/>
        </p:nvSpPr>
        <p:spPr>
          <a:xfrm>
            <a:off x="2431326" y="820877"/>
            <a:ext cx="7218711" cy="415498"/>
          </a:xfrm>
          <a:prstGeom prst="rect">
            <a:avLst/>
          </a:prstGeom>
          <a:noFill/>
        </p:spPr>
        <p:txBody>
          <a:bodyPr wrap="square">
            <a:spAutoFit/>
          </a:bodyPr>
          <a:lstStyle/>
          <a:p>
            <a:pPr defTabSz="1371600" eaLnBrk="0" hangingPunct="0">
              <a:buClr>
                <a:srgbClr val="000000"/>
              </a:buClr>
            </a:pPr>
            <a:r>
              <a:rPr lang="en-US" altLang="zh-TW" sz="2100" b="1" kern="0" dirty="0">
                <a:solidFill>
                  <a:srgbClr val="000000"/>
                </a:solidFill>
                <a:latin typeface="微軟正黑體" panose="020B0604030504040204" pitchFamily="34" charset="-120"/>
                <a:ea typeface="微軟正黑體" panose="020B0604030504040204" pitchFamily="34" charset="-120"/>
                <a:cs typeface="Arial"/>
                <a:sym typeface="Arial"/>
              </a:rPr>
              <a:t>MM-PU-0030</a:t>
            </a:r>
            <a:r>
              <a:rPr lang="zh-TW" altLang="en-US" sz="2100" b="1" kern="0" dirty="0">
                <a:solidFill>
                  <a:srgbClr val="000000"/>
                </a:solidFill>
                <a:latin typeface="微軟正黑體" panose="020B0604030504040204" pitchFamily="34" charset="-120"/>
                <a:ea typeface="微軟正黑體" panose="020B0604030504040204" pitchFamily="34" charset="-120"/>
                <a:cs typeface="Arial"/>
                <a:sym typeface="Arial"/>
              </a:rPr>
              <a:t>庫存類採購流程</a:t>
            </a:r>
          </a:p>
        </p:txBody>
      </p:sp>
      <p:graphicFrame>
        <p:nvGraphicFramePr>
          <p:cNvPr id="3" name="表格 2">
            <a:extLst>
              <a:ext uri="{FF2B5EF4-FFF2-40B4-BE49-F238E27FC236}">
                <a16:creationId xmlns:a16="http://schemas.microsoft.com/office/drawing/2014/main" id="{787787F2-7C88-FED7-A55A-6BC2DAB9F34A}"/>
              </a:ext>
            </a:extLst>
          </p:cNvPr>
          <p:cNvGraphicFramePr>
            <a:graphicFrameLocks noGrp="1"/>
          </p:cNvGraphicFramePr>
          <p:nvPr>
            <p:extLst>
              <p:ext uri="{D42A27DB-BD31-4B8C-83A1-F6EECF244321}">
                <p14:modId xmlns:p14="http://schemas.microsoft.com/office/powerpoint/2010/main" val="1335963184"/>
              </p:ext>
            </p:extLst>
          </p:nvPr>
        </p:nvGraphicFramePr>
        <p:xfrm>
          <a:off x="1703070" y="1906892"/>
          <a:ext cx="14436091" cy="7180341"/>
        </p:xfrm>
        <a:graphic>
          <a:graphicData uri="http://schemas.openxmlformats.org/drawingml/2006/table">
            <a:tbl>
              <a:tblPr/>
              <a:tblGrid>
                <a:gridCol w="2093973">
                  <a:extLst>
                    <a:ext uri="{9D8B030D-6E8A-4147-A177-3AD203B41FA5}">
                      <a16:colId xmlns:a16="http://schemas.microsoft.com/office/drawing/2014/main" val="729383419"/>
                    </a:ext>
                  </a:extLst>
                </a:gridCol>
                <a:gridCol w="2956197">
                  <a:extLst>
                    <a:ext uri="{9D8B030D-6E8A-4147-A177-3AD203B41FA5}">
                      <a16:colId xmlns:a16="http://schemas.microsoft.com/office/drawing/2014/main" val="1371184551"/>
                    </a:ext>
                  </a:extLst>
                </a:gridCol>
                <a:gridCol w="640509">
                  <a:extLst>
                    <a:ext uri="{9D8B030D-6E8A-4147-A177-3AD203B41FA5}">
                      <a16:colId xmlns:a16="http://schemas.microsoft.com/office/drawing/2014/main" val="3664930694"/>
                    </a:ext>
                  </a:extLst>
                </a:gridCol>
                <a:gridCol w="960763">
                  <a:extLst>
                    <a:ext uri="{9D8B030D-6E8A-4147-A177-3AD203B41FA5}">
                      <a16:colId xmlns:a16="http://schemas.microsoft.com/office/drawing/2014/main" val="1922819320"/>
                    </a:ext>
                  </a:extLst>
                </a:gridCol>
                <a:gridCol w="960763">
                  <a:extLst>
                    <a:ext uri="{9D8B030D-6E8A-4147-A177-3AD203B41FA5}">
                      <a16:colId xmlns:a16="http://schemas.microsoft.com/office/drawing/2014/main" val="1937013076"/>
                    </a:ext>
                  </a:extLst>
                </a:gridCol>
                <a:gridCol w="2143242">
                  <a:extLst>
                    <a:ext uri="{9D8B030D-6E8A-4147-A177-3AD203B41FA5}">
                      <a16:colId xmlns:a16="http://schemas.microsoft.com/office/drawing/2014/main" val="126740988"/>
                    </a:ext>
                  </a:extLst>
                </a:gridCol>
                <a:gridCol w="2093973">
                  <a:extLst>
                    <a:ext uri="{9D8B030D-6E8A-4147-A177-3AD203B41FA5}">
                      <a16:colId xmlns:a16="http://schemas.microsoft.com/office/drawing/2014/main" val="244192527"/>
                    </a:ext>
                  </a:extLst>
                </a:gridCol>
                <a:gridCol w="1404192">
                  <a:extLst>
                    <a:ext uri="{9D8B030D-6E8A-4147-A177-3AD203B41FA5}">
                      <a16:colId xmlns:a16="http://schemas.microsoft.com/office/drawing/2014/main" val="4187206233"/>
                    </a:ext>
                  </a:extLst>
                </a:gridCol>
                <a:gridCol w="1182479">
                  <a:extLst>
                    <a:ext uri="{9D8B030D-6E8A-4147-A177-3AD203B41FA5}">
                      <a16:colId xmlns:a16="http://schemas.microsoft.com/office/drawing/2014/main" val="2770877279"/>
                    </a:ext>
                  </a:extLst>
                </a:gridCol>
              </a:tblGrid>
              <a:tr h="688108">
                <a:tc>
                  <a:txBody>
                    <a:bodyPr/>
                    <a:lstStyle/>
                    <a:p>
                      <a:pPr algn="ctr" rtl="0" fontAlgn="ctr"/>
                      <a:r>
                        <a:rPr lang="zh-TW" altLang="en-US" sz="1800" b="1" i="0" u="none" strike="noStrike" dirty="0">
                          <a:solidFill>
                            <a:srgbClr val="FFFFFF"/>
                          </a:solidFill>
                          <a:effectLst/>
                          <a:latin typeface="微軟正黑體" panose="020B0604030504040204" pitchFamily="34" charset="-120"/>
                          <a:ea typeface="微軟正黑體" panose="020B0604030504040204" pitchFamily="34" charset="-120"/>
                        </a:rPr>
                        <a:t>採購單類型</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1800" b="1" i="0" u="none" strike="noStrike">
                          <a:solidFill>
                            <a:srgbClr val="FFFFFF"/>
                          </a:solidFill>
                          <a:effectLst/>
                          <a:latin typeface="微軟正黑體" panose="020B0604030504040204" pitchFamily="34" charset="-120"/>
                          <a:ea typeface="微軟正黑體" panose="020B0604030504040204" pitchFamily="34" charset="-120"/>
                        </a:rPr>
                        <a:t>採購單類型說明</a:t>
                      </a:r>
                      <a:br>
                        <a:rPr lang="zh-TW" altLang="en-US" sz="1800" b="1" i="0" u="none" strike="noStrike">
                          <a:solidFill>
                            <a:srgbClr val="FFFFFF"/>
                          </a:solidFill>
                          <a:effectLst/>
                          <a:latin typeface="微軟正黑體" panose="020B0604030504040204" pitchFamily="34" charset="-120"/>
                          <a:ea typeface="微軟正黑體" panose="020B0604030504040204" pitchFamily="34" charset="-120"/>
                        </a:rPr>
                      </a:br>
                      <a:r>
                        <a:rPr lang="en-US" altLang="zh-TW" sz="1800" b="1" i="0" u="none" strike="noStrike">
                          <a:solidFill>
                            <a:srgbClr val="FFFFFF"/>
                          </a:solidFill>
                          <a:effectLst/>
                          <a:latin typeface="微軟正黑體" panose="020B0604030504040204" pitchFamily="34" charset="-120"/>
                          <a:ea typeface="微軟正黑體" panose="020B0604030504040204" pitchFamily="34" charset="-120"/>
                        </a:rPr>
                        <a:t>(20</a:t>
                      </a:r>
                      <a:r>
                        <a:rPr lang="zh-TW" altLang="en-US" sz="1800" b="1" i="0" u="none" strike="noStrike">
                          <a:solidFill>
                            <a:srgbClr val="FFFFFF"/>
                          </a:solidFill>
                          <a:effectLst/>
                          <a:latin typeface="微軟正黑體" panose="020B0604030504040204" pitchFamily="34" charset="-120"/>
                          <a:ea typeface="微軟正黑體" panose="020B0604030504040204" pitchFamily="34" charset="-120"/>
                        </a:rPr>
                        <a:t>碼</a:t>
                      </a:r>
                      <a:r>
                        <a:rPr lang="en-US" altLang="zh-TW" sz="1800" b="1" i="0" u="none" strike="noStrike">
                          <a:solidFill>
                            <a:srgbClr val="FFFFFF"/>
                          </a:solidFill>
                          <a:effectLst/>
                          <a:latin typeface="微軟正黑體" panose="020B0604030504040204" pitchFamily="34" charset="-120"/>
                          <a:ea typeface="微軟正黑體" panose="020B0604030504040204" pitchFamily="34" charset="-120"/>
                        </a:rPr>
                        <a:t>)</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1800" b="1" i="0" u="none" strike="noStrike">
                          <a:solidFill>
                            <a:srgbClr val="FFFFFF"/>
                          </a:solidFill>
                          <a:effectLst/>
                          <a:latin typeface="微軟正黑體" panose="020B0604030504040204" pitchFamily="34" charset="-120"/>
                          <a:ea typeface="微軟正黑體" panose="020B0604030504040204" pitchFamily="34" charset="-120"/>
                        </a:rPr>
                        <a:t>　</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en-US" sz="1800" b="1" i="0" u="none" strike="noStrike">
                          <a:solidFill>
                            <a:srgbClr val="FFFFFF"/>
                          </a:solidFill>
                          <a:effectLst/>
                          <a:latin typeface="微軟正黑體" panose="020B0604030504040204" pitchFamily="34" charset="-120"/>
                          <a:ea typeface="微軟正黑體" panose="020B0604030504040204" pitchFamily="34" charset="-120"/>
                        </a:rPr>
                        <a:t>NoRgeInt</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1800" b="1" i="0" u="none" strike="noStrike">
                          <a:solidFill>
                            <a:srgbClr val="FFFFFF"/>
                          </a:solidFill>
                          <a:effectLst/>
                          <a:latin typeface="微軟正黑體" panose="020B0604030504040204" pitchFamily="34" charset="-120"/>
                          <a:ea typeface="微軟正黑體" panose="020B0604030504040204" pitchFamily="34" charset="-120"/>
                        </a:rPr>
                        <a:t>　</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en-US" sz="1800" b="1" i="0" u="none" strike="noStrike">
                          <a:solidFill>
                            <a:srgbClr val="FFFFFF"/>
                          </a:solidFill>
                          <a:effectLst/>
                          <a:latin typeface="微軟正黑體" panose="020B0604030504040204" pitchFamily="34" charset="-120"/>
                          <a:ea typeface="微軟正黑體" panose="020B0604030504040204" pitchFamily="34" charset="-120"/>
                        </a:rPr>
                        <a:t>From</a:t>
                      </a:r>
                      <a:br>
                        <a:rPr lang="en-US" sz="1800" b="1" i="0" u="none" strike="noStrike">
                          <a:solidFill>
                            <a:srgbClr val="FFFFFF"/>
                          </a:solidFill>
                          <a:effectLst/>
                          <a:latin typeface="微軟正黑體" panose="020B0604030504040204" pitchFamily="34" charset="-120"/>
                          <a:ea typeface="微軟正黑體" panose="020B0604030504040204" pitchFamily="34" charset="-120"/>
                        </a:rPr>
                      </a:br>
                      <a:endParaRPr lang="en-US" sz="1800" b="1" i="0" u="none" strike="noStrike">
                        <a:solidFill>
                          <a:srgbClr val="FFFFFF"/>
                        </a:solidFill>
                        <a:effectLst/>
                        <a:latin typeface="微軟正黑體" panose="020B0604030504040204" pitchFamily="34" charset="-120"/>
                        <a:ea typeface="微軟正黑體" panose="020B0604030504040204" pitchFamily="34" charset="-120"/>
                      </a:endParaRP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en-US" sz="1800" b="1" i="0" u="none" strike="noStrike">
                          <a:solidFill>
                            <a:srgbClr val="FFFFFF"/>
                          </a:solidFill>
                          <a:effectLst/>
                          <a:latin typeface="微軟正黑體" panose="020B0604030504040204" pitchFamily="34" charset="-120"/>
                          <a:ea typeface="微軟正黑體" panose="020B0604030504040204" pitchFamily="34" charset="-120"/>
                        </a:rPr>
                        <a:t>To</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1800" b="1" i="0" u="none" strike="noStrike">
                          <a:solidFill>
                            <a:srgbClr val="FFFFFF"/>
                          </a:solidFill>
                          <a:effectLst/>
                          <a:latin typeface="微軟正黑體" panose="020B0604030504040204" pitchFamily="34" charset="-120"/>
                          <a:ea typeface="微軟正黑體" panose="020B0604030504040204" pitchFamily="34" charset="-120"/>
                        </a:rPr>
                        <a:t>請購單類型</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1800" b="1" i="0" u="none" strike="noStrike">
                          <a:solidFill>
                            <a:srgbClr val="FFFFFF"/>
                          </a:solidFill>
                          <a:effectLst/>
                          <a:latin typeface="微軟正黑體" panose="020B0604030504040204" pitchFamily="34" charset="-120"/>
                          <a:ea typeface="微軟正黑體" panose="020B0604030504040204" pitchFamily="34" charset="-120"/>
                        </a:rPr>
                        <a:t>是否簽核</a:t>
                      </a:r>
                      <a:r>
                        <a:rPr lang="en-US" altLang="zh-TW" sz="1800" b="1" i="0" u="none" strike="noStrike">
                          <a:solidFill>
                            <a:srgbClr val="FFFFFF"/>
                          </a:solidFill>
                          <a:effectLst/>
                          <a:latin typeface="微軟正黑體" panose="020B0604030504040204" pitchFamily="34" charset="-120"/>
                          <a:ea typeface="微軟正黑體" panose="020B0604030504040204" pitchFamily="34" charset="-120"/>
                        </a:rPr>
                        <a:t>?</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extLst>
                  <a:ext uri="{0D108BD9-81ED-4DB2-BD59-A6C34878D82A}">
                    <a16:rowId xmlns:a16="http://schemas.microsoft.com/office/drawing/2014/main" val="2813841900"/>
                  </a:ext>
                </a:extLst>
              </a:tr>
              <a:tr h="229623">
                <a:tc>
                  <a:txBody>
                    <a:bodyPr/>
                    <a:lstStyle/>
                    <a:p>
                      <a:pPr algn="l" fontAlgn="b"/>
                      <a:r>
                        <a:rPr lang="en-US" sz="1800" b="0" i="0" u="none" strike="noStrike" dirty="0">
                          <a:solidFill>
                            <a:schemeClr val="tx1"/>
                          </a:solidFill>
                          <a:effectLst/>
                          <a:latin typeface="微軟正黑體" panose="020B0604030504040204" pitchFamily="34" charset="-120"/>
                          <a:ea typeface="微軟正黑體" panose="020B0604030504040204" pitchFamily="34" charset="-120"/>
                        </a:rPr>
                        <a:t>PDUR</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chemeClr val="tx1"/>
                          </a:solidFill>
                          <a:effectLst/>
                          <a:latin typeface="微軟正黑體" panose="020B0604030504040204" pitchFamily="34" charset="-120"/>
                          <a:ea typeface="微軟正黑體" panose="020B0604030504040204" pitchFamily="34" charset="-120"/>
                        </a:rPr>
                        <a:t>開發面材採購單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01</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0100000000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0199999999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DB</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N</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39361304"/>
                  </a:ext>
                </a:extLst>
              </a:tr>
              <a:tr h="229623">
                <a:tc>
                  <a:txBody>
                    <a:bodyPr/>
                    <a:lstStyle/>
                    <a:p>
                      <a:pPr algn="l" fontAlgn="b"/>
                      <a:r>
                        <a:rPr lang="en-US" sz="1800" b="0" i="0" u="none" strike="noStrike">
                          <a:solidFill>
                            <a:schemeClr val="tx1"/>
                          </a:solidFill>
                          <a:effectLst/>
                          <a:latin typeface="微軟正黑體" panose="020B0604030504040204" pitchFamily="34" charset="-120"/>
                          <a:ea typeface="微軟正黑體" panose="020B0604030504040204" pitchFamily="34" charset="-120"/>
                        </a:rPr>
                        <a:t>PDSR</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開發底原料採購單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02</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0200000000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0299999999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DB</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N</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31059953"/>
                  </a:ext>
                </a:extLst>
              </a:tr>
              <a:tr h="229623">
                <a:tc>
                  <a:txBody>
                    <a:bodyPr/>
                    <a:lstStyle/>
                    <a:p>
                      <a:pPr algn="l" fontAlgn="b"/>
                      <a:r>
                        <a:rPr lang="en-US" sz="1800" b="0" i="0" u="none" strike="noStrike">
                          <a:solidFill>
                            <a:schemeClr val="tx1"/>
                          </a:solidFill>
                          <a:effectLst/>
                          <a:latin typeface="微軟正黑體" panose="020B0604030504040204" pitchFamily="34" charset="-120"/>
                          <a:ea typeface="微軟正黑體" panose="020B0604030504040204" pitchFamily="34" charset="-120"/>
                        </a:rPr>
                        <a:t>PDSS</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chemeClr val="tx1"/>
                          </a:solidFill>
                          <a:effectLst/>
                          <a:latin typeface="微軟正黑體" panose="020B0604030504040204" pitchFamily="34" charset="-120"/>
                          <a:ea typeface="微軟正黑體" panose="020B0604030504040204" pitchFamily="34" charset="-120"/>
                        </a:rPr>
                        <a:t>開發底台採購單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03</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0300000000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0399999999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DB</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N</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42188619"/>
                  </a:ext>
                </a:extLst>
              </a:tr>
              <a:tr h="229623">
                <a:tc>
                  <a:txBody>
                    <a:bodyPr/>
                    <a:lstStyle/>
                    <a:p>
                      <a:pPr algn="l" fontAlgn="b"/>
                      <a:r>
                        <a:rPr lang="en-US" sz="1800" b="0" i="0" u="none" strike="noStrike" dirty="0">
                          <a:solidFill>
                            <a:schemeClr val="tx1"/>
                          </a:solidFill>
                          <a:effectLst/>
                          <a:latin typeface="微軟正黑體" panose="020B0604030504040204" pitchFamily="34" charset="-120"/>
                          <a:ea typeface="微軟正黑體" panose="020B0604030504040204" pitchFamily="34" charset="-120"/>
                        </a:rPr>
                        <a:t>POUR</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chemeClr val="tx1"/>
                          </a:solidFill>
                          <a:effectLst/>
                          <a:latin typeface="微軟正黑體" panose="020B0604030504040204" pitchFamily="34" charset="-120"/>
                          <a:ea typeface="微軟正黑體" panose="020B0604030504040204" pitchFamily="34" charset="-120"/>
                        </a:rPr>
                        <a:t>面材採購單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1000000000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1099999999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NB</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N</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07109624"/>
                  </a:ext>
                </a:extLst>
              </a:tr>
              <a:tr h="229623">
                <a:tc>
                  <a:txBody>
                    <a:bodyPr/>
                    <a:lstStyle/>
                    <a:p>
                      <a:pPr algn="l" fontAlgn="b"/>
                      <a:r>
                        <a:rPr lang="en-US" sz="1800" b="0" i="0" u="none" strike="noStrike">
                          <a:solidFill>
                            <a:schemeClr val="tx1"/>
                          </a:solidFill>
                          <a:effectLst/>
                          <a:latin typeface="微軟正黑體" panose="020B0604030504040204" pitchFamily="34" charset="-120"/>
                          <a:ea typeface="微軟正黑體" panose="020B0604030504040204" pitchFamily="34" charset="-120"/>
                        </a:rPr>
                        <a:t>PEUR</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chemeClr val="tx1"/>
                          </a:solidFill>
                          <a:effectLst/>
                          <a:latin typeface="微軟正黑體" panose="020B0604030504040204" pitchFamily="34" charset="-120"/>
                          <a:ea typeface="微軟正黑體" panose="020B0604030504040204" pitchFamily="34" charset="-120"/>
                        </a:rPr>
                        <a:t>面材補單採購單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TW" sz="1800" b="0" i="0" u="none" strike="noStrike" dirty="0">
                          <a:solidFill>
                            <a:schemeClr val="tx1"/>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17</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1700000000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1799999999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EB/FB</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N</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55577951"/>
                  </a:ext>
                </a:extLst>
              </a:tr>
              <a:tr h="229623">
                <a:tc>
                  <a:txBody>
                    <a:bodyPr/>
                    <a:lstStyle/>
                    <a:p>
                      <a:pPr algn="l" fontAlgn="b"/>
                      <a:r>
                        <a:rPr lang="en-US" sz="1800" b="0" i="0" u="none" strike="noStrike">
                          <a:solidFill>
                            <a:schemeClr val="tx1"/>
                          </a:solidFill>
                          <a:effectLst/>
                          <a:latin typeface="微軟正黑體" panose="020B0604030504040204" pitchFamily="34" charset="-120"/>
                          <a:ea typeface="微軟正黑體" panose="020B0604030504040204" pitchFamily="34" charset="-120"/>
                        </a:rPr>
                        <a:t>POSS</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chemeClr val="tx1"/>
                          </a:solidFill>
                          <a:effectLst/>
                          <a:latin typeface="微軟正黑體" panose="020B0604030504040204" pitchFamily="34" charset="-120"/>
                          <a:ea typeface="微軟正黑體" panose="020B0604030504040204" pitchFamily="34" charset="-120"/>
                        </a:rPr>
                        <a:t>底台採購單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18</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1800000000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1899999999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NB</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N</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96841068"/>
                  </a:ext>
                </a:extLst>
              </a:tr>
              <a:tr h="229623">
                <a:tc>
                  <a:txBody>
                    <a:bodyPr/>
                    <a:lstStyle/>
                    <a:p>
                      <a:pPr algn="l" fontAlgn="b"/>
                      <a:r>
                        <a:rPr lang="en-US" sz="1800" b="0" i="0" u="none" strike="noStrike">
                          <a:solidFill>
                            <a:schemeClr val="tx1"/>
                          </a:solidFill>
                          <a:effectLst/>
                          <a:latin typeface="微軟正黑體" panose="020B0604030504040204" pitchFamily="34" charset="-120"/>
                          <a:ea typeface="微軟正黑體" panose="020B0604030504040204" pitchFamily="34" charset="-120"/>
                        </a:rPr>
                        <a:t>PESS</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chemeClr val="tx1"/>
                          </a:solidFill>
                          <a:effectLst/>
                          <a:latin typeface="微軟正黑體" panose="020B0604030504040204" pitchFamily="34" charset="-120"/>
                          <a:ea typeface="微軟正黑體" panose="020B0604030504040204" pitchFamily="34" charset="-120"/>
                        </a:rPr>
                        <a:t>底台補單採購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TW" sz="1800" b="0" i="0" u="none" strike="noStrike" dirty="0">
                          <a:solidFill>
                            <a:schemeClr val="tx1"/>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19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1900000000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1999999999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EB/FB</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N</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83584338"/>
                  </a:ext>
                </a:extLst>
              </a:tr>
              <a:tr h="229623">
                <a:tc>
                  <a:txBody>
                    <a:bodyPr/>
                    <a:lstStyle/>
                    <a:p>
                      <a:pPr algn="l" fontAlgn="b"/>
                      <a:r>
                        <a:rPr lang="en-US" sz="1800" b="0" i="0" u="none" strike="noStrike">
                          <a:solidFill>
                            <a:schemeClr val="tx1"/>
                          </a:solidFill>
                          <a:effectLst/>
                          <a:latin typeface="微軟正黑體" panose="020B0604030504040204" pitchFamily="34" charset="-120"/>
                          <a:ea typeface="微軟正黑體" panose="020B0604030504040204" pitchFamily="34" charset="-120"/>
                        </a:rPr>
                        <a:t>POSR</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底原料</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30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3000000000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3099999999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NB</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Y(BPM)</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32500125"/>
                  </a:ext>
                </a:extLst>
              </a:tr>
              <a:tr h="229623">
                <a:tc>
                  <a:txBody>
                    <a:bodyPr/>
                    <a:lstStyle/>
                    <a:p>
                      <a:pPr algn="l"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chemeClr val="tx1"/>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93440662"/>
                  </a:ext>
                </a:extLst>
              </a:tr>
              <a:tr h="229623">
                <a:tc>
                  <a:txBody>
                    <a:bodyPr/>
                    <a:lstStyle/>
                    <a:p>
                      <a:pPr algn="l" fontAlgn="b"/>
                      <a:r>
                        <a:rPr lang="en-US" sz="1800" b="0" i="0" u="none" strike="noStrike" dirty="0">
                          <a:solidFill>
                            <a:schemeClr val="tx1"/>
                          </a:solidFill>
                          <a:effectLst/>
                          <a:latin typeface="微軟正黑體" panose="020B0604030504040204" pitchFamily="34" charset="-120"/>
                          <a:ea typeface="微軟正黑體" panose="020B0604030504040204" pitchFamily="34" charset="-120"/>
                        </a:rPr>
                        <a:t>POBR</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chemeClr val="tx1"/>
                          </a:solidFill>
                          <a:effectLst/>
                          <a:latin typeface="微軟正黑體" panose="020B0604030504040204" pitchFamily="34" charset="-120"/>
                          <a:ea typeface="微軟正黑體" panose="020B0604030504040204" pitchFamily="34" charset="-120"/>
                        </a:rPr>
                        <a:t>借料採購單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TW" sz="1800" b="0" i="0" u="none" strike="noStrike" dirty="0">
                          <a:solidFill>
                            <a:schemeClr val="tx1"/>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dirty="0">
                          <a:solidFill>
                            <a:schemeClr val="tx1"/>
                          </a:solidFill>
                          <a:effectLst/>
                          <a:latin typeface="微軟正黑體" panose="020B0604030504040204" pitchFamily="34" charset="-120"/>
                          <a:ea typeface="微軟正黑體" panose="020B0604030504040204" pitchFamily="34" charset="-120"/>
                        </a:rPr>
                        <a:t>38</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dirty="0">
                          <a:solidFill>
                            <a:schemeClr val="tx1"/>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dirty="0">
                          <a:solidFill>
                            <a:srgbClr val="000000"/>
                          </a:solidFill>
                          <a:effectLst/>
                          <a:latin typeface="微軟正黑體" panose="020B0604030504040204" pitchFamily="34" charset="-120"/>
                          <a:ea typeface="微軟正黑體" panose="020B0604030504040204" pitchFamily="34" charset="-120"/>
                        </a:rPr>
                        <a:t>3800000000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dirty="0">
                          <a:solidFill>
                            <a:srgbClr val="000000"/>
                          </a:solidFill>
                          <a:effectLst/>
                          <a:latin typeface="微軟正黑體" panose="020B0604030504040204" pitchFamily="34" charset="-120"/>
                          <a:ea typeface="微軟正黑體" panose="020B0604030504040204" pitchFamily="34" charset="-120"/>
                        </a:rPr>
                        <a:t>3899999999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NB</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N</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93905999"/>
                  </a:ext>
                </a:extLst>
              </a:tr>
              <a:tr h="229623">
                <a:tc>
                  <a:txBody>
                    <a:bodyPr/>
                    <a:lstStyle/>
                    <a:p>
                      <a:pPr algn="l" fontAlgn="b"/>
                      <a:r>
                        <a:rPr lang="en-US" sz="1800" b="0" i="0" u="none" strike="noStrike">
                          <a:solidFill>
                            <a:schemeClr val="tx1"/>
                          </a:solidFill>
                          <a:effectLst/>
                          <a:latin typeface="微軟正黑體" panose="020B0604030504040204" pitchFamily="34" charset="-120"/>
                          <a:ea typeface="微軟正黑體" panose="020B0604030504040204" pitchFamily="34" charset="-120"/>
                        </a:rPr>
                        <a:t>POTR</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chemeClr val="tx1"/>
                          </a:solidFill>
                          <a:effectLst/>
                          <a:latin typeface="微軟正黑體" panose="020B0604030504040204" pitchFamily="34" charset="-120"/>
                          <a:ea typeface="微軟正黑體" panose="020B0604030504040204" pitchFamily="34" charset="-120"/>
                        </a:rPr>
                        <a:t>調料採購單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39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dirty="0">
                          <a:solidFill>
                            <a:schemeClr val="tx1"/>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3900000000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3999999999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NB</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N</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35658341"/>
                  </a:ext>
                </a:extLst>
              </a:tr>
              <a:tr h="229623">
                <a:tc>
                  <a:txBody>
                    <a:bodyPr/>
                    <a:lstStyle/>
                    <a:p>
                      <a:pPr algn="l" fontAlgn="b"/>
                      <a:r>
                        <a:rPr lang="en-US" sz="1800" b="0" i="0" u="none" strike="noStrike">
                          <a:solidFill>
                            <a:schemeClr val="tx1"/>
                          </a:solidFill>
                          <a:effectLst/>
                          <a:latin typeface="微軟正黑體" panose="020B0604030504040204" pitchFamily="34" charset="-120"/>
                          <a:ea typeface="微軟正黑體" panose="020B0604030504040204" pitchFamily="34" charset="-120"/>
                        </a:rPr>
                        <a:t>PSUW</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chemeClr val="tx1"/>
                          </a:solidFill>
                          <a:effectLst/>
                          <a:latin typeface="微軟正黑體" panose="020B0604030504040204" pitchFamily="34" charset="-120"/>
                          <a:ea typeface="微軟正黑體" panose="020B0604030504040204" pitchFamily="34" charset="-120"/>
                        </a:rPr>
                        <a:t>面倉委外採購單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40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dirty="0">
                          <a:solidFill>
                            <a:srgbClr val="000000"/>
                          </a:solidFill>
                          <a:effectLst/>
                          <a:latin typeface="微軟正黑體" panose="020B0604030504040204" pitchFamily="34" charset="-120"/>
                          <a:ea typeface="微軟正黑體" panose="020B0604030504040204" pitchFamily="34" charset="-120"/>
                        </a:rPr>
                        <a:t>4000000000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4099999999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NB</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紙本</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98642853"/>
                  </a:ext>
                </a:extLst>
              </a:tr>
              <a:tr h="229623">
                <a:tc>
                  <a:txBody>
                    <a:bodyPr/>
                    <a:lstStyle/>
                    <a:p>
                      <a:pPr algn="l" fontAlgn="b"/>
                      <a:r>
                        <a:rPr lang="en-US" sz="1800" b="0" i="0" u="none" strike="noStrike" dirty="0">
                          <a:solidFill>
                            <a:schemeClr val="tx1"/>
                          </a:solidFill>
                          <a:effectLst/>
                          <a:latin typeface="微軟正黑體" panose="020B0604030504040204" pitchFamily="34" charset="-120"/>
                          <a:ea typeface="微軟正黑體" panose="020B0604030504040204" pitchFamily="34" charset="-120"/>
                        </a:rPr>
                        <a:t>PSWO</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製程外包採購單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42</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dirty="0">
                          <a:solidFill>
                            <a:srgbClr val="000000"/>
                          </a:solidFill>
                          <a:effectLst/>
                          <a:latin typeface="微軟正黑體" panose="020B0604030504040204" pitchFamily="34" charset="-120"/>
                          <a:ea typeface="微軟正黑體" panose="020B0604030504040204" pitchFamily="34" charset="-120"/>
                        </a:rPr>
                        <a:t>4200000000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4299999999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NB</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紙本</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27533982"/>
                  </a:ext>
                </a:extLst>
              </a:tr>
              <a:tr h="229623">
                <a:tc>
                  <a:txBody>
                    <a:bodyPr/>
                    <a:lstStyle/>
                    <a:p>
                      <a:pPr algn="l" fontAlgn="b"/>
                      <a:r>
                        <a:rPr lang="en-US" sz="1800" b="0" i="0" u="none" strike="noStrike">
                          <a:solidFill>
                            <a:schemeClr val="tx1"/>
                          </a:solidFill>
                          <a:effectLst/>
                          <a:latin typeface="微軟正黑體" panose="020B0604030504040204" pitchFamily="34" charset="-120"/>
                          <a:ea typeface="微軟正黑體" panose="020B0604030504040204" pitchFamily="34" charset="-120"/>
                        </a:rPr>
                        <a:t>PSSF</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成半品委外採購單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43</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dirty="0">
                          <a:solidFill>
                            <a:srgbClr val="000000"/>
                          </a:solidFill>
                          <a:effectLst/>
                          <a:latin typeface="微軟正黑體" panose="020B0604030504040204" pitchFamily="34" charset="-120"/>
                          <a:ea typeface="微軟正黑體" panose="020B0604030504040204" pitchFamily="34" charset="-120"/>
                        </a:rPr>
                        <a:t>4300000000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4399999999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NB</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Y</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62320674"/>
                  </a:ext>
                </a:extLst>
              </a:tr>
              <a:tr h="229623">
                <a:tc>
                  <a:txBody>
                    <a:bodyPr/>
                    <a:lstStyle/>
                    <a:p>
                      <a:pPr algn="l" fontAlgn="b"/>
                      <a:r>
                        <a:rPr lang="en-US" sz="1800" b="0" i="0" u="none" strike="noStrike">
                          <a:solidFill>
                            <a:schemeClr val="tx1"/>
                          </a:solidFill>
                          <a:effectLst/>
                          <a:latin typeface="微軟正黑體" panose="020B0604030504040204" pitchFamily="34" charset="-120"/>
                          <a:ea typeface="微軟正黑體" panose="020B0604030504040204" pitchFamily="34" charset="-120"/>
                        </a:rPr>
                        <a:t>POTL</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楦頭採購單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50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5000000000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dirty="0">
                          <a:solidFill>
                            <a:srgbClr val="000000"/>
                          </a:solidFill>
                          <a:effectLst/>
                          <a:latin typeface="微軟正黑體" panose="020B0604030504040204" pitchFamily="34" charset="-120"/>
                          <a:ea typeface="微軟正黑體" panose="020B0604030504040204" pitchFamily="34" charset="-120"/>
                        </a:rPr>
                        <a:t>5099999999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T1</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Y(BPM)</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31854740"/>
                  </a:ext>
                </a:extLst>
              </a:tr>
              <a:tr h="229623">
                <a:tc>
                  <a:txBody>
                    <a:bodyPr/>
                    <a:lstStyle/>
                    <a:p>
                      <a:pPr algn="l" fontAlgn="b"/>
                      <a:r>
                        <a:rPr lang="en-US" sz="1800" b="0" i="0" u="none" strike="noStrike">
                          <a:solidFill>
                            <a:schemeClr val="tx1"/>
                          </a:solidFill>
                          <a:effectLst/>
                          <a:latin typeface="微軟正黑體" panose="020B0604030504040204" pitchFamily="34" charset="-120"/>
                          <a:ea typeface="微軟正黑體" panose="020B0604030504040204" pitchFamily="34" charset="-120"/>
                        </a:rPr>
                        <a:t>POTJ</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chemeClr val="tx1"/>
                          </a:solidFill>
                          <a:effectLst/>
                          <a:latin typeface="微軟正黑體" panose="020B0604030504040204" pitchFamily="34" charset="-120"/>
                          <a:ea typeface="微軟正黑體" panose="020B0604030504040204" pitchFamily="34" charset="-120"/>
                        </a:rPr>
                        <a:t>製工具採購單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51</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5100000000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dirty="0">
                          <a:solidFill>
                            <a:srgbClr val="000000"/>
                          </a:solidFill>
                          <a:effectLst/>
                          <a:latin typeface="微軟正黑體" panose="020B0604030504040204" pitchFamily="34" charset="-120"/>
                          <a:ea typeface="微軟正黑體" panose="020B0604030504040204" pitchFamily="34" charset="-120"/>
                        </a:rPr>
                        <a:t>5199999999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T2</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Y(BPM)</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02802407"/>
                  </a:ext>
                </a:extLst>
              </a:tr>
              <a:tr h="229623">
                <a:tc>
                  <a:txBody>
                    <a:bodyPr/>
                    <a:lstStyle/>
                    <a:p>
                      <a:pPr algn="l" fontAlgn="b"/>
                      <a:r>
                        <a:rPr lang="en-US" sz="1800" b="0" i="0" u="none" strike="noStrike">
                          <a:solidFill>
                            <a:schemeClr val="tx1"/>
                          </a:solidFill>
                          <a:effectLst/>
                          <a:latin typeface="微軟正黑體" panose="020B0604030504040204" pitchFamily="34" charset="-120"/>
                          <a:ea typeface="微軟正黑體" panose="020B0604030504040204" pitchFamily="34" charset="-120"/>
                        </a:rPr>
                        <a:t>POTM</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模具採購單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52</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5200000000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dirty="0">
                          <a:solidFill>
                            <a:srgbClr val="000000"/>
                          </a:solidFill>
                          <a:effectLst/>
                          <a:latin typeface="微軟正黑體" panose="020B0604030504040204" pitchFamily="34" charset="-120"/>
                          <a:ea typeface="微軟正黑體" panose="020B0604030504040204" pitchFamily="34" charset="-120"/>
                        </a:rPr>
                        <a:t>5299999999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T3</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Y(BPM)</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06570796"/>
                  </a:ext>
                </a:extLst>
              </a:tr>
              <a:tr h="250984">
                <a:tc>
                  <a:txBody>
                    <a:bodyPr/>
                    <a:lstStyle/>
                    <a:p>
                      <a:pPr algn="l" fontAlgn="b"/>
                      <a:r>
                        <a:rPr lang="en-US" sz="1800" b="0" i="0" u="none" strike="noStrike">
                          <a:solidFill>
                            <a:schemeClr val="tx1"/>
                          </a:solidFill>
                          <a:effectLst/>
                          <a:latin typeface="微軟正黑體" panose="020B0604030504040204" pitchFamily="34" charset="-120"/>
                          <a:ea typeface="微軟正黑體" panose="020B0604030504040204" pitchFamily="34" charset="-120"/>
                        </a:rPr>
                        <a:t>POMA</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機器設備採購單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53</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dirty="0">
                          <a:solidFill>
                            <a:schemeClr val="tx1"/>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5300000000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5399999999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M1</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Y(BPM)</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61136229"/>
                  </a:ext>
                </a:extLst>
              </a:tr>
              <a:tr h="229623">
                <a:tc>
                  <a:txBody>
                    <a:bodyPr/>
                    <a:lstStyle/>
                    <a:p>
                      <a:pPr algn="l"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POFA</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固定資產採購單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55</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5500000000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dirty="0">
                          <a:solidFill>
                            <a:srgbClr val="000000"/>
                          </a:solidFill>
                          <a:effectLst/>
                          <a:latin typeface="微軟正黑體" panose="020B0604030504040204" pitchFamily="34" charset="-120"/>
                          <a:ea typeface="微軟正黑體" panose="020B0604030504040204" pitchFamily="34" charset="-120"/>
                        </a:rPr>
                        <a:t>5599999999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A1</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Y(BPM)</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27540061"/>
                  </a:ext>
                </a:extLst>
              </a:tr>
              <a:tr h="210950">
                <a:tc>
                  <a:txBody>
                    <a:bodyPr/>
                    <a:lstStyle/>
                    <a:p>
                      <a:pPr algn="l"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POX1</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庶務庫存品採購單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56</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5600000000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5699999999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X1</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Y(BPM)</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3372579"/>
                  </a:ext>
                </a:extLst>
              </a:tr>
              <a:tr h="210950">
                <a:tc>
                  <a:txBody>
                    <a:bodyPr/>
                    <a:lstStyle/>
                    <a:p>
                      <a:pPr algn="l"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POX2</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費用類採購單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57</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5700000000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5799999999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X2</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Y(BPM)</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33634435"/>
                  </a:ext>
                </a:extLst>
              </a:tr>
              <a:tr h="229623">
                <a:tc>
                  <a:txBody>
                    <a:bodyPr/>
                    <a:lstStyle/>
                    <a:p>
                      <a:pPr algn="l"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POX3</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生質燃料採購單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58</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5800000000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5899999999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Y(BPM)</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42625290"/>
                  </a:ext>
                </a:extLst>
              </a:tr>
              <a:tr h="229623">
                <a:tc>
                  <a:txBody>
                    <a:bodyPr/>
                    <a:lstStyle/>
                    <a:p>
                      <a:pPr algn="l"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PCTC</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公司間交易</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85</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8500000000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8599999999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04788046"/>
                  </a:ext>
                </a:extLst>
              </a:tr>
            </a:tbl>
          </a:graphicData>
        </a:graphic>
      </p:graphicFrame>
    </p:spTree>
    <p:extLst>
      <p:ext uri="{BB962C8B-B14F-4D97-AF65-F5344CB8AC3E}">
        <p14:creationId xmlns:p14="http://schemas.microsoft.com/office/powerpoint/2010/main" val="42766827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30180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 name="流程圖: 結束點 8">
            <a:extLst>
              <a:ext uri="{FF2B5EF4-FFF2-40B4-BE49-F238E27FC236}">
                <a16:creationId xmlns:a16="http://schemas.microsoft.com/office/drawing/2014/main" id="{6FA1EB1C-0C56-468D-DD3A-1AFF772D5B49}"/>
              </a:ext>
            </a:extLst>
          </p:cNvPr>
          <p:cNvSpPr/>
          <p:nvPr/>
        </p:nvSpPr>
        <p:spPr bwMode="auto">
          <a:xfrm>
            <a:off x="3242505" y="2150354"/>
            <a:ext cx="1797831" cy="519585"/>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a:latin typeface="微軟正黑體" panose="020B0604030504040204" pitchFamily="34" charset="-120"/>
                <a:ea typeface="微軟正黑體" panose="020B0604030504040204" pitchFamily="34" charset="-120"/>
              </a:rPr>
              <a:t>流程</a:t>
            </a:r>
          </a:p>
          <a:p>
            <a:pPr algn="ctr" eaLnBrk="0" hangingPunct="0"/>
            <a:r>
              <a:rPr lang="zh-TW" altLang="en-US" sz="1500">
                <a:latin typeface="微軟正黑體" panose="020B0604030504040204" pitchFamily="34" charset="-120"/>
                <a:ea typeface="微軟正黑體" panose="020B0604030504040204" pitchFamily="34" charset="-120"/>
              </a:rPr>
              <a:t>開始或結束點</a:t>
            </a:r>
          </a:p>
        </p:txBody>
      </p:sp>
      <p:sp>
        <p:nvSpPr>
          <p:cNvPr id="3" name="文字方塊 12">
            <a:extLst>
              <a:ext uri="{FF2B5EF4-FFF2-40B4-BE49-F238E27FC236}">
                <a16:creationId xmlns:a16="http://schemas.microsoft.com/office/drawing/2014/main" id="{C3ACBE9D-2638-0AA4-2866-6D3A3BDB15CB}"/>
              </a:ext>
            </a:extLst>
          </p:cNvPr>
          <p:cNvSpPr txBox="1"/>
          <p:nvPr/>
        </p:nvSpPr>
        <p:spPr>
          <a:xfrm>
            <a:off x="5511013" y="2833662"/>
            <a:ext cx="6013292" cy="1661993"/>
          </a:xfrm>
          <a:prstGeom prst="rect">
            <a:avLst/>
          </a:prstGeom>
          <a:noFill/>
          <a:ln>
            <a:noFill/>
          </a:ln>
        </p:spPr>
        <p:txBody>
          <a:bodyPr wrap="square" lIns="0" tIns="0" rIns="0" bIns="0" rtlCol="0">
            <a:spAutoFit/>
          </a:bodyPr>
          <a:lstStyle/>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上方</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b="1">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若本作業為系統交易請輸入該系統的交易代碼</a:t>
            </a:r>
            <a:endParaRPr lang="en-US" altLang="zh-TW" sz="1800">
              <a:solidFill>
                <a:srgbClr val="C00000"/>
              </a:solidFill>
              <a:latin typeface="微軟正黑體" panose="020B0604030504040204" pitchFamily="34" charset="-120"/>
              <a:ea typeface="微軟正黑體" panose="020B0604030504040204" pitchFamily="34" charset="-120"/>
            </a:endParaRPr>
          </a:p>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中間區塊</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b="1">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動作</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作業</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系統交易 的名稱</a:t>
            </a:r>
          </a:p>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左下方</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 若本作業為系統交易</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此處請輸入系統名稱</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若非系統交易</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請留空白</a:t>
            </a:r>
          </a:p>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右下方</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 若本作業為系統交易</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有自動化程序</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請輸入自動</a:t>
            </a:r>
          </a:p>
          <a:p>
            <a:pPr marL="257202" indent="-257202">
              <a:buFont typeface="Arial" panose="020B0604020202020204" pitchFamily="34" charset="0"/>
              <a:buChar char="•"/>
            </a:pPr>
            <a:endParaRPr lang="zh-TW" altLang="en-US" sz="1800">
              <a:solidFill>
                <a:srgbClr val="C00000"/>
              </a:solidFill>
              <a:latin typeface="微軟正黑體" panose="020B0604030504040204" pitchFamily="34" charset="-120"/>
              <a:ea typeface="微軟正黑體" panose="020B0604030504040204" pitchFamily="34" charset="-120"/>
            </a:endParaRPr>
          </a:p>
        </p:txBody>
      </p:sp>
      <p:sp>
        <p:nvSpPr>
          <p:cNvPr id="4" name="文字方塊 15">
            <a:extLst>
              <a:ext uri="{FF2B5EF4-FFF2-40B4-BE49-F238E27FC236}">
                <a16:creationId xmlns:a16="http://schemas.microsoft.com/office/drawing/2014/main" id="{F1992E37-FBF2-71FC-3355-A44CD54F666E}"/>
              </a:ext>
            </a:extLst>
          </p:cNvPr>
          <p:cNvSpPr txBox="1"/>
          <p:nvPr/>
        </p:nvSpPr>
        <p:spPr>
          <a:xfrm>
            <a:off x="5511009" y="2296591"/>
            <a:ext cx="3389910"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流程起始點或結束點</a:t>
            </a:r>
          </a:p>
        </p:txBody>
      </p:sp>
      <p:sp>
        <p:nvSpPr>
          <p:cNvPr id="7" name="文字方塊 24">
            <a:extLst>
              <a:ext uri="{FF2B5EF4-FFF2-40B4-BE49-F238E27FC236}">
                <a16:creationId xmlns:a16="http://schemas.microsoft.com/office/drawing/2014/main" id="{D18486DA-E03C-9AF3-9A27-7A647D6A1B82}"/>
              </a:ext>
            </a:extLst>
          </p:cNvPr>
          <p:cNvSpPr txBox="1"/>
          <p:nvPr/>
        </p:nvSpPr>
        <p:spPr>
          <a:xfrm>
            <a:off x="2548723" y="1451160"/>
            <a:ext cx="5505642" cy="507831"/>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本區域請輸入部門或是工作職掌</a:t>
            </a:r>
            <a:r>
              <a:rPr lang="en-US" altLang="zh-TW" sz="1600">
                <a:latin typeface="微軟正黑體" panose="020B0604030504040204" pitchFamily="34" charset="-120"/>
                <a:ea typeface="微軟正黑體" panose="020B0604030504040204" pitchFamily="34" charset="-120"/>
              </a:rPr>
              <a:t>. </a:t>
            </a:r>
          </a:p>
          <a:p>
            <a:r>
              <a:rPr lang="zh-TW" altLang="en-US" sz="1600">
                <a:latin typeface="微軟正黑體" panose="020B0604030504040204" pitchFamily="34" charset="-120"/>
                <a:ea typeface="微軟正黑體" panose="020B0604030504040204" pitchFamily="34" charset="-120"/>
              </a:rPr>
              <a:t>例如</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業務處 或 業務處</a:t>
            </a:r>
            <a:r>
              <a:rPr lang="en-US" altLang="zh-TW" sz="1600">
                <a:latin typeface="微軟正黑體" panose="020B0604030504040204" pitchFamily="34" charset="-120"/>
                <a:ea typeface="微軟正黑體" panose="020B0604030504040204" pitchFamily="34" charset="-120"/>
              </a:rPr>
              <a:t>/</a:t>
            </a:r>
            <a:r>
              <a:rPr lang="zh-TW" altLang="en-US" sz="1600">
                <a:latin typeface="微軟正黑體" panose="020B0604030504040204" pitchFamily="34" charset="-120"/>
                <a:ea typeface="微軟正黑體" panose="020B0604030504040204" pitchFamily="34" charset="-120"/>
              </a:rPr>
              <a:t>業務經理 或 業務人員</a:t>
            </a:r>
          </a:p>
        </p:txBody>
      </p:sp>
      <p:sp>
        <p:nvSpPr>
          <p:cNvPr id="8" name="文字方塊 25">
            <a:extLst>
              <a:ext uri="{FF2B5EF4-FFF2-40B4-BE49-F238E27FC236}">
                <a16:creationId xmlns:a16="http://schemas.microsoft.com/office/drawing/2014/main" id="{3582A9EB-A5A2-F0E1-F6A8-1152902964CF}"/>
              </a:ext>
            </a:extLst>
          </p:cNvPr>
          <p:cNvSpPr txBox="1"/>
          <p:nvPr/>
        </p:nvSpPr>
        <p:spPr>
          <a:xfrm>
            <a:off x="240594" y="1840650"/>
            <a:ext cx="2069194" cy="984885"/>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本區塊用來說明本流程動作所需要的資料來源</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包含前置作業流程</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文件等</a:t>
            </a:r>
          </a:p>
        </p:txBody>
      </p:sp>
      <p:sp>
        <p:nvSpPr>
          <p:cNvPr id="9" name="文字方塊 26">
            <a:extLst>
              <a:ext uri="{FF2B5EF4-FFF2-40B4-BE49-F238E27FC236}">
                <a16:creationId xmlns:a16="http://schemas.microsoft.com/office/drawing/2014/main" id="{56CB2E28-F31D-1D89-A5FB-F878E9724B60}"/>
              </a:ext>
            </a:extLst>
          </p:cNvPr>
          <p:cNvSpPr txBox="1"/>
          <p:nvPr/>
        </p:nvSpPr>
        <p:spPr>
          <a:xfrm>
            <a:off x="12055646" y="1856148"/>
            <a:ext cx="2086520" cy="984885"/>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本區塊用來說明本流程動作所會產出的結果</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包含後續作業流程</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文件等</a:t>
            </a:r>
          </a:p>
        </p:txBody>
      </p:sp>
      <p:graphicFrame>
        <p:nvGraphicFramePr>
          <p:cNvPr id="10" name="表格 30">
            <a:extLst>
              <a:ext uri="{FF2B5EF4-FFF2-40B4-BE49-F238E27FC236}">
                <a16:creationId xmlns:a16="http://schemas.microsoft.com/office/drawing/2014/main" id="{94474DA2-C417-6AE7-95EE-50C9649AB985}"/>
              </a:ext>
            </a:extLst>
          </p:cNvPr>
          <p:cNvGraphicFramePr>
            <a:graphicFrameLocks noGrp="1"/>
          </p:cNvGraphicFramePr>
          <p:nvPr/>
        </p:nvGraphicFramePr>
        <p:xfrm>
          <a:off x="3242505" y="3002420"/>
          <a:ext cx="1797832" cy="123840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val="3433979995"/>
                    </a:ext>
                  </a:extLst>
                </a:gridCol>
                <a:gridCol w="898916">
                  <a:extLst>
                    <a:ext uri="{9D8B030D-6E8A-4147-A177-3AD203B41FA5}">
                      <a16:colId xmlns:a16="http://schemas.microsoft.com/office/drawing/2014/main" val="3727974752"/>
                    </a:ext>
                  </a:extLst>
                </a:gridCol>
              </a:tblGrid>
              <a:tr h="336600">
                <a:tc gridSpan="2">
                  <a:txBody>
                    <a:bodyPr/>
                    <a:lstStyle/>
                    <a:p>
                      <a:pPr algn="ctr"/>
                      <a:r>
                        <a:rPr lang="en-US" altLang="zh-TW" sz="1500"/>
                        <a:t>BP</a:t>
                      </a:r>
                      <a:endParaRPr lang="en-GB" sz="1500" b="1">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a16="http://schemas.microsoft.com/office/drawing/2014/main" val="3125084632"/>
                  </a:ext>
                </a:extLst>
              </a:tr>
              <a:tr h="565200">
                <a:tc gridSpan="2">
                  <a:txBody>
                    <a:bodyPr/>
                    <a:lstStyle/>
                    <a:p>
                      <a:pPr algn="ctr"/>
                      <a:r>
                        <a:rPr lang="zh-TW" altLang="en-US" sz="1500"/>
                        <a:t>交易名稱</a:t>
                      </a:r>
                      <a:endParaRPr lang="en-US" altLang="zh-TW" sz="1500"/>
                    </a:p>
                    <a:p>
                      <a:pPr algn="ctr"/>
                      <a:r>
                        <a:rPr lang="zh-TW" altLang="en-US" sz="1500"/>
                        <a:t>作業</a:t>
                      </a:r>
                      <a:r>
                        <a:rPr lang="en-US" altLang="zh-TW" sz="1500"/>
                        <a:t>/</a:t>
                      </a:r>
                      <a:r>
                        <a:rPr lang="zh-TW" altLang="en-US" sz="1500"/>
                        <a:t>動作</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a16="http://schemas.microsoft.com/office/drawing/2014/main" val="1006350340"/>
                  </a:ext>
                </a:extLst>
              </a:tr>
              <a:tr h="336600">
                <a:tc>
                  <a:txBody>
                    <a:bodyPr/>
                    <a:lstStyle/>
                    <a:p>
                      <a:pPr algn="ctr"/>
                      <a:r>
                        <a:rPr lang="en-US" sz="1500"/>
                        <a:t>SAP</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a:t>自動</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3335046"/>
                  </a:ext>
                </a:extLst>
              </a:tr>
            </a:tbl>
          </a:graphicData>
        </a:graphic>
      </p:graphicFrame>
      <p:sp>
        <p:nvSpPr>
          <p:cNvPr id="11" name="流程圖: 預設處理作業 21">
            <a:extLst>
              <a:ext uri="{FF2B5EF4-FFF2-40B4-BE49-F238E27FC236}">
                <a16:creationId xmlns:a16="http://schemas.microsoft.com/office/drawing/2014/main" id="{6AB8729A-A396-2BA6-E6B9-1B2A79082818}"/>
              </a:ext>
            </a:extLst>
          </p:cNvPr>
          <p:cNvSpPr/>
          <p:nvPr/>
        </p:nvSpPr>
        <p:spPr bwMode="auto">
          <a:xfrm>
            <a:off x="3242509" y="4808819"/>
            <a:ext cx="1813112"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a:latin typeface="微軟正黑體" panose="020B0604030504040204" pitchFamily="34" charset="-120"/>
                <a:ea typeface="微軟正黑體" panose="020B0604030504040204" pitchFamily="34" charset="-120"/>
              </a:rPr>
              <a:t>XXX-001-02</a:t>
            </a:r>
          </a:p>
          <a:p>
            <a:pPr algn="ctr" eaLnBrk="0" hangingPunct="0"/>
            <a:r>
              <a:rPr lang="en-US" altLang="zh-TW" sz="1500">
                <a:latin typeface="微軟正黑體" panose="020B0604030504040204" pitchFamily="34" charset="-120"/>
                <a:ea typeface="微軟正黑體" panose="020B0604030504040204" pitchFamily="34" charset="-120"/>
              </a:rPr>
              <a:t>XXX</a:t>
            </a:r>
            <a:r>
              <a:rPr lang="zh-TW" altLang="en-US" sz="1500">
                <a:latin typeface="微軟正黑體" panose="020B0604030504040204" pitchFamily="34" charset="-120"/>
                <a:ea typeface="微軟正黑體" panose="020B0604030504040204" pitchFamily="34" charset="-120"/>
              </a:rPr>
              <a:t>作業流程</a:t>
            </a:r>
          </a:p>
        </p:txBody>
      </p:sp>
      <p:sp>
        <p:nvSpPr>
          <p:cNvPr id="12" name="流程圖: 文件 42">
            <a:extLst>
              <a:ext uri="{FF2B5EF4-FFF2-40B4-BE49-F238E27FC236}">
                <a16:creationId xmlns:a16="http://schemas.microsoft.com/office/drawing/2014/main" id="{91F9B27C-7F80-2BDA-7707-DDBD4E112805}"/>
              </a:ext>
            </a:extLst>
          </p:cNvPr>
          <p:cNvSpPr/>
          <p:nvPr/>
        </p:nvSpPr>
        <p:spPr bwMode="auto">
          <a:xfrm>
            <a:off x="3242505" y="6336001"/>
            <a:ext cx="1841949" cy="1238400"/>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a:latin typeface="微軟正黑體" panose="020B0604030504040204" pitchFamily="34" charset="-120"/>
                <a:ea typeface="微軟正黑體" panose="020B0604030504040204" pitchFamily="34" charset="-120"/>
              </a:rPr>
              <a:t>產出或投入</a:t>
            </a:r>
          </a:p>
          <a:p>
            <a:pPr algn="ctr" eaLnBrk="0" hangingPunct="0"/>
            <a:r>
              <a:rPr lang="zh-TW" altLang="en-US" sz="1500">
                <a:latin typeface="微軟正黑體" panose="020B0604030504040204" pitchFamily="34" charset="-120"/>
                <a:ea typeface="微軟正黑體" panose="020B0604030504040204" pitchFamily="34" charset="-120"/>
              </a:rPr>
              <a:t>文件</a:t>
            </a:r>
            <a:r>
              <a:rPr lang="en-US" altLang="zh-TW" sz="1500">
                <a:latin typeface="微軟正黑體" panose="020B0604030504040204" pitchFamily="34" charset="-120"/>
                <a:ea typeface="微軟正黑體" panose="020B0604030504040204" pitchFamily="34" charset="-120"/>
              </a:rPr>
              <a:t>/</a:t>
            </a:r>
            <a:r>
              <a:rPr lang="zh-TW" altLang="en-US" sz="1500">
                <a:latin typeface="微軟正黑體" panose="020B0604030504040204" pitchFamily="34" charset="-120"/>
                <a:ea typeface="微軟正黑體" panose="020B0604030504040204" pitchFamily="34" charset="-120"/>
              </a:rPr>
              <a:t>報表</a:t>
            </a:r>
            <a:r>
              <a:rPr lang="en-US" altLang="zh-TW" sz="1500">
                <a:latin typeface="微軟正黑體" panose="020B0604030504040204" pitchFamily="34" charset="-120"/>
                <a:ea typeface="微軟正黑體" panose="020B0604030504040204" pitchFamily="34" charset="-120"/>
              </a:rPr>
              <a:t>/</a:t>
            </a:r>
            <a:r>
              <a:rPr lang="zh-TW" altLang="en-US" sz="1500">
                <a:latin typeface="微軟正黑體" panose="020B0604030504040204" pitchFamily="34" charset="-120"/>
                <a:ea typeface="微軟正黑體" panose="020B0604030504040204" pitchFamily="34" charset="-120"/>
              </a:rPr>
              <a:t>表單</a:t>
            </a:r>
          </a:p>
        </p:txBody>
      </p:sp>
      <p:sp>
        <p:nvSpPr>
          <p:cNvPr id="13" name="文字方塊 46">
            <a:extLst>
              <a:ext uri="{FF2B5EF4-FFF2-40B4-BE49-F238E27FC236}">
                <a16:creationId xmlns:a16="http://schemas.microsoft.com/office/drawing/2014/main" id="{8E21E1D9-DCFA-D067-33E8-546CC2C7A8A1}"/>
              </a:ext>
            </a:extLst>
          </p:cNvPr>
          <p:cNvSpPr txBox="1"/>
          <p:nvPr/>
        </p:nvSpPr>
        <p:spPr>
          <a:xfrm>
            <a:off x="5568741" y="5289520"/>
            <a:ext cx="4104456"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於本流程中有關聯的流程編號與名稱</a:t>
            </a:r>
          </a:p>
        </p:txBody>
      </p:sp>
      <p:sp>
        <p:nvSpPr>
          <p:cNvPr id="14" name="文字方塊 47">
            <a:extLst>
              <a:ext uri="{FF2B5EF4-FFF2-40B4-BE49-F238E27FC236}">
                <a16:creationId xmlns:a16="http://schemas.microsoft.com/office/drawing/2014/main" id="{5B7CE1DA-2D6E-F4C0-11C8-08795CA4563E}"/>
              </a:ext>
            </a:extLst>
          </p:cNvPr>
          <p:cNvSpPr txBox="1"/>
          <p:nvPr/>
        </p:nvSpPr>
        <p:spPr>
          <a:xfrm>
            <a:off x="5568743" y="6418310"/>
            <a:ext cx="5313821"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於本流程中投入或是產出的文件</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報表</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表單名稱</a:t>
            </a:r>
          </a:p>
        </p:txBody>
      </p:sp>
      <p:sp>
        <p:nvSpPr>
          <p:cNvPr id="15" name="流程圖: 決策 50">
            <a:extLst>
              <a:ext uri="{FF2B5EF4-FFF2-40B4-BE49-F238E27FC236}">
                <a16:creationId xmlns:a16="http://schemas.microsoft.com/office/drawing/2014/main" id="{845AA0C2-CB36-2792-A054-5B69382FBD2D}"/>
              </a:ext>
            </a:extLst>
          </p:cNvPr>
          <p:cNvSpPr/>
          <p:nvPr/>
        </p:nvSpPr>
        <p:spPr bwMode="auto">
          <a:xfrm>
            <a:off x="7393953" y="7226480"/>
            <a:ext cx="1841949" cy="1177944"/>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a:latin typeface="微軟正黑體" panose="020B0604030504040204" pitchFamily="34" charset="-120"/>
                <a:ea typeface="微軟正黑體" panose="020B0604030504040204" pitchFamily="34" charset="-120"/>
              </a:rPr>
              <a:t>決策或判斷點</a:t>
            </a:r>
          </a:p>
        </p:txBody>
      </p:sp>
      <p:sp>
        <p:nvSpPr>
          <p:cNvPr id="16" name="流程圖: 接點 51">
            <a:extLst>
              <a:ext uri="{FF2B5EF4-FFF2-40B4-BE49-F238E27FC236}">
                <a16:creationId xmlns:a16="http://schemas.microsoft.com/office/drawing/2014/main" id="{1E4DE6F3-3BB0-2B05-BD87-45921D4C3C01}"/>
              </a:ext>
            </a:extLst>
          </p:cNvPr>
          <p:cNvSpPr/>
          <p:nvPr/>
        </p:nvSpPr>
        <p:spPr bwMode="auto">
          <a:xfrm>
            <a:off x="7989971" y="8646043"/>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800">
                <a:latin typeface="微軟正黑體" panose="020B0604030504040204" pitchFamily="34" charset="-120"/>
                <a:ea typeface="微軟正黑體" panose="020B0604030504040204" pitchFamily="34" charset="-120"/>
              </a:rPr>
              <a:t>A</a:t>
            </a:r>
            <a:endParaRPr lang="zh-TW" altLang="en-US" sz="1800">
              <a:latin typeface="微軟正黑體" panose="020B0604030504040204" pitchFamily="34" charset="-120"/>
              <a:ea typeface="微軟正黑體" panose="020B0604030504040204" pitchFamily="34" charset="-120"/>
            </a:endParaRPr>
          </a:p>
        </p:txBody>
      </p:sp>
      <p:sp>
        <p:nvSpPr>
          <p:cNvPr id="17" name="流程圖: 換頁接點 52">
            <a:extLst>
              <a:ext uri="{FF2B5EF4-FFF2-40B4-BE49-F238E27FC236}">
                <a16:creationId xmlns:a16="http://schemas.microsoft.com/office/drawing/2014/main" id="{AC58EE03-29AB-852C-B954-3F203C7F24CB}"/>
              </a:ext>
            </a:extLst>
          </p:cNvPr>
          <p:cNvSpPr/>
          <p:nvPr/>
        </p:nvSpPr>
        <p:spPr bwMode="auto">
          <a:xfrm>
            <a:off x="8002556" y="9410574"/>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800">
                <a:latin typeface="微軟正黑體" panose="020B0604030504040204" pitchFamily="34" charset="-120"/>
                <a:ea typeface="微軟正黑體" panose="020B0604030504040204" pitchFamily="34" charset="-120"/>
              </a:rPr>
              <a:t>P2</a:t>
            </a:r>
            <a:endParaRPr lang="zh-TW" altLang="en-US" sz="1800">
              <a:latin typeface="微軟正黑體" panose="020B0604030504040204" pitchFamily="34" charset="-120"/>
              <a:ea typeface="微軟正黑體" panose="020B0604030504040204" pitchFamily="34" charset="-120"/>
            </a:endParaRPr>
          </a:p>
        </p:txBody>
      </p:sp>
      <p:sp>
        <p:nvSpPr>
          <p:cNvPr id="18" name="文字方塊 53">
            <a:extLst>
              <a:ext uri="{FF2B5EF4-FFF2-40B4-BE49-F238E27FC236}">
                <a16:creationId xmlns:a16="http://schemas.microsoft.com/office/drawing/2014/main" id="{3456038A-55BE-0A34-609A-F6B4AC23D1F1}"/>
              </a:ext>
            </a:extLst>
          </p:cNvPr>
          <p:cNvSpPr txBox="1"/>
          <p:nvPr/>
        </p:nvSpPr>
        <p:spPr>
          <a:xfrm>
            <a:off x="9526622" y="7716344"/>
            <a:ext cx="1856630"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決策或是判斷點</a:t>
            </a:r>
          </a:p>
        </p:txBody>
      </p:sp>
      <p:sp>
        <p:nvSpPr>
          <p:cNvPr id="19" name="文字方塊 54">
            <a:extLst>
              <a:ext uri="{FF2B5EF4-FFF2-40B4-BE49-F238E27FC236}">
                <a16:creationId xmlns:a16="http://schemas.microsoft.com/office/drawing/2014/main" id="{517E2A64-47A3-A953-7789-D0C0B645C2F1}"/>
              </a:ext>
            </a:extLst>
          </p:cNvPr>
          <p:cNvSpPr txBox="1"/>
          <p:nvPr/>
        </p:nvSpPr>
        <p:spPr>
          <a:xfrm>
            <a:off x="9571162" y="8696687"/>
            <a:ext cx="2068019"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同一頁面上的連結點</a:t>
            </a:r>
          </a:p>
        </p:txBody>
      </p:sp>
      <p:sp>
        <p:nvSpPr>
          <p:cNvPr id="20" name="文字方塊 55">
            <a:extLst>
              <a:ext uri="{FF2B5EF4-FFF2-40B4-BE49-F238E27FC236}">
                <a16:creationId xmlns:a16="http://schemas.microsoft.com/office/drawing/2014/main" id="{938B72A0-C4AB-D17D-D8C7-F599440CF29D}"/>
              </a:ext>
            </a:extLst>
          </p:cNvPr>
          <p:cNvSpPr txBox="1"/>
          <p:nvPr/>
        </p:nvSpPr>
        <p:spPr>
          <a:xfrm>
            <a:off x="9571162" y="9410572"/>
            <a:ext cx="2068019"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換頁之連接點</a:t>
            </a:r>
          </a:p>
        </p:txBody>
      </p:sp>
      <p:sp>
        <p:nvSpPr>
          <p:cNvPr id="21" name="文字方塊 21">
            <a:extLst>
              <a:ext uri="{FF2B5EF4-FFF2-40B4-BE49-F238E27FC236}">
                <a16:creationId xmlns:a16="http://schemas.microsoft.com/office/drawing/2014/main" id="{1F153670-BE85-306D-6126-9994ACD9935F}"/>
              </a:ext>
            </a:extLst>
          </p:cNvPr>
          <p:cNvSpPr txBox="1"/>
          <p:nvPr/>
        </p:nvSpPr>
        <p:spPr>
          <a:xfrm>
            <a:off x="16660678" y="226579"/>
            <a:ext cx="1392048" cy="984885"/>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本區塊之頁次</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日期會自動更新</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日期為最後一次更新日</a:t>
            </a:r>
          </a:p>
        </p:txBody>
      </p:sp>
      <p:sp>
        <p:nvSpPr>
          <p:cNvPr id="30" name="文字方塊 53">
            <a:extLst>
              <a:ext uri="{FF2B5EF4-FFF2-40B4-BE49-F238E27FC236}">
                <a16:creationId xmlns:a16="http://schemas.microsoft.com/office/drawing/2014/main" id="{7EE68195-4036-2753-C702-EBF7E6CFA458}"/>
              </a:ext>
            </a:extLst>
          </p:cNvPr>
          <p:cNvSpPr txBox="1"/>
          <p:nvPr/>
        </p:nvSpPr>
        <p:spPr>
          <a:xfrm>
            <a:off x="5545788" y="8023216"/>
            <a:ext cx="1557447" cy="553998"/>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說明號碼，位於右上角</a:t>
            </a:r>
          </a:p>
        </p:txBody>
      </p:sp>
      <p:graphicFrame>
        <p:nvGraphicFramePr>
          <p:cNvPr id="31" name="表格 30">
            <a:extLst>
              <a:ext uri="{FF2B5EF4-FFF2-40B4-BE49-F238E27FC236}">
                <a16:creationId xmlns:a16="http://schemas.microsoft.com/office/drawing/2014/main" id="{22A069D3-CB36-DA21-0023-3C294211F2A1}"/>
              </a:ext>
            </a:extLst>
          </p:cNvPr>
          <p:cNvGraphicFramePr>
            <a:graphicFrameLocks noGrp="1"/>
          </p:cNvGraphicFramePr>
          <p:nvPr/>
        </p:nvGraphicFramePr>
        <p:xfrm>
          <a:off x="3242505" y="8119564"/>
          <a:ext cx="1797832" cy="123840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val="3433979995"/>
                    </a:ext>
                  </a:extLst>
                </a:gridCol>
                <a:gridCol w="898916">
                  <a:extLst>
                    <a:ext uri="{9D8B030D-6E8A-4147-A177-3AD203B41FA5}">
                      <a16:colId xmlns:a16="http://schemas.microsoft.com/office/drawing/2014/main" val="3727974752"/>
                    </a:ext>
                  </a:extLst>
                </a:gridCol>
              </a:tblGrid>
              <a:tr h="336600">
                <a:tc gridSpan="2">
                  <a:txBody>
                    <a:bodyPr/>
                    <a:lstStyle/>
                    <a:p>
                      <a:pPr algn="ctr"/>
                      <a:r>
                        <a:rPr lang="en-US" altLang="zh-TW" sz="1500"/>
                        <a:t>BP</a:t>
                      </a:r>
                      <a:endParaRPr lang="en-GB" sz="1500" b="1">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a16="http://schemas.microsoft.com/office/drawing/2014/main" val="3125084632"/>
                  </a:ext>
                </a:extLst>
              </a:tr>
              <a:tr h="565200">
                <a:tc gridSpan="2">
                  <a:txBody>
                    <a:bodyPr/>
                    <a:lstStyle/>
                    <a:p>
                      <a:pPr algn="ctr"/>
                      <a:r>
                        <a:rPr lang="zh-TW" altLang="en-US" sz="1500"/>
                        <a:t>交易名稱</a:t>
                      </a:r>
                      <a:endParaRPr lang="en-US" altLang="zh-TW" sz="1500"/>
                    </a:p>
                    <a:p>
                      <a:pPr algn="ctr"/>
                      <a:r>
                        <a:rPr lang="zh-TW" altLang="en-US" sz="1500"/>
                        <a:t>作業</a:t>
                      </a:r>
                      <a:r>
                        <a:rPr lang="en-US" altLang="zh-TW" sz="1500"/>
                        <a:t>/</a:t>
                      </a:r>
                      <a:r>
                        <a:rPr lang="zh-TW" altLang="en-US" sz="1500"/>
                        <a:t>動作</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a16="http://schemas.microsoft.com/office/drawing/2014/main" val="1006350340"/>
                  </a:ext>
                </a:extLst>
              </a:tr>
              <a:tr h="336600">
                <a:tc>
                  <a:txBody>
                    <a:bodyPr/>
                    <a:lstStyle/>
                    <a:p>
                      <a:pPr algn="ctr"/>
                      <a:r>
                        <a:rPr lang="en-US" sz="1500"/>
                        <a:t>SAP</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a:t>自動</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3335046"/>
                  </a:ext>
                </a:extLst>
              </a:tr>
            </a:tbl>
          </a:graphicData>
        </a:graphic>
      </p:graphicFrame>
      <p:grpSp>
        <p:nvGrpSpPr>
          <p:cNvPr id="27" name="Group 232">
            <a:extLst>
              <a:ext uri="{FF2B5EF4-FFF2-40B4-BE49-F238E27FC236}">
                <a16:creationId xmlns:a16="http://schemas.microsoft.com/office/drawing/2014/main" id="{34DCA6AC-E460-4F91-E17A-E4D1D9383A32}"/>
              </a:ext>
            </a:extLst>
          </p:cNvPr>
          <p:cNvGrpSpPr/>
          <p:nvPr/>
        </p:nvGrpSpPr>
        <p:grpSpPr>
          <a:xfrm>
            <a:off x="4888172" y="7911842"/>
            <a:ext cx="557700" cy="408542"/>
            <a:chOff x="5906472" y="1486857"/>
            <a:chExt cx="371800" cy="272361"/>
          </a:xfrm>
        </p:grpSpPr>
        <p:sp>
          <p:nvSpPr>
            <p:cNvPr id="28" name="Oval 233">
              <a:extLst>
                <a:ext uri="{FF2B5EF4-FFF2-40B4-BE49-F238E27FC236}">
                  <a16:creationId xmlns:a16="http://schemas.microsoft.com/office/drawing/2014/main" id="{1D00AAC5-112F-5543-0045-71081BC396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4050"/>
            </a:p>
          </p:txBody>
        </p:sp>
        <p:sp>
          <p:nvSpPr>
            <p:cNvPr id="29" name="TextBox 234">
              <a:extLst>
                <a:ext uri="{FF2B5EF4-FFF2-40B4-BE49-F238E27FC236}">
                  <a16:creationId xmlns:a16="http://schemas.microsoft.com/office/drawing/2014/main" id="{DBDC368A-8CA7-E876-12C5-B3B6A71623C0}"/>
                </a:ext>
              </a:extLst>
            </p:cNvPr>
            <p:cNvSpPr txBox="1"/>
            <p:nvPr/>
          </p:nvSpPr>
          <p:spPr>
            <a:xfrm>
              <a:off x="5922672" y="1499926"/>
              <a:ext cx="355600" cy="215443"/>
            </a:xfrm>
            <a:prstGeom prst="rect">
              <a:avLst/>
            </a:prstGeom>
            <a:noFill/>
          </p:spPr>
          <p:txBody>
            <a:bodyPr wrap="square" rtlCol="0">
              <a:spAutoFit/>
            </a:bodyPr>
            <a:lstStyle/>
            <a:p>
              <a:r>
                <a:rPr lang="en-US" altLang="zh-TW" sz="1500">
                  <a:latin typeface="微軟正黑體" panose="020B0604030504040204" pitchFamily="34" charset="-120"/>
                  <a:ea typeface="微軟正黑體" panose="020B0604030504040204" pitchFamily="34" charset="-120"/>
                </a:rPr>
                <a:t>1</a:t>
              </a:r>
              <a:endParaRPr lang="zh-TW" altLang="en-US" sz="1500">
                <a:latin typeface="微軟正黑體" panose="020B0604030504040204" pitchFamily="34" charset="-120"/>
                <a:ea typeface="微軟正黑體" panose="020B0604030504040204" pitchFamily="34" charset="-120"/>
              </a:endParaRPr>
            </a:p>
          </p:txBody>
        </p:sp>
      </p:grpSp>
      <p:grpSp>
        <p:nvGrpSpPr>
          <p:cNvPr id="5" name="Group 4">
            <a:extLst>
              <a:ext uri="{FF2B5EF4-FFF2-40B4-BE49-F238E27FC236}">
                <a16:creationId xmlns:a16="http://schemas.microsoft.com/office/drawing/2014/main" id="{C1E1D283-1843-CF62-4209-C268980982AA}"/>
              </a:ext>
            </a:extLst>
          </p:cNvPr>
          <p:cNvGrpSpPr/>
          <p:nvPr/>
        </p:nvGrpSpPr>
        <p:grpSpPr>
          <a:xfrm>
            <a:off x="10685297" y="835773"/>
            <a:ext cx="3401998" cy="423412"/>
            <a:chOff x="10685297" y="851013"/>
            <a:chExt cx="3401998" cy="423412"/>
          </a:xfrm>
        </p:grpSpPr>
        <p:grpSp>
          <p:nvGrpSpPr>
            <p:cNvPr id="25" name="Group 24">
              <a:extLst>
                <a:ext uri="{FF2B5EF4-FFF2-40B4-BE49-F238E27FC236}">
                  <a16:creationId xmlns:a16="http://schemas.microsoft.com/office/drawing/2014/main" id="{5A9886C6-C17B-051D-323D-045D45D51D03}"/>
                </a:ext>
              </a:extLst>
            </p:cNvPr>
            <p:cNvGrpSpPr/>
            <p:nvPr/>
          </p:nvGrpSpPr>
          <p:grpSpPr>
            <a:xfrm>
              <a:off x="10685297" y="851013"/>
              <a:ext cx="1291656" cy="423194"/>
              <a:chOff x="7091257" y="609842"/>
              <a:chExt cx="861104" cy="282129"/>
            </a:xfrm>
          </p:grpSpPr>
          <p:sp>
            <p:nvSpPr>
              <p:cNvPr id="35" name="文字方塊 21">
                <a:extLst>
                  <a:ext uri="{FF2B5EF4-FFF2-40B4-BE49-F238E27FC236}">
                    <a16:creationId xmlns:a16="http://schemas.microsoft.com/office/drawing/2014/main" id="{432DD89F-2DAD-3A56-1346-B1AF7181E7DD}"/>
                  </a:ext>
                </a:extLst>
              </p:cNvPr>
              <p:cNvSpPr txBox="1"/>
              <p:nvPr/>
            </p:nvSpPr>
            <p:spPr>
              <a:xfrm>
                <a:off x="7091257" y="609842"/>
                <a:ext cx="283411" cy="276998"/>
              </a:xfrm>
              <a:prstGeom prst="rect">
                <a:avLst/>
              </a:prstGeom>
              <a:noFill/>
            </p:spPr>
            <p:txBody>
              <a:bodyPr wrap="none" rtlCol="0">
                <a:spAutoFit/>
              </a:bodyPr>
              <a:lstStyle/>
              <a:p>
                <a:r>
                  <a:rPr lang="zh-TW" altLang="en-US" sz="2100">
                    <a:latin typeface="Microsoft JhengHei" panose="020B0604030504040204" pitchFamily="34" charset="-120"/>
                    <a:ea typeface="Microsoft JhengHei" panose="020B0604030504040204" pitchFamily="34" charset="-120"/>
                    <a:sym typeface="Wingdings" panose="05000000000000000000" pitchFamily="2" charset="2"/>
                  </a:rPr>
                  <a:t></a:t>
                </a:r>
                <a:endParaRPr lang="zh-TW" altLang="en-US" sz="2100">
                  <a:latin typeface="Microsoft JhengHei" panose="020B0604030504040204" pitchFamily="34" charset="-120"/>
                  <a:ea typeface="Microsoft JhengHei" panose="020B0604030504040204" pitchFamily="34" charset="-120"/>
                </a:endParaRPr>
              </a:p>
            </p:txBody>
          </p:sp>
          <p:sp>
            <p:nvSpPr>
              <p:cNvPr id="36" name="文字方塊 22">
                <a:extLst>
                  <a:ext uri="{FF2B5EF4-FFF2-40B4-BE49-F238E27FC236}">
                    <a16:creationId xmlns:a16="http://schemas.microsoft.com/office/drawing/2014/main" id="{C6804075-CD1F-688A-16E7-A5FA26AA9965}"/>
                  </a:ext>
                </a:extLst>
              </p:cNvPr>
              <p:cNvSpPr txBox="1"/>
              <p:nvPr/>
            </p:nvSpPr>
            <p:spPr>
              <a:xfrm>
                <a:off x="7316290" y="625231"/>
                <a:ext cx="636071" cy="266740"/>
              </a:xfrm>
              <a:prstGeom prst="rect">
                <a:avLst/>
              </a:prstGeom>
              <a:noFill/>
            </p:spPr>
            <p:txBody>
              <a:bodyPr wrap="none" rtlCol="0">
                <a:spAutoFit/>
              </a:bodyPr>
              <a:lstStyle/>
              <a:p>
                <a:r>
                  <a:rPr lang="zh-TW" altLang="en-US" sz="2000">
                    <a:latin typeface="Microsoft JhengHei" panose="020B0604030504040204" pitchFamily="34" charset="-120"/>
                    <a:ea typeface="Microsoft JhengHei" panose="020B0604030504040204" pitchFamily="34" charset="-120"/>
                  </a:rPr>
                  <a:t>新流程</a:t>
                </a:r>
              </a:p>
            </p:txBody>
          </p:sp>
        </p:grpSp>
        <p:grpSp>
          <p:nvGrpSpPr>
            <p:cNvPr id="32" name="Group 31">
              <a:extLst>
                <a:ext uri="{FF2B5EF4-FFF2-40B4-BE49-F238E27FC236}">
                  <a16:creationId xmlns:a16="http://schemas.microsoft.com/office/drawing/2014/main" id="{9C909DE7-364E-C051-81B7-A9B0395CA373}"/>
                </a:ext>
              </a:extLst>
            </p:cNvPr>
            <p:cNvGrpSpPr/>
            <p:nvPr/>
          </p:nvGrpSpPr>
          <p:grpSpPr>
            <a:xfrm>
              <a:off x="11993820" y="858926"/>
              <a:ext cx="2093475" cy="415499"/>
              <a:chOff x="8168002" y="615119"/>
              <a:chExt cx="1395650" cy="276999"/>
            </a:xfrm>
          </p:grpSpPr>
          <p:sp>
            <p:nvSpPr>
              <p:cNvPr id="33" name="文字方塊 23">
                <a:extLst>
                  <a:ext uri="{FF2B5EF4-FFF2-40B4-BE49-F238E27FC236}">
                    <a16:creationId xmlns:a16="http://schemas.microsoft.com/office/drawing/2014/main" id="{B4233160-88DF-D04A-FED9-08D0065AAB4F}"/>
                  </a:ext>
                </a:extLst>
              </p:cNvPr>
              <p:cNvSpPr txBox="1"/>
              <p:nvPr/>
            </p:nvSpPr>
            <p:spPr>
              <a:xfrm>
                <a:off x="8414619" y="625231"/>
                <a:ext cx="1149033" cy="266740"/>
              </a:xfrm>
              <a:prstGeom prst="rect">
                <a:avLst/>
              </a:prstGeom>
              <a:noFill/>
            </p:spPr>
            <p:txBody>
              <a:bodyPr wrap="none" rtlCol="0">
                <a:spAutoFit/>
              </a:bodyPr>
              <a:lstStyle/>
              <a:p>
                <a:r>
                  <a:rPr lang="zh-TW" altLang="en-US" sz="2000">
                    <a:latin typeface="Microsoft JhengHei" panose="020B0604030504040204" pitchFamily="34" charset="-120"/>
                    <a:ea typeface="Microsoft JhengHei" panose="020B0604030504040204" pitchFamily="34" charset="-120"/>
                  </a:rPr>
                  <a:t>權責單位改變</a:t>
                </a:r>
              </a:p>
            </p:txBody>
          </p:sp>
          <p:sp>
            <p:nvSpPr>
              <p:cNvPr id="34" name="文字方塊 21">
                <a:extLst>
                  <a:ext uri="{FF2B5EF4-FFF2-40B4-BE49-F238E27FC236}">
                    <a16:creationId xmlns:a16="http://schemas.microsoft.com/office/drawing/2014/main" id="{2E1125B2-CD41-1A49-12C1-2EB4AF0DAA7F}"/>
                  </a:ext>
                </a:extLst>
              </p:cNvPr>
              <p:cNvSpPr txBox="1"/>
              <p:nvPr/>
            </p:nvSpPr>
            <p:spPr>
              <a:xfrm>
                <a:off x="8168002" y="615119"/>
                <a:ext cx="283411" cy="276999"/>
              </a:xfrm>
              <a:prstGeom prst="rect">
                <a:avLst/>
              </a:prstGeom>
              <a:noFill/>
            </p:spPr>
            <p:txBody>
              <a:bodyPr wrap="none" rtlCol="0">
                <a:spAutoFit/>
              </a:bodyPr>
              <a:lstStyle/>
              <a:p>
                <a:r>
                  <a:rPr lang="zh-TW" altLang="en-US" sz="2100">
                    <a:latin typeface="Microsoft JhengHei" panose="020B0604030504040204" pitchFamily="34" charset="-120"/>
                    <a:ea typeface="Microsoft JhengHei" panose="020B0604030504040204" pitchFamily="34" charset="-120"/>
                    <a:sym typeface="Wingdings" panose="05000000000000000000" pitchFamily="2" charset="2"/>
                  </a:rPr>
                  <a:t></a:t>
                </a:r>
                <a:endParaRPr lang="zh-TW" altLang="en-US" sz="2100">
                  <a:latin typeface="Microsoft JhengHei" panose="020B0604030504040204" pitchFamily="34" charset="-120"/>
                  <a:ea typeface="Microsoft JhengHei" panose="020B0604030504040204" pitchFamily="34" charset="-120"/>
                </a:endParaRPr>
              </a:p>
            </p:txBody>
          </p:sp>
        </p:grpSp>
      </p:grpSp>
      <p:sp>
        <p:nvSpPr>
          <p:cNvPr id="37" name="TextBox 36">
            <a:extLst>
              <a:ext uri="{FF2B5EF4-FFF2-40B4-BE49-F238E27FC236}">
                <a16:creationId xmlns:a16="http://schemas.microsoft.com/office/drawing/2014/main" id="{D272B6E5-7242-B301-AF12-5963B687CE8C}"/>
              </a:ext>
            </a:extLst>
          </p:cNvPr>
          <p:cNvSpPr txBox="1"/>
          <p:nvPr/>
        </p:nvSpPr>
        <p:spPr>
          <a:xfrm>
            <a:off x="2521976" y="811465"/>
            <a:ext cx="8244896" cy="461665"/>
          </a:xfrm>
          <a:prstGeom prst="rect">
            <a:avLst/>
          </a:prstGeom>
          <a:solidFill>
            <a:srgbClr val="FFC000"/>
          </a:solidFill>
        </p:spPr>
        <p:txBody>
          <a:bodyPr wrap="square" rtlCol="0">
            <a:spAutoFit/>
          </a:bodyPr>
          <a:lstStyle/>
          <a:p>
            <a:r>
              <a:rPr lang="zh-TW" altLang="en-US" sz="2400" b="1" dirty="0">
                <a:latin typeface="Microsoft JhengHei" panose="020B0604030504040204" pitchFamily="34" charset="-120"/>
                <a:ea typeface="Microsoft JhengHei" panose="020B0604030504040204" pitchFamily="34" charset="-120"/>
              </a:rPr>
              <a:t>本區域請輸入”流程編碼”與 “流程名稱”</a:t>
            </a:r>
          </a:p>
        </p:txBody>
      </p:sp>
    </p:spTree>
    <p:extLst>
      <p:ext uri="{BB962C8B-B14F-4D97-AF65-F5344CB8AC3E}">
        <p14:creationId xmlns:p14="http://schemas.microsoft.com/office/powerpoint/2010/main" val="1727134277"/>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15988</TotalTime>
  <Words>1789</Words>
  <Application>Microsoft Office PowerPoint</Application>
  <PresentationFormat>自訂</PresentationFormat>
  <Paragraphs>645</Paragraphs>
  <Slides>12</Slides>
  <Notes>7</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12</vt:i4>
      </vt:variant>
    </vt:vector>
  </HeadingPairs>
  <TitlesOfParts>
    <vt:vector size="20" baseType="lpstr">
      <vt:lpstr>Arimo</vt:lpstr>
      <vt:lpstr>微軟正黑體</vt:lpstr>
      <vt:lpstr>微軟正黑體</vt:lpstr>
      <vt:lpstr>新細明體</vt:lpstr>
      <vt:lpstr>Arial</vt:lpstr>
      <vt:lpstr>Calibri</vt:lpstr>
      <vt:lpstr>Calibri Light</vt:lpstr>
      <vt:lpstr>Office 2013 - 2022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joy.huang</dc:creator>
  <cp:lastModifiedBy>Alan Liao</cp:lastModifiedBy>
  <cp:revision>189</cp:revision>
  <dcterms:created xsi:type="dcterms:W3CDTF">2023-05-31T01:27:04Z</dcterms:created>
  <dcterms:modified xsi:type="dcterms:W3CDTF">2025-09-08T08:56:19Z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IPGFID">
    <vt:lpwstr>[DocID]=25FFAB96-9A41-4590-8B82-94998F02DFB5</vt:lpwstr>
  </property>
  <property fmtid="{D5CDD505-2E9C-101B-9397-08002B2CF9AE}" pid="3" name="_IPGFLOW_P-DAED_E-1_FP-1_SP-1_CV-870424A7_CN-A48908BC">
    <vt:lpwstr>twZVKWH7FlLO2R/LzU/Ecimgtt0uGKXbrIYylKNqnfEfftItjj2elBR6FUMm4ZU2mWZljwLnSIT1AbqYAbcTGb9BK7TFQ7i2vvoyUw0RUZJj6OHHihG+PDHE/paBRaDX75YK3+aNoKmuLBMorAdjq4cOl5jq2F0NFscCa6cow+uAiV88Aktr7ykHA4XxqiES58GTiXS76nvAZfrL0K11ARhbXj6ZdG996iDT/ue+AOFQHGSYYAjOovOvgpeHkkN</vt:lpwstr>
  </property>
  <property fmtid="{D5CDD505-2E9C-101B-9397-08002B2CF9AE}" pid="4" name="_IPGFLOW_P-DAED_E-1_FP-1_SP-2_CV-863B0364_CN-19036882">
    <vt:lpwstr>xEYlhe0eYfWjMB728mlhW5yLQEDZxkyUwa6YSHrywoXpPQJ4HbWT86VsoyNb7YyT0Cu4jou1/DgFU9HqyUkm4dt3CU6sydJNRs61CApcR6d6ZwN0FOscTgggsN9zMQlak</vt:lpwstr>
  </property>
  <property fmtid="{D5CDD505-2E9C-101B-9397-08002B2CF9AE}" pid="5" name="_IPGFLOW_P-DAED_E-0_FP-1_CV-1748F583_CN-8CA36F19">
    <vt:lpwstr>DPSPMK|3|384|2|0</vt:lpwstr>
  </property>
  <property fmtid="{D5CDD505-2E9C-101B-9397-08002B2CF9AE}" pid="6" name="_IPGFLOW_P-DAED_E-1_FP-2_SP-1_CV-F4306EFA_CN-995F4F71">
    <vt:lpwstr>twZVKWH7FlLO2R/LzU/EcqRPBml8Ug7qw6aQ6KOHwEmYBtvzILXnxy0PckVDPRXnq8pzgw3A7HMaYuoyc67pDNIC3erVdOTe6CkcGvui9Pmn6vomwSXHoBYG5s8y0FmbGWykirULJ4FPI4RYaEUSKs92E4MaVVUe1t660GqZkBiS4+uz2q5QhhFx1B+eRq+YCoZL+FTE42Sn+ZR0t7uE7tQ2qGKV8NlNyRmMhltIJN2GmSp4URVAy/0s/bU41yy</vt:lpwstr>
  </property>
  <property fmtid="{D5CDD505-2E9C-101B-9397-08002B2CF9AE}" pid="7" name="_IPGFLOW_P-DAED_E-1_FP-2_SP-2_CV-B6EC2820_CN-EB53D9A3">
    <vt:lpwstr>8GGi2P9SCP7bq1+ouz/Z+O1YVR0a5kbtSn5JkHEihcJj7zMB2aIo5jdL46vhx3DR/y5cKF7Qk3zHss2COoeIrJ/1ixsJ1J6o6QHSkCZC4XSCe7aUhvkGiNgLkpyYDoZm2</vt:lpwstr>
  </property>
  <property fmtid="{D5CDD505-2E9C-101B-9397-08002B2CF9AE}" pid="8" name="_IPGFLOW_P-DAED_E-0_FP-2_CV-1748F583_CN-316903D7">
    <vt:lpwstr>DPSPMK|3|384|2|0</vt:lpwstr>
  </property>
  <property fmtid="{D5CDD505-2E9C-101B-9397-08002B2CF9AE}" pid="9" name="_IPGFLOW_P-DAED_E-0_CV-8BD6D882_CN-A32E4E3D">
    <vt:lpwstr>DPFPMK|3|50|3|0</vt:lpwstr>
  </property>
  <property fmtid="{D5CDD505-2E9C-101B-9397-08002B2CF9AE}" pid="10" name="_IPGFLOW_P-DAED_E-1_FP-3_SP-1_CV-DB77CC6A_CN-E572D010">
    <vt:lpwstr>twZVKWH7FlLO2R/LzU/Ecn8pVlBuw7RKv5jO/MoUGZjtsv8k4Fw6kGcaMDU4C8AnC8ZZFzUT2fTBwPA2OwiZo+sPLPRNLBeh6ppJAYxUVvIMzL0UU7hYc6sPpwMzMjuzeM/cTBnIu4r6rFZeWidYEzRVBUm8BmxYyrFT7PuaiY0p98WUTYp4e5olZuXha3UHQed2INLB8kyelj3bHizmf+4vKG6956srY97usFYvFICqZ2m/2c0G4bSEDtpv6wl</vt:lpwstr>
  </property>
  <property fmtid="{D5CDD505-2E9C-101B-9397-08002B2CF9AE}" pid="11" name="_IPGFLOW_P-DAED_E-1_FP-3_SP-2_CV-3AADDB4_CN-8D837FA4">
    <vt:lpwstr>GThvEUXVKgjFhxoMfcxb4hpYdNS8QhJBNFHkmdAZA5nyzHWGVw+2UJ7cKF3lpHWYEQMoaweSD+GMHt88EeQca/ZdV2/Q6PXVS3c+bWggHs7GnNJcJAMWAKuCNeS0wEsD5</vt:lpwstr>
  </property>
  <property fmtid="{D5CDD505-2E9C-101B-9397-08002B2CF9AE}" pid="12" name="_IPGFLOW_P-DAED_E-0_FP-3_CV-1748F583_CN-ECFFDA52">
    <vt:lpwstr>DPSPMK|3|384|2|0</vt:lpwstr>
  </property>
</Properties>
</file>