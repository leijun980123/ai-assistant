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9.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9"/>
  </p:notesMasterIdLst>
  <p:sldIdLst>
    <p:sldId id="261" r:id="rId2"/>
    <p:sldId id="2147472997" r:id="rId3"/>
    <p:sldId id="257" r:id="rId4"/>
    <p:sldId id="2147375390" r:id="rId5"/>
    <p:sldId id="2147473001" r:id="rId6"/>
    <p:sldId id="2147473000" r:id="rId7"/>
    <p:sldId id="2147375389" r:id="rId8"/>
  </p:sldIdLst>
  <p:sldSz cx="18288000" cy="10288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8D7CC"/>
    <a:srgbClr val="F1CB78"/>
    <a:srgbClr val="A82415"/>
    <a:srgbClr val="BE5107"/>
    <a:srgbClr val="FFA92A"/>
    <a:srgbClr val="4472C4"/>
    <a:srgbClr val="70170F"/>
    <a:srgbClr val="FF9300"/>
    <a:srgbClr val="ED8278"/>
    <a:srgbClr val="C40A1A"/>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629" autoAdjust="0"/>
    <p:restoredTop sz="94142"/>
  </p:normalViewPr>
  <p:slideViewPr>
    <p:cSldViewPr snapToGrid="0">
      <p:cViewPr varScale="1">
        <p:scale>
          <a:sx n="48" d="100"/>
          <a:sy n="48" d="100"/>
        </p:scale>
        <p:origin x="-384" y="-60"/>
      </p:cViewPr>
      <p:guideLst>
        <p:guide orient="horz" pos="3240"/>
        <p:guide pos="576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05686-526E-EA47-AD21-0320394F441D}" type="datetimeFigureOut">
              <a:rPr kumimoji="1" lang="zh-TW" altLang="en-US" smtClean="0"/>
              <a:pPr/>
              <a:t>2025/7/8</a:t>
            </a:fld>
            <a:endParaRPr kumimoji="1"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zh-TW"/>
              <a:t>Click to edit Master text styles</a:t>
            </a:r>
          </a:p>
          <a:p>
            <a:pPr lvl="1"/>
            <a:r>
              <a:rPr kumimoji="1" lang="en-US" altLang="zh-TW"/>
              <a:t>Second level</a:t>
            </a:r>
          </a:p>
          <a:p>
            <a:pPr lvl="2"/>
            <a:r>
              <a:rPr kumimoji="1" lang="en-US" altLang="zh-TW"/>
              <a:t>Third level</a:t>
            </a:r>
          </a:p>
          <a:p>
            <a:pPr lvl="3"/>
            <a:r>
              <a:rPr kumimoji="1" lang="en-US" altLang="zh-TW"/>
              <a:t>Fourth level</a:t>
            </a:r>
          </a:p>
          <a:p>
            <a:pPr lvl="4"/>
            <a:r>
              <a:rPr kumimoji="1" lang="en-US" altLang="zh-TW"/>
              <a:t>Fifth level</a:t>
            </a:r>
            <a:endParaRPr kumimoji="1"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98844B-D7EC-8749-B720-E795CFF10818}" type="slidenum">
              <a:rPr kumimoji="1" lang="zh-TW" altLang="en-US" smtClean="0"/>
              <a:pPr/>
              <a:t>‹#›</a:t>
            </a:fld>
            <a:endParaRPr kumimoji="1" lang="zh-TW" altLang="en-US"/>
          </a:p>
        </p:txBody>
      </p:sp>
    </p:spTree>
    <p:extLst>
      <p:ext uri="{BB962C8B-B14F-4D97-AF65-F5344CB8AC3E}">
        <p14:creationId xmlns:p14="http://schemas.microsoft.com/office/powerpoint/2010/main" xmlns="" val="3481488999"/>
      </p:ext>
    </p:extLst>
  </p:cSld>
  <p:clrMap bg1="lt1" tx1="dk1" bg2="lt2" tx2="dk2" accent1="accent1" accent2="accent2" accent3="accent3" accent4="accent4" accent5="accent5" accent6="accent6" hlink="hlink" folHlink="folHlink"/>
  <p:notesStyle>
    <a:lvl1pPr marL="0" algn="l" defTabSz="1371327" rtl="0" eaLnBrk="1" latinLnBrk="0" hangingPunct="1">
      <a:defRPr sz="1800" kern="1200">
        <a:solidFill>
          <a:schemeClr val="tx1"/>
        </a:solidFill>
        <a:latin typeface="+mn-lt"/>
        <a:ea typeface="+mn-ea"/>
        <a:cs typeface="+mn-cs"/>
      </a:defRPr>
    </a:lvl1pPr>
    <a:lvl2pPr marL="685662" algn="l" defTabSz="1371327" rtl="0" eaLnBrk="1" latinLnBrk="0" hangingPunct="1">
      <a:defRPr sz="1800" kern="1200">
        <a:solidFill>
          <a:schemeClr val="tx1"/>
        </a:solidFill>
        <a:latin typeface="+mn-lt"/>
        <a:ea typeface="+mn-ea"/>
        <a:cs typeface="+mn-cs"/>
      </a:defRPr>
    </a:lvl2pPr>
    <a:lvl3pPr marL="1371327" algn="l" defTabSz="1371327" rtl="0" eaLnBrk="1" latinLnBrk="0" hangingPunct="1">
      <a:defRPr sz="1800" kern="1200">
        <a:solidFill>
          <a:schemeClr val="tx1"/>
        </a:solidFill>
        <a:latin typeface="+mn-lt"/>
        <a:ea typeface="+mn-ea"/>
        <a:cs typeface="+mn-cs"/>
      </a:defRPr>
    </a:lvl3pPr>
    <a:lvl4pPr marL="2056989" algn="l" defTabSz="1371327" rtl="0" eaLnBrk="1" latinLnBrk="0" hangingPunct="1">
      <a:defRPr sz="1800" kern="1200">
        <a:solidFill>
          <a:schemeClr val="tx1"/>
        </a:solidFill>
        <a:latin typeface="+mn-lt"/>
        <a:ea typeface="+mn-ea"/>
        <a:cs typeface="+mn-cs"/>
      </a:defRPr>
    </a:lvl4pPr>
    <a:lvl5pPr marL="2742651" algn="l" defTabSz="1371327" rtl="0" eaLnBrk="1" latinLnBrk="0" hangingPunct="1">
      <a:defRPr sz="1800" kern="1200">
        <a:solidFill>
          <a:schemeClr val="tx1"/>
        </a:solidFill>
        <a:latin typeface="+mn-lt"/>
        <a:ea typeface="+mn-ea"/>
        <a:cs typeface="+mn-cs"/>
      </a:defRPr>
    </a:lvl5pPr>
    <a:lvl6pPr marL="3428315" algn="l" defTabSz="1371327" rtl="0" eaLnBrk="1" latinLnBrk="0" hangingPunct="1">
      <a:defRPr sz="1800" kern="1200">
        <a:solidFill>
          <a:schemeClr val="tx1"/>
        </a:solidFill>
        <a:latin typeface="+mn-lt"/>
        <a:ea typeface="+mn-ea"/>
        <a:cs typeface="+mn-cs"/>
      </a:defRPr>
    </a:lvl6pPr>
    <a:lvl7pPr marL="4113978" algn="l" defTabSz="1371327" rtl="0" eaLnBrk="1" latinLnBrk="0" hangingPunct="1">
      <a:defRPr sz="1800" kern="1200">
        <a:solidFill>
          <a:schemeClr val="tx1"/>
        </a:solidFill>
        <a:latin typeface="+mn-lt"/>
        <a:ea typeface="+mn-ea"/>
        <a:cs typeface="+mn-cs"/>
      </a:defRPr>
    </a:lvl7pPr>
    <a:lvl8pPr marL="4799640" algn="l" defTabSz="1371327" rtl="0" eaLnBrk="1" latinLnBrk="0" hangingPunct="1">
      <a:defRPr sz="1800" kern="1200">
        <a:solidFill>
          <a:schemeClr val="tx1"/>
        </a:solidFill>
        <a:latin typeface="+mn-lt"/>
        <a:ea typeface="+mn-ea"/>
        <a:cs typeface="+mn-cs"/>
      </a:defRPr>
    </a:lvl8pPr>
    <a:lvl9pPr marL="5485302" algn="l" defTabSz="1371327"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TW" altLang="en-US" dirty="0"/>
          </a:p>
        </p:txBody>
      </p:sp>
      <p:sp>
        <p:nvSpPr>
          <p:cNvPr id="4" name="Slide Number Placeholder 3"/>
          <p:cNvSpPr>
            <a:spLocks noGrp="1"/>
          </p:cNvSpPr>
          <p:nvPr>
            <p:ph type="sldNum" sz="quarter" idx="5"/>
          </p:nvPr>
        </p:nvSpPr>
        <p:spPr/>
        <p:txBody>
          <a:bodyPr/>
          <a:lstStyle/>
          <a:p>
            <a:fld id="{4598844B-D7EC-8749-B720-E795CFF10818}" type="slidenum">
              <a:rPr kumimoji="1" lang="zh-TW" altLang="en-US" smtClean="0"/>
              <a:pPr/>
              <a:t>1</a:t>
            </a:fld>
            <a:endParaRPr kumimoji="1" lang="zh-TW" altLang="en-US"/>
          </a:p>
        </p:txBody>
      </p:sp>
    </p:spTree>
    <p:extLst>
      <p:ext uri="{BB962C8B-B14F-4D97-AF65-F5344CB8AC3E}">
        <p14:creationId xmlns:p14="http://schemas.microsoft.com/office/powerpoint/2010/main" xmlns="" val="709080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9961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9961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271384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804"/>
            <a:ext cx="13716000" cy="3581953"/>
          </a:xfrm>
        </p:spPr>
        <p:txBody>
          <a:bodyPr anchor="b"/>
          <a:lstStyle>
            <a:lvl1pPr algn="ctr">
              <a:defRPr sz="9000"/>
            </a:lvl1pPr>
          </a:lstStyle>
          <a:p>
            <a:r>
              <a:rPr lang="en-US" altLang="zh-TW" dirty="0"/>
              <a:t>Click to edit Master title style</a:t>
            </a:r>
            <a:endParaRPr lang="en-US" dirty="0"/>
          </a:p>
        </p:txBody>
      </p:sp>
      <p:sp>
        <p:nvSpPr>
          <p:cNvPr id="3" name="Subtitle 2"/>
          <p:cNvSpPr>
            <a:spLocks noGrp="1"/>
          </p:cNvSpPr>
          <p:nvPr>
            <p:ph type="subTitle" idx="1"/>
          </p:nvPr>
        </p:nvSpPr>
        <p:spPr>
          <a:xfrm>
            <a:off x="2286000" y="5403891"/>
            <a:ext cx="13716000" cy="2484026"/>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ltLang="zh-TW" dirty="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4688877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idx="1"/>
          </p:nvPr>
        </p:nvSpPr>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72288323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5004"/>
            <a:ext cx="15773400" cy="4279766"/>
          </a:xfrm>
        </p:spPr>
        <p:txBody>
          <a:bodyPr anchor="b"/>
          <a:lstStyle>
            <a:lvl1pPr>
              <a:defRPr sz="9000"/>
            </a:lvl1pPr>
          </a:lstStyle>
          <a:p>
            <a:r>
              <a:rPr lang="en-US" altLang="zh-TW" dirty="0"/>
              <a:t>Click to edit Master title style</a:t>
            </a:r>
            <a:endParaRPr lang="en-US" dirty="0"/>
          </a:p>
        </p:txBody>
      </p:sp>
      <p:sp>
        <p:nvSpPr>
          <p:cNvPr id="3" name="Text Placeholder 2"/>
          <p:cNvSpPr>
            <a:spLocks noGrp="1"/>
          </p:cNvSpPr>
          <p:nvPr>
            <p:ph type="body" idx="1"/>
          </p:nvPr>
        </p:nvSpPr>
        <p:spPr>
          <a:xfrm>
            <a:off x="1247775" y="6885258"/>
            <a:ext cx="15773400" cy="2250628"/>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ltLang="zh-TW"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75249958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sz="half" idx="1"/>
          </p:nvPr>
        </p:nvSpPr>
        <p:spPr>
          <a:xfrm>
            <a:off x="1257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Content Placeholder 3"/>
          <p:cNvSpPr>
            <a:spLocks noGrp="1"/>
          </p:cNvSpPr>
          <p:nvPr>
            <p:ph sz="half" idx="2"/>
          </p:nvPr>
        </p:nvSpPr>
        <p:spPr>
          <a:xfrm>
            <a:off x="9258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10683040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773"/>
            <a:ext cx="15773400" cy="1988651"/>
          </a:xfrm>
        </p:spPr>
        <p:txBody>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9683" y="2522134"/>
            <a:ext cx="7736681"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4" name="Content Placeholder 3"/>
          <p:cNvSpPr>
            <a:spLocks noGrp="1"/>
          </p:cNvSpPr>
          <p:nvPr>
            <p:ph sz="half" idx="2"/>
          </p:nvPr>
        </p:nvSpPr>
        <p:spPr>
          <a:xfrm>
            <a:off x="1259683" y="3758193"/>
            <a:ext cx="7736681"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Text Placeholder 4"/>
          <p:cNvSpPr>
            <a:spLocks noGrp="1"/>
          </p:cNvSpPr>
          <p:nvPr>
            <p:ph type="body" sz="quarter" idx="3"/>
          </p:nvPr>
        </p:nvSpPr>
        <p:spPr>
          <a:xfrm>
            <a:off x="9258300" y="2522134"/>
            <a:ext cx="7774782"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6" name="Content Placeholder 5"/>
          <p:cNvSpPr>
            <a:spLocks noGrp="1"/>
          </p:cNvSpPr>
          <p:nvPr>
            <p:ph sz="quarter" idx="4"/>
          </p:nvPr>
        </p:nvSpPr>
        <p:spPr>
          <a:xfrm>
            <a:off x="9258300" y="3758193"/>
            <a:ext cx="7774782"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6319273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834744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30187064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Content Placeholder 2"/>
          <p:cNvSpPr>
            <a:spLocks noGrp="1"/>
          </p:cNvSpPr>
          <p:nvPr>
            <p:ph idx="1"/>
          </p:nvPr>
        </p:nvSpPr>
        <p:spPr>
          <a:xfrm>
            <a:off x="7774782" y="1481367"/>
            <a:ext cx="9258300" cy="7311566"/>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353915219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Picture Placeholder 2"/>
          <p:cNvSpPr>
            <a:spLocks noGrp="1" noChangeAspect="1"/>
          </p:cNvSpPr>
          <p:nvPr>
            <p:ph type="pic" idx="1"/>
          </p:nvPr>
        </p:nvSpPr>
        <p:spPr>
          <a:xfrm>
            <a:off x="7774782" y="1481367"/>
            <a:ext cx="9258300" cy="7311566"/>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zh-TW" dirty="0"/>
              <a:t>Click icon to add picture</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5874769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1438517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772"/>
            <a:ext cx="3943350" cy="8719103"/>
          </a:xfrm>
        </p:spPr>
        <p:txBody>
          <a:bodyPr vert="eaVert"/>
          <a:lstStyle/>
          <a:p>
            <a:r>
              <a:rPr lang="en-US" altLang="zh-TW" dirty="0"/>
              <a:t>Click to edit Master title style</a:t>
            </a:r>
            <a:endParaRPr lang="en-US" dirty="0"/>
          </a:p>
        </p:txBody>
      </p:sp>
      <p:sp>
        <p:nvSpPr>
          <p:cNvPr id="3" name="Vertical Text Placeholder 2"/>
          <p:cNvSpPr>
            <a:spLocks noGrp="1"/>
          </p:cNvSpPr>
          <p:nvPr>
            <p:ph type="body" orient="vert" idx="1"/>
          </p:nvPr>
        </p:nvSpPr>
        <p:spPr>
          <a:xfrm>
            <a:off x="1257300" y="547772"/>
            <a:ext cx="11601450" cy="8719103"/>
          </a:xfrm>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11470180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訂版面配置">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xmlns="" id="{E25844F4-1900-BFFB-A55D-854D27EE700E}"/>
              </a:ext>
            </a:extLst>
          </p:cNvPr>
          <p:cNvPicPr>
            <a:picLocks noChangeAspect="1"/>
          </p:cNvPicPr>
          <p:nvPr userDrawn="1"/>
        </p:nvPicPr>
        <p:blipFill>
          <a:blip r:embed="rId2" cstate="screen">
            <a:extLst>
              <a:ext uri="{28A0092B-C50C-407E-A947-70E740481C1C}">
                <a14:useLocalDpi xmlns:a14="http://schemas.microsoft.com/office/drawing/2010/main" xmlns=""/>
              </a:ext>
            </a:extLst>
          </a:blip>
          <a:srcRect/>
          <a:stretch/>
        </p:blipFill>
        <p:spPr>
          <a:xfrm>
            <a:off x="0" y="0"/>
            <a:ext cx="18288000" cy="10288588"/>
          </a:xfrm>
          <a:prstGeom prst="rect">
            <a:avLst/>
          </a:prstGeom>
        </p:spPr>
      </p:pic>
    </p:spTree>
    <p:extLst>
      <p:ext uri="{BB962C8B-B14F-4D97-AF65-F5344CB8AC3E}">
        <p14:creationId xmlns:p14="http://schemas.microsoft.com/office/powerpoint/2010/main" xmlns="" val="83353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自訂版面配置">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xmlns="" id="{1089C009-AC07-C46C-AE77-052C754A5BCD}"/>
              </a:ext>
            </a:extLst>
          </p:cNvPr>
          <p:cNvPicPr>
            <a:picLocks noChangeAspect="1"/>
          </p:cNvPicPr>
          <p:nvPr userDrawn="1"/>
        </p:nvPicPr>
        <p:blipFill>
          <a:blip r:embed="rId2" cstate="screen">
            <a:extLst>
              <a:ext uri="{28A0092B-C50C-407E-A947-70E740481C1C}">
                <a14:useLocalDpi xmlns:a14="http://schemas.microsoft.com/office/drawing/2010/main" xmlns=""/>
              </a:ext>
            </a:extLst>
          </a:blip>
          <a:srcRect/>
          <a:stretch/>
        </p:blipFill>
        <p:spPr>
          <a:xfrm>
            <a:off x="3" y="2575"/>
            <a:ext cx="18287997" cy="10286015"/>
          </a:xfrm>
          <a:prstGeom prst="rect">
            <a:avLst/>
          </a:prstGeom>
        </p:spPr>
      </p:pic>
    </p:spTree>
    <p:extLst>
      <p:ext uri="{BB962C8B-B14F-4D97-AF65-F5344CB8AC3E}">
        <p14:creationId xmlns:p14="http://schemas.microsoft.com/office/powerpoint/2010/main" xmlns="" val="956458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自訂版面配置">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xmlns="" id="{8BD2CC32-CECA-3D65-6472-4640E726C047}"/>
              </a:ext>
            </a:extLst>
          </p:cNvPr>
          <p:cNvPicPr>
            <a:picLocks noChangeAspect="1"/>
          </p:cNvPicPr>
          <p:nvPr userDrawn="1"/>
        </p:nvPicPr>
        <p:blipFill>
          <a:blip r:embed="rId2" cstate="screen">
            <a:extLst>
              <a:ext uri="{28A0092B-C50C-407E-A947-70E740481C1C}">
                <a14:useLocalDpi xmlns:a14="http://schemas.microsoft.com/office/drawing/2010/main" xmlns=""/>
              </a:ext>
            </a:extLst>
          </a:blip>
          <a:srcRect/>
          <a:stretch/>
        </p:blipFill>
        <p:spPr>
          <a:xfrm>
            <a:off x="0" y="1290"/>
            <a:ext cx="18288000" cy="10286015"/>
          </a:xfrm>
          <a:prstGeom prst="rect">
            <a:avLst/>
          </a:prstGeom>
        </p:spPr>
      </p:pic>
      <p:sp>
        <p:nvSpPr>
          <p:cNvPr id="2" name="TextBox 1">
            <a:extLst>
              <a:ext uri="{FF2B5EF4-FFF2-40B4-BE49-F238E27FC236}">
                <a16:creationId xmlns:a16="http://schemas.microsoft.com/office/drawing/2014/main" xmlns="" id="{3C3275E5-3531-FFFA-3798-282621745510}"/>
              </a:ext>
            </a:extLst>
          </p:cNvPr>
          <p:cNvSpPr txBox="1"/>
          <p:nvPr userDrawn="1"/>
        </p:nvSpPr>
        <p:spPr>
          <a:xfrm>
            <a:off x="644238" y="600812"/>
            <a:ext cx="3262432" cy="1015663"/>
          </a:xfrm>
          <a:prstGeom prst="rect">
            <a:avLst/>
          </a:prstGeom>
          <a:noFill/>
        </p:spPr>
        <p:txBody>
          <a:bodyPr wrap="none" rtlCol="0">
            <a:spAutoFit/>
          </a:bodyPr>
          <a:lstStyle/>
          <a:p>
            <a:r>
              <a:rPr kumimoji="1" lang="zh-TW" altLang="en-US" sz="6000" b="1">
                <a:latin typeface="Microsoft JhengHei" panose="020B0604030504040204" pitchFamily="34" charset="-120"/>
                <a:ea typeface="Microsoft JhengHei" panose="020B0604030504040204" pitchFamily="34" charset="-120"/>
              </a:rPr>
              <a:t>重要聲明</a:t>
            </a:r>
          </a:p>
        </p:txBody>
      </p:sp>
      <p:sp>
        <p:nvSpPr>
          <p:cNvPr id="4" name="TextBox 3">
            <a:extLst>
              <a:ext uri="{FF2B5EF4-FFF2-40B4-BE49-F238E27FC236}">
                <a16:creationId xmlns:a16="http://schemas.microsoft.com/office/drawing/2014/main" xmlns="" id="{D3BA386D-4EF9-4F60-02E3-7C1A898CF24E}"/>
              </a:ext>
            </a:extLst>
          </p:cNvPr>
          <p:cNvSpPr txBox="1"/>
          <p:nvPr userDrawn="1"/>
        </p:nvSpPr>
        <p:spPr>
          <a:xfrm>
            <a:off x="561111" y="3205004"/>
            <a:ext cx="17165778" cy="3416320"/>
          </a:xfrm>
          <a:prstGeom prst="rect">
            <a:avLst/>
          </a:prstGeom>
          <a:noFill/>
        </p:spPr>
        <p:txBody>
          <a:bodyPr wrap="square" rtlCol="0">
            <a:spAutoFit/>
          </a:bodyPr>
          <a:lstStyle/>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本簡報依據</a:t>
            </a:r>
            <a:r>
              <a:rPr lang="zh-TW" altLang="en-US" sz="2400" b="1" dirty="0">
                <a:latin typeface="微軟正黑體" panose="020B0604030504040204" pitchFamily="34" charset="-120"/>
                <a:ea typeface="微軟正黑體" panose="020B0604030504040204" pitchFamily="34" charset="-120"/>
              </a:rPr>
              <a:t>裕榮昌科技股份有限公司台中分公司</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之需求所編製。</a:t>
            </a: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buClr>
                <a:srgbClr val="000000"/>
              </a:buClr>
            </a:pP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lgn="just" fontAlgn="base"/>
            <a:r>
              <a:rPr lang="zh-TW" altLang="en-US" sz="2400" b="1" dirty="0">
                <a:latin typeface="微軟正黑體" panose="020B0604030504040204" pitchFamily="34" charset="-120"/>
                <a:ea typeface="微軟正黑體" panose="020B0604030504040204" pitchFamily="34" charset="-120"/>
              </a:rPr>
              <a:t>本份簡報係於</a:t>
            </a:r>
            <a:r>
              <a:rPr lang="en-US" altLang="zh-TW" sz="2400" b="1" dirty="0">
                <a:latin typeface="微軟正黑體" panose="020B0604030504040204" pitchFamily="34" charset="-120"/>
                <a:ea typeface="微軟正黑體" panose="020B0604030504040204" pitchFamily="34" charset="-120"/>
              </a:rPr>
              <a:t>2025</a:t>
            </a:r>
            <a:r>
              <a:rPr lang="zh-TW" altLang="en-US" sz="2400" b="1" dirty="0">
                <a:latin typeface="微軟正黑體" panose="020B0604030504040204" pitchFamily="34" charset="-120"/>
                <a:ea typeface="微軟正黑體" panose="020B0604030504040204" pitchFamily="34" charset="-120"/>
              </a:rPr>
              <a:t>年</a:t>
            </a:r>
            <a:r>
              <a:rPr lang="en-US" altLang="zh-TW" sz="2400" b="1" dirty="0">
                <a:latin typeface="微軟正黑體" panose="020B0604030504040204" pitchFamily="34" charset="-120"/>
                <a:ea typeface="微軟正黑體" panose="020B0604030504040204" pitchFamily="34" charset="-120"/>
              </a:rPr>
              <a:t>4</a:t>
            </a:r>
            <a:r>
              <a:rPr lang="zh-TW" altLang="en-US" sz="2400" b="1" dirty="0">
                <a:latin typeface="微軟正黑體" panose="020B0604030504040204" pitchFamily="34" charset="-120"/>
                <a:ea typeface="微軟正黑體" panose="020B0604030504040204" pitchFamily="34" charset="-120"/>
              </a:rPr>
              <a:t>月</a:t>
            </a:r>
            <a:r>
              <a:rPr lang="en-US" altLang="zh-TW" sz="2400" b="1" dirty="0">
                <a:latin typeface="微軟正黑體" panose="020B0604030504040204" pitchFamily="34" charset="-120"/>
                <a:ea typeface="微軟正黑體" panose="020B0604030504040204" pitchFamily="34" charset="-120"/>
              </a:rPr>
              <a:t>1</a:t>
            </a:r>
            <a:r>
              <a:rPr lang="zh-TW" altLang="en-US" sz="2400" b="1" dirty="0">
                <a:latin typeface="微軟正黑體" panose="020B0604030504040204" pitchFamily="34" charset="-120"/>
                <a:ea typeface="微軟正黑體" panose="020B0604030504040204" pitchFamily="34" charset="-120"/>
              </a:rPr>
              <a:t>日簽訂之服務委任合約製作完成，僅提供賜昌集團內部參考使用。</a:t>
            </a:r>
          </a:p>
          <a:p>
            <a:pPr algn="just" fontAlgn="base"/>
            <a:endParaRPr lang="en-US" altLang="zh-TW" sz="2400" b="1" dirty="0">
              <a:latin typeface="微軟正黑體" panose="020B0604030504040204" pitchFamily="34" charset="-120"/>
              <a:ea typeface="微軟正黑體" panose="020B0604030504040204" pitchFamily="34" charset="-120"/>
            </a:endParaRPr>
          </a:p>
          <a:p>
            <a:pPr algn="just" fontAlgn="base"/>
            <a:r>
              <a:rPr lang="zh-TW" altLang="en-US" sz="2400" b="1" dirty="0">
                <a:latin typeface="微軟正黑體" panose="020B0604030504040204" pitchFamily="34" charset="-120"/>
                <a:ea typeface="微軟正黑體" panose="020B0604030504040204" pitchFamily="34" charset="-120"/>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p>
          <a:p>
            <a:endParaRPr lang="zh-TW" altLang="en-US" sz="2400" b="1" dirty="0">
              <a:latin typeface="微軟正黑體" panose="020B0604030504040204" pitchFamily="34" charset="-120"/>
              <a:ea typeface="微軟正黑體" panose="020B0604030504040204" pitchFamily="34" charset="-120"/>
            </a:endParaRPr>
          </a:p>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未經本公司書面同意，  貴公司以及專案所有成員不得將本簡報之全部或部分提供予任何第三人或使第三人得知其內容。</a:t>
            </a:r>
          </a:p>
        </p:txBody>
      </p:sp>
    </p:spTree>
    <p:extLst>
      <p:ext uri="{BB962C8B-B14F-4D97-AF65-F5344CB8AC3E}">
        <p14:creationId xmlns:p14="http://schemas.microsoft.com/office/powerpoint/2010/main" xmlns="" val="194200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自訂版面配置">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xmlns="" id="{8BD2CC32-CECA-3D65-6472-4640E726C047}"/>
              </a:ext>
            </a:extLst>
          </p:cNvPr>
          <p:cNvPicPr>
            <a:picLocks noChangeAspect="1"/>
          </p:cNvPicPr>
          <p:nvPr userDrawn="1"/>
        </p:nvPicPr>
        <p:blipFill>
          <a:blip r:embed="rId2" cstate="screen">
            <a:extLst>
              <a:ext uri="{28A0092B-C50C-407E-A947-70E740481C1C}">
                <a14:useLocalDpi xmlns:a14="http://schemas.microsoft.com/office/drawing/2010/main" xmlns=""/>
              </a:ext>
            </a:extLst>
          </a:blip>
          <a:srcRect/>
          <a:stretch/>
        </p:blipFill>
        <p:spPr>
          <a:xfrm>
            <a:off x="0" y="1290"/>
            <a:ext cx="18288000" cy="10286015"/>
          </a:xfrm>
          <a:prstGeom prst="rect">
            <a:avLst/>
          </a:prstGeom>
        </p:spPr>
      </p:pic>
    </p:spTree>
    <p:extLst>
      <p:ext uri="{BB962C8B-B14F-4D97-AF65-F5344CB8AC3E}">
        <p14:creationId xmlns:p14="http://schemas.microsoft.com/office/powerpoint/2010/main" xmlns="" val="275478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Full Content - Subtitle" preserve="1">
  <p:cSld name="2_Title and Full Content - Subtitle">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664371" y="715994"/>
            <a:ext cx="16959261" cy="684373"/>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Microsoft JhengHei"/>
              <a:buNone/>
              <a:defRPr sz="4200" b="1">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8"/>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lang="en-US"/>
          </a:p>
        </p:txBody>
      </p:sp>
      <p:sp>
        <p:nvSpPr>
          <p:cNvPr id="28" name="Google Shape;28;p8"/>
          <p:cNvSpPr txBox="1">
            <a:spLocks noGrp="1"/>
          </p:cNvSpPr>
          <p:nvPr>
            <p:ph type="subTitle" idx="1"/>
          </p:nvPr>
        </p:nvSpPr>
        <p:spPr>
          <a:xfrm>
            <a:off x="664368" y="1674730"/>
            <a:ext cx="16959264" cy="1212484"/>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accent4"/>
              </a:buClr>
              <a:buSzPts val="2000"/>
              <a:buNone/>
              <a:defRPr sz="3000" b="1">
                <a:solidFill>
                  <a:schemeClr val="accent4"/>
                </a:solidFill>
                <a:latin typeface="Microsoft JhengHei"/>
                <a:ea typeface="Microsoft JhengHei"/>
                <a:cs typeface="Microsoft JhengHei"/>
                <a:sym typeface="Microsoft JhengHei"/>
              </a:defRPr>
            </a:lvl1pPr>
            <a:lvl2pPr lvl="1" algn="l">
              <a:lnSpc>
                <a:spcPct val="85000"/>
              </a:lnSpc>
              <a:spcBef>
                <a:spcPts val="0"/>
              </a:spcBef>
              <a:spcAft>
                <a:spcPts val="0"/>
              </a:spcAft>
              <a:buClr>
                <a:schemeClr val="dk1"/>
              </a:buClr>
              <a:buSzPts val="2400"/>
              <a:buNone/>
              <a:defRPr sz="3600"/>
            </a:lvl2pPr>
            <a:lvl3pPr lvl="2" algn="l">
              <a:lnSpc>
                <a:spcPct val="85000"/>
              </a:lnSpc>
              <a:spcBef>
                <a:spcPts val="0"/>
              </a:spcBef>
              <a:spcAft>
                <a:spcPts val="0"/>
              </a:spcAft>
              <a:buClr>
                <a:schemeClr val="dk1"/>
              </a:buClr>
              <a:buSzPts val="2400"/>
              <a:buNone/>
              <a:defRPr sz="3600"/>
            </a:lvl3pPr>
            <a:lvl4pPr lvl="3" algn="l">
              <a:lnSpc>
                <a:spcPct val="85000"/>
              </a:lnSpc>
              <a:spcBef>
                <a:spcPts val="0"/>
              </a:spcBef>
              <a:spcAft>
                <a:spcPts val="0"/>
              </a:spcAft>
              <a:buClr>
                <a:schemeClr val="dk1"/>
              </a:buClr>
              <a:buSzPts val="2400"/>
              <a:buNone/>
              <a:defRPr sz="3600"/>
            </a:lvl4pPr>
            <a:lvl5pPr lvl="4" algn="l">
              <a:lnSpc>
                <a:spcPct val="85000"/>
              </a:lnSpc>
              <a:spcBef>
                <a:spcPts val="0"/>
              </a:spcBef>
              <a:spcAft>
                <a:spcPts val="0"/>
              </a:spcAft>
              <a:buClr>
                <a:schemeClr val="dk1"/>
              </a:buClr>
              <a:buSzPts val="2400"/>
              <a:buNone/>
              <a:defRPr sz="3600"/>
            </a:lvl5pPr>
            <a:lvl6pPr lvl="5" algn="l">
              <a:lnSpc>
                <a:spcPct val="85000"/>
              </a:lnSpc>
              <a:spcBef>
                <a:spcPts val="0"/>
              </a:spcBef>
              <a:spcAft>
                <a:spcPts val="0"/>
              </a:spcAft>
              <a:buClr>
                <a:schemeClr val="dk1"/>
              </a:buClr>
              <a:buSzPts val="2400"/>
              <a:buNone/>
              <a:defRPr sz="3600"/>
            </a:lvl6pPr>
            <a:lvl7pPr lvl="6" algn="l">
              <a:lnSpc>
                <a:spcPct val="85000"/>
              </a:lnSpc>
              <a:spcBef>
                <a:spcPts val="0"/>
              </a:spcBef>
              <a:spcAft>
                <a:spcPts val="0"/>
              </a:spcAft>
              <a:buClr>
                <a:schemeClr val="dk1"/>
              </a:buClr>
              <a:buSzPts val="2400"/>
              <a:buNone/>
              <a:defRPr sz="3600"/>
            </a:lvl7pPr>
            <a:lvl8pPr lvl="7" algn="l">
              <a:lnSpc>
                <a:spcPct val="85000"/>
              </a:lnSpc>
              <a:spcBef>
                <a:spcPts val="0"/>
              </a:spcBef>
              <a:spcAft>
                <a:spcPts val="0"/>
              </a:spcAft>
              <a:buClr>
                <a:schemeClr val="dk1"/>
              </a:buClr>
              <a:buSzPts val="2400"/>
              <a:buNone/>
              <a:defRPr sz="3600"/>
            </a:lvl8pPr>
            <a:lvl9pPr lvl="8" algn="l">
              <a:lnSpc>
                <a:spcPct val="85000"/>
              </a:lnSpc>
              <a:spcBef>
                <a:spcPts val="0"/>
              </a:spcBef>
              <a:spcAft>
                <a:spcPts val="0"/>
              </a:spcAft>
              <a:buClr>
                <a:schemeClr val="dk1"/>
              </a:buClr>
              <a:buSzPts val="2400"/>
              <a:buNone/>
              <a:defRPr sz="3600"/>
            </a:lvl9pPr>
          </a:lstStyle>
          <a:p>
            <a:endParaRPr/>
          </a:p>
        </p:txBody>
      </p:sp>
      <p:cxnSp>
        <p:nvCxnSpPr>
          <p:cNvPr id="2" name="Google Shape;26;p8">
            <a:extLst>
              <a:ext uri="{FF2B5EF4-FFF2-40B4-BE49-F238E27FC236}">
                <a16:creationId xmlns:a16="http://schemas.microsoft.com/office/drawing/2014/main" xmlns="" id="{3C44852E-2A4F-C390-0531-598DA50C7D0D}"/>
              </a:ext>
            </a:extLst>
          </p:cNvPr>
          <p:cNvCxnSpPr>
            <a:cxnSpLocks/>
          </p:cNvCxnSpPr>
          <p:nvPr userDrawn="1"/>
        </p:nvCxnSpPr>
        <p:spPr>
          <a:xfrm>
            <a:off x="609166" y="1512141"/>
            <a:ext cx="17014463" cy="0"/>
          </a:xfrm>
          <a:prstGeom prst="straightConnector1">
            <a:avLst/>
          </a:prstGeom>
          <a:noFill/>
          <a:ln w="38100" cap="sq" cmpd="sng">
            <a:solidFill>
              <a:srgbClr val="A82415"/>
            </a:solidFill>
            <a:prstDash val="solid"/>
            <a:round/>
            <a:headEnd type="none" w="sm" len="sm"/>
            <a:tailEnd type="none" w="sm" len="sm"/>
          </a:ln>
        </p:spPr>
      </p:cxnSp>
      <p:pic>
        <p:nvPicPr>
          <p:cNvPr id="3" name="Google Shape;27;p8" descr="A red and black logo&#10;&#10;Description automatically generated">
            <a:extLst>
              <a:ext uri="{FF2B5EF4-FFF2-40B4-BE49-F238E27FC236}">
                <a16:creationId xmlns:a16="http://schemas.microsoft.com/office/drawing/2014/main" xmlns="" id="{7203C895-E48E-5654-59B4-87C538B70FA1}"/>
              </a:ext>
            </a:extLst>
          </p:cNvPr>
          <p:cNvPicPr preferRelativeResize="0"/>
          <p:nvPr userDrawn="1"/>
        </p:nvPicPr>
        <p:blipFill rotWithShape="1">
          <a:blip r:embed="rId2">
            <a:alphaModFix/>
          </a:blip>
          <a:srcRect/>
          <a:stretch/>
        </p:blipFill>
        <p:spPr>
          <a:xfrm>
            <a:off x="16791708" y="695699"/>
            <a:ext cx="831921" cy="724961"/>
          </a:xfrm>
          <a:prstGeom prst="rect">
            <a:avLst/>
          </a:prstGeom>
          <a:noFill/>
          <a:ln>
            <a:noFill/>
          </a:ln>
        </p:spPr>
      </p:pic>
    </p:spTree>
    <p:extLst>
      <p:ext uri="{BB962C8B-B14F-4D97-AF65-F5344CB8AC3E}">
        <p14:creationId xmlns:p14="http://schemas.microsoft.com/office/powerpoint/2010/main" xmlns="" val="1804427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and Full Content - Subtitle" preserve="1" userDrawn="1">
  <p:cSld name="2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a16="http://schemas.microsoft.com/office/drawing/2014/main" xmlns="" id="{DDE4C3EC-89CD-BB54-5F4C-D558F5C045CB}"/>
              </a:ext>
            </a:extLst>
          </p:cNvPr>
          <p:cNvGraphicFramePr/>
          <p:nvPr userDrawn="1">
            <p:extLst>
              <p:ext uri="{D42A27DB-BD31-4B8C-83A1-F6EECF244321}">
                <p14:modId xmlns:p14="http://schemas.microsoft.com/office/powerpoint/2010/main" xmlns="" val="3675913295"/>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a16="http://schemas.microsoft.com/office/drawing/2014/main" xmlns="" val="20000"/>
                    </a:ext>
                  </a:extLst>
                </a:gridCol>
                <a:gridCol w="11889371">
                  <a:extLst>
                    <a:ext uri="{9D8B030D-6E8A-4147-A177-3AD203B41FA5}">
                      <a16:colId xmlns:a16="http://schemas.microsoft.com/office/drawing/2014/main" xmlns="" val="20001"/>
                    </a:ext>
                  </a:extLst>
                </a:gridCol>
                <a:gridCol w="3819371">
                  <a:extLst>
                    <a:ext uri="{9D8B030D-6E8A-4147-A177-3AD203B41FA5}">
                      <a16:colId xmlns:a16="http://schemas.microsoft.com/office/drawing/2014/main" xmlns=""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xmlns="" val="10001"/>
                  </a:ext>
                </a:extLst>
              </a:tr>
              <a:tr h="8799383">
                <a:tc gridSpan="3">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pPr marL="0" marR="0" lvl="0" indent="0" algn="ctr" rtl="0">
                        <a:lnSpc>
                          <a:spcPct val="100000"/>
                        </a:lnSpc>
                        <a:spcBef>
                          <a:spcPts val="0"/>
                        </a:spcBef>
                        <a:spcAft>
                          <a:spcPts val="0"/>
                        </a:spcAft>
                        <a:buClr>
                          <a:schemeClr val="dk1"/>
                        </a:buClr>
                        <a:buSzPts val="1000"/>
                        <a:buFont typeface="Arial"/>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438868285"/>
                  </a:ext>
                </a:extLst>
              </a:tr>
            </a:tbl>
          </a:graphicData>
        </a:graphic>
      </p:graphicFrame>
      <p:pic>
        <p:nvPicPr>
          <p:cNvPr id="3" name="Google Shape;37;p9" descr="A red and black logo&#10;&#10;Description automatically generated">
            <a:extLst>
              <a:ext uri="{FF2B5EF4-FFF2-40B4-BE49-F238E27FC236}">
                <a16:creationId xmlns:a16="http://schemas.microsoft.com/office/drawing/2014/main" xmlns=""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4" name="Google Shape;24;p8">
            <a:extLst>
              <a:ext uri="{FF2B5EF4-FFF2-40B4-BE49-F238E27FC236}">
                <a16:creationId xmlns:a16="http://schemas.microsoft.com/office/drawing/2014/main" xmlns="" id="{10ED93F3-E6DB-99ED-6C71-93C2253FB3D7}"/>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p14="http://schemas.microsoft.com/office/powerpoint/2010/main" xmlns="" val="1975337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and Full Content - Subtitle" userDrawn="1">
  <p:cSld name="1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a16="http://schemas.microsoft.com/office/drawing/2014/main" xmlns="" id="{DDE4C3EC-89CD-BB54-5F4C-D558F5C045CB}"/>
              </a:ext>
            </a:extLst>
          </p:cNvPr>
          <p:cNvGraphicFramePr/>
          <p:nvPr userDrawn="1">
            <p:extLst>
              <p:ext uri="{D42A27DB-BD31-4B8C-83A1-F6EECF244321}">
                <p14:modId xmlns:p14="http://schemas.microsoft.com/office/powerpoint/2010/main" xmlns="" val="642626727"/>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a16="http://schemas.microsoft.com/office/drawing/2014/main" xmlns="" val="20000"/>
                    </a:ext>
                  </a:extLst>
                </a:gridCol>
                <a:gridCol w="9468940">
                  <a:extLst>
                    <a:ext uri="{9D8B030D-6E8A-4147-A177-3AD203B41FA5}">
                      <a16:colId xmlns:a16="http://schemas.microsoft.com/office/drawing/2014/main" xmlns="" val="20001"/>
                    </a:ext>
                  </a:extLst>
                </a:gridCol>
                <a:gridCol w="2420431">
                  <a:extLst>
                    <a:ext uri="{9D8B030D-6E8A-4147-A177-3AD203B41FA5}">
                      <a16:colId xmlns:a16="http://schemas.microsoft.com/office/drawing/2014/main" xmlns="" val="697488759"/>
                    </a:ext>
                  </a:extLst>
                </a:gridCol>
                <a:gridCol w="3819371">
                  <a:extLst>
                    <a:ext uri="{9D8B030D-6E8A-4147-A177-3AD203B41FA5}">
                      <a16:colId xmlns:a16="http://schemas.microsoft.com/office/drawing/2014/main" xmlns=""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gridSpan="2">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endParaRPr lang="zh-TW" altLang="en-US"/>
                    </a:p>
                  </a:txBody>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gridSpan="2">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endParaRPr lang="zh-TW" altLang="en-US"/>
                    </a:p>
                  </a:txBody>
                  <a:tcPr/>
                </a:tc>
                <a:tc vMerge="1">
                  <a:txBody>
                    <a:bodyPr/>
                    <a:lstStyle/>
                    <a:p>
                      <a:endParaRPr lang="en-US"/>
                    </a:p>
                  </a:txBody>
                  <a:tcPr/>
                </a:tc>
                <a:extLst>
                  <a:ext uri="{0D108BD9-81ED-4DB2-BD59-A6C34878D82A}">
                    <a16:rowId xmlns:a16="http://schemas.microsoft.com/office/drawing/2014/main" xmlns="" val="10001"/>
                  </a:ext>
                </a:extLst>
              </a:tr>
              <a:tr h="37022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Input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Output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lnSpc>
                          <a:spcPct val="100000"/>
                        </a:lnSpc>
                        <a:spcBef>
                          <a:spcPts val="0"/>
                        </a:spcBef>
                        <a:spcAft>
                          <a:spcPts val="0"/>
                        </a:spcAft>
                        <a:buClr>
                          <a:schemeClr val="dk1"/>
                        </a:buClr>
                        <a:buSzPts val="1000"/>
                        <a:buFont typeface="Arial"/>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Activities</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438868285"/>
                  </a:ext>
                </a:extLst>
              </a:tr>
              <a:tr h="8429160">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lnSpc>
                          <a:spcPct val="100000"/>
                        </a:lnSpc>
                        <a:spcBef>
                          <a:spcPts val="0"/>
                        </a:spcBef>
                        <a:spcAft>
                          <a:spcPts val="0"/>
                        </a:spcAft>
                        <a:buClr>
                          <a:schemeClr val="dk1"/>
                        </a:buClr>
                        <a:buSzPts val="1000"/>
                        <a:buFont typeface="Arial"/>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3940032794"/>
                  </a:ext>
                </a:extLst>
              </a:tr>
            </a:tbl>
          </a:graphicData>
        </a:graphic>
      </p:graphicFrame>
      <p:pic>
        <p:nvPicPr>
          <p:cNvPr id="3" name="Google Shape;37;p9" descr="A red and black logo&#10;&#10;Description automatically generated">
            <a:extLst>
              <a:ext uri="{FF2B5EF4-FFF2-40B4-BE49-F238E27FC236}">
                <a16:creationId xmlns:a16="http://schemas.microsoft.com/office/drawing/2014/main" xmlns=""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10" name="Google Shape;24;p8">
            <a:extLst>
              <a:ext uri="{FF2B5EF4-FFF2-40B4-BE49-F238E27FC236}">
                <a16:creationId xmlns:a16="http://schemas.microsoft.com/office/drawing/2014/main" xmlns="" id="{0448B46C-C68B-BB74-204F-0F458130E386}"/>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p14="http://schemas.microsoft.com/office/powerpoint/2010/main" xmlns="" val="34162246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自訂版面配置">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xmlns="" id="{0B02BF32-51F7-DDF0-4455-62412D8BC839}"/>
              </a:ext>
            </a:extLst>
          </p:cNvPr>
          <p:cNvPicPr>
            <a:picLocks noChangeAspect="1"/>
          </p:cNvPicPr>
          <p:nvPr userDrawn="1"/>
        </p:nvPicPr>
        <p:blipFill>
          <a:blip r:embed="rId2" cstate="screen">
            <a:extLst>
              <a:ext uri="{28A0092B-C50C-407E-A947-70E740481C1C}">
                <a14:useLocalDpi xmlns:a14="http://schemas.microsoft.com/office/drawing/2010/main" xmlns=""/>
              </a:ext>
            </a:extLst>
          </a:blip>
          <a:srcRect/>
          <a:stretch/>
        </p:blipFill>
        <p:spPr>
          <a:xfrm>
            <a:off x="0" y="0"/>
            <a:ext cx="18288000" cy="10288588"/>
          </a:xfrm>
          <a:prstGeom prst="rect">
            <a:avLst/>
          </a:prstGeom>
        </p:spPr>
      </p:pic>
    </p:spTree>
    <p:extLst>
      <p:ext uri="{BB962C8B-B14F-4D97-AF65-F5344CB8AC3E}">
        <p14:creationId xmlns:p14="http://schemas.microsoft.com/office/powerpoint/2010/main" xmlns="" val="4204613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773"/>
            <a:ext cx="15773400" cy="1988651"/>
          </a:xfrm>
          <a:prstGeom prst="rect">
            <a:avLst/>
          </a:prstGeom>
        </p:spPr>
        <p:txBody>
          <a:bodyPr vert="horz" lIns="91440" tIns="45720" rIns="91440" bIns="45720" rtlCol="0" anchor="ctr">
            <a:normAutofit/>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7300" y="2738860"/>
            <a:ext cx="15773400" cy="6528015"/>
          </a:xfrm>
          <a:prstGeom prst="rect">
            <a:avLst/>
          </a:prstGeom>
        </p:spPr>
        <p:txBody>
          <a:bodyPr vert="horz" lIns="91440" tIns="45720" rIns="91440" bIns="45720" rtlCol="0">
            <a:normAutofit/>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2"/>
          </p:nvPr>
        </p:nvSpPr>
        <p:spPr>
          <a:xfrm>
            <a:off x="1257300" y="9535998"/>
            <a:ext cx="4114800" cy="547772"/>
          </a:xfrm>
          <a:prstGeom prst="rect">
            <a:avLst/>
          </a:prstGeom>
        </p:spPr>
        <p:txBody>
          <a:bodyPr vert="horz" lIns="91440" tIns="45720" rIns="91440" bIns="45720" rtlCol="0" anchor="ctr"/>
          <a:lstStyle>
            <a:lvl1pPr algn="l">
              <a:defRPr sz="1800">
                <a:solidFill>
                  <a:schemeClr val="tx1">
                    <a:tint val="75000"/>
                  </a:schemeClr>
                </a:solidFill>
              </a:defRPr>
            </a:lvl1pPr>
          </a:lstStyle>
          <a:p>
            <a:fld id="{C764DE79-268F-4C1A-8933-263129D2AF90}" type="datetimeFigureOut">
              <a:rPr lang="en-US" dirty="0"/>
              <a:pPr/>
              <a:t>7/8/2025</a:t>
            </a:fld>
            <a:endParaRPr lang="en-US" dirty="0"/>
          </a:p>
        </p:txBody>
      </p:sp>
      <p:sp>
        <p:nvSpPr>
          <p:cNvPr id="5" name="Footer Placeholder 4"/>
          <p:cNvSpPr>
            <a:spLocks noGrp="1"/>
          </p:cNvSpPr>
          <p:nvPr>
            <p:ph type="ftr" sz="quarter" idx="3"/>
          </p:nvPr>
        </p:nvSpPr>
        <p:spPr>
          <a:xfrm>
            <a:off x="6057900" y="9535998"/>
            <a:ext cx="6172200" cy="547772"/>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2915900" y="9535998"/>
            <a:ext cx="4114800" cy="547772"/>
          </a:xfrm>
          <a:prstGeom prst="rect">
            <a:avLst/>
          </a:prstGeom>
        </p:spPr>
        <p:txBody>
          <a:bodyPr vert="horz" lIns="91440" tIns="45720" rIns="91440" bIns="45720" rtlCol="0" anchor="ctr"/>
          <a:lstStyle>
            <a:lvl1pPr algn="r">
              <a:defRPr sz="1800">
                <a:solidFill>
                  <a:schemeClr val="tx1">
                    <a:tint val="75000"/>
                  </a:schemeClr>
                </a:solidFill>
              </a:defRPr>
            </a:lvl1p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319702633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65" r:id="rId13"/>
    <p:sldLayoutId id="2147483668" r:id="rId14"/>
    <p:sldLayoutId id="2147483664" r:id="rId15"/>
    <p:sldLayoutId id="2147483683" r:id="rId16"/>
    <p:sldLayoutId id="2147483684" r:id="rId17"/>
    <p:sldLayoutId id="2147483682" r:id="rId18"/>
    <p:sldLayoutId id="2147483663" r:id="rId19"/>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a:extLst>
              <a:ext uri="{FF2B5EF4-FFF2-40B4-BE49-F238E27FC236}">
                <a16:creationId xmlns:a16="http://schemas.microsoft.com/office/drawing/2014/main" xmlns="" id="{7F582E9E-3697-760D-DA26-BA27025404FB}"/>
              </a:ext>
            </a:extLst>
          </p:cNvPr>
          <p:cNvSpPr>
            <a:spLocks noChangeArrowheads="1"/>
          </p:cNvSpPr>
          <p:nvPr/>
        </p:nvSpPr>
        <p:spPr bwMode="auto">
          <a:xfrm>
            <a:off x="843405" y="5144294"/>
            <a:ext cx="6537111"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4800" dirty="0">
                <a:latin typeface="Microsoft JhengHei" panose="020B0604030504040204" pitchFamily="34" charset="-120"/>
                <a:ea typeface="Microsoft JhengHei" panose="020B0604030504040204" pitchFamily="34" charset="-120"/>
              </a:rPr>
              <a:t>賜昌集團 </a:t>
            </a:r>
            <a:r>
              <a:rPr lang="en-US" altLang="zh-TW" sz="4800" dirty="0">
                <a:latin typeface="Microsoft JhengHei" panose="020B0604030504040204" pitchFamily="34" charset="-120"/>
                <a:ea typeface="Microsoft JhengHei" panose="020B0604030504040204" pitchFamily="34" charset="-120"/>
              </a:rPr>
              <a:t>SAP</a:t>
            </a:r>
            <a:r>
              <a:rPr lang="zh-TW" altLang="en-US" sz="4800" dirty="0">
                <a:latin typeface="Microsoft JhengHei" panose="020B0604030504040204" pitchFamily="34" charset="-120"/>
                <a:ea typeface="Microsoft JhengHei" panose="020B0604030504040204" pitchFamily="34" charset="-120"/>
              </a:rPr>
              <a:t>推進中心</a:t>
            </a:r>
          </a:p>
        </p:txBody>
      </p:sp>
      <p:sp>
        <p:nvSpPr>
          <p:cNvPr id="3" name="TextBox 2">
            <a:extLst>
              <a:ext uri="{FF2B5EF4-FFF2-40B4-BE49-F238E27FC236}">
                <a16:creationId xmlns:a16="http://schemas.microsoft.com/office/drawing/2014/main" xmlns="" id="{8859345E-AB13-0337-28A8-72F68FB71A83}"/>
              </a:ext>
            </a:extLst>
          </p:cNvPr>
          <p:cNvSpPr txBox="1"/>
          <p:nvPr/>
        </p:nvSpPr>
        <p:spPr>
          <a:xfrm>
            <a:off x="843407" y="7871570"/>
            <a:ext cx="2833853" cy="738664"/>
          </a:xfrm>
          <a:prstGeom prst="rect">
            <a:avLst/>
          </a:prstGeom>
          <a:noFill/>
        </p:spPr>
        <p:txBody>
          <a:bodyPr wrap="none" rtlCol="0">
            <a:spAutoFit/>
          </a:bodyPr>
          <a:lstStyle/>
          <a:p>
            <a:r>
              <a:rPr kumimoji="1" lang="en-US" altLang="zh-TW" sz="2100" dirty="0">
                <a:latin typeface="Microsoft JhengHei" panose="020B0604030504040204" pitchFamily="34" charset="-120"/>
                <a:ea typeface="Microsoft JhengHei" panose="020B0604030504040204" pitchFamily="34" charset="-120"/>
              </a:rPr>
              <a:t>Presentation by </a:t>
            </a:r>
            <a:r>
              <a:rPr kumimoji="1" lang="en-US" altLang="zh-TW" sz="2100" b="1" dirty="0">
                <a:latin typeface="Microsoft JhengHei" panose="020B0604030504040204" pitchFamily="34" charset="-120"/>
                <a:ea typeface="Microsoft JhengHei" panose="020B0604030504040204" pitchFamily="34" charset="-120"/>
              </a:rPr>
              <a:t>DSIT</a:t>
            </a:r>
          </a:p>
          <a:p>
            <a:r>
              <a:rPr kumimoji="1" lang="en-US" altLang="zh-TW" sz="2100" dirty="0" smtClean="0">
                <a:latin typeface="Microsoft JhengHei" panose="020B0604030504040204" pitchFamily="34" charset="-120"/>
                <a:ea typeface="Microsoft JhengHei" panose="020B0604030504040204" pitchFamily="34" charset="-120"/>
              </a:rPr>
              <a:t>2025/07/01</a:t>
            </a:r>
            <a:endParaRPr kumimoji="1" lang="zh-TW" altLang="en-US" sz="2100" dirty="0">
              <a:latin typeface="Microsoft JhengHei" panose="020B0604030504040204" pitchFamily="34" charset="-120"/>
              <a:ea typeface="Microsoft JhengHei" panose="020B0604030504040204" pitchFamily="34" charset="-120"/>
            </a:endParaRPr>
          </a:p>
        </p:txBody>
      </p:sp>
      <p:sp>
        <p:nvSpPr>
          <p:cNvPr id="4" name="矩形 1">
            <a:extLst>
              <a:ext uri="{FF2B5EF4-FFF2-40B4-BE49-F238E27FC236}">
                <a16:creationId xmlns:a16="http://schemas.microsoft.com/office/drawing/2014/main" xmlns="" id="{B99C6C67-25AF-0B71-AD21-378FF0D6B16C}"/>
              </a:ext>
            </a:extLst>
          </p:cNvPr>
          <p:cNvSpPr>
            <a:spLocks noChangeArrowheads="1"/>
          </p:cNvSpPr>
          <p:nvPr/>
        </p:nvSpPr>
        <p:spPr bwMode="auto">
          <a:xfrm>
            <a:off x="843405" y="6523311"/>
            <a:ext cx="6537111"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en-US" altLang="zh-TW" sz="3600" b="0" strike="noStrike" spc="-1" dirty="0">
                <a:solidFill>
                  <a:schemeClr val="dk1"/>
                </a:solidFill>
                <a:latin typeface="Microsoft JhengHei"/>
                <a:ea typeface="Microsoft JhengHei"/>
              </a:rPr>
              <a:t>MM-</a:t>
            </a:r>
            <a:r>
              <a:rPr lang="en-US" altLang="zh-TW" sz="3600" b="0" spc="-1" dirty="0">
                <a:solidFill>
                  <a:schemeClr val="dk1"/>
                </a:solidFill>
                <a:latin typeface="Microsoft JhengHei"/>
                <a:ea typeface="Microsoft JhengHei"/>
              </a:rPr>
              <a:t>PU</a:t>
            </a:r>
            <a:r>
              <a:rPr lang="en-US" altLang="zh-TW" sz="3600" b="0" strike="noStrike" spc="-1" dirty="0">
                <a:solidFill>
                  <a:schemeClr val="dk1"/>
                </a:solidFill>
                <a:latin typeface="Microsoft JhengHei"/>
                <a:ea typeface="Microsoft JhengHei"/>
              </a:rPr>
              <a:t>-0080</a:t>
            </a:r>
            <a:endParaRPr lang="zh-TW" altLang="en-US" sz="3600" b="0" dirty="0">
              <a:ea typeface="新細明體" panose="02020500000000000000" pitchFamily="18" charset="-120"/>
            </a:endParaRPr>
          </a:p>
        </p:txBody>
      </p:sp>
      <p:sp>
        <p:nvSpPr>
          <p:cNvPr id="5" name="矩形 1">
            <a:extLst>
              <a:ext uri="{FF2B5EF4-FFF2-40B4-BE49-F238E27FC236}">
                <a16:creationId xmlns:a16="http://schemas.microsoft.com/office/drawing/2014/main" xmlns="" id="{E1637891-39B6-9F83-1E67-17C75D44F0A1}"/>
              </a:ext>
            </a:extLst>
          </p:cNvPr>
          <p:cNvSpPr>
            <a:spLocks noChangeArrowheads="1"/>
          </p:cNvSpPr>
          <p:nvPr/>
        </p:nvSpPr>
        <p:spPr bwMode="auto">
          <a:xfrm>
            <a:off x="843405" y="7179076"/>
            <a:ext cx="6537111"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3600" b="0" spc="-1" dirty="0">
                <a:solidFill>
                  <a:schemeClr val="dk1"/>
                </a:solidFill>
                <a:latin typeface="Microsoft JhengHei"/>
                <a:ea typeface="Microsoft JhengHei"/>
              </a:rPr>
              <a:t>製程委外請採驗流程</a:t>
            </a:r>
          </a:p>
        </p:txBody>
      </p:sp>
    </p:spTree>
    <p:extLst>
      <p:ext uri="{BB962C8B-B14F-4D97-AF65-F5344CB8AC3E}">
        <p14:creationId xmlns:p14="http://schemas.microsoft.com/office/powerpoint/2010/main" xmlns="" val="42830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10309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aphicFrame>
        <p:nvGraphicFramePr>
          <p:cNvPr id="190" name="Google Shape;190;p2"/>
          <p:cNvGraphicFramePr/>
          <p:nvPr>
            <p:extLst>
              <p:ext uri="{D42A27DB-BD31-4B8C-83A1-F6EECF244321}">
                <p14:modId xmlns:p14="http://schemas.microsoft.com/office/powerpoint/2010/main" xmlns="" val="3695325534"/>
              </p:ext>
            </p:extLst>
          </p:nvPr>
        </p:nvGraphicFramePr>
        <p:xfrm>
          <a:off x="366269" y="1567509"/>
          <a:ext cx="17518777" cy="1512000"/>
        </p:xfrm>
        <a:graphic>
          <a:graphicData uri="http://schemas.openxmlformats.org/drawingml/2006/table">
            <a:tbl>
              <a:tblPr>
                <a:noFill/>
              </a:tblPr>
              <a:tblGrid>
                <a:gridCol w="2061420">
                  <a:extLst>
                    <a:ext uri="{9D8B030D-6E8A-4147-A177-3AD203B41FA5}">
                      <a16:colId xmlns:a16="http://schemas.microsoft.com/office/drawing/2014/main" xmlns="" val="1034483988"/>
                    </a:ext>
                  </a:extLst>
                </a:gridCol>
                <a:gridCol w="2061420">
                  <a:extLst>
                    <a:ext uri="{9D8B030D-6E8A-4147-A177-3AD203B41FA5}">
                      <a16:colId xmlns:a16="http://schemas.microsoft.com/office/drawing/2014/main" xmlns="" val="20000"/>
                    </a:ext>
                  </a:extLst>
                </a:gridCol>
                <a:gridCol w="8327926">
                  <a:extLst>
                    <a:ext uri="{9D8B030D-6E8A-4147-A177-3AD203B41FA5}">
                      <a16:colId xmlns:a16="http://schemas.microsoft.com/office/drawing/2014/main" xmlns="" val="20001"/>
                    </a:ext>
                  </a:extLst>
                </a:gridCol>
                <a:gridCol w="1423236">
                  <a:extLst>
                    <a:ext uri="{9D8B030D-6E8A-4147-A177-3AD203B41FA5}">
                      <a16:colId xmlns:a16="http://schemas.microsoft.com/office/drawing/2014/main" xmlns="" val="20002"/>
                    </a:ext>
                  </a:extLst>
                </a:gridCol>
                <a:gridCol w="634687">
                  <a:extLst>
                    <a:ext uri="{9D8B030D-6E8A-4147-A177-3AD203B41FA5}">
                      <a16:colId xmlns:a16="http://schemas.microsoft.com/office/drawing/2014/main" xmlns="" val="20003"/>
                    </a:ext>
                  </a:extLst>
                </a:gridCol>
                <a:gridCol w="1192442">
                  <a:extLst>
                    <a:ext uri="{9D8B030D-6E8A-4147-A177-3AD203B41FA5}">
                      <a16:colId xmlns:a16="http://schemas.microsoft.com/office/drawing/2014/main" xmlns="" val="2445255174"/>
                    </a:ext>
                  </a:extLst>
                </a:gridCol>
                <a:gridCol w="576988">
                  <a:extLst>
                    <a:ext uri="{9D8B030D-6E8A-4147-A177-3AD203B41FA5}">
                      <a16:colId xmlns:a16="http://schemas.microsoft.com/office/drawing/2014/main" xmlns="" val="3610384773"/>
                    </a:ext>
                  </a:extLst>
                </a:gridCol>
                <a:gridCol w="1240658">
                  <a:extLst>
                    <a:ext uri="{9D8B030D-6E8A-4147-A177-3AD203B41FA5}">
                      <a16:colId xmlns:a16="http://schemas.microsoft.com/office/drawing/2014/main" xmlns="" val="4169125416"/>
                    </a:ext>
                  </a:extLst>
                </a:gridCol>
              </a:tblGrid>
              <a:tr h="504000">
                <a:tc rowSpan="3">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文件基本訊息</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文件主題</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 To be_Business Process</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創建日期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gridSpan="4">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r>
                        <a:rPr lang="en-US" sz="1800" b="1" u="none" strike="noStrike" cap="none" dirty="0">
                          <a:solidFill>
                            <a:schemeClr val="lt1"/>
                          </a:solidFill>
                          <a:latin typeface="Microsoft JhengHei"/>
                          <a:ea typeface="Microsoft JhengHei"/>
                          <a:cs typeface="Microsoft JhengHei"/>
                          <a:sym typeface="Microsoft JhengHei"/>
                        </a:rPr>
                        <a:t> </a:t>
                      </a:r>
                      <a:r>
                        <a:rPr lang="en-US" altLang="zh-TW" sz="1800" b="1" u="none" strike="noStrike" cap="none" dirty="0" smtClean="0">
                          <a:solidFill>
                            <a:schemeClr val="lt1"/>
                          </a:solidFill>
                          <a:latin typeface="Microsoft JhengHei"/>
                          <a:ea typeface="Microsoft JhengHei"/>
                          <a:cs typeface="Microsoft JhengHei"/>
                          <a:sym typeface="Microsoft JhengHei"/>
                        </a:rPr>
                        <a:t>2025/07/01</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xmlns="" val="10000"/>
                  </a:ext>
                </a:extLst>
              </a:tr>
              <a:tr h="504000">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err="1">
                          <a:solidFill>
                            <a:schemeClr val="lt1"/>
                          </a:solidFill>
                          <a:latin typeface="Microsoft JhengHei"/>
                          <a:ea typeface="Microsoft JhengHei"/>
                          <a:cs typeface="Microsoft JhengHei"/>
                          <a:sym typeface="Microsoft JhengHei"/>
                        </a:rPr>
                        <a:t>作者</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1371600">
                        <a:lnSpc>
                          <a:spcPct val="166000"/>
                        </a:lnSpc>
                        <a:tabLst>
                          <a:tab pos="0" algn="l"/>
                        </a:tabLst>
                      </a:pPr>
                      <a:r>
                        <a:rPr lang="en-US" sz="1800" b="1" strike="noStrike" spc="-1" dirty="0" smtClean="0">
                          <a:solidFill>
                            <a:schemeClr val="dk1"/>
                          </a:solidFill>
                          <a:latin typeface="Microsoft JhengHei"/>
                          <a:ea typeface="Microsoft JhengHei"/>
                        </a:rPr>
                        <a:t>DSIT</a:t>
                      </a:r>
                      <a:endParaRPr lang="en-US" sz="1800" b="1" strike="noStrike" spc="-1" dirty="0">
                        <a:solidFill>
                          <a:srgbClr val="000000"/>
                        </a:solidFill>
                        <a:latin typeface="+mn-lt"/>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文件狀態</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Clr>
                          <a:schemeClr val="dk1"/>
                        </a:buClr>
                        <a:buSzPts val="1200"/>
                        <a:buFont typeface="Arimo"/>
                        <a:buNone/>
                      </a:pPr>
                      <a:r>
                        <a:rPr lang="en-US" sz="1800" b="1" u="none" strike="noStrike" cap="none" dirty="0" err="1">
                          <a:solidFill>
                            <a:schemeClr val="dk1"/>
                          </a:solidFill>
                          <a:latin typeface="Microsoft JhengHei"/>
                          <a:ea typeface="Microsoft JhengHei"/>
                          <a:cs typeface="Microsoft JhengHei"/>
                          <a:sym typeface="Microsoft JhengHei"/>
                        </a:rPr>
                        <a:t>草稿版</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r>
                        <a:rPr lang="x-none" sz="1800" b="1" u="none" strike="noStrike" cap="none" dirty="0">
                          <a:solidFill>
                            <a:schemeClr val="dk1"/>
                          </a:solidFill>
                          <a:latin typeface="Microsoft JhengHei"/>
                          <a:ea typeface="Microsoft JhengHei"/>
                          <a:cs typeface="Microsoft JhengHei"/>
                          <a:sym typeface="Microsoft JhengHei"/>
                        </a:rPr>
                        <a:t>V</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l" defTabSz="1371600" rtl="0" eaLnBrk="1" fontAlgn="auto" latinLnBrk="0" hangingPunct="1">
                        <a:lnSpc>
                          <a:spcPct val="166666"/>
                        </a:lnSpc>
                        <a:spcBef>
                          <a:spcPts val="0"/>
                        </a:spcBef>
                        <a:spcAft>
                          <a:spcPts val="0"/>
                        </a:spcAft>
                        <a:buClr>
                          <a:schemeClr val="dk1"/>
                        </a:buClr>
                        <a:buSzPts val="1200"/>
                        <a:buFont typeface="Arimo"/>
                        <a:buNone/>
                        <a:tabLst/>
                        <a:defRPr/>
                      </a:pPr>
                      <a:r>
                        <a:rPr lang="zh-TW" altLang="en-US" sz="1800" b="1" u="none" strike="noStrike" cap="none" dirty="0">
                          <a:solidFill>
                            <a:schemeClr val="dk1"/>
                          </a:solidFill>
                          <a:latin typeface="Microsoft JhengHei"/>
                          <a:ea typeface="Microsoft JhengHei"/>
                          <a:cs typeface="Microsoft JhengHei"/>
                          <a:sym typeface="Microsoft JhengHei"/>
                        </a:rPr>
                        <a:t>確認版</a:t>
                      </a: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1"/>
                  </a:ext>
                </a:extLst>
              </a:tr>
              <a:tr h="504000">
                <a:tc vMerge="1">
                  <a:txBody>
                    <a:bodyPr/>
                    <a:lstStyle/>
                    <a:p>
                      <a:pPr marL="0" marR="0" lvl="0" indent="0" algn="l" rtl="0">
                        <a:lnSpc>
                          <a:spcPct val="166666"/>
                        </a:lnSpc>
                        <a:spcBef>
                          <a:spcPts val="0"/>
                        </a:spcBef>
                        <a:spcAft>
                          <a:spcPts val="0"/>
                        </a:spcAft>
                        <a:buNone/>
                      </a:pPr>
                      <a:endParaRPr sz="4100"/>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dirty="0"/>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endParaRPr lang="zh-TW" altLang="en-US" sz="1800" b="1"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版本</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gridSpan="4">
                  <a:txBody>
                    <a:bodyPr/>
                    <a:lstStyle/>
                    <a:p>
                      <a:pPr marL="0" marR="0" lvl="0" indent="0" algn="l" rtl="0">
                        <a:lnSpc>
                          <a:spcPct val="166666"/>
                        </a:lnSpc>
                        <a:spcBef>
                          <a:spcPts val="0"/>
                        </a:spcBef>
                        <a:spcAft>
                          <a:spcPts val="0"/>
                        </a:spcAft>
                        <a:buNone/>
                      </a:pPr>
                      <a:r>
                        <a:rPr lang="en-US" sz="1800" b="1" u="none" strike="noStrike" cap="none" dirty="0">
                          <a:solidFill>
                            <a:schemeClr val="dk1"/>
                          </a:solidFill>
                          <a:latin typeface="Microsoft JhengHei"/>
                          <a:ea typeface="Microsoft JhengHei"/>
                          <a:cs typeface="Microsoft JhengHei"/>
                          <a:sym typeface="Microsoft JhengHei"/>
                        </a:rPr>
                        <a:t> v2.0</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xmlns="" val="10002"/>
                  </a:ext>
                </a:extLst>
              </a:tr>
            </a:tbl>
          </a:graphicData>
        </a:graphic>
      </p:graphicFrame>
      <p:graphicFrame>
        <p:nvGraphicFramePr>
          <p:cNvPr id="191" name="Google Shape;191;p2"/>
          <p:cNvGraphicFramePr/>
          <p:nvPr>
            <p:extLst>
              <p:ext uri="{D42A27DB-BD31-4B8C-83A1-F6EECF244321}">
                <p14:modId xmlns:p14="http://schemas.microsoft.com/office/powerpoint/2010/main" xmlns="" val="3644532040"/>
              </p:ext>
            </p:extLst>
          </p:nvPr>
        </p:nvGraphicFramePr>
        <p:xfrm>
          <a:off x="366270" y="3155451"/>
          <a:ext cx="17518775" cy="3149589"/>
        </p:xfrm>
        <a:graphic>
          <a:graphicData uri="http://schemas.openxmlformats.org/drawingml/2006/table">
            <a:tbl>
              <a:tblPr>
                <a:noFill/>
              </a:tblPr>
              <a:tblGrid>
                <a:gridCol w="2061420">
                  <a:extLst>
                    <a:ext uri="{9D8B030D-6E8A-4147-A177-3AD203B41FA5}">
                      <a16:colId xmlns:a16="http://schemas.microsoft.com/office/drawing/2014/main" xmlns="" val="2419195791"/>
                    </a:ext>
                  </a:extLst>
                </a:gridCol>
                <a:gridCol w="2061420">
                  <a:extLst>
                    <a:ext uri="{9D8B030D-6E8A-4147-A177-3AD203B41FA5}">
                      <a16:colId xmlns:a16="http://schemas.microsoft.com/office/drawing/2014/main" xmlns="" val="20000"/>
                    </a:ext>
                  </a:extLst>
                </a:gridCol>
                <a:gridCol w="8327988">
                  <a:extLst>
                    <a:ext uri="{9D8B030D-6E8A-4147-A177-3AD203B41FA5}">
                      <a16:colId xmlns:a16="http://schemas.microsoft.com/office/drawing/2014/main" xmlns="" val="20001"/>
                    </a:ext>
                  </a:extLst>
                </a:gridCol>
                <a:gridCol w="3270143">
                  <a:extLst>
                    <a:ext uri="{9D8B030D-6E8A-4147-A177-3AD203B41FA5}">
                      <a16:colId xmlns:a16="http://schemas.microsoft.com/office/drawing/2014/main" xmlns="" val="20002"/>
                    </a:ext>
                  </a:extLst>
                </a:gridCol>
                <a:gridCol w="1797804">
                  <a:extLst>
                    <a:ext uri="{9D8B030D-6E8A-4147-A177-3AD203B41FA5}">
                      <a16:colId xmlns:a16="http://schemas.microsoft.com/office/drawing/2014/main" xmlns="" val="20003"/>
                    </a:ext>
                  </a:extLst>
                </a:gridCol>
              </a:tblGrid>
              <a:tr h="428821">
                <a:tc rowSpan="6">
                  <a:txBody>
                    <a:bodyPr/>
                    <a:lstStyle/>
                    <a:p>
                      <a:pPr marL="0" marR="0" lvl="0" indent="0" algn="l" rtl="0">
                        <a:lnSpc>
                          <a:spcPct val="166666"/>
                        </a:lnSpc>
                        <a:spcBef>
                          <a:spcPts val="0"/>
                        </a:spcBef>
                        <a:spcAft>
                          <a:spcPts val="0"/>
                        </a:spcAft>
                        <a:buNone/>
                      </a:pPr>
                      <a:r>
                        <a:rPr lang="x-none"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文件版本</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版本號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變更說明(修改內容說明)</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修改人</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日期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extLst>
                  <a:ext uri="{0D108BD9-81ED-4DB2-BD59-A6C34878D82A}">
                    <a16:rowId xmlns:a16="http://schemas.microsoft.com/office/drawing/2014/main" xmlns="" val="10000"/>
                  </a:ext>
                </a:extLst>
              </a:tr>
              <a:tr h="590284">
                <a:tc vMerge="1">
                  <a:txBody>
                    <a:bodyPr/>
                    <a:lstStyle/>
                    <a:p>
                      <a:pPr marL="0" marR="0" lvl="0" indent="0" algn="l" rtl="0">
                        <a:lnSpc>
                          <a:spcPct val="166666"/>
                        </a:lnSpc>
                        <a:spcBef>
                          <a:spcPts val="0"/>
                        </a:spcBef>
                        <a:spcAft>
                          <a:spcPts val="0"/>
                        </a:spcAft>
                        <a:buNone/>
                      </a:pPr>
                      <a:endParaRPr sz="1800"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defTabSz="1371600" rtl="0" eaLnBrk="1" fontAlgn="auto" latinLnBrk="0" hangingPunct="1">
                        <a:lnSpc>
                          <a:spcPct val="166000"/>
                        </a:lnSpc>
                        <a:spcBef>
                          <a:spcPts val="0"/>
                        </a:spcBef>
                        <a:spcAft>
                          <a:spcPts val="0"/>
                        </a:spcAft>
                        <a:buClrTx/>
                        <a:buSzTx/>
                        <a:buFontTx/>
                        <a:buNone/>
                        <a:tabLst>
                          <a:tab pos="0" algn="l"/>
                        </a:tabLst>
                        <a:defRPr/>
                      </a:pPr>
                      <a:endParaRPr lang="en-US" altLang="zh-TW" sz="1800" b="0" strike="noStrike" spc="-1" dirty="0">
                        <a:solidFill>
                          <a:schemeClr val="dk1"/>
                        </a:solidFill>
                        <a:latin typeface="Microsoft JhengHei"/>
                        <a:ea typeface="Microsoft JhengHei"/>
                      </a:endParaRPr>
                    </a:p>
                  </a:txBody>
                  <a:tcP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1"/>
                  </a:ext>
                </a:extLst>
              </a:tr>
              <a:tr h="524626">
                <a:tc vMerge="1">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a16="http://schemas.microsoft.com/office/drawing/2014/main" xmlns="" val="10002"/>
                  </a:ext>
                </a:extLst>
              </a:tr>
              <a:tr h="524626">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3"/>
                  </a:ext>
                </a:extLst>
              </a:tr>
              <a:tr h="526822">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a16="http://schemas.microsoft.com/office/drawing/2014/main" xmlns="" val="10004"/>
                  </a:ext>
                </a:extLst>
              </a:tr>
              <a:tr h="428821">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endParaRPr sz="1800" b="1"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rtl="0">
                        <a:spcBef>
                          <a:spcPts val="0"/>
                        </a:spcBef>
                        <a:spcAft>
                          <a:spcPts val="0"/>
                        </a:spcAft>
                        <a:buNone/>
                      </a:pPr>
                      <a:endParaRPr sz="1800" b="1" i="0" u="none" strike="noStrike" cap="none" dirty="0">
                        <a:solidFill>
                          <a:srgbClr val="000000"/>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extLst>
                  <a:ext uri="{0D108BD9-81ED-4DB2-BD59-A6C34878D82A}">
                    <a16:rowId xmlns:a16="http://schemas.microsoft.com/office/drawing/2014/main" xmlns="" val="1342071289"/>
                  </a:ext>
                </a:extLst>
              </a:tr>
            </a:tbl>
          </a:graphicData>
        </a:graphic>
      </p:graphicFrame>
      <p:graphicFrame>
        <p:nvGraphicFramePr>
          <p:cNvPr id="192" name="Google Shape;192;p2"/>
          <p:cNvGraphicFramePr/>
          <p:nvPr>
            <p:extLst>
              <p:ext uri="{D42A27DB-BD31-4B8C-83A1-F6EECF244321}">
                <p14:modId xmlns:p14="http://schemas.microsoft.com/office/powerpoint/2010/main" xmlns="" val="2853513147"/>
              </p:ext>
            </p:extLst>
          </p:nvPr>
        </p:nvGraphicFramePr>
        <p:xfrm>
          <a:off x="366269" y="6255393"/>
          <a:ext cx="17518780" cy="504000"/>
        </p:xfrm>
        <a:graphic>
          <a:graphicData uri="http://schemas.openxmlformats.org/drawingml/2006/table">
            <a:tbl>
              <a:tblPr>
                <a:noFill/>
              </a:tblPr>
              <a:tblGrid>
                <a:gridCol w="2061420">
                  <a:extLst>
                    <a:ext uri="{9D8B030D-6E8A-4147-A177-3AD203B41FA5}">
                      <a16:colId xmlns:a16="http://schemas.microsoft.com/office/drawing/2014/main" xmlns="" val="2993713426"/>
                    </a:ext>
                  </a:extLst>
                </a:gridCol>
                <a:gridCol w="2066819">
                  <a:extLst>
                    <a:ext uri="{9D8B030D-6E8A-4147-A177-3AD203B41FA5}">
                      <a16:colId xmlns:a16="http://schemas.microsoft.com/office/drawing/2014/main" xmlns="" val="20000"/>
                    </a:ext>
                  </a:extLst>
                </a:gridCol>
                <a:gridCol w="1797521">
                  <a:extLst>
                    <a:ext uri="{9D8B030D-6E8A-4147-A177-3AD203B41FA5}">
                      <a16:colId xmlns:a16="http://schemas.microsoft.com/office/drawing/2014/main" xmlns="" val="20001"/>
                    </a:ext>
                  </a:extLst>
                </a:gridCol>
                <a:gridCol w="1932170">
                  <a:extLst>
                    <a:ext uri="{9D8B030D-6E8A-4147-A177-3AD203B41FA5}">
                      <a16:colId xmlns:a16="http://schemas.microsoft.com/office/drawing/2014/main" xmlns="" val="20002"/>
                    </a:ext>
                  </a:extLst>
                </a:gridCol>
                <a:gridCol w="1932170">
                  <a:extLst>
                    <a:ext uri="{9D8B030D-6E8A-4147-A177-3AD203B41FA5}">
                      <a16:colId xmlns:a16="http://schemas.microsoft.com/office/drawing/2014/main" xmlns="" val="20003"/>
                    </a:ext>
                  </a:extLst>
                </a:gridCol>
                <a:gridCol w="1932170">
                  <a:extLst>
                    <a:ext uri="{9D8B030D-6E8A-4147-A177-3AD203B41FA5}">
                      <a16:colId xmlns:a16="http://schemas.microsoft.com/office/drawing/2014/main" xmlns="" val="20004"/>
                    </a:ext>
                  </a:extLst>
                </a:gridCol>
                <a:gridCol w="1932170">
                  <a:extLst>
                    <a:ext uri="{9D8B030D-6E8A-4147-A177-3AD203B41FA5}">
                      <a16:colId xmlns:a16="http://schemas.microsoft.com/office/drawing/2014/main" xmlns="" val="20005"/>
                    </a:ext>
                  </a:extLst>
                </a:gridCol>
                <a:gridCol w="1932170">
                  <a:extLst>
                    <a:ext uri="{9D8B030D-6E8A-4147-A177-3AD203B41FA5}">
                      <a16:colId xmlns:a16="http://schemas.microsoft.com/office/drawing/2014/main" xmlns="" val="20006"/>
                    </a:ext>
                  </a:extLst>
                </a:gridCol>
                <a:gridCol w="1932170">
                  <a:extLst>
                    <a:ext uri="{9D8B030D-6E8A-4147-A177-3AD203B41FA5}">
                      <a16:colId xmlns:a16="http://schemas.microsoft.com/office/drawing/2014/main" xmlns="" val="20007"/>
                    </a:ext>
                  </a:extLst>
                </a:gridCol>
              </a:tblGrid>
              <a:tr h="504000">
                <a:tc>
                  <a:txBody>
                    <a:bodyPr/>
                    <a:lstStyle/>
                    <a:p>
                      <a:pPr marL="0" marR="0" lvl="0" indent="0" algn="l" rtl="0">
                        <a:lnSpc>
                          <a:spcPct val="150000"/>
                        </a:lnSpc>
                        <a:spcBef>
                          <a:spcPts val="0"/>
                        </a:spcBef>
                        <a:spcAft>
                          <a:spcPts val="0"/>
                        </a:spcAft>
                        <a:buNone/>
                      </a:pPr>
                      <a:r>
                        <a:rPr lang="x-none" sz="1800" b="1" u="none" strike="noStrike" cap="none">
                          <a:solidFill>
                            <a:schemeClr val="lt1"/>
                          </a:solidFill>
                          <a:latin typeface="Microsoft JhengHei"/>
                          <a:ea typeface="Microsoft JhengHei"/>
                          <a:cs typeface="Microsoft JhengHei"/>
                          <a:sym typeface="Microsoft JhengHei"/>
                        </a:rPr>
                        <a:t>機密等級</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極機密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內部使用</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V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一般</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extLst>
                  <a:ext uri="{0D108BD9-81ED-4DB2-BD59-A6C34878D82A}">
                    <a16:rowId xmlns:a16="http://schemas.microsoft.com/office/drawing/2014/main" xmlns="" val="10000"/>
                  </a:ext>
                </a:extLst>
              </a:tr>
            </a:tbl>
          </a:graphicData>
        </a:graphic>
      </p:graphicFrame>
      <p:graphicFrame>
        <p:nvGraphicFramePr>
          <p:cNvPr id="193" name="Google Shape;193;p2"/>
          <p:cNvGraphicFramePr/>
          <p:nvPr>
            <p:extLst>
              <p:ext uri="{D42A27DB-BD31-4B8C-83A1-F6EECF244321}">
                <p14:modId xmlns:p14="http://schemas.microsoft.com/office/powerpoint/2010/main" xmlns="" val="2533766799"/>
              </p:ext>
            </p:extLst>
          </p:nvPr>
        </p:nvGraphicFramePr>
        <p:xfrm>
          <a:off x="366270" y="6835335"/>
          <a:ext cx="17518773" cy="3195196"/>
        </p:xfrm>
        <a:graphic>
          <a:graphicData uri="http://schemas.openxmlformats.org/drawingml/2006/table">
            <a:tbl>
              <a:tblPr>
                <a:noFill/>
              </a:tblPr>
              <a:tblGrid>
                <a:gridCol w="2045751">
                  <a:extLst>
                    <a:ext uri="{9D8B030D-6E8A-4147-A177-3AD203B41FA5}">
                      <a16:colId xmlns:a16="http://schemas.microsoft.com/office/drawing/2014/main" xmlns="" val="1293584311"/>
                    </a:ext>
                  </a:extLst>
                </a:gridCol>
                <a:gridCol w="2066989">
                  <a:extLst>
                    <a:ext uri="{9D8B030D-6E8A-4147-A177-3AD203B41FA5}">
                      <a16:colId xmlns:a16="http://schemas.microsoft.com/office/drawing/2014/main" xmlns="" val="20000"/>
                    </a:ext>
                  </a:extLst>
                </a:gridCol>
                <a:gridCol w="8024943">
                  <a:extLst>
                    <a:ext uri="{9D8B030D-6E8A-4147-A177-3AD203B41FA5}">
                      <a16:colId xmlns:a16="http://schemas.microsoft.com/office/drawing/2014/main" xmlns="" val="20001"/>
                    </a:ext>
                  </a:extLst>
                </a:gridCol>
                <a:gridCol w="2861625">
                  <a:extLst>
                    <a:ext uri="{9D8B030D-6E8A-4147-A177-3AD203B41FA5}">
                      <a16:colId xmlns:a16="http://schemas.microsoft.com/office/drawing/2014/main" xmlns="" val="20002"/>
                    </a:ext>
                  </a:extLst>
                </a:gridCol>
                <a:gridCol w="2519465">
                  <a:extLst>
                    <a:ext uri="{9D8B030D-6E8A-4147-A177-3AD203B41FA5}">
                      <a16:colId xmlns:a16="http://schemas.microsoft.com/office/drawing/2014/main" xmlns="" val="20003"/>
                    </a:ext>
                  </a:extLst>
                </a:gridCol>
              </a:tblGrid>
              <a:tr h="504000">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審批</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角色</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姓名 與 職稱</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簽名</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extLst>
                  <a:ext uri="{0D108BD9-81ED-4DB2-BD59-A6C34878D82A}">
                    <a16:rowId xmlns:a16="http://schemas.microsoft.com/office/drawing/2014/main" xmlns="" val="10000"/>
                  </a:ext>
                </a:extLst>
              </a:tr>
              <a:tr h="504000">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專案顧問</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chemeClr val="bg1"/>
                      </a:solidFill>
                      <a:prstDash val="solid"/>
                      <a:round/>
                      <a:headEnd type="none" w="med" len="med"/>
                      <a:tailEnd type="none" w="med" len="me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1"/>
                  </a:ext>
                </a:extLst>
              </a:tr>
              <a:tr h="504000">
                <a:tc vMerge="1">
                  <a:txBody>
                    <a:bodyPr/>
                    <a:lstStyle/>
                    <a:p>
                      <a:endParaRPr lang="zh-TW" altLang="en-US"/>
                    </a:p>
                  </a:txBody>
                  <a:tcPr>
                    <a:lnT w="12700" cap="flat" cmpd="sng" algn="ctr">
                      <a:solidFill>
                        <a:srgbClr val="FFFFFF"/>
                      </a:solidFill>
                      <a:prstDash val="solid"/>
                      <a:round/>
                      <a:headEnd type="none" w="sm" len="sm"/>
                      <a:tailEnd type="none" w="sm" len="sm"/>
                    </a:lnT>
                  </a:tcPr>
                </a:tc>
                <a:tc>
                  <a:txBody>
                    <a:bodyPr/>
                    <a:lstStyle/>
                    <a:p>
                      <a:pPr marL="0" marR="0" lvl="0" indent="0" algn="ctr" rtl="0">
                        <a:lnSpc>
                          <a:spcPct val="100000"/>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關鍵使用者</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D7D31"/>
                    </a:solidFill>
                  </a:tcPr>
                </a:tc>
                <a:tc>
                  <a:txBody>
                    <a:bodyPr/>
                    <a:lstStyle/>
                    <a:p>
                      <a:endParaRPr lang="en-US" sz="1800" b="1" strike="noStrike" spc="-1" dirty="0">
                        <a:solidFill>
                          <a:schemeClr val="dk1"/>
                        </a:solidFill>
                        <a:latin typeface="Microsoft JhengHei"/>
                        <a:ea typeface="Microsoft JhengHei"/>
                      </a:endParaRPr>
                    </a:p>
                  </a:txBody>
                  <a:tcPr marL="102600" marR="102600">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2466057711"/>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流程負責人</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chemeClr val="bg1"/>
                      </a:solidFill>
                      <a:prstDash val="solid"/>
                      <a:round/>
                      <a:headEnd type="none" w="med" len="med"/>
                      <a:tailEnd type="none" w="med" len="med"/>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3"/>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資訊單位</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extLst>
                  <a:ext uri="{0D108BD9-81ED-4DB2-BD59-A6C34878D82A}">
                    <a16:rowId xmlns:a16="http://schemas.microsoft.com/office/drawing/2014/main" xmlns="" val="10004"/>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專案經理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a:latin typeface="Microsoft JhengHei"/>
                          <a:ea typeface="Microsoft JhengHei"/>
                          <a:cs typeface="Microsoft JhengHei"/>
                          <a:sym typeface="Microsoft JhengHei"/>
                        </a:rPr>
                        <a:t> </a:t>
                      </a: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5"/>
                  </a:ext>
                </a:extLst>
              </a:tr>
            </a:tbl>
          </a:graphicData>
        </a:graphic>
      </p:graphicFrame>
      <p:sp>
        <p:nvSpPr>
          <p:cNvPr id="2" name="TextBox 1">
            <a:extLst>
              <a:ext uri="{FF2B5EF4-FFF2-40B4-BE49-F238E27FC236}">
                <a16:creationId xmlns:a16="http://schemas.microsoft.com/office/drawing/2014/main" xmlns="" id="{632BD657-D42C-B5C5-74AF-5218C346A770}"/>
              </a:ext>
            </a:extLst>
          </p:cNvPr>
          <p:cNvSpPr txBox="1"/>
          <p:nvPr/>
        </p:nvSpPr>
        <p:spPr>
          <a:xfrm>
            <a:off x="2456660" y="762478"/>
            <a:ext cx="8244896" cy="1153457"/>
          </a:xfrm>
          <a:prstGeom prst="rect">
            <a:avLst/>
          </a:prstGeom>
          <a:noFill/>
        </p:spPr>
        <p:txBody>
          <a:bodyPr wrap="square" rtlCol="0">
            <a:spAutoFit/>
          </a:bodyPr>
          <a:lstStyle>
            <a:defPPr>
              <a:defRPr lang="en-US"/>
            </a:defPPr>
            <a:lvl1pPr>
              <a:lnSpc>
                <a:spcPct val="166666"/>
              </a:lnSpc>
              <a:defRPr sz="2000" b="1">
                <a:solidFill>
                  <a:schemeClr val="dk1"/>
                </a:solidFill>
                <a:latin typeface="Microsoft JhengHei"/>
                <a:ea typeface="Microsoft JhengHei"/>
                <a:cs typeface="Microsoft JhengHei"/>
              </a:defRPr>
            </a:lvl1pPr>
          </a:lstStyle>
          <a:p>
            <a:r>
              <a:rPr lang="en-US" altLang="zh-TW" sz="2400" dirty="0"/>
              <a:t>MM-PU-0080 </a:t>
            </a:r>
            <a:r>
              <a:rPr lang="zh-TW" altLang="en-US" sz="2400" dirty="0"/>
              <a:t>製程委外請採驗流程</a:t>
            </a:r>
          </a:p>
          <a:p>
            <a:endParaRPr lang="zh-TW" altLang="en-US" dirty="0"/>
          </a:p>
        </p:txBody>
      </p:sp>
      <p:sp>
        <p:nvSpPr>
          <p:cNvPr id="3" name="TextBox 2">
            <a:extLst>
              <a:ext uri="{FF2B5EF4-FFF2-40B4-BE49-F238E27FC236}">
                <a16:creationId xmlns:a16="http://schemas.microsoft.com/office/drawing/2014/main" xmlns="" id="{6B09882B-C884-419E-9EB0-7F4E083F29C0}"/>
              </a:ext>
            </a:extLst>
          </p:cNvPr>
          <p:cNvSpPr txBox="1"/>
          <p:nvPr/>
        </p:nvSpPr>
        <p:spPr>
          <a:xfrm>
            <a:off x="15598384" y="419496"/>
            <a:ext cx="551112" cy="346249"/>
          </a:xfrm>
          <a:prstGeom prst="rect">
            <a:avLst/>
          </a:prstGeom>
          <a:noFill/>
        </p:spPr>
        <p:txBody>
          <a:bodyPr wrap="square" rtlCol="0">
            <a:spAutoFit/>
          </a:bodyPr>
          <a:lstStyle/>
          <a:p>
            <a:r>
              <a:rPr lang="en-US" altLang="zh-TW" sz="1600" dirty="0">
                <a:latin typeface="微軟正黑體" panose="020B0604030504040204" pitchFamily="34" charset="-120"/>
                <a:ea typeface="微軟正黑體" panose="020B0604030504040204" pitchFamily="34" charset="-120"/>
              </a:rPr>
              <a:t>0</a:t>
            </a:r>
            <a:endParaRPr lang="zh-TW" altLang="en-US" sz="1600" dirty="0">
              <a:latin typeface="微軟正黑體" panose="020B0604030504040204" pitchFamily="34" charset="-120"/>
              <a:ea typeface="微軟正黑體" panose="020B0604030504040204"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a16="http://schemas.microsoft.com/office/drawing/2014/main" xmlns="" id="{83E6F622-2FBE-CC67-50FE-4ABD7D8B9696}"/>
              </a:ext>
            </a:extLst>
          </p:cNvPr>
          <p:cNvSpPr txBox="1"/>
          <p:nvPr/>
        </p:nvSpPr>
        <p:spPr>
          <a:xfrm>
            <a:off x="2444080" y="794373"/>
            <a:ext cx="7218711" cy="461665"/>
          </a:xfrm>
          <a:prstGeom prst="rect">
            <a:avLst/>
          </a:prstGeom>
          <a:noFill/>
        </p:spPr>
        <p:txBody>
          <a:bodyPr wrap="square">
            <a:spAutoFit/>
          </a:bodyPr>
          <a:lstStyle/>
          <a:p>
            <a:pPr eaLnBrk="0" hangingPunct="0"/>
            <a:r>
              <a:rPr lang="en-US" altLang="zh-TW" sz="2400" b="1" dirty="0">
                <a:latin typeface="微軟正黑體" panose="020B0604030504040204" pitchFamily="34" charset="-120"/>
                <a:ea typeface="微軟正黑體" panose="020B0604030504040204" pitchFamily="34" charset="-120"/>
              </a:rPr>
              <a:t>MM-PU-0080</a:t>
            </a:r>
            <a:r>
              <a:rPr lang="zh-TW" altLang="en-US" sz="2400" b="1" dirty="0">
                <a:latin typeface="微軟正黑體" panose="020B0604030504040204" pitchFamily="34" charset="-120"/>
                <a:ea typeface="微軟正黑體" panose="020B0604030504040204" pitchFamily="34" charset="-120"/>
              </a:rPr>
              <a:t>製程委外請採驗流程</a:t>
            </a:r>
            <a:r>
              <a:rPr lang="en-US" altLang="zh-TW" sz="2400" b="1" dirty="0">
                <a:latin typeface="微軟正黑體" panose="020B0604030504040204" pitchFamily="34" charset="-120"/>
                <a:ea typeface="微軟正黑體" panose="020B0604030504040204" pitchFamily="34" charset="-120"/>
              </a:rPr>
              <a:t>(</a:t>
            </a:r>
            <a:r>
              <a:rPr lang="zh-TW" altLang="en-US" sz="2400" b="1" dirty="0">
                <a:latin typeface="微軟正黑體" panose="020B0604030504040204" pitchFamily="34" charset="-120"/>
                <a:ea typeface="微軟正黑體" panose="020B0604030504040204" pitchFamily="34" charset="-120"/>
              </a:rPr>
              <a:t>計畫內</a:t>
            </a:r>
            <a:r>
              <a:rPr lang="en-US" altLang="zh-TW" sz="2400" b="1" dirty="0">
                <a:latin typeface="微軟正黑體" panose="020B0604030504040204" pitchFamily="34" charset="-120"/>
                <a:ea typeface="微軟正黑體" panose="020B0604030504040204" pitchFamily="34" charset="-120"/>
              </a:rPr>
              <a:t>)</a:t>
            </a:r>
            <a:endParaRPr lang="zh-TW" altLang="en-US" sz="2400" b="1" dirty="0">
              <a:latin typeface="微軟正黑體" panose="020B0604030504040204" pitchFamily="34" charset="-120"/>
              <a:ea typeface="微軟正黑體" panose="020B0604030504040204" pitchFamily="34" charset="-120"/>
            </a:endParaRPr>
          </a:p>
        </p:txBody>
      </p:sp>
      <p:sp>
        <p:nvSpPr>
          <p:cNvPr id="25" name="流程圖: 結束點 8">
            <a:extLst>
              <a:ext uri="{FF2B5EF4-FFF2-40B4-BE49-F238E27FC236}">
                <a16:creationId xmlns:a16="http://schemas.microsoft.com/office/drawing/2014/main" xmlns="" id="{1FB9514E-6261-C7AC-D58E-6A5F2E6F81FD}"/>
              </a:ext>
            </a:extLst>
          </p:cNvPr>
          <p:cNvSpPr/>
          <p:nvPr/>
        </p:nvSpPr>
        <p:spPr bwMode="auto">
          <a:xfrm>
            <a:off x="12298499" y="8920239"/>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sp>
        <p:nvSpPr>
          <p:cNvPr id="34" name="文字方塊 17">
            <a:extLst>
              <a:ext uri="{FF2B5EF4-FFF2-40B4-BE49-F238E27FC236}">
                <a16:creationId xmlns:a16="http://schemas.microsoft.com/office/drawing/2014/main" xmlns="" id="{DE52170D-3194-E094-D743-3842F95326FE}"/>
              </a:ext>
            </a:extLst>
          </p:cNvPr>
          <p:cNvSpPr txBox="1"/>
          <p:nvPr/>
        </p:nvSpPr>
        <p:spPr>
          <a:xfrm>
            <a:off x="2397706" y="1379656"/>
            <a:ext cx="5553597"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生管</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廠務</a:t>
            </a:r>
          </a:p>
        </p:txBody>
      </p:sp>
      <p:sp>
        <p:nvSpPr>
          <p:cNvPr id="227" name="TextBox 53">
            <a:extLst>
              <a:ext uri="{FF2B5EF4-FFF2-40B4-BE49-F238E27FC236}">
                <a16:creationId xmlns:a16="http://schemas.microsoft.com/office/drawing/2014/main" xmlns="" id="{DF940026-96D7-3867-6425-C228DF3D29BF}"/>
              </a:ext>
            </a:extLst>
          </p:cNvPr>
          <p:cNvSpPr txBox="1"/>
          <p:nvPr/>
        </p:nvSpPr>
        <p:spPr>
          <a:xfrm>
            <a:off x="14380627" y="2064631"/>
            <a:ext cx="3594197" cy="5909310"/>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執行製程委外請購單轉採採購單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en-US" altLang="zh-TW" dirty="0">
                <a:latin typeface="微軟正黑體" panose="020B0604030504040204" pitchFamily="34" charset="-120"/>
                <a:ea typeface="微軟正黑體" panose="020B0604030504040204" pitchFamily="34" charset="-120"/>
              </a:rPr>
              <a:t>ZMM028</a:t>
            </a:r>
            <a:r>
              <a:rPr lang="zh-TW" altLang="en-US" dirty="0">
                <a:latin typeface="微軟正黑體" panose="020B0604030504040204" pitchFamily="34" charset="-120"/>
                <a:ea typeface="微軟正黑體" panose="020B0604030504040204" pitchFamily="34" charset="-120"/>
              </a:rPr>
              <a:t>列印製程委外採購單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主管簽核製程委外採購單，將採購單交予廠商 </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廠商按採購單內容加工、送貨。生管點收托工產出品項</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列印驗收單，判定是否符合品質要求</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不良品辦理收貨退回</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通知廠商退貨重工、重新送貨</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endParaRPr lang="en-US" altLang="zh-TW" dirty="0"/>
          </a:p>
        </p:txBody>
      </p:sp>
      <p:graphicFrame>
        <p:nvGraphicFramePr>
          <p:cNvPr id="231" name="表格 30">
            <a:extLst>
              <a:ext uri="{FF2B5EF4-FFF2-40B4-BE49-F238E27FC236}">
                <a16:creationId xmlns:a16="http://schemas.microsoft.com/office/drawing/2014/main" xmlns="" id="{E2D1DE07-F765-0D8A-0A3C-D52A5A690ECB}"/>
              </a:ext>
            </a:extLst>
          </p:cNvPr>
          <p:cNvGraphicFramePr>
            <a:graphicFrameLocks noGrp="1"/>
          </p:cNvGraphicFramePr>
          <p:nvPr/>
        </p:nvGraphicFramePr>
        <p:xfrm>
          <a:off x="3042165" y="2028169"/>
          <a:ext cx="1797832" cy="1271899"/>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ME58</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622305">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請購單轉為採購單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3921">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39" name="肘形接點 68">
            <a:extLst>
              <a:ext uri="{FF2B5EF4-FFF2-40B4-BE49-F238E27FC236}">
                <a16:creationId xmlns:a16="http://schemas.microsoft.com/office/drawing/2014/main" xmlns="" id="{6710C215-D2A9-AE8A-C825-CAB394FDF69B}"/>
              </a:ext>
            </a:extLst>
          </p:cNvPr>
          <p:cNvCxnSpPr>
            <a:cxnSpLocks/>
            <a:stCxn id="231" idx="2"/>
            <a:endCxn id="240" idx="0"/>
          </p:cNvCxnSpPr>
          <p:nvPr/>
        </p:nvCxnSpPr>
        <p:spPr>
          <a:xfrm rot="5400000">
            <a:off x="3775825" y="3464070"/>
            <a:ext cx="329258" cy="125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40" name="表格 30">
            <a:extLst>
              <a:ext uri="{FF2B5EF4-FFF2-40B4-BE49-F238E27FC236}">
                <a16:creationId xmlns:a16="http://schemas.microsoft.com/office/drawing/2014/main" xmlns="" id="{D50514A0-AA46-1916-EFBB-5F1C0FA347E6}"/>
              </a:ext>
            </a:extLst>
          </p:cNvPr>
          <p:cNvGraphicFramePr>
            <a:graphicFrameLocks noGrp="1"/>
          </p:cNvGraphicFramePr>
          <p:nvPr/>
        </p:nvGraphicFramePr>
        <p:xfrm>
          <a:off x="3040911" y="3629326"/>
          <a:ext cx="1797832" cy="1184439"/>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ZM</a:t>
                      </a:r>
                      <a:r>
                        <a:rPr lang="en-US" altLang="zh-TW" sz="1500" b="1" dirty="0">
                          <a:solidFill>
                            <a:schemeClr val="tx1"/>
                          </a:solidFill>
                          <a:latin typeface="微軟正黑體" panose="020B0604030504040204" pitchFamily="34" charset="-120"/>
                          <a:ea typeface="微軟正黑體" panose="020B0604030504040204" pitchFamily="34" charset="-120"/>
                        </a:rPr>
                        <a:t>M028</a:t>
                      </a: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採購單列印</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42" name="Straight Connector 284">
            <a:extLst>
              <a:ext uri="{FF2B5EF4-FFF2-40B4-BE49-F238E27FC236}">
                <a16:creationId xmlns:a16="http://schemas.microsoft.com/office/drawing/2014/main" xmlns="" id="{3E7471C9-C79F-A59B-27B9-5790F81098EC}"/>
              </a:ext>
            </a:extLst>
          </p:cNvPr>
          <p:cNvCxnSpPr>
            <a:cxnSpLocks/>
          </p:cNvCxnSpPr>
          <p:nvPr/>
        </p:nvCxnSpPr>
        <p:spPr>
          <a:xfrm>
            <a:off x="8054345" y="1328708"/>
            <a:ext cx="0" cy="88224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3" name="表格 22">
            <a:extLst>
              <a:ext uri="{FF2B5EF4-FFF2-40B4-BE49-F238E27FC236}">
                <a16:creationId xmlns:a16="http://schemas.microsoft.com/office/drawing/2014/main" xmlns="" id="{F713FD14-4079-0064-8801-0FC6A8C76364}"/>
              </a:ext>
            </a:extLst>
          </p:cNvPr>
          <p:cNvGraphicFramePr>
            <a:graphicFrameLocks noGrp="1"/>
          </p:cNvGraphicFramePr>
          <p:nvPr/>
        </p:nvGraphicFramePr>
        <p:xfrm>
          <a:off x="9366984" y="3021815"/>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669475819"/>
                    </a:ext>
                  </a:extLst>
                </a:gridCol>
                <a:gridCol w="898916">
                  <a:extLst>
                    <a:ext uri="{9D8B030D-6E8A-4147-A177-3AD203B41FA5}">
                      <a16:colId xmlns:a16="http://schemas.microsoft.com/office/drawing/2014/main" xmlns="" val="954766941"/>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rgbClr val="FF0000"/>
                          </a:solidFill>
                          <a:latin typeface="微軟正黑體" panose="020B0604030504040204" pitchFamily="34" charset="-120"/>
                          <a:ea typeface="微軟正黑體" panose="020B0604030504040204" pitchFamily="34" charset="-120"/>
                        </a:rPr>
                        <a:t> </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4260511936"/>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主管簽核</a:t>
                      </a:r>
                      <a:r>
                        <a:rPr kumimoji="0" lang="zh-TW" altLang="en-US" sz="1500" dirty="0">
                          <a:latin typeface="微軟正黑體" panose="020B0604030504040204" pitchFamily="34" charset="-120"/>
                          <a:ea typeface="微軟正黑體" panose="020B0604030504040204" pitchFamily="34" charset="-120"/>
                        </a:rPr>
                        <a:t>製程委外</a:t>
                      </a:r>
                      <a:r>
                        <a:rPr lang="zh-TW" altLang="en-US" sz="1500" dirty="0">
                          <a:latin typeface="微軟正黑體" panose="020B0604030504040204" pitchFamily="34" charset="-120"/>
                          <a:ea typeface="微軟正黑體" panose="020B0604030504040204" pitchFamily="34" charset="-120"/>
                        </a:rPr>
                        <a:t>採購單</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2473043334"/>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 </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r>
                        <a:rPr lang="zh-TW" altLang="en-US" sz="1500" dirty="0"/>
                        <a:t>手動</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190879877"/>
                  </a:ext>
                </a:extLst>
              </a:tr>
            </a:tbl>
          </a:graphicData>
        </a:graphic>
      </p:graphicFrame>
      <p:cxnSp>
        <p:nvCxnSpPr>
          <p:cNvPr id="225" name="肘形接點 68">
            <a:extLst>
              <a:ext uri="{FF2B5EF4-FFF2-40B4-BE49-F238E27FC236}">
                <a16:creationId xmlns:a16="http://schemas.microsoft.com/office/drawing/2014/main" xmlns="" id="{7E95FEFF-2879-FA3D-28B5-98E64655FC5E}"/>
              </a:ext>
            </a:extLst>
          </p:cNvPr>
          <p:cNvCxnSpPr>
            <a:cxnSpLocks/>
            <a:stCxn id="240" idx="3"/>
            <a:endCxn id="23" idx="1"/>
          </p:cNvCxnSpPr>
          <p:nvPr/>
        </p:nvCxnSpPr>
        <p:spPr>
          <a:xfrm flipV="1">
            <a:off x="4838743" y="3641015"/>
            <a:ext cx="4528241" cy="58053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43" name="流程圖: 預設處理作業 21">
            <a:extLst>
              <a:ext uri="{FF2B5EF4-FFF2-40B4-BE49-F238E27FC236}">
                <a16:creationId xmlns:a16="http://schemas.microsoft.com/office/drawing/2014/main" xmlns="" id="{0021CF08-573D-E070-554D-7535B5847B32}"/>
              </a:ext>
            </a:extLst>
          </p:cNvPr>
          <p:cNvSpPr/>
          <p:nvPr/>
        </p:nvSpPr>
        <p:spPr bwMode="auto">
          <a:xfrm>
            <a:off x="351139" y="2044820"/>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PP-PC-0010/20</a:t>
            </a:r>
          </a:p>
          <a:p>
            <a:pPr algn="ctr" eaLnBrk="0" hangingPunct="0"/>
            <a:r>
              <a:rPr lang="en-US" altLang="zh-TW" sz="1500" dirty="0">
                <a:latin typeface="微軟正黑體" panose="020B0604030504040204" pitchFamily="34" charset="-120"/>
                <a:ea typeface="微軟正黑體" panose="020B0604030504040204" pitchFamily="34" charset="-120"/>
              </a:rPr>
              <a:t>/30/40/60</a:t>
            </a:r>
          </a:p>
          <a:p>
            <a:pPr algn="ctr" eaLnBrk="0" hangingPunct="0"/>
            <a:r>
              <a:rPr lang="zh-TW" altLang="en-US" sz="1500" dirty="0">
                <a:latin typeface="微軟正黑體" panose="020B0604030504040204" pitchFamily="34" charset="-120"/>
                <a:ea typeface="微軟正黑體" panose="020B0604030504040204" pitchFamily="34" charset="-120"/>
              </a:rPr>
              <a:t>工單維護作業</a:t>
            </a:r>
          </a:p>
        </p:txBody>
      </p:sp>
      <p:cxnSp>
        <p:nvCxnSpPr>
          <p:cNvPr id="244" name="肘形接點 68">
            <a:extLst>
              <a:ext uri="{FF2B5EF4-FFF2-40B4-BE49-F238E27FC236}">
                <a16:creationId xmlns:a16="http://schemas.microsoft.com/office/drawing/2014/main" xmlns="" id="{20104088-E909-8D02-EC74-0F4DF77F33A1}"/>
              </a:ext>
            </a:extLst>
          </p:cNvPr>
          <p:cNvCxnSpPr>
            <a:cxnSpLocks/>
            <a:stCxn id="243" idx="3"/>
            <a:endCxn id="231" idx="1"/>
          </p:cNvCxnSpPr>
          <p:nvPr/>
        </p:nvCxnSpPr>
        <p:spPr>
          <a:xfrm>
            <a:off x="2164251" y="2664020"/>
            <a:ext cx="877914" cy="9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51" name="文字方塊 17">
            <a:extLst>
              <a:ext uri="{FF2B5EF4-FFF2-40B4-BE49-F238E27FC236}">
                <a16:creationId xmlns:a16="http://schemas.microsoft.com/office/drawing/2014/main" xmlns="" id="{8E4B5A93-04AB-998D-8BC2-5AD6295C022A}"/>
              </a:ext>
            </a:extLst>
          </p:cNvPr>
          <p:cNvSpPr txBox="1"/>
          <p:nvPr/>
        </p:nvSpPr>
        <p:spPr>
          <a:xfrm>
            <a:off x="8054345" y="1381642"/>
            <a:ext cx="3859356"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生管主管</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廠務主管</a:t>
            </a:r>
          </a:p>
        </p:txBody>
      </p:sp>
      <p:sp>
        <p:nvSpPr>
          <p:cNvPr id="3" name="流程圖: 預設處理作業 21">
            <a:extLst>
              <a:ext uri="{FF2B5EF4-FFF2-40B4-BE49-F238E27FC236}">
                <a16:creationId xmlns:a16="http://schemas.microsoft.com/office/drawing/2014/main" xmlns="" id="{3D261F4D-5F01-DB73-E1E3-9B854CF48E03}"/>
              </a:ext>
            </a:extLst>
          </p:cNvPr>
          <p:cNvSpPr/>
          <p:nvPr/>
        </p:nvSpPr>
        <p:spPr bwMode="auto">
          <a:xfrm>
            <a:off x="384754" y="8156227"/>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solidFill>
                  <a:srgbClr val="000000"/>
                </a:solidFill>
                <a:latin typeface="Microsoft JhengHei" panose="020B0604030504040204" pitchFamily="34" charset="-120"/>
                <a:ea typeface="Microsoft JhengHei" panose="020B0604030504040204" pitchFamily="34" charset="-120"/>
              </a:rPr>
              <a:t>MM-PU-0010</a:t>
            </a:r>
          </a:p>
          <a:p>
            <a:pPr algn="ctr" eaLnBrk="0" hangingPunct="0"/>
            <a:r>
              <a:rPr lang="zh-TW" altLang="en-US" sz="1500" dirty="0">
                <a:solidFill>
                  <a:srgbClr val="000000"/>
                </a:solidFill>
                <a:latin typeface="Microsoft JhengHei" panose="020B0604030504040204" pitchFamily="34" charset="-120"/>
                <a:ea typeface="Microsoft JhengHei" panose="020B0604030504040204" pitchFamily="34" charset="-120"/>
              </a:rPr>
              <a:t>詢報價更新</a:t>
            </a:r>
            <a:endParaRPr lang="en-US" altLang="zh-TW" sz="1500" dirty="0">
              <a:solidFill>
                <a:srgbClr val="000000"/>
              </a:solidFill>
              <a:latin typeface="Microsoft JhengHei" panose="020B0604030504040204" pitchFamily="34" charset="-120"/>
              <a:ea typeface="Microsoft JhengHei" panose="020B0604030504040204" pitchFamily="34" charset="-120"/>
            </a:endParaRPr>
          </a:p>
          <a:p>
            <a:pPr algn="ctr" eaLnBrk="0" hangingPunct="0"/>
            <a:r>
              <a:rPr lang="zh-TW" altLang="en-US" sz="1500" dirty="0">
                <a:solidFill>
                  <a:srgbClr val="000000"/>
                </a:solidFill>
                <a:latin typeface="Microsoft JhengHei" panose="020B0604030504040204" pitchFamily="34" charset="-120"/>
                <a:ea typeface="Microsoft JhengHei" panose="020B0604030504040204" pitchFamily="34" charset="-120"/>
              </a:rPr>
              <a:t>價格主檔</a:t>
            </a:r>
            <a:r>
              <a:rPr lang="zh-TW" altLang="en-US" sz="1500" dirty="0"/>
              <a:t> </a:t>
            </a:r>
            <a:endParaRPr lang="zh-TW" altLang="en-US" sz="1500" dirty="0">
              <a:latin typeface="微軟正黑體" panose="020B0604030504040204" pitchFamily="34" charset="-120"/>
              <a:ea typeface="微軟正黑體" panose="020B0604030504040204" pitchFamily="34" charset="-120"/>
            </a:endParaRPr>
          </a:p>
        </p:txBody>
      </p:sp>
      <p:cxnSp>
        <p:nvCxnSpPr>
          <p:cNvPr id="6" name="肘形接點 68">
            <a:extLst>
              <a:ext uri="{FF2B5EF4-FFF2-40B4-BE49-F238E27FC236}">
                <a16:creationId xmlns:a16="http://schemas.microsoft.com/office/drawing/2014/main" xmlns="" id="{3A11571D-C287-4294-BD1B-33DF8D8A2460}"/>
              </a:ext>
            </a:extLst>
          </p:cNvPr>
          <p:cNvCxnSpPr>
            <a:cxnSpLocks/>
            <a:stCxn id="3" idx="3"/>
            <a:endCxn id="231" idx="1"/>
          </p:cNvCxnSpPr>
          <p:nvPr/>
        </p:nvCxnSpPr>
        <p:spPr>
          <a:xfrm flipV="1">
            <a:off x="2197866" y="2664118"/>
            <a:ext cx="844299" cy="611130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4" name="表格 30">
            <a:extLst>
              <a:ext uri="{FF2B5EF4-FFF2-40B4-BE49-F238E27FC236}">
                <a16:creationId xmlns:a16="http://schemas.microsoft.com/office/drawing/2014/main" xmlns="" id="{517D7603-E588-AF58-8C96-27DCC24F0D57}"/>
              </a:ext>
            </a:extLst>
          </p:cNvPr>
          <p:cNvGraphicFramePr>
            <a:graphicFrameLocks noGrp="1"/>
          </p:cNvGraphicFramePr>
          <p:nvPr/>
        </p:nvGraphicFramePr>
        <p:xfrm>
          <a:off x="5565635" y="5035299"/>
          <a:ext cx="1769576" cy="1198514"/>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70660">
                  <a:extLst>
                    <a:ext uri="{9D8B030D-6E8A-4147-A177-3AD203B41FA5}">
                      <a16:colId xmlns:a16="http://schemas.microsoft.com/office/drawing/2014/main" xmlns=""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MIGO</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採購單點收</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50675">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26" name="肘形接點 68">
            <a:extLst>
              <a:ext uri="{FF2B5EF4-FFF2-40B4-BE49-F238E27FC236}">
                <a16:creationId xmlns:a16="http://schemas.microsoft.com/office/drawing/2014/main" xmlns="" id="{C984B3B6-4060-F5EF-447C-E3495517D5FF}"/>
              </a:ext>
            </a:extLst>
          </p:cNvPr>
          <p:cNvCxnSpPr>
            <a:cxnSpLocks/>
            <a:stCxn id="23" idx="2"/>
            <a:endCxn id="24" idx="0"/>
          </p:cNvCxnSpPr>
          <p:nvPr/>
        </p:nvCxnSpPr>
        <p:spPr>
          <a:xfrm rot="5400000">
            <a:off x="7970620" y="2740019"/>
            <a:ext cx="775084" cy="381547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33" name="肘形接點 68">
            <a:extLst>
              <a:ext uri="{FF2B5EF4-FFF2-40B4-BE49-F238E27FC236}">
                <a16:creationId xmlns:a16="http://schemas.microsoft.com/office/drawing/2014/main" xmlns="" id="{D7037DAC-A540-903C-C687-678E60D8DB00}"/>
              </a:ext>
            </a:extLst>
          </p:cNvPr>
          <p:cNvCxnSpPr>
            <a:cxnSpLocks/>
            <a:stCxn id="24" idx="1"/>
            <a:endCxn id="63" idx="3"/>
          </p:cNvCxnSpPr>
          <p:nvPr/>
        </p:nvCxnSpPr>
        <p:spPr>
          <a:xfrm rot="10800000" flipV="1">
            <a:off x="4849645" y="5634556"/>
            <a:ext cx="715991" cy="30544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45" name="流程圖: 決策 50">
            <a:extLst>
              <a:ext uri="{FF2B5EF4-FFF2-40B4-BE49-F238E27FC236}">
                <a16:creationId xmlns:a16="http://schemas.microsoft.com/office/drawing/2014/main" xmlns="" id="{64DFF283-B521-6369-0647-D73FC77E02DD}"/>
              </a:ext>
            </a:extLst>
          </p:cNvPr>
          <p:cNvSpPr/>
          <p:nvPr/>
        </p:nvSpPr>
        <p:spPr bwMode="auto">
          <a:xfrm>
            <a:off x="3042275" y="6853421"/>
            <a:ext cx="1841949" cy="588972"/>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符合要求</a:t>
            </a:r>
          </a:p>
        </p:txBody>
      </p:sp>
      <p:sp>
        <p:nvSpPr>
          <p:cNvPr id="246" name="文字方塊 245">
            <a:extLst>
              <a:ext uri="{FF2B5EF4-FFF2-40B4-BE49-F238E27FC236}">
                <a16:creationId xmlns:a16="http://schemas.microsoft.com/office/drawing/2014/main" xmlns="" id="{6CDFB9C3-2AFF-AD05-DF56-BCD1A889E975}"/>
              </a:ext>
            </a:extLst>
          </p:cNvPr>
          <p:cNvSpPr txBox="1"/>
          <p:nvPr/>
        </p:nvSpPr>
        <p:spPr>
          <a:xfrm>
            <a:off x="3621501" y="8222627"/>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zh-TW" altLang="en-US" sz="1350" dirty="0"/>
          </a:p>
        </p:txBody>
      </p:sp>
      <p:sp>
        <p:nvSpPr>
          <p:cNvPr id="248" name="文字方塊 247">
            <a:extLst>
              <a:ext uri="{FF2B5EF4-FFF2-40B4-BE49-F238E27FC236}">
                <a16:creationId xmlns:a16="http://schemas.microsoft.com/office/drawing/2014/main" xmlns="" id="{DCAE4E49-8857-F875-D3A4-FE81EC38B610}"/>
              </a:ext>
            </a:extLst>
          </p:cNvPr>
          <p:cNvSpPr txBox="1"/>
          <p:nvPr/>
        </p:nvSpPr>
        <p:spPr>
          <a:xfrm>
            <a:off x="4979756" y="6797321"/>
            <a:ext cx="788670"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cxnSp>
        <p:nvCxnSpPr>
          <p:cNvPr id="255" name="肘形接點 68">
            <a:extLst>
              <a:ext uri="{FF2B5EF4-FFF2-40B4-BE49-F238E27FC236}">
                <a16:creationId xmlns:a16="http://schemas.microsoft.com/office/drawing/2014/main" xmlns="" id="{668BDE23-AB78-6FF5-BF5D-68ED2510368E}"/>
              </a:ext>
            </a:extLst>
          </p:cNvPr>
          <p:cNvCxnSpPr>
            <a:cxnSpLocks/>
            <a:stCxn id="54" idx="2"/>
            <a:endCxn id="212" idx="0"/>
          </p:cNvCxnSpPr>
          <p:nvPr/>
        </p:nvCxnSpPr>
        <p:spPr>
          <a:xfrm rot="5400000">
            <a:off x="6273899" y="7883851"/>
            <a:ext cx="301461" cy="322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54" name="表格 30">
            <a:extLst>
              <a:ext uri="{FF2B5EF4-FFF2-40B4-BE49-F238E27FC236}">
                <a16:creationId xmlns:a16="http://schemas.microsoft.com/office/drawing/2014/main" xmlns="" id="{CED0A522-26E0-B353-AF31-58C297C90F43}"/>
              </a:ext>
            </a:extLst>
          </p:cNvPr>
          <p:cNvGraphicFramePr>
            <a:graphicFrameLocks noGrp="1"/>
          </p:cNvGraphicFramePr>
          <p:nvPr/>
        </p:nvGraphicFramePr>
        <p:xfrm>
          <a:off x="5541455" y="6550294"/>
          <a:ext cx="1769576" cy="1184439"/>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70660">
                  <a:extLst>
                    <a:ext uri="{9D8B030D-6E8A-4147-A177-3AD203B41FA5}">
                      <a16:colId xmlns:a16="http://schemas.microsoft.com/office/drawing/2014/main" xmlns=""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MIGO</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採購單收貨退回</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63" name="表格 30">
            <a:extLst>
              <a:ext uri="{FF2B5EF4-FFF2-40B4-BE49-F238E27FC236}">
                <a16:creationId xmlns:a16="http://schemas.microsoft.com/office/drawing/2014/main" xmlns="" id="{8F78BD7D-DFF9-FF79-121C-D1B0D1445F20}"/>
              </a:ext>
            </a:extLst>
          </p:cNvPr>
          <p:cNvGraphicFramePr>
            <a:graphicFrameLocks noGrp="1"/>
          </p:cNvGraphicFramePr>
          <p:nvPr>
            <p:extLst>
              <p:ext uri="{D42A27DB-BD31-4B8C-83A1-F6EECF244321}">
                <p14:modId xmlns:p14="http://schemas.microsoft.com/office/powerpoint/2010/main" xmlns="" val="314983085"/>
              </p:ext>
            </p:extLst>
          </p:nvPr>
        </p:nvGraphicFramePr>
        <p:xfrm>
          <a:off x="3051812" y="5435096"/>
          <a:ext cx="1797832" cy="10098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r>
                        <a:rPr lang="en-US" altLang="zh-TW" sz="1500" b="1" dirty="0">
                          <a:solidFill>
                            <a:schemeClr val="tx1"/>
                          </a:solidFill>
                          <a:latin typeface="微軟正黑體" panose="020B0604030504040204" pitchFamily="34" charset="-120"/>
                          <a:ea typeface="微軟正黑體" panose="020B0604030504040204" pitchFamily="34" charset="-120"/>
                        </a:rPr>
                        <a:t>ZMM029</a:t>
                      </a: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00">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列印收貨驗收單</a:t>
                      </a:r>
                    </a:p>
                  </a:txBody>
                  <a:tcPr marL="124691" marR="124691"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197" name="肘形接點 68">
            <a:extLst>
              <a:ext uri="{FF2B5EF4-FFF2-40B4-BE49-F238E27FC236}">
                <a16:creationId xmlns:a16="http://schemas.microsoft.com/office/drawing/2014/main" xmlns="" id="{310815F9-7866-BC7C-4C97-A00DBF164C5E}"/>
              </a:ext>
            </a:extLst>
          </p:cNvPr>
          <p:cNvCxnSpPr>
            <a:cxnSpLocks/>
            <a:stCxn id="63" idx="2"/>
            <a:endCxn id="245" idx="0"/>
          </p:cNvCxnSpPr>
          <p:nvPr/>
        </p:nvCxnSpPr>
        <p:spPr>
          <a:xfrm rot="16200000" flipH="1">
            <a:off x="3752727" y="6642897"/>
            <a:ext cx="408525" cy="1252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01" name="肘形接點 68">
            <a:extLst>
              <a:ext uri="{FF2B5EF4-FFF2-40B4-BE49-F238E27FC236}">
                <a16:creationId xmlns:a16="http://schemas.microsoft.com/office/drawing/2014/main" xmlns="" id="{7DD1FC20-04A7-A8A0-7E60-0E08D5B81763}"/>
              </a:ext>
            </a:extLst>
          </p:cNvPr>
          <p:cNvCxnSpPr>
            <a:cxnSpLocks/>
            <a:stCxn id="245" idx="3"/>
            <a:endCxn id="54" idx="1"/>
          </p:cNvCxnSpPr>
          <p:nvPr/>
        </p:nvCxnSpPr>
        <p:spPr>
          <a:xfrm flipV="1">
            <a:off x="4884224" y="7142513"/>
            <a:ext cx="657231" cy="539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05" name="肘形接點 68">
            <a:extLst>
              <a:ext uri="{FF2B5EF4-FFF2-40B4-BE49-F238E27FC236}">
                <a16:creationId xmlns:a16="http://schemas.microsoft.com/office/drawing/2014/main" xmlns="" id="{FEF81CBC-7C76-D2D5-FD9E-246C83C979B7}"/>
              </a:ext>
            </a:extLst>
          </p:cNvPr>
          <p:cNvCxnSpPr>
            <a:cxnSpLocks/>
            <a:stCxn id="245" idx="2"/>
            <a:endCxn id="230" idx="1"/>
          </p:cNvCxnSpPr>
          <p:nvPr/>
        </p:nvCxnSpPr>
        <p:spPr>
          <a:xfrm rot="16200000" flipH="1">
            <a:off x="5532656" y="5872986"/>
            <a:ext cx="1870617" cy="5009432"/>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12" name="表格 30">
            <a:extLst>
              <a:ext uri="{FF2B5EF4-FFF2-40B4-BE49-F238E27FC236}">
                <a16:creationId xmlns:a16="http://schemas.microsoft.com/office/drawing/2014/main" xmlns="" id="{9CB00D7A-743A-C1D2-0B44-F591564E1D50}"/>
              </a:ext>
            </a:extLst>
          </p:cNvPr>
          <p:cNvGraphicFramePr>
            <a:graphicFrameLocks noGrp="1"/>
          </p:cNvGraphicFramePr>
          <p:nvPr/>
        </p:nvGraphicFramePr>
        <p:xfrm>
          <a:off x="5538230" y="8036194"/>
          <a:ext cx="1769576" cy="1184439"/>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70660">
                  <a:extLst>
                    <a:ext uri="{9D8B030D-6E8A-4147-A177-3AD203B41FA5}">
                      <a16:colId xmlns:a16="http://schemas.microsoft.com/office/drawing/2014/main" xmlns=""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GB" altLang="zh-TW" sz="1500" b="1" dirty="0">
                        <a:solidFill>
                          <a:srgbClr val="FF0000"/>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通知廠商退貨重工</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16" name="肘形接點 68">
            <a:extLst>
              <a:ext uri="{FF2B5EF4-FFF2-40B4-BE49-F238E27FC236}">
                <a16:creationId xmlns:a16="http://schemas.microsoft.com/office/drawing/2014/main" xmlns="" id="{EDDA5B0F-5DB7-2E7E-A7B0-8DDCC957339A}"/>
              </a:ext>
            </a:extLst>
          </p:cNvPr>
          <p:cNvCxnSpPr>
            <a:cxnSpLocks/>
            <a:stCxn id="212" idx="3"/>
            <a:endCxn id="24" idx="3"/>
          </p:cNvCxnSpPr>
          <p:nvPr/>
        </p:nvCxnSpPr>
        <p:spPr>
          <a:xfrm flipV="1">
            <a:off x="7307805" y="5634554"/>
            <a:ext cx="27405" cy="2993859"/>
          </a:xfrm>
          <a:prstGeom prst="bentConnector3">
            <a:avLst>
              <a:gd name="adj1" fmla="val 1351232"/>
            </a:avLst>
          </a:prstGeom>
          <a:ln>
            <a:tailEnd type="triangle"/>
          </a:ln>
        </p:spPr>
        <p:style>
          <a:lnRef idx="1">
            <a:schemeClr val="dk1"/>
          </a:lnRef>
          <a:fillRef idx="0">
            <a:schemeClr val="dk1"/>
          </a:fillRef>
          <a:effectRef idx="0">
            <a:schemeClr val="dk1"/>
          </a:effectRef>
          <a:fontRef idx="minor">
            <a:schemeClr val="tx1"/>
          </a:fontRef>
        </p:style>
      </p:cxnSp>
      <p:sp>
        <p:nvSpPr>
          <p:cNvPr id="230" name="流程圖: 預設處理作業 21">
            <a:extLst>
              <a:ext uri="{FF2B5EF4-FFF2-40B4-BE49-F238E27FC236}">
                <a16:creationId xmlns:a16="http://schemas.microsoft.com/office/drawing/2014/main" xmlns="" id="{4046BD9F-2A52-946E-F474-C3982ECB1B0A}"/>
              </a:ext>
            </a:extLst>
          </p:cNvPr>
          <p:cNvSpPr/>
          <p:nvPr/>
        </p:nvSpPr>
        <p:spPr bwMode="auto">
          <a:xfrm>
            <a:off x="8972681" y="8693810"/>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MM-IV-0010</a:t>
            </a:r>
          </a:p>
          <a:p>
            <a:pPr algn="ctr" eaLnBrk="0" hangingPunct="0"/>
            <a:r>
              <a:rPr lang="zh-TW" altLang="en-US" sz="1500" dirty="0">
                <a:latin typeface="微軟正黑體" panose="020B0604030504040204" pitchFamily="34" charset="-120"/>
                <a:ea typeface="微軟正黑體" panose="020B0604030504040204" pitchFamily="34" charset="-120"/>
              </a:rPr>
              <a:t>發票請款</a:t>
            </a:r>
          </a:p>
        </p:txBody>
      </p:sp>
      <p:cxnSp>
        <p:nvCxnSpPr>
          <p:cNvPr id="242" name="肘形接點 68">
            <a:extLst>
              <a:ext uri="{FF2B5EF4-FFF2-40B4-BE49-F238E27FC236}">
                <a16:creationId xmlns:a16="http://schemas.microsoft.com/office/drawing/2014/main" xmlns="" id="{8B90A816-416F-1F26-59E4-A0F1A3935EF0}"/>
              </a:ext>
            </a:extLst>
          </p:cNvPr>
          <p:cNvCxnSpPr>
            <a:cxnSpLocks/>
            <a:stCxn id="230" idx="3"/>
            <a:endCxn id="25" idx="1"/>
          </p:cNvCxnSpPr>
          <p:nvPr/>
        </p:nvCxnSpPr>
        <p:spPr>
          <a:xfrm flipV="1">
            <a:off x="10785793" y="9311461"/>
            <a:ext cx="1512707" cy="155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59" name="流程圖: 文件 42">
            <a:extLst>
              <a:ext uri="{FF2B5EF4-FFF2-40B4-BE49-F238E27FC236}">
                <a16:creationId xmlns:a16="http://schemas.microsoft.com/office/drawing/2014/main" xmlns="" id="{D96DD5EE-A7FD-9A3B-9DE1-94649764CF1A}"/>
              </a:ext>
            </a:extLst>
          </p:cNvPr>
          <p:cNvSpPr/>
          <p:nvPr/>
        </p:nvSpPr>
        <p:spPr bwMode="auto">
          <a:xfrm>
            <a:off x="4863795" y="4435024"/>
            <a:ext cx="1086981" cy="534714"/>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採購單</a:t>
            </a:r>
          </a:p>
        </p:txBody>
      </p:sp>
      <p:sp>
        <p:nvSpPr>
          <p:cNvPr id="60" name="Google Shape;198;p3"/>
          <p:cNvSpPr txBox="1">
            <a:spLocks/>
          </p:cNvSpPr>
          <p:nvPr/>
        </p:nvSpPr>
        <p:spPr>
          <a:xfrm>
            <a:off x="15147235" y="447451"/>
            <a:ext cx="523729" cy="241661"/>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1</a:t>
            </a:r>
          </a:p>
        </p:txBody>
      </p:sp>
      <p:grpSp>
        <p:nvGrpSpPr>
          <p:cNvPr id="13" name="Group 220">
            <a:extLst>
              <a:ext uri="{FF2B5EF4-FFF2-40B4-BE49-F238E27FC236}">
                <a16:creationId xmlns:a16="http://schemas.microsoft.com/office/drawing/2014/main" xmlns="" id="{8F9100A8-C49B-4A69-8C8C-1F7583CA5532}"/>
              </a:ext>
            </a:extLst>
          </p:cNvPr>
          <p:cNvGrpSpPr/>
          <p:nvPr/>
        </p:nvGrpSpPr>
        <p:grpSpPr>
          <a:xfrm>
            <a:off x="4594037" y="1840308"/>
            <a:ext cx="550992" cy="415761"/>
            <a:chOff x="5906472" y="1486857"/>
            <a:chExt cx="367328" cy="272361"/>
          </a:xfrm>
        </p:grpSpPr>
        <p:sp>
          <p:nvSpPr>
            <p:cNvPr id="17" name="Oval 221">
              <a:extLst>
                <a:ext uri="{FF2B5EF4-FFF2-40B4-BE49-F238E27FC236}">
                  <a16:creationId xmlns:a16="http://schemas.microsoft.com/office/drawing/2014/main" xmlns="" id="{563A1C4E-D680-B5D1-5A89-9099D1F33AC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8" name="TextBox 222">
              <a:extLst>
                <a:ext uri="{FF2B5EF4-FFF2-40B4-BE49-F238E27FC236}">
                  <a16:creationId xmlns:a16="http://schemas.microsoft.com/office/drawing/2014/main" xmlns="" id="{60D91B19-79E7-F88F-B376-D3C257050AE7}"/>
                </a:ext>
              </a:extLst>
            </p:cNvPr>
            <p:cNvSpPr txBox="1"/>
            <p:nvPr/>
          </p:nvSpPr>
          <p:spPr>
            <a:xfrm>
              <a:off x="5918200" y="1493255"/>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nvGrpSpPr>
          <p:cNvPr id="20" name="Group 220">
            <a:extLst>
              <a:ext uri="{FF2B5EF4-FFF2-40B4-BE49-F238E27FC236}">
                <a16:creationId xmlns:a16="http://schemas.microsoft.com/office/drawing/2014/main" xmlns="" id="{0B79EBBA-F242-48C7-ECC3-55BEDF3FDDA8}"/>
              </a:ext>
            </a:extLst>
          </p:cNvPr>
          <p:cNvGrpSpPr/>
          <p:nvPr/>
        </p:nvGrpSpPr>
        <p:grpSpPr>
          <a:xfrm>
            <a:off x="4618337" y="3417832"/>
            <a:ext cx="547256" cy="415761"/>
            <a:chOff x="5906472" y="1486857"/>
            <a:chExt cx="364837" cy="272361"/>
          </a:xfrm>
        </p:grpSpPr>
        <p:sp>
          <p:nvSpPr>
            <p:cNvPr id="21" name="Oval 221">
              <a:extLst>
                <a:ext uri="{FF2B5EF4-FFF2-40B4-BE49-F238E27FC236}">
                  <a16:creationId xmlns:a16="http://schemas.microsoft.com/office/drawing/2014/main" xmlns="" id="{43FEF97A-51DF-308E-5C1C-DC15C2D5D5F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2" name="TextBox 222">
              <a:extLst>
                <a:ext uri="{FF2B5EF4-FFF2-40B4-BE49-F238E27FC236}">
                  <a16:creationId xmlns:a16="http://schemas.microsoft.com/office/drawing/2014/main" xmlns="" id="{7751ACA8-5935-4AA1-4521-923760069DB5}"/>
                </a:ext>
              </a:extLst>
            </p:cNvPr>
            <p:cNvSpPr txBox="1"/>
            <p:nvPr/>
          </p:nvSpPr>
          <p:spPr>
            <a:xfrm>
              <a:off x="5915709"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26" name="Group 220">
            <a:extLst>
              <a:ext uri="{FF2B5EF4-FFF2-40B4-BE49-F238E27FC236}">
                <a16:creationId xmlns:a16="http://schemas.microsoft.com/office/drawing/2014/main" xmlns="" id="{D8635200-02ED-D586-5182-13D35F269F75}"/>
              </a:ext>
            </a:extLst>
          </p:cNvPr>
          <p:cNvGrpSpPr/>
          <p:nvPr/>
        </p:nvGrpSpPr>
        <p:grpSpPr>
          <a:xfrm>
            <a:off x="4618918" y="5217616"/>
            <a:ext cx="547256" cy="415761"/>
            <a:chOff x="5906472" y="1486857"/>
            <a:chExt cx="364837" cy="272361"/>
          </a:xfrm>
        </p:grpSpPr>
        <p:sp>
          <p:nvSpPr>
            <p:cNvPr id="27" name="Oval 221">
              <a:extLst>
                <a:ext uri="{FF2B5EF4-FFF2-40B4-BE49-F238E27FC236}">
                  <a16:creationId xmlns:a16="http://schemas.microsoft.com/office/drawing/2014/main" xmlns="" id="{F686CF7D-73D6-7EDB-A60B-729A82EE5C1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8" name="TextBox 222">
              <a:extLst>
                <a:ext uri="{FF2B5EF4-FFF2-40B4-BE49-F238E27FC236}">
                  <a16:creationId xmlns:a16="http://schemas.microsoft.com/office/drawing/2014/main" xmlns="" id="{4E6CEA89-4164-7690-9492-0DA8BCBE9F2A}"/>
                </a:ext>
              </a:extLst>
            </p:cNvPr>
            <p:cNvSpPr txBox="1"/>
            <p:nvPr/>
          </p:nvSpPr>
          <p:spPr>
            <a:xfrm>
              <a:off x="5915709"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nvGrpSpPr>
          <p:cNvPr id="235" name="Group 220">
            <a:extLst>
              <a:ext uri="{FF2B5EF4-FFF2-40B4-BE49-F238E27FC236}">
                <a16:creationId xmlns:a16="http://schemas.microsoft.com/office/drawing/2014/main" xmlns="" id="{56A53D60-F177-B66D-1052-09F00D9EB829}"/>
              </a:ext>
            </a:extLst>
          </p:cNvPr>
          <p:cNvGrpSpPr/>
          <p:nvPr/>
        </p:nvGrpSpPr>
        <p:grpSpPr>
          <a:xfrm>
            <a:off x="7089690" y="4811140"/>
            <a:ext cx="546285" cy="408542"/>
            <a:chOff x="5906472" y="1486857"/>
            <a:chExt cx="364190" cy="272361"/>
          </a:xfrm>
        </p:grpSpPr>
        <p:sp>
          <p:nvSpPr>
            <p:cNvPr id="236" name="Oval 221">
              <a:extLst>
                <a:ext uri="{FF2B5EF4-FFF2-40B4-BE49-F238E27FC236}">
                  <a16:creationId xmlns:a16="http://schemas.microsoft.com/office/drawing/2014/main" xmlns="" id="{1026EB19-175E-BAE9-2573-E214F8CC61B8}"/>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37" name="TextBox 222">
              <a:extLst>
                <a:ext uri="{FF2B5EF4-FFF2-40B4-BE49-F238E27FC236}">
                  <a16:creationId xmlns:a16="http://schemas.microsoft.com/office/drawing/2014/main" xmlns="" id="{58D156B1-9578-40C0-E02B-A11714005BD3}"/>
                </a:ext>
              </a:extLst>
            </p:cNvPr>
            <p:cNvSpPr txBox="1"/>
            <p:nvPr/>
          </p:nvSpPr>
          <p:spPr>
            <a:xfrm>
              <a:off x="5915062" y="1507079"/>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14" name="Group 220">
            <a:extLst>
              <a:ext uri="{FF2B5EF4-FFF2-40B4-BE49-F238E27FC236}">
                <a16:creationId xmlns:a16="http://schemas.microsoft.com/office/drawing/2014/main" xmlns="" id="{54E6A95E-AFAF-B7AD-D985-C6A6DA2CC497}"/>
              </a:ext>
            </a:extLst>
          </p:cNvPr>
          <p:cNvGrpSpPr/>
          <p:nvPr/>
        </p:nvGrpSpPr>
        <p:grpSpPr>
          <a:xfrm>
            <a:off x="7059199" y="6337415"/>
            <a:ext cx="547256" cy="408542"/>
            <a:chOff x="5906472" y="1486857"/>
            <a:chExt cx="364837" cy="272361"/>
          </a:xfrm>
        </p:grpSpPr>
        <p:sp>
          <p:nvSpPr>
            <p:cNvPr id="15" name="Oval 221">
              <a:extLst>
                <a:ext uri="{FF2B5EF4-FFF2-40B4-BE49-F238E27FC236}">
                  <a16:creationId xmlns:a16="http://schemas.microsoft.com/office/drawing/2014/main" xmlns="" id="{EF8E5205-B66F-85A9-DC77-642F4235FB79}"/>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6" name="TextBox 222">
              <a:extLst>
                <a:ext uri="{FF2B5EF4-FFF2-40B4-BE49-F238E27FC236}">
                  <a16:creationId xmlns:a16="http://schemas.microsoft.com/office/drawing/2014/main" xmlns="" id="{A4D1C523-617C-6BEB-C763-144C84E71401}"/>
                </a:ext>
              </a:extLst>
            </p:cNvPr>
            <p:cNvSpPr txBox="1"/>
            <p:nvPr/>
          </p:nvSpPr>
          <p:spPr>
            <a:xfrm>
              <a:off x="5915709" y="1516604"/>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grpSp>
        <p:nvGrpSpPr>
          <p:cNvPr id="192" name="Group 220">
            <a:extLst>
              <a:ext uri="{FF2B5EF4-FFF2-40B4-BE49-F238E27FC236}">
                <a16:creationId xmlns:a16="http://schemas.microsoft.com/office/drawing/2014/main" xmlns="" id="{5709FF49-EDFD-8F8F-6799-A8D9E0A01B61}"/>
              </a:ext>
            </a:extLst>
          </p:cNvPr>
          <p:cNvGrpSpPr/>
          <p:nvPr/>
        </p:nvGrpSpPr>
        <p:grpSpPr>
          <a:xfrm>
            <a:off x="7050437" y="7833881"/>
            <a:ext cx="561543" cy="408542"/>
            <a:chOff x="5906472" y="1486857"/>
            <a:chExt cx="374362" cy="272361"/>
          </a:xfrm>
        </p:grpSpPr>
        <p:sp>
          <p:nvSpPr>
            <p:cNvPr id="193" name="Oval 221">
              <a:extLst>
                <a:ext uri="{FF2B5EF4-FFF2-40B4-BE49-F238E27FC236}">
                  <a16:creationId xmlns:a16="http://schemas.microsoft.com/office/drawing/2014/main" xmlns="" id="{13202102-19DE-78ED-3FD3-51CDCA08696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194" name="TextBox 222">
              <a:extLst>
                <a:ext uri="{FF2B5EF4-FFF2-40B4-BE49-F238E27FC236}">
                  <a16:creationId xmlns:a16="http://schemas.microsoft.com/office/drawing/2014/main" xmlns="" id="{5DAD36CA-322F-DD6B-21F1-9CDAFEDE4EB0}"/>
                </a:ext>
              </a:extLst>
            </p:cNvPr>
            <p:cNvSpPr txBox="1"/>
            <p:nvPr/>
          </p:nvSpPr>
          <p:spPr>
            <a:xfrm>
              <a:off x="5925234" y="150253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grpSp>
        <p:nvGrpSpPr>
          <p:cNvPr id="45" name="Group 220">
            <a:extLst>
              <a:ext uri="{FF2B5EF4-FFF2-40B4-BE49-F238E27FC236}">
                <a16:creationId xmlns:a16="http://schemas.microsoft.com/office/drawing/2014/main" xmlns="" id="{ADD1546F-75A2-0E22-F66E-32DFDB0DE746}"/>
              </a:ext>
            </a:extLst>
          </p:cNvPr>
          <p:cNvGrpSpPr/>
          <p:nvPr/>
        </p:nvGrpSpPr>
        <p:grpSpPr>
          <a:xfrm>
            <a:off x="10908500" y="2818799"/>
            <a:ext cx="547256" cy="415761"/>
            <a:chOff x="5906472" y="1486857"/>
            <a:chExt cx="364837" cy="272361"/>
          </a:xfrm>
        </p:grpSpPr>
        <p:sp>
          <p:nvSpPr>
            <p:cNvPr id="46" name="Oval 221">
              <a:extLst>
                <a:ext uri="{FF2B5EF4-FFF2-40B4-BE49-F238E27FC236}">
                  <a16:creationId xmlns:a16="http://schemas.microsoft.com/office/drawing/2014/main" xmlns="" id="{E638D9BF-33CE-140D-7D4D-42C18836B30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48" name="TextBox 222">
              <a:extLst>
                <a:ext uri="{FF2B5EF4-FFF2-40B4-BE49-F238E27FC236}">
                  <a16:creationId xmlns:a16="http://schemas.microsoft.com/office/drawing/2014/main" xmlns="" id="{454E1CB9-6ED4-AD5A-39EC-6D1B324BA26E}"/>
                </a:ext>
              </a:extLst>
            </p:cNvPr>
            <p:cNvSpPr txBox="1"/>
            <p:nvPr/>
          </p:nvSpPr>
          <p:spPr>
            <a:xfrm>
              <a:off x="5915709"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61" name="流程圖: 換頁接點 52">
            <a:extLst>
              <a:ext uri="{FF2B5EF4-FFF2-40B4-BE49-F238E27FC236}">
                <a16:creationId xmlns:a16="http://schemas.microsoft.com/office/drawing/2014/main" xmlns="" id="{AC58EE03-29AB-852C-B954-3F203C7F24CB}"/>
              </a:ext>
            </a:extLst>
          </p:cNvPr>
          <p:cNvSpPr/>
          <p:nvPr/>
        </p:nvSpPr>
        <p:spPr bwMode="auto">
          <a:xfrm>
            <a:off x="863203" y="3946116"/>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P2</a:t>
            </a:r>
            <a:endParaRPr lang="zh-TW" altLang="en-US" dirty="0">
              <a:latin typeface="微軟正黑體" panose="020B0604030504040204" pitchFamily="34" charset="-120"/>
              <a:ea typeface="微軟正黑體" panose="020B0604030504040204" pitchFamily="34" charset="-120"/>
            </a:endParaRPr>
          </a:p>
        </p:txBody>
      </p:sp>
      <p:cxnSp>
        <p:nvCxnSpPr>
          <p:cNvPr id="62" name="肘形接點 68">
            <a:extLst>
              <a:ext uri="{FF2B5EF4-FFF2-40B4-BE49-F238E27FC236}">
                <a16:creationId xmlns:a16="http://schemas.microsoft.com/office/drawing/2014/main" xmlns="" id="{3A11571D-C287-4294-BD1B-33DF8D8A2460}"/>
              </a:ext>
            </a:extLst>
          </p:cNvPr>
          <p:cNvCxnSpPr>
            <a:cxnSpLocks/>
            <a:stCxn id="61" idx="3"/>
            <a:endCxn id="231" idx="1"/>
          </p:cNvCxnSpPr>
          <p:nvPr/>
        </p:nvCxnSpPr>
        <p:spPr>
          <a:xfrm flipV="1">
            <a:off x="1423830" y="2664118"/>
            <a:ext cx="1618335" cy="1515650"/>
          </a:xfrm>
          <a:prstGeom prst="bentConnector3">
            <a:avLst>
              <a:gd name="adj1" fmla="val 74566"/>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xmlns="" val="1734426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a16="http://schemas.microsoft.com/office/drawing/2014/main" xmlns="" id="{83E6F622-2FBE-CC67-50FE-4ABD7D8B9696}"/>
              </a:ext>
            </a:extLst>
          </p:cNvPr>
          <p:cNvSpPr txBox="1"/>
          <p:nvPr/>
        </p:nvSpPr>
        <p:spPr>
          <a:xfrm>
            <a:off x="2444080" y="794373"/>
            <a:ext cx="7218711" cy="507831"/>
          </a:xfrm>
          <a:prstGeom prst="rect">
            <a:avLst/>
          </a:prstGeom>
          <a:noFill/>
        </p:spPr>
        <p:txBody>
          <a:bodyPr wrap="square">
            <a:spAutoFit/>
          </a:bodyPr>
          <a:lstStyle/>
          <a:p>
            <a:pPr eaLnBrk="0" hangingPunct="0"/>
            <a:r>
              <a:rPr lang="en-US" altLang="zh-TW" sz="2700" b="1" dirty="0">
                <a:latin typeface="微軟正黑體" panose="020B0604030504040204" pitchFamily="34" charset="-120"/>
                <a:ea typeface="微軟正黑體" panose="020B0604030504040204" pitchFamily="34" charset="-120"/>
              </a:rPr>
              <a:t>MM-PU-0080</a:t>
            </a:r>
            <a:r>
              <a:rPr lang="zh-TW" altLang="en-US" sz="2700" b="1" dirty="0">
                <a:latin typeface="微軟正黑體" panose="020B0604030504040204" pitchFamily="34" charset="-120"/>
                <a:ea typeface="微軟正黑體" panose="020B0604030504040204" pitchFamily="34" charset="-120"/>
              </a:rPr>
              <a:t>製程委外請採驗流程</a:t>
            </a:r>
            <a:r>
              <a:rPr lang="en-US" altLang="zh-TW" sz="2700" b="1" dirty="0">
                <a:latin typeface="微軟正黑體" panose="020B0604030504040204" pitchFamily="34" charset="-120"/>
                <a:ea typeface="微軟正黑體" panose="020B0604030504040204" pitchFamily="34" charset="-120"/>
              </a:rPr>
              <a:t>(</a:t>
            </a:r>
            <a:r>
              <a:rPr lang="zh-TW" altLang="en-US" sz="2700" b="1" dirty="0">
                <a:latin typeface="微軟正黑體" panose="020B0604030504040204" pitchFamily="34" charset="-120"/>
                <a:ea typeface="微軟正黑體" panose="020B0604030504040204" pitchFamily="34" charset="-120"/>
              </a:rPr>
              <a:t>計畫外</a:t>
            </a:r>
            <a:r>
              <a:rPr lang="en-US" altLang="zh-TW" sz="2700" b="1" dirty="0">
                <a:latin typeface="微軟正黑體" panose="020B0604030504040204" pitchFamily="34" charset="-120"/>
                <a:ea typeface="微軟正黑體" panose="020B0604030504040204" pitchFamily="34" charset="-120"/>
              </a:rPr>
              <a:t>)</a:t>
            </a:r>
            <a:endParaRPr lang="zh-TW" altLang="en-US" sz="2700" b="1" dirty="0">
              <a:latin typeface="微軟正黑體" panose="020B0604030504040204" pitchFamily="34" charset="-120"/>
              <a:ea typeface="微軟正黑體" panose="020B0604030504040204" pitchFamily="34" charset="-120"/>
            </a:endParaRPr>
          </a:p>
        </p:txBody>
      </p:sp>
      <p:sp>
        <p:nvSpPr>
          <p:cNvPr id="34" name="文字方塊 17">
            <a:extLst>
              <a:ext uri="{FF2B5EF4-FFF2-40B4-BE49-F238E27FC236}">
                <a16:creationId xmlns:a16="http://schemas.microsoft.com/office/drawing/2014/main" xmlns="" id="{DE52170D-3194-E094-D743-3842F95326FE}"/>
              </a:ext>
            </a:extLst>
          </p:cNvPr>
          <p:cNvSpPr txBox="1"/>
          <p:nvPr/>
        </p:nvSpPr>
        <p:spPr>
          <a:xfrm>
            <a:off x="2397704" y="1379657"/>
            <a:ext cx="5413968"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生管</a:t>
            </a:r>
            <a:r>
              <a:rPr lang="en-US" altLang="zh-TW" sz="1650" dirty="0">
                <a:latin typeface="微軟正黑體" panose="020B0604030504040204" pitchFamily="34" charset="-120"/>
                <a:ea typeface="微軟正黑體" panose="020B0604030504040204" pitchFamily="34" charset="-120"/>
              </a:rPr>
              <a:t>/</a:t>
            </a:r>
            <a:r>
              <a:rPr lang="zh-TW" altLang="en-US" sz="1650" dirty="0">
                <a:latin typeface="微軟正黑體" panose="020B0604030504040204" pitchFamily="34" charset="-120"/>
                <a:ea typeface="微軟正黑體" panose="020B0604030504040204" pitchFamily="34" charset="-120"/>
              </a:rPr>
              <a:t>廠務</a:t>
            </a:r>
          </a:p>
        </p:txBody>
      </p:sp>
      <p:sp>
        <p:nvSpPr>
          <p:cNvPr id="227" name="TextBox 53">
            <a:extLst>
              <a:ext uri="{FF2B5EF4-FFF2-40B4-BE49-F238E27FC236}">
                <a16:creationId xmlns:a16="http://schemas.microsoft.com/office/drawing/2014/main" xmlns="" id="{DF940026-96D7-3867-6425-C228DF3D29BF}"/>
              </a:ext>
            </a:extLst>
          </p:cNvPr>
          <p:cNvSpPr txBox="1"/>
          <p:nvPr/>
        </p:nvSpPr>
        <p:spPr>
          <a:xfrm>
            <a:off x="14380627" y="2064631"/>
            <a:ext cx="3594197" cy="3693319"/>
          </a:xfrm>
          <a:prstGeom prst="rect">
            <a:avLst/>
          </a:prstGeom>
          <a:noFill/>
        </p:spPr>
        <p:txBody>
          <a:bodyPr wrap="square" rtlCol="0">
            <a:spAutoFit/>
          </a:bodyPr>
          <a:lstStyle/>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因工廠產能安排臨時申請製程委外加工，填寫申請單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主管進行簽核製程委外加工申請單</a:t>
            </a: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endParaRPr lang="en-US" altLang="zh-TW" dirty="0">
              <a:latin typeface="微軟正黑體" panose="020B0604030504040204" pitchFamily="34" charset="-120"/>
              <a:ea typeface="微軟正黑體" panose="020B0604030504040204" pitchFamily="34" charset="-120"/>
            </a:endParaRPr>
          </a:p>
          <a:p>
            <a:pPr marL="342900" indent="-342900">
              <a:buFont typeface="+mj-lt"/>
              <a:buAutoNum type="arabicPeriod"/>
            </a:pPr>
            <a:r>
              <a:rPr lang="zh-TW" altLang="en-US" dirty="0">
                <a:latin typeface="微軟正黑體" panose="020B0604030504040204" pitchFamily="34" charset="-120"/>
                <a:ea typeface="微軟正黑體" panose="020B0604030504040204" pitchFamily="34" charset="-120"/>
              </a:rPr>
              <a:t>建立製程加工請購單，指定所屬的工單，並指派價格主檔</a:t>
            </a:r>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pPr marL="342900" indent="-342900">
              <a:buFont typeface="+mj-lt"/>
              <a:buAutoNum type="arabicPeriod"/>
            </a:pPr>
            <a:endParaRPr lang="en-US" altLang="zh-TW" dirty="0"/>
          </a:p>
          <a:p>
            <a:endParaRPr lang="en-US" altLang="zh-TW" dirty="0"/>
          </a:p>
        </p:txBody>
      </p:sp>
      <p:graphicFrame>
        <p:nvGraphicFramePr>
          <p:cNvPr id="231" name="表格 30">
            <a:extLst>
              <a:ext uri="{FF2B5EF4-FFF2-40B4-BE49-F238E27FC236}">
                <a16:creationId xmlns:a16="http://schemas.microsoft.com/office/drawing/2014/main" xmlns="" id="{E2D1DE07-F765-0D8A-0A3C-D52A5A690ECB}"/>
              </a:ext>
            </a:extLst>
          </p:cNvPr>
          <p:cNvGraphicFramePr>
            <a:graphicFrameLocks noGrp="1"/>
          </p:cNvGraphicFramePr>
          <p:nvPr/>
        </p:nvGraphicFramePr>
        <p:xfrm>
          <a:off x="3042165" y="2291021"/>
          <a:ext cx="1797832" cy="1271899"/>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0432">
                <a:tc gridSpan="2">
                  <a:txBody>
                    <a:bodyPr/>
                    <a:lstStyle/>
                    <a:p>
                      <a:pPr algn="ctr"/>
                      <a:endParaRPr lang="en-GB" sz="1400" b="1" dirty="0">
                        <a:solidFill>
                          <a:schemeClr val="tx1"/>
                        </a:solidFill>
                        <a:latin typeface="微軟正黑體" panose="020B0604030504040204" pitchFamily="34" charset="-120"/>
                        <a:ea typeface="微軟正黑體" panose="020B0604030504040204" pitchFamily="34" charset="-120"/>
                      </a:endParaRP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622305">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製程委外加工申請</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3921">
                <a:tc>
                  <a:txBody>
                    <a:bodyPr/>
                    <a:lstStyle/>
                    <a:p>
                      <a:pPr algn="ctr"/>
                      <a:r>
                        <a:rPr lang="zh-TW" altLang="en-US" sz="1400" dirty="0">
                          <a:latin typeface="微軟正黑體" panose="020B0604030504040204" pitchFamily="34" charset="-120"/>
                          <a:ea typeface="微軟正黑體" panose="020B0604030504040204" pitchFamily="34" charset="-120"/>
                        </a:rPr>
                        <a:t>紙本</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240" name="表格 30">
            <a:extLst>
              <a:ext uri="{FF2B5EF4-FFF2-40B4-BE49-F238E27FC236}">
                <a16:creationId xmlns:a16="http://schemas.microsoft.com/office/drawing/2014/main" xmlns="" id="{D50514A0-AA46-1916-EFBB-5F1C0FA347E6}"/>
              </a:ext>
            </a:extLst>
          </p:cNvPr>
          <p:cNvGraphicFramePr>
            <a:graphicFrameLocks noGrp="1"/>
          </p:cNvGraphicFramePr>
          <p:nvPr/>
        </p:nvGraphicFramePr>
        <p:xfrm>
          <a:off x="3040911" y="4810519"/>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ME51</a:t>
                      </a:r>
                      <a:r>
                        <a:rPr lang="en-US" altLang="zh-TW" sz="1500" b="1" dirty="0">
                          <a:solidFill>
                            <a:schemeClr val="tx1"/>
                          </a:solidFill>
                          <a:latin typeface="微軟正黑體" panose="020B0604030504040204" pitchFamily="34" charset="-120"/>
                          <a:ea typeface="微軟正黑體" panose="020B0604030504040204" pitchFamily="34" charset="-120"/>
                        </a:rPr>
                        <a:t>N</a:t>
                      </a: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00">
                <a:tc gridSpan="2">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500" dirty="0">
                          <a:latin typeface="微軟正黑體" panose="020B0604030504040204" pitchFamily="34" charset="-120"/>
                          <a:ea typeface="微軟正黑體" panose="020B0604030504040204" pitchFamily="34" charset="-120"/>
                        </a:rPr>
                        <a:t>建立</a:t>
                      </a:r>
                      <a:r>
                        <a:rPr kumimoji="0" lang="zh-TW" altLang="en-US" sz="1500" dirty="0">
                          <a:latin typeface="微軟正黑體" panose="020B0604030504040204" pitchFamily="34" charset="-120"/>
                          <a:ea typeface="微軟正黑體" panose="020B0604030504040204" pitchFamily="34" charset="-120"/>
                        </a:rPr>
                        <a:t>製程加工請購單</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42" name="Straight Connector 284">
            <a:extLst>
              <a:ext uri="{FF2B5EF4-FFF2-40B4-BE49-F238E27FC236}">
                <a16:creationId xmlns:a16="http://schemas.microsoft.com/office/drawing/2014/main" xmlns="" id="{3E7471C9-C79F-A59B-27B9-5790F81098EC}"/>
              </a:ext>
            </a:extLst>
          </p:cNvPr>
          <p:cNvCxnSpPr>
            <a:cxnSpLocks/>
          </p:cNvCxnSpPr>
          <p:nvPr/>
        </p:nvCxnSpPr>
        <p:spPr>
          <a:xfrm>
            <a:off x="7811672" y="1328708"/>
            <a:ext cx="0" cy="88224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3" name="表格 22">
            <a:extLst>
              <a:ext uri="{FF2B5EF4-FFF2-40B4-BE49-F238E27FC236}">
                <a16:creationId xmlns:a16="http://schemas.microsoft.com/office/drawing/2014/main" xmlns="" id="{F713FD14-4079-0064-8801-0FC6A8C76364}"/>
              </a:ext>
            </a:extLst>
          </p:cNvPr>
          <p:cNvGraphicFramePr>
            <a:graphicFrameLocks noGrp="1"/>
          </p:cNvGraphicFramePr>
          <p:nvPr/>
        </p:nvGraphicFramePr>
        <p:xfrm>
          <a:off x="9207846" y="2330078"/>
          <a:ext cx="1797832" cy="1184439"/>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669475819"/>
                    </a:ext>
                  </a:extLst>
                </a:gridCol>
                <a:gridCol w="898916">
                  <a:extLst>
                    <a:ext uri="{9D8B030D-6E8A-4147-A177-3AD203B41FA5}">
                      <a16:colId xmlns:a16="http://schemas.microsoft.com/office/drawing/2014/main" xmlns="" val="954766941"/>
                    </a:ext>
                  </a:extLst>
                </a:gridCol>
              </a:tblGrid>
              <a:tr h="3366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rgbClr val="FF0000"/>
                          </a:solidFill>
                          <a:latin typeface="微軟正黑體" panose="020B0604030504040204" pitchFamily="34" charset="-120"/>
                          <a:ea typeface="微軟正黑體" panose="020B0604030504040204" pitchFamily="34" charset="-120"/>
                        </a:rPr>
                        <a:t> </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4260511936"/>
                  </a:ext>
                </a:extLst>
              </a:tr>
              <a:tr h="511239">
                <a:tc gridSpan="2">
                  <a:txBody>
                    <a:bodyPr/>
                    <a:lstStyle/>
                    <a:p>
                      <a:pPr algn="ctr"/>
                      <a:r>
                        <a:rPr lang="zh-TW" altLang="en-US" sz="1500" dirty="0">
                          <a:latin typeface="微軟正黑體" panose="020B0604030504040204" pitchFamily="34" charset="-120"/>
                          <a:ea typeface="微軟正黑體" panose="020B0604030504040204" pitchFamily="34" charset="-120"/>
                        </a:rPr>
                        <a:t>主管簽核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2473043334"/>
                  </a:ext>
                </a:extLst>
              </a:tr>
              <a:tr h="336600">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1500" dirty="0">
                          <a:latin typeface="微軟正黑體" panose="020B0604030504040204" pitchFamily="34" charset="-120"/>
                          <a:ea typeface="微軟正黑體" panose="020B0604030504040204" pitchFamily="34" charset="-120"/>
                        </a:rPr>
                        <a:t>紙本</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r>
                        <a:rPr lang="zh-TW" altLang="en-US" sz="1500" dirty="0"/>
                        <a:t>手動</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190879877"/>
                  </a:ext>
                </a:extLst>
              </a:tr>
            </a:tbl>
          </a:graphicData>
        </a:graphic>
      </p:graphicFrame>
      <p:sp>
        <p:nvSpPr>
          <p:cNvPr id="243" name="流程圖: 預設處理作業 21">
            <a:extLst>
              <a:ext uri="{FF2B5EF4-FFF2-40B4-BE49-F238E27FC236}">
                <a16:creationId xmlns:a16="http://schemas.microsoft.com/office/drawing/2014/main" xmlns="" id="{0021CF08-573D-E070-554D-7535B5847B32}"/>
              </a:ext>
            </a:extLst>
          </p:cNvPr>
          <p:cNvSpPr/>
          <p:nvPr/>
        </p:nvSpPr>
        <p:spPr bwMode="auto">
          <a:xfrm>
            <a:off x="351139" y="2307673"/>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PP-PC-0010/20</a:t>
            </a:r>
          </a:p>
          <a:p>
            <a:pPr algn="ctr" eaLnBrk="0" hangingPunct="0"/>
            <a:r>
              <a:rPr lang="en-US" altLang="zh-TW" sz="1500" dirty="0">
                <a:latin typeface="微軟正黑體" panose="020B0604030504040204" pitchFamily="34" charset="-120"/>
                <a:ea typeface="微軟正黑體" panose="020B0604030504040204" pitchFamily="34" charset="-120"/>
              </a:rPr>
              <a:t>/30/40</a:t>
            </a:r>
          </a:p>
          <a:p>
            <a:pPr algn="ctr" eaLnBrk="0" hangingPunct="0"/>
            <a:r>
              <a:rPr lang="zh-TW" altLang="en-US" sz="1500" dirty="0">
                <a:latin typeface="微軟正黑體" panose="020B0604030504040204" pitchFamily="34" charset="-120"/>
                <a:ea typeface="微軟正黑體" panose="020B0604030504040204" pitchFamily="34" charset="-120"/>
              </a:rPr>
              <a:t>工單維護作業</a:t>
            </a:r>
          </a:p>
        </p:txBody>
      </p:sp>
      <p:cxnSp>
        <p:nvCxnSpPr>
          <p:cNvPr id="244" name="肘形接點 68">
            <a:extLst>
              <a:ext uri="{FF2B5EF4-FFF2-40B4-BE49-F238E27FC236}">
                <a16:creationId xmlns:a16="http://schemas.microsoft.com/office/drawing/2014/main" xmlns="" id="{20104088-E909-8D02-EC74-0F4DF77F33A1}"/>
              </a:ext>
            </a:extLst>
          </p:cNvPr>
          <p:cNvCxnSpPr>
            <a:cxnSpLocks/>
            <a:stCxn id="243" idx="3"/>
            <a:endCxn id="231" idx="1"/>
          </p:cNvCxnSpPr>
          <p:nvPr/>
        </p:nvCxnSpPr>
        <p:spPr>
          <a:xfrm>
            <a:off x="2164251" y="2926873"/>
            <a:ext cx="877914" cy="9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251" name="文字方塊 17">
            <a:extLst>
              <a:ext uri="{FF2B5EF4-FFF2-40B4-BE49-F238E27FC236}">
                <a16:creationId xmlns:a16="http://schemas.microsoft.com/office/drawing/2014/main" xmlns="" id="{8E4B5A93-04AB-998D-8BC2-5AD6295C022A}"/>
              </a:ext>
            </a:extLst>
          </p:cNvPr>
          <p:cNvSpPr txBox="1"/>
          <p:nvPr/>
        </p:nvSpPr>
        <p:spPr>
          <a:xfrm>
            <a:off x="7102576" y="1381642"/>
            <a:ext cx="6440309" cy="346249"/>
          </a:xfrm>
          <a:prstGeom prst="rect">
            <a:avLst/>
          </a:prstGeom>
          <a:noFill/>
        </p:spPr>
        <p:txBody>
          <a:bodyPr wrap="square" rtlCol="0">
            <a:spAutoFit/>
          </a:bodyPr>
          <a:lstStyle/>
          <a:p>
            <a:pPr algn="ctr"/>
            <a:r>
              <a:rPr lang="zh-TW" altLang="en-US" sz="1650" dirty="0"/>
              <a:t>生管主管</a:t>
            </a:r>
            <a:r>
              <a:rPr lang="en-US" altLang="zh-TW" sz="1650" dirty="0"/>
              <a:t>/</a:t>
            </a:r>
            <a:r>
              <a:rPr lang="zh-TW" altLang="en-US" sz="1650" dirty="0"/>
              <a:t>廠務主管</a:t>
            </a:r>
          </a:p>
        </p:txBody>
      </p:sp>
      <p:cxnSp>
        <p:nvCxnSpPr>
          <p:cNvPr id="226" name="肘形接點 68">
            <a:extLst>
              <a:ext uri="{FF2B5EF4-FFF2-40B4-BE49-F238E27FC236}">
                <a16:creationId xmlns:a16="http://schemas.microsoft.com/office/drawing/2014/main" xmlns="" id="{C984B3B6-4060-F5EF-447C-E3495517D5FF}"/>
              </a:ext>
            </a:extLst>
          </p:cNvPr>
          <p:cNvCxnSpPr>
            <a:cxnSpLocks/>
            <a:stCxn id="23" idx="2"/>
            <a:endCxn id="64" idx="0"/>
          </p:cNvCxnSpPr>
          <p:nvPr/>
        </p:nvCxnSpPr>
        <p:spPr>
          <a:xfrm rot="16200000" flipH="1">
            <a:off x="9459116" y="4162162"/>
            <a:ext cx="1302696" cy="740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0" name="Google Shape;198;p3"/>
          <p:cNvSpPr txBox="1">
            <a:spLocks/>
          </p:cNvSpPr>
          <p:nvPr/>
        </p:nvSpPr>
        <p:spPr>
          <a:xfrm>
            <a:off x="15332764" y="513712"/>
            <a:ext cx="333059" cy="18865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r>
              <a:rPr lang="en-US" sz="1500" dirty="0"/>
              <a:t>2</a:t>
            </a:r>
          </a:p>
        </p:txBody>
      </p:sp>
      <p:grpSp>
        <p:nvGrpSpPr>
          <p:cNvPr id="13" name="Group 220">
            <a:extLst>
              <a:ext uri="{FF2B5EF4-FFF2-40B4-BE49-F238E27FC236}">
                <a16:creationId xmlns:a16="http://schemas.microsoft.com/office/drawing/2014/main" xmlns="" id="{8F9100A8-C49B-4A69-8C8C-1F7583CA5532}"/>
              </a:ext>
            </a:extLst>
          </p:cNvPr>
          <p:cNvGrpSpPr/>
          <p:nvPr/>
        </p:nvGrpSpPr>
        <p:grpSpPr>
          <a:xfrm>
            <a:off x="4594037" y="2103160"/>
            <a:ext cx="561543" cy="415761"/>
            <a:chOff x="5906472" y="1486857"/>
            <a:chExt cx="374362" cy="272361"/>
          </a:xfrm>
        </p:grpSpPr>
        <p:sp>
          <p:nvSpPr>
            <p:cNvPr id="17" name="Oval 221">
              <a:extLst>
                <a:ext uri="{FF2B5EF4-FFF2-40B4-BE49-F238E27FC236}">
                  <a16:creationId xmlns:a16="http://schemas.microsoft.com/office/drawing/2014/main" xmlns="" id="{563A1C4E-D680-B5D1-5A89-9099D1F33AC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18" name="TextBox 222">
              <a:extLst>
                <a:ext uri="{FF2B5EF4-FFF2-40B4-BE49-F238E27FC236}">
                  <a16:creationId xmlns:a16="http://schemas.microsoft.com/office/drawing/2014/main" xmlns="" id="{60D91B19-79E7-F88F-B376-D3C257050AE7}"/>
                </a:ext>
              </a:extLst>
            </p:cNvPr>
            <p:cNvSpPr txBox="1"/>
            <p:nvPr/>
          </p:nvSpPr>
          <p:spPr>
            <a:xfrm>
              <a:off x="5925234"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nvGrpSpPr>
          <p:cNvPr id="20" name="Group 220">
            <a:extLst>
              <a:ext uri="{FF2B5EF4-FFF2-40B4-BE49-F238E27FC236}">
                <a16:creationId xmlns:a16="http://schemas.microsoft.com/office/drawing/2014/main" xmlns="" id="{0B79EBBA-F242-48C7-ECC3-55BEDF3FDDA8}"/>
              </a:ext>
            </a:extLst>
          </p:cNvPr>
          <p:cNvGrpSpPr/>
          <p:nvPr/>
        </p:nvGrpSpPr>
        <p:grpSpPr>
          <a:xfrm>
            <a:off x="4618337" y="4599025"/>
            <a:ext cx="547256" cy="415761"/>
            <a:chOff x="5906472" y="1486857"/>
            <a:chExt cx="364837" cy="272361"/>
          </a:xfrm>
        </p:grpSpPr>
        <p:sp>
          <p:nvSpPr>
            <p:cNvPr id="21" name="Oval 221">
              <a:extLst>
                <a:ext uri="{FF2B5EF4-FFF2-40B4-BE49-F238E27FC236}">
                  <a16:creationId xmlns:a16="http://schemas.microsoft.com/office/drawing/2014/main" xmlns="" id="{43FEF97A-51DF-308E-5C1C-DC15C2D5D5F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22" name="TextBox 222">
              <a:extLst>
                <a:ext uri="{FF2B5EF4-FFF2-40B4-BE49-F238E27FC236}">
                  <a16:creationId xmlns:a16="http://schemas.microsoft.com/office/drawing/2014/main" xmlns="" id="{7751ACA8-5935-4AA1-4521-923760069DB5}"/>
                </a:ext>
              </a:extLst>
            </p:cNvPr>
            <p:cNvSpPr txBox="1"/>
            <p:nvPr/>
          </p:nvSpPr>
          <p:spPr>
            <a:xfrm>
              <a:off x="5915709"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nvGrpSpPr>
          <p:cNvPr id="45" name="Group 220">
            <a:extLst>
              <a:ext uri="{FF2B5EF4-FFF2-40B4-BE49-F238E27FC236}">
                <a16:creationId xmlns:a16="http://schemas.microsoft.com/office/drawing/2014/main" xmlns="" id="{ADD1546F-75A2-0E22-F66E-32DFDB0DE746}"/>
              </a:ext>
            </a:extLst>
          </p:cNvPr>
          <p:cNvGrpSpPr/>
          <p:nvPr/>
        </p:nvGrpSpPr>
        <p:grpSpPr>
          <a:xfrm>
            <a:off x="10749362" y="2127062"/>
            <a:ext cx="547256" cy="415761"/>
            <a:chOff x="5906472" y="1486857"/>
            <a:chExt cx="364837" cy="272361"/>
          </a:xfrm>
        </p:grpSpPr>
        <p:sp>
          <p:nvSpPr>
            <p:cNvPr id="46" name="Oval 221">
              <a:extLst>
                <a:ext uri="{FF2B5EF4-FFF2-40B4-BE49-F238E27FC236}">
                  <a16:creationId xmlns:a16="http://schemas.microsoft.com/office/drawing/2014/main" xmlns="" id="{E638D9BF-33CE-140D-7D4D-42C18836B30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48" name="TextBox 222">
              <a:extLst>
                <a:ext uri="{FF2B5EF4-FFF2-40B4-BE49-F238E27FC236}">
                  <a16:creationId xmlns:a16="http://schemas.microsoft.com/office/drawing/2014/main" xmlns="" id="{454E1CB9-6ED4-AD5A-39EC-6D1B324BA26E}"/>
                </a:ext>
              </a:extLst>
            </p:cNvPr>
            <p:cNvSpPr txBox="1"/>
            <p:nvPr/>
          </p:nvSpPr>
          <p:spPr>
            <a:xfrm>
              <a:off x="5915709" y="1507079"/>
              <a:ext cx="355600" cy="211702"/>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64" name="流程圖: 預設處理作業 21">
            <a:extLst>
              <a:ext uri="{FF2B5EF4-FFF2-40B4-BE49-F238E27FC236}">
                <a16:creationId xmlns:a16="http://schemas.microsoft.com/office/drawing/2014/main" xmlns="" id="{3D261F4D-5F01-DB73-E1E3-9B854CF48E03}"/>
              </a:ext>
            </a:extLst>
          </p:cNvPr>
          <p:cNvSpPr/>
          <p:nvPr/>
        </p:nvSpPr>
        <p:spPr bwMode="auto">
          <a:xfrm>
            <a:off x="9207611" y="4817213"/>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solidFill>
                  <a:srgbClr val="000000"/>
                </a:solidFill>
                <a:latin typeface="Microsoft JhengHei" panose="020B0604030504040204" pitchFamily="34" charset="-120"/>
                <a:ea typeface="Microsoft JhengHei" panose="020B0604030504040204" pitchFamily="34" charset="-120"/>
              </a:rPr>
              <a:t>MM-PU-0010</a:t>
            </a:r>
          </a:p>
          <a:p>
            <a:pPr algn="ctr" eaLnBrk="0" hangingPunct="0"/>
            <a:r>
              <a:rPr lang="zh-TW" altLang="en-US" sz="1500" dirty="0">
                <a:solidFill>
                  <a:srgbClr val="000000"/>
                </a:solidFill>
                <a:latin typeface="Microsoft JhengHei" panose="020B0604030504040204" pitchFamily="34" charset="-120"/>
                <a:ea typeface="Microsoft JhengHei" panose="020B0604030504040204" pitchFamily="34" charset="-120"/>
              </a:rPr>
              <a:t>詢報價更新</a:t>
            </a:r>
            <a:endParaRPr lang="en-US" altLang="zh-TW" sz="1500" dirty="0">
              <a:solidFill>
                <a:srgbClr val="000000"/>
              </a:solidFill>
              <a:latin typeface="Microsoft JhengHei" panose="020B0604030504040204" pitchFamily="34" charset="-120"/>
              <a:ea typeface="Microsoft JhengHei" panose="020B0604030504040204" pitchFamily="34" charset="-120"/>
            </a:endParaRPr>
          </a:p>
          <a:p>
            <a:pPr algn="ctr" eaLnBrk="0" hangingPunct="0"/>
            <a:r>
              <a:rPr lang="zh-TW" altLang="en-US" sz="1500" dirty="0">
                <a:solidFill>
                  <a:srgbClr val="000000"/>
                </a:solidFill>
                <a:latin typeface="Microsoft JhengHei" panose="020B0604030504040204" pitchFamily="34" charset="-120"/>
                <a:ea typeface="Microsoft JhengHei" panose="020B0604030504040204" pitchFamily="34" charset="-120"/>
              </a:rPr>
              <a:t>價格主檔</a:t>
            </a:r>
            <a:r>
              <a:rPr lang="zh-TW" altLang="en-US" sz="1500" dirty="0"/>
              <a:t> </a:t>
            </a:r>
            <a:endParaRPr lang="zh-TW" altLang="en-US" sz="1500" dirty="0">
              <a:latin typeface="微軟正黑體" panose="020B0604030504040204" pitchFamily="34" charset="-120"/>
              <a:ea typeface="微軟正黑體" panose="020B0604030504040204" pitchFamily="34" charset="-120"/>
            </a:endParaRPr>
          </a:p>
        </p:txBody>
      </p:sp>
      <p:sp>
        <p:nvSpPr>
          <p:cNvPr id="72" name="流程圖: 換頁接點 52">
            <a:extLst>
              <a:ext uri="{FF2B5EF4-FFF2-40B4-BE49-F238E27FC236}">
                <a16:creationId xmlns:a16="http://schemas.microsoft.com/office/drawing/2014/main" xmlns="" id="{AC58EE03-29AB-852C-B954-3F203C7F24CB}"/>
              </a:ext>
            </a:extLst>
          </p:cNvPr>
          <p:cNvSpPr/>
          <p:nvPr/>
        </p:nvSpPr>
        <p:spPr bwMode="auto">
          <a:xfrm>
            <a:off x="3666652" y="666854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P1</a:t>
            </a:r>
            <a:endParaRPr lang="zh-TW" altLang="en-US" dirty="0">
              <a:latin typeface="微軟正黑體" panose="020B0604030504040204" pitchFamily="34" charset="-120"/>
              <a:ea typeface="微軟正黑體" panose="020B0604030504040204" pitchFamily="34" charset="-120"/>
            </a:endParaRPr>
          </a:p>
        </p:txBody>
      </p:sp>
      <p:cxnSp>
        <p:nvCxnSpPr>
          <p:cNvPr id="6" name="直線單箭頭接點 5">
            <a:extLst>
              <a:ext uri="{FF2B5EF4-FFF2-40B4-BE49-F238E27FC236}">
                <a16:creationId xmlns:a16="http://schemas.microsoft.com/office/drawing/2014/main" xmlns="" id="{6C02BAFF-0728-89AA-54F0-C2E4F2BB49DB}"/>
              </a:ext>
            </a:extLst>
          </p:cNvPr>
          <p:cNvCxnSpPr>
            <a:cxnSpLocks/>
            <a:stCxn id="231" idx="3"/>
            <a:endCxn id="23" idx="1"/>
          </p:cNvCxnSpPr>
          <p:nvPr/>
        </p:nvCxnSpPr>
        <p:spPr>
          <a:xfrm flipV="1">
            <a:off x="4839997" y="2922297"/>
            <a:ext cx="4367849" cy="46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直線單箭頭接點 7">
            <a:extLst>
              <a:ext uri="{FF2B5EF4-FFF2-40B4-BE49-F238E27FC236}">
                <a16:creationId xmlns:a16="http://schemas.microsoft.com/office/drawing/2014/main" xmlns="" id="{7DD3FCD9-B3CA-31EC-6886-F194895217B4}"/>
              </a:ext>
            </a:extLst>
          </p:cNvPr>
          <p:cNvCxnSpPr>
            <a:cxnSpLocks/>
            <a:stCxn id="64" idx="1"/>
            <a:endCxn id="240" idx="3"/>
          </p:cNvCxnSpPr>
          <p:nvPr/>
        </p:nvCxnSpPr>
        <p:spPr>
          <a:xfrm flipH="1" flipV="1">
            <a:off x="4838743" y="5429719"/>
            <a:ext cx="4368868" cy="66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直線單箭頭接點 14">
            <a:extLst>
              <a:ext uri="{FF2B5EF4-FFF2-40B4-BE49-F238E27FC236}">
                <a16:creationId xmlns:a16="http://schemas.microsoft.com/office/drawing/2014/main" xmlns="" id="{336BBCD3-2908-D869-71E5-B82E9395AF67}"/>
              </a:ext>
            </a:extLst>
          </p:cNvPr>
          <p:cNvCxnSpPr>
            <a:cxnSpLocks/>
            <a:stCxn id="240" idx="2"/>
            <a:endCxn id="72" idx="0"/>
          </p:cNvCxnSpPr>
          <p:nvPr/>
        </p:nvCxnSpPr>
        <p:spPr>
          <a:xfrm>
            <a:off x="3939827" y="6048919"/>
            <a:ext cx="7139" cy="6196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xmlns="" val="2943277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673018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8">
            <a:extLst>
              <a:ext uri="{FF2B5EF4-FFF2-40B4-BE49-F238E27FC236}">
                <a16:creationId xmlns:a16="http://schemas.microsoft.com/office/drawing/2014/main" xmlns="" id="{6FA1EB1C-0C56-468D-DD3A-1AFF772D5B49}"/>
              </a:ext>
            </a:extLst>
          </p:cNvPr>
          <p:cNvSpPr/>
          <p:nvPr/>
        </p:nvSpPr>
        <p:spPr bwMode="auto">
          <a:xfrm>
            <a:off x="3242505" y="2150354"/>
            <a:ext cx="1797831" cy="519585"/>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流程</a:t>
            </a:r>
          </a:p>
          <a:p>
            <a:pPr algn="ctr" eaLnBrk="0" hangingPunct="0"/>
            <a:r>
              <a:rPr lang="zh-TW" altLang="en-US" sz="1500">
                <a:latin typeface="微軟正黑體" panose="020B0604030504040204" pitchFamily="34" charset="-120"/>
                <a:ea typeface="微軟正黑體" panose="020B0604030504040204" pitchFamily="34" charset="-120"/>
              </a:rPr>
              <a:t>開始或結束點</a:t>
            </a:r>
          </a:p>
        </p:txBody>
      </p:sp>
      <p:sp>
        <p:nvSpPr>
          <p:cNvPr id="3" name="文字方塊 12">
            <a:extLst>
              <a:ext uri="{FF2B5EF4-FFF2-40B4-BE49-F238E27FC236}">
                <a16:creationId xmlns:a16="http://schemas.microsoft.com/office/drawing/2014/main" xmlns="" id="{C3ACBE9D-2638-0AA4-2866-6D3A3BDB15CB}"/>
              </a:ext>
            </a:extLst>
          </p:cNvPr>
          <p:cNvSpPr txBox="1"/>
          <p:nvPr/>
        </p:nvSpPr>
        <p:spPr>
          <a:xfrm>
            <a:off x="5511013" y="2833662"/>
            <a:ext cx="6013292" cy="1661993"/>
          </a:xfrm>
          <a:prstGeom prst="rect">
            <a:avLst/>
          </a:prstGeom>
          <a:noFill/>
          <a:ln>
            <a:noFill/>
          </a:ln>
        </p:spPr>
        <p:txBody>
          <a:bodyPr wrap="square" lIns="0" tIns="0" rIns="0" bIns="0" rtlCol="0">
            <a:spAutoFit/>
          </a:bodyPr>
          <a:lstStyle/>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上方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若本作業為系統交易請輸入該系統的交易代碼</a:t>
            </a:r>
            <a:endParaRPr lang="en-US" altLang="zh-TW" sz="1800">
              <a:solidFill>
                <a:srgbClr val="C00000"/>
              </a:solidFill>
              <a:latin typeface="微軟正黑體" panose="020B0604030504040204" pitchFamily="34" charset="-120"/>
              <a:ea typeface="微軟正黑體" panose="020B0604030504040204" pitchFamily="34" charset="-120"/>
            </a:endParaRP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中間區塊</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動作</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作業</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系統交易 的名稱</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左下方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此處請輸入系統名稱</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若非系統交易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請留空白</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右下方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有自動化程序</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請輸入自動</a:t>
            </a:r>
          </a:p>
          <a:p>
            <a:pPr marL="257202" indent="-257202">
              <a:buFont typeface="Arial" panose="020B0604020202020204" pitchFamily="34" charset="0"/>
              <a:buChar char="•"/>
            </a:pPr>
            <a:endParaRPr lang="zh-TW" altLang="en-US" sz="1800">
              <a:solidFill>
                <a:srgbClr val="C00000"/>
              </a:solidFill>
              <a:latin typeface="微軟正黑體" panose="020B0604030504040204" pitchFamily="34" charset="-120"/>
              <a:ea typeface="微軟正黑體" panose="020B0604030504040204" pitchFamily="34" charset="-120"/>
            </a:endParaRPr>
          </a:p>
        </p:txBody>
      </p:sp>
      <p:sp>
        <p:nvSpPr>
          <p:cNvPr id="4" name="文字方塊 15">
            <a:extLst>
              <a:ext uri="{FF2B5EF4-FFF2-40B4-BE49-F238E27FC236}">
                <a16:creationId xmlns:a16="http://schemas.microsoft.com/office/drawing/2014/main" xmlns="" id="{F1992E37-FBF2-71FC-3355-A44CD54F666E}"/>
              </a:ext>
            </a:extLst>
          </p:cNvPr>
          <p:cNvSpPr txBox="1"/>
          <p:nvPr/>
        </p:nvSpPr>
        <p:spPr>
          <a:xfrm>
            <a:off x="5511009" y="2296591"/>
            <a:ext cx="338991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流程起始點或結束點</a:t>
            </a:r>
          </a:p>
        </p:txBody>
      </p:sp>
      <p:sp>
        <p:nvSpPr>
          <p:cNvPr id="7" name="文字方塊 24">
            <a:extLst>
              <a:ext uri="{FF2B5EF4-FFF2-40B4-BE49-F238E27FC236}">
                <a16:creationId xmlns:a16="http://schemas.microsoft.com/office/drawing/2014/main" xmlns="" id="{D18486DA-E03C-9AF3-9A27-7A647D6A1B82}"/>
              </a:ext>
            </a:extLst>
          </p:cNvPr>
          <p:cNvSpPr txBox="1"/>
          <p:nvPr/>
        </p:nvSpPr>
        <p:spPr>
          <a:xfrm>
            <a:off x="2548723" y="1451160"/>
            <a:ext cx="5505642" cy="507831"/>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本區域請輸入部門或是工作職掌</a:t>
            </a:r>
            <a:r>
              <a:rPr lang="en-US" altLang="zh-TW" sz="1600">
                <a:latin typeface="微軟正黑體" panose="020B0604030504040204" pitchFamily="34" charset="-120"/>
                <a:ea typeface="微軟正黑體" panose="020B0604030504040204" pitchFamily="34" charset="-120"/>
              </a:rPr>
              <a:t>. </a:t>
            </a:r>
          </a:p>
          <a:p>
            <a:r>
              <a:rPr lang="zh-TW" altLang="en-US" sz="1600">
                <a:latin typeface="微軟正黑體" panose="020B0604030504040204" pitchFamily="34" charset="-120"/>
                <a:ea typeface="微軟正黑體" panose="020B0604030504040204" pitchFamily="34" charset="-120"/>
              </a:rPr>
              <a:t>例如</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業務處 或 業務處</a:t>
            </a:r>
            <a:r>
              <a:rPr lang="en-US" altLang="zh-TW" sz="1600">
                <a:latin typeface="微軟正黑體" panose="020B0604030504040204" pitchFamily="34" charset="-120"/>
                <a:ea typeface="微軟正黑體" panose="020B0604030504040204" pitchFamily="34" charset="-120"/>
              </a:rPr>
              <a:t>/</a:t>
            </a:r>
            <a:r>
              <a:rPr lang="zh-TW" altLang="en-US" sz="1600">
                <a:latin typeface="微軟正黑體" panose="020B0604030504040204" pitchFamily="34" charset="-120"/>
                <a:ea typeface="微軟正黑體" panose="020B0604030504040204" pitchFamily="34" charset="-120"/>
              </a:rPr>
              <a:t>業務經理 或 業務人員</a:t>
            </a:r>
          </a:p>
        </p:txBody>
      </p:sp>
      <p:sp>
        <p:nvSpPr>
          <p:cNvPr id="8" name="文字方塊 25">
            <a:extLst>
              <a:ext uri="{FF2B5EF4-FFF2-40B4-BE49-F238E27FC236}">
                <a16:creationId xmlns:a16="http://schemas.microsoft.com/office/drawing/2014/main" xmlns="" id="{3582A9EB-A5A2-F0E1-F6A8-1152902964CF}"/>
              </a:ext>
            </a:extLst>
          </p:cNvPr>
          <p:cNvSpPr txBox="1"/>
          <p:nvPr/>
        </p:nvSpPr>
        <p:spPr>
          <a:xfrm>
            <a:off x="240594" y="1840650"/>
            <a:ext cx="2069194"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本區塊用來說明本流程動作所需要的資料來源</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包含前置作業流程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sp>
        <p:nvSpPr>
          <p:cNvPr id="9" name="文字方塊 26">
            <a:extLst>
              <a:ext uri="{FF2B5EF4-FFF2-40B4-BE49-F238E27FC236}">
                <a16:creationId xmlns:a16="http://schemas.microsoft.com/office/drawing/2014/main" xmlns="" id="{56CB2E28-F31D-1D89-A5FB-F878E9724B60}"/>
              </a:ext>
            </a:extLst>
          </p:cNvPr>
          <p:cNvSpPr txBox="1"/>
          <p:nvPr/>
        </p:nvSpPr>
        <p:spPr>
          <a:xfrm>
            <a:off x="12055646" y="1856148"/>
            <a:ext cx="2086520"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本區塊用來說明本流程動作所會產出的結果</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包含後續作業流程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graphicFrame>
        <p:nvGraphicFramePr>
          <p:cNvPr id="10" name="表格 30">
            <a:extLst>
              <a:ext uri="{FF2B5EF4-FFF2-40B4-BE49-F238E27FC236}">
                <a16:creationId xmlns:a16="http://schemas.microsoft.com/office/drawing/2014/main" xmlns="" id="{94474DA2-C417-6AE7-95EE-50C9649AB985}"/>
              </a:ext>
            </a:extLst>
          </p:cNvPr>
          <p:cNvGraphicFramePr>
            <a:graphicFrameLocks noGrp="1"/>
          </p:cNvGraphicFramePr>
          <p:nvPr/>
        </p:nvGraphicFramePr>
        <p:xfrm>
          <a:off x="3242505" y="3002420"/>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xmlns=""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xmlns=""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11" name="流程圖: 預設處理作業 21">
            <a:extLst>
              <a:ext uri="{FF2B5EF4-FFF2-40B4-BE49-F238E27FC236}">
                <a16:creationId xmlns:a16="http://schemas.microsoft.com/office/drawing/2014/main" xmlns="" id="{6AB8729A-A396-2BA6-E6B9-1B2A79082818}"/>
              </a:ext>
            </a:extLst>
          </p:cNvPr>
          <p:cNvSpPr/>
          <p:nvPr/>
        </p:nvSpPr>
        <p:spPr bwMode="auto">
          <a:xfrm>
            <a:off x="3242509" y="4808819"/>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a:latin typeface="微軟正黑體" panose="020B0604030504040204" pitchFamily="34" charset="-120"/>
                <a:ea typeface="微軟正黑體" panose="020B0604030504040204" pitchFamily="34" charset="-120"/>
              </a:rPr>
              <a:t>XXX-001-02</a:t>
            </a:r>
          </a:p>
          <a:p>
            <a:pPr algn="ctr" eaLnBrk="0" hangingPunct="0"/>
            <a:r>
              <a:rPr lang="en-US" altLang="zh-TW" sz="1500">
                <a:latin typeface="微軟正黑體" panose="020B0604030504040204" pitchFamily="34" charset="-120"/>
                <a:ea typeface="微軟正黑體" panose="020B0604030504040204" pitchFamily="34" charset="-120"/>
              </a:rPr>
              <a:t>XXX</a:t>
            </a:r>
            <a:r>
              <a:rPr lang="zh-TW" altLang="en-US" sz="1500">
                <a:latin typeface="微軟正黑體" panose="020B0604030504040204" pitchFamily="34" charset="-120"/>
                <a:ea typeface="微軟正黑體" panose="020B0604030504040204" pitchFamily="34" charset="-120"/>
              </a:rPr>
              <a:t>作業流程</a:t>
            </a:r>
          </a:p>
        </p:txBody>
      </p:sp>
      <p:sp>
        <p:nvSpPr>
          <p:cNvPr id="12" name="流程圖: 文件 42">
            <a:extLst>
              <a:ext uri="{FF2B5EF4-FFF2-40B4-BE49-F238E27FC236}">
                <a16:creationId xmlns:a16="http://schemas.microsoft.com/office/drawing/2014/main" xmlns="" id="{91F9B27C-7F80-2BDA-7707-DDBD4E112805}"/>
              </a:ext>
            </a:extLst>
          </p:cNvPr>
          <p:cNvSpPr/>
          <p:nvPr/>
        </p:nvSpPr>
        <p:spPr bwMode="auto">
          <a:xfrm>
            <a:off x="3242505" y="6336001"/>
            <a:ext cx="1841949" cy="1238400"/>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產出或投入</a:t>
            </a:r>
          </a:p>
          <a:p>
            <a:pPr algn="ctr" eaLnBrk="0" hangingPunct="0"/>
            <a:r>
              <a:rPr lang="zh-TW" altLang="en-US" sz="1500">
                <a:latin typeface="微軟正黑體" panose="020B0604030504040204" pitchFamily="34" charset="-120"/>
                <a:ea typeface="微軟正黑體" panose="020B0604030504040204" pitchFamily="34" charset="-120"/>
              </a:rPr>
              <a:t>文件</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報表</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表單</a:t>
            </a:r>
          </a:p>
        </p:txBody>
      </p:sp>
      <p:sp>
        <p:nvSpPr>
          <p:cNvPr id="13" name="文字方塊 46">
            <a:extLst>
              <a:ext uri="{FF2B5EF4-FFF2-40B4-BE49-F238E27FC236}">
                <a16:creationId xmlns:a16="http://schemas.microsoft.com/office/drawing/2014/main" xmlns="" id="{8E21E1D9-DCFA-D067-33E8-546CC2C7A8A1}"/>
              </a:ext>
            </a:extLst>
          </p:cNvPr>
          <p:cNvSpPr txBox="1"/>
          <p:nvPr/>
        </p:nvSpPr>
        <p:spPr>
          <a:xfrm>
            <a:off x="5568741" y="5289520"/>
            <a:ext cx="4104456"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於本流程中有關聯的流程編號與名稱</a:t>
            </a:r>
          </a:p>
        </p:txBody>
      </p:sp>
      <p:sp>
        <p:nvSpPr>
          <p:cNvPr id="14" name="文字方塊 47">
            <a:extLst>
              <a:ext uri="{FF2B5EF4-FFF2-40B4-BE49-F238E27FC236}">
                <a16:creationId xmlns:a16="http://schemas.microsoft.com/office/drawing/2014/main" xmlns="" id="{5B7CE1DA-2D6E-F4C0-11C8-08795CA4563E}"/>
              </a:ext>
            </a:extLst>
          </p:cNvPr>
          <p:cNvSpPr txBox="1"/>
          <p:nvPr/>
        </p:nvSpPr>
        <p:spPr>
          <a:xfrm>
            <a:off x="5568743" y="6418310"/>
            <a:ext cx="5313821"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於本流程中投入或是產出的文件</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報表</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表單名稱</a:t>
            </a:r>
          </a:p>
        </p:txBody>
      </p:sp>
      <p:sp>
        <p:nvSpPr>
          <p:cNvPr id="15" name="流程圖: 決策 50">
            <a:extLst>
              <a:ext uri="{FF2B5EF4-FFF2-40B4-BE49-F238E27FC236}">
                <a16:creationId xmlns:a16="http://schemas.microsoft.com/office/drawing/2014/main" xmlns="" id="{845AA0C2-CB36-2792-A054-5B69382FBD2D}"/>
              </a:ext>
            </a:extLst>
          </p:cNvPr>
          <p:cNvSpPr/>
          <p:nvPr/>
        </p:nvSpPr>
        <p:spPr bwMode="auto">
          <a:xfrm>
            <a:off x="7393953" y="7226480"/>
            <a:ext cx="1841949" cy="117794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決策或判斷點</a:t>
            </a:r>
          </a:p>
        </p:txBody>
      </p:sp>
      <p:sp>
        <p:nvSpPr>
          <p:cNvPr id="16" name="流程圖: 接點 51">
            <a:extLst>
              <a:ext uri="{FF2B5EF4-FFF2-40B4-BE49-F238E27FC236}">
                <a16:creationId xmlns:a16="http://schemas.microsoft.com/office/drawing/2014/main" xmlns="" id="{1E4DE6F3-3BB0-2B05-BD87-45921D4C3C01}"/>
              </a:ext>
            </a:extLst>
          </p:cNvPr>
          <p:cNvSpPr/>
          <p:nvPr/>
        </p:nvSpPr>
        <p:spPr bwMode="auto">
          <a:xfrm>
            <a:off x="7989971" y="8646043"/>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A</a:t>
            </a:r>
            <a:endParaRPr lang="zh-TW" altLang="en-US" sz="1800">
              <a:latin typeface="微軟正黑體" panose="020B0604030504040204" pitchFamily="34" charset="-120"/>
              <a:ea typeface="微軟正黑體" panose="020B0604030504040204" pitchFamily="34" charset="-120"/>
            </a:endParaRPr>
          </a:p>
        </p:txBody>
      </p:sp>
      <p:sp>
        <p:nvSpPr>
          <p:cNvPr id="17" name="流程圖: 換頁接點 52">
            <a:extLst>
              <a:ext uri="{FF2B5EF4-FFF2-40B4-BE49-F238E27FC236}">
                <a16:creationId xmlns:a16="http://schemas.microsoft.com/office/drawing/2014/main" xmlns="" id="{AC58EE03-29AB-852C-B954-3F203C7F24CB}"/>
              </a:ext>
            </a:extLst>
          </p:cNvPr>
          <p:cNvSpPr/>
          <p:nvPr/>
        </p:nvSpPr>
        <p:spPr bwMode="auto">
          <a:xfrm>
            <a:off x="8002556" y="941057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P2</a:t>
            </a:r>
            <a:endParaRPr lang="zh-TW" altLang="en-US" sz="1800">
              <a:latin typeface="微軟正黑體" panose="020B0604030504040204" pitchFamily="34" charset="-120"/>
              <a:ea typeface="微軟正黑體" panose="020B0604030504040204" pitchFamily="34" charset="-120"/>
            </a:endParaRPr>
          </a:p>
        </p:txBody>
      </p:sp>
      <p:sp>
        <p:nvSpPr>
          <p:cNvPr id="18" name="文字方塊 53">
            <a:extLst>
              <a:ext uri="{FF2B5EF4-FFF2-40B4-BE49-F238E27FC236}">
                <a16:creationId xmlns:a16="http://schemas.microsoft.com/office/drawing/2014/main" xmlns="" id="{3456038A-55BE-0A34-609A-F6B4AC23D1F1}"/>
              </a:ext>
            </a:extLst>
          </p:cNvPr>
          <p:cNvSpPr txBox="1"/>
          <p:nvPr/>
        </p:nvSpPr>
        <p:spPr>
          <a:xfrm>
            <a:off x="9526622" y="7716344"/>
            <a:ext cx="185663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決策或是判斷點</a:t>
            </a:r>
          </a:p>
        </p:txBody>
      </p:sp>
      <p:sp>
        <p:nvSpPr>
          <p:cNvPr id="19" name="文字方塊 54">
            <a:extLst>
              <a:ext uri="{FF2B5EF4-FFF2-40B4-BE49-F238E27FC236}">
                <a16:creationId xmlns:a16="http://schemas.microsoft.com/office/drawing/2014/main" xmlns="" id="{517E2A64-47A3-A953-7789-D0C0B645C2F1}"/>
              </a:ext>
            </a:extLst>
          </p:cNvPr>
          <p:cNvSpPr txBox="1"/>
          <p:nvPr/>
        </p:nvSpPr>
        <p:spPr>
          <a:xfrm>
            <a:off x="9571162" y="8696687"/>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同一頁面上的連結點</a:t>
            </a:r>
          </a:p>
        </p:txBody>
      </p:sp>
      <p:sp>
        <p:nvSpPr>
          <p:cNvPr id="20" name="文字方塊 55">
            <a:extLst>
              <a:ext uri="{FF2B5EF4-FFF2-40B4-BE49-F238E27FC236}">
                <a16:creationId xmlns:a16="http://schemas.microsoft.com/office/drawing/2014/main" xmlns="" id="{938B72A0-C4AB-D17D-D8C7-F599440CF29D}"/>
              </a:ext>
            </a:extLst>
          </p:cNvPr>
          <p:cNvSpPr txBox="1"/>
          <p:nvPr/>
        </p:nvSpPr>
        <p:spPr>
          <a:xfrm>
            <a:off x="9571162" y="9410572"/>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換頁之連接點</a:t>
            </a:r>
          </a:p>
        </p:txBody>
      </p:sp>
      <p:sp>
        <p:nvSpPr>
          <p:cNvPr id="21" name="文字方塊 21">
            <a:extLst>
              <a:ext uri="{FF2B5EF4-FFF2-40B4-BE49-F238E27FC236}">
                <a16:creationId xmlns:a16="http://schemas.microsoft.com/office/drawing/2014/main" xmlns="" id="{1F153670-BE85-306D-6126-9994ACD9935F}"/>
              </a:ext>
            </a:extLst>
          </p:cNvPr>
          <p:cNvSpPr txBox="1"/>
          <p:nvPr/>
        </p:nvSpPr>
        <p:spPr>
          <a:xfrm>
            <a:off x="16660678" y="226579"/>
            <a:ext cx="1392048"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本區塊之頁次</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日期會自動更新</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日期為最後一次更新日</a:t>
            </a:r>
          </a:p>
        </p:txBody>
      </p:sp>
      <p:sp>
        <p:nvSpPr>
          <p:cNvPr id="30" name="文字方塊 53">
            <a:extLst>
              <a:ext uri="{FF2B5EF4-FFF2-40B4-BE49-F238E27FC236}">
                <a16:creationId xmlns:a16="http://schemas.microsoft.com/office/drawing/2014/main" xmlns="" id="{7EE68195-4036-2753-C702-EBF7E6CFA458}"/>
              </a:ext>
            </a:extLst>
          </p:cNvPr>
          <p:cNvSpPr txBox="1"/>
          <p:nvPr/>
        </p:nvSpPr>
        <p:spPr>
          <a:xfrm>
            <a:off x="5545788" y="8023216"/>
            <a:ext cx="1557447" cy="553998"/>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說明號碼，位於右上角</a:t>
            </a:r>
          </a:p>
        </p:txBody>
      </p:sp>
      <p:graphicFrame>
        <p:nvGraphicFramePr>
          <p:cNvPr id="31" name="表格 30">
            <a:extLst>
              <a:ext uri="{FF2B5EF4-FFF2-40B4-BE49-F238E27FC236}">
                <a16:creationId xmlns:a16="http://schemas.microsoft.com/office/drawing/2014/main" xmlns="" id="{22A069D3-CB36-DA21-0023-3C294211F2A1}"/>
              </a:ext>
            </a:extLst>
          </p:cNvPr>
          <p:cNvGraphicFramePr>
            <a:graphicFrameLocks noGrp="1"/>
          </p:cNvGraphicFramePr>
          <p:nvPr/>
        </p:nvGraphicFramePr>
        <p:xfrm>
          <a:off x="3242505" y="8119564"/>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xmlns=""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xmlns=""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27" name="Group 232">
            <a:extLst>
              <a:ext uri="{FF2B5EF4-FFF2-40B4-BE49-F238E27FC236}">
                <a16:creationId xmlns:a16="http://schemas.microsoft.com/office/drawing/2014/main" xmlns="" id="{34DCA6AC-E460-4F91-E17A-E4D1D9383A32}"/>
              </a:ext>
            </a:extLst>
          </p:cNvPr>
          <p:cNvGrpSpPr/>
          <p:nvPr/>
        </p:nvGrpSpPr>
        <p:grpSpPr>
          <a:xfrm>
            <a:off x="4888172" y="7911842"/>
            <a:ext cx="557700" cy="408542"/>
            <a:chOff x="5906472" y="1486857"/>
            <a:chExt cx="371800" cy="272361"/>
          </a:xfrm>
        </p:grpSpPr>
        <p:sp>
          <p:nvSpPr>
            <p:cNvPr id="28" name="Oval 233">
              <a:extLst>
                <a:ext uri="{FF2B5EF4-FFF2-40B4-BE49-F238E27FC236}">
                  <a16:creationId xmlns:a16="http://schemas.microsoft.com/office/drawing/2014/main" xmlns=""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4050"/>
            </a:p>
          </p:txBody>
        </p:sp>
        <p:sp>
          <p:nvSpPr>
            <p:cNvPr id="29" name="TextBox 234">
              <a:extLst>
                <a:ext uri="{FF2B5EF4-FFF2-40B4-BE49-F238E27FC236}">
                  <a16:creationId xmlns:a16="http://schemas.microsoft.com/office/drawing/2014/main" xmlns=""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a:latin typeface="微軟正黑體" panose="020B0604030504040204" pitchFamily="34" charset="-120"/>
                  <a:ea typeface="微軟正黑體" panose="020B0604030504040204" pitchFamily="34" charset="-120"/>
                </a:rPr>
                <a:t>1</a:t>
              </a:r>
              <a:endParaRPr lang="zh-TW" altLang="en-US" sz="1500">
                <a:latin typeface="微軟正黑體" panose="020B0604030504040204" pitchFamily="34" charset="-120"/>
                <a:ea typeface="微軟正黑體" panose="020B0604030504040204" pitchFamily="34" charset="-120"/>
              </a:endParaRPr>
            </a:p>
          </p:txBody>
        </p:sp>
      </p:grpSp>
      <p:grpSp>
        <p:nvGrpSpPr>
          <p:cNvPr id="5" name="Group 4">
            <a:extLst>
              <a:ext uri="{FF2B5EF4-FFF2-40B4-BE49-F238E27FC236}">
                <a16:creationId xmlns:a16="http://schemas.microsoft.com/office/drawing/2014/main" xmlns="" id="{C1E1D283-1843-CF62-4209-C268980982AA}"/>
              </a:ext>
            </a:extLst>
          </p:cNvPr>
          <p:cNvGrpSpPr/>
          <p:nvPr/>
        </p:nvGrpSpPr>
        <p:grpSpPr>
          <a:xfrm>
            <a:off x="10685297" y="835773"/>
            <a:ext cx="3401998" cy="423412"/>
            <a:chOff x="10685297" y="851013"/>
            <a:chExt cx="3401998" cy="423412"/>
          </a:xfrm>
        </p:grpSpPr>
        <p:grpSp>
          <p:nvGrpSpPr>
            <p:cNvPr id="25" name="Group 24">
              <a:extLst>
                <a:ext uri="{FF2B5EF4-FFF2-40B4-BE49-F238E27FC236}">
                  <a16:creationId xmlns:a16="http://schemas.microsoft.com/office/drawing/2014/main" xmlns="" id="{5A9886C6-C17B-051D-323D-045D45D51D03}"/>
                </a:ext>
              </a:extLst>
            </p:cNvPr>
            <p:cNvGrpSpPr/>
            <p:nvPr/>
          </p:nvGrpSpPr>
          <p:grpSpPr>
            <a:xfrm>
              <a:off x="10685297" y="851013"/>
              <a:ext cx="1291656" cy="423194"/>
              <a:chOff x="7091257" y="609842"/>
              <a:chExt cx="861104" cy="282129"/>
            </a:xfrm>
          </p:grpSpPr>
          <p:sp>
            <p:nvSpPr>
              <p:cNvPr id="35" name="文字方塊 21">
                <a:extLst>
                  <a:ext uri="{FF2B5EF4-FFF2-40B4-BE49-F238E27FC236}">
                    <a16:creationId xmlns:a16="http://schemas.microsoft.com/office/drawing/2014/main" xmlns="" id="{432DD89F-2DAD-3A56-1346-B1AF7181E7DD}"/>
                  </a:ext>
                </a:extLst>
              </p:cNvPr>
              <p:cNvSpPr txBox="1"/>
              <p:nvPr/>
            </p:nvSpPr>
            <p:spPr>
              <a:xfrm>
                <a:off x="7091257" y="609842"/>
                <a:ext cx="283411" cy="276998"/>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sp>
            <p:nvSpPr>
              <p:cNvPr id="36" name="文字方塊 22">
                <a:extLst>
                  <a:ext uri="{FF2B5EF4-FFF2-40B4-BE49-F238E27FC236}">
                    <a16:creationId xmlns:a16="http://schemas.microsoft.com/office/drawing/2014/main" xmlns="" id="{C6804075-CD1F-688A-16E7-A5FA26AA9965}"/>
                  </a:ext>
                </a:extLst>
              </p:cNvPr>
              <p:cNvSpPr txBox="1"/>
              <p:nvPr/>
            </p:nvSpPr>
            <p:spPr>
              <a:xfrm>
                <a:off x="7316290" y="625231"/>
                <a:ext cx="636071"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新流程</a:t>
                </a:r>
              </a:p>
            </p:txBody>
          </p:sp>
        </p:grpSp>
        <p:grpSp>
          <p:nvGrpSpPr>
            <p:cNvPr id="32" name="Group 31">
              <a:extLst>
                <a:ext uri="{FF2B5EF4-FFF2-40B4-BE49-F238E27FC236}">
                  <a16:creationId xmlns:a16="http://schemas.microsoft.com/office/drawing/2014/main" xmlns="" id="{9C909DE7-364E-C051-81B7-A9B0395CA373}"/>
                </a:ext>
              </a:extLst>
            </p:cNvPr>
            <p:cNvGrpSpPr/>
            <p:nvPr/>
          </p:nvGrpSpPr>
          <p:grpSpPr>
            <a:xfrm>
              <a:off x="11993820" y="858926"/>
              <a:ext cx="2093475" cy="415499"/>
              <a:chOff x="8168002" y="615119"/>
              <a:chExt cx="1395650" cy="276999"/>
            </a:xfrm>
          </p:grpSpPr>
          <p:sp>
            <p:nvSpPr>
              <p:cNvPr id="33" name="文字方塊 23">
                <a:extLst>
                  <a:ext uri="{FF2B5EF4-FFF2-40B4-BE49-F238E27FC236}">
                    <a16:creationId xmlns:a16="http://schemas.microsoft.com/office/drawing/2014/main" xmlns="" id="{B4233160-88DF-D04A-FED9-08D0065AAB4F}"/>
                  </a:ext>
                </a:extLst>
              </p:cNvPr>
              <p:cNvSpPr txBox="1"/>
              <p:nvPr/>
            </p:nvSpPr>
            <p:spPr>
              <a:xfrm>
                <a:off x="8414619" y="625231"/>
                <a:ext cx="1149033"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權責單位改變</a:t>
                </a:r>
              </a:p>
            </p:txBody>
          </p:sp>
          <p:sp>
            <p:nvSpPr>
              <p:cNvPr id="34" name="文字方塊 21">
                <a:extLst>
                  <a:ext uri="{FF2B5EF4-FFF2-40B4-BE49-F238E27FC236}">
                    <a16:creationId xmlns:a16="http://schemas.microsoft.com/office/drawing/2014/main" xmlns="" id="{2E1125B2-CD41-1A49-12C1-2EB4AF0DAA7F}"/>
                  </a:ext>
                </a:extLst>
              </p:cNvPr>
              <p:cNvSpPr txBox="1"/>
              <p:nvPr/>
            </p:nvSpPr>
            <p:spPr>
              <a:xfrm>
                <a:off x="8168002" y="615119"/>
                <a:ext cx="283411" cy="276999"/>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grpSp>
      </p:grpSp>
      <p:sp>
        <p:nvSpPr>
          <p:cNvPr id="37" name="TextBox 36">
            <a:extLst>
              <a:ext uri="{FF2B5EF4-FFF2-40B4-BE49-F238E27FC236}">
                <a16:creationId xmlns:a16="http://schemas.microsoft.com/office/drawing/2014/main" xmlns="" id="{D272B6E5-7242-B301-AF12-5963B687CE8C}"/>
              </a:ext>
            </a:extLst>
          </p:cNvPr>
          <p:cNvSpPr txBox="1"/>
          <p:nvPr/>
        </p:nvSpPr>
        <p:spPr>
          <a:xfrm>
            <a:off x="2521976" y="811465"/>
            <a:ext cx="8244896" cy="461665"/>
          </a:xfrm>
          <a:prstGeom prst="rect">
            <a:avLst/>
          </a:prstGeom>
          <a:solidFill>
            <a:srgbClr val="FFC000"/>
          </a:solidFill>
        </p:spPr>
        <p:txBody>
          <a:bodyPr wrap="square" rtlCol="0">
            <a:spAutoFit/>
          </a:bodyPr>
          <a:lstStyle/>
          <a:p>
            <a:r>
              <a:rPr lang="zh-TW" altLang="en-US" sz="2400" b="1" dirty="0">
                <a:latin typeface="Microsoft JhengHei" panose="020B0604030504040204" pitchFamily="34" charset="-120"/>
                <a:ea typeface="Microsoft JhengHei" panose="020B0604030504040204" pitchFamily="34" charset="-120"/>
              </a:rPr>
              <a:t>本區域請輸入”流程編碼”與 “流程名稱”</a:t>
            </a:r>
          </a:p>
        </p:txBody>
      </p:sp>
    </p:spTree>
    <p:extLst>
      <p:ext uri="{BB962C8B-B14F-4D97-AF65-F5344CB8AC3E}">
        <p14:creationId xmlns:p14="http://schemas.microsoft.com/office/powerpoint/2010/main" xmlns="" val="172713427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15705</TotalTime>
  <Words>624</Words>
  <Application>Microsoft Office PowerPoint</Application>
  <PresentationFormat>自訂</PresentationFormat>
  <Paragraphs>192</Paragraphs>
  <Slides>7</Slides>
  <Notes>5</Notes>
  <HiddenSlides>0</HiddenSlides>
  <MMClips>0</MMClips>
  <ScaleCrop>false</ScaleCrop>
  <HeadingPairs>
    <vt:vector size="4" baseType="variant">
      <vt:variant>
        <vt:lpstr>佈景主題</vt:lpstr>
      </vt:variant>
      <vt:variant>
        <vt:i4>1</vt:i4>
      </vt:variant>
      <vt:variant>
        <vt:lpstr>投影片標題</vt:lpstr>
      </vt:variant>
      <vt:variant>
        <vt:i4>7</vt:i4>
      </vt:variant>
    </vt:vector>
  </HeadingPairs>
  <TitlesOfParts>
    <vt:vector size="8" baseType="lpstr">
      <vt:lpstr>Office 2013 - 2022 Theme</vt:lpstr>
      <vt:lpstr>投影片 1</vt:lpstr>
      <vt:lpstr>投影片 2</vt:lpstr>
      <vt:lpstr>投影片 3</vt:lpstr>
      <vt:lpstr>投影片 4</vt:lpstr>
      <vt:lpstr>投影片 5</vt:lpstr>
      <vt:lpstr>投影片 6</vt:lpstr>
      <vt:lpstr>投影片 7</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156</cp:revision>
  <dcterms:created xsi:type="dcterms:W3CDTF">2023-05-31T01:27:04Z</dcterms:created>
  <dcterms:modified xsi:type="dcterms:W3CDTF">2025-07-08T12:28:01Z</dcterms:modified>
</cp:coreProperties>
</file>