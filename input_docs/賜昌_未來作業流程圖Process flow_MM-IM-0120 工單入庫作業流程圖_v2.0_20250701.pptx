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Override PartName="/ppt/slideLayouts/slideLayout62.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notesSlides/notesSlide6.xml" ContentType="application/vnd.openxmlformats-officedocument.presentationml.notesSlide+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6"/>
  </p:notesMasterIdLst>
  <p:sldIdLst>
    <p:sldId id="256" r:id="rId6"/>
    <p:sldId id="257" r:id="rId7"/>
    <p:sldId id="258" r:id="rId8"/>
    <p:sldId id="292" r:id="rId9"/>
    <p:sldId id="297" r:id="rId10"/>
    <p:sldId id="294" r:id="rId11"/>
    <p:sldId id="295" r:id="rId12"/>
    <p:sldId id="296" r:id="rId13"/>
    <p:sldId id="263" r:id="rId14"/>
    <p:sldId id="264" r:id="rId15"/>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3" autoAdjust="0"/>
    <p:restoredTop sz="94688" autoAdjust="0"/>
  </p:normalViewPr>
  <p:slideViewPr>
    <p:cSldViewPr>
      <p:cViewPr>
        <p:scale>
          <a:sx n="52" d="100"/>
          <a:sy n="52" d="100"/>
        </p:scale>
        <p:origin x="-108" y="6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slide" Target="slides/slide10.xml"/><Relationship Id="rId10" Type="http://schemas.openxmlformats.org/officeDocument/2006/relationships/slide" Target="slides/slide5.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3645616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 xmlns:p14="http://schemas.microsoft.com/office/powerpoint/2010/main" val="102634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1" name="Google Shape;20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p14="http://schemas.microsoft.com/office/powerpoint/2010/main" xmlns=""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a16="http://schemas.microsoft.com/office/drawing/2014/main" xmlns="" val="20000"/>
                    </a:ext>
                  </a:extLst>
                </a:gridCol>
                <a:gridCol w="13144425">
                  <a:extLst>
                    <a:ext uri="{9D8B030D-6E8A-4147-A177-3AD203B41FA5}">
                      <a16:colId xmlns:a16="http://schemas.microsoft.com/office/drawing/2014/main" xmlns="" val="20001"/>
                    </a:ext>
                  </a:extLst>
                </a:gridCol>
                <a:gridCol w="2647013">
                  <a:extLst>
                    <a:ext uri="{9D8B030D-6E8A-4147-A177-3AD203B41FA5}">
                      <a16:colId xmlns:a16="http://schemas.microsoft.com/office/drawing/2014/main" xmlns=""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xmlns=""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a16="http://schemas.microsoft.com/office/drawing/2014/main" xmlns=""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3.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theme" Target="../theme/theme5.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1"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 id="2147484480" r:id="rId1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MM-IM-0120</a:t>
            </a:r>
            <a:endParaRPr lang="en-US" sz="3600" b="0" strike="noStrike" spc="-1" dirty="0">
              <a:solidFill>
                <a:srgbClr val="000000"/>
              </a:solidFill>
              <a:latin typeface="Calibri"/>
            </a:endParaRPr>
          </a:p>
        </p:txBody>
      </p:sp>
      <p:sp>
        <p:nvSpPr>
          <p:cNvPr id="2859" name="矩形 1"/>
          <p:cNvSpPr/>
          <p:nvPr/>
        </p:nvSpPr>
        <p:spPr>
          <a:xfrm>
            <a:off x="843480" y="7179120"/>
            <a:ext cx="7586140"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defTabSz="457200">
              <a:lnSpc>
                <a:spcPct val="100000"/>
              </a:lnSpc>
            </a:pPr>
            <a:r>
              <a:rPr lang="zh-TW" altLang="en-US" sz="3600" spc="-1" dirty="0" smtClean="0">
                <a:solidFill>
                  <a:schemeClr val="dk1"/>
                </a:solidFill>
                <a:latin typeface="Microsoft JhengHei"/>
                <a:ea typeface="Microsoft JhengHei"/>
              </a:rPr>
              <a:t>工單入庫作業流程</a:t>
            </a: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To </a:t>
                      </a:r>
                      <a:r>
                        <a:rPr lang="en-US" sz="1800" b="1" strike="noStrike" spc="-1" dirty="0" err="1">
                          <a:solidFill>
                            <a:schemeClr val="lt1"/>
                          </a:solidFill>
                          <a:latin typeface="Microsoft JhengHei"/>
                          <a:ea typeface="Microsoft JhengHei"/>
                        </a:rPr>
                        <a:t>be_Business</a:t>
                      </a:r>
                      <a:r>
                        <a:rPr lang="en-US" sz="1800" b="1" strike="noStrike" spc="-1" dirty="0">
                          <a:solidFill>
                            <a:schemeClr val="lt1"/>
                          </a:solidFill>
                          <a:latin typeface="Microsoft JhengHei"/>
                          <a:ea typeface="Microsoft JhengHei"/>
                        </a:rPr>
                        <a:t> Process</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創建日期</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altLang="zh-TW" sz="1800" b="1" strike="noStrike" spc="-1" dirty="0" smtClean="0">
                          <a:solidFill>
                            <a:srgbClr val="000000"/>
                          </a:solidFill>
                          <a:latin typeface="Calibri"/>
                        </a:rPr>
                        <a:t>DSIT</a:t>
                      </a: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1"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dirty="0">
                          <a:solidFill>
                            <a:schemeClr val="dk1"/>
                          </a:solidFill>
                          <a:latin typeface="Microsoft JhengHei"/>
                          <a:ea typeface="Microsoft JhengHei"/>
                        </a:rPr>
                        <a:t> </a:t>
                      </a:r>
                      <a:r>
                        <a:rPr lang="en-US" sz="1800" b="1" strike="noStrike" spc="-1" dirty="0" smtClean="0">
                          <a:solidFill>
                            <a:schemeClr val="dk1"/>
                          </a:solidFill>
                          <a:latin typeface="Microsoft JhengHei"/>
                          <a:ea typeface="Microsoft JhengHei"/>
                        </a:rPr>
                        <a:t>v2.0</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195196"/>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460211"/>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spc="-1" dirty="0" smtClean="0">
                <a:solidFill>
                  <a:schemeClr val="dk1"/>
                </a:solidFill>
                <a:latin typeface="Microsoft JhengHei"/>
                <a:ea typeface="Microsoft JhengHei"/>
              </a:rPr>
              <a:t>MM-IM-0120 </a:t>
            </a:r>
            <a:r>
              <a:rPr lang="zh-TW" altLang="en-US" sz="2400" spc="-1" dirty="0" smtClean="0">
                <a:solidFill>
                  <a:schemeClr val="dk1"/>
                </a:solidFill>
                <a:latin typeface="Microsoft JhengHei"/>
                <a:ea typeface="Microsoft JhengHei"/>
              </a:rPr>
              <a:t>工單入庫作業流程</a:t>
            </a:r>
            <a:endParaRPr lang="en-US" sz="24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4" name="流程圖: 文件 42">
            <a:extLst>
              <a:ext uri="{FF2B5EF4-FFF2-40B4-BE49-F238E27FC236}">
                <a16:creationId xmlns="" xmlns:a16="http://schemas.microsoft.com/office/drawing/2014/main" id="{F3CA6EF4-04C5-B661-4208-8A011D6FE422}"/>
              </a:ext>
            </a:extLst>
          </p:cNvPr>
          <p:cNvSpPr/>
          <p:nvPr/>
        </p:nvSpPr>
        <p:spPr bwMode="auto">
          <a:xfrm>
            <a:off x="4738593" y="6849027"/>
            <a:ext cx="1841949" cy="773728"/>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MES</a:t>
            </a:r>
            <a:r>
              <a:rPr lang="zh-TW" altLang="en-US" sz="1500" dirty="0">
                <a:latin typeface="微軟正黑體" panose="020B0604030504040204" pitchFamily="34" charset="-120"/>
                <a:ea typeface="微軟正黑體" panose="020B0604030504040204" pitchFamily="34" charset="-120"/>
              </a:rPr>
              <a:t>轉出單</a:t>
            </a:r>
          </a:p>
        </p:txBody>
      </p:sp>
      <p:sp>
        <p:nvSpPr>
          <p:cNvPr id="7" name="TextBox 53">
            <a:extLst>
              <a:ext uri="{FF2B5EF4-FFF2-40B4-BE49-F238E27FC236}">
                <a16:creationId xmlns="" xmlns:a16="http://schemas.microsoft.com/office/drawing/2014/main" id="{30381EE2-3320-4812-6081-3A15B03E8B32}"/>
              </a:ext>
            </a:extLst>
          </p:cNvPr>
          <p:cNvSpPr txBox="1"/>
          <p:nvPr/>
        </p:nvSpPr>
        <p:spPr>
          <a:xfrm>
            <a:off x="14394343" y="2013759"/>
            <a:ext cx="3594197" cy="3739485"/>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工單轉給現場品檢人員全檢</a:t>
            </a:r>
            <a:r>
              <a:rPr lang="en-US" altLang="zh-TW" dirty="0"/>
              <a:t>QC</a:t>
            </a:r>
            <a:r>
              <a:rPr lang="zh-TW" altLang="en-US" dirty="0"/>
              <a:t>後，檢查是否良品。</a:t>
            </a:r>
            <a:endParaRPr lang="en-US" altLang="zh-TW" dirty="0"/>
          </a:p>
          <a:p>
            <a:pPr marL="342900" indent="-342900">
              <a:buFont typeface="+mj-lt"/>
              <a:buAutoNum type="arabicPeriod"/>
            </a:pPr>
            <a:r>
              <a:rPr lang="zh-TW" altLang="en-US" dirty="0"/>
              <a:t>先在</a:t>
            </a:r>
            <a:r>
              <a:rPr lang="en-US" altLang="zh-TW" dirty="0"/>
              <a:t>MES</a:t>
            </a:r>
            <a:r>
              <a:rPr lang="zh-TW" altLang="en-US" dirty="0"/>
              <a:t>系統依據指令號與尺寸回報入庫數，並列印轉出單與打印標籤。</a:t>
            </a:r>
            <a:endParaRPr lang="en-US" altLang="zh-TW" dirty="0"/>
          </a:p>
          <a:p>
            <a:pPr marL="342900" indent="-342900">
              <a:buFont typeface="+mj-lt"/>
              <a:buAutoNum type="arabicPeriod"/>
            </a:pPr>
            <a:r>
              <a:rPr lang="zh-TW" altLang="en-US" dirty="0"/>
              <a:t>依據各品牌或廠區的規劃，會由現場作業進行裝箱打包，或是回到倉庫，再由倉庫進行裝箱打包。</a:t>
            </a:r>
            <a:endParaRPr lang="en-US" altLang="zh-TW" dirty="0"/>
          </a:p>
          <a:p>
            <a:pPr marL="342900" indent="-342900">
              <a:buFont typeface="+mj-lt"/>
              <a:buAutoNum type="arabicPeriod"/>
            </a:pPr>
            <a:r>
              <a:rPr lang="zh-TW" altLang="en-US" dirty="0"/>
              <a:t>當檢驗可以返工處理，則會回到產線上進行返工作業。</a:t>
            </a:r>
            <a:endParaRPr lang="en-US" altLang="zh-TW" dirty="0"/>
          </a:p>
          <a:p>
            <a:pPr marL="342900" indent="-342900">
              <a:buFont typeface="+mj-lt"/>
              <a:buAutoNum type="arabicPeriod"/>
            </a:pPr>
            <a:r>
              <a:rPr lang="zh-TW" altLang="en-US" dirty="0"/>
              <a:t>當現場報廢不入庫，則用下腳料模式處理。</a:t>
            </a:r>
            <a:endParaRPr lang="en-US" altLang="zh-TW" dirty="0"/>
          </a:p>
        </p:txBody>
      </p:sp>
      <p:sp>
        <p:nvSpPr>
          <p:cNvPr id="8" name="文字方塊 17">
            <a:extLst>
              <a:ext uri="{FF2B5EF4-FFF2-40B4-BE49-F238E27FC236}">
                <a16:creationId xmlns="" xmlns:a16="http://schemas.microsoft.com/office/drawing/2014/main" id="{A3961CAE-69E4-A1C1-045A-63D595BA671B}"/>
              </a:ext>
            </a:extLst>
          </p:cNvPr>
          <p:cNvSpPr txBox="1"/>
          <p:nvPr/>
        </p:nvSpPr>
        <p:spPr>
          <a:xfrm>
            <a:off x="6347194" y="1387405"/>
            <a:ext cx="1853246" cy="400110"/>
          </a:xfrm>
          <a:prstGeom prst="rect">
            <a:avLst/>
          </a:prstGeom>
          <a:noFill/>
        </p:spPr>
        <p:txBody>
          <a:bodyPr wrap="square" lIns="137160" tIns="68580" rIns="137160" bIns="68580" rtlCol="0">
            <a:spAutoFit/>
          </a:bodyPr>
          <a:lstStyle/>
          <a:p>
            <a:pPr algn="ctr"/>
            <a:r>
              <a:rPr lang="zh-TW" altLang="en-US" sz="1700" dirty="0"/>
              <a:t>生產單位</a:t>
            </a:r>
          </a:p>
        </p:txBody>
      </p: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MM-IM-0120 </a:t>
            </a:r>
            <a:r>
              <a:rPr kumimoji="0" lang="zh-TW" altLang="en-US" b="1" dirty="0" smtClean="0">
                <a:latin typeface="微軟正黑體" panose="020B0604030504040204" pitchFamily="34" charset="-120"/>
                <a:ea typeface="微軟正黑體" panose="020B0604030504040204" pitchFamily="34" charset="-120"/>
              </a:rPr>
              <a:t>工</a:t>
            </a:r>
            <a:r>
              <a:rPr kumimoji="0" lang="zh-TW" altLang="en-US" b="1" dirty="0">
                <a:latin typeface="微軟正黑體" panose="020B0604030504040204" pitchFamily="34" charset="-120"/>
                <a:ea typeface="微軟正黑體" panose="020B0604030504040204" pitchFamily="34" charset="-120"/>
              </a:rPr>
              <a:t>單入庫作業流程</a:t>
            </a:r>
          </a:p>
        </p:txBody>
      </p:sp>
      <p:sp>
        <p:nvSpPr>
          <p:cNvPr id="18" name="流程圖: 預設處理作業 21">
            <a:extLst>
              <a:ext uri="{FF2B5EF4-FFF2-40B4-BE49-F238E27FC236}">
                <a16:creationId xmlns="" xmlns:a16="http://schemas.microsoft.com/office/drawing/2014/main" id="{5E7A5412-BC49-18D8-918B-B55E43F4D57D}"/>
              </a:ext>
            </a:extLst>
          </p:cNvPr>
          <p:cNvSpPr/>
          <p:nvPr/>
        </p:nvSpPr>
        <p:spPr bwMode="auto">
          <a:xfrm>
            <a:off x="435175" y="2252026"/>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PP-PC-0110</a:t>
            </a:r>
          </a:p>
          <a:p>
            <a:pPr algn="ctr" eaLnBrk="0" hangingPunct="0"/>
            <a:r>
              <a:rPr lang="zh-TW" altLang="en-US" sz="1500" dirty="0">
                <a:latin typeface="微軟正黑體" panose="020B0604030504040204" pitchFamily="34" charset="-120"/>
                <a:ea typeface="微軟正黑體" panose="020B0604030504040204" pitchFamily="34" charset="-120"/>
              </a:rPr>
              <a:t>工單報工維護作業</a:t>
            </a:r>
          </a:p>
        </p:txBody>
      </p:sp>
      <p:sp>
        <p:nvSpPr>
          <p:cNvPr id="39" name="TextBox 46">
            <a:extLst>
              <a:ext uri="{FF2B5EF4-FFF2-40B4-BE49-F238E27FC236}">
                <a16:creationId xmlns="" xmlns:a16="http://schemas.microsoft.com/office/drawing/2014/main" id="{85CF88ED-3612-F6D5-5CD9-A15BE00C08A6}"/>
              </a:ext>
            </a:extLst>
          </p:cNvPr>
          <p:cNvSpPr txBox="1"/>
          <p:nvPr/>
        </p:nvSpPr>
        <p:spPr>
          <a:xfrm>
            <a:off x="4630068" y="5117436"/>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49" name="肘形接點 68">
            <a:extLst>
              <a:ext uri="{FF2B5EF4-FFF2-40B4-BE49-F238E27FC236}">
                <a16:creationId xmlns="" xmlns:a16="http://schemas.microsoft.com/office/drawing/2014/main" id="{6379C1AE-2048-5BF3-F3BE-ADFF4790FCF7}"/>
              </a:ext>
            </a:extLst>
          </p:cNvPr>
          <p:cNvCxnSpPr>
            <a:cxnSpLocks/>
            <a:stCxn id="31" idx="2"/>
            <a:endCxn id="58" idx="0"/>
          </p:cNvCxnSpPr>
          <p:nvPr/>
        </p:nvCxnSpPr>
        <p:spPr>
          <a:xfrm rot="5400000">
            <a:off x="4225058" y="5482744"/>
            <a:ext cx="848777" cy="168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9" name="TextBox 46">
            <a:extLst>
              <a:ext uri="{FF2B5EF4-FFF2-40B4-BE49-F238E27FC236}">
                <a16:creationId xmlns="" xmlns:a16="http://schemas.microsoft.com/office/drawing/2014/main" id="{28C78E9A-15FC-7F8B-FE5A-3BCC1A3FAF12}"/>
              </a:ext>
            </a:extLst>
          </p:cNvPr>
          <p:cNvSpPr txBox="1"/>
          <p:nvPr/>
        </p:nvSpPr>
        <p:spPr>
          <a:xfrm>
            <a:off x="5547978" y="4050113"/>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230" name="肘形接點 68">
            <a:extLst>
              <a:ext uri="{FF2B5EF4-FFF2-40B4-BE49-F238E27FC236}">
                <a16:creationId xmlns="" xmlns:a16="http://schemas.microsoft.com/office/drawing/2014/main" id="{D6DDC060-067B-1B07-0195-F13705EFFF6A}"/>
              </a:ext>
            </a:extLst>
          </p:cNvPr>
          <p:cNvCxnSpPr>
            <a:cxnSpLocks/>
            <a:stCxn id="18" idx="3"/>
            <a:endCxn id="276" idx="1"/>
          </p:cNvCxnSpPr>
          <p:nvPr/>
        </p:nvCxnSpPr>
        <p:spPr>
          <a:xfrm>
            <a:off x="2248286" y="2871321"/>
            <a:ext cx="1567290" cy="396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3" name="肘形接點 68">
            <a:extLst>
              <a:ext uri="{FF2B5EF4-FFF2-40B4-BE49-F238E27FC236}">
                <a16:creationId xmlns="" xmlns:a16="http://schemas.microsoft.com/office/drawing/2014/main" id="{7CA06EA0-6ACE-FDE7-DC06-171D42C621A9}"/>
              </a:ext>
            </a:extLst>
          </p:cNvPr>
          <p:cNvCxnSpPr>
            <a:cxnSpLocks/>
            <a:stCxn id="58" idx="2"/>
            <a:endCxn id="219" idx="0"/>
          </p:cNvCxnSpPr>
          <p:nvPr/>
        </p:nvCxnSpPr>
        <p:spPr>
          <a:xfrm rot="5400000">
            <a:off x="3847166" y="7717825"/>
            <a:ext cx="1601335" cy="154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1" name="流程圖: 決策 50">
            <a:extLst>
              <a:ext uri="{FF2B5EF4-FFF2-40B4-BE49-F238E27FC236}">
                <a16:creationId xmlns="" xmlns:a16="http://schemas.microsoft.com/office/drawing/2014/main" id="{47DFD419-7B30-DA8B-53BF-9B9822B2CB91}"/>
              </a:ext>
            </a:extLst>
          </p:cNvPr>
          <p:cNvSpPr/>
          <p:nvPr/>
        </p:nvSpPr>
        <p:spPr bwMode="auto">
          <a:xfrm>
            <a:off x="3719773" y="3881069"/>
            <a:ext cx="1861028"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是否良品</a:t>
            </a:r>
          </a:p>
        </p:txBody>
      </p:sp>
      <p:cxnSp>
        <p:nvCxnSpPr>
          <p:cNvPr id="32" name="肘形接點 68">
            <a:extLst>
              <a:ext uri="{FF2B5EF4-FFF2-40B4-BE49-F238E27FC236}">
                <a16:creationId xmlns="" xmlns:a16="http://schemas.microsoft.com/office/drawing/2014/main" id="{E9D19234-12A2-DFA4-B032-6710DE785471}"/>
              </a:ext>
            </a:extLst>
          </p:cNvPr>
          <p:cNvCxnSpPr>
            <a:cxnSpLocks/>
            <a:endCxn id="31" idx="0"/>
          </p:cNvCxnSpPr>
          <p:nvPr/>
        </p:nvCxnSpPr>
        <p:spPr>
          <a:xfrm rot="16200000" flipH="1">
            <a:off x="4407726" y="3638506"/>
            <a:ext cx="483595" cy="1530"/>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58" name="表格 30">
            <a:extLst>
              <a:ext uri="{FF2B5EF4-FFF2-40B4-BE49-F238E27FC236}">
                <a16:creationId xmlns="" xmlns:a16="http://schemas.microsoft.com/office/drawing/2014/main" id="{B32BB9C3-7709-7233-FF5C-A72DFBC2C28B}"/>
              </a:ext>
            </a:extLst>
          </p:cNvPr>
          <p:cNvGraphicFramePr>
            <a:graphicFrameLocks noGrp="1"/>
          </p:cNvGraphicFramePr>
          <p:nvPr>
            <p:extLst>
              <p:ext uri="{D42A27DB-BD31-4B8C-83A1-F6EECF244321}">
                <p14:modId xmlns="" xmlns:p14="http://schemas.microsoft.com/office/powerpoint/2010/main" val="679814918"/>
              </p:ext>
            </p:extLst>
          </p:nvPr>
        </p:nvGraphicFramePr>
        <p:xfrm>
          <a:off x="3716601" y="5907972"/>
          <a:ext cx="1864008" cy="1009956"/>
        </p:xfrm>
        <a:graphic>
          <a:graphicData uri="http://schemas.openxmlformats.org/drawingml/2006/table">
            <a:tbl>
              <a:tblPr>
                <a:tableStyleId>{5940675A-B579-460E-94D1-54222C63F5DA}</a:tableStyleId>
              </a:tblPr>
              <a:tblGrid>
                <a:gridCol w="932004">
                  <a:extLst>
                    <a:ext uri="{9D8B030D-6E8A-4147-A177-3AD203B41FA5}">
                      <a16:colId xmlns="" xmlns:a16="http://schemas.microsoft.com/office/drawing/2014/main" val="3433979995"/>
                    </a:ext>
                  </a:extLst>
                </a:gridCol>
                <a:gridCol w="93200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回報入庫數</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GB" sz="1500" dirty="0">
                          <a:latin typeface="微軟正黑體" panose="020B0604030504040204" pitchFamily="34" charset="-120"/>
                          <a:ea typeface="微軟正黑體" panose="020B0604030504040204" pitchFamily="34" charset="-120"/>
                        </a:rPr>
                        <a:t>MES</a:t>
                      </a: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216" name="流程圖: 決策 50">
            <a:extLst>
              <a:ext uri="{FF2B5EF4-FFF2-40B4-BE49-F238E27FC236}">
                <a16:creationId xmlns="" xmlns:a16="http://schemas.microsoft.com/office/drawing/2014/main" id="{91924489-8F94-3818-0B27-6A2CAC31099A}"/>
              </a:ext>
            </a:extLst>
          </p:cNvPr>
          <p:cNvSpPr/>
          <p:nvPr/>
        </p:nvSpPr>
        <p:spPr bwMode="auto">
          <a:xfrm>
            <a:off x="7603417" y="2301511"/>
            <a:ext cx="1861028"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可返</a:t>
            </a:r>
            <a:r>
              <a:rPr lang="zh-TW" altLang="en-US" sz="1500" dirty="0">
                <a:latin typeface="微軟正黑體" panose="020B0604030504040204" pitchFamily="34" charset="-120"/>
                <a:ea typeface="微軟正黑體" panose="020B0604030504040204" pitchFamily="34" charset="-120"/>
              </a:rPr>
              <a:t>工</a:t>
            </a:r>
          </a:p>
        </p:txBody>
      </p:sp>
      <p:cxnSp>
        <p:nvCxnSpPr>
          <p:cNvPr id="217" name="肘形接點 68">
            <a:extLst>
              <a:ext uri="{FF2B5EF4-FFF2-40B4-BE49-F238E27FC236}">
                <a16:creationId xmlns="" xmlns:a16="http://schemas.microsoft.com/office/drawing/2014/main" id="{F800F854-EF1F-6983-9C80-904858690481}"/>
              </a:ext>
            </a:extLst>
          </p:cNvPr>
          <p:cNvCxnSpPr>
            <a:cxnSpLocks/>
            <a:stCxn id="31" idx="3"/>
            <a:endCxn id="216" idx="1"/>
          </p:cNvCxnSpPr>
          <p:nvPr/>
        </p:nvCxnSpPr>
        <p:spPr>
          <a:xfrm flipV="1">
            <a:off x="5580800" y="2890574"/>
            <a:ext cx="2022617" cy="157955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21" name="肘形接點 68">
            <a:extLst>
              <a:ext uri="{FF2B5EF4-FFF2-40B4-BE49-F238E27FC236}">
                <a16:creationId xmlns="" xmlns:a16="http://schemas.microsoft.com/office/drawing/2014/main" id="{135CE11A-655F-387A-AD37-2EB07836BEB9}"/>
              </a:ext>
            </a:extLst>
          </p:cNvPr>
          <p:cNvCxnSpPr>
            <a:cxnSpLocks/>
            <a:stCxn id="216" idx="3"/>
            <a:endCxn id="21" idx="1"/>
          </p:cNvCxnSpPr>
          <p:nvPr/>
        </p:nvCxnSpPr>
        <p:spPr>
          <a:xfrm>
            <a:off x="9464444" y="2890575"/>
            <a:ext cx="2666505" cy="254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35" name="TextBox 46">
            <a:extLst>
              <a:ext uri="{FF2B5EF4-FFF2-40B4-BE49-F238E27FC236}">
                <a16:creationId xmlns="" xmlns:a16="http://schemas.microsoft.com/office/drawing/2014/main" id="{DBACDFDE-049C-CEE4-0A86-B54ADEAF28AA}"/>
              </a:ext>
            </a:extLst>
          </p:cNvPr>
          <p:cNvSpPr txBox="1"/>
          <p:nvPr/>
        </p:nvSpPr>
        <p:spPr>
          <a:xfrm>
            <a:off x="9542423" y="2482435"/>
            <a:ext cx="404262" cy="369332"/>
          </a:xfrm>
          <a:prstGeom prst="rect">
            <a:avLst/>
          </a:prstGeom>
          <a:noFill/>
        </p:spPr>
        <p:txBody>
          <a:bodyPr wrap="square" lIns="137160" tIns="68580" rIns="137160" bIns="68580" rtlCol="0">
            <a:spAutoFit/>
          </a:bodyPr>
          <a:lstStyle/>
          <a:p>
            <a:r>
              <a:rPr lang="zh-TW" altLang="en-US" sz="1500" dirty="0" smtClean="0"/>
              <a:t>是</a:t>
            </a:r>
            <a:endParaRPr lang="zh-TW" altLang="en-US" sz="1500" dirty="0"/>
          </a:p>
        </p:txBody>
      </p:sp>
      <p:sp>
        <p:nvSpPr>
          <p:cNvPr id="236" name="TextBox 46">
            <a:extLst>
              <a:ext uri="{FF2B5EF4-FFF2-40B4-BE49-F238E27FC236}">
                <a16:creationId xmlns="" xmlns:a16="http://schemas.microsoft.com/office/drawing/2014/main" id="{73FD82B2-84E7-05FB-E170-9533C3AC0AE5}"/>
              </a:ext>
            </a:extLst>
          </p:cNvPr>
          <p:cNvSpPr txBox="1"/>
          <p:nvPr/>
        </p:nvSpPr>
        <p:spPr>
          <a:xfrm>
            <a:off x="8566751" y="3567154"/>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237" name="肘形接點 68">
            <a:extLst>
              <a:ext uri="{FF2B5EF4-FFF2-40B4-BE49-F238E27FC236}">
                <a16:creationId xmlns="" xmlns:a16="http://schemas.microsoft.com/office/drawing/2014/main" id="{2A162930-C98D-E20E-7718-9ED34EFBEF43}"/>
              </a:ext>
            </a:extLst>
          </p:cNvPr>
          <p:cNvCxnSpPr>
            <a:cxnSpLocks/>
            <a:stCxn id="216" idx="2"/>
            <a:endCxn id="195" idx="0"/>
          </p:cNvCxnSpPr>
          <p:nvPr/>
        </p:nvCxnSpPr>
        <p:spPr>
          <a:xfrm rot="16200000" flipH="1">
            <a:off x="8236636" y="3776931"/>
            <a:ext cx="598625" cy="403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276" name="表格 30">
            <a:extLst>
              <a:ext uri="{FF2B5EF4-FFF2-40B4-BE49-F238E27FC236}">
                <a16:creationId xmlns="" xmlns:a16="http://schemas.microsoft.com/office/drawing/2014/main" id="{5F5BE215-4C6D-994D-46F6-91728FB7128D}"/>
              </a:ext>
            </a:extLst>
          </p:cNvPr>
          <p:cNvGraphicFramePr>
            <a:graphicFrameLocks noGrp="1"/>
          </p:cNvGraphicFramePr>
          <p:nvPr>
            <p:extLst>
              <p:ext uri="{D42A27DB-BD31-4B8C-83A1-F6EECF244321}">
                <p14:modId xmlns="" xmlns:p14="http://schemas.microsoft.com/office/powerpoint/2010/main" val="2160922688"/>
              </p:ext>
            </p:extLst>
          </p:nvPr>
        </p:nvGraphicFramePr>
        <p:xfrm>
          <a:off x="3815576" y="2370304"/>
          <a:ext cx="1797828" cy="1009956"/>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全檢</a:t>
                      </a:r>
                      <a:r>
                        <a:rPr kumimoji="0" lang="en-US" altLang="zh-TW" sz="1500" dirty="0">
                          <a:latin typeface="微軟正黑體" panose="020B0604030504040204" pitchFamily="34" charset="-120"/>
                          <a:ea typeface="微軟正黑體" panose="020B0604030504040204" pitchFamily="34" charset="-120"/>
                        </a:rPr>
                        <a:t>QC</a:t>
                      </a:r>
                      <a:endParaRPr kumimoji="0" lang="zh-TW" altLang="en-US"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GB" sz="1500" dirty="0">
                          <a:latin typeface="微軟正黑體" panose="020B0604030504040204" pitchFamily="34" charset="-120"/>
                          <a:ea typeface="微軟正黑體" panose="020B0604030504040204" pitchFamily="34" charset="-120"/>
                        </a:rPr>
                        <a:t>QMS</a:t>
                      </a: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 name="Group 220">
            <a:extLst>
              <a:ext uri="{FF2B5EF4-FFF2-40B4-BE49-F238E27FC236}">
                <a16:creationId xmlns="" xmlns:a16="http://schemas.microsoft.com/office/drawing/2014/main" id="{A9B401BC-DE49-5FC0-6565-D216316A23DA}"/>
              </a:ext>
            </a:extLst>
          </p:cNvPr>
          <p:cNvGrpSpPr/>
          <p:nvPr/>
        </p:nvGrpSpPr>
        <p:grpSpPr>
          <a:xfrm>
            <a:off x="5340236" y="2188447"/>
            <a:ext cx="533400" cy="408605"/>
            <a:chOff x="5906184" y="1486857"/>
            <a:chExt cx="355600" cy="272361"/>
          </a:xfrm>
        </p:grpSpPr>
        <p:sp>
          <p:nvSpPr>
            <p:cNvPr id="4" name="Oval 221">
              <a:extLst>
                <a:ext uri="{FF2B5EF4-FFF2-40B4-BE49-F238E27FC236}">
                  <a16:creationId xmlns="" xmlns:a16="http://schemas.microsoft.com/office/drawing/2014/main" id="{DEBB780E-65E5-AB48-7071-2CDA631916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5" name="TextBox 222">
              <a:extLst>
                <a:ext uri="{FF2B5EF4-FFF2-40B4-BE49-F238E27FC236}">
                  <a16:creationId xmlns="" xmlns:a16="http://schemas.microsoft.com/office/drawing/2014/main" id="{38213EC1-2A6F-CC6F-9F41-D87C1E84A2C8}"/>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nvGrpSpPr>
          <p:cNvPr id="6" name="Group 220">
            <a:extLst>
              <a:ext uri="{FF2B5EF4-FFF2-40B4-BE49-F238E27FC236}">
                <a16:creationId xmlns="" xmlns:a16="http://schemas.microsoft.com/office/drawing/2014/main" id="{EE2EFB62-64E8-A5E0-F94F-0FA2D59292D5}"/>
              </a:ext>
            </a:extLst>
          </p:cNvPr>
          <p:cNvGrpSpPr/>
          <p:nvPr/>
        </p:nvGrpSpPr>
        <p:grpSpPr>
          <a:xfrm>
            <a:off x="5291330" y="5723865"/>
            <a:ext cx="533400" cy="408605"/>
            <a:chOff x="5906184" y="1486857"/>
            <a:chExt cx="355600" cy="272361"/>
          </a:xfrm>
        </p:grpSpPr>
        <p:sp>
          <p:nvSpPr>
            <p:cNvPr id="226" name="Oval 221">
              <a:extLst>
                <a:ext uri="{FF2B5EF4-FFF2-40B4-BE49-F238E27FC236}">
                  <a16:creationId xmlns="" xmlns:a16="http://schemas.microsoft.com/office/drawing/2014/main" id="{8314359D-F7EC-220F-4E02-CFE83EF3BA12}"/>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7" name="TextBox 222">
              <a:extLst>
                <a:ext uri="{FF2B5EF4-FFF2-40B4-BE49-F238E27FC236}">
                  <a16:creationId xmlns="" xmlns:a16="http://schemas.microsoft.com/office/drawing/2014/main" id="{E2E4EE6E-B2D9-3A04-9C48-E30B3CE8C8E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50" name="流程圖: 換頁接點 52">
            <a:extLst>
              <a:ext uri="{FF2B5EF4-FFF2-40B4-BE49-F238E27FC236}">
                <a16:creationId xmlns="" xmlns:a16="http://schemas.microsoft.com/office/drawing/2014/main" id="{66D05BCA-4B42-02B3-C672-83F63C42AF59}"/>
              </a:ext>
            </a:extLst>
          </p:cNvPr>
          <p:cNvSpPr/>
          <p:nvPr/>
        </p:nvSpPr>
        <p:spPr bwMode="auto">
          <a:xfrm>
            <a:off x="12901718" y="8780920"/>
            <a:ext cx="560627" cy="467375"/>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sp>
        <p:nvSpPr>
          <p:cNvPr id="196" name="流程圖: 結束點 195">
            <a:extLst>
              <a:ext uri="{FF2B5EF4-FFF2-40B4-BE49-F238E27FC236}">
                <a16:creationId xmlns="" xmlns:a16="http://schemas.microsoft.com/office/drawing/2014/main" id="{BC96E908-1919-6D0F-B3DF-0543D1B290EB}"/>
              </a:ext>
            </a:extLst>
          </p:cNvPr>
          <p:cNvSpPr/>
          <p:nvPr/>
        </p:nvSpPr>
        <p:spPr bwMode="auto">
          <a:xfrm>
            <a:off x="12146229" y="4269864"/>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sp>
        <p:nvSpPr>
          <p:cNvPr id="208" name="流程圖: 換頁接點 52">
            <a:extLst>
              <a:ext uri="{FF2B5EF4-FFF2-40B4-BE49-F238E27FC236}">
                <a16:creationId xmlns="" xmlns:a16="http://schemas.microsoft.com/office/drawing/2014/main" id="{BF6F326F-EB86-2B9A-E3C5-CDECADA26450}"/>
              </a:ext>
            </a:extLst>
          </p:cNvPr>
          <p:cNvSpPr/>
          <p:nvPr/>
        </p:nvSpPr>
        <p:spPr bwMode="auto">
          <a:xfrm>
            <a:off x="12920833" y="7466146"/>
            <a:ext cx="560627" cy="467375"/>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P3</a:t>
            </a:r>
            <a:endParaRPr lang="zh-TW" altLang="en-US" dirty="0">
              <a:latin typeface="微軟正黑體" panose="020B0604030504040204" pitchFamily="34" charset="-120"/>
              <a:ea typeface="微軟正黑體" panose="020B0604030504040204" pitchFamily="34" charset="-120"/>
            </a:endParaRPr>
          </a:p>
        </p:txBody>
      </p:sp>
      <p:sp>
        <p:nvSpPr>
          <p:cNvPr id="21" name="流程圖: 預設處理作業 21">
            <a:extLst>
              <a:ext uri="{FF2B5EF4-FFF2-40B4-BE49-F238E27FC236}">
                <a16:creationId xmlns="" xmlns:a16="http://schemas.microsoft.com/office/drawing/2014/main" id="{89F20CDA-F155-D8BD-B5BB-F60DEDE91462}"/>
              </a:ext>
            </a:extLst>
          </p:cNvPr>
          <p:cNvSpPr/>
          <p:nvPr/>
        </p:nvSpPr>
        <p:spPr bwMode="auto">
          <a:xfrm>
            <a:off x="12130949" y="2273825"/>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PP-PC-0110</a:t>
            </a:r>
          </a:p>
          <a:p>
            <a:pPr algn="ctr" eaLnBrk="0" hangingPunct="0"/>
            <a:r>
              <a:rPr lang="zh-TW" altLang="en-US" sz="1500" dirty="0">
                <a:latin typeface="微軟正黑體" panose="020B0604030504040204" pitchFamily="34" charset="-120"/>
                <a:ea typeface="微軟正黑體" panose="020B0604030504040204" pitchFamily="34" charset="-120"/>
              </a:rPr>
              <a:t>工單報工維護作業</a:t>
            </a:r>
          </a:p>
        </p:txBody>
      </p:sp>
      <p:graphicFrame>
        <p:nvGraphicFramePr>
          <p:cNvPr id="35" name="表格 30">
            <a:extLst>
              <a:ext uri="{FF2B5EF4-FFF2-40B4-BE49-F238E27FC236}">
                <a16:creationId xmlns="" xmlns:a16="http://schemas.microsoft.com/office/drawing/2014/main" id="{3D7B4D4F-8A33-A8B8-6BD5-88EEE79C39FB}"/>
              </a:ext>
            </a:extLst>
          </p:cNvPr>
          <p:cNvGraphicFramePr>
            <a:graphicFrameLocks noGrp="1"/>
          </p:cNvGraphicFramePr>
          <p:nvPr>
            <p:extLst>
              <p:ext uri="{D42A27DB-BD31-4B8C-83A1-F6EECF244321}">
                <p14:modId xmlns="" xmlns:p14="http://schemas.microsoft.com/office/powerpoint/2010/main" val="2564994639"/>
              </p:ext>
            </p:extLst>
          </p:nvPr>
        </p:nvGraphicFramePr>
        <p:xfrm>
          <a:off x="7646841" y="6000926"/>
          <a:ext cx="1797828" cy="1009956"/>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整理次級品清單</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62" name="肘形接點 68">
            <a:extLst>
              <a:ext uri="{FF2B5EF4-FFF2-40B4-BE49-F238E27FC236}">
                <a16:creationId xmlns="" xmlns:a16="http://schemas.microsoft.com/office/drawing/2014/main" id="{1D2BBC8E-D71D-4A04-BCE8-9789744621C0}"/>
              </a:ext>
            </a:extLst>
          </p:cNvPr>
          <p:cNvCxnSpPr>
            <a:cxnSpLocks/>
            <a:stCxn id="35" idx="2"/>
            <a:endCxn id="208" idx="1"/>
          </p:cNvCxnSpPr>
          <p:nvPr/>
        </p:nvCxnSpPr>
        <p:spPr>
          <a:xfrm rot="16200000" flipH="1">
            <a:off x="10388818" y="5167819"/>
            <a:ext cx="688951" cy="4375077"/>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3" name="Group 220">
            <a:extLst>
              <a:ext uri="{FF2B5EF4-FFF2-40B4-BE49-F238E27FC236}">
                <a16:creationId xmlns="" xmlns:a16="http://schemas.microsoft.com/office/drawing/2014/main" id="{C51F8108-0419-DF88-098C-46BA8FF26E28}"/>
              </a:ext>
            </a:extLst>
          </p:cNvPr>
          <p:cNvGrpSpPr/>
          <p:nvPr/>
        </p:nvGrpSpPr>
        <p:grpSpPr>
          <a:xfrm>
            <a:off x="8892186" y="2159974"/>
            <a:ext cx="533400" cy="408605"/>
            <a:chOff x="5906184" y="1486857"/>
            <a:chExt cx="355600" cy="272361"/>
          </a:xfrm>
        </p:grpSpPr>
        <p:sp>
          <p:nvSpPr>
            <p:cNvPr id="248" name="Oval 221">
              <a:extLst>
                <a:ext uri="{FF2B5EF4-FFF2-40B4-BE49-F238E27FC236}">
                  <a16:creationId xmlns="" xmlns:a16="http://schemas.microsoft.com/office/drawing/2014/main" id="{00E90F63-E1FC-B73B-E31C-2BAA2F88887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49" name="TextBox 222">
              <a:extLst>
                <a:ext uri="{FF2B5EF4-FFF2-40B4-BE49-F238E27FC236}">
                  <a16:creationId xmlns="" xmlns:a16="http://schemas.microsoft.com/office/drawing/2014/main" id="{A2923440-ABEA-7CB3-9647-4976035DE919}"/>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sp>
        <p:nvSpPr>
          <p:cNvPr id="195" name="流程圖: 決策 50">
            <a:extLst>
              <a:ext uri="{FF2B5EF4-FFF2-40B4-BE49-F238E27FC236}">
                <a16:creationId xmlns="" xmlns:a16="http://schemas.microsoft.com/office/drawing/2014/main" id="{8E476325-A972-25DA-7AD6-E5C2328CF832}"/>
              </a:ext>
            </a:extLst>
          </p:cNvPr>
          <p:cNvSpPr/>
          <p:nvPr/>
        </p:nvSpPr>
        <p:spPr bwMode="auto">
          <a:xfrm>
            <a:off x="7616993" y="4078262"/>
            <a:ext cx="1841949"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可</a:t>
            </a:r>
            <a:r>
              <a:rPr lang="zh-TW" altLang="en-US" sz="1500" dirty="0" smtClean="0">
                <a:latin typeface="微軟正黑體" panose="020B0604030504040204" pitchFamily="34" charset="-120"/>
                <a:ea typeface="微軟正黑體" panose="020B0604030504040204" pitchFamily="34" charset="-120"/>
              </a:rPr>
              <a:t>現場</a:t>
            </a:r>
            <a:r>
              <a:rPr lang="zh-TW" altLang="en-US" sz="1500" dirty="0">
                <a:latin typeface="微軟正黑體" panose="020B0604030504040204" pitchFamily="34" charset="-120"/>
                <a:ea typeface="微軟正黑體" panose="020B0604030504040204" pitchFamily="34" charset="-120"/>
              </a:rPr>
              <a:t>報廢</a:t>
            </a:r>
          </a:p>
        </p:txBody>
      </p:sp>
      <p:cxnSp>
        <p:nvCxnSpPr>
          <p:cNvPr id="200" name="肘形接點 68">
            <a:extLst>
              <a:ext uri="{FF2B5EF4-FFF2-40B4-BE49-F238E27FC236}">
                <a16:creationId xmlns="" xmlns:a16="http://schemas.microsoft.com/office/drawing/2014/main" id="{29D5C404-92BC-F719-9FAE-43792CE732CD}"/>
              </a:ext>
            </a:extLst>
          </p:cNvPr>
          <p:cNvCxnSpPr>
            <a:cxnSpLocks/>
            <a:stCxn id="195" idx="2"/>
            <a:endCxn id="35" idx="0"/>
          </p:cNvCxnSpPr>
          <p:nvPr/>
        </p:nvCxnSpPr>
        <p:spPr>
          <a:xfrm rot="16200000" flipH="1">
            <a:off x="8169592" y="5624763"/>
            <a:ext cx="744538" cy="778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4" name="Group 220">
            <a:extLst>
              <a:ext uri="{FF2B5EF4-FFF2-40B4-BE49-F238E27FC236}">
                <a16:creationId xmlns="" xmlns:a16="http://schemas.microsoft.com/office/drawing/2014/main" id="{23736BD0-2BAA-1427-1D7B-D96CB4292338}"/>
              </a:ext>
            </a:extLst>
          </p:cNvPr>
          <p:cNvGrpSpPr/>
          <p:nvPr/>
        </p:nvGrpSpPr>
        <p:grpSpPr>
          <a:xfrm>
            <a:off x="8952714" y="3958403"/>
            <a:ext cx="533400" cy="408605"/>
            <a:chOff x="5906184" y="1486857"/>
            <a:chExt cx="355600" cy="272361"/>
          </a:xfrm>
        </p:grpSpPr>
        <p:sp>
          <p:nvSpPr>
            <p:cNvPr id="205" name="Oval 221">
              <a:extLst>
                <a:ext uri="{FF2B5EF4-FFF2-40B4-BE49-F238E27FC236}">
                  <a16:creationId xmlns="" xmlns:a16="http://schemas.microsoft.com/office/drawing/2014/main" id="{79323CE1-82BB-F99E-3B64-CCD4747FBE7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7" name="TextBox 222">
              <a:extLst>
                <a:ext uri="{FF2B5EF4-FFF2-40B4-BE49-F238E27FC236}">
                  <a16:creationId xmlns="" xmlns:a16="http://schemas.microsoft.com/office/drawing/2014/main" id="{6A575DDA-C1D6-CF33-C4DF-18D487C2F542}"/>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cxnSp>
        <p:nvCxnSpPr>
          <p:cNvPr id="210" name="肘形接點 68">
            <a:extLst>
              <a:ext uri="{FF2B5EF4-FFF2-40B4-BE49-F238E27FC236}">
                <a16:creationId xmlns="" xmlns:a16="http://schemas.microsoft.com/office/drawing/2014/main" id="{ED61783F-451B-431A-464F-A32AD4A4F20B}"/>
              </a:ext>
            </a:extLst>
          </p:cNvPr>
          <p:cNvCxnSpPr>
            <a:cxnSpLocks/>
            <a:stCxn id="195" idx="3"/>
            <a:endCxn id="196" idx="1"/>
          </p:cNvCxnSpPr>
          <p:nvPr/>
        </p:nvCxnSpPr>
        <p:spPr>
          <a:xfrm flipV="1">
            <a:off x="9458942" y="4661147"/>
            <a:ext cx="2687288" cy="617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13" name="TextBox 46">
            <a:extLst>
              <a:ext uri="{FF2B5EF4-FFF2-40B4-BE49-F238E27FC236}">
                <a16:creationId xmlns="" xmlns:a16="http://schemas.microsoft.com/office/drawing/2014/main" id="{BFCB2A18-C2B6-7DE6-59BB-66C1F8234434}"/>
              </a:ext>
            </a:extLst>
          </p:cNvPr>
          <p:cNvSpPr txBox="1"/>
          <p:nvPr/>
        </p:nvSpPr>
        <p:spPr>
          <a:xfrm>
            <a:off x="8580402" y="5261352"/>
            <a:ext cx="404262" cy="369389"/>
          </a:xfrm>
          <a:prstGeom prst="rect">
            <a:avLst/>
          </a:prstGeom>
          <a:noFill/>
        </p:spPr>
        <p:txBody>
          <a:bodyPr wrap="square" lIns="137160" tIns="68580" rIns="137160" bIns="68580" rtlCol="0">
            <a:spAutoFit/>
          </a:bodyPr>
          <a:lstStyle/>
          <a:p>
            <a:r>
              <a:rPr lang="zh-TW" altLang="en-US" sz="1500" dirty="0"/>
              <a:t>否</a:t>
            </a:r>
          </a:p>
        </p:txBody>
      </p:sp>
      <p:graphicFrame>
        <p:nvGraphicFramePr>
          <p:cNvPr id="219" name="表格 30">
            <a:extLst>
              <a:ext uri="{FF2B5EF4-FFF2-40B4-BE49-F238E27FC236}">
                <a16:creationId xmlns="" xmlns:a16="http://schemas.microsoft.com/office/drawing/2014/main" id="{1A819B32-D80C-4475-9059-38D2175AECCD}"/>
              </a:ext>
            </a:extLst>
          </p:cNvPr>
          <p:cNvGraphicFramePr>
            <a:graphicFrameLocks noGrp="1"/>
          </p:cNvGraphicFramePr>
          <p:nvPr>
            <p:extLst>
              <p:ext uri="{D42A27DB-BD31-4B8C-83A1-F6EECF244321}">
                <p14:modId xmlns="" xmlns:p14="http://schemas.microsoft.com/office/powerpoint/2010/main" val="418701417"/>
              </p:ext>
            </p:extLst>
          </p:nvPr>
        </p:nvGraphicFramePr>
        <p:xfrm>
          <a:off x="3748147" y="8519263"/>
          <a:ext cx="1797828" cy="1009956"/>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裝箱打包</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23" name="肘形接點 68">
            <a:extLst>
              <a:ext uri="{FF2B5EF4-FFF2-40B4-BE49-F238E27FC236}">
                <a16:creationId xmlns="" xmlns:a16="http://schemas.microsoft.com/office/drawing/2014/main" id="{5EEABD3C-06D2-09D8-1D35-0A06C1F75D99}"/>
              </a:ext>
            </a:extLst>
          </p:cNvPr>
          <p:cNvCxnSpPr>
            <a:cxnSpLocks/>
            <a:stCxn id="219" idx="3"/>
            <a:endCxn id="50" idx="1"/>
          </p:cNvCxnSpPr>
          <p:nvPr/>
        </p:nvCxnSpPr>
        <p:spPr>
          <a:xfrm flipV="1">
            <a:off x="5545976" y="9014609"/>
            <a:ext cx="7355742" cy="963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5" name="Group 220">
            <a:extLst>
              <a:ext uri="{FF2B5EF4-FFF2-40B4-BE49-F238E27FC236}">
                <a16:creationId xmlns="" xmlns:a16="http://schemas.microsoft.com/office/drawing/2014/main" id="{531614F4-CCF8-2210-A967-3191FAC1D0D5}"/>
              </a:ext>
            </a:extLst>
          </p:cNvPr>
          <p:cNvGrpSpPr/>
          <p:nvPr/>
        </p:nvGrpSpPr>
        <p:grpSpPr>
          <a:xfrm>
            <a:off x="5291330" y="8436823"/>
            <a:ext cx="533400" cy="408605"/>
            <a:chOff x="5906184" y="1486857"/>
            <a:chExt cx="355600" cy="272361"/>
          </a:xfrm>
        </p:grpSpPr>
        <p:sp>
          <p:nvSpPr>
            <p:cNvPr id="231" name="Oval 221">
              <a:extLst>
                <a:ext uri="{FF2B5EF4-FFF2-40B4-BE49-F238E27FC236}">
                  <a16:creationId xmlns="" xmlns:a16="http://schemas.microsoft.com/office/drawing/2014/main" id="{41484E63-F301-961A-580F-9ABED76E3EA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2" name="TextBox 222">
              <a:extLst>
                <a:ext uri="{FF2B5EF4-FFF2-40B4-BE49-F238E27FC236}">
                  <a16:creationId xmlns="" xmlns:a16="http://schemas.microsoft.com/office/drawing/2014/main" id="{F1181EBE-0BB5-ED82-E68B-8C7AC68273A7}"/>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24" name="流程圖: 預設處理作業 21">
            <a:extLst>
              <a:ext uri="{FF2B5EF4-FFF2-40B4-BE49-F238E27FC236}">
                <a16:creationId xmlns="" xmlns:a16="http://schemas.microsoft.com/office/drawing/2014/main" id="{679E4684-9F38-4200-479F-09A5EF64969A}"/>
              </a:ext>
            </a:extLst>
          </p:cNvPr>
          <p:cNvSpPr/>
          <p:nvPr/>
        </p:nvSpPr>
        <p:spPr bwMode="auto">
          <a:xfrm>
            <a:off x="440638" y="4146223"/>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PP-PC-0040</a:t>
            </a:r>
          </a:p>
          <a:p>
            <a:pPr algn="ctr" eaLnBrk="0" hangingPunct="0"/>
            <a:r>
              <a:rPr lang="zh-TW" altLang="en-US" sz="1500" dirty="0">
                <a:latin typeface="微軟正黑體" panose="020B0604030504040204" pitchFamily="34" charset="-120"/>
                <a:ea typeface="微軟正黑體" panose="020B0604030504040204" pitchFamily="34" charset="-120"/>
              </a:rPr>
              <a:t>重工工單維護作業</a:t>
            </a:r>
          </a:p>
        </p:txBody>
      </p:sp>
      <p:cxnSp>
        <p:nvCxnSpPr>
          <p:cNvPr id="25" name="肘形接點 68">
            <a:extLst>
              <a:ext uri="{FF2B5EF4-FFF2-40B4-BE49-F238E27FC236}">
                <a16:creationId xmlns="" xmlns:a16="http://schemas.microsoft.com/office/drawing/2014/main" id="{DA579D1D-A50B-0000-C76C-D2960AF7BF39}"/>
              </a:ext>
            </a:extLst>
          </p:cNvPr>
          <p:cNvCxnSpPr>
            <a:cxnSpLocks/>
            <a:stCxn id="24" idx="3"/>
            <a:endCxn id="276" idx="1"/>
          </p:cNvCxnSpPr>
          <p:nvPr/>
        </p:nvCxnSpPr>
        <p:spPr>
          <a:xfrm flipV="1">
            <a:off x="2253749" y="2875283"/>
            <a:ext cx="1561827" cy="189023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1" name="TextBox 46">
            <a:extLst>
              <a:ext uri="{FF2B5EF4-FFF2-40B4-BE49-F238E27FC236}">
                <a16:creationId xmlns="" xmlns:a16="http://schemas.microsoft.com/office/drawing/2014/main" id="{6D02D91B-4552-1AA7-20D9-774F783744F5}"/>
              </a:ext>
            </a:extLst>
          </p:cNvPr>
          <p:cNvSpPr txBox="1"/>
          <p:nvPr/>
        </p:nvSpPr>
        <p:spPr>
          <a:xfrm>
            <a:off x="9486114" y="4234806"/>
            <a:ext cx="404262" cy="369389"/>
          </a:xfrm>
          <a:prstGeom prst="rect">
            <a:avLst/>
          </a:prstGeom>
          <a:noFill/>
        </p:spPr>
        <p:txBody>
          <a:bodyPr wrap="square" lIns="137160" tIns="68580" rIns="137160" bIns="68580" rtlCol="0">
            <a:spAutoFit/>
          </a:bodyPr>
          <a:lstStyle/>
          <a:p>
            <a:r>
              <a:rPr lang="zh-TW" altLang="en-US" sz="1500" dirty="0"/>
              <a:t>是</a:t>
            </a:r>
          </a:p>
        </p:txBody>
      </p:sp>
      <p:sp>
        <p:nvSpPr>
          <p:cNvPr id="70"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1</a:t>
            </a:r>
            <a:endParaRPr lang="en-US" sz="1600" b="0" strike="noStrike" spc="-1" dirty="0">
              <a:solidFill>
                <a:srgbClr val="000000"/>
              </a:solidFill>
              <a:latin typeface="Calibri"/>
            </a:endParaRPr>
          </a:p>
        </p:txBody>
      </p:sp>
      <p:cxnSp>
        <p:nvCxnSpPr>
          <p:cNvPr id="61" name="肘形接點 68">
            <a:extLst>
              <a:ext uri="{FF2B5EF4-FFF2-40B4-BE49-F238E27FC236}">
                <a16:creationId xmlns="" xmlns:a16="http://schemas.microsoft.com/office/drawing/2014/main" id="{7CA06EA0-6ACE-FDE7-DC06-171D42C621A9}"/>
              </a:ext>
            </a:extLst>
          </p:cNvPr>
          <p:cNvCxnSpPr>
            <a:cxnSpLocks/>
            <a:stCxn id="71" idx="3"/>
            <a:endCxn id="216" idx="0"/>
          </p:cNvCxnSpPr>
          <p:nvPr/>
        </p:nvCxnSpPr>
        <p:spPr>
          <a:xfrm>
            <a:off x="7204297" y="2091834"/>
            <a:ext cx="1329634" cy="209677"/>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1" name="流程圖: 換頁接點 52">
            <a:extLst>
              <a:ext uri="{FF2B5EF4-FFF2-40B4-BE49-F238E27FC236}">
                <a16:creationId xmlns="" xmlns:a16="http://schemas.microsoft.com/office/drawing/2014/main" id="{E831C5B7-75C8-EBB0-C9DD-60EE8DBE8E65}"/>
              </a:ext>
            </a:extLst>
          </p:cNvPr>
          <p:cNvSpPr/>
          <p:nvPr/>
        </p:nvSpPr>
        <p:spPr bwMode="auto">
          <a:xfrm>
            <a:off x="6643670" y="1858146"/>
            <a:ext cx="560627" cy="467375"/>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smtClean="0">
                <a:latin typeface="微軟正黑體" panose="020B0604030504040204" pitchFamily="34" charset="-120"/>
                <a:ea typeface="微軟正黑體" panose="020B0604030504040204" pitchFamily="34" charset="-120"/>
              </a:rPr>
              <a:t>P2</a:t>
            </a:r>
            <a:endParaRPr lang="zh-TW" altLang="en-US" dirty="0">
              <a:latin typeface="微軟正黑體" panose="020B0604030504040204" pitchFamily="34" charset="-120"/>
              <a:ea typeface="微軟正黑體" panose="020B0604030504040204" pitchFamily="34" charset="-12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7" name="TextBox 53">
            <a:extLst>
              <a:ext uri="{FF2B5EF4-FFF2-40B4-BE49-F238E27FC236}">
                <a16:creationId xmlns="" xmlns:a16="http://schemas.microsoft.com/office/drawing/2014/main" id="{30381EE2-3320-4812-6081-3A15B03E8B32}"/>
              </a:ext>
            </a:extLst>
          </p:cNvPr>
          <p:cNvSpPr txBox="1"/>
          <p:nvPr/>
        </p:nvSpPr>
        <p:spPr>
          <a:xfrm>
            <a:off x="14408758" y="1939554"/>
            <a:ext cx="3594197" cy="5678478"/>
          </a:xfrm>
          <a:prstGeom prst="rect">
            <a:avLst/>
          </a:prstGeom>
          <a:noFill/>
        </p:spPr>
        <p:txBody>
          <a:bodyPr wrap="square" lIns="137160" tIns="68580" rIns="137160" bIns="68580" rtlCol="0">
            <a:spAutoFit/>
          </a:bodyPr>
          <a:lstStyle/>
          <a:p>
            <a:endParaRPr lang="en-US" altLang="zh-TW" dirty="0"/>
          </a:p>
          <a:p>
            <a:pPr marL="342900" indent="-342900">
              <a:buFont typeface="+mj-lt"/>
              <a:buAutoNum type="arabicPeriod"/>
            </a:pPr>
            <a:r>
              <a:rPr lang="zh-TW" altLang="en-US" dirty="0"/>
              <a:t>倉庫人員點收貨品數量是否與轉交單上正確無誤。</a:t>
            </a:r>
            <a:endParaRPr lang="en-US" altLang="zh-TW" dirty="0"/>
          </a:p>
          <a:p>
            <a:pPr marL="342900" indent="-342900">
              <a:buFont typeface="+mj-lt"/>
              <a:buAutoNum type="arabicPeriod"/>
            </a:pPr>
            <a:r>
              <a:rPr lang="zh-TW" altLang="en-US" dirty="0"/>
              <a:t>依據品牌的作業方式，當有</a:t>
            </a:r>
            <a:r>
              <a:rPr lang="en-US" altLang="zh-TW" dirty="0"/>
              <a:t>MES</a:t>
            </a:r>
            <a:r>
              <a:rPr lang="zh-TW" altLang="en-US" dirty="0"/>
              <a:t>轉出單，可掃描轉出單帶入工單報工資料，如果與點收數量不符則退回重新產出，或是依據品牌直接掃描箱上的條碼做入庫</a:t>
            </a:r>
            <a:r>
              <a:rPr lang="zh-TW" altLang="en-US" dirty="0" smtClean="0"/>
              <a:t>作業</a:t>
            </a:r>
            <a:endParaRPr lang="en-US" altLang="zh-TW" dirty="0" smtClean="0"/>
          </a:p>
          <a:p>
            <a:pPr marL="342900" indent="-342900">
              <a:buFont typeface="+mj-lt"/>
              <a:buAutoNum type="arabicPeriod"/>
            </a:pPr>
            <a:r>
              <a:rPr lang="zh-TW" altLang="en-US" dirty="0" smtClean="0"/>
              <a:t>依據</a:t>
            </a:r>
            <a:r>
              <a:rPr lang="zh-TW" altLang="en-US" dirty="0"/>
              <a:t>品牌或廠區不同，由現場裝箱打包或是回到倉庫裝箱打包。</a:t>
            </a:r>
            <a:endParaRPr lang="en-US" altLang="zh-TW" dirty="0"/>
          </a:p>
          <a:p>
            <a:pPr marL="342900" indent="-342900">
              <a:buFont typeface="+mj-lt"/>
              <a:buAutoNum type="arabicPeriod"/>
            </a:pPr>
            <a:r>
              <a:rPr lang="zh-TW" altLang="en-US" dirty="0"/>
              <a:t>當有稱重系統</a:t>
            </a:r>
            <a:r>
              <a:rPr lang="en-US" altLang="zh-TW" dirty="0"/>
              <a:t>(UA</a:t>
            </a:r>
            <a:r>
              <a:rPr lang="zh-TW" altLang="en-US" dirty="0"/>
              <a:t>品牌</a:t>
            </a:r>
            <a:r>
              <a:rPr lang="en-US" altLang="zh-TW" dirty="0"/>
              <a:t>)</a:t>
            </a:r>
            <a:r>
              <a:rPr lang="zh-TW" altLang="en-US" dirty="0"/>
              <a:t>，則會在執行稱重檢核，檢查</a:t>
            </a:r>
            <a:r>
              <a:rPr lang="en-US" altLang="zh-TW" dirty="0"/>
              <a:t>OK</a:t>
            </a:r>
            <a:r>
              <a:rPr lang="zh-TW" altLang="en-US" dirty="0"/>
              <a:t>，系統透過介面回拋，自動</a:t>
            </a:r>
            <a:r>
              <a:rPr lang="zh-TW" altLang="en-US" dirty="0" smtClean="0"/>
              <a:t>進行工單入庫</a:t>
            </a:r>
            <a:endParaRPr lang="en-US" altLang="zh-TW" dirty="0" smtClean="0"/>
          </a:p>
          <a:p>
            <a:pPr marL="342900" indent="-342900">
              <a:buFont typeface="+mj-lt"/>
              <a:buAutoNum type="arabicPeriod"/>
            </a:pPr>
            <a:r>
              <a:rPr lang="en-US" altLang="zh-TW" dirty="0" smtClean="0"/>
              <a:t>CROCS</a:t>
            </a:r>
            <a:r>
              <a:rPr lang="zh-TW" altLang="en-US" dirty="0"/>
              <a:t>有</a:t>
            </a:r>
            <a:r>
              <a:rPr lang="en-US" altLang="zh-TW" dirty="0"/>
              <a:t>EEP</a:t>
            </a:r>
            <a:r>
              <a:rPr lang="zh-TW" altLang="en-US" dirty="0"/>
              <a:t>系統，因此需要把工單入庫的資料拋給</a:t>
            </a:r>
            <a:r>
              <a:rPr lang="en-US" altLang="zh-TW" dirty="0"/>
              <a:t>EEP</a:t>
            </a:r>
            <a:r>
              <a:rPr lang="zh-TW" altLang="en-US" dirty="0"/>
              <a:t>做儲區的管理。</a:t>
            </a:r>
            <a:endParaRPr lang="en-US" altLang="zh-TW" dirty="0"/>
          </a:p>
          <a:p>
            <a:endParaRPr lang="en-US" altLang="zh-TW" dirty="0"/>
          </a:p>
        </p:txBody>
      </p:sp>
      <p:sp>
        <p:nvSpPr>
          <p:cNvPr id="48" name="文字方塊 17">
            <a:extLst>
              <a:ext uri="{FF2B5EF4-FFF2-40B4-BE49-F238E27FC236}">
                <a16:creationId xmlns="" xmlns:a16="http://schemas.microsoft.com/office/drawing/2014/main" id="{0F2761B4-5F29-64DD-1721-5831D073894C}"/>
              </a:ext>
            </a:extLst>
          </p:cNvPr>
          <p:cNvSpPr txBox="1"/>
          <p:nvPr/>
        </p:nvSpPr>
        <p:spPr>
          <a:xfrm>
            <a:off x="4300007" y="1372853"/>
            <a:ext cx="1853246" cy="400110"/>
          </a:xfrm>
          <a:prstGeom prst="rect">
            <a:avLst/>
          </a:prstGeom>
          <a:noFill/>
        </p:spPr>
        <p:txBody>
          <a:bodyPr wrap="square" lIns="137160" tIns="68580" rIns="137160" bIns="68580" rtlCol="0">
            <a:spAutoFit/>
          </a:bodyPr>
          <a:lstStyle/>
          <a:p>
            <a:pPr algn="ctr"/>
            <a:r>
              <a:rPr lang="zh-TW" altLang="en-US" sz="1700" dirty="0"/>
              <a:t>倉庫單位</a:t>
            </a:r>
          </a:p>
        </p:txBody>
      </p: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a:latin typeface="微軟正黑體" panose="020B0604030504040204" pitchFamily="34" charset="-120"/>
                <a:ea typeface="微軟正黑體" panose="020B0604030504040204" pitchFamily="34" charset="-120"/>
              </a:rPr>
              <a:t>MM-IM-0120</a:t>
            </a:r>
            <a:r>
              <a:rPr kumimoji="0" lang="zh-TW" altLang="en-US" b="1" dirty="0">
                <a:latin typeface="微軟正黑體" panose="020B0604030504040204" pitchFamily="34" charset="-120"/>
                <a:ea typeface="微軟正黑體" panose="020B0604030504040204" pitchFamily="34" charset="-120"/>
              </a:rPr>
              <a:t> 工單入庫作業流程</a:t>
            </a:r>
          </a:p>
        </p:txBody>
      </p:sp>
      <p:graphicFrame>
        <p:nvGraphicFramePr>
          <p:cNvPr id="30" name="表格 30">
            <a:extLst>
              <a:ext uri="{FF2B5EF4-FFF2-40B4-BE49-F238E27FC236}">
                <a16:creationId xmlns="" xmlns:a16="http://schemas.microsoft.com/office/drawing/2014/main" id="{65A6C6AC-E57A-9C7C-1A87-626216D58613}"/>
              </a:ext>
            </a:extLst>
          </p:cNvPr>
          <p:cNvGraphicFramePr>
            <a:graphicFrameLocks noGrp="1"/>
          </p:cNvGraphicFramePr>
          <p:nvPr>
            <p:extLst>
              <p:ext uri="{D42A27DB-BD31-4B8C-83A1-F6EECF244321}">
                <p14:modId xmlns="" xmlns:p14="http://schemas.microsoft.com/office/powerpoint/2010/main" val="2024481322"/>
              </p:ext>
            </p:extLst>
          </p:nvPr>
        </p:nvGraphicFramePr>
        <p:xfrm>
          <a:off x="2784150" y="6438566"/>
          <a:ext cx="1797828" cy="1009956"/>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36652">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36652">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裝箱打包</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33" name="肘形接點 68">
            <a:extLst>
              <a:ext uri="{FF2B5EF4-FFF2-40B4-BE49-F238E27FC236}">
                <a16:creationId xmlns="" xmlns:a16="http://schemas.microsoft.com/office/drawing/2014/main" id="{7CA06EA0-6ACE-FDE7-DC06-171D42C621A9}"/>
              </a:ext>
            </a:extLst>
          </p:cNvPr>
          <p:cNvCxnSpPr>
            <a:cxnSpLocks/>
            <a:stCxn id="6" idx="3"/>
            <a:endCxn id="262" idx="1"/>
          </p:cNvCxnSpPr>
          <p:nvPr/>
        </p:nvCxnSpPr>
        <p:spPr>
          <a:xfrm flipV="1">
            <a:off x="1598280" y="2865175"/>
            <a:ext cx="1195137" cy="490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262" name="表格 30">
            <a:extLst>
              <a:ext uri="{FF2B5EF4-FFF2-40B4-BE49-F238E27FC236}">
                <a16:creationId xmlns="" xmlns:a16="http://schemas.microsoft.com/office/drawing/2014/main" id="{B007071B-409E-D512-93EF-5291488B292A}"/>
              </a:ext>
            </a:extLst>
          </p:cNvPr>
          <p:cNvGraphicFramePr>
            <a:graphicFrameLocks noGrp="1"/>
          </p:cNvGraphicFramePr>
          <p:nvPr>
            <p:extLst>
              <p:ext uri="{D42A27DB-BD31-4B8C-83A1-F6EECF244321}">
                <p14:modId xmlns="" xmlns:p14="http://schemas.microsoft.com/office/powerpoint/2010/main" val="357177197"/>
              </p:ext>
            </p:extLst>
          </p:nvPr>
        </p:nvGraphicFramePr>
        <p:xfrm>
          <a:off x="2793417" y="2352878"/>
          <a:ext cx="1797828" cy="1024593"/>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41531">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41531">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點收貨品數量</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41531">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2" name="Group 220">
            <a:extLst>
              <a:ext uri="{FF2B5EF4-FFF2-40B4-BE49-F238E27FC236}">
                <a16:creationId xmlns="" xmlns:a16="http://schemas.microsoft.com/office/drawing/2014/main" id="{F848FA31-285F-581D-D212-24891BC0A21D}"/>
              </a:ext>
            </a:extLst>
          </p:cNvPr>
          <p:cNvGrpSpPr/>
          <p:nvPr/>
        </p:nvGrpSpPr>
        <p:grpSpPr>
          <a:xfrm>
            <a:off x="4329417" y="2140657"/>
            <a:ext cx="533400" cy="408605"/>
            <a:chOff x="5906184" y="1486857"/>
            <a:chExt cx="355600" cy="272361"/>
          </a:xfrm>
        </p:grpSpPr>
        <p:sp>
          <p:nvSpPr>
            <p:cNvPr id="228" name="Oval 221">
              <a:extLst>
                <a:ext uri="{FF2B5EF4-FFF2-40B4-BE49-F238E27FC236}">
                  <a16:creationId xmlns="" xmlns:a16="http://schemas.microsoft.com/office/drawing/2014/main" id="{356A97A5-CB31-0C92-3F61-4C7E38116F9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9" name="TextBox 222">
              <a:extLst>
                <a:ext uri="{FF2B5EF4-FFF2-40B4-BE49-F238E27FC236}">
                  <a16:creationId xmlns="" xmlns:a16="http://schemas.microsoft.com/office/drawing/2014/main" id="{47B4CE2C-6B17-313E-C49B-E24DC4A790A8}"/>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aphicFrame>
        <p:nvGraphicFramePr>
          <p:cNvPr id="34" name="表格 30">
            <a:extLst>
              <a:ext uri="{FF2B5EF4-FFF2-40B4-BE49-F238E27FC236}">
                <a16:creationId xmlns="" xmlns:a16="http://schemas.microsoft.com/office/drawing/2014/main" id="{D4CE688C-156F-B10F-3FB3-6E0CF154AE7C}"/>
              </a:ext>
            </a:extLst>
          </p:cNvPr>
          <p:cNvGraphicFramePr>
            <a:graphicFrameLocks noGrp="1"/>
          </p:cNvGraphicFramePr>
          <p:nvPr>
            <p:extLst>
              <p:ext uri="{D42A27DB-BD31-4B8C-83A1-F6EECF244321}">
                <p14:modId xmlns="" xmlns:p14="http://schemas.microsoft.com/office/powerpoint/2010/main" val="2312280596"/>
              </p:ext>
            </p:extLst>
          </p:nvPr>
        </p:nvGraphicFramePr>
        <p:xfrm>
          <a:off x="2753121" y="4554415"/>
          <a:ext cx="1860324" cy="1238591"/>
        </p:xfrm>
        <a:graphic>
          <a:graphicData uri="http://schemas.openxmlformats.org/drawingml/2006/table">
            <a:tbl>
              <a:tblPr>
                <a:tableStyleId>{5940675A-B579-460E-94D1-54222C63F5DA}</a:tableStyleId>
              </a:tblPr>
              <a:tblGrid>
                <a:gridCol w="930162">
                  <a:extLst>
                    <a:ext uri="{9D8B030D-6E8A-4147-A177-3AD203B41FA5}">
                      <a16:colId xmlns="" xmlns:a16="http://schemas.microsoft.com/office/drawing/2014/main" val="3433979995"/>
                    </a:ext>
                  </a:extLst>
                </a:gridCol>
                <a:gridCol w="930162">
                  <a:extLst>
                    <a:ext uri="{9D8B030D-6E8A-4147-A177-3AD203B41FA5}">
                      <a16:colId xmlns="" xmlns:a16="http://schemas.microsoft.com/office/drawing/2014/main" val="3727974752"/>
                    </a:ext>
                  </a:extLst>
                </a:gridCol>
              </a:tblGrid>
              <a:tr h="336652">
                <a:tc gridSpan="2">
                  <a:txBody>
                    <a:bodyPr/>
                    <a:lstStyle/>
                    <a:p>
                      <a:pPr algn="ctr"/>
                      <a:r>
                        <a:rPr lang="en-GB" sz="1500" b="1" dirty="0">
                          <a:solidFill>
                            <a:schemeClr val="tx1"/>
                          </a:solidFill>
                          <a:latin typeface="微軟正黑體" panose="020B0604030504040204" pitchFamily="34" charset="-120"/>
                          <a:ea typeface="微軟正黑體" panose="020B0604030504040204" pitchFamily="34" charset="-120"/>
                        </a:rPr>
                        <a:t>ZMM039</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工單掃碼入庫</a:t>
                      </a:r>
                      <a:endParaRPr lang="en-US" altLang="zh-TW" sz="1500" dirty="0">
                        <a:latin typeface="微軟正黑體" panose="020B0604030504040204" pitchFamily="34" charset="-120"/>
                        <a:ea typeface="微軟正黑體" panose="020B0604030504040204" pitchFamily="34" charset="-120"/>
                      </a:endParaRPr>
                    </a:p>
                    <a:p>
                      <a:pPr algn="ctr" eaLnBrk="0" hangingPunct="0"/>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(Mvt.101)</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6" name="流程圖: 換頁接點 52">
            <a:extLst>
              <a:ext uri="{FF2B5EF4-FFF2-40B4-BE49-F238E27FC236}">
                <a16:creationId xmlns="" xmlns:a16="http://schemas.microsoft.com/office/drawing/2014/main" id="{E831C5B7-75C8-EBB0-C9DD-60EE8DBE8E65}"/>
              </a:ext>
            </a:extLst>
          </p:cNvPr>
          <p:cNvSpPr/>
          <p:nvPr/>
        </p:nvSpPr>
        <p:spPr bwMode="auto">
          <a:xfrm>
            <a:off x="1037654" y="2636390"/>
            <a:ext cx="560627" cy="467375"/>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grpSp>
        <p:nvGrpSpPr>
          <p:cNvPr id="3" name="Group 220">
            <a:extLst>
              <a:ext uri="{FF2B5EF4-FFF2-40B4-BE49-F238E27FC236}">
                <a16:creationId xmlns="" xmlns:a16="http://schemas.microsoft.com/office/drawing/2014/main" id="{FF7694F1-98E3-784F-67EA-38865D7F95E6}"/>
              </a:ext>
            </a:extLst>
          </p:cNvPr>
          <p:cNvGrpSpPr/>
          <p:nvPr/>
        </p:nvGrpSpPr>
        <p:grpSpPr>
          <a:xfrm>
            <a:off x="4315278" y="6299858"/>
            <a:ext cx="533400" cy="408605"/>
            <a:chOff x="5906184" y="1486857"/>
            <a:chExt cx="355600" cy="272361"/>
          </a:xfrm>
        </p:grpSpPr>
        <p:sp>
          <p:nvSpPr>
            <p:cNvPr id="199" name="Oval 221">
              <a:extLst>
                <a:ext uri="{FF2B5EF4-FFF2-40B4-BE49-F238E27FC236}">
                  <a16:creationId xmlns="" xmlns:a16="http://schemas.microsoft.com/office/drawing/2014/main" id="{56A5C6DF-73D5-86CA-594A-7FD4CCAC4A8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0" name="TextBox 222">
              <a:extLst>
                <a:ext uri="{FF2B5EF4-FFF2-40B4-BE49-F238E27FC236}">
                  <a16:creationId xmlns="" xmlns:a16="http://schemas.microsoft.com/office/drawing/2014/main" id="{10E29497-1B14-A706-D09A-7F9E1661CDD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cxnSp>
        <p:nvCxnSpPr>
          <p:cNvPr id="307" name="肘形接點 68">
            <a:extLst>
              <a:ext uri="{FF2B5EF4-FFF2-40B4-BE49-F238E27FC236}">
                <a16:creationId xmlns="" xmlns:a16="http://schemas.microsoft.com/office/drawing/2014/main" id="{E704B052-20BE-E1E7-8343-870E8D441D10}"/>
              </a:ext>
            </a:extLst>
          </p:cNvPr>
          <p:cNvCxnSpPr>
            <a:cxnSpLocks/>
            <a:stCxn id="34" idx="2"/>
            <a:endCxn id="30" idx="0"/>
          </p:cNvCxnSpPr>
          <p:nvPr/>
        </p:nvCxnSpPr>
        <p:spPr>
          <a:xfrm rot="5400000">
            <a:off x="3360395" y="6115676"/>
            <a:ext cx="645560" cy="21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9" name="流程圖: 文件 42">
            <a:extLst>
              <a:ext uri="{FF2B5EF4-FFF2-40B4-BE49-F238E27FC236}">
                <a16:creationId xmlns="" xmlns:a16="http://schemas.microsoft.com/office/drawing/2014/main" id="{C144916D-9D68-235E-80FC-58B37D96BED8}"/>
              </a:ext>
            </a:extLst>
          </p:cNvPr>
          <p:cNvSpPr/>
          <p:nvPr/>
        </p:nvSpPr>
        <p:spPr bwMode="auto">
          <a:xfrm>
            <a:off x="471875" y="4726960"/>
            <a:ext cx="1666845" cy="877536"/>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MES</a:t>
            </a:r>
            <a:r>
              <a:rPr lang="zh-TW" altLang="en-US" sz="1500" dirty="0">
                <a:latin typeface="微軟正黑體" panose="020B0604030504040204" pitchFamily="34" charset="-120"/>
                <a:ea typeface="微軟正黑體" panose="020B0604030504040204" pitchFamily="34" charset="-120"/>
              </a:rPr>
              <a:t>轉出單</a:t>
            </a:r>
          </a:p>
        </p:txBody>
      </p:sp>
      <p:cxnSp>
        <p:nvCxnSpPr>
          <p:cNvPr id="50" name="肘形接點 68">
            <a:extLst>
              <a:ext uri="{FF2B5EF4-FFF2-40B4-BE49-F238E27FC236}">
                <a16:creationId xmlns="" xmlns:a16="http://schemas.microsoft.com/office/drawing/2014/main" id="{571ABFF1-74C9-D49A-EE80-48C78BE71E13}"/>
              </a:ext>
            </a:extLst>
          </p:cNvPr>
          <p:cNvCxnSpPr>
            <a:cxnSpLocks/>
            <a:stCxn id="241" idx="2"/>
            <a:endCxn id="34" idx="0"/>
          </p:cNvCxnSpPr>
          <p:nvPr/>
        </p:nvCxnSpPr>
        <p:spPr>
          <a:xfrm rot="5400000">
            <a:off x="4381236" y="2769483"/>
            <a:ext cx="1086981" cy="248288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56" name="文字方塊 17">
            <a:extLst>
              <a:ext uri="{FF2B5EF4-FFF2-40B4-BE49-F238E27FC236}">
                <a16:creationId xmlns="" xmlns:a16="http://schemas.microsoft.com/office/drawing/2014/main" id="{EA4CFE26-168B-D8D4-D099-B64BCC230177}"/>
              </a:ext>
            </a:extLst>
          </p:cNvPr>
          <p:cNvSpPr txBox="1"/>
          <p:nvPr/>
        </p:nvSpPr>
        <p:spPr>
          <a:xfrm>
            <a:off x="9193433" y="1376606"/>
            <a:ext cx="1853246" cy="400110"/>
          </a:xfrm>
          <a:prstGeom prst="rect">
            <a:avLst/>
          </a:prstGeom>
          <a:noFill/>
        </p:spPr>
        <p:txBody>
          <a:bodyPr wrap="square" lIns="137160" tIns="68580" rIns="137160" bIns="68580" rtlCol="0">
            <a:spAutoFit/>
          </a:bodyPr>
          <a:lstStyle/>
          <a:p>
            <a:pPr algn="ctr"/>
            <a:r>
              <a:rPr lang="zh-TW" altLang="en-US" sz="1700" dirty="0"/>
              <a:t>品保單位</a:t>
            </a:r>
          </a:p>
        </p:txBody>
      </p:sp>
      <p:sp>
        <p:nvSpPr>
          <p:cNvPr id="57" name="流程圖: 決策 50">
            <a:extLst>
              <a:ext uri="{FF2B5EF4-FFF2-40B4-BE49-F238E27FC236}">
                <a16:creationId xmlns="" xmlns:a16="http://schemas.microsoft.com/office/drawing/2014/main" id="{4CE66FEC-97D0-FA17-EB77-ED2BBB379D3D}"/>
              </a:ext>
            </a:extLst>
          </p:cNvPr>
          <p:cNvSpPr/>
          <p:nvPr/>
        </p:nvSpPr>
        <p:spPr bwMode="auto">
          <a:xfrm>
            <a:off x="8953592" y="6357026"/>
            <a:ext cx="1861028" cy="1178126"/>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sz="1500" dirty="0">
                <a:latin typeface="微軟正黑體" panose="020B0604030504040204" pitchFamily="34" charset="-120"/>
                <a:ea typeface="微軟正黑體" panose="020B0604030504040204" pitchFamily="34" charset="-120"/>
              </a:rPr>
              <a:t>QA</a:t>
            </a:r>
            <a:r>
              <a:rPr lang="zh-TW" altLang="en-US" sz="1500" dirty="0">
                <a:latin typeface="微軟正黑體" panose="020B0604030504040204" pitchFamily="34" charset="-120"/>
                <a:ea typeface="微軟正黑體" panose="020B0604030504040204" pitchFamily="34" charset="-120"/>
              </a:rPr>
              <a:t>全檢</a:t>
            </a:r>
          </a:p>
        </p:txBody>
      </p:sp>
      <p:cxnSp>
        <p:nvCxnSpPr>
          <p:cNvPr id="61" name="Straight Connector 284">
            <a:extLst>
              <a:ext uri="{FF2B5EF4-FFF2-40B4-BE49-F238E27FC236}">
                <a16:creationId xmlns="" xmlns:a16="http://schemas.microsoft.com/office/drawing/2014/main" id="{9E038BD8-0804-C6CC-B2DC-C37E057F8A3B}"/>
              </a:ext>
            </a:extLst>
          </p:cNvPr>
          <p:cNvCxnSpPr>
            <a:cxnSpLocks/>
          </p:cNvCxnSpPr>
          <p:nvPr/>
        </p:nvCxnSpPr>
        <p:spPr>
          <a:xfrm>
            <a:off x="8000992" y="1372854"/>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4" name="TextBox 46">
            <a:extLst>
              <a:ext uri="{FF2B5EF4-FFF2-40B4-BE49-F238E27FC236}">
                <a16:creationId xmlns="" xmlns:a16="http://schemas.microsoft.com/office/drawing/2014/main" id="{35948DCD-3F49-E4E8-3B0B-1BA4DDB50141}"/>
              </a:ext>
            </a:extLst>
          </p:cNvPr>
          <p:cNvSpPr txBox="1"/>
          <p:nvPr/>
        </p:nvSpPr>
        <p:spPr>
          <a:xfrm>
            <a:off x="10715636" y="6644492"/>
            <a:ext cx="629322" cy="369389"/>
          </a:xfrm>
          <a:prstGeom prst="rect">
            <a:avLst/>
          </a:prstGeom>
          <a:noFill/>
        </p:spPr>
        <p:txBody>
          <a:bodyPr wrap="square" lIns="137160" tIns="68580" rIns="137160" bIns="68580" rtlCol="0">
            <a:spAutoFit/>
          </a:bodyPr>
          <a:lstStyle/>
          <a:p>
            <a:r>
              <a:rPr lang="en-US" altLang="zh-TW" sz="1500" dirty="0"/>
              <a:t>NG</a:t>
            </a:r>
            <a:endParaRPr lang="zh-TW" altLang="en-US" sz="1500" dirty="0"/>
          </a:p>
        </p:txBody>
      </p:sp>
      <p:cxnSp>
        <p:nvCxnSpPr>
          <p:cNvPr id="209" name="肘形接點 68">
            <a:extLst>
              <a:ext uri="{FF2B5EF4-FFF2-40B4-BE49-F238E27FC236}">
                <a16:creationId xmlns="" xmlns:a16="http://schemas.microsoft.com/office/drawing/2014/main" id="{1FF6F373-2309-1F2A-867B-8526AFCD24FD}"/>
              </a:ext>
            </a:extLst>
          </p:cNvPr>
          <p:cNvCxnSpPr>
            <a:cxnSpLocks/>
            <a:stCxn id="49" idx="3"/>
            <a:endCxn id="34" idx="1"/>
          </p:cNvCxnSpPr>
          <p:nvPr/>
        </p:nvCxnSpPr>
        <p:spPr>
          <a:xfrm>
            <a:off x="2138720" y="5165728"/>
            <a:ext cx="614402" cy="798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17" name="肘形接點 68">
            <a:extLst>
              <a:ext uri="{FF2B5EF4-FFF2-40B4-BE49-F238E27FC236}">
                <a16:creationId xmlns="" xmlns:a16="http://schemas.microsoft.com/office/drawing/2014/main" id="{F451A3C6-ABCE-8A7B-E198-D6D642CFBB68}"/>
              </a:ext>
            </a:extLst>
          </p:cNvPr>
          <p:cNvCxnSpPr>
            <a:cxnSpLocks/>
          </p:cNvCxnSpPr>
          <p:nvPr/>
        </p:nvCxnSpPr>
        <p:spPr>
          <a:xfrm>
            <a:off x="4571968" y="6930244"/>
            <a:ext cx="4404294" cy="1755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20" name="TextBox 46">
            <a:extLst>
              <a:ext uri="{FF2B5EF4-FFF2-40B4-BE49-F238E27FC236}">
                <a16:creationId xmlns="" xmlns:a16="http://schemas.microsoft.com/office/drawing/2014/main" id="{64F414DA-0569-F465-E3CC-335436499833}"/>
              </a:ext>
            </a:extLst>
          </p:cNvPr>
          <p:cNvSpPr txBox="1"/>
          <p:nvPr/>
        </p:nvSpPr>
        <p:spPr>
          <a:xfrm>
            <a:off x="9286876" y="8144690"/>
            <a:ext cx="629322" cy="369389"/>
          </a:xfrm>
          <a:prstGeom prst="rect">
            <a:avLst/>
          </a:prstGeom>
          <a:noFill/>
        </p:spPr>
        <p:txBody>
          <a:bodyPr wrap="square" lIns="137160" tIns="68580" rIns="137160" bIns="68580" rtlCol="0">
            <a:spAutoFit/>
          </a:bodyPr>
          <a:lstStyle/>
          <a:p>
            <a:r>
              <a:rPr lang="en-US" altLang="zh-TW" sz="1500" dirty="0"/>
              <a:t>OK</a:t>
            </a:r>
            <a:endParaRPr lang="zh-TW" altLang="en-US" sz="1500" dirty="0"/>
          </a:p>
        </p:txBody>
      </p:sp>
      <p:cxnSp>
        <p:nvCxnSpPr>
          <p:cNvPr id="226" name="肘形接點 68">
            <a:extLst>
              <a:ext uri="{FF2B5EF4-FFF2-40B4-BE49-F238E27FC236}">
                <a16:creationId xmlns="" xmlns:a16="http://schemas.microsoft.com/office/drawing/2014/main" id="{6AC6A8CF-9A2E-0180-CBC8-EF16FB2C5828}"/>
              </a:ext>
            </a:extLst>
          </p:cNvPr>
          <p:cNvCxnSpPr>
            <a:cxnSpLocks/>
            <a:stCxn id="57" idx="2"/>
            <a:endCxn id="286" idx="6"/>
          </p:cNvCxnSpPr>
          <p:nvPr/>
        </p:nvCxnSpPr>
        <p:spPr>
          <a:xfrm rot="5400000">
            <a:off x="7527824" y="6705926"/>
            <a:ext cx="1527057" cy="3185508"/>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7" name="肘形接點 68">
            <a:extLst>
              <a:ext uri="{FF2B5EF4-FFF2-40B4-BE49-F238E27FC236}">
                <a16:creationId xmlns="" xmlns:a16="http://schemas.microsoft.com/office/drawing/2014/main" id="{2DE044E4-A342-9CDF-EC94-7F70D158CE0A}"/>
              </a:ext>
            </a:extLst>
          </p:cNvPr>
          <p:cNvCxnSpPr>
            <a:cxnSpLocks/>
          </p:cNvCxnSpPr>
          <p:nvPr/>
        </p:nvCxnSpPr>
        <p:spPr>
          <a:xfrm>
            <a:off x="10429884" y="7787500"/>
            <a:ext cx="1427214" cy="13718"/>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grpSp>
        <p:nvGrpSpPr>
          <p:cNvPr id="4" name="Group 220">
            <a:extLst>
              <a:ext uri="{FF2B5EF4-FFF2-40B4-BE49-F238E27FC236}">
                <a16:creationId xmlns="" xmlns:a16="http://schemas.microsoft.com/office/drawing/2014/main" id="{2A30EB25-4588-6A2D-F183-B8A0AC01D1E5}"/>
              </a:ext>
            </a:extLst>
          </p:cNvPr>
          <p:cNvGrpSpPr/>
          <p:nvPr/>
        </p:nvGrpSpPr>
        <p:grpSpPr>
          <a:xfrm>
            <a:off x="4346745" y="4390706"/>
            <a:ext cx="533400" cy="408605"/>
            <a:chOff x="5906184" y="1486857"/>
            <a:chExt cx="355600" cy="272361"/>
          </a:xfrm>
        </p:grpSpPr>
        <p:sp>
          <p:nvSpPr>
            <p:cNvPr id="213" name="Oval 221">
              <a:extLst>
                <a:ext uri="{FF2B5EF4-FFF2-40B4-BE49-F238E27FC236}">
                  <a16:creationId xmlns="" xmlns:a16="http://schemas.microsoft.com/office/drawing/2014/main" id="{081A147A-A32F-7DA4-D25B-28C95CE6B95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14" name="TextBox 222">
              <a:extLst>
                <a:ext uri="{FF2B5EF4-FFF2-40B4-BE49-F238E27FC236}">
                  <a16:creationId xmlns="" xmlns:a16="http://schemas.microsoft.com/office/drawing/2014/main" id="{A518A1AA-F25C-4EA2-8736-0124778A12DA}"/>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sp>
        <p:nvSpPr>
          <p:cNvPr id="241" name="流程圖: 決策 50">
            <a:extLst>
              <a:ext uri="{FF2B5EF4-FFF2-40B4-BE49-F238E27FC236}">
                <a16:creationId xmlns="" xmlns:a16="http://schemas.microsoft.com/office/drawing/2014/main" id="{206BA427-C93E-23C4-4F09-5A2704486004}"/>
              </a:ext>
            </a:extLst>
          </p:cNvPr>
          <p:cNvSpPr/>
          <p:nvPr/>
        </p:nvSpPr>
        <p:spPr bwMode="auto">
          <a:xfrm>
            <a:off x="5267255" y="2276367"/>
            <a:ext cx="1797828" cy="1191067"/>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有稱重系統</a:t>
            </a:r>
            <a:r>
              <a:rPr lang="en-US" altLang="zh-TW" sz="1500" dirty="0">
                <a:latin typeface="微軟正黑體" panose="020B0604030504040204" pitchFamily="34" charset="-120"/>
                <a:ea typeface="微軟正黑體" panose="020B0604030504040204" pitchFamily="34" charset="-120"/>
              </a:rPr>
              <a:t>?</a:t>
            </a:r>
            <a:endParaRPr lang="zh-TW" altLang="en-US" sz="1500" dirty="0">
              <a:latin typeface="微軟正黑體" panose="020B0604030504040204" pitchFamily="34" charset="-120"/>
              <a:ea typeface="微軟正黑體" panose="020B0604030504040204" pitchFamily="34" charset="-120"/>
            </a:endParaRPr>
          </a:p>
        </p:txBody>
      </p:sp>
      <p:cxnSp>
        <p:nvCxnSpPr>
          <p:cNvPr id="242" name="肘形接點 68">
            <a:extLst>
              <a:ext uri="{FF2B5EF4-FFF2-40B4-BE49-F238E27FC236}">
                <a16:creationId xmlns="" xmlns:a16="http://schemas.microsoft.com/office/drawing/2014/main" id="{60620942-8B02-3328-37BB-597B155A6608}"/>
              </a:ext>
            </a:extLst>
          </p:cNvPr>
          <p:cNvCxnSpPr>
            <a:cxnSpLocks/>
            <a:stCxn id="262" idx="3"/>
            <a:endCxn id="241" idx="1"/>
          </p:cNvCxnSpPr>
          <p:nvPr/>
        </p:nvCxnSpPr>
        <p:spPr>
          <a:xfrm>
            <a:off x="4591246" y="2865174"/>
            <a:ext cx="676010" cy="672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47" name="TextBox 46">
            <a:extLst>
              <a:ext uri="{FF2B5EF4-FFF2-40B4-BE49-F238E27FC236}">
                <a16:creationId xmlns="" xmlns:a16="http://schemas.microsoft.com/office/drawing/2014/main" id="{D8D74B9D-9AC8-1C92-EA30-32F244CF1EC2}"/>
              </a:ext>
            </a:extLst>
          </p:cNvPr>
          <p:cNvSpPr txBox="1"/>
          <p:nvPr/>
        </p:nvSpPr>
        <p:spPr>
          <a:xfrm>
            <a:off x="6186809" y="3609085"/>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248" name="肘形接點 68">
            <a:extLst>
              <a:ext uri="{FF2B5EF4-FFF2-40B4-BE49-F238E27FC236}">
                <a16:creationId xmlns="" xmlns:a16="http://schemas.microsoft.com/office/drawing/2014/main" id="{89995D57-1C97-628C-B776-D5B3D9CDFC88}"/>
              </a:ext>
            </a:extLst>
          </p:cNvPr>
          <p:cNvCxnSpPr>
            <a:cxnSpLocks/>
            <a:stCxn id="241" idx="3"/>
            <a:endCxn id="253" idx="1"/>
          </p:cNvCxnSpPr>
          <p:nvPr/>
        </p:nvCxnSpPr>
        <p:spPr>
          <a:xfrm flipV="1">
            <a:off x="7065083" y="2865239"/>
            <a:ext cx="5086707" cy="666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51" name="TextBox 46">
            <a:extLst>
              <a:ext uri="{FF2B5EF4-FFF2-40B4-BE49-F238E27FC236}">
                <a16:creationId xmlns="" xmlns:a16="http://schemas.microsoft.com/office/drawing/2014/main" id="{0D1E48AA-719D-35B8-8FCE-568DA9D3682E}"/>
              </a:ext>
            </a:extLst>
          </p:cNvPr>
          <p:cNvSpPr txBox="1"/>
          <p:nvPr/>
        </p:nvSpPr>
        <p:spPr>
          <a:xfrm>
            <a:off x="7065083" y="2395096"/>
            <a:ext cx="404262" cy="369389"/>
          </a:xfrm>
          <a:prstGeom prst="rect">
            <a:avLst/>
          </a:prstGeom>
          <a:noFill/>
        </p:spPr>
        <p:txBody>
          <a:bodyPr wrap="square" lIns="137160" tIns="68580" rIns="137160" bIns="68580" rtlCol="0">
            <a:spAutoFit/>
          </a:bodyPr>
          <a:lstStyle/>
          <a:p>
            <a:r>
              <a:rPr lang="zh-TW" altLang="en-US" sz="1500" dirty="0"/>
              <a:t>是</a:t>
            </a:r>
          </a:p>
        </p:txBody>
      </p:sp>
      <p:sp>
        <p:nvSpPr>
          <p:cNvPr id="253" name="流程圖: 預設處理作業 21">
            <a:extLst>
              <a:ext uri="{FF2B5EF4-FFF2-40B4-BE49-F238E27FC236}">
                <a16:creationId xmlns="" xmlns:a16="http://schemas.microsoft.com/office/drawing/2014/main" id="{3ACBC009-E273-7019-B254-2EA1A01F5540}"/>
              </a:ext>
            </a:extLst>
          </p:cNvPr>
          <p:cNvSpPr/>
          <p:nvPr/>
        </p:nvSpPr>
        <p:spPr bwMode="auto">
          <a:xfrm>
            <a:off x="12151790" y="2245943"/>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zh-TW" altLang="en-US" sz="1500" dirty="0">
                <a:latin typeface="微軟正黑體" panose="020B0604030504040204" pitchFamily="34" charset="-120"/>
                <a:ea typeface="微軟正黑體" panose="020B0604030504040204" pitchFamily="34" charset="-120"/>
              </a:rPr>
              <a:t>稱重系統</a:t>
            </a:r>
            <a:endParaRPr lang="en-US" altLang="zh-TW" sz="1500" dirty="0">
              <a:latin typeface="微軟正黑體" panose="020B0604030504040204" pitchFamily="34" charset="-120"/>
              <a:ea typeface="微軟正黑體" panose="020B0604030504040204" pitchFamily="34" charset="-120"/>
            </a:endParaRPr>
          </a:p>
        </p:txBody>
      </p:sp>
      <p:graphicFrame>
        <p:nvGraphicFramePr>
          <p:cNvPr id="255" name="表格 30">
            <a:extLst>
              <a:ext uri="{FF2B5EF4-FFF2-40B4-BE49-F238E27FC236}">
                <a16:creationId xmlns="" xmlns:a16="http://schemas.microsoft.com/office/drawing/2014/main" id="{1B6E37B8-40FB-A553-6918-8782BBAFBFBD}"/>
              </a:ext>
            </a:extLst>
          </p:cNvPr>
          <p:cNvGraphicFramePr>
            <a:graphicFrameLocks noGrp="1"/>
          </p:cNvGraphicFramePr>
          <p:nvPr>
            <p:extLst>
              <p:ext uri="{D42A27DB-BD31-4B8C-83A1-F6EECF244321}">
                <p14:modId xmlns="" xmlns:p14="http://schemas.microsoft.com/office/powerpoint/2010/main" val="2029616722"/>
              </p:ext>
            </p:extLst>
          </p:nvPr>
        </p:nvGraphicFramePr>
        <p:xfrm>
          <a:off x="5987460" y="4524136"/>
          <a:ext cx="1860324" cy="1238591"/>
        </p:xfrm>
        <a:graphic>
          <a:graphicData uri="http://schemas.openxmlformats.org/drawingml/2006/table">
            <a:tbl>
              <a:tblPr>
                <a:tableStyleId>{5940675A-B579-460E-94D1-54222C63F5DA}</a:tableStyleId>
              </a:tblPr>
              <a:tblGrid>
                <a:gridCol w="930162">
                  <a:extLst>
                    <a:ext uri="{9D8B030D-6E8A-4147-A177-3AD203B41FA5}">
                      <a16:colId xmlns="" xmlns:a16="http://schemas.microsoft.com/office/drawing/2014/main" val="3433979995"/>
                    </a:ext>
                  </a:extLst>
                </a:gridCol>
                <a:gridCol w="930162">
                  <a:extLst>
                    <a:ext uri="{9D8B030D-6E8A-4147-A177-3AD203B41FA5}">
                      <a16:colId xmlns="" xmlns:a16="http://schemas.microsoft.com/office/drawing/2014/main" val="3727974752"/>
                    </a:ext>
                  </a:extLst>
                </a:gridCol>
              </a:tblGrid>
              <a:tr h="336652">
                <a:tc gridSpan="2">
                  <a:txBody>
                    <a:bodyPr/>
                    <a:lstStyle/>
                    <a:p>
                      <a:pPr algn="ctr"/>
                      <a:r>
                        <a:rPr lang="en-US" sz="1500" b="1" dirty="0">
                          <a:solidFill>
                            <a:schemeClr val="tx1"/>
                          </a:solidFill>
                          <a:latin typeface="微軟正黑體" panose="020B0604030504040204" pitchFamily="34" charset="-120"/>
                          <a:ea typeface="微軟正黑體" panose="020B0604030504040204" pitchFamily="34" charset="-120"/>
                        </a:rPr>
                        <a:t>ZMM040</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工單入庫</a:t>
                      </a:r>
                      <a:endParaRPr lang="en-US" altLang="zh-TW" sz="1500" dirty="0">
                        <a:latin typeface="微軟正黑體" panose="020B0604030504040204" pitchFamily="34" charset="-120"/>
                        <a:ea typeface="微軟正黑體" panose="020B0604030504040204" pitchFamily="34" charset="-120"/>
                      </a:endParaRPr>
                    </a:p>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(Mvt.101)</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自動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56" name="肘形接點 68">
            <a:extLst>
              <a:ext uri="{FF2B5EF4-FFF2-40B4-BE49-F238E27FC236}">
                <a16:creationId xmlns="" xmlns:a16="http://schemas.microsoft.com/office/drawing/2014/main" id="{8E45B785-2744-D54E-BA70-3930AB9DA792}"/>
              </a:ext>
            </a:extLst>
          </p:cNvPr>
          <p:cNvCxnSpPr>
            <a:cxnSpLocks/>
            <a:stCxn id="253" idx="2"/>
            <a:endCxn id="255" idx="0"/>
          </p:cNvCxnSpPr>
          <p:nvPr/>
        </p:nvCxnSpPr>
        <p:spPr>
          <a:xfrm rot="5400000">
            <a:off x="9468185" y="933972"/>
            <a:ext cx="1039602" cy="614072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59" name="流程圖: 結束點 258">
            <a:extLst>
              <a:ext uri="{FF2B5EF4-FFF2-40B4-BE49-F238E27FC236}">
                <a16:creationId xmlns="" xmlns:a16="http://schemas.microsoft.com/office/drawing/2014/main" id="{53A4A040-53D6-F75D-1BE3-8ECB2640227E}"/>
              </a:ext>
            </a:extLst>
          </p:cNvPr>
          <p:cNvSpPr/>
          <p:nvPr/>
        </p:nvSpPr>
        <p:spPr bwMode="auto">
          <a:xfrm>
            <a:off x="12227786" y="4756535"/>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260" name="肘形接點 68">
            <a:extLst>
              <a:ext uri="{FF2B5EF4-FFF2-40B4-BE49-F238E27FC236}">
                <a16:creationId xmlns="" xmlns:a16="http://schemas.microsoft.com/office/drawing/2014/main" id="{6C0F3386-B39D-322F-068D-BDE57535F91D}"/>
              </a:ext>
            </a:extLst>
          </p:cNvPr>
          <p:cNvCxnSpPr>
            <a:cxnSpLocks/>
            <a:stCxn id="255" idx="3"/>
            <a:endCxn id="259" idx="1"/>
          </p:cNvCxnSpPr>
          <p:nvPr/>
        </p:nvCxnSpPr>
        <p:spPr>
          <a:xfrm>
            <a:off x="7847784" y="5143432"/>
            <a:ext cx="4380002" cy="438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65" name="流程圖: 預設處理作業 21">
            <a:extLst>
              <a:ext uri="{FF2B5EF4-FFF2-40B4-BE49-F238E27FC236}">
                <a16:creationId xmlns="" xmlns:a16="http://schemas.microsoft.com/office/drawing/2014/main" id="{9CAD2CCF-C612-62C6-99D9-104DA2FC0234}"/>
              </a:ext>
            </a:extLst>
          </p:cNvPr>
          <p:cNvSpPr/>
          <p:nvPr/>
        </p:nvSpPr>
        <p:spPr bwMode="auto">
          <a:xfrm>
            <a:off x="2780954" y="8456631"/>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EEP</a:t>
            </a:r>
          </a:p>
        </p:txBody>
      </p:sp>
      <p:cxnSp>
        <p:nvCxnSpPr>
          <p:cNvPr id="266" name="肘形接點 68">
            <a:extLst>
              <a:ext uri="{FF2B5EF4-FFF2-40B4-BE49-F238E27FC236}">
                <a16:creationId xmlns="" xmlns:a16="http://schemas.microsoft.com/office/drawing/2014/main" id="{53606BFB-DDEE-B3CE-664D-69F0DE8F3E91}"/>
              </a:ext>
            </a:extLst>
          </p:cNvPr>
          <p:cNvCxnSpPr>
            <a:cxnSpLocks/>
            <a:stCxn id="30" idx="2"/>
            <a:endCxn id="265" idx="0"/>
          </p:cNvCxnSpPr>
          <p:nvPr/>
        </p:nvCxnSpPr>
        <p:spPr>
          <a:xfrm rot="16200000" flipH="1">
            <a:off x="3181234" y="7950353"/>
            <a:ext cx="1008109" cy="444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5" name="Group 220">
            <a:extLst>
              <a:ext uri="{FF2B5EF4-FFF2-40B4-BE49-F238E27FC236}">
                <a16:creationId xmlns="" xmlns:a16="http://schemas.microsoft.com/office/drawing/2014/main" id="{702D24FA-484D-B82F-6619-BEB5E4D2954D}"/>
              </a:ext>
            </a:extLst>
          </p:cNvPr>
          <p:cNvGrpSpPr/>
          <p:nvPr/>
        </p:nvGrpSpPr>
        <p:grpSpPr>
          <a:xfrm>
            <a:off x="6340760" y="2170995"/>
            <a:ext cx="533400" cy="408605"/>
            <a:chOff x="5906184" y="1486857"/>
            <a:chExt cx="355600" cy="272361"/>
          </a:xfrm>
        </p:grpSpPr>
        <p:sp>
          <p:nvSpPr>
            <p:cNvPr id="270" name="Oval 221">
              <a:extLst>
                <a:ext uri="{FF2B5EF4-FFF2-40B4-BE49-F238E27FC236}">
                  <a16:creationId xmlns="" xmlns:a16="http://schemas.microsoft.com/office/drawing/2014/main" id="{F23A3406-F8BC-33B7-5CAA-4F80C4A5456D}"/>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1" name="TextBox 222">
              <a:extLst>
                <a:ext uri="{FF2B5EF4-FFF2-40B4-BE49-F238E27FC236}">
                  <a16:creationId xmlns="" xmlns:a16="http://schemas.microsoft.com/office/drawing/2014/main" id="{4C8949D6-0C66-9DF7-DA52-079281049577}"/>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nvGrpSpPr>
          <p:cNvPr id="8" name="Group 220">
            <a:extLst>
              <a:ext uri="{FF2B5EF4-FFF2-40B4-BE49-F238E27FC236}">
                <a16:creationId xmlns="" xmlns:a16="http://schemas.microsoft.com/office/drawing/2014/main" id="{0DA6674E-09DD-45D8-C85F-6AF44BDC1100}"/>
              </a:ext>
            </a:extLst>
          </p:cNvPr>
          <p:cNvGrpSpPr/>
          <p:nvPr/>
        </p:nvGrpSpPr>
        <p:grpSpPr>
          <a:xfrm>
            <a:off x="4301043" y="8348347"/>
            <a:ext cx="533400" cy="408605"/>
            <a:chOff x="5906184" y="1486857"/>
            <a:chExt cx="355600" cy="272361"/>
          </a:xfrm>
        </p:grpSpPr>
        <p:sp>
          <p:nvSpPr>
            <p:cNvPr id="281" name="Oval 221">
              <a:extLst>
                <a:ext uri="{FF2B5EF4-FFF2-40B4-BE49-F238E27FC236}">
                  <a16:creationId xmlns="" xmlns:a16="http://schemas.microsoft.com/office/drawing/2014/main" id="{E4490417-9016-65CD-3C87-3BC7725BF6BA}"/>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2" name="TextBox 222">
              <a:extLst>
                <a:ext uri="{FF2B5EF4-FFF2-40B4-BE49-F238E27FC236}">
                  <a16:creationId xmlns="" xmlns:a16="http://schemas.microsoft.com/office/drawing/2014/main" id="{89DA13AA-6532-8FD7-3B95-A386B56E6581}"/>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cxnSp>
        <p:nvCxnSpPr>
          <p:cNvPr id="283" name="肘形接點 68">
            <a:extLst>
              <a:ext uri="{FF2B5EF4-FFF2-40B4-BE49-F238E27FC236}">
                <a16:creationId xmlns="" xmlns:a16="http://schemas.microsoft.com/office/drawing/2014/main" id="{970DC380-3E56-7E42-FDAC-478FEEE598A5}"/>
              </a:ext>
            </a:extLst>
          </p:cNvPr>
          <p:cNvCxnSpPr>
            <a:cxnSpLocks/>
            <a:stCxn id="265" idx="3"/>
            <a:endCxn id="286" idx="2"/>
          </p:cNvCxnSpPr>
          <p:nvPr/>
        </p:nvCxnSpPr>
        <p:spPr>
          <a:xfrm flipV="1">
            <a:off x="4594065" y="9062209"/>
            <a:ext cx="1559187" cy="1371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86" name="流程圖: 接點 51">
            <a:extLst>
              <a:ext uri="{FF2B5EF4-FFF2-40B4-BE49-F238E27FC236}">
                <a16:creationId xmlns="" xmlns:a16="http://schemas.microsoft.com/office/drawing/2014/main" id="{838BF698-CCAA-F098-6880-5648C6234B43}"/>
              </a:ext>
            </a:extLst>
          </p:cNvPr>
          <p:cNvSpPr/>
          <p:nvPr/>
        </p:nvSpPr>
        <p:spPr bwMode="auto">
          <a:xfrm>
            <a:off x="6153253" y="8828521"/>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sp>
        <p:nvSpPr>
          <p:cNvPr id="288" name="流程圖: 接點 51">
            <a:extLst>
              <a:ext uri="{FF2B5EF4-FFF2-40B4-BE49-F238E27FC236}">
                <a16:creationId xmlns="" xmlns:a16="http://schemas.microsoft.com/office/drawing/2014/main" id="{F315E355-A436-1CD9-D1A0-7CF8BBB2D18B}"/>
              </a:ext>
            </a:extLst>
          </p:cNvPr>
          <p:cNvSpPr/>
          <p:nvPr/>
        </p:nvSpPr>
        <p:spPr bwMode="auto">
          <a:xfrm>
            <a:off x="12858776" y="4105415"/>
            <a:ext cx="545345" cy="467375"/>
          </a:xfrm>
          <a:prstGeom prst="flowChart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A</a:t>
            </a:r>
            <a:endParaRPr lang="zh-TW" altLang="en-US" dirty="0">
              <a:latin typeface="微軟正黑體" panose="020B0604030504040204" pitchFamily="34" charset="-120"/>
              <a:ea typeface="微軟正黑體" panose="020B0604030504040204" pitchFamily="34" charset="-120"/>
            </a:endParaRPr>
          </a:p>
        </p:txBody>
      </p:sp>
      <p:cxnSp>
        <p:nvCxnSpPr>
          <p:cNvPr id="293" name="肘形接點 68">
            <a:extLst>
              <a:ext uri="{FF2B5EF4-FFF2-40B4-BE49-F238E27FC236}">
                <a16:creationId xmlns="" xmlns:a16="http://schemas.microsoft.com/office/drawing/2014/main" id="{65116A64-8B98-1790-A589-5D7B2FEE43E4}"/>
              </a:ext>
            </a:extLst>
          </p:cNvPr>
          <p:cNvCxnSpPr>
            <a:cxnSpLocks/>
            <a:stCxn id="288" idx="4"/>
            <a:endCxn id="259" idx="0"/>
          </p:cNvCxnSpPr>
          <p:nvPr/>
        </p:nvCxnSpPr>
        <p:spPr>
          <a:xfrm rot="5400000">
            <a:off x="13037204" y="4662289"/>
            <a:ext cx="183745" cy="474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4"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2</a:t>
            </a:r>
            <a:endParaRPr lang="en-US" sz="1600" b="0" strike="noStrike" spc="-1" dirty="0">
              <a:solidFill>
                <a:srgbClr val="000000"/>
              </a:solidFill>
              <a:latin typeface="Calibri"/>
            </a:endParaRPr>
          </a:p>
        </p:txBody>
      </p:sp>
      <p:sp>
        <p:nvSpPr>
          <p:cNvPr id="69" name="流程圖: 換頁接點 52">
            <a:extLst>
              <a:ext uri="{FF2B5EF4-FFF2-40B4-BE49-F238E27FC236}">
                <a16:creationId xmlns="" xmlns:a16="http://schemas.microsoft.com/office/drawing/2014/main" id="{66D05BCA-4B42-02B3-C672-83F63C42AF59}"/>
              </a:ext>
            </a:extLst>
          </p:cNvPr>
          <p:cNvSpPr/>
          <p:nvPr/>
        </p:nvSpPr>
        <p:spPr bwMode="auto">
          <a:xfrm>
            <a:off x="13287404" y="7501748"/>
            <a:ext cx="560627" cy="467375"/>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smtClean="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cxnSp>
        <p:nvCxnSpPr>
          <p:cNvPr id="75" name="肘形接點 68">
            <a:extLst>
              <a:ext uri="{FF2B5EF4-FFF2-40B4-BE49-F238E27FC236}">
                <a16:creationId xmlns="" xmlns:a16="http://schemas.microsoft.com/office/drawing/2014/main" id="{F451A3C6-ABCE-8A7B-E198-D6D642CFBB68}"/>
              </a:ext>
            </a:extLst>
          </p:cNvPr>
          <p:cNvCxnSpPr>
            <a:cxnSpLocks/>
            <a:stCxn id="57" idx="3"/>
            <a:endCxn id="69" idx="1"/>
          </p:cNvCxnSpPr>
          <p:nvPr/>
        </p:nvCxnSpPr>
        <p:spPr>
          <a:xfrm>
            <a:off x="10814620" y="6946089"/>
            <a:ext cx="2472784" cy="78934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 xmlns:p14="http://schemas.microsoft.com/office/powerpoint/2010/main" val="403667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3"/>
          <p:cNvSpPr txBox="1">
            <a:spLocks noGrp="1"/>
          </p:cNvSpPr>
          <p:nvPr>
            <p:ph type="sldNum" idx="4294967295"/>
          </p:nvPr>
        </p:nvSpPr>
        <p:spPr>
          <a:xfrm>
            <a:off x="15640050" y="9739313"/>
            <a:ext cx="2647950" cy="206375"/>
          </a:xfrm>
          <a:prstGeom prst="rect">
            <a:avLst/>
          </a:prstGeom>
          <a:noFill/>
          <a:ln>
            <a:noFill/>
          </a:ln>
        </p:spPr>
        <p:txBody>
          <a:bodyPr spcFirstLastPara="1" wrap="square" lIns="0" tIns="0" rIns="0" bIns="0" anchor="b" anchorCtr="0">
            <a:noAutofit/>
          </a:bodyPr>
          <a:lstStyle/>
          <a:p>
            <a:pPr algn="r"/>
            <a:fld id="{00000000-1234-1234-1234-123412341234}" type="slidenum">
              <a:rPr lang="en-US"/>
              <a:pPr algn="r"/>
              <a:t>6</a:t>
            </a:fld>
            <a:endParaRPr dirty="0"/>
          </a:p>
        </p:txBody>
      </p:sp>
      <p:sp>
        <p:nvSpPr>
          <p:cNvPr id="7" name="TextBox 53">
            <a:extLst>
              <a:ext uri="{FF2B5EF4-FFF2-40B4-BE49-F238E27FC236}">
                <a16:creationId xmlns="" xmlns:a16="http://schemas.microsoft.com/office/drawing/2014/main" id="{30381EE2-3320-4812-6081-3A15B03E8B32}"/>
              </a:ext>
            </a:extLst>
          </p:cNvPr>
          <p:cNvSpPr txBox="1"/>
          <p:nvPr/>
        </p:nvSpPr>
        <p:spPr>
          <a:xfrm>
            <a:off x="14394343" y="2013759"/>
            <a:ext cx="3594197" cy="2908489"/>
          </a:xfrm>
          <a:prstGeom prst="rect">
            <a:avLst/>
          </a:prstGeom>
          <a:noFill/>
        </p:spPr>
        <p:txBody>
          <a:bodyPr wrap="square" lIns="137160" tIns="68580" rIns="137160" bIns="68580" rtlCol="0">
            <a:spAutoFit/>
          </a:bodyPr>
          <a:lstStyle/>
          <a:p>
            <a:endParaRPr lang="en-US" altLang="zh-TW" dirty="0"/>
          </a:p>
          <a:p>
            <a:pPr marL="342900" indent="-342900">
              <a:buFont typeface="+mj-lt"/>
              <a:buAutoNum type="arabicPeriod"/>
            </a:pPr>
            <a:r>
              <a:rPr lang="zh-TW" altLang="en-US" dirty="0"/>
              <a:t>倉庫人員點收次級品數量。</a:t>
            </a:r>
            <a:endParaRPr lang="en-US" altLang="zh-TW" dirty="0"/>
          </a:p>
          <a:p>
            <a:pPr marL="342900" indent="-342900">
              <a:buFont typeface="+mj-lt"/>
              <a:buAutoNum type="arabicPeriod"/>
            </a:pPr>
            <a:r>
              <a:rPr lang="zh-TW" altLang="en-US" dirty="0"/>
              <a:t>當有發生補料與進行次級品入庫，則需另外開立補料工單對應到指令號進行成本的收集與次級品入庫。</a:t>
            </a:r>
            <a:endParaRPr lang="en-US" altLang="zh-TW" dirty="0"/>
          </a:p>
          <a:p>
            <a:pPr marL="342900" indent="-342900">
              <a:buFont typeface="+mj-lt"/>
              <a:buAutoNum type="arabicPeriod"/>
            </a:pPr>
            <a:r>
              <a:rPr lang="zh-TW" altLang="en-US" dirty="0"/>
              <a:t>倉庫人員可整理上傳的</a:t>
            </a:r>
            <a:r>
              <a:rPr lang="en-US" altLang="zh-TW" dirty="0"/>
              <a:t>EXCEL</a:t>
            </a:r>
            <a:r>
              <a:rPr lang="zh-TW" altLang="en-US" dirty="0"/>
              <a:t>清單格式執行批量上傳工單入庫或是人工手動執行工單入庫。</a:t>
            </a:r>
            <a:endParaRPr lang="en-US" altLang="zh-TW" dirty="0"/>
          </a:p>
          <a:p>
            <a:endParaRPr lang="en-US" altLang="zh-TW" dirty="0"/>
          </a:p>
        </p:txBody>
      </p:sp>
      <p:sp>
        <p:nvSpPr>
          <p:cNvPr id="48" name="文字方塊 17">
            <a:extLst>
              <a:ext uri="{FF2B5EF4-FFF2-40B4-BE49-F238E27FC236}">
                <a16:creationId xmlns="" xmlns:a16="http://schemas.microsoft.com/office/drawing/2014/main" id="{0F2761B4-5F29-64DD-1721-5831D073894C}"/>
              </a:ext>
            </a:extLst>
          </p:cNvPr>
          <p:cNvSpPr txBox="1"/>
          <p:nvPr/>
        </p:nvSpPr>
        <p:spPr>
          <a:xfrm>
            <a:off x="6227978" y="1374011"/>
            <a:ext cx="1853246" cy="400110"/>
          </a:xfrm>
          <a:prstGeom prst="rect">
            <a:avLst/>
          </a:prstGeom>
          <a:noFill/>
        </p:spPr>
        <p:txBody>
          <a:bodyPr wrap="square" lIns="137160" tIns="68580" rIns="137160" bIns="68580" rtlCol="0">
            <a:spAutoFit/>
          </a:bodyPr>
          <a:lstStyle/>
          <a:p>
            <a:pPr algn="ctr"/>
            <a:r>
              <a:rPr lang="zh-TW" altLang="en-US" sz="1700" dirty="0"/>
              <a:t>倉庫單位</a:t>
            </a:r>
          </a:p>
        </p:txBody>
      </p:sp>
      <p:sp>
        <p:nvSpPr>
          <p:cNvPr id="60" name="文字方塊 59">
            <a:extLst>
              <a:ext uri="{FF2B5EF4-FFF2-40B4-BE49-F238E27FC236}">
                <a16:creationId xmlns="" xmlns:a16="http://schemas.microsoft.com/office/drawing/2014/main"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MM-IM-0120 </a:t>
            </a:r>
            <a:r>
              <a:rPr kumimoji="0" lang="zh-TW" altLang="en-US" b="1" dirty="0" smtClean="0">
                <a:latin typeface="微軟正黑體" panose="020B0604030504040204" pitchFamily="34" charset="-120"/>
                <a:ea typeface="微軟正黑體" panose="020B0604030504040204" pitchFamily="34" charset="-120"/>
              </a:rPr>
              <a:t>工</a:t>
            </a:r>
            <a:r>
              <a:rPr kumimoji="0" lang="zh-TW" altLang="en-US" b="1" dirty="0">
                <a:latin typeface="微軟正黑體" panose="020B0604030504040204" pitchFamily="34" charset="-120"/>
                <a:ea typeface="微軟正黑體" panose="020B0604030504040204" pitchFamily="34" charset="-120"/>
              </a:rPr>
              <a:t>單入庫作業流程</a:t>
            </a:r>
          </a:p>
        </p:txBody>
      </p:sp>
      <p:graphicFrame>
        <p:nvGraphicFramePr>
          <p:cNvPr id="262" name="表格 30">
            <a:extLst>
              <a:ext uri="{FF2B5EF4-FFF2-40B4-BE49-F238E27FC236}">
                <a16:creationId xmlns="" xmlns:a16="http://schemas.microsoft.com/office/drawing/2014/main" id="{B007071B-409E-D512-93EF-5291488B292A}"/>
              </a:ext>
            </a:extLst>
          </p:cNvPr>
          <p:cNvGraphicFramePr>
            <a:graphicFrameLocks noGrp="1"/>
          </p:cNvGraphicFramePr>
          <p:nvPr>
            <p:extLst>
              <p:ext uri="{D42A27DB-BD31-4B8C-83A1-F6EECF244321}">
                <p14:modId xmlns="" xmlns:p14="http://schemas.microsoft.com/office/powerpoint/2010/main" val="2265733014"/>
              </p:ext>
            </p:extLst>
          </p:nvPr>
        </p:nvGraphicFramePr>
        <p:xfrm>
          <a:off x="4354437" y="2147106"/>
          <a:ext cx="1797828" cy="1024593"/>
        </p:xfrm>
        <a:graphic>
          <a:graphicData uri="http://schemas.openxmlformats.org/drawingml/2006/table">
            <a:tbl>
              <a:tblPr>
                <a:tableStyleId>{5940675A-B579-460E-94D1-54222C63F5DA}</a:tableStyleId>
              </a:tblPr>
              <a:tblGrid>
                <a:gridCol w="898914">
                  <a:extLst>
                    <a:ext uri="{9D8B030D-6E8A-4147-A177-3AD203B41FA5}">
                      <a16:colId xmlns="" xmlns:a16="http://schemas.microsoft.com/office/drawing/2014/main" val="3433979995"/>
                    </a:ext>
                  </a:extLst>
                </a:gridCol>
                <a:gridCol w="898914">
                  <a:extLst>
                    <a:ext uri="{9D8B030D-6E8A-4147-A177-3AD203B41FA5}">
                      <a16:colId xmlns="" xmlns:a16="http://schemas.microsoft.com/office/drawing/2014/main" val="3727974752"/>
                    </a:ext>
                  </a:extLst>
                </a:gridCol>
              </a:tblGrid>
              <a:tr h="341531">
                <a:tc gridSpan="2">
                  <a:txBody>
                    <a:bodyPr/>
                    <a:lstStyle/>
                    <a:p>
                      <a:pPr algn="ctr"/>
                      <a:r>
                        <a:rPr lang="en-GB" sz="1500" b="1" dirty="0">
                          <a:solidFill>
                            <a:srgbClr val="FF0000"/>
                          </a:solidFill>
                          <a:latin typeface="微軟正黑體" panose="020B0604030504040204" pitchFamily="34" charset="-120"/>
                          <a:ea typeface="微軟正黑體" panose="020B0604030504040204" pitchFamily="34" charset="-120"/>
                        </a:rPr>
                        <a:t> </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341531">
                <a:tc gridSpan="2">
                  <a:txBody>
                    <a:bodyPr/>
                    <a:lstStyle/>
                    <a:p>
                      <a:pPr algn="ctr" eaLnBrk="0" hangingPunct="0"/>
                      <a:r>
                        <a:rPr kumimoji="0" lang="zh-TW" altLang="en-US" sz="1500" dirty="0">
                          <a:latin typeface="微軟正黑體" panose="020B0604030504040204" pitchFamily="34" charset="-120"/>
                          <a:ea typeface="微軟正黑體" panose="020B0604030504040204" pitchFamily="34" charset="-120"/>
                        </a:rPr>
                        <a:t>點收次品數量</a:t>
                      </a: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41531">
                <a:tc>
                  <a:txBody>
                    <a:bodyPr/>
                    <a:lstStyle/>
                    <a:p>
                      <a:pPr algn="ct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cxnSp>
        <p:nvCxnSpPr>
          <p:cNvPr id="263" name="肘形接點 68">
            <a:extLst>
              <a:ext uri="{FF2B5EF4-FFF2-40B4-BE49-F238E27FC236}">
                <a16:creationId xmlns="" xmlns:a16="http://schemas.microsoft.com/office/drawing/2014/main" id="{6E97F8CD-B311-BC81-3D10-B644716D73B4}"/>
              </a:ext>
            </a:extLst>
          </p:cNvPr>
          <p:cNvCxnSpPr>
            <a:cxnSpLocks/>
            <a:stCxn id="262" idx="2"/>
            <a:endCxn id="24" idx="0"/>
          </p:cNvCxnSpPr>
          <p:nvPr/>
        </p:nvCxnSpPr>
        <p:spPr>
          <a:xfrm rot="16200000" flipH="1">
            <a:off x="4822037" y="3603011"/>
            <a:ext cx="869909" cy="728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5" name="肘形接點 68">
            <a:extLst>
              <a:ext uri="{FF2B5EF4-FFF2-40B4-BE49-F238E27FC236}">
                <a16:creationId xmlns="" xmlns:a16="http://schemas.microsoft.com/office/drawing/2014/main" id="{B364051E-E9AE-3C88-707D-09A5B7212EF1}"/>
              </a:ext>
            </a:extLst>
          </p:cNvPr>
          <p:cNvCxnSpPr>
            <a:cxnSpLocks/>
            <a:stCxn id="24" idx="3"/>
            <a:endCxn id="8" idx="1"/>
          </p:cNvCxnSpPr>
          <p:nvPr/>
        </p:nvCxnSpPr>
        <p:spPr>
          <a:xfrm>
            <a:off x="6159548" y="4637142"/>
            <a:ext cx="1554791" cy="360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 name="流程圖: 換頁接點 52">
            <a:extLst>
              <a:ext uri="{FF2B5EF4-FFF2-40B4-BE49-F238E27FC236}">
                <a16:creationId xmlns="" xmlns:a16="http://schemas.microsoft.com/office/drawing/2014/main" id="{E831C5B7-75C8-EBB0-C9DD-60EE8DBE8E65}"/>
              </a:ext>
            </a:extLst>
          </p:cNvPr>
          <p:cNvSpPr/>
          <p:nvPr/>
        </p:nvSpPr>
        <p:spPr bwMode="auto">
          <a:xfrm>
            <a:off x="1037654" y="2430619"/>
            <a:ext cx="560627" cy="467375"/>
          </a:xfrm>
          <a:prstGeom prst="flowChartOffpageConnec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en-US" altLang="zh-TW" dirty="0">
                <a:latin typeface="微軟正黑體" panose="020B0604030504040204" pitchFamily="34" charset="-120"/>
                <a:ea typeface="微軟正黑體" panose="020B0604030504040204" pitchFamily="34" charset="-120"/>
              </a:rPr>
              <a:t>P1</a:t>
            </a:r>
            <a:endParaRPr lang="zh-TW" altLang="en-US" dirty="0">
              <a:latin typeface="微軟正黑體" panose="020B0604030504040204" pitchFamily="34" charset="-120"/>
              <a:ea typeface="微軟正黑體" panose="020B0604030504040204" pitchFamily="34" charset="-120"/>
            </a:endParaRPr>
          </a:p>
        </p:txBody>
      </p:sp>
      <p:sp>
        <p:nvSpPr>
          <p:cNvPr id="24" name="流程圖: 決策 50">
            <a:extLst>
              <a:ext uri="{FF2B5EF4-FFF2-40B4-BE49-F238E27FC236}">
                <a16:creationId xmlns="" xmlns:a16="http://schemas.microsoft.com/office/drawing/2014/main" id="{9CA001F4-2837-7B29-EB08-25F4BA1ADD93}"/>
              </a:ext>
            </a:extLst>
          </p:cNvPr>
          <p:cNvSpPr/>
          <p:nvPr/>
        </p:nvSpPr>
        <p:spPr bwMode="auto">
          <a:xfrm>
            <a:off x="4361720" y="4041607"/>
            <a:ext cx="1797828" cy="1191067"/>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是否入庫管理</a:t>
            </a:r>
            <a:r>
              <a:rPr lang="en-US" altLang="zh-TW" sz="1500" dirty="0">
                <a:latin typeface="微軟正黑體" panose="020B0604030504040204" pitchFamily="34" charset="-120"/>
                <a:ea typeface="微軟正黑體" panose="020B0604030504040204" pitchFamily="34" charset="-120"/>
              </a:rPr>
              <a:t>?</a:t>
            </a:r>
            <a:endParaRPr lang="zh-TW" altLang="en-US" sz="1500" dirty="0">
              <a:latin typeface="微軟正黑體" panose="020B0604030504040204" pitchFamily="34" charset="-120"/>
              <a:ea typeface="微軟正黑體" panose="020B0604030504040204" pitchFamily="34" charset="-120"/>
            </a:endParaRPr>
          </a:p>
        </p:txBody>
      </p:sp>
      <p:cxnSp>
        <p:nvCxnSpPr>
          <p:cNvPr id="36" name="肘形接點 68">
            <a:extLst>
              <a:ext uri="{FF2B5EF4-FFF2-40B4-BE49-F238E27FC236}">
                <a16:creationId xmlns="" xmlns:a16="http://schemas.microsoft.com/office/drawing/2014/main" id="{D1F2CAA0-111D-4EC8-5D66-56C0871EC793}"/>
              </a:ext>
            </a:extLst>
          </p:cNvPr>
          <p:cNvCxnSpPr>
            <a:cxnSpLocks/>
            <a:stCxn id="24" idx="2"/>
            <a:endCxn id="13" idx="0"/>
          </p:cNvCxnSpPr>
          <p:nvPr/>
        </p:nvCxnSpPr>
        <p:spPr>
          <a:xfrm rot="5400000">
            <a:off x="4872028" y="5620057"/>
            <a:ext cx="775990" cy="122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63" name="TextBox 46">
            <a:extLst>
              <a:ext uri="{FF2B5EF4-FFF2-40B4-BE49-F238E27FC236}">
                <a16:creationId xmlns="" xmlns:a16="http://schemas.microsoft.com/office/drawing/2014/main" id="{548BB833-A07D-A7E0-766D-1DBDE5B16839}"/>
              </a:ext>
            </a:extLst>
          </p:cNvPr>
          <p:cNvSpPr txBox="1"/>
          <p:nvPr/>
        </p:nvSpPr>
        <p:spPr>
          <a:xfrm>
            <a:off x="5205024" y="5322564"/>
            <a:ext cx="404262" cy="369389"/>
          </a:xfrm>
          <a:prstGeom prst="rect">
            <a:avLst/>
          </a:prstGeom>
          <a:noFill/>
        </p:spPr>
        <p:txBody>
          <a:bodyPr wrap="square" lIns="137160" tIns="68580" rIns="137160" bIns="68580" rtlCol="0">
            <a:spAutoFit/>
          </a:bodyPr>
          <a:lstStyle/>
          <a:p>
            <a:r>
              <a:rPr lang="zh-TW" altLang="en-US" sz="1500" dirty="0"/>
              <a:t>是</a:t>
            </a:r>
          </a:p>
        </p:txBody>
      </p:sp>
      <p:sp>
        <p:nvSpPr>
          <p:cNvPr id="195" name="TextBox 46">
            <a:extLst>
              <a:ext uri="{FF2B5EF4-FFF2-40B4-BE49-F238E27FC236}">
                <a16:creationId xmlns="" xmlns:a16="http://schemas.microsoft.com/office/drawing/2014/main" id="{5394CBEA-BE2B-446A-74DA-39BCFA40263A}"/>
              </a:ext>
            </a:extLst>
          </p:cNvPr>
          <p:cNvSpPr txBox="1"/>
          <p:nvPr/>
        </p:nvSpPr>
        <p:spPr>
          <a:xfrm>
            <a:off x="6100173" y="4208767"/>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204" name="肘形接點 68">
            <a:extLst>
              <a:ext uri="{FF2B5EF4-FFF2-40B4-BE49-F238E27FC236}">
                <a16:creationId xmlns="" xmlns:a16="http://schemas.microsoft.com/office/drawing/2014/main" id="{2CD34477-B065-AFA7-8195-2512FE7B9FEC}"/>
              </a:ext>
            </a:extLst>
          </p:cNvPr>
          <p:cNvCxnSpPr>
            <a:cxnSpLocks/>
            <a:stCxn id="211" idx="3"/>
            <a:endCxn id="303" idx="1"/>
          </p:cNvCxnSpPr>
          <p:nvPr/>
        </p:nvCxnSpPr>
        <p:spPr>
          <a:xfrm flipV="1">
            <a:off x="6196301" y="7338239"/>
            <a:ext cx="5903418" cy="117436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211" name="表格 30">
            <a:extLst>
              <a:ext uri="{FF2B5EF4-FFF2-40B4-BE49-F238E27FC236}">
                <a16:creationId xmlns="" xmlns:a16="http://schemas.microsoft.com/office/drawing/2014/main" id="{EF118709-5072-8FD5-1CAD-C11B35A097F0}"/>
              </a:ext>
            </a:extLst>
          </p:cNvPr>
          <p:cNvGraphicFramePr>
            <a:graphicFrameLocks noGrp="1"/>
          </p:cNvGraphicFramePr>
          <p:nvPr>
            <p:extLst>
              <p:ext uri="{D42A27DB-BD31-4B8C-83A1-F6EECF244321}">
                <p14:modId xmlns="" xmlns:p14="http://schemas.microsoft.com/office/powerpoint/2010/main" val="116471013"/>
              </p:ext>
            </p:extLst>
          </p:nvPr>
        </p:nvGraphicFramePr>
        <p:xfrm>
          <a:off x="4335977" y="7893311"/>
          <a:ext cx="1860324" cy="1238591"/>
        </p:xfrm>
        <a:graphic>
          <a:graphicData uri="http://schemas.openxmlformats.org/drawingml/2006/table">
            <a:tbl>
              <a:tblPr>
                <a:tableStyleId>{5940675A-B579-460E-94D1-54222C63F5DA}</a:tableStyleId>
              </a:tblPr>
              <a:tblGrid>
                <a:gridCol w="930162">
                  <a:extLst>
                    <a:ext uri="{9D8B030D-6E8A-4147-A177-3AD203B41FA5}">
                      <a16:colId xmlns="" xmlns:a16="http://schemas.microsoft.com/office/drawing/2014/main" val="3433979995"/>
                    </a:ext>
                  </a:extLst>
                </a:gridCol>
                <a:gridCol w="930162">
                  <a:extLst>
                    <a:ext uri="{9D8B030D-6E8A-4147-A177-3AD203B41FA5}">
                      <a16:colId xmlns="" xmlns:a16="http://schemas.microsoft.com/office/drawing/2014/main" val="3727974752"/>
                    </a:ext>
                  </a:extLst>
                </a:gridCol>
              </a:tblGrid>
              <a:tr h="336652">
                <a:tc gridSpan="2">
                  <a:txBody>
                    <a:bodyPr/>
                    <a:lstStyle/>
                    <a:p>
                      <a:pPr algn="ctr"/>
                      <a:r>
                        <a:rPr lang="en-GB" sz="1500" b="1" dirty="0" smtClean="0">
                          <a:solidFill>
                            <a:schemeClr val="tx1"/>
                          </a:solidFill>
                          <a:latin typeface="微軟正黑體" panose="020B0604030504040204" pitchFamily="34" charset="-120"/>
                          <a:ea typeface="微軟正黑體" panose="020B0604030504040204" pitchFamily="34" charset="-120"/>
                        </a:rPr>
                        <a:t>ZMM040_1~_3</a:t>
                      </a: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工單批量入庫</a:t>
                      </a:r>
                      <a:endParaRPr lang="en-US" altLang="zh-TW" sz="1500" dirty="0">
                        <a:latin typeface="微軟正黑體" panose="020B0604030504040204" pitchFamily="34" charset="-120"/>
                        <a:ea typeface="微軟正黑體" panose="020B0604030504040204" pitchFamily="34" charset="-120"/>
                      </a:endParaRPr>
                    </a:p>
                    <a:p>
                      <a:pPr algn="ctr" eaLnBrk="0" hangingPunct="0"/>
                      <a:r>
                        <a:rPr kumimoji="0" lang="en-US" altLang="zh-TW"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rPr>
                        <a:t>(Mvt.101)</a:t>
                      </a:r>
                      <a:endParaRPr kumimoji="0" lang="zh-TW" altLang="en-US" sz="1500" b="0" i="0" u="none" strike="noStrike" cap="none" dirty="0">
                        <a:solidFill>
                          <a:schemeClr val="tx1"/>
                        </a:solidFill>
                        <a:latin typeface="微軟正黑體" panose="020B0604030504040204" pitchFamily="34" charset="-120"/>
                        <a:ea typeface="微軟正黑體" panose="020B0604030504040204" pitchFamily="34" charset="-120"/>
                        <a:cs typeface="+mn-cs"/>
                        <a:sym typeface="Arial"/>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US" sz="1500" dirty="0">
                          <a:latin typeface="微軟正黑體" panose="020B0604030504040204" pitchFamily="34" charset="-120"/>
                          <a:ea typeface="微軟正黑體" panose="020B0604030504040204" pitchFamily="34" charset="-120"/>
                        </a:rPr>
                        <a:t>SAP</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sp>
        <p:nvSpPr>
          <p:cNvPr id="303" name="流程圖: 結束點 302">
            <a:extLst>
              <a:ext uri="{FF2B5EF4-FFF2-40B4-BE49-F238E27FC236}">
                <a16:creationId xmlns="" xmlns:a16="http://schemas.microsoft.com/office/drawing/2014/main" id="{ECFA2BF2-44DC-C2EA-5CB8-DD2EF734B516}"/>
              </a:ext>
            </a:extLst>
          </p:cNvPr>
          <p:cNvSpPr/>
          <p:nvPr/>
        </p:nvSpPr>
        <p:spPr bwMode="auto">
          <a:xfrm>
            <a:off x="12099719" y="6946957"/>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307" name="肘形接點 68">
            <a:extLst>
              <a:ext uri="{FF2B5EF4-FFF2-40B4-BE49-F238E27FC236}">
                <a16:creationId xmlns="" xmlns:a16="http://schemas.microsoft.com/office/drawing/2014/main" id="{E704B052-20BE-E1E7-8343-870E8D441D10}"/>
              </a:ext>
            </a:extLst>
          </p:cNvPr>
          <p:cNvCxnSpPr>
            <a:cxnSpLocks/>
            <a:stCxn id="8" idx="3"/>
            <a:endCxn id="303" idx="1"/>
          </p:cNvCxnSpPr>
          <p:nvPr/>
        </p:nvCxnSpPr>
        <p:spPr>
          <a:xfrm>
            <a:off x="9574663" y="4640743"/>
            <a:ext cx="2525057" cy="269749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aphicFrame>
        <p:nvGraphicFramePr>
          <p:cNvPr id="8" name="表格 30">
            <a:extLst>
              <a:ext uri="{FF2B5EF4-FFF2-40B4-BE49-F238E27FC236}">
                <a16:creationId xmlns="" xmlns:a16="http://schemas.microsoft.com/office/drawing/2014/main" id="{3FDB8448-029D-9735-DF5C-1F8F874919AB}"/>
              </a:ext>
            </a:extLst>
          </p:cNvPr>
          <p:cNvGraphicFramePr>
            <a:graphicFrameLocks noGrp="1"/>
          </p:cNvGraphicFramePr>
          <p:nvPr>
            <p:extLst>
              <p:ext uri="{D42A27DB-BD31-4B8C-83A1-F6EECF244321}">
                <p14:modId xmlns="" xmlns:p14="http://schemas.microsoft.com/office/powerpoint/2010/main" val="2098122246"/>
              </p:ext>
            </p:extLst>
          </p:nvPr>
        </p:nvGraphicFramePr>
        <p:xfrm>
          <a:off x="7714338" y="4021447"/>
          <a:ext cx="1860324" cy="1238591"/>
        </p:xfrm>
        <a:graphic>
          <a:graphicData uri="http://schemas.openxmlformats.org/drawingml/2006/table">
            <a:tbl>
              <a:tblPr>
                <a:tableStyleId>{5940675A-B579-460E-94D1-54222C63F5DA}</a:tableStyleId>
              </a:tblPr>
              <a:tblGrid>
                <a:gridCol w="930162">
                  <a:extLst>
                    <a:ext uri="{9D8B030D-6E8A-4147-A177-3AD203B41FA5}">
                      <a16:colId xmlns="" xmlns:a16="http://schemas.microsoft.com/office/drawing/2014/main" val="3433979995"/>
                    </a:ext>
                  </a:extLst>
                </a:gridCol>
                <a:gridCol w="930162">
                  <a:extLst>
                    <a:ext uri="{9D8B030D-6E8A-4147-A177-3AD203B41FA5}">
                      <a16:colId xmlns="" xmlns:a16="http://schemas.microsoft.com/office/drawing/2014/main" val="3727974752"/>
                    </a:ext>
                  </a:extLst>
                </a:gridCol>
              </a:tblGrid>
              <a:tr h="336652">
                <a:tc gridSpan="2">
                  <a:txBody>
                    <a:bodyPr/>
                    <a:lstStyle/>
                    <a:p>
                      <a:pPr algn="ctr"/>
                      <a:endParaRPr lang="en-GB" sz="1500" b="1" dirty="0">
                        <a:solidFill>
                          <a:schemeClr val="tx1"/>
                        </a:solidFill>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3125084632"/>
                  </a:ext>
                </a:extLst>
              </a:tr>
              <a:tr h="565287">
                <a:tc gridSpan="2">
                  <a:txBody>
                    <a:bodyPr/>
                    <a:lstStyle/>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en-US" altLang="zh-TW" sz="1500" dirty="0">
                          <a:latin typeface="微軟正黑體" panose="020B0604030504040204" pitchFamily="34" charset="-120"/>
                          <a:ea typeface="微軟正黑體" panose="020B0604030504040204" pitchFamily="34" charset="-120"/>
                        </a:rPr>
                        <a:t>B</a:t>
                      </a:r>
                      <a:r>
                        <a:rPr lang="zh-TW" altLang="en-US" sz="1500" dirty="0">
                          <a:latin typeface="微軟正黑體" panose="020B0604030504040204" pitchFamily="34" charset="-120"/>
                          <a:ea typeface="微軟正黑體" panose="020B0604030504040204" pitchFamily="34" charset="-120"/>
                        </a:rPr>
                        <a:t>品或</a:t>
                      </a:r>
                      <a:r>
                        <a:rPr lang="en-US" altLang="zh-TW" sz="1500" dirty="0">
                          <a:latin typeface="微軟正黑體" panose="020B0604030504040204" pitchFamily="34" charset="-120"/>
                          <a:ea typeface="微軟正黑體" panose="020B0604030504040204" pitchFamily="34" charset="-120"/>
                        </a:rPr>
                        <a:t>C</a:t>
                      </a:r>
                      <a:r>
                        <a:rPr lang="zh-TW" altLang="en-US" sz="1500" dirty="0">
                          <a:latin typeface="微軟正黑體" panose="020B0604030504040204" pitchFamily="34" charset="-120"/>
                          <a:ea typeface="微軟正黑體" panose="020B0604030504040204" pitchFamily="34" charset="-120"/>
                        </a:rPr>
                        <a:t>品</a:t>
                      </a:r>
                      <a:endParaRPr lang="en-US" altLang="zh-TW" sz="1500" dirty="0">
                        <a:latin typeface="微軟正黑體" panose="020B0604030504040204" pitchFamily="34" charset="-120"/>
                        <a:ea typeface="微軟正黑體" panose="020B0604030504040204" pitchFamily="34" charset="-120"/>
                      </a:endParaRPr>
                    </a:p>
                    <a:p>
                      <a:pPr marL="0" marR="0" lvl="0" indent="0" algn="ctr" defTabSz="914400" rtl="0" eaLnBrk="0" fontAlgn="auto" latinLnBrk="0" hangingPunct="0">
                        <a:lnSpc>
                          <a:spcPct val="100000"/>
                        </a:lnSpc>
                        <a:spcBef>
                          <a:spcPts val="0"/>
                        </a:spcBef>
                        <a:spcAft>
                          <a:spcPts val="0"/>
                        </a:spcAft>
                        <a:buClr>
                          <a:srgbClr val="000000"/>
                        </a:buClr>
                        <a:buSzTx/>
                        <a:buFont typeface="Arial"/>
                        <a:buNone/>
                        <a:tabLst/>
                        <a:defRPr/>
                      </a:pPr>
                      <a:r>
                        <a:rPr lang="zh-TW" altLang="en-US" sz="1500" dirty="0">
                          <a:latin typeface="微軟正黑體" panose="020B0604030504040204" pitchFamily="34" charset="-120"/>
                          <a:ea typeface="微軟正黑體" panose="020B0604030504040204" pitchFamily="34" charset="-120"/>
                        </a:rPr>
                        <a:t>檔案管理</a:t>
                      </a:r>
                      <a:endParaRPr lang="en-US" altLang="zh-TW" sz="1500" dirty="0">
                        <a:latin typeface="微軟正黑體" panose="020B0604030504040204" pitchFamily="34" charset="-120"/>
                        <a:ea typeface="微軟正黑體" panose="020B0604030504040204" pitchFamily="34" charset="-120"/>
                      </a:endParaRPr>
                    </a:p>
                  </a:txBody>
                  <a:tcPr marL="124691" marR="124691"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hMerge="1">
                  <a:txBody>
                    <a:bodyPr/>
                    <a:lstStyle/>
                    <a:p>
                      <a:endParaRPr lang="en-GB" sz="1000" dirty="0"/>
                    </a:p>
                  </a:txBody>
                  <a:tcPr/>
                </a:tc>
                <a:extLst>
                  <a:ext uri="{0D108BD9-81ED-4DB2-BD59-A6C34878D82A}">
                    <a16:rowId xmlns="" xmlns:a16="http://schemas.microsoft.com/office/drawing/2014/main" val="1006350340"/>
                  </a:ext>
                </a:extLst>
              </a:tr>
              <a:tr h="336652">
                <a:tc>
                  <a:txBody>
                    <a:bodyPr/>
                    <a:lstStyle/>
                    <a:p>
                      <a:pPr algn="ctr"/>
                      <a:r>
                        <a:rPr lang="en-GB" sz="1500" dirty="0">
                          <a:latin typeface="微軟正黑體" panose="020B0604030504040204" pitchFamily="34" charset="-120"/>
                          <a:ea typeface="微軟正黑體" panose="020B0604030504040204" pitchFamily="34" charset="-120"/>
                        </a:rPr>
                        <a:t>EXCEL</a:t>
                      </a: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zh-TW" altLang="en-US" sz="1500" dirty="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a:txBody>
                  <a:tcPr marL="54000" marR="54000" marT="54008" marB="54008">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 xmlns:a16="http://schemas.microsoft.com/office/drawing/2014/main" val="2053335046"/>
                  </a:ext>
                </a:extLst>
              </a:tr>
            </a:tbl>
          </a:graphicData>
        </a:graphic>
      </p:graphicFrame>
      <p:grpSp>
        <p:nvGrpSpPr>
          <p:cNvPr id="3" name="Group 220">
            <a:extLst>
              <a:ext uri="{FF2B5EF4-FFF2-40B4-BE49-F238E27FC236}">
                <a16:creationId xmlns="" xmlns:a16="http://schemas.microsoft.com/office/drawing/2014/main" id="{FF7694F1-98E3-784F-67EA-38865D7F95E6}"/>
              </a:ext>
            </a:extLst>
          </p:cNvPr>
          <p:cNvGrpSpPr/>
          <p:nvPr/>
        </p:nvGrpSpPr>
        <p:grpSpPr>
          <a:xfrm>
            <a:off x="5971035" y="7716062"/>
            <a:ext cx="533400" cy="408605"/>
            <a:chOff x="5906184" y="1486857"/>
            <a:chExt cx="355600" cy="272361"/>
          </a:xfrm>
        </p:grpSpPr>
        <p:sp>
          <p:nvSpPr>
            <p:cNvPr id="199" name="Oval 221">
              <a:extLst>
                <a:ext uri="{FF2B5EF4-FFF2-40B4-BE49-F238E27FC236}">
                  <a16:creationId xmlns="" xmlns:a16="http://schemas.microsoft.com/office/drawing/2014/main" id="{56A5C6DF-73D5-86CA-594A-7FD4CCAC4A8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00" name="TextBox 222">
              <a:extLst>
                <a:ext uri="{FF2B5EF4-FFF2-40B4-BE49-F238E27FC236}">
                  <a16:creationId xmlns="" xmlns:a16="http://schemas.microsoft.com/office/drawing/2014/main" id="{10E29497-1B14-A706-D09A-7F9E1661CDD4}"/>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sp>
        <p:nvSpPr>
          <p:cNvPr id="13" name="流程圖: 預設處理作業 21">
            <a:extLst>
              <a:ext uri="{FF2B5EF4-FFF2-40B4-BE49-F238E27FC236}">
                <a16:creationId xmlns="" xmlns:a16="http://schemas.microsoft.com/office/drawing/2014/main" id="{11613AD9-0D2F-2027-FB39-6D8600AEDDDD}"/>
              </a:ext>
            </a:extLst>
          </p:cNvPr>
          <p:cNvSpPr/>
          <p:nvPr/>
        </p:nvSpPr>
        <p:spPr bwMode="auto">
          <a:xfrm>
            <a:off x="4352852" y="6008664"/>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PP-PC-0030-02</a:t>
            </a:r>
          </a:p>
          <a:p>
            <a:pPr algn="ctr" eaLnBrk="0" hangingPunct="0"/>
            <a:r>
              <a:rPr lang="zh-TW" altLang="en-US" sz="1500" dirty="0">
                <a:latin typeface="微軟正黑體" panose="020B0604030504040204" pitchFamily="34" charset="-120"/>
                <a:ea typeface="微軟正黑體" panose="020B0604030504040204" pitchFamily="34" charset="-120"/>
              </a:rPr>
              <a:t>補料工單維護作業</a:t>
            </a:r>
          </a:p>
        </p:txBody>
      </p:sp>
      <p:cxnSp>
        <p:nvCxnSpPr>
          <p:cNvPr id="16" name="肘形接點 68">
            <a:extLst>
              <a:ext uri="{FF2B5EF4-FFF2-40B4-BE49-F238E27FC236}">
                <a16:creationId xmlns="" xmlns:a16="http://schemas.microsoft.com/office/drawing/2014/main" id="{9485B5D4-44B2-B9D5-49D8-91A07F8DFA33}"/>
              </a:ext>
            </a:extLst>
          </p:cNvPr>
          <p:cNvCxnSpPr>
            <a:cxnSpLocks/>
            <a:stCxn id="6" idx="3"/>
            <a:endCxn id="262" idx="1"/>
          </p:cNvCxnSpPr>
          <p:nvPr/>
        </p:nvCxnSpPr>
        <p:spPr>
          <a:xfrm flipV="1">
            <a:off x="1598280" y="2659403"/>
            <a:ext cx="2756157" cy="490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4" name="Group 220">
            <a:extLst>
              <a:ext uri="{FF2B5EF4-FFF2-40B4-BE49-F238E27FC236}">
                <a16:creationId xmlns="" xmlns:a16="http://schemas.microsoft.com/office/drawing/2014/main" id="{F848FA31-285F-581D-D212-24891BC0A21D}"/>
              </a:ext>
            </a:extLst>
          </p:cNvPr>
          <p:cNvGrpSpPr/>
          <p:nvPr/>
        </p:nvGrpSpPr>
        <p:grpSpPr>
          <a:xfrm>
            <a:off x="5899263" y="1942803"/>
            <a:ext cx="533400" cy="408605"/>
            <a:chOff x="5906184" y="1486857"/>
            <a:chExt cx="355600" cy="272361"/>
          </a:xfrm>
        </p:grpSpPr>
        <p:sp>
          <p:nvSpPr>
            <p:cNvPr id="228" name="Oval 221">
              <a:extLst>
                <a:ext uri="{FF2B5EF4-FFF2-40B4-BE49-F238E27FC236}">
                  <a16:creationId xmlns="" xmlns:a16="http://schemas.microsoft.com/office/drawing/2014/main" id="{356A97A5-CB31-0C92-3F61-4C7E38116F9B}"/>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29" name="TextBox 222">
              <a:extLst>
                <a:ext uri="{FF2B5EF4-FFF2-40B4-BE49-F238E27FC236}">
                  <a16:creationId xmlns="" xmlns:a16="http://schemas.microsoft.com/office/drawing/2014/main" id="{47B4CE2C-6B17-313E-C49B-E24DC4A790A8}"/>
                </a:ext>
              </a:extLst>
            </p:cNvPr>
            <p:cNvSpPr txBox="1"/>
            <p:nvPr/>
          </p:nvSpPr>
          <p:spPr>
            <a:xfrm>
              <a:off x="5906184" y="1507079"/>
              <a:ext cx="355600" cy="215410"/>
            </a:xfrm>
            <a:prstGeom prst="rect">
              <a:avLst/>
            </a:prstGeom>
            <a:noFill/>
          </p:spPr>
          <p:txBody>
            <a:bodyPr wrap="square" rtlCol="0">
              <a:spAutoFit/>
            </a:bodyPr>
            <a:lstStyle/>
            <a:p>
              <a:r>
                <a:rPr lang="en-US" altLang="zh-TW" sz="1500" dirty="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cxnSp>
        <p:nvCxnSpPr>
          <p:cNvPr id="27" name="肘形接點 68">
            <a:extLst>
              <a:ext uri="{FF2B5EF4-FFF2-40B4-BE49-F238E27FC236}">
                <a16:creationId xmlns="" xmlns:a16="http://schemas.microsoft.com/office/drawing/2014/main" id="{EF1A6BE1-0E2C-7C1B-509D-23D7FD313766}"/>
              </a:ext>
            </a:extLst>
          </p:cNvPr>
          <p:cNvCxnSpPr>
            <a:cxnSpLocks/>
            <a:stCxn id="13" idx="2"/>
            <a:endCxn id="211" idx="0"/>
          </p:cNvCxnSpPr>
          <p:nvPr/>
        </p:nvCxnSpPr>
        <p:spPr>
          <a:xfrm rot="16200000" flipH="1">
            <a:off x="4939747" y="7566917"/>
            <a:ext cx="646055" cy="673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5" name="Group 220">
            <a:extLst>
              <a:ext uri="{FF2B5EF4-FFF2-40B4-BE49-F238E27FC236}">
                <a16:creationId xmlns="" xmlns:a16="http://schemas.microsoft.com/office/drawing/2014/main" id="{8A6EC16F-884B-29F1-1084-66DD2C7A04FF}"/>
              </a:ext>
            </a:extLst>
          </p:cNvPr>
          <p:cNvGrpSpPr/>
          <p:nvPr/>
        </p:nvGrpSpPr>
        <p:grpSpPr>
          <a:xfrm>
            <a:off x="5971035" y="5787236"/>
            <a:ext cx="533400" cy="408605"/>
            <a:chOff x="5906184" y="1486857"/>
            <a:chExt cx="355600" cy="272361"/>
          </a:xfrm>
        </p:grpSpPr>
        <p:sp>
          <p:nvSpPr>
            <p:cNvPr id="234" name="Oval 221">
              <a:extLst>
                <a:ext uri="{FF2B5EF4-FFF2-40B4-BE49-F238E27FC236}">
                  <a16:creationId xmlns="" xmlns:a16="http://schemas.microsoft.com/office/drawing/2014/main" id="{60DD73C6-6DF1-1A3E-B4FA-1270C2CFF5A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38" name="TextBox 222">
              <a:extLst>
                <a:ext uri="{FF2B5EF4-FFF2-40B4-BE49-F238E27FC236}">
                  <a16:creationId xmlns="" xmlns:a16="http://schemas.microsoft.com/office/drawing/2014/main" id="{0EFA0CB4-CAB7-9546-7982-3144A1E17869}"/>
                </a:ext>
              </a:extLst>
            </p:cNvPr>
            <p:cNvSpPr txBox="1"/>
            <p:nvPr/>
          </p:nvSpPr>
          <p:spPr>
            <a:xfrm>
              <a:off x="5906184" y="1507079"/>
              <a:ext cx="355600" cy="215410"/>
            </a:xfrm>
            <a:prstGeom prst="rect">
              <a:avLst/>
            </a:prstGeom>
            <a:noFill/>
          </p:spPr>
          <p:txBody>
            <a:bodyPr wrap="square" rtlCol="0">
              <a:spAutoFit/>
            </a:bodyPr>
            <a:lstStyle/>
            <a:p>
              <a:r>
                <a:rPr lang="zh-TW" altLang="en-US" sz="1500" dirty="0">
                  <a:latin typeface="微軟正黑體" panose="020B0604030504040204" pitchFamily="34" charset="-120"/>
                  <a:ea typeface="微軟正黑體" panose="020B0604030504040204" pitchFamily="34" charset="-120"/>
                </a:rPr>
                <a:t>２</a:t>
              </a:r>
            </a:p>
          </p:txBody>
        </p:sp>
      </p:grpSp>
      <p:sp>
        <p:nvSpPr>
          <p:cNvPr id="45"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3</a:t>
            </a:r>
            <a:endParaRPr lang="en-US" sz="1600" b="0" strike="noStrike" spc="-1" dirty="0">
              <a:solidFill>
                <a:srgbClr val="000000"/>
              </a:solidFill>
              <a:latin typeface="Calibri"/>
            </a:endParaRPr>
          </a:p>
        </p:txBody>
      </p:sp>
    </p:spTree>
    <p:extLst>
      <p:ext uri="{BB962C8B-B14F-4D97-AF65-F5344CB8AC3E}">
        <p14:creationId xmlns="" xmlns:p14="http://schemas.microsoft.com/office/powerpoint/2010/main" val="211843341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en-US" sz="2400" dirty="0" err="1">
                <a:solidFill>
                  <a:schemeClr val="dk1"/>
                </a:solidFill>
                <a:latin typeface="Arial"/>
                <a:ea typeface="Arial"/>
                <a:cs typeface="Arial"/>
                <a:sym typeface="Arial"/>
              </a:rPr>
              <a:t>流程補充說明</a:t>
            </a:r>
            <a:r>
              <a:rPr lang="en-US" sz="2400" dirty="0">
                <a:solidFill>
                  <a:schemeClr val="dk1"/>
                </a:solidFill>
                <a:latin typeface="Arial"/>
                <a:ea typeface="Arial"/>
                <a:cs typeface="Arial"/>
                <a:sym typeface="Arial"/>
              </a:rPr>
              <a:t>:</a:t>
            </a:r>
          </a:p>
          <a:p>
            <a:endParaRPr lang="en-US" sz="2400" dirty="0">
              <a:solidFill>
                <a:schemeClr val="dk1"/>
              </a:solidFill>
            </a:endParaRPr>
          </a:p>
          <a:p>
            <a:r>
              <a:rPr lang="zh-TW" altLang="en-US" sz="2400" dirty="0">
                <a:solidFill>
                  <a:schemeClr val="dk1"/>
                </a:solidFill>
              </a:rPr>
              <a:t>各品牌對於</a:t>
            </a:r>
            <a:r>
              <a:rPr lang="en-US" altLang="zh-TW" sz="2400" dirty="0">
                <a:solidFill>
                  <a:schemeClr val="dk1"/>
                </a:solidFill>
              </a:rPr>
              <a:t>B</a:t>
            </a:r>
            <a:r>
              <a:rPr lang="zh-TW" altLang="en-US" sz="2400" dirty="0">
                <a:solidFill>
                  <a:schemeClr val="dk1"/>
                </a:solidFill>
              </a:rPr>
              <a:t>級品與</a:t>
            </a:r>
            <a:r>
              <a:rPr lang="en-US" altLang="zh-TW" sz="2400" dirty="0">
                <a:solidFill>
                  <a:schemeClr val="dk1"/>
                </a:solidFill>
              </a:rPr>
              <a:t>C</a:t>
            </a:r>
            <a:r>
              <a:rPr lang="zh-TW" altLang="en-US" sz="2400" dirty="0">
                <a:solidFill>
                  <a:schemeClr val="dk1"/>
                </a:solidFill>
              </a:rPr>
              <a:t>級品的庫存管理方式</a:t>
            </a:r>
            <a:r>
              <a:rPr lang="en-US" altLang="zh-TW" sz="2400" dirty="0">
                <a:solidFill>
                  <a:schemeClr val="dk1"/>
                </a:solidFill>
              </a:rPr>
              <a:t>:</a:t>
            </a:r>
          </a:p>
          <a:p>
            <a:endParaRPr lang="en-US" sz="2400" dirty="0">
              <a:solidFill>
                <a:schemeClr val="dk1"/>
              </a:solidFill>
              <a:latin typeface="Arial"/>
              <a:ea typeface="Arial"/>
              <a:cs typeface="Arial"/>
              <a:sym typeface="Arial"/>
            </a:endParaRPr>
          </a:p>
          <a:p>
            <a:r>
              <a:rPr lang="en-US" sz="2400" dirty="0">
                <a:solidFill>
                  <a:schemeClr val="dk1"/>
                </a:solidFill>
                <a:latin typeface="Arial"/>
                <a:ea typeface="Arial"/>
                <a:cs typeface="Arial"/>
                <a:sym typeface="Arial"/>
              </a:rPr>
              <a:t> </a:t>
            </a:r>
            <a:endParaRPr dirty="0"/>
          </a:p>
          <a:p>
            <a:endParaRPr dirty="0">
              <a:solidFill>
                <a:schemeClr val="dk1"/>
              </a:solidFill>
              <a:latin typeface="Arial"/>
              <a:ea typeface="Arial"/>
              <a:cs typeface="Arial"/>
              <a:sym typeface="Arial"/>
            </a:endParaRPr>
          </a:p>
        </p:txBody>
      </p:sp>
      <p:pic>
        <p:nvPicPr>
          <p:cNvPr id="5" name="圖片 4">
            <a:extLst>
              <a:ext uri="{FF2B5EF4-FFF2-40B4-BE49-F238E27FC236}">
                <a16:creationId xmlns="" xmlns:a16="http://schemas.microsoft.com/office/drawing/2014/main" id="{73239195-B6E3-246E-BBE8-7641997E662B}"/>
              </a:ext>
            </a:extLst>
          </p:cNvPr>
          <p:cNvPicPr>
            <a:picLocks noChangeAspect="1"/>
          </p:cNvPicPr>
          <p:nvPr/>
        </p:nvPicPr>
        <p:blipFill>
          <a:blip r:embed="rId3"/>
          <a:stretch>
            <a:fillRect/>
          </a:stretch>
        </p:blipFill>
        <p:spPr>
          <a:xfrm>
            <a:off x="646946" y="2903002"/>
            <a:ext cx="14497796" cy="3686933"/>
          </a:xfrm>
          <a:prstGeom prst="rect">
            <a:avLst/>
          </a:prstGeom>
        </p:spPr>
      </p:pic>
      <p:sp>
        <p:nvSpPr>
          <p:cNvPr id="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4</a:t>
            </a:r>
            <a:endParaRPr lang="en-US" sz="1600" b="0" strike="noStrike" spc="-1" dirty="0">
              <a:solidFill>
                <a:srgbClr val="000000"/>
              </a:solidFill>
              <a:latin typeface="Calibri"/>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4" name="Google Shape;204;p4"/>
          <p:cNvSpPr/>
          <p:nvPr/>
        </p:nvSpPr>
        <p:spPr>
          <a:xfrm>
            <a:off x="197114" y="1594875"/>
            <a:ext cx="17911883" cy="8400709"/>
          </a:xfrm>
          <a:prstGeom prst="rect">
            <a:avLst/>
          </a:prstGeom>
          <a:noFill/>
          <a:ln w="19050" cap="flat" cmpd="sng">
            <a:solidFill>
              <a:schemeClr val="dk1"/>
            </a:solidFill>
            <a:prstDash val="solid"/>
            <a:round/>
            <a:headEnd type="none" w="sm" len="sm"/>
            <a:tailEnd type="none" w="sm" len="sm"/>
          </a:ln>
        </p:spPr>
        <p:txBody>
          <a:bodyPr spcFirstLastPara="1" wrap="square" lIns="137138" tIns="68550" rIns="137138" bIns="68550" anchor="t" anchorCtr="0">
            <a:noAutofit/>
          </a:bodyPr>
          <a:lstStyle/>
          <a:p>
            <a:r>
              <a:rPr lang="zh-TW" altLang="en-US" sz="2400" dirty="0" smtClean="0">
                <a:solidFill>
                  <a:schemeClr val="dk1"/>
                </a:solidFill>
              </a:rPr>
              <a:t>差異說明</a:t>
            </a:r>
            <a:r>
              <a:rPr lang="en-US" altLang="zh-TW" sz="2400" dirty="0" smtClean="0">
                <a:solidFill>
                  <a:schemeClr val="dk1"/>
                </a:solidFill>
              </a:rPr>
              <a:t>:</a:t>
            </a:r>
            <a:endParaRPr lang="en-US" sz="2400" dirty="0">
              <a:solidFill>
                <a:schemeClr val="dk1"/>
              </a:solidFill>
            </a:endParaRPr>
          </a:p>
          <a:p>
            <a:r>
              <a:rPr lang="en-GB" altLang="en-US" sz="2400" dirty="0" smtClean="0">
                <a:solidFill>
                  <a:schemeClr val="dk1"/>
                </a:solidFill>
              </a:rPr>
              <a:t>1.ZMM039 </a:t>
            </a:r>
            <a:r>
              <a:rPr lang="zh-TW" altLang="en-US" sz="2400" dirty="0" smtClean="0">
                <a:solidFill>
                  <a:schemeClr val="dk1"/>
                </a:solidFill>
              </a:rPr>
              <a:t>目前的功能只能過帳到未限制，需要重新調查各品牌成品入庫時，是否需統過</a:t>
            </a:r>
            <a:r>
              <a:rPr lang="en-US" altLang="zh-TW" sz="2400" dirty="0" smtClean="0">
                <a:solidFill>
                  <a:schemeClr val="dk1"/>
                </a:solidFill>
              </a:rPr>
              <a:t>QA</a:t>
            </a:r>
            <a:r>
              <a:rPr lang="zh-TW" altLang="en-US" sz="2400" dirty="0" smtClean="0">
                <a:solidFill>
                  <a:schemeClr val="dk1"/>
                </a:solidFill>
              </a:rPr>
              <a:t>全檢來決定是否過帳到品質狀態。</a:t>
            </a:r>
            <a:endParaRPr lang="en-US" altLang="zh-TW" sz="2400" dirty="0" smtClean="0">
              <a:solidFill>
                <a:schemeClr val="dk1"/>
              </a:solidFill>
            </a:endParaRPr>
          </a:p>
          <a:p>
            <a:r>
              <a:rPr lang="en-US" altLang="zh-TW" sz="2400" dirty="0" smtClean="0">
                <a:solidFill>
                  <a:schemeClr val="dk1"/>
                </a:solidFill>
              </a:rPr>
              <a:t>2.</a:t>
            </a:r>
            <a:r>
              <a:rPr lang="zh-TW" altLang="en-US" sz="2400" dirty="0" smtClean="0">
                <a:solidFill>
                  <a:schemeClr val="dk1"/>
                </a:solidFill>
              </a:rPr>
              <a:t>使用</a:t>
            </a:r>
            <a:r>
              <a:rPr lang="en-US" altLang="zh-TW" sz="2400" dirty="0" smtClean="0">
                <a:solidFill>
                  <a:schemeClr val="dk1"/>
                </a:solidFill>
              </a:rPr>
              <a:t>QA</a:t>
            </a:r>
            <a:r>
              <a:rPr lang="zh-TW" altLang="en-US" sz="2400" dirty="0" smtClean="0">
                <a:solidFill>
                  <a:schemeClr val="dk1"/>
                </a:solidFill>
              </a:rPr>
              <a:t>全檢的品牌</a:t>
            </a:r>
            <a:r>
              <a:rPr lang="en-US" altLang="zh-TW" sz="2400" dirty="0" smtClean="0">
                <a:solidFill>
                  <a:schemeClr val="dk1"/>
                </a:solidFill>
              </a:rPr>
              <a:t>/</a:t>
            </a:r>
            <a:r>
              <a:rPr lang="zh-TW" altLang="en-US" sz="2400" dirty="0" smtClean="0">
                <a:solidFill>
                  <a:schemeClr val="dk1"/>
                </a:solidFill>
              </a:rPr>
              <a:t>工廠需要規畫成品待處理倉，用來保管</a:t>
            </a:r>
            <a:r>
              <a:rPr lang="en-US" altLang="zh-TW" sz="2400" dirty="0" smtClean="0">
                <a:solidFill>
                  <a:schemeClr val="dk1"/>
                </a:solidFill>
              </a:rPr>
              <a:t>QA</a:t>
            </a:r>
            <a:r>
              <a:rPr lang="zh-TW" altLang="en-US" sz="2400" dirty="0" smtClean="0">
                <a:solidFill>
                  <a:schemeClr val="dk1"/>
                </a:solidFill>
              </a:rPr>
              <a:t>全檢未通過的成品庫存</a:t>
            </a:r>
            <a:endParaRPr lang="en-US" altLang="zh-TW" sz="2400" dirty="0" smtClean="0">
              <a:solidFill>
                <a:schemeClr val="dk1"/>
              </a:solidFill>
            </a:endParaRPr>
          </a:p>
          <a:p>
            <a:endParaRPr dirty="0">
              <a:solidFill>
                <a:schemeClr val="dk1"/>
              </a:solidFill>
              <a:latin typeface="Arial"/>
              <a:ea typeface="Arial"/>
              <a:cs typeface="Arial"/>
              <a:sym typeface="Arial"/>
            </a:endParaRPr>
          </a:p>
        </p:txBody>
      </p:sp>
      <p:sp>
        <p:nvSpPr>
          <p:cNvPr id="7" name="TextBox 2"/>
          <p:cNvSpPr/>
          <p:nvPr/>
        </p:nvSpPr>
        <p:spPr>
          <a:xfrm>
            <a:off x="15598440" y="419400"/>
            <a:ext cx="550440" cy="3371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600" b="0" strike="noStrike" spc="-1" dirty="0" smtClean="0">
                <a:solidFill>
                  <a:schemeClr val="dk1"/>
                </a:solidFill>
                <a:latin typeface="微軟正黑體"/>
                <a:ea typeface="微軟正黑體"/>
              </a:rPr>
              <a:t>4</a:t>
            </a:r>
            <a:endParaRPr lang="en-US" sz="1600" b="0" strike="noStrike" spc="-1" dirty="0">
              <a:solidFill>
                <a:srgbClr val="000000"/>
              </a:solidFill>
              <a:latin typeface="Calibri"/>
            </a:endParaRPr>
          </a:p>
        </p:txBody>
      </p:sp>
      <p:sp>
        <p:nvSpPr>
          <p:cNvPr id="4" name="文字方塊 3"/>
          <p:cNvSpPr txBox="1"/>
          <p:nvPr/>
        </p:nvSpPr>
        <p:spPr>
          <a:xfrm>
            <a:off x="2500266" y="845872"/>
            <a:ext cx="7643866" cy="369332"/>
          </a:xfrm>
          <a:prstGeom prst="rect">
            <a:avLst/>
          </a:prstGeom>
          <a:solidFill>
            <a:schemeClr val="bg1"/>
          </a:solidFill>
        </p:spPr>
        <p:txBody>
          <a:bodyPr wrap="square" rtlCol="0">
            <a:spAutoFit/>
          </a:bodyPr>
          <a:lstStyle/>
          <a:p>
            <a:r>
              <a:rPr lang="zh-TW" altLang="en-US" dirty="0" smtClean="0"/>
              <a:t>版本一　：　ＱＡ過程需要ＳＡＰ上作品質狀態庫存管理</a:t>
            </a:r>
            <a:endParaRPr lang="zh-TW" alt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15951</TotalTime>
  <Words>933</Words>
  <Application>Collabora_Office/23.05.5.4$Linux_X86_64 LibreOffice_project/1681200a96e5ffa1bee996c23ec760042f91abfa</Application>
  <PresentationFormat>自訂</PresentationFormat>
  <Paragraphs>225</Paragraphs>
  <Slides>10</Slides>
  <Notes>6</Notes>
  <HiddenSlides>0</HiddenSlides>
  <MMClips>0</MMClips>
  <ScaleCrop>false</ScaleCrop>
  <HeadingPairs>
    <vt:vector size="4" baseType="variant">
      <vt:variant>
        <vt:lpstr>佈景主題</vt:lpstr>
      </vt:variant>
      <vt:variant>
        <vt:i4>5</vt:i4>
      </vt:variant>
      <vt:variant>
        <vt:lpstr>投影片標題</vt:lpstr>
      </vt:variant>
      <vt:variant>
        <vt:i4>10</vt:i4>
      </vt:variant>
    </vt:vector>
  </HeadingPairs>
  <TitlesOfParts>
    <vt:vector size="15"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lpstr>投影片 7</vt:lpstr>
      <vt:lpstr>投影片 8</vt:lpstr>
      <vt:lpstr>投影片 9</vt:lpstr>
      <vt:lpstr>投影片 10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151</cp:revision>
  <dcterms:created xsi:type="dcterms:W3CDTF">2023-05-31T01:27:04Z</dcterms:created>
  <dcterms:modified xsi:type="dcterms:W3CDTF">2025-07-06T02:40:46Z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