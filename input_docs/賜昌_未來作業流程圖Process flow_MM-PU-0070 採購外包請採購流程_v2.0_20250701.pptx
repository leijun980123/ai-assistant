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8"/>
  </p:notesMasterIdLst>
  <p:sldIdLst>
    <p:sldId id="261" r:id="rId2"/>
    <p:sldId id="2147472997" r:id="rId3"/>
    <p:sldId id="257" r:id="rId4"/>
    <p:sldId id="275" r:id="rId5"/>
    <p:sldId id="2147473000" r:id="rId6"/>
    <p:sldId id="2147375389" r:id="rId7"/>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29" autoAdjust="0"/>
    <p:restoredTop sz="94142"/>
  </p:normalViewPr>
  <p:slideViewPr>
    <p:cSldViewPr snapToGrid="0">
      <p:cViewPr>
        <p:scale>
          <a:sx n="54" d="100"/>
          <a:sy n="54" d="100"/>
        </p:scale>
        <p:origin x="-24" y="196"/>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2025/7/8</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7/8/2025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-0070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採購外包請採購流程</a:t>
            </a:r>
            <a:endParaRPr lang="zh-TW" altLang="en-US" sz="3600" b="0" dirty="0">
              <a:ea typeface="新細明體" panose="02020500000000000000" pitchFamily="18" charset="-120"/>
            </a:endParaRPr>
          </a:p>
        </p:txBody>
      </p:sp>
    </p:spTree>
    <p:extLst>
      <p:ext uri="{BB962C8B-B14F-4D97-AF65-F5344CB8AC3E}">
        <p14:creationId xmlns=""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293694224"/>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v2.0</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762478"/>
            <a:ext cx="8244896" cy="1153457"/>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MM-PU-0070 </a:t>
            </a:r>
            <a:r>
              <a:rPr lang="zh-TW" altLang="en-US" sz="2400" dirty="0"/>
              <a:t>採購外包請採購流程</a:t>
            </a:r>
          </a:p>
          <a:p>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0" y="781121"/>
            <a:ext cx="7218711" cy="507831"/>
          </a:xfrm>
          <a:prstGeom prst="rect">
            <a:avLst/>
          </a:prstGeom>
          <a:noFill/>
        </p:spPr>
        <p:txBody>
          <a:bodyPr wrap="square">
            <a:spAutoFit/>
          </a:bodyPr>
          <a:lstStyle/>
          <a:p>
            <a:pPr eaLnBrk="0" hangingPunct="0"/>
            <a:r>
              <a:rPr lang="en-US" altLang="zh-TW" sz="2700" b="1" dirty="0">
                <a:latin typeface="微軟正黑體" panose="020B0604030504040204" pitchFamily="34" charset="-120"/>
                <a:ea typeface="微軟正黑體" panose="020B0604030504040204" pitchFamily="34" charset="-120"/>
              </a:rPr>
              <a:t>MM-PU-0070</a:t>
            </a:r>
            <a:r>
              <a:rPr lang="zh-TW" altLang="en-US" sz="2700" b="1" dirty="0">
                <a:latin typeface="微軟正黑體" panose="020B0604030504040204" pitchFamily="34" charset="-120"/>
                <a:ea typeface="微軟正黑體" panose="020B0604030504040204" pitchFamily="34" charset="-120"/>
              </a:rPr>
              <a:t>採購外包請採購流程</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95849" y="894024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34" name="文字方塊 17">
            <a:extLst>
              <a:ext uri="{FF2B5EF4-FFF2-40B4-BE49-F238E27FC236}">
                <a16:creationId xmlns="" xmlns:a16="http://schemas.microsoft.com/office/drawing/2014/main" id="{DE52170D-3194-E094-D743-3842F95326FE}"/>
              </a:ext>
            </a:extLst>
          </p:cNvPr>
          <p:cNvSpPr txBox="1"/>
          <p:nvPr/>
        </p:nvSpPr>
        <p:spPr>
          <a:xfrm>
            <a:off x="2784259" y="1379656"/>
            <a:ext cx="3155366" cy="346249"/>
          </a:xfrm>
          <a:prstGeom prst="rect">
            <a:avLst/>
          </a:prstGeom>
          <a:noFill/>
        </p:spPr>
        <p:txBody>
          <a:bodyPr wrap="square" rtlCol="0">
            <a:spAutoFit/>
          </a:bodyPr>
          <a:lstStyle/>
          <a:p>
            <a:pPr algn="ctr"/>
            <a:r>
              <a:rPr lang="zh-TW" altLang="en-US" sz="1650" dirty="0"/>
              <a:t>倉管</a:t>
            </a:r>
          </a:p>
        </p:txBody>
      </p:sp>
      <p:sp>
        <p:nvSpPr>
          <p:cNvPr id="227" name="TextBox 53">
            <a:extLst>
              <a:ext uri="{FF2B5EF4-FFF2-40B4-BE49-F238E27FC236}">
                <a16:creationId xmlns="" xmlns:a16="http://schemas.microsoft.com/office/drawing/2014/main" id="{DF940026-96D7-3867-6425-C228DF3D29BF}"/>
              </a:ext>
            </a:extLst>
          </p:cNvPr>
          <p:cNvSpPr txBox="1"/>
          <p:nvPr/>
        </p:nvSpPr>
        <p:spPr>
          <a:xfrm>
            <a:off x="14380627" y="2064631"/>
            <a:ext cx="3594197" cy="2862322"/>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執行外包請購單貨源指派，並建立外包採購單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未使用</a:t>
            </a:r>
            <a:r>
              <a:rPr lang="en-US" altLang="zh-TW" dirty="0" smtClean="0">
                <a:latin typeface="微軟正黑體" panose="020B0604030504040204" pitchFamily="34" charset="-120"/>
                <a:ea typeface="微軟正黑體" panose="020B0604030504040204" pitchFamily="34" charset="-120"/>
              </a:rPr>
              <a:t>WMS</a:t>
            </a:r>
            <a:r>
              <a:rPr lang="zh-TW" altLang="en-US" dirty="0" smtClean="0">
                <a:latin typeface="微軟正黑體" panose="020B0604030504040204" pitchFamily="34" charset="-120"/>
                <a:ea typeface="微軟正黑體" panose="020B0604030504040204" pitchFamily="34" charset="-120"/>
              </a:rPr>
              <a:t>的工廠倉管人員使用</a:t>
            </a:r>
            <a:r>
              <a:rPr lang="en-US" altLang="zh-TW" dirty="0" smtClean="0">
                <a:latin typeface="微軟正黑體" panose="020B0604030504040204" pitchFamily="34" charset="-120"/>
                <a:ea typeface="微軟正黑體" panose="020B0604030504040204" pitchFamily="34" charset="-120"/>
              </a:rPr>
              <a:t>ZMM030</a:t>
            </a:r>
            <a:r>
              <a:rPr lang="zh-TW" altLang="en-US" dirty="0">
                <a:latin typeface="微軟正黑體" panose="020B0604030504040204" pitchFamily="34" charset="-120"/>
                <a:ea typeface="微軟正黑體" panose="020B0604030504040204" pitchFamily="34" charset="-120"/>
              </a:rPr>
              <a:t>列印外包採購單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主管簽核外包採購單、將採購單交予廠商 </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endParaRPr lang="en-US" altLang="zh-TW" dirty="0"/>
          </a:p>
        </p:txBody>
      </p:sp>
      <p:cxnSp>
        <p:nvCxnSpPr>
          <p:cNvPr id="239" name="肘形接點 68">
            <a:extLst>
              <a:ext uri="{FF2B5EF4-FFF2-40B4-BE49-F238E27FC236}">
                <a16:creationId xmlns="" xmlns:a16="http://schemas.microsoft.com/office/drawing/2014/main" id="{6710C215-D2A9-AE8A-C825-CAB394FDF69B}"/>
              </a:ext>
            </a:extLst>
          </p:cNvPr>
          <p:cNvCxnSpPr>
            <a:cxnSpLocks/>
            <a:stCxn id="40" idx="3"/>
            <a:endCxn id="35" idx="1"/>
          </p:cNvCxnSpPr>
          <p:nvPr/>
        </p:nvCxnSpPr>
        <p:spPr>
          <a:xfrm flipV="1">
            <a:off x="5165210" y="2871307"/>
            <a:ext cx="2622147" cy="107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Connector 284">
            <a:extLst>
              <a:ext uri="{FF2B5EF4-FFF2-40B4-BE49-F238E27FC236}">
                <a16:creationId xmlns="" xmlns:a16="http://schemas.microsoft.com/office/drawing/2014/main" id="{3E7471C9-C79F-A59B-27B9-5790F81098EC}"/>
              </a:ext>
            </a:extLst>
          </p:cNvPr>
          <p:cNvCxnSpPr>
            <a:cxnSpLocks/>
          </p:cNvCxnSpPr>
          <p:nvPr/>
        </p:nvCxnSpPr>
        <p:spPr>
          <a:xfrm>
            <a:off x="6424986" y="1336197"/>
            <a:ext cx="0" cy="8814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流程圖: 預設處理作業 21">
            <a:extLst>
              <a:ext uri="{FF2B5EF4-FFF2-40B4-BE49-F238E27FC236}">
                <a16:creationId xmlns="" xmlns:a16="http://schemas.microsoft.com/office/drawing/2014/main" id="{AC6A51B0-6C1D-73F2-3C4C-423A8E541FE2}"/>
              </a:ext>
            </a:extLst>
          </p:cNvPr>
          <p:cNvSpPr/>
          <p:nvPr/>
        </p:nvSpPr>
        <p:spPr bwMode="auto">
          <a:xfrm>
            <a:off x="391362" y="2210612"/>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PP-PP-0030</a:t>
            </a:r>
          </a:p>
          <a:p>
            <a:pPr algn="ctr" eaLnBrk="0" hangingPunct="0"/>
            <a:r>
              <a:rPr lang="en-US" altLang="zh-TW" sz="1500" dirty="0">
                <a:latin typeface="微軟正黑體" panose="020B0604030504040204" pitchFamily="34" charset="-120"/>
                <a:ea typeface="微軟正黑體" panose="020B0604030504040204" pitchFamily="34" charset="-120"/>
              </a:rPr>
              <a:t>MRP</a:t>
            </a:r>
            <a:r>
              <a:rPr lang="zh-TW" altLang="en-US" sz="1500" dirty="0">
                <a:latin typeface="微軟正黑體" panose="020B0604030504040204" pitchFamily="34" charset="-120"/>
                <a:ea typeface="微軟正黑體" panose="020B0604030504040204" pitchFamily="34" charset="-120"/>
              </a:rPr>
              <a:t>物料需求</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計畫維護作業</a:t>
            </a:r>
          </a:p>
        </p:txBody>
      </p:sp>
      <p:sp>
        <p:nvSpPr>
          <p:cNvPr id="5" name="流程圖: 文件 42">
            <a:extLst>
              <a:ext uri="{FF2B5EF4-FFF2-40B4-BE49-F238E27FC236}">
                <a16:creationId xmlns="" xmlns:a16="http://schemas.microsoft.com/office/drawing/2014/main" id="{D96DD5EE-A7FD-9A3B-9DE1-94649764CF1A}"/>
              </a:ext>
            </a:extLst>
          </p:cNvPr>
          <p:cNvSpPr/>
          <p:nvPr/>
        </p:nvSpPr>
        <p:spPr bwMode="auto">
          <a:xfrm>
            <a:off x="1236996" y="3472058"/>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外包請購單</a:t>
            </a:r>
          </a:p>
        </p:txBody>
      </p:sp>
      <p:cxnSp>
        <p:nvCxnSpPr>
          <p:cNvPr id="11" name="肘形接點 68">
            <a:extLst>
              <a:ext uri="{FF2B5EF4-FFF2-40B4-BE49-F238E27FC236}">
                <a16:creationId xmlns="" xmlns:a16="http://schemas.microsoft.com/office/drawing/2014/main" id="{50350848-FD00-6E2A-F8B9-D69E65232EC0}"/>
              </a:ext>
            </a:extLst>
          </p:cNvPr>
          <p:cNvCxnSpPr>
            <a:cxnSpLocks/>
            <a:stCxn id="2" idx="3"/>
            <a:endCxn id="40" idx="1"/>
          </p:cNvCxnSpPr>
          <p:nvPr/>
        </p:nvCxnSpPr>
        <p:spPr>
          <a:xfrm>
            <a:off x="2204474" y="2829812"/>
            <a:ext cx="1149936" cy="425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表格 22">
            <a:extLst>
              <a:ext uri="{FF2B5EF4-FFF2-40B4-BE49-F238E27FC236}">
                <a16:creationId xmlns="" xmlns:a16="http://schemas.microsoft.com/office/drawing/2014/main" id="{F713FD14-4079-0064-8801-0FC6A8C76364}"/>
              </a:ext>
            </a:extLst>
          </p:cNvPr>
          <p:cNvGraphicFramePr>
            <a:graphicFrameLocks noGrp="1"/>
          </p:cNvGraphicFramePr>
          <p:nvPr>
            <p:extLst>
              <p:ext uri="{D42A27DB-BD31-4B8C-83A1-F6EECF244321}">
                <p14:modId xmlns="" xmlns:p14="http://schemas.microsoft.com/office/powerpoint/2010/main" val="3315740268"/>
              </p:ext>
            </p:extLst>
          </p:nvPr>
        </p:nvGraphicFramePr>
        <p:xfrm>
          <a:off x="8104702" y="5547863"/>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669475819"/>
                    </a:ext>
                  </a:extLst>
                </a:gridCol>
                <a:gridCol w="898916">
                  <a:extLst>
                    <a:ext uri="{9D8B030D-6E8A-4147-A177-3AD203B41FA5}">
                      <a16:colId xmlns="" xmlns:a16="http://schemas.microsoft.com/office/drawing/2014/main" val="95476694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rgbClr val="FF0000"/>
                          </a:solidFill>
                          <a:latin typeface="微軟正黑體" panose="020B0604030504040204" pitchFamily="34" charset="-120"/>
                          <a:ea typeface="微軟正黑體" panose="020B0604030504040204" pitchFamily="34" charset="-120"/>
                        </a:rPr>
                        <a:t> </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4260511936"/>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主管簽核外包採購單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2473043334"/>
                  </a:ext>
                </a:extLst>
              </a:tr>
              <a:tr h="336600">
                <a:tc>
                  <a:txBody>
                    <a:bodyPr/>
                    <a:lstStyle/>
                    <a:p>
                      <a:pPr algn="ctr"/>
                      <a:r>
                        <a:rPr lang="zh-TW" altLang="en-US" sz="1500" dirty="0">
                          <a:latin typeface="微軟正黑體" panose="020B0604030504040204" pitchFamily="34" charset="-120"/>
                          <a:ea typeface="微軟正黑體" panose="020B0604030504040204" pitchFamily="34" charset="-120"/>
                        </a:rPr>
                        <a:t>紙本</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手動</a:t>
                      </a:r>
                      <a:endParaRPr lang="en-GB"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90879877"/>
                  </a:ext>
                </a:extLst>
              </a:tr>
            </a:tbl>
          </a:graphicData>
        </a:graphic>
      </p:graphicFrame>
      <p:cxnSp>
        <p:nvCxnSpPr>
          <p:cNvPr id="225" name="肘形接點 68">
            <a:extLst>
              <a:ext uri="{FF2B5EF4-FFF2-40B4-BE49-F238E27FC236}">
                <a16:creationId xmlns="" xmlns:a16="http://schemas.microsoft.com/office/drawing/2014/main" id="{7E95FEFF-2879-FA3D-28B5-98E64655FC5E}"/>
              </a:ext>
            </a:extLst>
          </p:cNvPr>
          <p:cNvCxnSpPr>
            <a:cxnSpLocks/>
            <a:endCxn id="23" idx="1"/>
          </p:cNvCxnSpPr>
          <p:nvPr/>
        </p:nvCxnSpPr>
        <p:spPr>
          <a:xfrm rot="16200000" flipH="1">
            <a:off x="5883639" y="3945999"/>
            <a:ext cx="664101" cy="37780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51" name="文字方塊 17">
            <a:extLst>
              <a:ext uri="{FF2B5EF4-FFF2-40B4-BE49-F238E27FC236}">
                <a16:creationId xmlns="" xmlns:a16="http://schemas.microsoft.com/office/drawing/2014/main" id="{8E4B5A93-04AB-998D-8BC2-5AD6295C022A}"/>
              </a:ext>
            </a:extLst>
          </p:cNvPr>
          <p:cNvSpPr txBox="1"/>
          <p:nvPr/>
        </p:nvSpPr>
        <p:spPr>
          <a:xfrm>
            <a:off x="7627316" y="1381644"/>
            <a:ext cx="2745186" cy="346249"/>
          </a:xfrm>
          <a:prstGeom prst="rect">
            <a:avLst/>
          </a:prstGeom>
          <a:noFill/>
        </p:spPr>
        <p:txBody>
          <a:bodyPr wrap="square" rtlCol="0">
            <a:spAutoFit/>
          </a:bodyPr>
          <a:lstStyle/>
          <a:p>
            <a:pPr algn="ctr"/>
            <a:r>
              <a:rPr lang="zh-TW" altLang="en-US" sz="1650" dirty="0"/>
              <a:t>倉庫主管</a:t>
            </a:r>
          </a:p>
        </p:txBody>
      </p:sp>
      <p:sp>
        <p:nvSpPr>
          <p:cNvPr id="3" name="流程圖: 預設處理作業 21">
            <a:extLst>
              <a:ext uri="{FF2B5EF4-FFF2-40B4-BE49-F238E27FC236}">
                <a16:creationId xmlns="" xmlns:a16="http://schemas.microsoft.com/office/drawing/2014/main" id="{3D261F4D-5F01-DB73-E1E3-9B854CF48E03}"/>
              </a:ext>
            </a:extLst>
          </p:cNvPr>
          <p:cNvSpPr/>
          <p:nvPr/>
        </p:nvSpPr>
        <p:spPr bwMode="auto">
          <a:xfrm>
            <a:off x="408152" y="8156227"/>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MM-PU-0010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詢報價更新</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價格主檔</a:t>
            </a:r>
            <a:r>
              <a:rPr lang="zh-TW" altLang="en-US" sz="1500" dirty="0"/>
              <a:t> </a:t>
            </a:r>
            <a:endParaRPr lang="zh-TW" altLang="en-US" sz="1500" dirty="0">
              <a:latin typeface="微軟正黑體" panose="020B0604030504040204" pitchFamily="34" charset="-120"/>
              <a:ea typeface="微軟正黑體" panose="020B0604030504040204" pitchFamily="34" charset="-120"/>
            </a:endParaRPr>
          </a:p>
        </p:txBody>
      </p:sp>
      <p:cxnSp>
        <p:nvCxnSpPr>
          <p:cNvPr id="6" name="肘形接點 68">
            <a:extLst>
              <a:ext uri="{FF2B5EF4-FFF2-40B4-BE49-F238E27FC236}">
                <a16:creationId xmlns="" xmlns:a16="http://schemas.microsoft.com/office/drawing/2014/main" id="{3A11571D-C287-4294-BD1B-33DF8D8A2460}"/>
              </a:ext>
            </a:extLst>
          </p:cNvPr>
          <p:cNvCxnSpPr>
            <a:cxnSpLocks/>
            <a:stCxn id="3" idx="3"/>
            <a:endCxn id="40" idx="1"/>
          </p:cNvCxnSpPr>
          <p:nvPr/>
        </p:nvCxnSpPr>
        <p:spPr>
          <a:xfrm flipV="1">
            <a:off x="2221264" y="2872379"/>
            <a:ext cx="1133146" cy="590304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 name="流程圖: 預設處理作業 21">
            <a:extLst>
              <a:ext uri="{FF2B5EF4-FFF2-40B4-BE49-F238E27FC236}">
                <a16:creationId xmlns="" xmlns:a16="http://schemas.microsoft.com/office/drawing/2014/main" id="{9224C3F8-B81E-5927-DF6D-09DD2DBC8F8B}"/>
              </a:ext>
            </a:extLst>
          </p:cNvPr>
          <p:cNvSpPr/>
          <p:nvPr/>
        </p:nvSpPr>
        <p:spPr bwMode="auto">
          <a:xfrm>
            <a:off x="12184753" y="5686488"/>
            <a:ext cx="1813112" cy="953388"/>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MM-IM-0070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採購外包</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發退料流程</a:t>
            </a:r>
          </a:p>
        </p:txBody>
      </p:sp>
      <p:cxnSp>
        <p:nvCxnSpPr>
          <p:cNvPr id="15" name="肘形接點 68">
            <a:extLst>
              <a:ext uri="{FF2B5EF4-FFF2-40B4-BE49-F238E27FC236}">
                <a16:creationId xmlns="" xmlns:a16="http://schemas.microsoft.com/office/drawing/2014/main" id="{97EC5382-0B79-564B-023E-A0BE2C62E875}"/>
              </a:ext>
            </a:extLst>
          </p:cNvPr>
          <p:cNvCxnSpPr>
            <a:cxnSpLocks/>
            <a:stCxn id="12" idx="2"/>
            <a:endCxn id="24" idx="0"/>
          </p:cNvCxnSpPr>
          <p:nvPr/>
        </p:nvCxnSpPr>
        <p:spPr>
          <a:xfrm rot="16200000" flipH="1">
            <a:off x="12763237" y="6967948"/>
            <a:ext cx="658363" cy="221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4" name="流程圖: 預設處理作業 21">
            <a:extLst>
              <a:ext uri="{FF2B5EF4-FFF2-40B4-BE49-F238E27FC236}">
                <a16:creationId xmlns="" xmlns:a16="http://schemas.microsoft.com/office/drawing/2014/main" id="{46F71CAA-29CA-E0E3-18AD-4788435FED1E}"/>
              </a:ext>
            </a:extLst>
          </p:cNvPr>
          <p:cNvSpPr/>
          <p:nvPr/>
        </p:nvSpPr>
        <p:spPr bwMode="auto">
          <a:xfrm>
            <a:off x="12186971" y="7298239"/>
            <a:ext cx="1813112" cy="915657"/>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MM-IM-0010</a:t>
            </a:r>
          </a:p>
          <a:p>
            <a:pPr algn="ctr" eaLnBrk="0" hangingPunct="0"/>
            <a:r>
              <a:rPr lang="zh-TW" altLang="en-US" sz="1500" dirty="0">
                <a:latin typeface="Microsoft JhengHei" panose="020B0604030504040204" pitchFamily="34" charset="-120"/>
                <a:ea typeface="Microsoft JhengHei" panose="020B0604030504040204" pitchFamily="34" charset="-120"/>
              </a:rPr>
              <a:t>採購單收貨作業</a:t>
            </a:r>
            <a:endParaRPr lang="zh-TW" altLang="en-US" sz="1500" dirty="0">
              <a:solidFill>
                <a:srgbClr val="000000"/>
              </a:solidFill>
              <a:latin typeface="Microsoft JhengHei" panose="020B0604030504040204" pitchFamily="34" charset="-120"/>
              <a:ea typeface="Microsoft JhengHei" panose="020B0604030504040204" pitchFamily="34" charset="-120"/>
            </a:endParaRPr>
          </a:p>
        </p:txBody>
      </p:sp>
      <p:cxnSp>
        <p:nvCxnSpPr>
          <p:cNvPr id="27" name="肘形接點 68">
            <a:extLst>
              <a:ext uri="{FF2B5EF4-FFF2-40B4-BE49-F238E27FC236}">
                <a16:creationId xmlns="" xmlns:a16="http://schemas.microsoft.com/office/drawing/2014/main" id="{6A4E08DE-8E77-FC3A-0CF5-3759F69AFE46}"/>
              </a:ext>
            </a:extLst>
          </p:cNvPr>
          <p:cNvCxnSpPr>
            <a:cxnSpLocks/>
            <a:stCxn id="24" idx="2"/>
            <a:endCxn id="25" idx="0"/>
          </p:cNvCxnSpPr>
          <p:nvPr/>
        </p:nvCxnSpPr>
        <p:spPr>
          <a:xfrm rot="16200000" flipH="1">
            <a:off x="12730973" y="8576449"/>
            <a:ext cx="726345" cy="123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45" name="Group 220">
            <a:extLst>
              <a:ext uri="{FF2B5EF4-FFF2-40B4-BE49-F238E27FC236}">
                <a16:creationId xmlns="" xmlns:a16="http://schemas.microsoft.com/office/drawing/2014/main" id="{ADD1546F-75A2-0E22-F66E-32DFDB0DE746}"/>
              </a:ext>
            </a:extLst>
          </p:cNvPr>
          <p:cNvGrpSpPr/>
          <p:nvPr/>
        </p:nvGrpSpPr>
        <p:grpSpPr>
          <a:xfrm>
            <a:off x="9660505" y="5344847"/>
            <a:ext cx="561543" cy="415761"/>
            <a:chOff x="5906472" y="1486857"/>
            <a:chExt cx="374362" cy="272361"/>
          </a:xfrm>
        </p:grpSpPr>
        <p:sp>
          <p:nvSpPr>
            <p:cNvPr id="46"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 xmlns:a16="http://schemas.microsoft.com/office/drawing/2014/main" id="{454E1CB9-6ED4-AD5A-39EC-6D1B324BA26E}"/>
                </a:ext>
              </a:extLst>
            </p:cNvPr>
            <p:cNvSpPr txBox="1"/>
            <p:nvPr/>
          </p:nvSpPr>
          <p:spPr>
            <a:xfrm>
              <a:off x="592523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43" name="矩形 42"/>
          <p:cNvSpPr/>
          <p:nvPr/>
        </p:nvSpPr>
        <p:spPr>
          <a:xfrm>
            <a:off x="15456169" y="424951"/>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cxnSp>
        <p:nvCxnSpPr>
          <p:cNvPr id="14" name="直線單箭頭接點 13">
            <a:extLst>
              <a:ext uri="{FF2B5EF4-FFF2-40B4-BE49-F238E27FC236}">
                <a16:creationId xmlns="" xmlns:a16="http://schemas.microsoft.com/office/drawing/2014/main" id="{85CED47B-E4DD-4403-6DB7-1909D4856D38}"/>
              </a:ext>
            </a:extLst>
          </p:cNvPr>
          <p:cNvCxnSpPr>
            <a:cxnSpLocks/>
            <a:stCxn id="23" idx="3"/>
          </p:cNvCxnSpPr>
          <p:nvPr/>
        </p:nvCxnSpPr>
        <p:spPr>
          <a:xfrm flipV="1">
            <a:off x="9902534" y="6163182"/>
            <a:ext cx="2293315" cy="3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45AA0C2-CB36-2792-A054-5B69382FBD2D}"/>
              </a:ext>
            </a:extLst>
          </p:cNvPr>
          <p:cNvSpPr/>
          <p:nvPr/>
        </p:nvSpPr>
        <p:spPr bwMode="auto">
          <a:xfrm>
            <a:off x="7787357" y="2282335"/>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有使用</a:t>
            </a:r>
            <a:r>
              <a:rPr lang="en-US" altLang="zh-TW" sz="1500" dirty="0" smtClean="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grpSp>
        <p:nvGrpSpPr>
          <p:cNvPr id="38" name="群組 37"/>
          <p:cNvGrpSpPr/>
          <p:nvPr/>
        </p:nvGrpSpPr>
        <p:grpSpPr>
          <a:xfrm>
            <a:off x="3354410" y="2265156"/>
            <a:ext cx="1818198" cy="1217256"/>
            <a:chOff x="15073354" y="8308668"/>
            <a:chExt cx="1818198" cy="1217256"/>
          </a:xfrm>
        </p:grpSpPr>
        <p:sp>
          <p:nvSpPr>
            <p:cNvPr id="39" name="流程圖: 程序 3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600" b="1" dirty="0" smtClean="0">
                  <a:latin typeface="微軟正黑體" panose="020B0604030504040204" pitchFamily="34" charset="-120"/>
                  <a:ea typeface="微軟正黑體" panose="020B0604030504040204" pitchFamily="34" charset="-120"/>
                </a:rPr>
                <a:t>ME57</a:t>
              </a:r>
              <a:endParaRPr lang="en-GB" sz="1600" b="1" dirty="0">
                <a:latin typeface="微軟正黑體" panose="020B0604030504040204" pitchFamily="34" charset="-120"/>
                <a:ea typeface="微軟正黑體" panose="020B0604030504040204" pitchFamily="34" charset="-120"/>
              </a:endParaRPr>
            </a:p>
          </p:txBody>
        </p:sp>
        <p:sp>
          <p:nvSpPr>
            <p:cNvPr id="40" name="流程圖: 程序 3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smtClean="0">
                  <a:latin typeface="微軟正黑體" panose="020B0604030504040204" pitchFamily="34" charset="-120"/>
                  <a:ea typeface="微軟正黑體" panose="020B0604030504040204" pitchFamily="34" charset="-120"/>
                </a:rPr>
                <a:t>貨源指派</a:t>
              </a:r>
              <a:r>
                <a:rPr lang="en-US" altLang="zh-TW" sz="1600" dirty="0" smtClean="0">
                  <a:latin typeface="微軟正黑體" panose="020B0604030504040204" pitchFamily="34" charset="-120"/>
                  <a:ea typeface="微軟正黑體" panose="020B0604030504040204" pitchFamily="34" charset="-120"/>
                </a:rPr>
                <a:t>&amp;</a:t>
              </a:r>
            </a:p>
            <a:p>
              <a:pPr algn="ctr" eaLnBrk="0" hangingPunct="0"/>
              <a:r>
                <a:rPr lang="zh-TW" altLang="en-US" sz="1600" dirty="0" smtClean="0">
                  <a:latin typeface="微軟正黑體" panose="020B0604030504040204" pitchFamily="34" charset="-120"/>
                  <a:ea typeface="微軟正黑體" panose="020B0604030504040204" pitchFamily="34" charset="-120"/>
                </a:rPr>
                <a:t>轉為採購單</a:t>
              </a:r>
              <a:endParaRPr lang="zh-TW" altLang="en-US" sz="1600" dirty="0">
                <a:latin typeface="微軟正黑體" panose="020B0604030504040204" pitchFamily="34" charset="-120"/>
                <a:ea typeface="微軟正黑體" panose="020B0604030504040204" pitchFamily="34" charset="-120"/>
              </a:endParaRPr>
            </a:p>
          </p:txBody>
        </p:sp>
        <p:sp>
          <p:nvSpPr>
            <p:cNvPr id="44" name="流程圖: 程序 4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7" name="流程圖: 程序 46"/>
            <p:cNvSpPr/>
            <p:nvPr/>
          </p:nvSpPr>
          <p:spPr>
            <a:xfrm>
              <a:off x="1600955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smtClean="0">
                  <a:latin typeface="微軟正黑體" panose="020B0604030504040204" pitchFamily="34" charset="-120"/>
                  <a:ea typeface="微軟正黑體" panose="020B0604030504040204" pitchFamily="34" charset="-120"/>
                </a:rPr>
                <a:t>手動</a:t>
              </a:r>
              <a:endParaRPr lang="en-GB" sz="1600" dirty="0">
                <a:latin typeface="微軟正黑體" panose="020B0604030504040204" pitchFamily="34" charset="-120"/>
                <a:ea typeface="微軟正黑體" panose="020B0604030504040204" pitchFamily="34" charset="-120"/>
              </a:endParaRPr>
            </a:p>
          </p:txBody>
        </p:sp>
      </p:grpSp>
      <p:grpSp>
        <p:nvGrpSpPr>
          <p:cNvPr id="13" name="Group 220">
            <a:extLst>
              <a:ext uri="{FF2B5EF4-FFF2-40B4-BE49-F238E27FC236}">
                <a16:creationId xmlns="" xmlns:a16="http://schemas.microsoft.com/office/drawing/2014/main" id="{8F9100A8-C49B-4A69-8C8C-1F7583CA5532}"/>
              </a:ext>
            </a:extLst>
          </p:cNvPr>
          <p:cNvGrpSpPr/>
          <p:nvPr/>
        </p:nvGrpSpPr>
        <p:grpSpPr>
          <a:xfrm>
            <a:off x="4963937" y="2013709"/>
            <a:ext cx="561543" cy="415761"/>
            <a:chOff x="5906472" y="1486857"/>
            <a:chExt cx="374362" cy="272361"/>
          </a:xfrm>
        </p:grpSpPr>
        <p:sp>
          <p:nvSpPr>
            <p:cNvPr id="17" name="Oval 221">
              <a:extLst>
                <a:ext uri="{FF2B5EF4-FFF2-40B4-BE49-F238E27FC236}">
                  <a16:creationId xmlns=""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 xmlns:a16="http://schemas.microsoft.com/office/drawing/2014/main" id="{60D91B19-79E7-F88F-B376-D3C257050AE7}"/>
                </a:ext>
              </a:extLst>
            </p:cNvPr>
            <p:cNvSpPr txBox="1"/>
            <p:nvPr/>
          </p:nvSpPr>
          <p:spPr>
            <a:xfrm>
              <a:off x="592523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52" name="肘形接點 68">
            <a:extLst>
              <a:ext uri="{FF2B5EF4-FFF2-40B4-BE49-F238E27FC236}">
                <a16:creationId xmlns="" xmlns:a16="http://schemas.microsoft.com/office/drawing/2014/main" id="{6710C215-D2A9-AE8A-C825-CAB394FDF69B}"/>
              </a:ext>
            </a:extLst>
          </p:cNvPr>
          <p:cNvCxnSpPr>
            <a:cxnSpLocks/>
            <a:stCxn id="35" idx="3"/>
            <a:endCxn id="12" idx="0"/>
          </p:cNvCxnSpPr>
          <p:nvPr/>
        </p:nvCxnSpPr>
        <p:spPr>
          <a:xfrm>
            <a:off x="9629306" y="2871307"/>
            <a:ext cx="3462003" cy="281518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5" name="肘形接點 68">
            <a:extLst>
              <a:ext uri="{FF2B5EF4-FFF2-40B4-BE49-F238E27FC236}">
                <a16:creationId xmlns="" xmlns:a16="http://schemas.microsoft.com/office/drawing/2014/main" id="{6710C215-D2A9-AE8A-C825-CAB394FDF69B}"/>
              </a:ext>
            </a:extLst>
          </p:cNvPr>
          <p:cNvCxnSpPr>
            <a:cxnSpLocks/>
            <a:stCxn id="35" idx="2"/>
            <a:endCxn id="62" idx="3"/>
          </p:cNvCxnSpPr>
          <p:nvPr/>
        </p:nvCxnSpPr>
        <p:spPr>
          <a:xfrm rot="5400000">
            <a:off x="6234051" y="2432728"/>
            <a:ext cx="1446731" cy="35018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8" name="TextBox 46">
            <a:extLst>
              <a:ext uri="{FF2B5EF4-FFF2-40B4-BE49-F238E27FC236}">
                <a16:creationId xmlns:a16="http://schemas.microsoft.com/office/drawing/2014/main" xmlns="" id="{F347AD0A-1701-D627-C1A8-E7913C31BB17}"/>
              </a:ext>
            </a:extLst>
          </p:cNvPr>
          <p:cNvSpPr txBox="1"/>
          <p:nvPr/>
        </p:nvSpPr>
        <p:spPr>
          <a:xfrm>
            <a:off x="3446945" y="4256797"/>
            <a:ext cx="404262" cy="369389"/>
          </a:xfrm>
          <a:prstGeom prst="rect">
            <a:avLst/>
          </a:prstGeom>
          <a:noFill/>
        </p:spPr>
        <p:txBody>
          <a:bodyPr wrap="square" lIns="137160" tIns="68580" rIns="137160" bIns="68580" rtlCol="0">
            <a:spAutoFit/>
          </a:bodyPr>
          <a:lstStyle/>
          <a:p>
            <a:r>
              <a:rPr lang="zh-TW" altLang="en-US" sz="1500" dirty="0"/>
              <a:t>否</a:t>
            </a:r>
          </a:p>
        </p:txBody>
      </p:sp>
      <p:sp>
        <p:nvSpPr>
          <p:cNvPr id="59" name="TextBox 46">
            <a:extLst>
              <a:ext uri="{FF2B5EF4-FFF2-40B4-BE49-F238E27FC236}">
                <a16:creationId xmlns:a16="http://schemas.microsoft.com/office/drawing/2014/main" xmlns="" id="{F347AD0A-1701-D627-C1A8-E7913C31BB17}"/>
              </a:ext>
            </a:extLst>
          </p:cNvPr>
          <p:cNvSpPr txBox="1"/>
          <p:nvPr/>
        </p:nvSpPr>
        <p:spPr>
          <a:xfrm>
            <a:off x="3599345" y="4409197"/>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60" name="群組 59"/>
          <p:cNvGrpSpPr/>
          <p:nvPr/>
        </p:nvGrpSpPr>
        <p:grpSpPr>
          <a:xfrm>
            <a:off x="3395699" y="4299787"/>
            <a:ext cx="1818198" cy="1217256"/>
            <a:chOff x="15073354" y="8308668"/>
            <a:chExt cx="1818198" cy="1217256"/>
          </a:xfrm>
        </p:grpSpPr>
        <p:sp>
          <p:nvSpPr>
            <p:cNvPr id="61" name="流程圖: 程序 6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ZMM030</a:t>
              </a:r>
              <a:endParaRPr lang="en-GB" sz="1500" b="1" dirty="0">
                <a:latin typeface="微軟正黑體" panose="020B0604030504040204" pitchFamily="34" charset="-120"/>
                <a:ea typeface="微軟正黑體" panose="020B0604030504040204" pitchFamily="34" charset="-120"/>
              </a:endParaRPr>
            </a:p>
          </p:txBody>
        </p:sp>
        <p:sp>
          <p:nvSpPr>
            <p:cNvPr id="62" name="流程圖: 程序 6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外包採購單</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與發料列印</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63" name="流程圖: 程序 6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64" name="流程圖: 程序 63"/>
            <p:cNvSpPr/>
            <p:nvPr/>
          </p:nvSpPr>
          <p:spPr>
            <a:xfrm>
              <a:off x="1600955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0" name="Group 220">
            <a:extLst>
              <a:ext uri="{FF2B5EF4-FFF2-40B4-BE49-F238E27FC236}">
                <a16:creationId xmlns="" xmlns:a16="http://schemas.microsoft.com/office/drawing/2014/main" id="{0B79EBBA-F242-48C7-ECC3-55BEDF3FDDA8}"/>
              </a:ext>
            </a:extLst>
          </p:cNvPr>
          <p:cNvGrpSpPr/>
          <p:nvPr/>
        </p:nvGrpSpPr>
        <p:grpSpPr>
          <a:xfrm>
            <a:off x="5005186" y="4135604"/>
            <a:ext cx="547256" cy="415761"/>
            <a:chOff x="5906472" y="1486857"/>
            <a:chExt cx="364837" cy="272361"/>
          </a:xfrm>
        </p:grpSpPr>
        <p:sp>
          <p:nvSpPr>
            <p:cNvPr id="21"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 name="TextBox 222">
              <a:extLst>
                <a:ext uri="{FF2B5EF4-FFF2-40B4-BE49-F238E27FC236}">
                  <a16:creationId xmlns="" xmlns:a16="http://schemas.microsoft.com/office/drawing/2014/main" id="{7751ACA8-5935-4AA1-4521-923760069DB5}"/>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41" name="流程圖: 文件 42">
            <a:extLst>
              <a:ext uri="{FF2B5EF4-FFF2-40B4-BE49-F238E27FC236}">
                <a16:creationId xmlns="" xmlns:a16="http://schemas.microsoft.com/office/drawing/2014/main" id="{D96DD5EE-A7FD-9A3B-9DE1-94649764CF1A}"/>
              </a:ext>
            </a:extLst>
          </p:cNvPr>
          <p:cNvSpPr/>
          <p:nvPr/>
        </p:nvSpPr>
        <p:spPr bwMode="auto">
          <a:xfrm>
            <a:off x="4978416" y="5430407"/>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外包採購單</a:t>
            </a:r>
          </a:p>
        </p:txBody>
      </p:sp>
      <p:sp>
        <p:nvSpPr>
          <p:cNvPr id="66" name="TextBox 46">
            <a:extLst>
              <a:ext uri="{FF2B5EF4-FFF2-40B4-BE49-F238E27FC236}">
                <a16:creationId xmlns="" xmlns:a16="http://schemas.microsoft.com/office/drawing/2014/main" id="{593F8D1D-C680-DCAA-409F-E45731F648AF}"/>
              </a:ext>
            </a:extLst>
          </p:cNvPr>
          <p:cNvSpPr txBox="1"/>
          <p:nvPr/>
        </p:nvSpPr>
        <p:spPr>
          <a:xfrm>
            <a:off x="8821071" y="3555049"/>
            <a:ext cx="404262" cy="369332"/>
          </a:xfrm>
          <a:prstGeom prst="rect">
            <a:avLst/>
          </a:prstGeom>
          <a:noFill/>
        </p:spPr>
        <p:txBody>
          <a:bodyPr wrap="square" lIns="137160" tIns="68580" rIns="137160" bIns="68580" rtlCol="0">
            <a:spAutoFit/>
          </a:bodyPr>
          <a:lstStyle/>
          <a:p>
            <a:r>
              <a:rPr lang="zh-TW" altLang="en-US" sz="1500" dirty="0" smtClean="0"/>
              <a:t>否</a:t>
            </a:r>
            <a:endParaRPr lang="zh-TW" altLang="en-US" sz="1500" dirty="0"/>
          </a:p>
        </p:txBody>
      </p:sp>
      <p:sp>
        <p:nvSpPr>
          <p:cNvPr id="67" name="TextBox 46">
            <a:extLst>
              <a:ext uri="{FF2B5EF4-FFF2-40B4-BE49-F238E27FC236}">
                <a16:creationId xmlns="" xmlns:a16="http://schemas.microsoft.com/office/drawing/2014/main" id="{F541A8B3-35B4-8CB3-4616-C2FC59395EC1}"/>
              </a:ext>
            </a:extLst>
          </p:cNvPr>
          <p:cNvSpPr txBox="1"/>
          <p:nvPr/>
        </p:nvSpPr>
        <p:spPr>
          <a:xfrm>
            <a:off x="9700442" y="2453916"/>
            <a:ext cx="404262" cy="369332"/>
          </a:xfrm>
          <a:prstGeom prst="rect">
            <a:avLst/>
          </a:prstGeom>
          <a:noFill/>
        </p:spPr>
        <p:txBody>
          <a:bodyPr wrap="square" lIns="137160" tIns="68580" rIns="137160" bIns="68580" rtlCol="0">
            <a:spAutoFit/>
          </a:bodyPr>
          <a:lstStyle/>
          <a:p>
            <a:r>
              <a:rPr lang="zh-TW" altLang="en-US" sz="1500" dirty="0" smtClean="0"/>
              <a:t>是</a:t>
            </a:r>
            <a:endParaRPr lang="zh-TW" altLang="en-US" sz="1500" dirty="0"/>
          </a:p>
        </p:txBody>
      </p:sp>
    </p:spTree>
    <p:extLst>
      <p:ext uri="{BB962C8B-B14F-4D97-AF65-F5344CB8AC3E}">
        <p14:creationId xmlns="" xmlns:p14="http://schemas.microsoft.com/office/powerpoint/2010/main" val="3407804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15704</TotalTime>
  <Words>465</Words>
  <Application>Microsoft Office PowerPoint</Application>
  <PresentationFormat>自訂</PresentationFormat>
  <Paragraphs>138</Paragraphs>
  <Slides>6</Slides>
  <Notes>4</Notes>
  <HiddenSlides>0</HiddenSlides>
  <MMClips>0</MMClips>
  <ScaleCrop>false</ScaleCrop>
  <HeadingPairs>
    <vt:vector size="4" baseType="variant">
      <vt:variant>
        <vt:lpstr>佈景主題</vt:lpstr>
      </vt:variant>
      <vt:variant>
        <vt:i4>1</vt:i4>
      </vt:variant>
      <vt:variant>
        <vt:lpstr>投影片標題</vt:lpstr>
      </vt:variant>
      <vt:variant>
        <vt:i4>6</vt:i4>
      </vt:variant>
    </vt:vector>
  </HeadingPairs>
  <TitlesOfParts>
    <vt:vector size="7" baseType="lpstr">
      <vt:lpstr>Office 2013 - 2022 Theme</vt:lpstr>
      <vt:lpstr>投影片 1</vt:lpstr>
      <vt:lpstr>投影片 2</vt:lpstr>
      <vt:lpstr>投影片 3</vt:lpstr>
      <vt:lpstr>投影片 4</vt:lpstr>
      <vt:lpstr>投影片 5</vt:lpstr>
      <vt:lpstr>投影片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144</cp:revision>
  <dcterms:created xsi:type="dcterms:W3CDTF">2023-05-31T01:27:04Z</dcterms:created>
  <dcterms:modified xsi:type="dcterms:W3CDTF">2025-07-08T05:04:23Z</dcterms:modified>
</cp:coreProperties>
</file>