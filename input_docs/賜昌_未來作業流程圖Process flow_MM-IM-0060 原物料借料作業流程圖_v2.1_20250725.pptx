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5"/>
  </p:notesMasterIdLst>
  <p:sldIdLst>
    <p:sldId id="256" r:id="rId6"/>
    <p:sldId id="257" r:id="rId7"/>
    <p:sldId id="258" r:id="rId8"/>
    <p:sldId id="292" r:id="rId9"/>
    <p:sldId id="294" r:id="rId10"/>
    <p:sldId id="295" r:id="rId11"/>
    <p:sldId id="296" r:id="rId12"/>
    <p:sldId id="263" r:id="rId13"/>
    <p:sldId id="264" r:id="rId14"/>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2232" autoAdjust="0"/>
    <p:restoredTop sz="94688" autoAdjust="0"/>
  </p:normalViewPr>
  <p:slideViewPr>
    <p:cSldViewPr>
      <p:cViewPr>
        <p:scale>
          <a:sx n="50" d="100"/>
          <a:sy n="50" d="100"/>
        </p:scale>
        <p:origin x="-356" y="26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6759780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924047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1"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MM-IM-0060</a:t>
            </a:r>
            <a:endParaRPr lang="en-US" sz="3600" b="0" strike="noStrike" spc="-1" dirty="0">
              <a:solidFill>
                <a:srgbClr val="000000"/>
              </a:solidFill>
              <a:latin typeface="Calibri"/>
            </a:endParaRPr>
          </a:p>
        </p:txBody>
      </p:sp>
      <p:sp>
        <p:nvSpPr>
          <p:cNvPr id="2859" name="矩形 1"/>
          <p:cNvSpPr/>
          <p:nvPr/>
        </p:nvSpPr>
        <p:spPr>
          <a:xfrm>
            <a:off x="843480" y="7179120"/>
            <a:ext cx="758614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原物料借料作業流程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288477"/>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dirty="0" smtClean="0">
                          <a:solidFill>
                            <a:srgbClr val="000000"/>
                          </a:solidFill>
                          <a:latin typeface="Calibri"/>
                        </a:rPr>
                        <a:t>2.1</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marL="0" marR="0" indent="0" algn="l" defTabSz="1371600" eaLnBrk="1" fontAlgn="auto" latinLnBrk="0" hangingPunct="1">
                        <a:lnSpc>
                          <a:spcPct val="100000"/>
                        </a:lnSpc>
                        <a:spcBef>
                          <a:spcPts val="0"/>
                        </a:spcBef>
                        <a:spcAft>
                          <a:spcPts val="0"/>
                        </a:spcAft>
                        <a:buClrTx/>
                        <a:buSzTx/>
                        <a:buFontTx/>
                        <a:buNone/>
                        <a:tabLst>
                          <a:tab pos="0" algn="l"/>
                        </a:tabLst>
                        <a:defRPr/>
                      </a:pPr>
                      <a:r>
                        <a:rPr lang="zh-TW" altLang="en-US" sz="1800" b="0" strike="noStrike" spc="-1" dirty="0" smtClean="0">
                          <a:solidFill>
                            <a:srgbClr val="000000"/>
                          </a:solidFill>
                          <a:latin typeface="Calibri"/>
                        </a:rPr>
                        <a:t>修改借料串連到流程</a:t>
                      </a:r>
                      <a:r>
                        <a:rPr lang="en-US" altLang="zh-TW" sz="1800" b="0" strike="noStrike" spc="-1" dirty="0" smtClean="0">
                          <a:solidFill>
                            <a:srgbClr val="000000"/>
                          </a:solidFill>
                          <a:latin typeface="Calibri"/>
                        </a:rPr>
                        <a:t>:MM-PU-0030-01</a:t>
                      </a:r>
                      <a:r>
                        <a:rPr lang="zh-TW" altLang="en-US" sz="1800" b="0" strike="noStrike" spc="-1" dirty="0" smtClean="0">
                          <a:solidFill>
                            <a:srgbClr val="000000"/>
                          </a:solidFill>
                          <a:latin typeface="Calibri"/>
                        </a:rPr>
                        <a:t>採購單</a:t>
                      </a:r>
                      <a:r>
                        <a:rPr lang="zh-TW" altLang="en-US" sz="1800" dirty="0" smtClean="0">
                          <a:latin typeface="微軟正黑體" panose="020B0604030504040204" pitchFamily="34" charset="-120"/>
                          <a:ea typeface="微軟正黑體" panose="020B0604030504040204" pitchFamily="34" charset="-120"/>
                          <a:sym typeface="Arial"/>
                        </a:rPr>
                        <a:t>庫存類採購流程</a:t>
                      </a:r>
                      <a:r>
                        <a:rPr lang="en-US" altLang="zh-TW" sz="1800" dirty="0" smtClean="0">
                          <a:latin typeface="微軟正黑體" panose="020B0604030504040204" pitchFamily="34" charset="-120"/>
                          <a:ea typeface="微軟正黑體" panose="020B0604030504040204" pitchFamily="34" charset="-120"/>
                          <a:sym typeface="Arial"/>
                        </a:rPr>
                        <a:t>(</a:t>
                      </a:r>
                      <a:r>
                        <a:rPr lang="zh-TW" altLang="en-US" sz="1800" dirty="0" smtClean="0">
                          <a:latin typeface="微軟正黑體" panose="020B0604030504040204" pitchFamily="34" charset="-120"/>
                          <a:ea typeface="微軟正黑體" panose="020B0604030504040204" pitchFamily="34" charset="-120"/>
                          <a:sym typeface="Arial"/>
                        </a:rPr>
                        <a:t>借料</a:t>
                      </a:r>
                      <a:r>
                        <a:rPr lang="en-US" altLang="zh-TW" sz="1800" dirty="0" smtClean="0">
                          <a:latin typeface="微軟正黑體" panose="020B0604030504040204" pitchFamily="34" charset="-120"/>
                          <a:ea typeface="微軟正黑體" panose="020B0604030504040204" pitchFamily="34" charset="-120"/>
                          <a:sym typeface="Arial"/>
                        </a:rPr>
                        <a:t>)</a:t>
                      </a:r>
                      <a:endParaRPr lang="zh-TW" altLang="en-US" sz="1800" dirty="0" smtClean="0">
                        <a:latin typeface="微軟正黑體" panose="020B0604030504040204" pitchFamily="34" charset="-120"/>
                        <a:ea typeface="微軟正黑體" panose="020B0604030504040204" pitchFamily="34" charset="-120"/>
                        <a:sym typeface="Arial"/>
                      </a:endParaRPr>
                    </a:p>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2025/07/25</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MM-IM-0060 </a:t>
            </a:r>
            <a:r>
              <a:rPr lang="zh-TW" altLang="en-US" sz="2400" spc="-1" dirty="0" smtClean="0">
                <a:solidFill>
                  <a:schemeClr val="dk1"/>
                </a:solidFill>
                <a:latin typeface="Microsoft JhengHei"/>
                <a:ea typeface="Microsoft JhengHei"/>
              </a:rPr>
              <a:t>原物料借料作業流程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a16="http://schemas.microsoft.com/office/drawing/2014/main" xmlns="" id="{1FB9514E-6261-C7AC-D58E-6A5F2E6F81FD}"/>
              </a:ext>
            </a:extLst>
          </p:cNvPr>
          <p:cNvSpPr/>
          <p:nvPr/>
        </p:nvSpPr>
        <p:spPr bwMode="auto">
          <a:xfrm>
            <a:off x="413248" y="2283752"/>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借料申請</a:t>
            </a:r>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8501058" y="1358695"/>
            <a:ext cx="2986584" cy="400110"/>
          </a:xfrm>
          <a:prstGeom prst="rect">
            <a:avLst/>
          </a:prstGeom>
          <a:noFill/>
        </p:spPr>
        <p:txBody>
          <a:bodyPr wrap="square" lIns="137160" tIns="68580" rIns="137160" bIns="68580" rtlCol="0">
            <a:spAutoFit/>
          </a:bodyPr>
          <a:lstStyle/>
          <a:p>
            <a:pPr algn="ctr"/>
            <a:r>
              <a:rPr lang="zh-TW" altLang="en-US" sz="1700" dirty="0"/>
              <a:t>倉庫</a:t>
            </a:r>
            <a:r>
              <a:rPr lang="en-US" altLang="zh-TW" sz="1700" dirty="0"/>
              <a:t>(</a:t>
            </a:r>
            <a:r>
              <a:rPr lang="zh-TW" altLang="en-US" sz="1700" dirty="0"/>
              <a:t>借出方</a:t>
            </a:r>
            <a:r>
              <a:rPr lang="en-US" altLang="zh-TW" sz="1700" dirty="0"/>
              <a:t>)</a:t>
            </a:r>
            <a:endParaRPr lang="zh-TW" altLang="en-US" sz="1700" dirty="0"/>
          </a:p>
        </p:txBody>
      </p:sp>
      <p:graphicFrame>
        <p:nvGraphicFramePr>
          <p:cNvPr id="10" name="表格 30">
            <a:extLst>
              <a:ext uri="{FF2B5EF4-FFF2-40B4-BE49-F238E27FC236}">
                <a16:creationId xmlns:a16="http://schemas.microsoft.com/office/drawing/2014/main" xmlns="" id="{560E075C-2049-BB70-8393-BAD2317E0F8A}"/>
              </a:ext>
            </a:extLst>
          </p:cNvPr>
          <p:cNvGraphicFramePr>
            <a:graphicFrameLocks noGrp="1"/>
          </p:cNvGraphicFramePr>
          <p:nvPr>
            <p:extLst>
              <p:ext uri="{D42A27DB-BD31-4B8C-83A1-F6EECF244321}">
                <p14:modId xmlns:p14="http://schemas.microsoft.com/office/powerpoint/2010/main" xmlns="" val="1923928183"/>
              </p:ext>
            </p:extLst>
          </p:nvPr>
        </p:nvGraphicFramePr>
        <p:xfrm>
          <a:off x="2905401" y="5573422"/>
          <a:ext cx="1797832" cy="100995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MB21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建立借料申請單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48" name="文字方塊 17">
            <a:extLst>
              <a:ext uri="{FF2B5EF4-FFF2-40B4-BE49-F238E27FC236}">
                <a16:creationId xmlns:a16="http://schemas.microsoft.com/office/drawing/2014/main" xmlns="" id="{0F2761B4-5F29-64DD-1721-5831D073894C}"/>
              </a:ext>
            </a:extLst>
          </p:cNvPr>
          <p:cNvSpPr txBox="1"/>
          <p:nvPr/>
        </p:nvSpPr>
        <p:spPr>
          <a:xfrm>
            <a:off x="3143208" y="1366264"/>
            <a:ext cx="3947896" cy="400110"/>
          </a:xfrm>
          <a:prstGeom prst="rect">
            <a:avLst/>
          </a:prstGeom>
          <a:noFill/>
        </p:spPr>
        <p:txBody>
          <a:bodyPr wrap="square" lIns="137160" tIns="68580" rIns="137160" bIns="68580" rtlCol="0">
            <a:spAutoFit/>
          </a:bodyPr>
          <a:lstStyle/>
          <a:p>
            <a:pPr algn="ctr"/>
            <a:r>
              <a:rPr lang="zh-TW" altLang="en-US" sz="1700" dirty="0"/>
              <a:t>採購單位</a:t>
            </a:r>
            <a:r>
              <a:rPr lang="en-US" altLang="zh-TW" sz="1700" dirty="0"/>
              <a:t>(</a:t>
            </a:r>
            <a:r>
              <a:rPr lang="zh-TW" altLang="en-US" sz="1700" dirty="0"/>
              <a:t>借出方</a:t>
            </a:r>
            <a:r>
              <a:rPr lang="en-US" altLang="zh-TW" sz="1700" dirty="0"/>
              <a:t>)</a:t>
            </a:r>
            <a:endParaRPr lang="zh-TW" altLang="en-US" sz="1700" dirty="0"/>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MM-IM-0060-01</a:t>
            </a:r>
            <a:r>
              <a:rPr kumimoji="0" lang="zh-TW" altLang="en-US" b="1" dirty="0">
                <a:latin typeface="微軟正黑體" panose="020B0604030504040204" pitchFamily="34" charset="-120"/>
                <a:ea typeface="微軟正黑體" panose="020B0604030504040204" pitchFamily="34" charset="-120"/>
              </a:rPr>
              <a:t>原物料借料作業流程</a:t>
            </a:r>
            <a:r>
              <a:rPr kumimoji="0" lang="en-US" altLang="zh-TW" b="1" dirty="0">
                <a:latin typeface="微軟正黑體" panose="020B0604030504040204" pitchFamily="34" charset="-120"/>
                <a:ea typeface="微軟正黑體" panose="020B0604030504040204" pitchFamily="34" charset="-120"/>
              </a:rPr>
              <a:t>(</a:t>
            </a:r>
            <a:r>
              <a:rPr kumimoji="0" lang="zh-TW" altLang="en-US" b="1" dirty="0">
                <a:latin typeface="微軟正黑體" panose="020B0604030504040204" pitchFamily="34" charset="-120"/>
                <a:ea typeface="微軟正黑體" panose="020B0604030504040204" pitchFamily="34" charset="-120"/>
              </a:rPr>
              <a:t>借出</a:t>
            </a:r>
            <a:r>
              <a:rPr kumimoji="0"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grpSp>
        <p:nvGrpSpPr>
          <p:cNvPr id="3" name="Group 220">
            <a:extLst>
              <a:ext uri="{FF2B5EF4-FFF2-40B4-BE49-F238E27FC236}">
                <a16:creationId xmlns:a16="http://schemas.microsoft.com/office/drawing/2014/main" xmlns="" id="{A9B401BC-DE49-5FC0-6565-D216316A23DA}"/>
              </a:ext>
            </a:extLst>
          </p:cNvPr>
          <p:cNvGrpSpPr/>
          <p:nvPr/>
        </p:nvGrpSpPr>
        <p:grpSpPr>
          <a:xfrm>
            <a:off x="3928232" y="2015511"/>
            <a:ext cx="533400" cy="408605"/>
            <a:chOff x="5906184" y="1486857"/>
            <a:chExt cx="355600" cy="272361"/>
          </a:xfrm>
        </p:grpSpPr>
        <p:sp>
          <p:nvSpPr>
            <p:cNvPr id="4"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nvGrpSpPr>
          <p:cNvPr id="9" name="Group 220">
            <a:extLst>
              <a:ext uri="{FF2B5EF4-FFF2-40B4-BE49-F238E27FC236}">
                <a16:creationId xmlns:a16="http://schemas.microsoft.com/office/drawing/2014/main" xmlns="" id="{6FD4E675-D1D6-DF46-523E-4DCD1463AED5}"/>
              </a:ext>
            </a:extLst>
          </p:cNvPr>
          <p:cNvGrpSpPr/>
          <p:nvPr/>
        </p:nvGrpSpPr>
        <p:grpSpPr>
          <a:xfrm>
            <a:off x="1932771" y="2097488"/>
            <a:ext cx="533400" cy="408605"/>
            <a:chOff x="5906184" y="1486857"/>
            <a:chExt cx="355600" cy="272361"/>
          </a:xfrm>
        </p:grpSpPr>
        <p:sp>
          <p:nvSpPr>
            <p:cNvPr id="12" name="Oval 221">
              <a:extLst>
                <a:ext uri="{FF2B5EF4-FFF2-40B4-BE49-F238E27FC236}">
                  <a16:creationId xmlns:a16="http://schemas.microsoft.com/office/drawing/2014/main" xmlns="" id="{34305D90-9E24-F988-715E-35C0A696317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3" name="TextBox 222">
              <a:extLst>
                <a:ext uri="{FF2B5EF4-FFF2-40B4-BE49-F238E27FC236}">
                  <a16:creationId xmlns:a16="http://schemas.microsoft.com/office/drawing/2014/main" xmlns="" id="{51FE4E5E-30CF-4245-3766-342FB593D320}"/>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sp>
        <p:nvSpPr>
          <p:cNvPr id="14" name="流程圖: 文件 42">
            <a:extLst>
              <a:ext uri="{FF2B5EF4-FFF2-40B4-BE49-F238E27FC236}">
                <a16:creationId xmlns:a16="http://schemas.microsoft.com/office/drawing/2014/main" xmlns="" id="{30EF5CCE-DE56-F769-9FBE-23150D2E5B6A}"/>
              </a:ext>
            </a:extLst>
          </p:cNvPr>
          <p:cNvSpPr/>
          <p:nvPr/>
        </p:nvSpPr>
        <p:spPr bwMode="auto">
          <a:xfrm>
            <a:off x="4217026" y="6500603"/>
            <a:ext cx="1637504" cy="6532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借料</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歸還</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申請表</a:t>
            </a:r>
          </a:p>
        </p:txBody>
      </p:sp>
      <p:sp>
        <p:nvSpPr>
          <p:cNvPr id="15" name="流程圖: 決策 50">
            <a:extLst>
              <a:ext uri="{FF2B5EF4-FFF2-40B4-BE49-F238E27FC236}">
                <a16:creationId xmlns:a16="http://schemas.microsoft.com/office/drawing/2014/main" xmlns="" id="{EB35E492-C0A1-FE35-989D-0C13F023BD5E}"/>
              </a:ext>
            </a:extLst>
          </p:cNvPr>
          <p:cNvSpPr/>
          <p:nvPr/>
        </p:nvSpPr>
        <p:spPr bwMode="auto">
          <a:xfrm>
            <a:off x="3014987" y="2236810"/>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是否同意借料</a:t>
            </a:r>
            <a:r>
              <a:rPr lang="en-US" altLang="zh-TW" sz="1500" dirty="0">
                <a:latin typeface="微軟正黑體" panose="020B0604030504040204" pitchFamily="34" charset="-120"/>
                <a:ea typeface="微軟正黑體" panose="020B0604030504040204" pitchFamily="34" charset="-120"/>
              </a:rPr>
              <a:t>?</a:t>
            </a:r>
          </a:p>
        </p:txBody>
      </p:sp>
      <p:sp>
        <p:nvSpPr>
          <p:cNvPr id="37" name="TextBox 46">
            <a:extLst>
              <a:ext uri="{FF2B5EF4-FFF2-40B4-BE49-F238E27FC236}">
                <a16:creationId xmlns:a16="http://schemas.microsoft.com/office/drawing/2014/main" xmlns="" id="{63F6B303-5361-56FA-512B-DF8B2F287643}"/>
              </a:ext>
            </a:extLst>
          </p:cNvPr>
          <p:cNvSpPr txBox="1"/>
          <p:nvPr/>
        </p:nvSpPr>
        <p:spPr>
          <a:xfrm>
            <a:off x="3995450" y="3280245"/>
            <a:ext cx="404262" cy="369389"/>
          </a:xfrm>
          <a:prstGeom prst="rect">
            <a:avLst/>
          </a:prstGeom>
          <a:noFill/>
        </p:spPr>
        <p:txBody>
          <a:bodyPr wrap="square" lIns="137160" tIns="68580" rIns="137160" bIns="68580" rtlCol="0">
            <a:spAutoFit/>
          </a:bodyPr>
          <a:lstStyle/>
          <a:p>
            <a:r>
              <a:rPr lang="zh-TW" altLang="en-US" sz="1500" dirty="0"/>
              <a:t>是</a:t>
            </a:r>
          </a:p>
        </p:txBody>
      </p:sp>
      <p:sp>
        <p:nvSpPr>
          <p:cNvPr id="43" name="TextBox 46">
            <a:extLst>
              <a:ext uri="{FF2B5EF4-FFF2-40B4-BE49-F238E27FC236}">
                <a16:creationId xmlns:a16="http://schemas.microsoft.com/office/drawing/2014/main" xmlns="" id="{E010F3A9-4E09-7999-9741-F387D859D475}"/>
              </a:ext>
            </a:extLst>
          </p:cNvPr>
          <p:cNvSpPr txBox="1"/>
          <p:nvPr/>
        </p:nvSpPr>
        <p:spPr>
          <a:xfrm>
            <a:off x="4636709" y="2266234"/>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51" name="肘形接點 68">
            <a:extLst>
              <a:ext uri="{FF2B5EF4-FFF2-40B4-BE49-F238E27FC236}">
                <a16:creationId xmlns:a16="http://schemas.microsoft.com/office/drawing/2014/main" xmlns="" id="{D2824ABE-A084-82EA-1377-7C4376E4E0B2}"/>
              </a:ext>
            </a:extLst>
          </p:cNvPr>
          <p:cNvCxnSpPr>
            <a:cxnSpLocks/>
            <a:stCxn id="15" idx="2"/>
            <a:endCxn id="63" idx="0"/>
          </p:cNvCxnSpPr>
          <p:nvPr/>
        </p:nvCxnSpPr>
        <p:spPr>
          <a:xfrm rot="16200000" flipH="1">
            <a:off x="3364857" y="3534677"/>
            <a:ext cx="880321" cy="873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3" name="流程圖: 決策 50">
            <a:extLst>
              <a:ext uri="{FF2B5EF4-FFF2-40B4-BE49-F238E27FC236}">
                <a16:creationId xmlns:a16="http://schemas.microsoft.com/office/drawing/2014/main" xmlns="" id="{2D6782B6-45DB-99BA-2AAC-FEB8CAE76A2A}"/>
              </a:ext>
            </a:extLst>
          </p:cNvPr>
          <p:cNvSpPr/>
          <p:nvPr/>
        </p:nvSpPr>
        <p:spPr bwMode="auto">
          <a:xfrm>
            <a:off x="3023718" y="3979204"/>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主管簽核</a:t>
            </a:r>
            <a:endParaRPr lang="en-US" altLang="zh-TW" sz="1500" dirty="0">
              <a:latin typeface="微軟正黑體" panose="020B0604030504040204" pitchFamily="34" charset="-120"/>
              <a:ea typeface="微軟正黑體" panose="020B0604030504040204" pitchFamily="34" charset="-120"/>
            </a:endParaRPr>
          </a:p>
        </p:txBody>
      </p:sp>
      <p:cxnSp>
        <p:nvCxnSpPr>
          <p:cNvPr id="219" name="肘形接點 68">
            <a:extLst>
              <a:ext uri="{FF2B5EF4-FFF2-40B4-BE49-F238E27FC236}">
                <a16:creationId xmlns:a16="http://schemas.microsoft.com/office/drawing/2014/main" xmlns="" id="{5343CBF3-BD91-A565-4DDE-8143215E0470}"/>
              </a:ext>
            </a:extLst>
          </p:cNvPr>
          <p:cNvCxnSpPr>
            <a:cxnSpLocks/>
            <a:stCxn id="15" idx="3"/>
          </p:cNvCxnSpPr>
          <p:nvPr/>
        </p:nvCxnSpPr>
        <p:spPr>
          <a:xfrm flipV="1">
            <a:off x="4586318" y="2665047"/>
            <a:ext cx="651540" cy="280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22" name="TextBox 46">
            <a:extLst>
              <a:ext uri="{FF2B5EF4-FFF2-40B4-BE49-F238E27FC236}">
                <a16:creationId xmlns:a16="http://schemas.microsoft.com/office/drawing/2014/main" xmlns="" id="{6F11DF97-E533-0136-4FDB-AC7AD9ECA4CE}"/>
              </a:ext>
            </a:extLst>
          </p:cNvPr>
          <p:cNvSpPr txBox="1"/>
          <p:nvPr/>
        </p:nvSpPr>
        <p:spPr>
          <a:xfrm>
            <a:off x="4690650" y="4017385"/>
            <a:ext cx="613899" cy="369389"/>
          </a:xfrm>
          <a:prstGeom prst="rect">
            <a:avLst/>
          </a:prstGeom>
          <a:noFill/>
        </p:spPr>
        <p:txBody>
          <a:bodyPr wrap="square" lIns="137160" tIns="68580" rIns="137160" bIns="68580" rtlCol="0">
            <a:spAutoFit/>
          </a:bodyPr>
          <a:lstStyle/>
          <a:p>
            <a:r>
              <a:rPr lang="en-US" altLang="zh-TW" sz="1500" dirty="0"/>
              <a:t>NO</a:t>
            </a:r>
            <a:endParaRPr lang="zh-TW" altLang="en-US" sz="1500" dirty="0"/>
          </a:p>
        </p:txBody>
      </p:sp>
      <p:cxnSp>
        <p:nvCxnSpPr>
          <p:cNvPr id="223" name="肘形接點 68">
            <a:extLst>
              <a:ext uri="{FF2B5EF4-FFF2-40B4-BE49-F238E27FC236}">
                <a16:creationId xmlns:a16="http://schemas.microsoft.com/office/drawing/2014/main" xmlns="" id="{123F8D8F-E178-1B06-EEB6-A461F8D85A37}"/>
              </a:ext>
            </a:extLst>
          </p:cNvPr>
          <p:cNvCxnSpPr>
            <a:cxnSpLocks/>
            <a:stCxn id="63" idx="3"/>
          </p:cNvCxnSpPr>
          <p:nvPr/>
        </p:nvCxnSpPr>
        <p:spPr>
          <a:xfrm flipV="1">
            <a:off x="4595050" y="3284341"/>
            <a:ext cx="1541723" cy="112590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0" name="肘形接點 68">
            <a:extLst>
              <a:ext uri="{FF2B5EF4-FFF2-40B4-BE49-F238E27FC236}">
                <a16:creationId xmlns:a16="http://schemas.microsoft.com/office/drawing/2014/main" xmlns="" id="{F369D884-D5E7-896F-E0F4-F8811450B4F8}"/>
              </a:ext>
            </a:extLst>
          </p:cNvPr>
          <p:cNvCxnSpPr>
            <a:cxnSpLocks/>
            <a:stCxn id="63" idx="2"/>
            <a:endCxn id="10" idx="0"/>
          </p:cNvCxnSpPr>
          <p:nvPr/>
        </p:nvCxnSpPr>
        <p:spPr>
          <a:xfrm rot="5400000">
            <a:off x="3440779" y="5204815"/>
            <a:ext cx="732145" cy="506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35" name="TextBox 46">
            <a:extLst>
              <a:ext uri="{FF2B5EF4-FFF2-40B4-BE49-F238E27FC236}">
                <a16:creationId xmlns:a16="http://schemas.microsoft.com/office/drawing/2014/main" xmlns="" id="{16AB1BAE-848E-9F3E-8A08-6421E0409A01}"/>
              </a:ext>
            </a:extLst>
          </p:cNvPr>
          <p:cNvSpPr txBox="1"/>
          <p:nvPr/>
        </p:nvSpPr>
        <p:spPr>
          <a:xfrm>
            <a:off x="3830500" y="4945577"/>
            <a:ext cx="631133"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cxnSp>
        <p:nvCxnSpPr>
          <p:cNvPr id="236" name="肘形接點 68">
            <a:extLst>
              <a:ext uri="{FF2B5EF4-FFF2-40B4-BE49-F238E27FC236}">
                <a16:creationId xmlns:a16="http://schemas.microsoft.com/office/drawing/2014/main" xmlns="" id="{4DD8B1F3-07FB-1692-F8C3-93BBC17AEBFF}"/>
              </a:ext>
            </a:extLst>
          </p:cNvPr>
          <p:cNvCxnSpPr>
            <a:cxnSpLocks/>
            <a:endCxn id="20" idx="1"/>
          </p:cNvCxnSpPr>
          <p:nvPr/>
        </p:nvCxnSpPr>
        <p:spPr>
          <a:xfrm flipV="1">
            <a:off x="5854530" y="5071829"/>
            <a:ext cx="1574958" cy="253191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4" name="Straight Connector 284">
            <a:extLst>
              <a:ext uri="{FF2B5EF4-FFF2-40B4-BE49-F238E27FC236}">
                <a16:creationId xmlns:a16="http://schemas.microsoft.com/office/drawing/2014/main" xmlns="" id="{96813872-5B12-54F3-31E3-93885B47A305}"/>
              </a:ext>
            </a:extLst>
          </p:cNvPr>
          <p:cNvCxnSpPr>
            <a:cxnSpLocks/>
          </p:cNvCxnSpPr>
          <p:nvPr/>
        </p:nvCxnSpPr>
        <p:spPr>
          <a:xfrm>
            <a:off x="7215174" y="1385172"/>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 name="Group 220">
            <a:extLst>
              <a:ext uri="{FF2B5EF4-FFF2-40B4-BE49-F238E27FC236}">
                <a16:creationId xmlns:a16="http://schemas.microsoft.com/office/drawing/2014/main" xmlns="" id="{E7553C75-0D49-FF6E-B300-0EA08686BE48}"/>
              </a:ext>
            </a:extLst>
          </p:cNvPr>
          <p:cNvGrpSpPr/>
          <p:nvPr/>
        </p:nvGrpSpPr>
        <p:grpSpPr>
          <a:xfrm>
            <a:off x="4477518" y="5391624"/>
            <a:ext cx="533400" cy="408605"/>
            <a:chOff x="5906184" y="1486857"/>
            <a:chExt cx="355600" cy="272361"/>
          </a:xfrm>
        </p:grpSpPr>
        <p:sp>
          <p:nvSpPr>
            <p:cNvPr id="249" name="Oval 221">
              <a:extLst>
                <a:ext uri="{FF2B5EF4-FFF2-40B4-BE49-F238E27FC236}">
                  <a16:creationId xmlns:a16="http://schemas.microsoft.com/office/drawing/2014/main" xmlns="" id="{FA4AC420-6D21-D08C-FBA4-0CC071E143F5}"/>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0" name="TextBox 222">
              <a:extLst>
                <a:ext uri="{FF2B5EF4-FFF2-40B4-BE49-F238E27FC236}">
                  <a16:creationId xmlns:a16="http://schemas.microsoft.com/office/drawing/2014/main" xmlns="" id="{21218A20-C3E8-6B6B-AA0A-6FD84CA3BA7F}"/>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260" name="肘形接點 68">
            <a:extLst>
              <a:ext uri="{FF2B5EF4-FFF2-40B4-BE49-F238E27FC236}">
                <a16:creationId xmlns:a16="http://schemas.microsoft.com/office/drawing/2014/main" xmlns="" id="{CEC6649D-067F-CD8B-9CAE-AED7FDFF001F}"/>
              </a:ext>
            </a:extLst>
          </p:cNvPr>
          <p:cNvCxnSpPr>
            <a:cxnSpLocks/>
            <a:stCxn id="20" idx="3"/>
          </p:cNvCxnSpPr>
          <p:nvPr/>
        </p:nvCxnSpPr>
        <p:spPr>
          <a:xfrm flipV="1">
            <a:off x="9271437" y="5063554"/>
            <a:ext cx="515505" cy="827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0" name="流程圖: 決策 19">
            <a:extLst>
              <a:ext uri="{FF2B5EF4-FFF2-40B4-BE49-F238E27FC236}">
                <a16:creationId xmlns:a16="http://schemas.microsoft.com/office/drawing/2014/main" xmlns="" id="{755F32AB-C46E-9110-E2D0-8EA8E1FF1712}"/>
              </a:ext>
            </a:extLst>
          </p:cNvPr>
          <p:cNvSpPr/>
          <p:nvPr/>
        </p:nvSpPr>
        <p:spPr bwMode="auto">
          <a:xfrm>
            <a:off x="7429488" y="4482766"/>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有</a:t>
            </a:r>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sp>
        <p:nvSpPr>
          <p:cNvPr id="24" name="TextBox 46">
            <a:extLst>
              <a:ext uri="{FF2B5EF4-FFF2-40B4-BE49-F238E27FC236}">
                <a16:creationId xmlns:a16="http://schemas.microsoft.com/office/drawing/2014/main" xmlns="" id="{37A965A7-1982-6357-90FF-DA4B54D885EC}"/>
              </a:ext>
            </a:extLst>
          </p:cNvPr>
          <p:cNvSpPr txBox="1"/>
          <p:nvPr/>
        </p:nvSpPr>
        <p:spPr>
          <a:xfrm>
            <a:off x="8307493" y="5915362"/>
            <a:ext cx="404262" cy="369389"/>
          </a:xfrm>
          <a:prstGeom prst="rect">
            <a:avLst/>
          </a:prstGeom>
          <a:noFill/>
        </p:spPr>
        <p:txBody>
          <a:bodyPr wrap="square" lIns="137160" tIns="68580" rIns="137160" bIns="68580" rtlCol="0">
            <a:spAutoFit/>
          </a:bodyPr>
          <a:lstStyle/>
          <a:p>
            <a:r>
              <a:rPr lang="zh-TW" altLang="en-US" sz="1500" dirty="0"/>
              <a:t>否</a:t>
            </a:r>
          </a:p>
        </p:txBody>
      </p:sp>
      <p:sp>
        <p:nvSpPr>
          <p:cNvPr id="38" name="TextBox 46">
            <a:extLst>
              <a:ext uri="{FF2B5EF4-FFF2-40B4-BE49-F238E27FC236}">
                <a16:creationId xmlns:a16="http://schemas.microsoft.com/office/drawing/2014/main" xmlns="" id="{03DF5834-375A-90DD-443B-29F2367C2ECE}"/>
              </a:ext>
            </a:extLst>
          </p:cNvPr>
          <p:cNvSpPr txBox="1"/>
          <p:nvPr/>
        </p:nvSpPr>
        <p:spPr>
          <a:xfrm>
            <a:off x="9286876" y="4682860"/>
            <a:ext cx="404262" cy="369332"/>
          </a:xfrm>
          <a:prstGeom prst="rect">
            <a:avLst/>
          </a:prstGeom>
          <a:noFill/>
        </p:spPr>
        <p:txBody>
          <a:bodyPr wrap="square" lIns="137160" tIns="68580" rIns="137160" bIns="68580" rtlCol="0">
            <a:spAutoFit/>
          </a:bodyPr>
          <a:lstStyle/>
          <a:p>
            <a:r>
              <a:rPr lang="zh-TW" altLang="en-US" sz="1500" dirty="0" smtClean="0"/>
              <a:t>是</a:t>
            </a:r>
            <a:endParaRPr lang="zh-TW" altLang="en-US" sz="1500" dirty="0"/>
          </a:p>
        </p:txBody>
      </p:sp>
      <p:cxnSp>
        <p:nvCxnSpPr>
          <p:cNvPr id="45" name="肘形接點 68">
            <a:extLst>
              <a:ext uri="{FF2B5EF4-FFF2-40B4-BE49-F238E27FC236}">
                <a16:creationId xmlns:a16="http://schemas.microsoft.com/office/drawing/2014/main" xmlns="" id="{7D130CFD-0AF1-DA8C-3190-FA2B1C4CB6FF}"/>
              </a:ext>
            </a:extLst>
          </p:cNvPr>
          <p:cNvCxnSpPr>
            <a:cxnSpLocks/>
            <a:stCxn id="20" idx="2"/>
            <a:endCxn id="90" idx="0"/>
          </p:cNvCxnSpPr>
          <p:nvPr/>
        </p:nvCxnSpPr>
        <p:spPr>
          <a:xfrm rot="16200000" flipH="1">
            <a:off x="7961797" y="6049557"/>
            <a:ext cx="833194" cy="5586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 name="肘形接點 68">
            <a:extLst>
              <a:ext uri="{FF2B5EF4-FFF2-40B4-BE49-F238E27FC236}">
                <a16:creationId xmlns:a16="http://schemas.microsoft.com/office/drawing/2014/main" xmlns="" id="{AEAC2BA6-B111-C913-9AFF-A8F491FF1775}"/>
              </a:ext>
            </a:extLst>
          </p:cNvPr>
          <p:cNvCxnSpPr>
            <a:cxnSpLocks/>
            <a:stCxn id="2" idx="3"/>
            <a:endCxn id="15" idx="1"/>
          </p:cNvCxnSpPr>
          <p:nvPr/>
        </p:nvCxnSpPr>
        <p:spPr>
          <a:xfrm flipV="1">
            <a:off x="2211080" y="2667847"/>
            <a:ext cx="803907" cy="718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9" name="流程圖: 文件 42">
            <a:extLst>
              <a:ext uri="{FF2B5EF4-FFF2-40B4-BE49-F238E27FC236}">
                <a16:creationId xmlns:a16="http://schemas.microsoft.com/office/drawing/2014/main" xmlns="" id="{1B9520FB-1781-F240-84E9-0969D71116D4}"/>
              </a:ext>
            </a:extLst>
          </p:cNvPr>
          <p:cNvSpPr/>
          <p:nvPr/>
        </p:nvSpPr>
        <p:spPr bwMode="auto">
          <a:xfrm>
            <a:off x="4548626" y="7050950"/>
            <a:ext cx="1637504" cy="6532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集團調料單</a:t>
            </a:r>
          </a:p>
        </p:txBody>
      </p:sp>
      <p:sp>
        <p:nvSpPr>
          <p:cNvPr id="66"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
        <p:nvSpPr>
          <p:cNvPr id="67" name="流程圖: 預設處理作業 21">
            <a:extLst>
              <a:ext uri="{FF2B5EF4-FFF2-40B4-BE49-F238E27FC236}">
                <a16:creationId xmlns="" xmlns:a16="http://schemas.microsoft.com/office/drawing/2014/main" id="{3DEDA78A-875A-00AA-B24D-87E820FD5E5C}"/>
              </a:ext>
            </a:extLst>
          </p:cNvPr>
          <p:cNvSpPr/>
          <p:nvPr/>
        </p:nvSpPr>
        <p:spPr bwMode="auto">
          <a:xfrm>
            <a:off x="12419921" y="447433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graphicFrame>
        <p:nvGraphicFramePr>
          <p:cNvPr id="68" name="表格 30">
            <a:extLst>
              <a:ext uri="{FF2B5EF4-FFF2-40B4-BE49-F238E27FC236}">
                <a16:creationId xmlns:a16="http://schemas.microsoft.com/office/drawing/2014/main" xmlns="" id="{5ED664D6-D205-ED36-2694-5FCBDB7DAAA6}"/>
              </a:ext>
            </a:extLst>
          </p:cNvPr>
          <p:cNvGraphicFramePr>
            <a:graphicFrameLocks noGrp="1"/>
          </p:cNvGraphicFramePr>
          <p:nvPr>
            <p:extLst>
              <p:ext uri="{D42A27DB-BD31-4B8C-83A1-F6EECF244321}">
                <p14:modId xmlns:p14="http://schemas.microsoft.com/office/powerpoint/2010/main" xmlns="" val="2166510685"/>
              </p:ext>
            </p:extLst>
          </p:nvPr>
        </p:nvGraphicFramePr>
        <p:xfrm>
          <a:off x="9786942" y="4563488"/>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ZMM087</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拋預留單至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69" name="表格 30">
            <a:extLst>
              <a:ext uri="{FF2B5EF4-FFF2-40B4-BE49-F238E27FC236}">
                <a16:creationId xmlns:a16="http://schemas.microsoft.com/office/drawing/2014/main" xmlns="" id="{44BEA7C9-9198-844F-A29F-3166704266EE}"/>
              </a:ext>
            </a:extLst>
          </p:cNvPr>
          <p:cNvGraphicFramePr>
            <a:graphicFrameLocks noGrp="1"/>
          </p:cNvGraphicFramePr>
          <p:nvPr>
            <p:extLst>
              <p:ext uri="{D42A27DB-BD31-4B8C-83A1-F6EECF244321}">
                <p14:modId xmlns:p14="http://schemas.microsoft.com/office/powerpoint/2010/main" xmlns="" val="4140414609"/>
              </p:ext>
            </p:extLst>
          </p:nvPr>
        </p:nvGraphicFramePr>
        <p:xfrm>
          <a:off x="9786942" y="6421345"/>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ZMM088</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回傳預留單過帳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70" name="Group 220">
            <a:extLst>
              <a:ext uri="{FF2B5EF4-FFF2-40B4-BE49-F238E27FC236}">
                <a16:creationId xmlns:a16="http://schemas.microsoft.com/office/drawing/2014/main" xmlns="" id="{F57C22EF-2BDC-F9B6-BCF7-039468E216F7}"/>
              </a:ext>
            </a:extLst>
          </p:cNvPr>
          <p:cNvGrpSpPr/>
          <p:nvPr/>
        </p:nvGrpSpPr>
        <p:grpSpPr>
          <a:xfrm>
            <a:off x="11392624" y="4377826"/>
            <a:ext cx="533400" cy="408605"/>
            <a:chOff x="5906184" y="1486857"/>
            <a:chExt cx="355600" cy="272361"/>
          </a:xfrm>
        </p:grpSpPr>
        <p:sp>
          <p:nvSpPr>
            <p:cNvPr id="71" name="Oval 221">
              <a:extLst>
                <a:ext uri="{FF2B5EF4-FFF2-40B4-BE49-F238E27FC236}">
                  <a16:creationId xmlns:a16="http://schemas.microsoft.com/office/drawing/2014/main" xmlns="" id="{AA75DF61-29DA-6269-959D-B828228516B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2" name="TextBox 222">
              <a:extLst>
                <a:ext uri="{FF2B5EF4-FFF2-40B4-BE49-F238E27FC236}">
                  <a16:creationId xmlns:a16="http://schemas.microsoft.com/office/drawing/2014/main" xmlns="" id="{D7373917-563C-07C1-04C7-50AA63B38113}"/>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en-US" altLang="zh-TW" sz="1500" dirty="0">
                <a:latin typeface="微軟正黑體" panose="020B0604030504040204" pitchFamily="34" charset="-120"/>
                <a:ea typeface="微軟正黑體" panose="020B0604030504040204" pitchFamily="34" charset="-120"/>
              </a:endParaRPr>
            </a:p>
          </p:txBody>
        </p:sp>
      </p:grpSp>
      <p:grpSp>
        <p:nvGrpSpPr>
          <p:cNvPr id="73" name="Group 220">
            <a:extLst>
              <a:ext uri="{FF2B5EF4-FFF2-40B4-BE49-F238E27FC236}">
                <a16:creationId xmlns:a16="http://schemas.microsoft.com/office/drawing/2014/main" xmlns="" id="{2D9D24A9-3257-3D1C-400D-8D57457C936F}"/>
              </a:ext>
            </a:extLst>
          </p:cNvPr>
          <p:cNvGrpSpPr/>
          <p:nvPr/>
        </p:nvGrpSpPr>
        <p:grpSpPr>
          <a:xfrm>
            <a:off x="11373244" y="6196180"/>
            <a:ext cx="533400" cy="408605"/>
            <a:chOff x="5906184" y="1486857"/>
            <a:chExt cx="355600" cy="272361"/>
          </a:xfrm>
        </p:grpSpPr>
        <p:sp>
          <p:nvSpPr>
            <p:cNvPr id="74"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5"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cxnSp>
        <p:nvCxnSpPr>
          <p:cNvPr id="76" name="肘形接點 68">
            <a:extLst>
              <a:ext uri="{FF2B5EF4-FFF2-40B4-BE49-F238E27FC236}">
                <a16:creationId xmlns="" xmlns:a16="http://schemas.microsoft.com/office/drawing/2014/main" id="{F47FAA44-2FFA-02CD-24BC-7BCE0F797E4B}"/>
              </a:ext>
            </a:extLst>
          </p:cNvPr>
          <p:cNvCxnSpPr>
            <a:cxnSpLocks/>
            <a:endCxn id="67" idx="1"/>
          </p:cNvCxnSpPr>
          <p:nvPr/>
        </p:nvCxnSpPr>
        <p:spPr>
          <a:xfrm>
            <a:off x="11644330" y="5063554"/>
            <a:ext cx="775591" cy="3007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77" name="肘形接點 68">
            <a:extLst>
              <a:ext uri="{FF2B5EF4-FFF2-40B4-BE49-F238E27FC236}">
                <a16:creationId xmlns="" xmlns:a16="http://schemas.microsoft.com/office/drawing/2014/main" id="{F47FAA44-2FFA-02CD-24BC-7BCE0F797E4B}"/>
              </a:ext>
            </a:extLst>
          </p:cNvPr>
          <p:cNvCxnSpPr>
            <a:cxnSpLocks/>
            <a:stCxn id="67" idx="2"/>
          </p:cNvCxnSpPr>
          <p:nvPr/>
        </p:nvCxnSpPr>
        <p:spPr>
          <a:xfrm rot="5400000">
            <a:off x="11845677" y="5511581"/>
            <a:ext cx="1279455" cy="168214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0" name="流程圖: 結束點 79">
            <a:extLst>
              <a:ext uri="{FF2B5EF4-FFF2-40B4-BE49-F238E27FC236}">
                <a16:creationId xmlns:a16="http://schemas.microsoft.com/office/drawing/2014/main" xmlns="" id="{AF6DEB4F-42E0-79A4-1C86-971AEA2097AF}"/>
              </a:ext>
            </a:extLst>
          </p:cNvPr>
          <p:cNvSpPr/>
          <p:nvPr/>
        </p:nvSpPr>
        <p:spPr bwMode="auto">
          <a:xfrm>
            <a:off x="12215834" y="3286906"/>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81" name="肘形接點 68">
            <a:extLst>
              <a:ext uri="{FF2B5EF4-FFF2-40B4-BE49-F238E27FC236}">
                <a16:creationId xmlns:a16="http://schemas.microsoft.com/office/drawing/2014/main" xmlns="" id="{CCD5A5D9-C1DA-077C-3F1C-9E450B7E667E}"/>
              </a:ext>
            </a:extLst>
          </p:cNvPr>
          <p:cNvCxnSpPr>
            <a:cxnSpLocks/>
            <a:endCxn id="83" idx="1"/>
          </p:cNvCxnSpPr>
          <p:nvPr/>
        </p:nvCxnSpPr>
        <p:spPr>
          <a:xfrm flipV="1">
            <a:off x="7000860" y="2477442"/>
            <a:ext cx="5214974" cy="16652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82" name="表格 30">
            <a:extLst>
              <a:ext uri="{FF2B5EF4-FFF2-40B4-BE49-F238E27FC236}">
                <a16:creationId xmlns:a16="http://schemas.microsoft.com/office/drawing/2014/main" xmlns="" id="{EC33E24D-3C3D-DF6B-077D-14ACD69841B4}"/>
              </a:ext>
            </a:extLst>
          </p:cNvPr>
          <p:cNvGraphicFramePr>
            <a:graphicFrameLocks noGrp="1"/>
          </p:cNvGraphicFramePr>
          <p:nvPr>
            <p:extLst>
              <p:ext uri="{D42A27DB-BD31-4B8C-83A1-F6EECF244321}">
                <p14:modId xmlns:p14="http://schemas.microsoft.com/office/powerpoint/2010/main" xmlns="" val="1805630698"/>
              </p:ext>
            </p:extLst>
          </p:nvPr>
        </p:nvGraphicFramePr>
        <p:xfrm>
          <a:off x="5237858" y="2045750"/>
          <a:ext cx="1797828" cy="1238592"/>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12864">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回覆友</a:t>
                      </a:r>
                      <a:r>
                        <a:rPr kumimoji="0" lang="zh-TW" altLang="en-US" sz="1500" dirty="0" smtClean="0">
                          <a:latin typeface="微軟正黑體" panose="020B0604030504040204" pitchFamily="34" charset="-120"/>
                          <a:ea typeface="微軟正黑體" panose="020B0604030504040204" pitchFamily="34" charset="-120"/>
                        </a:rPr>
                        <a:t>廠拒借</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83" name="流程圖: 預設處理作業 21">
            <a:extLst>
              <a:ext uri="{FF2B5EF4-FFF2-40B4-BE49-F238E27FC236}">
                <a16:creationId xmlns:a16="http://schemas.microsoft.com/office/drawing/2014/main" xmlns="" id="{CA6DB04D-30B6-A903-A3EC-371FF3153FCD}"/>
              </a:ext>
            </a:extLst>
          </p:cNvPr>
          <p:cNvSpPr/>
          <p:nvPr/>
        </p:nvSpPr>
        <p:spPr bwMode="auto">
          <a:xfrm>
            <a:off x="12215834" y="185814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buClr>
                <a:srgbClr val="000000"/>
              </a:buClr>
            </a:pPr>
            <a:r>
              <a:rPr lang="en-US" altLang="zh-TW" sz="1500" dirty="0" smtClean="0">
                <a:latin typeface="微軟正黑體" panose="020B0604030504040204" pitchFamily="34" charset="-120"/>
                <a:ea typeface="微軟正黑體" panose="020B0604030504040204" pitchFamily="34" charset="-120"/>
                <a:sym typeface="Arial"/>
              </a:rPr>
              <a:t>MM-PU-0030-01</a:t>
            </a:r>
          </a:p>
          <a:p>
            <a:pPr algn="ctr" eaLnBrk="0" hangingPunct="0">
              <a:buClr>
                <a:srgbClr val="000000"/>
              </a:buClr>
            </a:pPr>
            <a:r>
              <a:rPr lang="zh-TW" altLang="en-US" sz="1500" dirty="0" smtClean="0">
                <a:latin typeface="微軟正黑體" panose="020B0604030504040204" pitchFamily="34" charset="-120"/>
                <a:ea typeface="微軟正黑體" panose="020B0604030504040204" pitchFamily="34" charset="-120"/>
                <a:sym typeface="Arial"/>
              </a:rPr>
              <a:t>庫存類採購流程</a:t>
            </a:r>
            <a:r>
              <a:rPr lang="en-US" altLang="zh-TW" sz="1500" dirty="0" smtClean="0">
                <a:latin typeface="微軟正黑體" panose="020B0604030504040204" pitchFamily="34" charset="-120"/>
                <a:ea typeface="微軟正黑體" panose="020B0604030504040204" pitchFamily="34" charset="-120"/>
                <a:sym typeface="Arial"/>
              </a:rPr>
              <a:t>(</a:t>
            </a:r>
            <a:r>
              <a:rPr lang="zh-TW" altLang="en-US" sz="1500" dirty="0" smtClean="0">
                <a:latin typeface="微軟正黑體" panose="020B0604030504040204" pitchFamily="34" charset="-120"/>
                <a:ea typeface="微軟正黑體" panose="020B0604030504040204" pitchFamily="34" charset="-120"/>
                <a:sym typeface="Arial"/>
              </a:rPr>
              <a:t>借料</a:t>
            </a:r>
            <a:r>
              <a:rPr lang="en-US" altLang="zh-TW" sz="1500" dirty="0" smtClean="0">
                <a:latin typeface="微軟正黑體" panose="020B0604030504040204" pitchFamily="34" charset="-120"/>
                <a:ea typeface="微軟正黑體" panose="020B0604030504040204" pitchFamily="34" charset="-120"/>
                <a:sym typeface="Arial"/>
              </a:rPr>
              <a:t>)</a:t>
            </a:r>
            <a:endParaRPr lang="zh-TW" altLang="en-US" sz="1500" dirty="0" smtClean="0">
              <a:latin typeface="微軟正黑體" panose="020B0604030504040204" pitchFamily="34" charset="-120"/>
              <a:ea typeface="微軟正黑體" panose="020B0604030504040204" pitchFamily="34" charset="-120"/>
              <a:sym typeface="Arial"/>
            </a:endParaRP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84" name="肘形接點 68">
            <a:extLst>
              <a:ext uri="{FF2B5EF4-FFF2-40B4-BE49-F238E27FC236}">
                <a16:creationId xmlns:a16="http://schemas.microsoft.com/office/drawing/2014/main" xmlns="" id="{CCD5A5D9-C1DA-077C-3F1C-9E450B7E667E}"/>
              </a:ext>
            </a:extLst>
          </p:cNvPr>
          <p:cNvCxnSpPr>
            <a:cxnSpLocks/>
            <a:stCxn id="83" idx="2"/>
            <a:endCxn id="80" idx="0"/>
          </p:cNvCxnSpPr>
          <p:nvPr/>
        </p:nvCxnSpPr>
        <p:spPr>
          <a:xfrm rot="5400000">
            <a:off x="13023486" y="3188001"/>
            <a:ext cx="190169" cy="764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5" name="流程圖: 接點 51"/>
          <p:cNvSpPr/>
          <p:nvPr/>
        </p:nvSpPr>
        <p:spPr>
          <a:xfrm>
            <a:off x="10787074" y="35012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86" name="肘形接點 68">
            <a:extLst>
              <a:ext uri="{FF2B5EF4-FFF2-40B4-BE49-F238E27FC236}">
                <a16:creationId xmlns:a16="http://schemas.microsoft.com/office/drawing/2014/main" xmlns="" id="{8F7C505F-7260-03B6-4FCD-DD48D7BA1D80}"/>
              </a:ext>
            </a:extLst>
          </p:cNvPr>
          <p:cNvCxnSpPr>
            <a:cxnSpLocks/>
            <a:stCxn id="85" idx="6"/>
            <a:endCxn id="80" idx="1"/>
          </p:cNvCxnSpPr>
          <p:nvPr/>
        </p:nvCxnSpPr>
        <p:spPr>
          <a:xfrm flipV="1">
            <a:off x="11331754" y="3678188"/>
            <a:ext cx="884080" cy="5631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8" name="肘形接點 68">
            <a:extLst>
              <a:ext uri="{FF2B5EF4-FFF2-40B4-BE49-F238E27FC236}">
                <a16:creationId xmlns:a16="http://schemas.microsoft.com/office/drawing/2014/main" xmlns="" id="{8F7C505F-7260-03B6-4FCD-DD48D7BA1D80}"/>
              </a:ext>
            </a:extLst>
          </p:cNvPr>
          <p:cNvCxnSpPr>
            <a:cxnSpLocks/>
            <a:endCxn id="99" idx="0"/>
          </p:cNvCxnSpPr>
          <p:nvPr/>
        </p:nvCxnSpPr>
        <p:spPr>
          <a:xfrm rot="16200000" flipH="1">
            <a:off x="7850234" y="7938257"/>
            <a:ext cx="1064041" cy="4814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89" name="群組 30"/>
          <p:cNvGrpSpPr/>
          <p:nvPr/>
        </p:nvGrpSpPr>
        <p:grpSpPr>
          <a:xfrm>
            <a:off x="7500926" y="6494086"/>
            <a:ext cx="1810800" cy="1217256"/>
            <a:chOff x="15073354" y="8308668"/>
            <a:chExt cx="1810800" cy="1217256"/>
          </a:xfrm>
        </p:grpSpPr>
        <p:sp>
          <p:nvSpPr>
            <p:cNvPr id="90" name="流程圖: 程序 8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defTabSz="914400">
                <a:buClr>
                  <a:srgbClr val="000000"/>
                </a:buClr>
                <a:defRPr/>
              </a:pPr>
              <a:endParaRPr lang="en-GB" altLang="zh-TW" sz="1500" b="1" dirty="0">
                <a:latin typeface="微軟正黑體" panose="020B0604030504040204" pitchFamily="34" charset="-120"/>
                <a:ea typeface="微軟正黑體" panose="020B0604030504040204" pitchFamily="34" charset="-120"/>
              </a:endParaRPr>
            </a:p>
          </p:txBody>
        </p:sp>
        <p:sp>
          <p:nvSpPr>
            <p:cNvPr id="91" name="流程圖: 程序 9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打包出貨</a:t>
              </a:r>
              <a:endParaRPr lang="zh-TW" altLang="en-US" sz="1500" dirty="0">
                <a:latin typeface="微軟正黑體" panose="020B0604030504040204" pitchFamily="34" charset="-120"/>
                <a:ea typeface="微軟正黑體" panose="020B0604030504040204" pitchFamily="34" charset="-120"/>
              </a:endParaRPr>
            </a:p>
          </p:txBody>
        </p:sp>
        <p:sp>
          <p:nvSpPr>
            <p:cNvPr id="92" name="流程圖: 程序 9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93" name="流程圖: 程序 92"/>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94" name="群組 93"/>
          <p:cNvGrpSpPr/>
          <p:nvPr/>
        </p:nvGrpSpPr>
        <p:grpSpPr>
          <a:xfrm>
            <a:off x="7500926" y="8287566"/>
            <a:ext cx="2162966" cy="1424040"/>
            <a:chOff x="8715372" y="4366006"/>
            <a:chExt cx="2162966" cy="1424040"/>
          </a:xfrm>
        </p:grpSpPr>
        <p:grpSp>
          <p:nvGrpSpPr>
            <p:cNvPr id="95" name="群組 30"/>
            <p:cNvGrpSpPr/>
            <p:nvPr/>
          </p:nvGrpSpPr>
          <p:grpSpPr>
            <a:xfrm>
              <a:off x="8715372" y="4572790"/>
              <a:ext cx="1810800" cy="1217256"/>
              <a:chOff x="15073354" y="8308668"/>
              <a:chExt cx="1810800" cy="1217256"/>
            </a:xfrm>
          </p:grpSpPr>
          <p:sp>
            <p:nvSpPr>
              <p:cNvPr id="99" name="流程圖: 程序 9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buClr>
                    <a:srgbClr val="000000"/>
                  </a:buClr>
                  <a:defRPr/>
                </a:pPr>
                <a:r>
                  <a:rPr lang="en-GB" sz="1500" b="1" dirty="0" smtClean="0">
                    <a:latin typeface="微軟正黑體" panose="020B0604030504040204" pitchFamily="34" charset="-120"/>
                    <a:ea typeface="微軟正黑體" panose="020B0604030504040204" pitchFamily="34" charset="-120"/>
                  </a:rPr>
                  <a:t>MIGO</a:t>
                </a:r>
              </a:p>
            </p:txBody>
          </p:sp>
          <p:sp>
            <p:nvSpPr>
              <p:cNvPr id="100" name="流程圖: 程序 9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lvl="0" algn="ctr" eaLnBrk="0" hangingPunct="0">
                  <a:buClr>
                    <a:srgbClr val="000000"/>
                  </a:buClr>
                  <a:defRPr/>
                </a:pPr>
                <a:r>
                  <a:rPr lang="zh-TW" altLang="en-US" sz="1500" dirty="0" smtClean="0">
                    <a:latin typeface="微軟正黑體" panose="020B0604030504040204" pitchFamily="34" charset="-120"/>
                    <a:ea typeface="微軟正黑體" panose="020B0604030504040204" pitchFamily="34" charset="-120"/>
                  </a:rPr>
                  <a:t>轉到借料倉</a:t>
                </a:r>
                <a:endParaRPr lang="en-US" altLang="zh-TW" sz="1500" dirty="0" smtClean="0">
                  <a:latin typeface="微軟正黑體" panose="020B0604030504040204" pitchFamily="34" charset="-120"/>
                  <a:ea typeface="微軟正黑體" panose="020B0604030504040204" pitchFamily="34" charset="-120"/>
                </a:endParaRPr>
              </a:p>
              <a:p>
                <a:pPr algn="ctr" eaLnBrk="0" hangingPunct="0"/>
                <a:r>
                  <a:rPr lang="en-US" altLang="zh-TW" sz="1500" dirty="0" smtClean="0">
                    <a:latin typeface="微軟正黑體" panose="020B0604030504040204" pitchFamily="34" charset="-120"/>
                    <a:ea typeface="微軟正黑體" panose="020B0604030504040204" pitchFamily="34" charset="-120"/>
                    <a:sym typeface="Arial"/>
                  </a:rPr>
                  <a:t>(Mvt.</a:t>
                </a:r>
                <a:r>
                  <a:rPr lang="en-US" altLang="zh-TW" sz="1500" dirty="0" smtClean="0">
                    <a:solidFill>
                      <a:srgbClr val="FF0000"/>
                    </a:solidFill>
                    <a:latin typeface="微軟正黑體" panose="020B0604030504040204" pitchFamily="34" charset="-120"/>
                    <a:ea typeface="微軟正黑體" panose="020B0604030504040204" pitchFamily="34" charset="-120"/>
                    <a:sym typeface="Arial"/>
                  </a:rPr>
                  <a:t>911</a:t>
                </a:r>
                <a:r>
                  <a:rPr lang="en-US" altLang="zh-TW" sz="1500" dirty="0" smtClean="0">
                    <a:latin typeface="微軟正黑體" panose="020B0604030504040204" pitchFamily="34" charset="-120"/>
                    <a:ea typeface="微軟正黑體" panose="020B0604030504040204" pitchFamily="34" charset="-120"/>
                    <a:sym typeface="Arial"/>
                  </a:rPr>
                  <a:t>)</a:t>
                </a:r>
                <a:endParaRPr lang="zh-TW" altLang="en-US" sz="1500" dirty="0">
                  <a:latin typeface="微軟正黑體" panose="020B0604030504040204" pitchFamily="34" charset="-120"/>
                  <a:ea typeface="微軟正黑體" panose="020B0604030504040204" pitchFamily="34" charset="-120"/>
                  <a:sym typeface="Arial"/>
                </a:endParaRPr>
              </a:p>
            </p:txBody>
          </p:sp>
          <p:sp>
            <p:nvSpPr>
              <p:cNvPr id="101" name="流程圖: 程序 100"/>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2" name="流程圖: 程序 101"/>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96"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97"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8"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sp>
        <p:nvSpPr>
          <p:cNvPr id="103" name="流程圖: 接點 51"/>
          <p:cNvSpPr/>
          <p:nvPr/>
        </p:nvSpPr>
        <p:spPr>
          <a:xfrm>
            <a:off x="10429884" y="8930508"/>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104" name="肘形接點 68">
            <a:extLst>
              <a:ext uri="{FF2B5EF4-FFF2-40B4-BE49-F238E27FC236}">
                <a16:creationId xmlns:a16="http://schemas.microsoft.com/office/drawing/2014/main" xmlns="" id="{8F7C505F-7260-03B6-4FCD-DD48D7BA1D80}"/>
              </a:ext>
            </a:extLst>
          </p:cNvPr>
          <p:cNvCxnSpPr>
            <a:cxnSpLocks/>
            <a:stCxn id="100" idx="3"/>
            <a:endCxn id="103" idx="2"/>
          </p:cNvCxnSpPr>
          <p:nvPr/>
        </p:nvCxnSpPr>
        <p:spPr>
          <a:xfrm>
            <a:off x="9311726" y="9101573"/>
            <a:ext cx="1118158" cy="6221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23" name="TextBox 53">
            <a:extLst>
              <a:ext uri="{FF2B5EF4-FFF2-40B4-BE49-F238E27FC236}">
                <a16:creationId xmlns:a16="http://schemas.microsoft.com/office/drawing/2014/main" xmlns="" id="{30381EE2-3320-4812-6081-3A15B03E8B32}"/>
              </a:ext>
            </a:extLst>
          </p:cNvPr>
          <p:cNvSpPr txBox="1"/>
          <p:nvPr/>
        </p:nvSpPr>
        <p:spPr>
          <a:xfrm>
            <a:off x="14394343" y="2013759"/>
            <a:ext cx="3594197" cy="6232475"/>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友廠提出借</a:t>
            </a:r>
            <a:r>
              <a:rPr lang="zh-TW" altLang="en-US" dirty="0" smtClean="0"/>
              <a:t>料採購或是</a:t>
            </a:r>
            <a:r>
              <a:rPr lang="zh-TW" altLang="en-US" dirty="0"/>
              <a:t>經由統購來提出跟廠區的借</a:t>
            </a:r>
            <a:r>
              <a:rPr lang="zh-TW" altLang="en-US" dirty="0" smtClean="0"/>
              <a:t>料採購</a:t>
            </a:r>
            <a:r>
              <a:rPr lang="en-US" altLang="zh-TW" dirty="0" smtClean="0"/>
              <a:t>;</a:t>
            </a:r>
            <a:r>
              <a:rPr lang="zh-TW" altLang="en-US" dirty="0" smtClean="0"/>
              <a:t>但</a:t>
            </a:r>
            <a:r>
              <a:rPr lang="zh-TW" altLang="en-US" dirty="0"/>
              <a:t>如果有需報關，則建議用調料方式處理。</a:t>
            </a:r>
            <a:endParaRPr lang="en-US" altLang="zh-TW" dirty="0"/>
          </a:p>
          <a:p>
            <a:pPr marL="342900" indent="-342900">
              <a:buFont typeface="+mj-lt"/>
              <a:buAutoNum type="arabicPeriod"/>
            </a:pPr>
            <a:r>
              <a:rPr lang="zh-TW" altLang="en-US" dirty="0"/>
              <a:t>採購單位確認庫存狀態</a:t>
            </a:r>
            <a:r>
              <a:rPr lang="zh-TW" altLang="en-US" dirty="0" smtClean="0"/>
              <a:t>，決定是否允許</a:t>
            </a:r>
            <a:r>
              <a:rPr lang="zh-TW" altLang="en-US" dirty="0"/>
              <a:t>借</a:t>
            </a:r>
            <a:r>
              <a:rPr lang="zh-TW" altLang="en-US" dirty="0" smtClean="0"/>
              <a:t>出，並回覆友廠。</a:t>
            </a:r>
            <a:endParaRPr lang="en-US" altLang="zh-TW" dirty="0"/>
          </a:p>
          <a:p>
            <a:pPr marL="342900" indent="-342900">
              <a:buFont typeface="+mj-lt"/>
              <a:buAutoNum type="arabicPeriod"/>
            </a:pPr>
            <a:r>
              <a:rPr lang="zh-TW" altLang="en-US" dirty="0"/>
              <a:t>採購單位建立借料申請單，列印借料申請單，並通知進出口報關及倉庫備料打包，化工還需有集團調料單，同步知會統購單位。 </a:t>
            </a:r>
            <a:endParaRPr lang="en-US" altLang="zh-TW" dirty="0"/>
          </a:p>
          <a:p>
            <a:pPr marL="342900" indent="-342900">
              <a:buFont typeface="+mj-lt"/>
              <a:buAutoNum type="arabicPeriod"/>
            </a:pPr>
            <a:r>
              <a:rPr lang="zh-TW" altLang="en-US" dirty="0" smtClean="0"/>
              <a:t>未使用</a:t>
            </a:r>
            <a:r>
              <a:rPr lang="en-US" altLang="zh-TW" dirty="0" smtClean="0"/>
              <a:t>WMS</a:t>
            </a:r>
            <a:r>
              <a:rPr lang="zh-TW" altLang="en-US" dirty="0" smtClean="0"/>
              <a:t>，倉</a:t>
            </a:r>
            <a:r>
              <a:rPr lang="zh-TW" altLang="en-US" dirty="0"/>
              <a:t>管人員依據借料</a:t>
            </a:r>
            <a:r>
              <a:rPr lang="zh-TW" altLang="en-US" dirty="0" smtClean="0"/>
              <a:t>申請表參考預留單執行</a:t>
            </a:r>
            <a:r>
              <a:rPr lang="zh-TW" altLang="en-US" dirty="0"/>
              <a:t>調撥庫存到借料</a:t>
            </a:r>
            <a:r>
              <a:rPr lang="zh-TW" altLang="en-US" dirty="0" smtClean="0"/>
              <a:t>倉。</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altLang="en-US" dirty="0" smtClean="0"/>
              <a:t>ZMM087</a:t>
            </a:r>
            <a:r>
              <a:rPr lang="zh-TW" altLang="en-US" dirty="0" smtClean="0"/>
              <a:t>將</a:t>
            </a:r>
            <a:r>
              <a:rPr lang="zh-TW" altLang="en-US" dirty="0" smtClean="0">
                <a:sym typeface="Arial"/>
              </a:rPr>
              <a:t>預留單至</a:t>
            </a:r>
            <a:r>
              <a:rPr lang="en-US" altLang="zh-TW" dirty="0" smtClean="0">
                <a:sym typeface="Arial"/>
              </a:rPr>
              <a:t>WMS</a:t>
            </a:r>
            <a:r>
              <a:rPr lang="zh-TW" altLang="en-US" dirty="0" smtClean="0">
                <a:sym typeface="Arial"/>
              </a:rPr>
              <a:t>進行</a:t>
            </a:r>
            <a:r>
              <a:rPr lang="zh-TW" altLang="en-US" dirty="0" smtClean="0"/>
              <a:t>調倉下架作業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altLang="en-US" dirty="0" smtClean="0"/>
              <a:t>ZMM088</a:t>
            </a:r>
            <a:r>
              <a:rPr lang="zh-TW" altLang="en-US" dirty="0" smtClean="0"/>
              <a:t>將</a:t>
            </a:r>
            <a:r>
              <a:rPr lang="zh-TW" altLang="en-US" dirty="0" smtClean="0">
                <a:sym typeface="Arial"/>
              </a:rPr>
              <a:t>預留單作業結果傳入</a:t>
            </a:r>
            <a:r>
              <a:rPr lang="en-US" altLang="zh-TW" dirty="0" smtClean="0">
                <a:sym typeface="Arial"/>
              </a:rPr>
              <a:t>SAP</a:t>
            </a:r>
            <a:r>
              <a:rPr lang="zh-TW" altLang="en-US" dirty="0" smtClean="0">
                <a:sym typeface="Arial"/>
              </a:rPr>
              <a:t>進行過帳</a:t>
            </a:r>
            <a:endParaRPr lang="en-US" altLang="zh-TW" dirty="0" smtClean="0"/>
          </a:p>
          <a:p>
            <a:pPr marL="342900" indent="-342900">
              <a:buFont typeface="+mj-lt"/>
              <a:buAutoNum type="arabicPeriod"/>
            </a:pPr>
            <a:endParaRPr lang="en-US" altLang="zh-TW" dirty="0"/>
          </a:p>
          <a:p>
            <a:endParaRPr lang="en-US" altLang="zh-TW" dirty="0"/>
          </a:p>
        </p:txBody>
      </p:sp>
      <p:sp>
        <p:nvSpPr>
          <p:cNvPr id="124" name="流程圖: 預設處理作業 21">
            <a:extLst>
              <a:ext uri="{FF2B5EF4-FFF2-40B4-BE49-F238E27FC236}">
                <a16:creationId xmlns:a16="http://schemas.microsoft.com/office/drawing/2014/main" xmlns="" id="{CA6DB04D-30B6-A903-A3EC-371FF3153FCD}"/>
              </a:ext>
            </a:extLst>
          </p:cNvPr>
          <p:cNvSpPr/>
          <p:nvPr/>
        </p:nvSpPr>
        <p:spPr bwMode="auto">
          <a:xfrm>
            <a:off x="430862" y="398604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buClr>
                <a:srgbClr val="000000"/>
              </a:buClr>
            </a:pPr>
            <a:r>
              <a:rPr lang="en-US" altLang="zh-TW" sz="1500" dirty="0" smtClean="0">
                <a:latin typeface="微軟正黑體" panose="020B0604030504040204" pitchFamily="34" charset="-120"/>
                <a:ea typeface="微軟正黑體" panose="020B0604030504040204" pitchFamily="34" charset="-120"/>
                <a:sym typeface="Arial"/>
              </a:rPr>
              <a:t>MM-PU-0030-01</a:t>
            </a:r>
          </a:p>
          <a:p>
            <a:pPr algn="ctr" eaLnBrk="0" hangingPunct="0">
              <a:buClr>
                <a:srgbClr val="000000"/>
              </a:buClr>
            </a:pPr>
            <a:r>
              <a:rPr lang="zh-TW" altLang="en-US" sz="1500" dirty="0" smtClean="0">
                <a:latin typeface="微軟正黑體" panose="020B0604030504040204" pitchFamily="34" charset="-120"/>
                <a:ea typeface="微軟正黑體" panose="020B0604030504040204" pitchFamily="34" charset="-120"/>
                <a:sym typeface="Arial"/>
              </a:rPr>
              <a:t>庫存類採購流程</a:t>
            </a:r>
            <a:r>
              <a:rPr lang="en-US" altLang="zh-TW" sz="1500" dirty="0" smtClean="0">
                <a:latin typeface="微軟正黑體" panose="020B0604030504040204" pitchFamily="34" charset="-120"/>
                <a:ea typeface="微軟正黑體" panose="020B0604030504040204" pitchFamily="34" charset="-120"/>
                <a:sym typeface="Arial"/>
              </a:rPr>
              <a:t>(</a:t>
            </a:r>
            <a:r>
              <a:rPr lang="zh-TW" altLang="en-US" sz="1500" dirty="0" smtClean="0">
                <a:latin typeface="微軟正黑體" panose="020B0604030504040204" pitchFamily="34" charset="-120"/>
                <a:ea typeface="微軟正黑體" panose="020B0604030504040204" pitchFamily="34" charset="-120"/>
                <a:sym typeface="Arial"/>
              </a:rPr>
              <a:t>借料</a:t>
            </a:r>
            <a:r>
              <a:rPr lang="en-US" altLang="zh-TW" sz="1500" dirty="0" smtClean="0">
                <a:latin typeface="微軟正黑體" panose="020B0604030504040204" pitchFamily="34" charset="-120"/>
                <a:ea typeface="微軟正黑體" panose="020B0604030504040204" pitchFamily="34" charset="-120"/>
                <a:sym typeface="Arial"/>
              </a:rPr>
              <a:t>)</a:t>
            </a:r>
            <a:endParaRPr lang="zh-TW" altLang="en-US" sz="1500" dirty="0" smtClean="0">
              <a:latin typeface="微軟正黑體" panose="020B0604030504040204" pitchFamily="34" charset="-120"/>
              <a:ea typeface="微軟正黑體" panose="020B0604030504040204" pitchFamily="34" charset="-120"/>
              <a:sym typeface="Arial"/>
            </a:endParaRP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128" name="肘形接點 68">
            <a:extLst>
              <a:ext uri="{FF2B5EF4-FFF2-40B4-BE49-F238E27FC236}">
                <a16:creationId xmlns:a16="http://schemas.microsoft.com/office/drawing/2014/main" xmlns="" id="{AEAC2BA6-B111-C913-9AFF-A8F491FF1775}"/>
              </a:ext>
            </a:extLst>
          </p:cNvPr>
          <p:cNvCxnSpPr>
            <a:cxnSpLocks/>
            <a:stCxn id="124" idx="0"/>
            <a:endCxn id="2" idx="2"/>
          </p:cNvCxnSpPr>
          <p:nvPr/>
        </p:nvCxnSpPr>
        <p:spPr>
          <a:xfrm rot="16200000" flipV="1">
            <a:off x="864925" y="3513555"/>
            <a:ext cx="919732" cy="2525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31" name="TextBox 2"/>
          <p:cNvSpPr/>
          <p:nvPr/>
        </p:nvSpPr>
        <p:spPr>
          <a:xfrm>
            <a:off x="16779540" y="698800"/>
            <a:ext cx="1508460"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spc="-1" dirty="0" smtClean="0">
                <a:solidFill>
                  <a:schemeClr val="dk1"/>
                </a:solidFill>
                <a:latin typeface="微軟正黑體"/>
                <a:ea typeface="微軟正黑體"/>
              </a:rPr>
              <a:t>2025/07/25</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7" name="TextBox 53">
            <a:extLst>
              <a:ext uri="{FF2B5EF4-FFF2-40B4-BE49-F238E27FC236}">
                <a16:creationId xmlns:a16="http://schemas.microsoft.com/office/drawing/2014/main" xmlns="" id="{30381EE2-3320-4812-6081-3A15B03E8B32}"/>
              </a:ext>
            </a:extLst>
          </p:cNvPr>
          <p:cNvSpPr txBox="1"/>
          <p:nvPr/>
        </p:nvSpPr>
        <p:spPr>
          <a:xfrm>
            <a:off x="14394343" y="2013760"/>
            <a:ext cx="3594197" cy="2908489"/>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借入</a:t>
            </a:r>
            <a:r>
              <a:rPr lang="zh-TW" altLang="en-US" dirty="0" smtClean="0"/>
              <a:t>方建立 借料採購單</a:t>
            </a:r>
            <a:r>
              <a:rPr lang="en-US" altLang="zh-TW" dirty="0" smtClean="0"/>
              <a:t>POBR</a:t>
            </a:r>
            <a:r>
              <a:rPr lang="zh-TW" altLang="en-US" dirty="0" smtClean="0"/>
              <a:t>，勾免費避免收貨時產生暫估應付。</a:t>
            </a:r>
            <a:endParaRPr lang="en-US" altLang="zh-TW" dirty="0" smtClean="0"/>
          </a:p>
          <a:p>
            <a:pPr marL="342900" indent="-342900">
              <a:buFont typeface="+mj-lt"/>
              <a:buAutoNum type="arabicPeriod"/>
            </a:pPr>
            <a:r>
              <a:rPr lang="zh-TW" altLang="en-US" dirty="0" smtClean="0"/>
              <a:t>確認</a:t>
            </a:r>
            <a:r>
              <a:rPr lang="zh-TW" altLang="en-US" dirty="0"/>
              <a:t>自行購買的採購單貨物已經到廠。</a:t>
            </a:r>
            <a:endParaRPr lang="en-US" altLang="zh-TW" dirty="0"/>
          </a:p>
          <a:p>
            <a:pPr marL="342900" indent="-342900">
              <a:buFont typeface="+mj-lt"/>
              <a:buAutoNum type="arabicPeriod"/>
            </a:pPr>
            <a:r>
              <a:rPr lang="zh-TW" altLang="en-US" dirty="0"/>
              <a:t>借入方倉管人員整理要歸還的貨物清單，並執行借用採購單的收貨</a:t>
            </a:r>
            <a:r>
              <a:rPr lang="zh-TW" altLang="en-US" dirty="0" smtClean="0"/>
              <a:t>迴轉</a:t>
            </a:r>
            <a:r>
              <a:rPr lang="en-US" altLang="zh-TW" dirty="0" smtClean="0"/>
              <a:t>. </a:t>
            </a:r>
          </a:p>
          <a:p>
            <a:pPr marL="342900" indent="-342900">
              <a:buFont typeface="+mj-lt"/>
              <a:buAutoNum type="arabicPeriod"/>
            </a:pPr>
            <a:r>
              <a:rPr lang="zh-TW" altLang="en-US" dirty="0" smtClean="0"/>
              <a:t>針對已歸還的借料採購單標記已完成交貨</a:t>
            </a:r>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4203869" y="1371054"/>
            <a:ext cx="1853246" cy="400110"/>
          </a:xfrm>
          <a:prstGeom prst="rect">
            <a:avLst/>
          </a:prstGeom>
          <a:noFill/>
        </p:spPr>
        <p:txBody>
          <a:bodyPr wrap="square" lIns="137160" tIns="68580" rIns="137160" bIns="68580" rtlCol="0">
            <a:spAutoFit/>
          </a:bodyPr>
          <a:lstStyle/>
          <a:p>
            <a:pPr algn="ctr"/>
            <a:r>
              <a:rPr lang="zh-TW" altLang="en-US" sz="1700" dirty="0"/>
              <a:t>採購單位</a:t>
            </a:r>
            <a:r>
              <a:rPr lang="en-US" altLang="zh-TW" sz="1700" dirty="0"/>
              <a:t>(</a:t>
            </a:r>
            <a:r>
              <a:rPr lang="zh-TW" altLang="en-US" sz="1700" dirty="0"/>
              <a:t>借入方</a:t>
            </a:r>
            <a:r>
              <a:rPr lang="en-US" altLang="zh-TW" sz="1700" dirty="0"/>
              <a:t>)</a:t>
            </a:r>
            <a:endParaRPr lang="zh-TW" altLang="en-US" sz="1700" dirty="0"/>
          </a:p>
        </p:txBody>
      </p:sp>
      <p:cxnSp>
        <p:nvCxnSpPr>
          <p:cNvPr id="11" name="肘形接點 68">
            <a:extLst>
              <a:ext uri="{FF2B5EF4-FFF2-40B4-BE49-F238E27FC236}">
                <a16:creationId xmlns:a16="http://schemas.microsoft.com/office/drawing/2014/main" xmlns="" id="{24024915-9D25-B9A4-2836-72F0277283A4}"/>
              </a:ext>
            </a:extLst>
          </p:cNvPr>
          <p:cNvCxnSpPr>
            <a:cxnSpLocks/>
            <a:stCxn id="39" idx="3"/>
            <a:endCxn id="12" idx="1"/>
          </p:cNvCxnSpPr>
          <p:nvPr/>
        </p:nvCxnSpPr>
        <p:spPr>
          <a:xfrm flipV="1">
            <a:off x="2243974" y="3084483"/>
            <a:ext cx="1808555" cy="152086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a16="http://schemas.microsoft.com/office/drawing/2014/main" xmlns="" id="{0F2761B4-5F29-64DD-1721-5831D073894C}"/>
              </a:ext>
            </a:extLst>
          </p:cNvPr>
          <p:cNvSpPr txBox="1"/>
          <p:nvPr/>
        </p:nvSpPr>
        <p:spPr>
          <a:xfrm>
            <a:off x="8983373" y="1371054"/>
            <a:ext cx="1853246" cy="400110"/>
          </a:xfrm>
          <a:prstGeom prst="rect">
            <a:avLst/>
          </a:prstGeom>
          <a:noFill/>
        </p:spPr>
        <p:txBody>
          <a:bodyPr wrap="square" lIns="137160" tIns="68580" rIns="137160" bIns="68580" rtlCol="0">
            <a:spAutoFit/>
          </a:bodyPr>
          <a:lstStyle/>
          <a:p>
            <a:pPr algn="ctr"/>
            <a:r>
              <a:rPr lang="zh-TW" altLang="en-US" sz="1700" dirty="0"/>
              <a:t>倉庫人員</a:t>
            </a:r>
            <a:r>
              <a:rPr lang="en-US" altLang="zh-TW" sz="1700" dirty="0"/>
              <a:t>(</a:t>
            </a:r>
            <a:r>
              <a:rPr lang="zh-TW" altLang="en-US" sz="1700" dirty="0"/>
              <a:t>借入方</a:t>
            </a:r>
            <a:r>
              <a:rPr lang="en-US" altLang="zh-TW" sz="1700" dirty="0"/>
              <a:t>)</a:t>
            </a:r>
            <a:endParaRPr lang="zh-TW" altLang="en-US" sz="1700" dirty="0"/>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MM-IM-0060-02</a:t>
            </a:r>
            <a:r>
              <a:rPr kumimoji="0" lang="zh-TW" altLang="en-US" b="1" dirty="0">
                <a:latin typeface="微軟正黑體" panose="020B0604030504040204" pitchFamily="34" charset="-120"/>
                <a:ea typeface="微軟正黑體" panose="020B0604030504040204" pitchFamily="34" charset="-120"/>
              </a:rPr>
              <a:t>原物料借料作業流程</a:t>
            </a:r>
            <a:r>
              <a:rPr kumimoji="0" lang="en-US" altLang="zh-TW" b="1" dirty="0">
                <a:latin typeface="微軟正黑體" panose="020B0604030504040204" pitchFamily="34" charset="-120"/>
                <a:ea typeface="微軟正黑體" panose="020B0604030504040204" pitchFamily="34" charset="-120"/>
              </a:rPr>
              <a:t>(</a:t>
            </a:r>
            <a:r>
              <a:rPr kumimoji="0" lang="zh-TW" altLang="en-US" b="1" dirty="0">
                <a:latin typeface="微軟正黑體" panose="020B0604030504040204" pitchFamily="34" charset="-120"/>
                <a:ea typeface="微軟正黑體" panose="020B0604030504040204" pitchFamily="34" charset="-120"/>
              </a:rPr>
              <a:t>歸還</a:t>
            </a:r>
            <a:r>
              <a:rPr kumimoji="0"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cxnSp>
        <p:nvCxnSpPr>
          <p:cNvPr id="26" name="肘形接點 68">
            <a:extLst>
              <a:ext uri="{FF2B5EF4-FFF2-40B4-BE49-F238E27FC236}">
                <a16:creationId xmlns:a16="http://schemas.microsoft.com/office/drawing/2014/main" xmlns="" id="{3F9F86D7-4A2F-F35E-FAA9-7CFC431F07EA}"/>
              </a:ext>
            </a:extLst>
          </p:cNvPr>
          <p:cNvCxnSpPr>
            <a:cxnSpLocks/>
            <a:stCxn id="12" idx="3"/>
            <a:endCxn id="37" idx="0"/>
          </p:cNvCxnSpPr>
          <p:nvPr/>
        </p:nvCxnSpPr>
        <p:spPr>
          <a:xfrm>
            <a:off x="5850359" y="3084482"/>
            <a:ext cx="4086852" cy="693275"/>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4" name="Straight Connector 284">
            <a:extLst>
              <a:ext uri="{FF2B5EF4-FFF2-40B4-BE49-F238E27FC236}">
                <a16:creationId xmlns:a16="http://schemas.microsoft.com/office/drawing/2014/main" xmlns="" id="{CFFAF9F5-E61A-7253-C8D5-BB570ED4E638}"/>
              </a:ext>
            </a:extLst>
          </p:cNvPr>
          <p:cNvCxnSpPr>
            <a:cxnSpLocks/>
          </p:cNvCxnSpPr>
          <p:nvPr/>
        </p:nvCxnSpPr>
        <p:spPr>
          <a:xfrm>
            <a:off x="7996947" y="1384773"/>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肘形接點 68">
            <a:extLst>
              <a:ext uri="{FF2B5EF4-FFF2-40B4-BE49-F238E27FC236}">
                <a16:creationId xmlns:a16="http://schemas.microsoft.com/office/drawing/2014/main" xmlns="" id="{FF40C68D-0AA2-B3D0-C875-82AE83677706}"/>
              </a:ext>
            </a:extLst>
          </p:cNvPr>
          <p:cNvCxnSpPr>
            <a:cxnSpLocks/>
            <a:endCxn id="31" idx="1"/>
          </p:cNvCxnSpPr>
          <p:nvPr/>
        </p:nvCxnSpPr>
        <p:spPr>
          <a:xfrm>
            <a:off x="5072034" y="7430310"/>
            <a:ext cx="7825448" cy="1295888"/>
          </a:xfrm>
          <a:prstGeom prst="bentConnector3">
            <a:avLst>
              <a:gd name="adj1" fmla="val -27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肘形接點 68">
            <a:extLst>
              <a:ext uri="{FF2B5EF4-FFF2-40B4-BE49-F238E27FC236}">
                <a16:creationId xmlns:a16="http://schemas.microsoft.com/office/drawing/2014/main" xmlns="" id="{C2102D13-B2FB-D13B-1376-3923847B6F1A}"/>
              </a:ext>
            </a:extLst>
          </p:cNvPr>
          <p:cNvCxnSpPr>
            <a:cxnSpLocks/>
          </p:cNvCxnSpPr>
          <p:nvPr/>
        </p:nvCxnSpPr>
        <p:spPr>
          <a:xfrm rot="5400000">
            <a:off x="9108281" y="5608641"/>
            <a:ext cx="1643074" cy="158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34" name="表格 30">
            <a:extLst>
              <a:ext uri="{FF2B5EF4-FFF2-40B4-BE49-F238E27FC236}">
                <a16:creationId xmlns:a16="http://schemas.microsoft.com/office/drawing/2014/main" xmlns="" id="{57861B40-361E-EC99-CE5A-D2EBCA23611B}"/>
              </a:ext>
            </a:extLst>
          </p:cNvPr>
          <p:cNvGraphicFramePr>
            <a:graphicFrameLocks noGrp="1"/>
          </p:cNvGraphicFramePr>
          <p:nvPr>
            <p:extLst>
              <p:ext uri="{D42A27DB-BD31-4B8C-83A1-F6EECF244321}">
                <p14:modId xmlns:p14="http://schemas.microsoft.com/office/powerpoint/2010/main" xmlns="" val="409436444"/>
              </p:ext>
            </p:extLst>
          </p:nvPr>
        </p:nvGraphicFramePr>
        <p:xfrm>
          <a:off x="9034940" y="6491792"/>
          <a:ext cx="1790772" cy="1040318"/>
        </p:xfrm>
        <a:graphic>
          <a:graphicData uri="http://schemas.openxmlformats.org/drawingml/2006/table">
            <a:tbl>
              <a:tblPr>
                <a:tableStyleId>{5940675A-B579-460E-94D1-54222C63F5DA}</a:tableStyleId>
              </a:tblPr>
              <a:tblGrid>
                <a:gridCol w="895386">
                  <a:extLst>
                    <a:ext uri="{9D8B030D-6E8A-4147-A177-3AD203B41FA5}">
                      <a16:colId xmlns:a16="http://schemas.microsoft.com/office/drawing/2014/main" xmlns="" val="3433979995"/>
                    </a:ext>
                  </a:extLst>
                </a:gridCol>
                <a:gridCol w="895386">
                  <a:extLst>
                    <a:ext uri="{9D8B030D-6E8A-4147-A177-3AD203B41FA5}">
                      <a16:colId xmlns:a16="http://schemas.microsoft.com/office/drawing/2014/main" xmlns="" val="3727974752"/>
                    </a:ext>
                  </a:extLst>
                </a:gridCol>
              </a:tblGrid>
              <a:tr h="367014">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smtClean="0">
                          <a:latin typeface="微軟正黑體" panose="020B0604030504040204" pitchFamily="34" charset="-120"/>
                          <a:ea typeface="微軟正黑體" panose="020B0604030504040204" pitchFamily="34" charset="-120"/>
                        </a:rPr>
                        <a:t>執行借料收貨廻轉</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37" name="表格 30">
            <a:extLst>
              <a:ext uri="{FF2B5EF4-FFF2-40B4-BE49-F238E27FC236}">
                <a16:creationId xmlns:a16="http://schemas.microsoft.com/office/drawing/2014/main" xmlns="" id="{77B33AE1-04EC-EAC3-48D4-3080AA6DF4F4}"/>
              </a:ext>
            </a:extLst>
          </p:cNvPr>
          <p:cNvGraphicFramePr>
            <a:graphicFrameLocks noGrp="1"/>
          </p:cNvGraphicFramePr>
          <p:nvPr>
            <p:extLst>
              <p:ext uri="{D42A27DB-BD31-4B8C-83A1-F6EECF244321}">
                <p14:modId xmlns:p14="http://schemas.microsoft.com/office/powerpoint/2010/main" xmlns="" val="4136837869"/>
              </p:ext>
            </p:extLst>
          </p:nvPr>
        </p:nvGraphicFramePr>
        <p:xfrm>
          <a:off x="9038295" y="3777757"/>
          <a:ext cx="1797832" cy="100995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進行歸還貨物整理</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3" name="Group 220">
            <a:extLst>
              <a:ext uri="{FF2B5EF4-FFF2-40B4-BE49-F238E27FC236}">
                <a16:creationId xmlns:a16="http://schemas.microsoft.com/office/drawing/2014/main" xmlns="" id="{A9B401BC-DE49-5FC0-6565-D216316A23DA}"/>
              </a:ext>
            </a:extLst>
          </p:cNvPr>
          <p:cNvGrpSpPr/>
          <p:nvPr/>
        </p:nvGrpSpPr>
        <p:grpSpPr>
          <a:xfrm>
            <a:off x="10558952" y="6331461"/>
            <a:ext cx="533400" cy="408605"/>
            <a:chOff x="5906184" y="1486857"/>
            <a:chExt cx="355600" cy="272361"/>
          </a:xfrm>
        </p:grpSpPr>
        <p:sp>
          <p:nvSpPr>
            <p:cNvPr id="4"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2" name="流程圖: 結束點 1">
            <a:extLst>
              <a:ext uri="{FF2B5EF4-FFF2-40B4-BE49-F238E27FC236}">
                <a16:creationId xmlns:a16="http://schemas.microsoft.com/office/drawing/2014/main" xmlns="" id="{F71CE828-67C8-24B1-8BDA-226DF3FAF620}"/>
              </a:ext>
            </a:extLst>
          </p:cNvPr>
          <p:cNvSpPr/>
          <p:nvPr/>
        </p:nvSpPr>
        <p:spPr bwMode="auto">
          <a:xfrm>
            <a:off x="432426" y="2584189"/>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graphicFrame>
        <p:nvGraphicFramePr>
          <p:cNvPr id="12" name="表格 30">
            <a:extLst>
              <a:ext uri="{FF2B5EF4-FFF2-40B4-BE49-F238E27FC236}">
                <a16:creationId xmlns:a16="http://schemas.microsoft.com/office/drawing/2014/main" xmlns="" id="{DA1F7445-81E8-028D-1AC5-C2F58BF2ED4A}"/>
              </a:ext>
            </a:extLst>
          </p:cNvPr>
          <p:cNvGraphicFramePr>
            <a:graphicFrameLocks noGrp="1"/>
          </p:cNvGraphicFramePr>
          <p:nvPr>
            <p:extLst>
              <p:ext uri="{D42A27DB-BD31-4B8C-83A1-F6EECF244321}">
                <p14:modId xmlns:p14="http://schemas.microsoft.com/office/powerpoint/2010/main" xmlns="" val="427871611"/>
              </p:ext>
            </p:extLst>
          </p:nvPr>
        </p:nvGraphicFramePr>
        <p:xfrm>
          <a:off x="4052528" y="2465187"/>
          <a:ext cx="1797832" cy="123859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確認自行購買貨物已到廠</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6" name="Group 220">
            <a:extLst>
              <a:ext uri="{FF2B5EF4-FFF2-40B4-BE49-F238E27FC236}">
                <a16:creationId xmlns:a16="http://schemas.microsoft.com/office/drawing/2014/main" xmlns="" id="{10256224-14CA-A454-327E-563DAB23508F}"/>
              </a:ext>
            </a:extLst>
          </p:cNvPr>
          <p:cNvGrpSpPr/>
          <p:nvPr/>
        </p:nvGrpSpPr>
        <p:grpSpPr>
          <a:xfrm>
            <a:off x="5722662" y="2116050"/>
            <a:ext cx="533400" cy="408605"/>
            <a:chOff x="5906184" y="1486857"/>
            <a:chExt cx="355600" cy="272361"/>
          </a:xfrm>
        </p:grpSpPr>
        <p:sp>
          <p:nvSpPr>
            <p:cNvPr id="28" name="Oval 221">
              <a:extLst>
                <a:ext uri="{FF2B5EF4-FFF2-40B4-BE49-F238E27FC236}">
                  <a16:creationId xmlns:a16="http://schemas.microsoft.com/office/drawing/2014/main" xmlns="" id="{AD632AE6-871D-ECF4-CAB8-6CC01B3A690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33" name="TextBox 222">
              <a:extLst>
                <a:ext uri="{FF2B5EF4-FFF2-40B4-BE49-F238E27FC236}">
                  <a16:creationId xmlns:a16="http://schemas.microsoft.com/office/drawing/2014/main" xmlns="" id="{26EFBBAD-53D9-3DA7-F201-F46F1100F86F}"/>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31" name="流程圖: 換頁接點 52">
            <a:extLst>
              <a:ext uri="{FF2B5EF4-FFF2-40B4-BE49-F238E27FC236}">
                <a16:creationId xmlns:a16="http://schemas.microsoft.com/office/drawing/2014/main" xmlns="" id="{ABAABD7B-C927-79FD-0A60-67C1D208A8B5}"/>
              </a:ext>
            </a:extLst>
          </p:cNvPr>
          <p:cNvSpPr/>
          <p:nvPr/>
        </p:nvSpPr>
        <p:spPr bwMode="auto">
          <a:xfrm>
            <a:off x="12897482" y="8492510"/>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sp>
        <p:nvSpPr>
          <p:cNvPr id="39" name="流程圖: 預設處理作業 21">
            <a:extLst>
              <a:ext uri="{FF2B5EF4-FFF2-40B4-BE49-F238E27FC236}">
                <a16:creationId xmlns:a16="http://schemas.microsoft.com/office/drawing/2014/main" xmlns="" id="{CA6DB04D-30B6-A903-A3EC-371FF3153FCD}"/>
              </a:ext>
            </a:extLst>
          </p:cNvPr>
          <p:cNvSpPr/>
          <p:nvPr/>
        </p:nvSpPr>
        <p:spPr bwMode="auto">
          <a:xfrm>
            <a:off x="430862" y="398604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MM-IM-0010</a:t>
            </a:r>
          </a:p>
          <a:p>
            <a:pPr algn="ctr" eaLnBrk="0" hangingPunct="0"/>
            <a:r>
              <a:rPr lang="zh-TW" altLang="en-US" sz="1500" dirty="0">
                <a:latin typeface="微軟正黑體" panose="020B0604030504040204" pitchFamily="34" charset="-120"/>
                <a:ea typeface="微軟正黑體" panose="020B0604030504040204" pitchFamily="34" charset="-120"/>
              </a:rPr>
              <a:t>採購單收貨流程圖</a:t>
            </a:r>
          </a:p>
        </p:txBody>
      </p:sp>
      <p:cxnSp>
        <p:nvCxnSpPr>
          <p:cNvPr id="42" name="肘形接點 68">
            <a:extLst>
              <a:ext uri="{FF2B5EF4-FFF2-40B4-BE49-F238E27FC236}">
                <a16:creationId xmlns:a16="http://schemas.microsoft.com/office/drawing/2014/main" xmlns="" id="{592FF667-A29A-ECFD-A89F-864AFD336C87}"/>
              </a:ext>
            </a:extLst>
          </p:cNvPr>
          <p:cNvCxnSpPr>
            <a:cxnSpLocks/>
            <a:stCxn id="2" idx="2"/>
            <a:endCxn id="39" idx="0"/>
          </p:cNvCxnSpPr>
          <p:nvPr/>
        </p:nvCxnSpPr>
        <p:spPr>
          <a:xfrm rot="16200000" flipH="1">
            <a:off x="1024731" y="3673361"/>
            <a:ext cx="619296" cy="607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9"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grpSp>
        <p:nvGrpSpPr>
          <p:cNvPr id="27" name="Group 220">
            <a:extLst>
              <a:ext uri="{FF2B5EF4-FFF2-40B4-BE49-F238E27FC236}">
                <a16:creationId xmlns:a16="http://schemas.microsoft.com/office/drawing/2014/main" xmlns="" id="{10256224-14CA-A454-327E-563DAB23508F}"/>
              </a:ext>
            </a:extLst>
          </p:cNvPr>
          <p:cNvGrpSpPr/>
          <p:nvPr/>
        </p:nvGrpSpPr>
        <p:grpSpPr>
          <a:xfrm>
            <a:off x="2000200" y="3572658"/>
            <a:ext cx="533400" cy="408605"/>
            <a:chOff x="5906184" y="1486857"/>
            <a:chExt cx="355600" cy="272361"/>
          </a:xfrm>
        </p:grpSpPr>
        <p:sp>
          <p:nvSpPr>
            <p:cNvPr id="30" name="Oval 221">
              <a:extLst>
                <a:ext uri="{FF2B5EF4-FFF2-40B4-BE49-F238E27FC236}">
                  <a16:creationId xmlns:a16="http://schemas.microsoft.com/office/drawing/2014/main" xmlns="" id="{AD632AE6-871D-ECF4-CAB8-6CC01B3A690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32" name="TextBox 222">
              <a:extLst>
                <a:ext uri="{FF2B5EF4-FFF2-40B4-BE49-F238E27FC236}">
                  <a16:creationId xmlns:a16="http://schemas.microsoft.com/office/drawing/2014/main" xmlns="" id="{26EFBBAD-53D9-3DA7-F201-F46F1100F86F}"/>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38" name="表格 30">
            <a:extLst>
              <a:ext uri="{FF2B5EF4-FFF2-40B4-BE49-F238E27FC236}">
                <a16:creationId xmlns:a16="http://schemas.microsoft.com/office/drawing/2014/main" xmlns="" id="{57861B40-361E-EC99-CE5A-D2EBCA23611B}"/>
              </a:ext>
            </a:extLst>
          </p:cNvPr>
          <p:cNvGraphicFramePr>
            <a:graphicFrameLocks noGrp="1"/>
          </p:cNvGraphicFramePr>
          <p:nvPr>
            <p:extLst>
              <p:ext uri="{D42A27DB-BD31-4B8C-83A1-F6EECF244321}">
                <p14:modId xmlns:p14="http://schemas.microsoft.com/office/powerpoint/2010/main" xmlns="" val="409436444"/>
              </p:ext>
            </p:extLst>
          </p:nvPr>
        </p:nvGraphicFramePr>
        <p:xfrm>
          <a:off x="4143340" y="6430178"/>
          <a:ext cx="1790772" cy="1269000"/>
        </p:xfrm>
        <a:graphic>
          <a:graphicData uri="http://schemas.openxmlformats.org/drawingml/2006/table">
            <a:tbl>
              <a:tblPr>
                <a:tableStyleId>{5940675A-B579-460E-94D1-54222C63F5DA}</a:tableStyleId>
              </a:tblPr>
              <a:tblGrid>
                <a:gridCol w="895386">
                  <a:extLst>
                    <a:ext uri="{9D8B030D-6E8A-4147-A177-3AD203B41FA5}">
                      <a16:colId xmlns:a16="http://schemas.microsoft.com/office/drawing/2014/main" xmlns="" val="3433979995"/>
                    </a:ext>
                  </a:extLst>
                </a:gridCol>
                <a:gridCol w="895386">
                  <a:extLst>
                    <a:ext uri="{9D8B030D-6E8A-4147-A177-3AD203B41FA5}">
                      <a16:colId xmlns:a16="http://schemas.microsoft.com/office/drawing/2014/main" xmlns=""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ME22N</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342900" indent="-342900">
                        <a:buFont typeface="+mj-lt"/>
                        <a:buNone/>
                      </a:pPr>
                      <a:r>
                        <a:rPr lang="zh-TW" altLang="en-US" sz="1600" dirty="0" smtClean="0"/>
                        <a:t>借料採購單</a:t>
                      </a:r>
                      <a:endParaRPr lang="en-US" altLang="zh-TW" sz="1600" dirty="0" smtClean="0"/>
                    </a:p>
                    <a:p>
                      <a:pPr marL="342900" indent="-342900">
                        <a:buFont typeface="+mj-lt"/>
                        <a:buNone/>
                      </a:pPr>
                      <a:r>
                        <a:rPr lang="zh-TW" altLang="en-US" sz="1600" dirty="0" smtClean="0"/>
                        <a:t>標記已完成交貨</a:t>
                      </a:r>
                      <a:endParaRPr lang="en-US" altLang="zh-TW" sz="1600" dirty="0"/>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40" name="Group 220">
            <a:extLst>
              <a:ext uri="{FF2B5EF4-FFF2-40B4-BE49-F238E27FC236}">
                <a16:creationId xmlns:a16="http://schemas.microsoft.com/office/drawing/2014/main" xmlns="" id="{A9B401BC-DE49-5FC0-6565-D216316A23DA}"/>
              </a:ext>
            </a:extLst>
          </p:cNvPr>
          <p:cNvGrpSpPr/>
          <p:nvPr/>
        </p:nvGrpSpPr>
        <p:grpSpPr>
          <a:xfrm>
            <a:off x="5667352" y="6269847"/>
            <a:ext cx="533400" cy="408605"/>
            <a:chOff x="5906184" y="1486857"/>
            <a:chExt cx="355600" cy="272361"/>
          </a:xfrm>
        </p:grpSpPr>
        <p:sp>
          <p:nvSpPr>
            <p:cNvPr id="41"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43"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46" name="肘形接點 68">
            <a:extLst>
              <a:ext uri="{FF2B5EF4-FFF2-40B4-BE49-F238E27FC236}">
                <a16:creationId xmlns:a16="http://schemas.microsoft.com/office/drawing/2014/main" xmlns="" id="{C2102D13-B2FB-D13B-1376-3923847B6F1A}"/>
              </a:ext>
            </a:extLst>
          </p:cNvPr>
          <p:cNvCxnSpPr>
            <a:cxnSpLocks/>
          </p:cNvCxnSpPr>
          <p:nvPr/>
        </p:nvCxnSpPr>
        <p:spPr>
          <a:xfrm rot="10800000">
            <a:off x="5929290" y="6930244"/>
            <a:ext cx="3071834" cy="7143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5037859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19" name="矩形 118"/>
          <p:cNvSpPr/>
          <p:nvPr/>
        </p:nvSpPr>
        <p:spPr>
          <a:xfrm>
            <a:off x="7643802" y="3957144"/>
            <a:ext cx="50006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5124480"/>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統購或採購單位須定定期追蹤貨物借出的狀況，要求需求友廠歸還貨物。</a:t>
            </a:r>
            <a:endParaRPr lang="en-US" altLang="zh-TW" dirty="0"/>
          </a:p>
          <a:p>
            <a:pPr marL="342900" indent="-342900">
              <a:buFont typeface="+mj-lt"/>
              <a:buAutoNum type="arabicPeriod"/>
            </a:pPr>
            <a:r>
              <a:rPr lang="zh-TW" altLang="en-US" dirty="0"/>
              <a:t>需求友廠歸還貨物。</a:t>
            </a:r>
            <a:endParaRPr lang="en-US" altLang="zh-TW" dirty="0"/>
          </a:p>
          <a:p>
            <a:pPr marL="342900" indent="-342900">
              <a:buFont typeface="+mj-lt"/>
              <a:buAutoNum type="arabicPeriod"/>
            </a:pPr>
            <a:r>
              <a:rPr lang="zh-TW" altLang="en-US" dirty="0"/>
              <a:t>採購單位建立歸還申請</a:t>
            </a:r>
            <a:r>
              <a:rPr lang="zh-TW" altLang="en-US" dirty="0" smtClean="0"/>
              <a:t>單</a:t>
            </a:r>
            <a:r>
              <a:rPr lang="en-US" altLang="zh-TW" dirty="0" smtClean="0">
                <a:latin typeface="微軟正黑體" panose="020B0604030504040204" pitchFamily="34" charset="-120"/>
                <a:ea typeface="微軟正黑體" panose="020B0604030504040204" pitchFamily="34" charset="-120"/>
                <a:sym typeface="Arial"/>
              </a:rPr>
              <a:t>Mvt.</a:t>
            </a:r>
            <a:r>
              <a:rPr lang="en-US" altLang="zh-TW" dirty="0" smtClean="0">
                <a:solidFill>
                  <a:srgbClr val="FF0000"/>
                </a:solidFill>
                <a:latin typeface="微軟正黑體" panose="020B0604030504040204" pitchFamily="34" charset="-120"/>
                <a:ea typeface="微軟正黑體" panose="020B0604030504040204" pitchFamily="34" charset="-120"/>
                <a:sym typeface="Arial"/>
              </a:rPr>
              <a:t>911 </a:t>
            </a:r>
            <a:r>
              <a:rPr lang="zh-TW" altLang="en-US" dirty="0" smtClean="0">
                <a:solidFill>
                  <a:srgbClr val="FF0000"/>
                </a:solidFill>
                <a:latin typeface="微軟正黑體" panose="020B0604030504040204" pitchFamily="34" charset="-120"/>
                <a:ea typeface="微軟正黑體" panose="020B0604030504040204" pitchFamily="34" charset="-120"/>
                <a:sym typeface="Arial"/>
              </a:rPr>
              <a:t>移出借料倉</a:t>
            </a:r>
            <a:r>
              <a:rPr lang="zh-TW" altLang="en-US" dirty="0" smtClean="0"/>
              <a:t>，</a:t>
            </a:r>
            <a:r>
              <a:rPr lang="zh-TW" altLang="en-US" dirty="0"/>
              <a:t>並通知進出口報關及倉庫進行點收。</a:t>
            </a:r>
            <a:endParaRPr lang="en-US" altLang="zh-TW" dirty="0"/>
          </a:p>
          <a:p>
            <a:pPr marL="342900" indent="-342900">
              <a:buFont typeface="+mj-lt"/>
              <a:buAutoNum type="arabicPeriod"/>
            </a:pPr>
            <a:r>
              <a:rPr lang="zh-TW" altLang="en-US" dirty="0"/>
              <a:t>倉庫單位盤點數量品項是否</a:t>
            </a:r>
            <a:r>
              <a:rPr lang="en-US" altLang="zh-TW" dirty="0"/>
              <a:t>OK</a:t>
            </a:r>
            <a:r>
              <a:rPr lang="zh-TW" altLang="en-US" dirty="0"/>
              <a:t>，是否與歸還申請單一致。</a:t>
            </a:r>
            <a:endParaRPr lang="en-US" altLang="zh-TW" dirty="0"/>
          </a:p>
          <a:p>
            <a:pPr marL="342900" indent="-342900">
              <a:buFont typeface="+mj-lt"/>
              <a:buAutoNum type="arabicPeriod"/>
            </a:pPr>
            <a:r>
              <a:rPr lang="zh-TW" altLang="en-US" dirty="0"/>
              <a:t>倉管人員執行借出歸還移倉作業，如原物料需要</a:t>
            </a:r>
            <a:r>
              <a:rPr lang="en-US" altLang="zh-TW" dirty="0"/>
              <a:t>QC</a:t>
            </a:r>
            <a:r>
              <a:rPr lang="zh-TW" altLang="en-US" dirty="0"/>
              <a:t>檢驗則觸發檢驗流程</a:t>
            </a:r>
            <a:r>
              <a:rPr lang="zh-TW" altLang="en-US" dirty="0" smtClean="0"/>
              <a:t>。</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altLang="en-US" dirty="0" smtClean="0"/>
              <a:t>ZMM087</a:t>
            </a:r>
            <a:r>
              <a:rPr lang="zh-TW" altLang="en-US" dirty="0" smtClean="0"/>
              <a:t>將</a:t>
            </a:r>
            <a:r>
              <a:rPr lang="zh-TW" altLang="en-US" dirty="0" smtClean="0">
                <a:sym typeface="Arial"/>
              </a:rPr>
              <a:t>預留單至</a:t>
            </a:r>
            <a:r>
              <a:rPr lang="en-US" altLang="zh-TW" dirty="0" smtClean="0">
                <a:sym typeface="Arial"/>
              </a:rPr>
              <a:t>WMS</a:t>
            </a:r>
            <a:r>
              <a:rPr lang="zh-TW" altLang="en-US" dirty="0" smtClean="0">
                <a:sym typeface="Arial"/>
              </a:rPr>
              <a:t>進行</a:t>
            </a:r>
            <a:r>
              <a:rPr lang="zh-TW" altLang="en-US" dirty="0" smtClean="0"/>
              <a:t>調倉上架作業</a:t>
            </a:r>
            <a:endParaRPr lang="en-US" altLang="zh-TW" dirty="0" smtClean="0"/>
          </a:p>
          <a:p>
            <a:pPr marL="342900" indent="-342900">
              <a:buFont typeface="+mj-lt"/>
              <a:buAutoNum type="arabicPeriod"/>
            </a:pPr>
            <a:r>
              <a:rPr lang="zh-TW" altLang="en-US" dirty="0" smtClean="0"/>
              <a:t>有使用</a:t>
            </a:r>
            <a:r>
              <a:rPr lang="en-US" altLang="zh-TW" dirty="0" smtClean="0"/>
              <a:t>WMS</a:t>
            </a:r>
            <a:r>
              <a:rPr lang="zh-TW" altLang="en-US" dirty="0" smtClean="0"/>
              <a:t>以背景執行</a:t>
            </a:r>
            <a:r>
              <a:rPr lang="en-GB" altLang="en-US" dirty="0" smtClean="0"/>
              <a:t>ZMM088</a:t>
            </a:r>
            <a:r>
              <a:rPr lang="zh-TW" altLang="en-US" dirty="0" smtClean="0"/>
              <a:t>將</a:t>
            </a:r>
            <a:r>
              <a:rPr lang="zh-TW" altLang="en-US" dirty="0" smtClean="0">
                <a:sym typeface="Arial"/>
              </a:rPr>
              <a:t>預留單作業結果傳入</a:t>
            </a:r>
            <a:r>
              <a:rPr lang="en-US" altLang="zh-TW" dirty="0" smtClean="0">
                <a:sym typeface="Arial"/>
              </a:rPr>
              <a:t>SAP</a:t>
            </a:r>
            <a:r>
              <a:rPr lang="zh-TW" altLang="en-US" dirty="0" smtClean="0">
                <a:sym typeface="Arial"/>
              </a:rPr>
              <a:t>進行過帳</a:t>
            </a:r>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3143208" y="1371054"/>
            <a:ext cx="2428892" cy="400110"/>
          </a:xfrm>
          <a:prstGeom prst="rect">
            <a:avLst/>
          </a:prstGeom>
          <a:noFill/>
        </p:spPr>
        <p:txBody>
          <a:bodyPr wrap="square" lIns="137160" tIns="68580" rIns="137160" bIns="68580" rtlCol="0">
            <a:spAutoFit/>
          </a:bodyPr>
          <a:lstStyle/>
          <a:p>
            <a:pPr algn="ctr"/>
            <a:r>
              <a:rPr lang="zh-TW" altLang="en-US" sz="1700" smtClean="0"/>
              <a:t>採購單位（</a:t>
            </a:r>
            <a:r>
              <a:rPr lang="zh-TW" altLang="en-US" sz="1700" dirty="0" smtClean="0"/>
              <a:t>借出方）</a:t>
            </a:r>
            <a:endParaRPr lang="zh-TW" altLang="en-US" sz="1700" dirty="0"/>
          </a:p>
        </p:txBody>
      </p:sp>
      <p:cxnSp>
        <p:nvCxnSpPr>
          <p:cNvPr id="11" name="肘形接點 68">
            <a:extLst>
              <a:ext uri="{FF2B5EF4-FFF2-40B4-BE49-F238E27FC236}">
                <a16:creationId xmlns:a16="http://schemas.microsoft.com/office/drawing/2014/main" xmlns="" id="{24024915-9D25-B9A4-2836-72F0277283A4}"/>
              </a:ext>
            </a:extLst>
          </p:cNvPr>
          <p:cNvCxnSpPr>
            <a:cxnSpLocks/>
            <a:stCxn id="6" idx="3"/>
          </p:cNvCxnSpPr>
          <p:nvPr/>
        </p:nvCxnSpPr>
        <p:spPr>
          <a:xfrm>
            <a:off x="1512912" y="2663338"/>
            <a:ext cx="1130230" cy="12350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a16="http://schemas.microsoft.com/office/drawing/2014/main" xmlns="" id="{0F2761B4-5F29-64DD-1721-5831D073894C}"/>
              </a:ext>
            </a:extLst>
          </p:cNvPr>
          <p:cNvSpPr txBox="1"/>
          <p:nvPr/>
        </p:nvSpPr>
        <p:spPr>
          <a:xfrm>
            <a:off x="6857984" y="1384589"/>
            <a:ext cx="1853246" cy="400110"/>
          </a:xfrm>
          <a:prstGeom prst="rect">
            <a:avLst/>
          </a:prstGeom>
          <a:noFill/>
        </p:spPr>
        <p:txBody>
          <a:bodyPr wrap="square" lIns="137160" tIns="68580" rIns="137160" bIns="68580" rtlCol="0">
            <a:spAutoFit/>
          </a:bodyPr>
          <a:lstStyle/>
          <a:p>
            <a:pPr algn="ctr"/>
            <a:r>
              <a:rPr lang="zh-TW" altLang="en-US" sz="1700" dirty="0"/>
              <a:t>倉庫人員</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MM-IM-0060</a:t>
            </a:r>
            <a:r>
              <a:rPr lang="en-US" altLang="zh-TW" b="1" dirty="0">
                <a:latin typeface="微軟正黑體" panose="020B0604030504040204" pitchFamily="34" charset="-120"/>
                <a:ea typeface="微軟正黑體" panose="020B0604030504040204" pitchFamily="34" charset="-120"/>
              </a:rPr>
              <a:t>-02</a:t>
            </a:r>
            <a:r>
              <a:rPr kumimoji="0" lang="zh-TW" altLang="en-US" b="1" dirty="0">
                <a:latin typeface="微軟正黑體" panose="020B0604030504040204" pitchFamily="34" charset="-120"/>
                <a:ea typeface="微軟正黑體" panose="020B0604030504040204" pitchFamily="34" charset="-120"/>
              </a:rPr>
              <a:t>原物料借料作業流程</a:t>
            </a:r>
            <a:r>
              <a:rPr kumimoji="0" lang="en-US" altLang="zh-TW" b="1" dirty="0">
                <a:latin typeface="微軟正黑體" panose="020B0604030504040204" pitchFamily="34" charset="-120"/>
                <a:ea typeface="微軟正黑體" panose="020B0604030504040204" pitchFamily="34" charset="-120"/>
              </a:rPr>
              <a:t>(</a:t>
            </a:r>
            <a:r>
              <a:rPr lang="zh-TW" altLang="en-US" b="1" dirty="0">
                <a:latin typeface="微軟正黑體" panose="020B0604030504040204" pitchFamily="34" charset="-120"/>
                <a:ea typeface="微軟正黑體" panose="020B0604030504040204" pitchFamily="34" charset="-120"/>
              </a:rPr>
              <a:t>歸還</a:t>
            </a:r>
            <a:r>
              <a:rPr kumimoji="0" lang="en-US" altLang="zh-TW" b="1" dirty="0">
                <a:latin typeface="微軟正黑體" panose="020B0604030504040204" pitchFamily="34" charset="-120"/>
                <a:ea typeface="微軟正黑體" panose="020B0604030504040204" pitchFamily="34" charset="-120"/>
              </a:rPr>
              <a:t>)</a:t>
            </a:r>
            <a:endParaRPr kumimoji="0" lang="zh-TW" altLang="en-US" b="1" dirty="0">
              <a:latin typeface="微軟正黑體" panose="020B0604030504040204" pitchFamily="34" charset="-120"/>
              <a:ea typeface="微軟正黑體" panose="020B0604030504040204" pitchFamily="34" charset="-120"/>
            </a:endParaRPr>
          </a:p>
        </p:txBody>
      </p:sp>
      <p:graphicFrame>
        <p:nvGraphicFramePr>
          <p:cNvPr id="255" name="表格 30">
            <a:extLst>
              <a:ext uri="{FF2B5EF4-FFF2-40B4-BE49-F238E27FC236}">
                <a16:creationId xmlns:a16="http://schemas.microsoft.com/office/drawing/2014/main" xmlns="" id="{F09FCB7C-D385-8396-3A72-46FBD73AC0AB}"/>
              </a:ext>
            </a:extLst>
          </p:cNvPr>
          <p:cNvGraphicFramePr>
            <a:graphicFrameLocks noGrp="1"/>
          </p:cNvGraphicFramePr>
          <p:nvPr>
            <p:extLst>
              <p:ext uri="{D42A27DB-BD31-4B8C-83A1-F6EECF244321}">
                <p14:modId xmlns:p14="http://schemas.microsoft.com/office/powerpoint/2010/main" xmlns="" val="2552766251"/>
              </p:ext>
            </p:extLst>
          </p:nvPr>
        </p:nvGraphicFramePr>
        <p:xfrm>
          <a:off x="7013376" y="5751081"/>
          <a:ext cx="1797832" cy="146712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MIGO</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smtClean="0">
                          <a:latin typeface="微軟正黑體" panose="020B0604030504040204" pitchFamily="34" charset="-120"/>
                          <a:ea typeface="微軟正黑體" panose="020B0604030504040204" pitchFamily="34" charset="-120"/>
                        </a:rPr>
                        <a:t>由借</a:t>
                      </a:r>
                      <a:r>
                        <a:rPr lang="zh-TW" altLang="en-US" sz="1500" dirty="0">
                          <a:latin typeface="微軟正黑體" panose="020B0604030504040204" pitchFamily="34" charset="-120"/>
                          <a:ea typeface="微軟正黑體" panose="020B0604030504040204" pitchFamily="34" charset="-120"/>
                        </a:rPr>
                        <a:t>出</a:t>
                      </a:r>
                      <a:r>
                        <a:rPr lang="zh-TW" altLang="en-US" sz="1500" dirty="0" smtClean="0">
                          <a:latin typeface="微軟正黑體" panose="020B0604030504040204" pitchFamily="34" charset="-120"/>
                          <a:ea typeface="微軟正黑體" panose="020B0604030504040204" pitchFamily="34" charset="-120"/>
                        </a:rPr>
                        <a:t>倉調回一般倉</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a:t>
                      </a:r>
                      <a:r>
                        <a:rPr kumimoji="0" lang="en-US" altLang="zh-TW" sz="1500" b="0" i="0" u="none" strike="noStrike" cap="none" dirty="0">
                          <a:solidFill>
                            <a:srgbClr val="FF0000"/>
                          </a:solidFill>
                          <a:latin typeface="微軟正黑體" panose="020B0604030504040204" pitchFamily="34" charset="-120"/>
                          <a:ea typeface="微軟正黑體" panose="020B0604030504040204" pitchFamily="34" charset="-120"/>
                          <a:cs typeface="+mn-cs"/>
                          <a:sym typeface="Arial"/>
                        </a:rPr>
                        <a:t>.911</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4" name="流程圖: 文件 42">
            <a:extLst>
              <a:ext uri="{FF2B5EF4-FFF2-40B4-BE49-F238E27FC236}">
                <a16:creationId xmlns:a16="http://schemas.microsoft.com/office/drawing/2014/main" xmlns="" id="{30EF5CCE-DE56-F769-9FBE-23150D2E5B6A}"/>
              </a:ext>
            </a:extLst>
          </p:cNvPr>
          <p:cNvSpPr/>
          <p:nvPr/>
        </p:nvSpPr>
        <p:spPr bwMode="auto">
          <a:xfrm>
            <a:off x="3714712" y="7073120"/>
            <a:ext cx="1637504" cy="76835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借出</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歸還</a:t>
            </a:r>
            <a:r>
              <a:rPr lang="en-US" altLang="zh-TW" sz="1500" dirty="0">
                <a:latin typeface="微軟正黑體" panose="020B0604030504040204" pitchFamily="34" charset="-120"/>
                <a:ea typeface="微軟正黑體" panose="020B0604030504040204" pitchFamily="34" charset="-120"/>
              </a:rPr>
              <a:t>)</a:t>
            </a:r>
            <a:r>
              <a:rPr lang="zh-TW" altLang="en-US" sz="1500" dirty="0">
                <a:latin typeface="微軟正黑體" panose="020B0604030504040204" pitchFamily="34" charset="-120"/>
                <a:ea typeface="微軟正黑體" panose="020B0604030504040204" pitchFamily="34" charset="-120"/>
              </a:rPr>
              <a:t>申請表</a:t>
            </a:r>
          </a:p>
        </p:txBody>
      </p:sp>
      <p:graphicFrame>
        <p:nvGraphicFramePr>
          <p:cNvPr id="21" name="表格 30">
            <a:extLst>
              <a:ext uri="{FF2B5EF4-FFF2-40B4-BE49-F238E27FC236}">
                <a16:creationId xmlns:a16="http://schemas.microsoft.com/office/drawing/2014/main" xmlns="" id="{CD92599E-9F33-AC3D-7DA6-05353FE4D96F}"/>
              </a:ext>
            </a:extLst>
          </p:cNvPr>
          <p:cNvGraphicFramePr>
            <a:graphicFrameLocks noGrp="1"/>
          </p:cNvGraphicFramePr>
          <p:nvPr>
            <p:extLst>
              <p:ext uri="{D42A27DB-BD31-4B8C-83A1-F6EECF244321}">
                <p14:modId xmlns:p14="http://schemas.microsoft.com/office/powerpoint/2010/main" xmlns="" val="942080920"/>
              </p:ext>
            </p:extLst>
          </p:nvPr>
        </p:nvGraphicFramePr>
        <p:xfrm>
          <a:off x="7021528" y="3951772"/>
          <a:ext cx="1797828" cy="1238592"/>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12864">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點收品項與外觀</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23" name="表格 30">
            <a:extLst>
              <a:ext uri="{FF2B5EF4-FFF2-40B4-BE49-F238E27FC236}">
                <a16:creationId xmlns:a16="http://schemas.microsoft.com/office/drawing/2014/main" xmlns="" id="{6ABA4DA1-59E1-94C5-BD49-EB60651D962E}"/>
              </a:ext>
            </a:extLst>
          </p:cNvPr>
          <p:cNvGraphicFramePr>
            <a:graphicFrameLocks noGrp="1"/>
          </p:cNvGraphicFramePr>
          <p:nvPr>
            <p:extLst>
              <p:ext uri="{D42A27DB-BD31-4B8C-83A1-F6EECF244321}">
                <p14:modId xmlns:p14="http://schemas.microsoft.com/office/powerpoint/2010/main" xmlns="" val="3048703959"/>
              </p:ext>
            </p:extLst>
          </p:nvPr>
        </p:nvGraphicFramePr>
        <p:xfrm>
          <a:off x="2647043" y="4002154"/>
          <a:ext cx="1797828" cy="1238592"/>
        </p:xfrm>
        <a:graphic>
          <a:graphicData uri="http://schemas.openxmlformats.org/drawingml/2006/table">
            <a:tbl>
              <a:tblPr>
                <a:tableStyleId>{5940675A-B579-460E-94D1-54222C63F5DA}</a:tableStyleId>
              </a:tblPr>
              <a:tblGrid>
                <a:gridCol w="898914">
                  <a:extLst>
                    <a:ext uri="{9D8B030D-6E8A-4147-A177-3AD203B41FA5}">
                      <a16:colId xmlns:a16="http://schemas.microsoft.com/office/drawing/2014/main" xmlns="" val="3433979995"/>
                    </a:ext>
                  </a:extLst>
                </a:gridCol>
                <a:gridCol w="898914">
                  <a:extLst>
                    <a:ext uri="{9D8B030D-6E8A-4147-A177-3AD203B41FA5}">
                      <a16:colId xmlns:a16="http://schemas.microsoft.com/office/drawing/2014/main" xmlns="" val="3727974752"/>
                    </a:ext>
                  </a:extLst>
                </a:gridCol>
              </a:tblGrid>
              <a:tr h="412864">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12864">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歸還貨物</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412864">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6" name="肘形接點 68">
            <a:extLst>
              <a:ext uri="{FF2B5EF4-FFF2-40B4-BE49-F238E27FC236}">
                <a16:creationId xmlns:a16="http://schemas.microsoft.com/office/drawing/2014/main" xmlns="" id="{3F9F86D7-4A2F-F35E-FAA9-7CFC431F07EA}"/>
              </a:ext>
            </a:extLst>
          </p:cNvPr>
          <p:cNvCxnSpPr>
            <a:cxnSpLocks/>
            <a:stCxn id="25" idx="2"/>
            <a:endCxn id="23" idx="0"/>
          </p:cNvCxnSpPr>
          <p:nvPr/>
        </p:nvCxnSpPr>
        <p:spPr>
          <a:xfrm rot="16200000" flipH="1">
            <a:off x="3176592" y="3632789"/>
            <a:ext cx="734831" cy="390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 name="Group 220">
            <a:extLst>
              <a:ext uri="{FF2B5EF4-FFF2-40B4-BE49-F238E27FC236}">
                <a16:creationId xmlns:a16="http://schemas.microsoft.com/office/drawing/2014/main" xmlns="" id="{A9B401BC-DE49-5FC0-6565-D216316A23DA}"/>
              </a:ext>
            </a:extLst>
          </p:cNvPr>
          <p:cNvGrpSpPr/>
          <p:nvPr/>
        </p:nvGrpSpPr>
        <p:grpSpPr>
          <a:xfrm>
            <a:off x="4265246" y="3829019"/>
            <a:ext cx="533400" cy="408605"/>
            <a:chOff x="5906184" y="1486857"/>
            <a:chExt cx="355600" cy="272361"/>
          </a:xfrm>
        </p:grpSpPr>
        <p:sp>
          <p:nvSpPr>
            <p:cNvPr id="4" name="Oval 221">
              <a:extLst>
                <a:ext uri="{FF2B5EF4-FFF2-40B4-BE49-F238E27FC236}">
                  <a16:creationId xmlns:a16="http://schemas.microsoft.com/office/drawing/2014/main" xmlns=""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a16="http://schemas.microsoft.com/office/drawing/2014/main" xmlns=""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cxnSp>
        <p:nvCxnSpPr>
          <p:cNvPr id="29" name="肘形接點 68">
            <a:extLst>
              <a:ext uri="{FF2B5EF4-FFF2-40B4-BE49-F238E27FC236}">
                <a16:creationId xmlns:a16="http://schemas.microsoft.com/office/drawing/2014/main" xmlns="" id="{B8DE459E-9DA7-E707-417F-37094C610C68}"/>
              </a:ext>
            </a:extLst>
          </p:cNvPr>
          <p:cNvCxnSpPr>
            <a:cxnSpLocks/>
            <a:stCxn id="23" idx="2"/>
            <a:endCxn id="10" idx="0"/>
          </p:cNvCxnSpPr>
          <p:nvPr/>
        </p:nvCxnSpPr>
        <p:spPr>
          <a:xfrm rot="5400000">
            <a:off x="3135720" y="5649538"/>
            <a:ext cx="819032" cy="144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4" name="Straight Connector 284">
            <a:extLst>
              <a:ext uri="{FF2B5EF4-FFF2-40B4-BE49-F238E27FC236}">
                <a16:creationId xmlns:a16="http://schemas.microsoft.com/office/drawing/2014/main" xmlns="" id="{CFFAF9F5-E61A-7253-C8D5-BB570ED4E638}"/>
              </a:ext>
            </a:extLst>
          </p:cNvPr>
          <p:cNvCxnSpPr>
            <a:cxnSpLocks/>
          </p:cNvCxnSpPr>
          <p:nvPr/>
        </p:nvCxnSpPr>
        <p:spPr>
          <a:xfrm>
            <a:off x="6572232" y="1371276"/>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流程圖: 結束點 44">
            <a:extLst>
              <a:ext uri="{FF2B5EF4-FFF2-40B4-BE49-F238E27FC236}">
                <a16:creationId xmlns:a16="http://schemas.microsoft.com/office/drawing/2014/main" xmlns="" id="{61DB2829-053D-8789-1675-241AEB033A25}"/>
              </a:ext>
            </a:extLst>
          </p:cNvPr>
          <p:cNvSpPr/>
          <p:nvPr/>
        </p:nvSpPr>
        <p:spPr bwMode="auto">
          <a:xfrm>
            <a:off x="12288314" y="9101340"/>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50" name="肘形接點 68">
            <a:extLst>
              <a:ext uri="{FF2B5EF4-FFF2-40B4-BE49-F238E27FC236}">
                <a16:creationId xmlns:a16="http://schemas.microsoft.com/office/drawing/2014/main" xmlns="" id="{9E7BE1D4-46EB-725D-0C53-9C7469AB15FE}"/>
              </a:ext>
            </a:extLst>
          </p:cNvPr>
          <p:cNvCxnSpPr>
            <a:cxnSpLocks/>
            <a:endCxn id="45" idx="1"/>
          </p:cNvCxnSpPr>
          <p:nvPr/>
        </p:nvCxnSpPr>
        <p:spPr>
          <a:xfrm>
            <a:off x="7929554" y="7001682"/>
            <a:ext cx="4358760" cy="2490940"/>
          </a:xfrm>
          <a:prstGeom prst="bentConnector3">
            <a:avLst>
              <a:gd name="adj1" fmla="val -407"/>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7" name="TextBox 46">
            <a:extLst>
              <a:ext uri="{FF2B5EF4-FFF2-40B4-BE49-F238E27FC236}">
                <a16:creationId xmlns:a16="http://schemas.microsoft.com/office/drawing/2014/main" xmlns="" id="{000840EB-D5D1-4F82-532D-748847551D30}"/>
              </a:ext>
            </a:extLst>
          </p:cNvPr>
          <p:cNvSpPr txBox="1"/>
          <p:nvPr/>
        </p:nvSpPr>
        <p:spPr>
          <a:xfrm>
            <a:off x="9035185" y="2263505"/>
            <a:ext cx="404262" cy="369389"/>
          </a:xfrm>
          <a:prstGeom prst="rect">
            <a:avLst/>
          </a:prstGeom>
          <a:noFill/>
        </p:spPr>
        <p:txBody>
          <a:bodyPr wrap="square" lIns="137160" tIns="68580" rIns="137160" bIns="68580" rtlCol="0">
            <a:spAutoFit/>
          </a:bodyPr>
          <a:lstStyle/>
          <a:p>
            <a:r>
              <a:rPr lang="zh-TW" altLang="en-US" sz="1500" dirty="0"/>
              <a:t>是</a:t>
            </a:r>
          </a:p>
        </p:txBody>
      </p:sp>
      <p:graphicFrame>
        <p:nvGraphicFramePr>
          <p:cNvPr id="25" name="表格 30">
            <a:extLst>
              <a:ext uri="{FF2B5EF4-FFF2-40B4-BE49-F238E27FC236}">
                <a16:creationId xmlns:a16="http://schemas.microsoft.com/office/drawing/2014/main" xmlns="" id="{98D6993D-CE52-41E3-D1C0-9E3C3CBA7FFE}"/>
              </a:ext>
            </a:extLst>
          </p:cNvPr>
          <p:cNvGraphicFramePr>
            <a:graphicFrameLocks noGrp="1"/>
          </p:cNvGraphicFramePr>
          <p:nvPr>
            <p:extLst>
              <p:ext uri="{D42A27DB-BD31-4B8C-83A1-F6EECF244321}">
                <p14:modId xmlns:p14="http://schemas.microsoft.com/office/powerpoint/2010/main" xmlns="" val="95304630"/>
              </p:ext>
            </p:extLst>
          </p:nvPr>
        </p:nvGraphicFramePr>
        <p:xfrm>
          <a:off x="2643142" y="2257367"/>
          <a:ext cx="1797832" cy="100995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MB52</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追蹤貨物借出狀態</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8" name="流程圖: 決策 17">
            <a:extLst>
              <a:ext uri="{FF2B5EF4-FFF2-40B4-BE49-F238E27FC236}">
                <a16:creationId xmlns:a16="http://schemas.microsoft.com/office/drawing/2014/main" xmlns="" id="{3BF8BFE0-4C09-9AAA-DC98-D318BC10D434}"/>
              </a:ext>
            </a:extLst>
          </p:cNvPr>
          <p:cNvSpPr/>
          <p:nvPr/>
        </p:nvSpPr>
        <p:spPr bwMode="auto">
          <a:xfrm>
            <a:off x="6929422" y="2089581"/>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有</a:t>
            </a:r>
            <a:r>
              <a:rPr lang="en-US" altLang="zh-TW" sz="1500" dirty="0">
                <a:latin typeface="微軟正黑體" panose="020B0604030504040204" pitchFamily="34" charset="-120"/>
                <a:ea typeface="微軟正黑體" panose="020B0604030504040204" pitchFamily="34" charset="-120"/>
              </a:rPr>
              <a:t>WMS?</a:t>
            </a:r>
            <a:endParaRPr lang="zh-TW" altLang="en-US" sz="1500" dirty="0">
              <a:latin typeface="微軟正黑體" panose="020B0604030504040204" pitchFamily="34" charset="-120"/>
              <a:ea typeface="微軟正黑體" panose="020B0604030504040204" pitchFamily="34" charset="-120"/>
            </a:endParaRPr>
          </a:p>
        </p:txBody>
      </p:sp>
      <p:cxnSp>
        <p:nvCxnSpPr>
          <p:cNvPr id="208" name="肘形接點 68">
            <a:extLst>
              <a:ext uri="{FF2B5EF4-FFF2-40B4-BE49-F238E27FC236}">
                <a16:creationId xmlns:a16="http://schemas.microsoft.com/office/drawing/2014/main" xmlns="" id="{7F1B13DD-E840-DB5E-E52C-1871E99B2B42}"/>
              </a:ext>
            </a:extLst>
          </p:cNvPr>
          <p:cNvCxnSpPr>
            <a:cxnSpLocks/>
            <a:stCxn id="18" idx="3"/>
          </p:cNvCxnSpPr>
          <p:nvPr/>
        </p:nvCxnSpPr>
        <p:spPr>
          <a:xfrm flipV="1">
            <a:off x="8771371" y="2643964"/>
            <a:ext cx="872695" cy="3468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 name="Group 220">
            <a:extLst>
              <a:ext uri="{FF2B5EF4-FFF2-40B4-BE49-F238E27FC236}">
                <a16:creationId xmlns:a16="http://schemas.microsoft.com/office/drawing/2014/main" xmlns="" id="{CA533915-E75B-5FB5-2DD7-5C95CB5680AB}"/>
              </a:ext>
            </a:extLst>
          </p:cNvPr>
          <p:cNvGrpSpPr/>
          <p:nvPr/>
        </p:nvGrpSpPr>
        <p:grpSpPr>
          <a:xfrm>
            <a:off x="8613040" y="3820141"/>
            <a:ext cx="533400" cy="408605"/>
            <a:chOff x="5906184" y="1486857"/>
            <a:chExt cx="355600" cy="272361"/>
          </a:xfrm>
        </p:grpSpPr>
        <p:sp>
          <p:nvSpPr>
            <p:cNvPr id="215" name="Oval 221">
              <a:extLst>
                <a:ext uri="{FF2B5EF4-FFF2-40B4-BE49-F238E27FC236}">
                  <a16:creationId xmlns:a16="http://schemas.microsoft.com/office/drawing/2014/main" xmlns="" id="{C2ED24F9-5902-9095-38C6-3013ACDB8B0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6" name="TextBox 222">
              <a:extLst>
                <a:ext uri="{FF2B5EF4-FFF2-40B4-BE49-F238E27FC236}">
                  <a16:creationId xmlns:a16="http://schemas.microsoft.com/office/drawing/2014/main" xmlns="" id="{A12E7EFA-CFCB-4648-CE08-FBDF5A5CAB9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cxnSp>
        <p:nvCxnSpPr>
          <p:cNvPr id="58" name="肘形接點 68">
            <a:extLst>
              <a:ext uri="{FF2B5EF4-FFF2-40B4-BE49-F238E27FC236}">
                <a16:creationId xmlns:a16="http://schemas.microsoft.com/office/drawing/2014/main" xmlns="" id="{52450EBE-466E-D977-C725-CCB259EC86B5}"/>
              </a:ext>
            </a:extLst>
          </p:cNvPr>
          <p:cNvCxnSpPr>
            <a:cxnSpLocks/>
            <a:stCxn id="18" idx="2"/>
            <a:endCxn id="119" idx="0"/>
          </p:cNvCxnSpPr>
          <p:nvPr/>
        </p:nvCxnSpPr>
        <p:spPr>
          <a:xfrm rot="16200000" flipH="1">
            <a:off x="7527398" y="3590706"/>
            <a:ext cx="689437" cy="4343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0" name="肘形接點 68">
            <a:extLst>
              <a:ext uri="{FF2B5EF4-FFF2-40B4-BE49-F238E27FC236}">
                <a16:creationId xmlns:a16="http://schemas.microsoft.com/office/drawing/2014/main" xmlns="" id="{C2102D13-B2FB-D13B-1376-3923847B6F1A}"/>
              </a:ext>
            </a:extLst>
          </p:cNvPr>
          <p:cNvCxnSpPr>
            <a:cxnSpLocks/>
            <a:stCxn id="21" idx="2"/>
            <a:endCxn id="255" idx="0"/>
          </p:cNvCxnSpPr>
          <p:nvPr/>
        </p:nvCxnSpPr>
        <p:spPr>
          <a:xfrm rot="5400000">
            <a:off x="7636008" y="5466646"/>
            <a:ext cx="560718" cy="815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4" name="肘形接點 68">
            <a:extLst>
              <a:ext uri="{FF2B5EF4-FFF2-40B4-BE49-F238E27FC236}">
                <a16:creationId xmlns:a16="http://schemas.microsoft.com/office/drawing/2014/main" xmlns="" id="{083908A3-4BBD-5A4A-E779-4FAC6B9E9B7D}"/>
              </a:ext>
            </a:extLst>
          </p:cNvPr>
          <p:cNvCxnSpPr>
            <a:cxnSpLocks/>
            <a:endCxn id="255" idx="3"/>
          </p:cNvCxnSpPr>
          <p:nvPr/>
        </p:nvCxnSpPr>
        <p:spPr>
          <a:xfrm rot="5400000">
            <a:off x="9329526" y="1890862"/>
            <a:ext cx="2442985" cy="52774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13" name="Group 220">
            <a:extLst>
              <a:ext uri="{FF2B5EF4-FFF2-40B4-BE49-F238E27FC236}">
                <a16:creationId xmlns:a16="http://schemas.microsoft.com/office/drawing/2014/main" xmlns="" id="{10256224-14CA-A454-327E-563DAB23508F}"/>
              </a:ext>
            </a:extLst>
          </p:cNvPr>
          <p:cNvGrpSpPr/>
          <p:nvPr/>
        </p:nvGrpSpPr>
        <p:grpSpPr>
          <a:xfrm>
            <a:off x="4298666" y="2106927"/>
            <a:ext cx="533400" cy="408605"/>
            <a:chOff x="5906184" y="1486857"/>
            <a:chExt cx="355600" cy="272361"/>
          </a:xfrm>
        </p:grpSpPr>
        <p:sp>
          <p:nvSpPr>
            <p:cNvPr id="28" name="Oval 221">
              <a:extLst>
                <a:ext uri="{FF2B5EF4-FFF2-40B4-BE49-F238E27FC236}">
                  <a16:creationId xmlns:a16="http://schemas.microsoft.com/office/drawing/2014/main" xmlns="" id="{AD632AE6-871D-ECF4-CAB8-6CC01B3A690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33" name="TextBox 222">
              <a:extLst>
                <a:ext uri="{FF2B5EF4-FFF2-40B4-BE49-F238E27FC236}">
                  <a16:creationId xmlns:a16="http://schemas.microsoft.com/office/drawing/2014/main" xmlns="" id="{26EFBBAD-53D9-3DA7-F201-F46F1100F86F}"/>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15" name="Group 220">
            <a:extLst>
              <a:ext uri="{FF2B5EF4-FFF2-40B4-BE49-F238E27FC236}">
                <a16:creationId xmlns:a16="http://schemas.microsoft.com/office/drawing/2014/main" xmlns="" id="{9156CB5B-6932-EC4C-F6E6-99045239D55E}"/>
              </a:ext>
            </a:extLst>
          </p:cNvPr>
          <p:cNvGrpSpPr/>
          <p:nvPr/>
        </p:nvGrpSpPr>
        <p:grpSpPr>
          <a:xfrm>
            <a:off x="8528685" y="5623631"/>
            <a:ext cx="533400" cy="408605"/>
            <a:chOff x="5906184" y="1486857"/>
            <a:chExt cx="355600" cy="272361"/>
          </a:xfrm>
        </p:grpSpPr>
        <p:sp>
          <p:nvSpPr>
            <p:cNvPr id="39" name="Oval 221">
              <a:extLst>
                <a:ext uri="{FF2B5EF4-FFF2-40B4-BE49-F238E27FC236}">
                  <a16:creationId xmlns:a16="http://schemas.microsoft.com/office/drawing/2014/main" xmlns="" id="{90192BDD-2943-1D7D-DE34-680A27CD082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40" name="TextBox 222">
              <a:extLst>
                <a:ext uri="{FF2B5EF4-FFF2-40B4-BE49-F238E27FC236}">
                  <a16:creationId xmlns:a16="http://schemas.microsoft.com/office/drawing/2014/main" xmlns="" id="{83E803A1-3653-96F4-6235-5E5D43C4B863}"/>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sp>
        <p:nvSpPr>
          <p:cNvPr id="6" name="流程圖: 換頁接點 52">
            <a:extLst>
              <a:ext uri="{FF2B5EF4-FFF2-40B4-BE49-F238E27FC236}">
                <a16:creationId xmlns:a16="http://schemas.microsoft.com/office/drawing/2014/main" xmlns="" id="{DD195FCC-30E2-BB9B-7AA3-B77FF9098F14}"/>
              </a:ext>
            </a:extLst>
          </p:cNvPr>
          <p:cNvSpPr/>
          <p:nvPr/>
        </p:nvSpPr>
        <p:spPr bwMode="auto">
          <a:xfrm>
            <a:off x="952285" y="2429650"/>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69"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3</a:t>
            </a:r>
            <a:endParaRPr lang="en-US" sz="1600" b="0" strike="noStrike" spc="-1" dirty="0">
              <a:solidFill>
                <a:srgbClr val="000000"/>
              </a:solidFill>
              <a:latin typeface="Calibri"/>
            </a:endParaRPr>
          </a:p>
        </p:txBody>
      </p:sp>
      <p:sp>
        <p:nvSpPr>
          <p:cNvPr id="70" name="流程圖: 預設處理作業 21">
            <a:extLst>
              <a:ext uri="{FF2B5EF4-FFF2-40B4-BE49-F238E27FC236}">
                <a16:creationId xmlns="" xmlns:a16="http://schemas.microsoft.com/office/drawing/2014/main" id="{3DEDA78A-875A-00AA-B24D-87E820FD5E5C}"/>
              </a:ext>
            </a:extLst>
          </p:cNvPr>
          <p:cNvSpPr/>
          <p:nvPr/>
        </p:nvSpPr>
        <p:spPr bwMode="auto">
          <a:xfrm>
            <a:off x="12277045" y="205474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WMS</a:t>
            </a:r>
            <a:r>
              <a:rPr lang="zh-TW" altLang="en-US" sz="1500" dirty="0">
                <a:latin typeface="微軟正黑體" panose="020B0604030504040204" pitchFamily="34" charset="-120"/>
                <a:ea typeface="微軟正黑體" panose="020B0604030504040204" pitchFamily="34" charset="-120"/>
              </a:rPr>
              <a:t>系統</a:t>
            </a:r>
            <a:endParaRPr lang="en-US" altLang="zh-TW" sz="1500" dirty="0">
              <a:latin typeface="微軟正黑體" panose="020B0604030504040204" pitchFamily="34" charset="-120"/>
              <a:ea typeface="微軟正黑體" panose="020B0604030504040204" pitchFamily="34" charset="-120"/>
            </a:endParaRPr>
          </a:p>
        </p:txBody>
      </p:sp>
      <p:graphicFrame>
        <p:nvGraphicFramePr>
          <p:cNvPr id="71" name="表格 30">
            <a:extLst>
              <a:ext uri="{FF2B5EF4-FFF2-40B4-BE49-F238E27FC236}">
                <a16:creationId xmlns:a16="http://schemas.microsoft.com/office/drawing/2014/main" xmlns="" id="{5ED664D6-D205-ED36-2694-5FCBDB7DAAA6}"/>
              </a:ext>
            </a:extLst>
          </p:cNvPr>
          <p:cNvGraphicFramePr>
            <a:graphicFrameLocks noGrp="1"/>
          </p:cNvGraphicFramePr>
          <p:nvPr>
            <p:extLst>
              <p:ext uri="{D42A27DB-BD31-4B8C-83A1-F6EECF244321}">
                <p14:modId xmlns:p14="http://schemas.microsoft.com/office/powerpoint/2010/main" xmlns="" val="2166510685"/>
              </p:ext>
            </p:extLst>
          </p:nvPr>
        </p:nvGraphicFramePr>
        <p:xfrm>
          <a:off x="9644066" y="2179066"/>
          <a:ext cx="1860324" cy="1009956"/>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ZMM087</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拋預留單至</a:t>
                      </a: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73" name="Group 220">
            <a:extLst>
              <a:ext uri="{FF2B5EF4-FFF2-40B4-BE49-F238E27FC236}">
                <a16:creationId xmlns:a16="http://schemas.microsoft.com/office/drawing/2014/main" xmlns="" id="{F57C22EF-2BDC-F9B6-BCF7-039468E216F7}"/>
              </a:ext>
            </a:extLst>
          </p:cNvPr>
          <p:cNvGrpSpPr/>
          <p:nvPr/>
        </p:nvGrpSpPr>
        <p:grpSpPr>
          <a:xfrm>
            <a:off x="11249748" y="1993404"/>
            <a:ext cx="533400" cy="408605"/>
            <a:chOff x="5906184" y="1486857"/>
            <a:chExt cx="355600" cy="272361"/>
          </a:xfrm>
        </p:grpSpPr>
        <p:sp>
          <p:nvSpPr>
            <p:cNvPr id="74" name="Oval 221">
              <a:extLst>
                <a:ext uri="{FF2B5EF4-FFF2-40B4-BE49-F238E27FC236}">
                  <a16:creationId xmlns:a16="http://schemas.microsoft.com/office/drawing/2014/main" xmlns="" id="{AA75DF61-29DA-6269-959D-B828228516B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5" name="TextBox 222">
              <a:extLst>
                <a:ext uri="{FF2B5EF4-FFF2-40B4-BE49-F238E27FC236}">
                  <a16:creationId xmlns:a16="http://schemas.microsoft.com/office/drawing/2014/main" xmlns="" id="{D7373917-563C-07C1-04C7-50AA63B38113}"/>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en-US" altLang="zh-TW" sz="1500" dirty="0">
                <a:latin typeface="微軟正黑體" panose="020B0604030504040204" pitchFamily="34" charset="-120"/>
                <a:ea typeface="微軟正黑體" panose="020B0604030504040204" pitchFamily="34" charset="-120"/>
              </a:endParaRPr>
            </a:p>
          </p:txBody>
        </p:sp>
      </p:grpSp>
      <p:cxnSp>
        <p:nvCxnSpPr>
          <p:cNvPr id="79" name="肘形接點 68">
            <a:extLst>
              <a:ext uri="{FF2B5EF4-FFF2-40B4-BE49-F238E27FC236}">
                <a16:creationId xmlns="" xmlns:a16="http://schemas.microsoft.com/office/drawing/2014/main" id="{F47FAA44-2FFA-02CD-24BC-7BCE0F797E4B}"/>
              </a:ext>
            </a:extLst>
          </p:cNvPr>
          <p:cNvCxnSpPr>
            <a:cxnSpLocks/>
            <a:endCxn id="70" idx="1"/>
          </p:cNvCxnSpPr>
          <p:nvPr/>
        </p:nvCxnSpPr>
        <p:spPr>
          <a:xfrm flipV="1">
            <a:off x="11501454" y="2674042"/>
            <a:ext cx="775591" cy="4136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0" name="肘形接點 68">
            <a:extLst>
              <a:ext uri="{FF2B5EF4-FFF2-40B4-BE49-F238E27FC236}">
                <a16:creationId xmlns="" xmlns:a16="http://schemas.microsoft.com/office/drawing/2014/main" id="{F47FAA44-2FFA-02CD-24BC-7BCE0F797E4B}"/>
              </a:ext>
            </a:extLst>
          </p:cNvPr>
          <p:cNvCxnSpPr>
            <a:cxnSpLocks/>
            <a:stCxn id="70" idx="2"/>
          </p:cNvCxnSpPr>
          <p:nvPr/>
        </p:nvCxnSpPr>
        <p:spPr>
          <a:xfrm rot="5400000">
            <a:off x="11524207" y="3270585"/>
            <a:ext cx="1636643" cy="168214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87" name="肘形接點 86"/>
          <p:cNvCxnSpPr>
            <a:stCxn id="112" idx="3"/>
            <a:endCxn id="18" idx="1"/>
          </p:cNvCxnSpPr>
          <p:nvPr/>
        </p:nvCxnSpPr>
        <p:spPr>
          <a:xfrm flipV="1">
            <a:off x="4429092" y="2678644"/>
            <a:ext cx="2500330" cy="3858691"/>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2" name="矩形 111"/>
          <p:cNvSpPr/>
          <p:nvPr/>
        </p:nvSpPr>
        <p:spPr>
          <a:xfrm>
            <a:off x="3929026" y="6287302"/>
            <a:ext cx="500066" cy="5000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0" name="表格 30">
            <a:extLst>
              <a:ext uri="{FF2B5EF4-FFF2-40B4-BE49-F238E27FC236}">
                <a16:creationId xmlns:a16="http://schemas.microsoft.com/office/drawing/2014/main" xmlns="" id="{560E075C-2049-BB70-8393-BAD2317E0F8A}"/>
              </a:ext>
            </a:extLst>
          </p:cNvPr>
          <p:cNvGraphicFramePr>
            <a:graphicFrameLocks noGrp="1"/>
          </p:cNvGraphicFramePr>
          <p:nvPr>
            <p:extLst>
              <p:ext uri="{D42A27DB-BD31-4B8C-83A1-F6EECF244321}">
                <p14:modId xmlns:p14="http://schemas.microsoft.com/office/powerpoint/2010/main" xmlns="" val="1510816720"/>
              </p:ext>
            </p:extLst>
          </p:nvPr>
        </p:nvGraphicFramePr>
        <p:xfrm>
          <a:off x="2645596" y="6059777"/>
          <a:ext cx="1797832" cy="1013343"/>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MB21</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建立歸還申請單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40039">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2" name="Group 220">
            <a:extLst>
              <a:ext uri="{FF2B5EF4-FFF2-40B4-BE49-F238E27FC236}">
                <a16:creationId xmlns:a16="http://schemas.microsoft.com/office/drawing/2014/main" xmlns="" id="{992328F7-82BB-7757-B6D6-0258D1C9F6AA}"/>
              </a:ext>
            </a:extLst>
          </p:cNvPr>
          <p:cNvGrpSpPr/>
          <p:nvPr/>
        </p:nvGrpSpPr>
        <p:grpSpPr>
          <a:xfrm>
            <a:off x="4183812" y="5919065"/>
            <a:ext cx="533400" cy="408605"/>
            <a:chOff x="5906184" y="1486857"/>
            <a:chExt cx="355600" cy="272361"/>
          </a:xfrm>
        </p:grpSpPr>
        <p:sp>
          <p:nvSpPr>
            <p:cNvPr id="31" name="Oval 221">
              <a:extLst>
                <a:ext uri="{FF2B5EF4-FFF2-40B4-BE49-F238E27FC236}">
                  <a16:creationId xmlns:a16="http://schemas.microsoft.com/office/drawing/2014/main" xmlns="" id="{2A9B7B4E-4B84-AB3A-F4C9-B3771753F4A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2" name="TextBox 222">
              <a:extLst>
                <a:ext uri="{FF2B5EF4-FFF2-40B4-BE49-F238E27FC236}">
                  <a16:creationId xmlns:a16="http://schemas.microsoft.com/office/drawing/2014/main" xmlns="" id="{DF7EBCB2-5451-1187-0A34-BE1623441A2D}"/>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125" name="矩形 124"/>
          <p:cNvSpPr/>
          <p:nvPr/>
        </p:nvSpPr>
        <p:spPr>
          <a:xfrm>
            <a:off x="9644066" y="4334331"/>
            <a:ext cx="1861200" cy="1238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aphicFrame>
        <p:nvGraphicFramePr>
          <p:cNvPr id="126" name="表格 30">
            <a:extLst>
              <a:ext uri="{FF2B5EF4-FFF2-40B4-BE49-F238E27FC236}">
                <a16:creationId xmlns:a16="http://schemas.microsoft.com/office/drawing/2014/main" xmlns="" id="{44BEA7C9-9198-844F-A29F-3166704266EE}"/>
              </a:ext>
            </a:extLst>
          </p:cNvPr>
          <p:cNvGraphicFramePr>
            <a:graphicFrameLocks noGrp="1"/>
          </p:cNvGraphicFramePr>
          <p:nvPr>
            <p:extLst>
              <p:ext uri="{D42A27DB-BD31-4B8C-83A1-F6EECF244321}">
                <p14:modId xmlns:p14="http://schemas.microsoft.com/office/powerpoint/2010/main" xmlns="" val="4140414609"/>
              </p:ext>
            </p:extLst>
          </p:nvPr>
        </p:nvGraphicFramePr>
        <p:xfrm>
          <a:off x="9644066" y="4334331"/>
          <a:ext cx="1860324" cy="1238591"/>
        </p:xfrm>
        <a:graphic>
          <a:graphicData uri="http://schemas.openxmlformats.org/drawingml/2006/table">
            <a:tbl>
              <a:tblPr>
                <a:tableStyleId>{5940675A-B579-460E-94D1-54222C63F5DA}</a:tableStyleId>
              </a:tblPr>
              <a:tblGrid>
                <a:gridCol w="930162">
                  <a:extLst>
                    <a:ext uri="{9D8B030D-6E8A-4147-A177-3AD203B41FA5}">
                      <a16:colId xmlns:a16="http://schemas.microsoft.com/office/drawing/2014/main" xmlns="" val="3433979995"/>
                    </a:ext>
                  </a:extLst>
                </a:gridCol>
                <a:gridCol w="930162">
                  <a:extLst>
                    <a:ext uri="{9D8B030D-6E8A-4147-A177-3AD203B41FA5}">
                      <a16:colId xmlns:a16="http://schemas.microsoft.com/office/drawing/2014/main" xmlns=""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ZMM088</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WMS</a:t>
                      </a:r>
                      <a:r>
                        <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回傳預留單過帳</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76" name="Group 220">
            <a:extLst>
              <a:ext uri="{FF2B5EF4-FFF2-40B4-BE49-F238E27FC236}">
                <a16:creationId xmlns:a16="http://schemas.microsoft.com/office/drawing/2014/main" xmlns="" id="{2D9D24A9-3257-3D1C-400D-8D57457C936F}"/>
              </a:ext>
            </a:extLst>
          </p:cNvPr>
          <p:cNvGrpSpPr/>
          <p:nvPr/>
        </p:nvGrpSpPr>
        <p:grpSpPr>
          <a:xfrm>
            <a:off x="11287140" y="4021309"/>
            <a:ext cx="533400" cy="408605"/>
            <a:chOff x="5906184" y="1486857"/>
            <a:chExt cx="355600" cy="272361"/>
          </a:xfrm>
        </p:grpSpPr>
        <p:sp>
          <p:nvSpPr>
            <p:cNvPr id="77" name="Oval 221">
              <a:extLst>
                <a:ext uri="{FF2B5EF4-FFF2-40B4-BE49-F238E27FC236}">
                  <a16:creationId xmlns:a16="http://schemas.microsoft.com/office/drawing/2014/main" xmlns="" id="{CCF0CFCE-B6D6-2D09-68D4-D3E1760C0D7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8" name="TextBox 222">
              <a:extLst>
                <a:ext uri="{FF2B5EF4-FFF2-40B4-BE49-F238E27FC236}">
                  <a16:creationId xmlns:a16="http://schemas.microsoft.com/office/drawing/2014/main" xmlns="" id="{EA17683E-E4C2-2FEC-8CA5-6C1D73A3C548}"/>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Tree>
    <p:extLst>
      <p:ext uri="{BB962C8B-B14F-4D97-AF65-F5344CB8AC3E}">
        <p14:creationId xmlns:p14="http://schemas.microsoft.com/office/powerpoint/2010/main" xmlns="" val="6146589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 </a:t>
            </a:r>
          </a:p>
          <a:p>
            <a:endParaRPr lang="en-US" sz="2400" dirty="0">
              <a:solidFill>
                <a:schemeClr val="dk1"/>
              </a:solidFill>
            </a:endParaRPr>
          </a:p>
          <a:p>
            <a:r>
              <a:rPr lang="zh-TW" altLang="en-US" sz="2400" dirty="0">
                <a:solidFill>
                  <a:schemeClr val="dk1"/>
                </a:solidFill>
                <a:latin typeface="Arial"/>
                <a:ea typeface="Arial"/>
                <a:cs typeface="Arial"/>
                <a:sym typeface="Arial"/>
              </a:rPr>
              <a:t>與</a:t>
            </a:r>
            <a:r>
              <a:rPr lang="en-US" altLang="zh-TW" sz="2400" dirty="0">
                <a:solidFill>
                  <a:schemeClr val="dk1"/>
                </a:solidFill>
                <a:latin typeface="Arial"/>
                <a:ea typeface="Arial"/>
                <a:cs typeface="Arial"/>
                <a:sym typeface="Arial"/>
              </a:rPr>
              <a:t>WMS</a:t>
            </a:r>
            <a:r>
              <a:rPr lang="zh-TW" altLang="en-US" sz="2400" dirty="0">
                <a:solidFill>
                  <a:schemeClr val="dk1"/>
                </a:solidFill>
                <a:latin typeface="Arial"/>
                <a:ea typeface="Arial"/>
                <a:cs typeface="Arial"/>
                <a:sym typeface="Arial"/>
              </a:rPr>
              <a:t>介接說明補充</a:t>
            </a:r>
            <a:endParaRPr lang="en-US" altLang="zh-TW" sz="2400" dirty="0">
              <a:solidFill>
                <a:schemeClr val="dk1"/>
              </a:solidFill>
              <a:latin typeface="Arial"/>
              <a:ea typeface="Arial"/>
              <a:cs typeface="Arial"/>
              <a:sym typeface="Arial"/>
            </a:endParaRPr>
          </a:p>
          <a:p>
            <a:endParaRPr dirty="0"/>
          </a:p>
          <a:p>
            <a:endParaRPr dirty="0">
              <a:solidFill>
                <a:schemeClr val="dk1"/>
              </a:solidFill>
              <a:latin typeface="Arial"/>
              <a:ea typeface="Arial"/>
              <a:cs typeface="Arial"/>
              <a:sym typeface="Arial"/>
            </a:endParaRPr>
          </a:p>
        </p:txBody>
      </p:sp>
      <p:sp>
        <p:nvSpPr>
          <p:cNvPr id="2" name="Google Shape;38;p9">
            <a:extLst>
              <a:ext uri="{FF2B5EF4-FFF2-40B4-BE49-F238E27FC236}">
                <a16:creationId xmlns:a16="http://schemas.microsoft.com/office/drawing/2014/main" xmlns="" id="{56BA16BA-FA6D-2D07-E63D-D785C36299D4}"/>
              </a:ext>
            </a:extLst>
          </p:cNvPr>
          <p:cNvSpPr txBox="1"/>
          <p:nvPr/>
        </p:nvSpPr>
        <p:spPr>
          <a:xfrm>
            <a:off x="15287668" y="310242"/>
            <a:ext cx="648072" cy="547772"/>
          </a:xfrm>
          <a:prstGeom prst="rect">
            <a:avLst/>
          </a:prstGeom>
          <a:noFill/>
          <a:ln>
            <a:noFill/>
          </a:ln>
        </p:spPr>
        <p:txBody>
          <a:bodyPr spcFirstLastPara="1" wrap="square" lIns="137138" tIns="68550" rIns="137138" bIns="68550" anchor="ctr" anchorCtr="0">
            <a:noAutofit/>
          </a:bodyPr>
          <a:lstStyle/>
          <a:p>
            <a:pPr algn="r"/>
            <a:r>
              <a:rPr lang="en-US" dirty="0" smtClean="0">
                <a:solidFill>
                  <a:srgbClr val="888888"/>
                </a:solidFill>
              </a:rPr>
              <a:t>4</a:t>
            </a:r>
            <a:endParaRPr dirty="0">
              <a:solidFill>
                <a:srgbClr val="888888"/>
              </a:solidFill>
              <a:latin typeface="Arial"/>
              <a:ea typeface="Arial"/>
              <a:cs typeface="Arial"/>
              <a:sym typeface="Arial"/>
            </a:endParaRPr>
          </a:p>
        </p:txBody>
      </p:sp>
      <p:sp>
        <p:nvSpPr>
          <p:cNvPr id="3" name="圓角矩形 28">
            <a:extLst>
              <a:ext uri="{FF2B5EF4-FFF2-40B4-BE49-F238E27FC236}">
                <a16:creationId xmlns:a16="http://schemas.microsoft.com/office/drawing/2014/main" xmlns="" id="{A6DE4EE1-42F5-EF77-E9BB-0BB44CD8C304}"/>
              </a:ext>
            </a:extLst>
          </p:cNvPr>
          <p:cNvSpPr/>
          <p:nvPr/>
        </p:nvSpPr>
        <p:spPr>
          <a:xfrm>
            <a:off x="1534155" y="369501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sp>
        <p:nvSpPr>
          <p:cNvPr id="4" name="圓角矩形 40">
            <a:extLst>
              <a:ext uri="{FF2B5EF4-FFF2-40B4-BE49-F238E27FC236}">
                <a16:creationId xmlns:a16="http://schemas.microsoft.com/office/drawing/2014/main" xmlns="" id="{E09620A5-6E21-55FC-37C2-9E1C401274CC}"/>
              </a:ext>
            </a:extLst>
          </p:cNvPr>
          <p:cNvSpPr/>
          <p:nvPr/>
        </p:nvSpPr>
        <p:spPr>
          <a:xfrm>
            <a:off x="4635501" y="3681298"/>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下架發料</a:t>
            </a:r>
          </a:p>
        </p:txBody>
      </p:sp>
      <p:sp>
        <p:nvSpPr>
          <p:cNvPr id="5" name="圓角矩形 28">
            <a:extLst>
              <a:ext uri="{FF2B5EF4-FFF2-40B4-BE49-F238E27FC236}">
                <a16:creationId xmlns:a16="http://schemas.microsoft.com/office/drawing/2014/main" xmlns="" id="{8E7F8AB9-75C3-A50F-8EEA-B4061E659002}"/>
              </a:ext>
            </a:extLst>
          </p:cNvPr>
          <p:cNvSpPr/>
          <p:nvPr/>
        </p:nvSpPr>
        <p:spPr>
          <a:xfrm>
            <a:off x="7924481" y="3695016"/>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轉倉</a:t>
            </a:r>
          </a:p>
        </p:txBody>
      </p:sp>
      <p:cxnSp>
        <p:nvCxnSpPr>
          <p:cNvPr id="6" name="接點: 肘形 5">
            <a:extLst>
              <a:ext uri="{FF2B5EF4-FFF2-40B4-BE49-F238E27FC236}">
                <a16:creationId xmlns:a16="http://schemas.microsoft.com/office/drawing/2014/main" xmlns="" id="{4D992AF5-3FDB-E458-709F-E2267FCAB152}"/>
              </a:ext>
            </a:extLst>
          </p:cNvPr>
          <p:cNvCxnSpPr>
            <a:cxnSpLocks/>
            <a:stCxn id="3" idx="3"/>
            <a:endCxn id="4" idx="1"/>
          </p:cNvCxnSpPr>
          <p:nvPr/>
        </p:nvCxnSpPr>
        <p:spPr>
          <a:xfrm flipV="1">
            <a:off x="3661095" y="4115804"/>
            <a:ext cx="97440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7" name="Group 220">
            <a:extLst>
              <a:ext uri="{FF2B5EF4-FFF2-40B4-BE49-F238E27FC236}">
                <a16:creationId xmlns:a16="http://schemas.microsoft.com/office/drawing/2014/main" xmlns="" id="{74167284-A6F2-38B2-040B-A18D2C7860FB}"/>
              </a:ext>
            </a:extLst>
          </p:cNvPr>
          <p:cNvGrpSpPr/>
          <p:nvPr/>
        </p:nvGrpSpPr>
        <p:grpSpPr>
          <a:xfrm>
            <a:off x="3971094" y="3476996"/>
            <a:ext cx="533400" cy="408605"/>
            <a:chOff x="5906184" y="1486857"/>
            <a:chExt cx="355600" cy="272361"/>
          </a:xfrm>
        </p:grpSpPr>
        <p:sp>
          <p:nvSpPr>
            <p:cNvPr id="8" name="Oval 221">
              <a:extLst>
                <a:ext uri="{FF2B5EF4-FFF2-40B4-BE49-F238E27FC236}">
                  <a16:creationId xmlns:a16="http://schemas.microsoft.com/office/drawing/2014/main" xmlns="" id="{5398707A-CF7D-0D40-4B9C-E6DE04B9803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9" name="TextBox 222">
              <a:extLst>
                <a:ext uri="{FF2B5EF4-FFF2-40B4-BE49-F238E27FC236}">
                  <a16:creationId xmlns:a16="http://schemas.microsoft.com/office/drawing/2014/main" xmlns="" id="{C57D282A-5083-E45A-AF93-305E6A08D71F}"/>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10" name="接點: 肘形 9">
            <a:extLst>
              <a:ext uri="{FF2B5EF4-FFF2-40B4-BE49-F238E27FC236}">
                <a16:creationId xmlns:a16="http://schemas.microsoft.com/office/drawing/2014/main" xmlns="" id="{DD71A9F9-577E-0E1F-B9BA-27EDBA3FD682}"/>
              </a:ext>
            </a:extLst>
          </p:cNvPr>
          <p:cNvCxnSpPr>
            <a:cxnSpLocks/>
            <a:stCxn id="4" idx="3"/>
            <a:endCxn id="5" idx="1"/>
          </p:cNvCxnSpPr>
          <p:nvPr/>
        </p:nvCxnSpPr>
        <p:spPr>
          <a:xfrm>
            <a:off x="6771082" y="4115804"/>
            <a:ext cx="1153400"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1" name="Group 220">
            <a:extLst>
              <a:ext uri="{FF2B5EF4-FFF2-40B4-BE49-F238E27FC236}">
                <a16:creationId xmlns:a16="http://schemas.microsoft.com/office/drawing/2014/main" xmlns="" id="{6FF0C431-AA90-84C5-0715-8718B13F350A}"/>
              </a:ext>
            </a:extLst>
          </p:cNvPr>
          <p:cNvGrpSpPr/>
          <p:nvPr/>
        </p:nvGrpSpPr>
        <p:grpSpPr>
          <a:xfrm>
            <a:off x="7156482" y="3504729"/>
            <a:ext cx="533400" cy="408605"/>
            <a:chOff x="5906184" y="1486857"/>
            <a:chExt cx="355600" cy="272361"/>
          </a:xfrm>
        </p:grpSpPr>
        <p:sp>
          <p:nvSpPr>
            <p:cNvPr id="12" name="Oval 221">
              <a:extLst>
                <a:ext uri="{FF2B5EF4-FFF2-40B4-BE49-F238E27FC236}">
                  <a16:creationId xmlns:a16="http://schemas.microsoft.com/office/drawing/2014/main" xmlns="" id="{5947AC86-4ADB-8A08-BC00-6B448305D959}"/>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 name="TextBox 222">
              <a:extLst>
                <a:ext uri="{FF2B5EF4-FFF2-40B4-BE49-F238E27FC236}">
                  <a16:creationId xmlns:a16="http://schemas.microsoft.com/office/drawing/2014/main" xmlns="" id="{9E518628-2F8E-CD43-C778-6C2289C524B6}"/>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14" name="圓角矩形 28">
            <a:extLst>
              <a:ext uri="{FF2B5EF4-FFF2-40B4-BE49-F238E27FC236}">
                <a16:creationId xmlns:a16="http://schemas.microsoft.com/office/drawing/2014/main" xmlns="" id="{412619EC-1197-3118-3B6C-09AF9C06C44D}"/>
              </a:ext>
            </a:extLst>
          </p:cNvPr>
          <p:cNvSpPr/>
          <p:nvPr/>
        </p:nvSpPr>
        <p:spPr>
          <a:xfrm>
            <a:off x="1621625" y="5197629"/>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預留單</a:t>
            </a:r>
          </a:p>
        </p:txBody>
      </p:sp>
      <p:sp>
        <p:nvSpPr>
          <p:cNvPr id="15" name="圓角矩形 40">
            <a:extLst>
              <a:ext uri="{FF2B5EF4-FFF2-40B4-BE49-F238E27FC236}">
                <a16:creationId xmlns:a16="http://schemas.microsoft.com/office/drawing/2014/main" xmlns="" id="{F27953FB-6C61-89B9-28AF-B62CB8A3EEFD}"/>
              </a:ext>
            </a:extLst>
          </p:cNvPr>
          <p:cNvSpPr/>
          <p:nvPr/>
        </p:nvSpPr>
        <p:spPr>
          <a:xfrm>
            <a:off x="4722971" y="5183911"/>
            <a:ext cx="2135580" cy="869012"/>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zh-TW" altLang="en-US" sz="2700" b="1" dirty="0">
                <a:latin typeface="微軟正黑體" pitchFamily="34" charset="-120"/>
                <a:ea typeface="微軟正黑體" pitchFamily="34" charset="-120"/>
              </a:rPr>
              <a:t>上架收料</a:t>
            </a:r>
          </a:p>
        </p:txBody>
      </p:sp>
      <p:sp>
        <p:nvSpPr>
          <p:cNvPr id="16" name="圓角矩形 28">
            <a:extLst>
              <a:ext uri="{FF2B5EF4-FFF2-40B4-BE49-F238E27FC236}">
                <a16:creationId xmlns:a16="http://schemas.microsoft.com/office/drawing/2014/main" xmlns="" id="{77070506-3B16-928B-518E-CBF3C865F99E}"/>
              </a:ext>
            </a:extLst>
          </p:cNvPr>
          <p:cNvSpPr/>
          <p:nvPr/>
        </p:nvSpPr>
        <p:spPr>
          <a:xfrm>
            <a:off x="7943370" y="5183911"/>
            <a:ext cx="2126940" cy="869012"/>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zh-TW" altLang="en-US" sz="3000" b="1" dirty="0">
                <a:latin typeface="微軟正黑體" pitchFamily="34" charset="-120"/>
                <a:ea typeface="微軟正黑體" pitchFamily="34" charset="-120"/>
              </a:rPr>
              <a:t>轉倉</a:t>
            </a:r>
          </a:p>
        </p:txBody>
      </p:sp>
      <p:cxnSp>
        <p:nvCxnSpPr>
          <p:cNvPr id="17" name="接點: 肘形 16">
            <a:extLst>
              <a:ext uri="{FF2B5EF4-FFF2-40B4-BE49-F238E27FC236}">
                <a16:creationId xmlns:a16="http://schemas.microsoft.com/office/drawing/2014/main" xmlns="" id="{856A7C3F-1A41-7E31-C5D2-276CE0997729}"/>
              </a:ext>
            </a:extLst>
          </p:cNvPr>
          <p:cNvCxnSpPr>
            <a:cxnSpLocks/>
            <a:stCxn id="14" idx="3"/>
            <a:endCxn id="15" idx="1"/>
          </p:cNvCxnSpPr>
          <p:nvPr/>
        </p:nvCxnSpPr>
        <p:spPr>
          <a:xfrm flipV="1">
            <a:off x="3748565" y="5618417"/>
            <a:ext cx="974406" cy="13718"/>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18" name="Group 220">
            <a:extLst>
              <a:ext uri="{FF2B5EF4-FFF2-40B4-BE49-F238E27FC236}">
                <a16:creationId xmlns:a16="http://schemas.microsoft.com/office/drawing/2014/main" xmlns="" id="{C6A8456E-0A62-7AF2-DF36-8A7A1BE91A8F}"/>
              </a:ext>
            </a:extLst>
          </p:cNvPr>
          <p:cNvGrpSpPr/>
          <p:nvPr/>
        </p:nvGrpSpPr>
        <p:grpSpPr>
          <a:xfrm>
            <a:off x="4058564" y="4979608"/>
            <a:ext cx="533400" cy="408605"/>
            <a:chOff x="5906184" y="1486857"/>
            <a:chExt cx="355600" cy="272361"/>
          </a:xfrm>
        </p:grpSpPr>
        <p:sp>
          <p:nvSpPr>
            <p:cNvPr id="19" name="Oval 221">
              <a:extLst>
                <a:ext uri="{FF2B5EF4-FFF2-40B4-BE49-F238E27FC236}">
                  <a16:creationId xmlns:a16="http://schemas.microsoft.com/office/drawing/2014/main" xmlns="" id="{25623402-9F57-600A-F97A-5C2EBA60585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 name="TextBox 222">
              <a:extLst>
                <a:ext uri="{FF2B5EF4-FFF2-40B4-BE49-F238E27FC236}">
                  <a16:creationId xmlns:a16="http://schemas.microsoft.com/office/drawing/2014/main" xmlns="" id="{7878FB2C-CB27-C208-34CC-8405FC250290}"/>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21" name="接點: 肘形 20">
            <a:extLst>
              <a:ext uri="{FF2B5EF4-FFF2-40B4-BE49-F238E27FC236}">
                <a16:creationId xmlns:a16="http://schemas.microsoft.com/office/drawing/2014/main" xmlns="" id="{BD697A46-3E39-EEE1-FC19-490E872B8BA6}"/>
              </a:ext>
            </a:extLst>
          </p:cNvPr>
          <p:cNvCxnSpPr>
            <a:cxnSpLocks/>
            <a:stCxn id="15" idx="3"/>
            <a:endCxn id="16" idx="1"/>
          </p:cNvCxnSpPr>
          <p:nvPr/>
        </p:nvCxnSpPr>
        <p:spPr>
          <a:xfrm>
            <a:off x="6858551" y="5618417"/>
            <a:ext cx="1084820" cy="19053"/>
          </a:xfrm>
          <a:prstGeom prst="bentConnector3">
            <a:avLst>
              <a:gd name="adj1" fmla="val 50000"/>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2" name="Group 220">
            <a:extLst>
              <a:ext uri="{FF2B5EF4-FFF2-40B4-BE49-F238E27FC236}">
                <a16:creationId xmlns:a16="http://schemas.microsoft.com/office/drawing/2014/main" xmlns="" id="{CEAFCE28-F90E-E333-4237-D9B6D677D9A4}"/>
              </a:ext>
            </a:extLst>
          </p:cNvPr>
          <p:cNvGrpSpPr/>
          <p:nvPr/>
        </p:nvGrpSpPr>
        <p:grpSpPr>
          <a:xfrm>
            <a:off x="7243952" y="5007341"/>
            <a:ext cx="533400" cy="408605"/>
            <a:chOff x="5906184" y="1486857"/>
            <a:chExt cx="355600" cy="272361"/>
          </a:xfrm>
        </p:grpSpPr>
        <p:sp>
          <p:nvSpPr>
            <p:cNvPr id="23" name="Oval 221">
              <a:extLst>
                <a:ext uri="{FF2B5EF4-FFF2-40B4-BE49-F238E27FC236}">
                  <a16:creationId xmlns:a16="http://schemas.microsoft.com/office/drawing/2014/main" xmlns="" id="{E17F0D96-A6FE-BDD0-A484-4F033FA56751}"/>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 name="TextBox 222">
              <a:extLst>
                <a:ext uri="{FF2B5EF4-FFF2-40B4-BE49-F238E27FC236}">
                  <a16:creationId xmlns:a16="http://schemas.microsoft.com/office/drawing/2014/main" xmlns="" id="{F3C049F2-0890-D647-2000-FF67CB4C8A12}"/>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25" name="表格 24">
            <a:extLst>
              <a:ext uri="{FF2B5EF4-FFF2-40B4-BE49-F238E27FC236}">
                <a16:creationId xmlns:a16="http://schemas.microsoft.com/office/drawing/2014/main" xmlns="" id="{B195FAD3-F4C7-BDE6-82F9-99B5D9D0A445}"/>
              </a:ext>
            </a:extLst>
          </p:cNvPr>
          <p:cNvGraphicFramePr>
            <a:graphicFrameLocks noGrp="1"/>
          </p:cNvGraphicFramePr>
          <p:nvPr>
            <p:extLst>
              <p:ext uri="{D42A27DB-BD31-4B8C-83A1-F6EECF244321}">
                <p14:modId xmlns:p14="http://schemas.microsoft.com/office/powerpoint/2010/main" xmlns="" val="3069008402"/>
              </p:ext>
            </p:extLst>
          </p:nvPr>
        </p:nvGraphicFramePr>
        <p:xfrm>
          <a:off x="1733517" y="8216662"/>
          <a:ext cx="13395961" cy="1112692"/>
        </p:xfrm>
        <a:graphic>
          <a:graphicData uri="http://schemas.openxmlformats.org/drawingml/2006/table">
            <a:tbl>
              <a:tblPr firstRow="1" bandRow="1"/>
              <a:tblGrid>
                <a:gridCol w="586073">
                  <a:extLst>
                    <a:ext uri="{9D8B030D-6E8A-4147-A177-3AD203B41FA5}">
                      <a16:colId xmlns:a16="http://schemas.microsoft.com/office/drawing/2014/main" xmlns="" val="4193373909"/>
                    </a:ext>
                  </a:extLst>
                </a:gridCol>
                <a:gridCol w="12809888">
                  <a:extLst>
                    <a:ext uri="{9D8B030D-6E8A-4147-A177-3AD203B41FA5}">
                      <a16:colId xmlns:a16="http://schemas.microsoft.com/office/drawing/2014/main" xmlns="" val="175700329"/>
                    </a:ext>
                  </a:extLst>
                </a:gridCol>
              </a:tblGrid>
              <a:tr h="556346">
                <a:tc>
                  <a:txBody>
                    <a:bodyPr/>
                    <a:lstStyle/>
                    <a:p>
                      <a:r>
                        <a:rPr lang="en-US" altLang="zh-TW" sz="2700" dirty="0"/>
                        <a:t>1</a:t>
                      </a:r>
                      <a:endParaRPr lang="zh-TW" altLang="en-US" sz="2700" dirty="0"/>
                    </a:p>
                  </a:txBody>
                  <a:tcPr marL="137160" marR="137160" marT="68591" marB="68591"/>
                </a:tc>
                <a:tc>
                  <a:txBody>
                    <a:bodyPr/>
                    <a:lstStyle/>
                    <a:p>
                      <a:r>
                        <a:rPr lang="en-US" altLang="zh-TW" sz="2700" dirty="0"/>
                        <a:t>SAP </a:t>
                      </a:r>
                      <a:r>
                        <a:rPr lang="zh-TW" altLang="en-US" sz="2700" dirty="0"/>
                        <a:t>借用歸回申請單</a:t>
                      </a:r>
                      <a:r>
                        <a:rPr lang="en-US" altLang="zh-TW" sz="2700" dirty="0"/>
                        <a:t>(</a:t>
                      </a:r>
                      <a:r>
                        <a:rPr lang="zh-TW" altLang="en-US" sz="2700" dirty="0"/>
                        <a:t>預留單</a:t>
                      </a:r>
                      <a:r>
                        <a:rPr lang="en-US" altLang="zh-TW" sz="2700" dirty="0"/>
                        <a:t>)</a:t>
                      </a:r>
                      <a:r>
                        <a:rPr lang="zh-TW" altLang="en-US" sz="2700" dirty="0"/>
                        <a:t>拋給</a:t>
                      </a:r>
                      <a:r>
                        <a:rPr lang="en-US" altLang="zh-TW" sz="2700" dirty="0"/>
                        <a:t>WMS</a:t>
                      </a:r>
                    </a:p>
                  </a:txBody>
                  <a:tcPr marL="137160" marR="137160" marT="68591" marB="68591"/>
                </a:tc>
                <a:extLst>
                  <a:ext uri="{0D108BD9-81ED-4DB2-BD59-A6C34878D82A}">
                    <a16:rowId xmlns:a16="http://schemas.microsoft.com/office/drawing/2014/main" xmlns="" val="388478257"/>
                  </a:ext>
                </a:extLst>
              </a:tr>
              <a:tr h="556346">
                <a:tc>
                  <a:txBody>
                    <a:bodyPr/>
                    <a:lstStyle/>
                    <a:p>
                      <a:r>
                        <a:rPr lang="en-US" altLang="zh-TW" sz="2700" dirty="0"/>
                        <a:t>2</a:t>
                      </a:r>
                      <a:endParaRPr lang="zh-TW" altLang="en-US" sz="2700" dirty="0"/>
                    </a:p>
                  </a:txBody>
                  <a:tcPr marL="137160" marR="137160" marT="68591" marB="68591"/>
                </a:tc>
                <a:tc>
                  <a:txBody>
                    <a:bodyPr/>
                    <a:lstStyle/>
                    <a:p>
                      <a:r>
                        <a:rPr lang="en-US" altLang="zh-TW" sz="2700" dirty="0"/>
                        <a:t>WMS</a:t>
                      </a:r>
                      <a:r>
                        <a:rPr lang="zh-TW" altLang="en-US" sz="2700" dirty="0"/>
                        <a:t>下架發料或上架收料後拋給</a:t>
                      </a:r>
                      <a:r>
                        <a:rPr lang="en-US" altLang="zh-TW" sz="2700" dirty="0"/>
                        <a:t>SAP</a:t>
                      </a:r>
                      <a:r>
                        <a:rPr lang="zh-TW" altLang="en-US" sz="2700" dirty="0"/>
                        <a:t>執行預留單過帳作業</a:t>
                      </a:r>
                    </a:p>
                  </a:txBody>
                  <a:tcPr marL="137160" marR="137160" marT="68591" marB="68591"/>
                </a:tc>
                <a:extLst>
                  <a:ext uri="{0D108BD9-81ED-4DB2-BD59-A6C34878D82A}">
                    <a16:rowId xmlns:a16="http://schemas.microsoft.com/office/drawing/2014/main" xmlns="" val="2767441219"/>
                  </a:ext>
                </a:extLst>
              </a:tr>
            </a:tbl>
          </a:graphicData>
        </a:graphic>
      </p:graphicFrame>
      <p:sp>
        <p:nvSpPr>
          <p:cNvPr id="26" name="圓角矩形 28">
            <a:extLst>
              <a:ext uri="{FF2B5EF4-FFF2-40B4-BE49-F238E27FC236}">
                <a16:creationId xmlns:a16="http://schemas.microsoft.com/office/drawing/2014/main" xmlns="" id="{5E11A549-C17B-3822-FB4F-C50B7676FE34}"/>
              </a:ext>
            </a:extLst>
          </p:cNvPr>
          <p:cNvSpPr/>
          <p:nvPr/>
        </p:nvSpPr>
        <p:spPr>
          <a:xfrm>
            <a:off x="16766852" y="8897239"/>
            <a:ext cx="1188132" cy="432115"/>
          </a:xfrm>
          <a:prstGeom prst="roundRect">
            <a:avLst/>
          </a:prstGeom>
          <a:solidFill>
            <a:srgbClr val="FFC000"/>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SAP</a:t>
            </a:r>
            <a:endParaRPr lang="zh-TW" altLang="en-US" sz="2100" b="1" dirty="0">
              <a:latin typeface="微軟正黑體" pitchFamily="34" charset="-120"/>
              <a:ea typeface="微軟正黑體" pitchFamily="34" charset="-120"/>
            </a:endParaRPr>
          </a:p>
        </p:txBody>
      </p:sp>
      <p:sp>
        <p:nvSpPr>
          <p:cNvPr id="27" name="圓角矩形 40">
            <a:extLst>
              <a:ext uri="{FF2B5EF4-FFF2-40B4-BE49-F238E27FC236}">
                <a16:creationId xmlns:a16="http://schemas.microsoft.com/office/drawing/2014/main" xmlns="" id="{0309E645-096B-1577-4D5C-B195D0A5E9B2}"/>
              </a:ext>
            </a:extLst>
          </p:cNvPr>
          <p:cNvSpPr/>
          <p:nvPr/>
        </p:nvSpPr>
        <p:spPr>
          <a:xfrm>
            <a:off x="16766852" y="9401709"/>
            <a:ext cx="1188132" cy="432115"/>
          </a:xfrm>
          <a:prstGeom prst="roundRect">
            <a:avLst/>
          </a:prstGeom>
          <a:solidFill>
            <a:schemeClr val="accent1">
              <a:lumMod val="75000"/>
            </a:schemeClr>
          </a:solidFill>
          <a:ln>
            <a:solidFill>
              <a:srgbClr val="C00000"/>
            </a:solidFill>
          </a:ln>
        </p:spPr>
        <p:style>
          <a:lnRef idx="2">
            <a:schemeClr val="accent3">
              <a:shade val="50000"/>
            </a:schemeClr>
          </a:lnRef>
          <a:fillRef idx="1">
            <a:schemeClr val="accent3"/>
          </a:fillRef>
          <a:effectRef idx="0">
            <a:schemeClr val="accent3"/>
          </a:effectRef>
          <a:fontRef idx="minor">
            <a:schemeClr val="lt1"/>
          </a:fontRef>
        </p:style>
        <p:txBody>
          <a:bodyPr lIns="137160" tIns="68580" rIns="137160" bIns="68580" rtlCol="0" anchor="ctr"/>
          <a:lstStyle/>
          <a:p>
            <a:pPr algn="ctr"/>
            <a:r>
              <a:rPr lang="en-US" altLang="zh-TW" b="1" dirty="0">
                <a:latin typeface="微軟正黑體" pitchFamily="34" charset="-120"/>
                <a:ea typeface="微軟正黑體" pitchFamily="34" charset="-120"/>
              </a:rPr>
              <a:t>WMS</a:t>
            </a:r>
            <a:endParaRPr lang="zh-TW" altLang="en-US" b="1" dirty="0">
              <a:latin typeface="微軟正黑體" pitchFamily="34" charset="-120"/>
              <a:ea typeface="微軟正黑體" pitchFamily="34" charset="-120"/>
            </a:endParaRPr>
          </a:p>
        </p:txBody>
      </p:sp>
      <p:sp>
        <p:nvSpPr>
          <p:cNvPr id="29" name="文字方塊 28">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MM-IM-0060 </a:t>
            </a:r>
            <a:r>
              <a:rPr kumimoji="0" lang="zh-TW" altLang="en-US" b="1" dirty="0" smtClean="0">
                <a:latin typeface="微軟正黑體" panose="020B0604030504040204" pitchFamily="34" charset="-120"/>
                <a:ea typeface="微軟正黑體" panose="020B0604030504040204" pitchFamily="34" charset="-120"/>
              </a:rPr>
              <a:t>原物</a:t>
            </a:r>
            <a:r>
              <a:rPr kumimoji="0" lang="zh-TW" altLang="en-US" b="1" dirty="0">
                <a:latin typeface="微軟正黑體" panose="020B0604030504040204" pitchFamily="34" charset="-120"/>
                <a:ea typeface="微軟正黑體" panose="020B0604030504040204" pitchFamily="34" charset="-120"/>
              </a:rPr>
              <a:t>料借料作業</a:t>
            </a:r>
            <a:r>
              <a:rPr kumimoji="0" lang="zh-TW" altLang="en-US" b="1" dirty="0" smtClean="0">
                <a:latin typeface="微軟正黑體" panose="020B0604030504040204" pitchFamily="34" charset="-120"/>
                <a:ea typeface="微軟正黑體" panose="020B0604030504040204" pitchFamily="34" charset="-120"/>
              </a:rPr>
              <a:t>流程</a:t>
            </a:r>
            <a:endParaRPr kumimoji="0" lang="zh-TW" altLang="en-US" b="1" dirty="0">
              <a:latin typeface="微軟正黑體" panose="020B0604030504040204" pitchFamily="34" charset="-120"/>
              <a:ea typeface="微軟正黑體" panose="020B0604030504040204" pitchFamily="34"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16131</TotalTime>
  <Words>1081</Words>
  <Application>Collabora_Office/23.05.5.4$Linux_X86_64 LibreOffice_project/1681200a96e5ffa1bee996c23ec760042f91abfa</Application>
  <PresentationFormat>自訂</PresentationFormat>
  <Paragraphs>259</Paragraphs>
  <Slides>9</Slides>
  <Notes>5</Notes>
  <HiddenSlides>0</HiddenSlides>
  <MMClips>0</MMClips>
  <ScaleCrop>false</ScaleCrop>
  <HeadingPairs>
    <vt:vector size="4" baseType="variant">
      <vt:variant>
        <vt:lpstr>佈景主題</vt:lpstr>
      </vt:variant>
      <vt:variant>
        <vt:i4>5</vt:i4>
      </vt:variant>
      <vt:variant>
        <vt:lpstr>投影片標題</vt:lpstr>
      </vt:variant>
      <vt:variant>
        <vt:i4>9</vt:i4>
      </vt:variant>
    </vt:vector>
  </HeadingPairs>
  <TitlesOfParts>
    <vt:vector size="14"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148</cp:revision>
  <dcterms:created xsi:type="dcterms:W3CDTF">2023-05-31T01:27:04Z</dcterms:created>
  <dcterms:modified xsi:type="dcterms:W3CDTF">2025-07-28T04:53:48Z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