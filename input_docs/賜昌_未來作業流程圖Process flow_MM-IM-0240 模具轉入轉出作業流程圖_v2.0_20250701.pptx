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Override PartName="/ppt/slideLayouts/slideLayout62.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4.xml" ContentType="application/vnd.openxmlformats-officedocument.presentationml.slideMaster+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s/slide8.xml" ContentType="application/vnd.openxmlformats-officedocument.presentationml.slide+xml"/>
  <Override PartName="/ppt/slideLayouts/slideLayout5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85" r:id="rId4"/>
    <p:sldMasterId id="2147484467" r:id="rId5"/>
  </p:sldMasterIdLst>
  <p:notesMasterIdLst>
    <p:notesMasterId r:id="rId14"/>
  </p:notesMasterIdLst>
  <p:sldIdLst>
    <p:sldId id="256" r:id="rId6"/>
    <p:sldId id="257" r:id="rId7"/>
    <p:sldId id="258" r:id="rId8"/>
    <p:sldId id="283" r:id="rId9"/>
    <p:sldId id="284" r:id="rId10"/>
    <p:sldId id="285" r:id="rId11"/>
    <p:sldId id="263" r:id="rId12"/>
    <p:sldId id="264" r:id="rId13"/>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3" autoAdjust="0"/>
    <p:restoredTop sz="94513" autoAdjust="0"/>
  </p:normalViewPr>
  <p:slideViewPr>
    <p:cSldViewPr>
      <p:cViewPr>
        <p:scale>
          <a:sx n="60" d="100"/>
          <a:sy n="60" d="100"/>
        </p:scale>
        <p:origin x="332" y="368"/>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presProps" Target="presProps.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435825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 xmlns:p14="http://schemas.microsoft.com/office/powerpoint/2010/main"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 xmlns:a16="http://schemas.microsoft.com/office/drawing/2014/main" val="20000"/>
                    </a:ext>
                  </a:extLst>
                </a:gridCol>
                <a:gridCol w="13144425">
                  <a:extLst>
                    <a:ext uri="{9D8B030D-6E8A-4147-A177-3AD203B41FA5}">
                      <a16:colId xmlns="" xmlns:a16="http://schemas.microsoft.com/office/drawing/2014/main" val="20001"/>
                    </a:ext>
                  </a:extLst>
                </a:gridCol>
                <a:gridCol w="2647013">
                  <a:extLst>
                    <a:ext uri="{9D8B030D-6E8A-4147-A177-3AD203B41FA5}">
                      <a16:colId xmlns="" xmlns:a16="http://schemas.microsoft.com/office/drawing/2014/main"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 xmlns:p14="http://schemas.microsoft.com/office/powerpoint/2010/main"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 xmlns:a16="http://schemas.microsoft.com/office/drawing/2014/main" val="20000"/>
                    </a:ext>
                  </a:extLst>
                </a:gridCol>
                <a:gridCol w="13144425">
                  <a:extLst>
                    <a:ext uri="{9D8B030D-6E8A-4147-A177-3AD203B41FA5}">
                      <a16:colId xmlns="" xmlns:a16="http://schemas.microsoft.com/office/drawing/2014/main" val="20001"/>
                    </a:ext>
                  </a:extLst>
                </a:gridCol>
                <a:gridCol w="2647013">
                  <a:extLst>
                    <a:ext uri="{9D8B030D-6E8A-4147-A177-3AD203B41FA5}">
                      <a16:colId xmlns="" xmlns:a16="http://schemas.microsoft.com/office/drawing/2014/main"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3.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image" Target="../media/image3.png"/><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40760"/>
        </p:xfrm>
        <a:graphic>
          <a:graphicData uri="http://schemas.openxmlformats.org/drawingml/2006/table">
            <a:tbl>
              <a:tblPr/>
              <a:tblGrid>
                <a:gridCol w="2311200"/>
                <a:gridCol w="1188936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pic>
        <p:nvPicPr>
          <p:cNvPr id="143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 id="2147484480" r:id="rId13"/>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201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 id="2147484481" r:id="rId13"/>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smtClean="0">
                <a:solidFill>
                  <a:schemeClr val="dk1"/>
                </a:solidFill>
                <a:latin typeface="Microsoft JhengHei"/>
                <a:ea typeface="Microsoft JhengHei"/>
              </a:rPr>
              <a:t>2025/07/01</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smtClean="0">
                <a:solidFill>
                  <a:schemeClr val="dk1"/>
                </a:solidFill>
                <a:latin typeface="Microsoft JhengHei"/>
                <a:ea typeface="Microsoft JhengHei"/>
              </a:rPr>
              <a:t>MM-IM-0240</a:t>
            </a:r>
            <a:endParaRPr lang="en-US" sz="3600" b="0" strike="noStrike" spc="-1" dirty="0">
              <a:solidFill>
                <a:srgbClr val="000000"/>
              </a:solidFill>
              <a:latin typeface="Calibri"/>
            </a:endParaRPr>
          </a:p>
        </p:txBody>
      </p:sp>
      <p:sp>
        <p:nvSpPr>
          <p:cNvPr id="2859" name="矩形 1"/>
          <p:cNvSpPr/>
          <p:nvPr/>
        </p:nvSpPr>
        <p:spPr>
          <a:xfrm>
            <a:off x="843480" y="7179120"/>
            <a:ext cx="6536520" cy="119887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r>
              <a:rPr lang="zh-TW" altLang="en-US" sz="3600" spc="-1" dirty="0" smtClean="0">
                <a:solidFill>
                  <a:schemeClr val="dk1"/>
                </a:solidFill>
                <a:latin typeface="Microsoft JhengHei"/>
                <a:ea typeface="Microsoft JhengHei"/>
              </a:rPr>
              <a:t>模具轉入轉出作業流程</a:t>
            </a:r>
            <a:endParaRPr lang="en-US" sz="3600" spc="-1" dirty="0" smtClean="0">
              <a:solidFill>
                <a:srgbClr val="000000"/>
              </a:solidFill>
            </a:endParaRPr>
          </a:p>
          <a:p>
            <a:pPr defTabSz="457200">
              <a:lnSpc>
                <a:spcPct val="100000"/>
              </a:lnSpc>
            </a:pPr>
            <a:endParaRPr lang="en-US" sz="3600" b="0"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640397"/>
        </p:xfrm>
        <a:graphic>
          <a:graphicData uri="http://schemas.openxmlformats.org/drawingml/2006/table">
            <a:tbl>
              <a:tblPr/>
              <a:tblGrid>
                <a:gridCol w="2061360"/>
                <a:gridCol w="2061360"/>
                <a:gridCol w="8327880"/>
                <a:gridCol w="1423080"/>
                <a:gridCol w="634680"/>
                <a:gridCol w="1192320"/>
                <a:gridCol w="576720"/>
                <a:gridCol w="1240560"/>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a:solidFill>
                            <a:schemeClr val="lt1"/>
                          </a:solidFill>
                          <a:latin typeface="Microsoft JhengHei"/>
                          <a:ea typeface="Microsoft JhengHei"/>
                        </a:rPr>
                        <a:t> To be_Business Process</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a:solidFill>
                            <a:schemeClr val="lt1"/>
                          </a:solidFill>
                          <a:latin typeface="Microsoft JhengHei"/>
                          <a:ea typeface="Microsoft JhengHei"/>
                        </a:rPr>
                        <a:t>創建日期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a:t>
                      </a:r>
                      <a:r>
                        <a:rPr lang="en-US" sz="1800" b="1" strike="noStrike" spc="-1" dirty="0" smtClean="0">
                          <a:solidFill>
                            <a:schemeClr val="lt1"/>
                          </a:solidFill>
                          <a:latin typeface="Microsoft JhengHei"/>
                          <a:ea typeface="Microsoft JhengHei"/>
                        </a:rPr>
                        <a:t>2025/07/01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smtClean="0">
                          <a:solidFill>
                            <a:schemeClr val="dk1"/>
                          </a:solidFill>
                          <a:latin typeface="Microsoft JhengHei"/>
                          <a:ea typeface="Microsoft JhengHei"/>
                        </a:rPr>
                        <a:t>DSIT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marL="0" marR="0" indent="0" defTabSz="1371600" eaLnBrk="1" fontAlgn="auto" latinLnBrk="0" hangingPunct="1">
                        <a:lnSpc>
                          <a:spcPct val="166000"/>
                        </a:lnSpc>
                        <a:spcBef>
                          <a:spcPts val="0"/>
                        </a:spcBef>
                        <a:spcAft>
                          <a:spcPts val="0"/>
                        </a:spcAft>
                        <a:buClrTx/>
                        <a:buSzTx/>
                        <a:buFontTx/>
                        <a:buNone/>
                        <a:tabLst>
                          <a:tab pos="0" algn="l"/>
                        </a:tabLst>
                        <a:defRPr/>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 </a:t>
                      </a:r>
                      <a:r>
                        <a:rPr lang="en-US" sz="1800" b="1" strike="noStrike" spc="-1" dirty="0" smtClean="0">
                          <a:solidFill>
                            <a:schemeClr val="dk1"/>
                          </a:solidFill>
                          <a:latin typeface="Microsoft JhengHei"/>
                          <a:ea typeface="Microsoft JhengHei"/>
                        </a:rPr>
                        <a:t>v2.0</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graphicFrame>
        <p:nvGraphicFramePr>
          <p:cNvPr id="2861" name="Google Shape;191;p2"/>
          <p:cNvGraphicFramePr/>
          <p:nvPr/>
        </p:nvGraphicFramePr>
        <p:xfrm>
          <a:off x="366120" y="3155400"/>
          <a:ext cx="17517960" cy="3195196"/>
        </p:xfrm>
        <a:graphic>
          <a:graphicData uri="http://schemas.openxmlformats.org/drawingml/2006/table">
            <a:tbl>
              <a:tblPr/>
              <a:tblGrid>
                <a:gridCol w="2061360"/>
                <a:gridCol w="2061360"/>
                <a:gridCol w="8327880"/>
                <a:gridCol w="3269880"/>
                <a:gridCol w="17974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gridCol w="2066760"/>
                <a:gridCol w="1797480"/>
                <a:gridCol w="1932120"/>
                <a:gridCol w="1932120"/>
                <a:gridCol w="1932120"/>
                <a:gridCol w="1932120"/>
                <a:gridCol w="1932120"/>
                <a:gridCol w="1932120"/>
              </a:tblGrid>
              <a:tr h="504000">
                <a:tc>
                  <a:txBody>
                    <a:bodyPr/>
                    <a:lstStyle/>
                    <a:p>
                      <a:pPr defTabSz="1371600">
                        <a:lnSpc>
                          <a:spcPct val="150000"/>
                        </a:lnSpc>
                        <a:tabLst>
                          <a:tab pos="0" algn="l"/>
                        </a:tabLst>
                      </a:pPr>
                      <a:r>
                        <a:rPr lang="zh-TW" sz="1800" b="1" strike="noStrike" spc="-1">
                          <a:solidFill>
                            <a:schemeClr val="lt1"/>
                          </a:solidFill>
                          <a:latin typeface="Microsoft JhengHei"/>
                          <a:ea typeface="Microsoft JhengHei"/>
                        </a:rPr>
                        <a:t>機密等級</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r>
            </a:tbl>
          </a:graphicData>
        </a:graphic>
      </p:graphicFrame>
      <p:graphicFrame>
        <p:nvGraphicFramePr>
          <p:cNvPr id="2863" name="Google Shape;193;p2"/>
          <p:cNvGraphicFramePr/>
          <p:nvPr/>
        </p:nvGraphicFramePr>
        <p:xfrm>
          <a:off x="366120" y="6835320"/>
          <a:ext cx="17517600" cy="3237995"/>
        </p:xfrm>
        <a:graphic>
          <a:graphicData uri="http://schemas.openxmlformats.org/drawingml/2006/table">
            <a:tbl>
              <a:tblPr/>
              <a:tblGrid>
                <a:gridCol w="2045520"/>
                <a:gridCol w="2066760"/>
                <a:gridCol w="8024760"/>
                <a:gridCol w="2861280"/>
                <a:gridCol w="25192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姓名 與 職稱</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bl>
          </a:graphicData>
        </a:graphic>
      </p:graphicFrame>
      <p:sp>
        <p:nvSpPr>
          <p:cNvPr id="2864" name="TextBox 1"/>
          <p:cNvSpPr/>
          <p:nvPr/>
        </p:nvSpPr>
        <p:spPr>
          <a:xfrm>
            <a:off x="2521800" y="811440"/>
            <a:ext cx="8244000" cy="82954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r>
              <a:rPr lang="en-US" altLang="zh-TW" sz="2400" spc="-1" dirty="0" smtClean="0">
                <a:solidFill>
                  <a:schemeClr val="dk1"/>
                </a:solidFill>
                <a:latin typeface="Microsoft JhengHei"/>
                <a:ea typeface="Microsoft JhengHei"/>
              </a:rPr>
              <a:t>MM-IM-0240 </a:t>
            </a:r>
            <a:r>
              <a:rPr lang="zh-TW" altLang="en-US" sz="2400" spc="-1" dirty="0" smtClean="0">
                <a:solidFill>
                  <a:schemeClr val="dk1"/>
                </a:solidFill>
                <a:latin typeface="Microsoft JhengHei"/>
                <a:ea typeface="Microsoft JhengHei"/>
              </a:rPr>
              <a:t>模具轉入轉出</a:t>
            </a:r>
            <a:r>
              <a:rPr lang="zh-TW" altLang="en-US" sz="2400" spc="-1" smtClean="0">
                <a:solidFill>
                  <a:schemeClr val="dk1"/>
                </a:solidFill>
                <a:latin typeface="Microsoft JhengHei"/>
                <a:ea typeface="Microsoft JhengHei"/>
              </a:rPr>
              <a:t>作業流程</a:t>
            </a:r>
            <a:endParaRPr lang="en-US" sz="2400" spc="-1" dirty="0" smtClean="0">
              <a:solidFill>
                <a:srgbClr val="000000"/>
              </a:solidFill>
            </a:endParaRPr>
          </a:p>
          <a:p>
            <a:pPr defTabSz="457200">
              <a:lnSpc>
                <a:spcPct val="100000"/>
              </a:lnSpc>
            </a:pPr>
            <a:endParaRPr lang="en-US" sz="2400" b="0"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1">
            <a:extLst>
              <a:ext uri="{FF2B5EF4-FFF2-40B4-BE49-F238E27FC236}">
                <a16:creationId xmlns="" xmlns:a16="http://schemas.microsoft.com/office/drawing/2014/main" id="{1FB9514E-6261-C7AC-D58E-6A5F2E6F81FD}"/>
              </a:ext>
            </a:extLst>
          </p:cNvPr>
          <p:cNvSpPr/>
          <p:nvPr/>
        </p:nvSpPr>
        <p:spPr bwMode="auto">
          <a:xfrm>
            <a:off x="413248" y="2434652"/>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sp>
        <p:nvSpPr>
          <p:cNvPr id="7" name="TextBox 53">
            <a:extLst>
              <a:ext uri="{FF2B5EF4-FFF2-40B4-BE49-F238E27FC236}">
                <a16:creationId xmlns="" xmlns:a16="http://schemas.microsoft.com/office/drawing/2014/main" id="{30381EE2-3320-4812-6081-3A15B03E8B32}"/>
              </a:ext>
            </a:extLst>
          </p:cNvPr>
          <p:cNvSpPr txBox="1"/>
          <p:nvPr/>
        </p:nvSpPr>
        <p:spPr>
          <a:xfrm>
            <a:off x="14394343" y="2013759"/>
            <a:ext cx="3594197" cy="5401479"/>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業務</a:t>
            </a:r>
            <a:r>
              <a:rPr lang="en-US" altLang="zh-TW" dirty="0"/>
              <a:t>/</a:t>
            </a:r>
            <a:r>
              <a:rPr lang="zh-TW" altLang="en-US" dirty="0"/>
              <a:t>生管</a:t>
            </a:r>
            <a:r>
              <a:rPr lang="en-US" altLang="zh-TW" dirty="0"/>
              <a:t>/</a:t>
            </a:r>
            <a:r>
              <a:rPr lang="zh-TW" altLang="en-US" dirty="0"/>
              <a:t>模具課接收到客戶的訊息，需要把模具轉給友廠，並通知模具課整理相關的模具庫存。 </a:t>
            </a:r>
            <a:endParaRPr lang="en-US" altLang="zh-TW" dirty="0"/>
          </a:p>
          <a:p>
            <a:r>
              <a:rPr lang="en-US" altLang="zh-TW" dirty="0"/>
              <a:t>      </a:t>
            </a:r>
            <a:r>
              <a:rPr lang="zh-TW" altLang="en-US" dirty="0"/>
              <a:t>集團內</a:t>
            </a:r>
            <a:r>
              <a:rPr lang="en-US" altLang="zh-TW" dirty="0"/>
              <a:t>:</a:t>
            </a:r>
            <a:r>
              <a:rPr lang="zh-TW" altLang="en-US" dirty="0"/>
              <a:t> 生管</a:t>
            </a:r>
            <a:r>
              <a:rPr lang="en-US" altLang="zh-TW" dirty="0"/>
              <a:t>/</a:t>
            </a:r>
            <a:r>
              <a:rPr lang="zh-TW" altLang="en-US" dirty="0"/>
              <a:t>模具課</a:t>
            </a:r>
            <a:r>
              <a:rPr lang="en-US" altLang="zh-TW" dirty="0"/>
              <a:t>     </a:t>
            </a:r>
          </a:p>
          <a:p>
            <a:r>
              <a:rPr lang="zh-TW" altLang="en-US" dirty="0"/>
              <a:t>      集團外</a:t>
            </a:r>
            <a:r>
              <a:rPr lang="en-US" altLang="zh-TW" dirty="0"/>
              <a:t>:</a:t>
            </a:r>
            <a:r>
              <a:rPr lang="zh-TW" altLang="en-US" dirty="0"/>
              <a:t> 業務</a:t>
            </a:r>
            <a:endParaRPr lang="en-US" altLang="zh-TW" dirty="0"/>
          </a:p>
          <a:p>
            <a:pPr marL="342900" indent="-342900">
              <a:buFont typeface="+mj-lt"/>
              <a:buAutoNum type="arabicPeriod" startAt="2"/>
            </a:pPr>
            <a:r>
              <a:rPr lang="zh-TW" altLang="en-US" dirty="0"/>
              <a:t>提供樣品給轉入廠試樣。</a:t>
            </a:r>
            <a:endParaRPr lang="en-US" altLang="zh-TW" dirty="0"/>
          </a:p>
          <a:p>
            <a:pPr marL="342900" indent="-342900">
              <a:buFont typeface="+mj-lt"/>
              <a:buAutoNum type="arabicPeriod" startAt="2"/>
            </a:pPr>
            <a:r>
              <a:rPr lang="zh-TW" altLang="en-US" dirty="0"/>
              <a:t>底廠開發</a:t>
            </a:r>
            <a:r>
              <a:rPr lang="en-US" altLang="zh-TW" dirty="0"/>
              <a:t>/</a:t>
            </a:r>
            <a:r>
              <a:rPr lang="zh-TW" altLang="en-US" dirty="0"/>
              <a:t>模具課開立模具轉出申請單的</a:t>
            </a:r>
            <a:r>
              <a:rPr lang="zh-TW" altLang="en-US" dirty="0" smtClean="0"/>
              <a:t>需求</a:t>
            </a:r>
            <a:endParaRPr lang="en-US" altLang="zh-TW" dirty="0" smtClean="0"/>
          </a:p>
          <a:p>
            <a:pPr marL="342900" indent="-342900">
              <a:buFont typeface="+mj-lt"/>
              <a:buAutoNum type="arabicPeriod" startAt="2"/>
            </a:pPr>
            <a:r>
              <a:rPr lang="zh-TW" altLang="en-US" dirty="0" smtClean="0"/>
              <a:t>需要報關由</a:t>
            </a:r>
            <a:r>
              <a:rPr lang="zh-TW" altLang="en-US" dirty="0" smtClean="0"/>
              <a:t>進出口</a:t>
            </a:r>
            <a:r>
              <a:rPr lang="zh-TW" altLang="en-US" dirty="0"/>
              <a:t>著手處理報關事務。</a:t>
            </a:r>
            <a:endParaRPr lang="en-US" altLang="zh-TW" dirty="0"/>
          </a:p>
          <a:p>
            <a:pPr marL="342900" indent="-342900">
              <a:buFont typeface="+mj-lt"/>
              <a:buAutoNum type="arabicPeriod" startAt="2"/>
            </a:pPr>
            <a:r>
              <a:rPr lang="zh-TW" altLang="en-US" dirty="0" smtClean="0"/>
              <a:t>底</a:t>
            </a:r>
            <a:r>
              <a:rPr lang="zh-TW" altLang="en-US" dirty="0"/>
              <a:t>廠開發或模具課依據模具轉出的申請單執行庫存除帳作業。</a:t>
            </a:r>
            <a:endParaRPr lang="en-US" altLang="zh-TW" dirty="0"/>
          </a:p>
          <a:p>
            <a:pPr marL="342900" indent="-342900">
              <a:buFont typeface="+mj-lt"/>
              <a:buAutoNum type="arabicPeriod" startAt="2"/>
            </a:pPr>
            <a:r>
              <a:rPr lang="zh-TW" altLang="en-US" dirty="0" smtClean="0"/>
              <a:t>當友廠模具樣品試機不</a:t>
            </a:r>
            <a:r>
              <a:rPr lang="en-US" altLang="zh-TW" dirty="0" smtClean="0"/>
              <a:t>OK</a:t>
            </a:r>
            <a:r>
              <a:rPr lang="zh-TW" altLang="en-US" dirty="0" smtClean="0"/>
              <a:t>，通知客戶溝通後續模具的處理方式。</a:t>
            </a:r>
            <a:endParaRPr lang="en-US" altLang="zh-TW" dirty="0" smtClean="0"/>
          </a:p>
          <a:p>
            <a:pPr marL="342900" indent="-342900">
              <a:buFont typeface="+mj-lt"/>
              <a:buAutoNum type="arabicPeriod" startAt="2"/>
            </a:pPr>
            <a:endParaRPr lang="en-US" altLang="zh-TW" dirty="0"/>
          </a:p>
          <a:p>
            <a:pPr marL="342900" indent="-342900">
              <a:buFont typeface="+mj-lt"/>
              <a:buAutoNum type="arabicPeriod" startAt="2"/>
            </a:pPr>
            <a:endParaRPr lang="en-US" altLang="zh-TW" dirty="0"/>
          </a:p>
          <a:p>
            <a:endParaRPr lang="en-US" altLang="zh-TW" dirty="0"/>
          </a:p>
        </p:txBody>
      </p:sp>
      <p:sp>
        <p:nvSpPr>
          <p:cNvPr id="8" name="文字方塊 17">
            <a:extLst>
              <a:ext uri="{FF2B5EF4-FFF2-40B4-BE49-F238E27FC236}">
                <a16:creationId xmlns="" xmlns:a16="http://schemas.microsoft.com/office/drawing/2014/main" id="{A3961CAE-69E4-A1C1-045A-63D595BA671B}"/>
              </a:ext>
            </a:extLst>
          </p:cNvPr>
          <p:cNvSpPr txBox="1"/>
          <p:nvPr/>
        </p:nvSpPr>
        <p:spPr>
          <a:xfrm>
            <a:off x="6148757" y="1377370"/>
            <a:ext cx="3594197" cy="400110"/>
          </a:xfrm>
          <a:prstGeom prst="rect">
            <a:avLst/>
          </a:prstGeom>
          <a:noFill/>
        </p:spPr>
        <p:txBody>
          <a:bodyPr wrap="square" lIns="137160" tIns="68580" rIns="137160" bIns="68580" rtlCol="0">
            <a:spAutoFit/>
          </a:bodyPr>
          <a:lstStyle/>
          <a:p>
            <a:pPr algn="ctr"/>
            <a:r>
              <a:rPr lang="zh-TW" altLang="en-US" sz="1700" dirty="0"/>
              <a:t>鞋廠底部工程及底廠開發</a:t>
            </a:r>
            <a:r>
              <a:rPr lang="en-US" altLang="zh-TW" sz="1700" dirty="0"/>
              <a:t>/</a:t>
            </a:r>
            <a:r>
              <a:rPr lang="zh-TW" altLang="en-US" sz="1700" dirty="0"/>
              <a:t>模具課</a:t>
            </a:r>
          </a:p>
        </p:txBody>
      </p:sp>
      <p:cxnSp>
        <p:nvCxnSpPr>
          <p:cNvPr id="11" name="肘形接點 68">
            <a:extLst>
              <a:ext uri="{FF2B5EF4-FFF2-40B4-BE49-F238E27FC236}">
                <a16:creationId xmlns="" xmlns:a16="http://schemas.microsoft.com/office/drawing/2014/main" id="{24024915-9D25-B9A4-2836-72F0277283A4}"/>
              </a:ext>
            </a:extLst>
          </p:cNvPr>
          <p:cNvCxnSpPr>
            <a:cxnSpLocks/>
            <a:stCxn id="2" idx="3"/>
            <a:endCxn id="3" idx="1"/>
          </p:cNvCxnSpPr>
          <p:nvPr/>
        </p:nvCxnSpPr>
        <p:spPr>
          <a:xfrm flipV="1">
            <a:off x="2211080" y="2819954"/>
            <a:ext cx="1411091" cy="598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60" name="文字方塊 59">
            <a:extLst>
              <a:ext uri="{FF2B5EF4-FFF2-40B4-BE49-F238E27FC236}">
                <a16:creationId xmlns="" xmlns:a16="http://schemas.microsoft.com/office/drawing/2014/main"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a:t>
            </a:r>
            <a:r>
              <a:rPr lang="en-US" altLang="zh-TW" b="1" dirty="0">
                <a:latin typeface="微軟正黑體" panose="020B0604030504040204" pitchFamily="34" charset="-120"/>
                <a:ea typeface="微軟正黑體" panose="020B0604030504040204" pitchFamily="34" charset="-120"/>
              </a:rPr>
              <a:t>24</a:t>
            </a:r>
            <a:r>
              <a:rPr kumimoji="0" lang="en-US" altLang="zh-TW" b="1" dirty="0">
                <a:latin typeface="微軟正黑體" panose="020B0604030504040204" pitchFamily="34" charset="-120"/>
                <a:ea typeface="微軟正黑體" panose="020B0604030504040204" pitchFamily="34" charset="-120"/>
              </a:rPr>
              <a:t>0</a:t>
            </a:r>
            <a:r>
              <a:rPr lang="zh-TW" altLang="en-US" b="1" dirty="0">
                <a:latin typeface="微軟正黑體" panose="020B0604030504040204" pitchFamily="34" charset="-120"/>
                <a:ea typeface="微軟正黑體" panose="020B0604030504040204" pitchFamily="34" charset="-120"/>
              </a:rPr>
              <a:t>模具轉出轉入作業流程</a:t>
            </a:r>
            <a:r>
              <a:rPr lang="en-US" altLang="zh-TW" b="1" dirty="0">
                <a:latin typeface="微軟正黑體" panose="020B0604030504040204" pitchFamily="34" charset="-120"/>
                <a:ea typeface="微軟正黑體" panose="020B0604030504040204" pitchFamily="34" charset="-120"/>
              </a:rPr>
              <a:t>(</a:t>
            </a:r>
            <a:r>
              <a:rPr lang="zh-TW" altLang="en-US" b="1" dirty="0">
                <a:latin typeface="微軟正黑體" panose="020B0604030504040204" pitchFamily="34" charset="-120"/>
                <a:ea typeface="微軟正黑體" panose="020B0604030504040204" pitchFamily="34" charset="-120"/>
              </a:rPr>
              <a:t>轉出</a:t>
            </a:r>
            <a:r>
              <a:rPr lang="en-US" altLang="zh-TW" b="1" dirty="0">
                <a:latin typeface="微軟正黑體" panose="020B0604030504040204" pitchFamily="34" charset="-120"/>
                <a:ea typeface="微軟正黑體" panose="020B0604030504040204" pitchFamily="34" charset="-120"/>
              </a:rPr>
              <a:t>)</a:t>
            </a:r>
            <a:endParaRPr kumimoji="0" lang="zh-TW" altLang="en-US" b="1" dirty="0">
              <a:latin typeface="微軟正黑體" panose="020B0604030504040204" pitchFamily="34" charset="-120"/>
              <a:ea typeface="微軟正黑體" panose="020B0604030504040204" pitchFamily="34" charset="-120"/>
            </a:endParaRPr>
          </a:p>
        </p:txBody>
      </p:sp>
      <p:cxnSp>
        <p:nvCxnSpPr>
          <p:cNvPr id="334" name="Straight Connector 284">
            <a:extLst>
              <a:ext uri="{FF2B5EF4-FFF2-40B4-BE49-F238E27FC236}">
                <a16:creationId xmlns="" xmlns:a16="http://schemas.microsoft.com/office/drawing/2014/main" id="{66EEDD7F-2E52-CD98-24FC-881810678C1A}"/>
              </a:ext>
            </a:extLst>
          </p:cNvPr>
          <p:cNvCxnSpPr>
            <a:cxnSpLocks/>
          </p:cNvCxnSpPr>
          <p:nvPr/>
        </p:nvCxnSpPr>
        <p:spPr>
          <a:xfrm>
            <a:off x="6299837" y="1378349"/>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7" name="文字方塊 17">
            <a:extLst>
              <a:ext uri="{FF2B5EF4-FFF2-40B4-BE49-F238E27FC236}">
                <a16:creationId xmlns="" xmlns:a16="http://schemas.microsoft.com/office/drawing/2014/main" id="{DBA98B6C-6F2F-6D2E-EEB6-BCF7085C5BCA}"/>
              </a:ext>
            </a:extLst>
          </p:cNvPr>
          <p:cNvSpPr txBox="1"/>
          <p:nvPr/>
        </p:nvSpPr>
        <p:spPr>
          <a:xfrm>
            <a:off x="3215006" y="1383201"/>
            <a:ext cx="2457671" cy="400110"/>
          </a:xfrm>
          <a:prstGeom prst="rect">
            <a:avLst/>
          </a:prstGeom>
          <a:noFill/>
        </p:spPr>
        <p:txBody>
          <a:bodyPr wrap="square" lIns="137160" tIns="68580" rIns="137160" bIns="68580" rtlCol="0">
            <a:spAutoFit/>
          </a:bodyPr>
          <a:lstStyle/>
          <a:p>
            <a:pPr algn="ctr"/>
            <a:r>
              <a:rPr lang="zh-TW" altLang="en-US" sz="1700" dirty="0"/>
              <a:t>業務單位</a:t>
            </a:r>
            <a:r>
              <a:rPr lang="en-US" altLang="zh-TW" sz="1700" dirty="0"/>
              <a:t>/</a:t>
            </a:r>
            <a:r>
              <a:rPr lang="zh-TW" altLang="en-US" sz="1700" dirty="0"/>
              <a:t>模具課</a:t>
            </a:r>
            <a:r>
              <a:rPr lang="en-US" altLang="zh-TW" sz="1700" dirty="0"/>
              <a:t>/</a:t>
            </a:r>
            <a:r>
              <a:rPr lang="zh-TW" altLang="en-US" sz="1700" dirty="0"/>
              <a:t>生管</a:t>
            </a:r>
          </a:p>
        </p:txBody>
      </p:sp>
      <p:sp>
        <p:nvSpPr>
          <p:cNvPr id="415" name="流程圖: 結束點 414">
            <a:extLst>
              <a:ext uri="{FF2B5EF4-FFF2-40B4-BE49-F238E27FC236}">
                <a16:creationId xmlns="" xmlns:a16="http://schemas.microsoft.com/office/drawing/2014/main" id="{6DBFADDD-02ED-2959-F880-E6A099D3C842}"/>
              </a:ext>
            </a:extLst>
          </p:cNvPr>
          <p:cNvSpPr/>
          <p:nvPr/>
        </p:nvSpPr>
        <p:spPr bwMode="auto">
          <a:xfrm>
            <a:off x="12248702" y="8666345"/>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420" name="肘形接點 68">
            <a:extLst>
              <a:ext uri="{FF2B5EF4-FFF2-40B4-BE49-F238E27FC236}">
                <a16:creationId xmlns="" xmlns:a16="http://schemas.microsoft.com/office/drawing/2014/main" id="{1753F705-F7D0-B5EF-63F3-8ECA496B0B43}"/>
              </a:ext>
            </a:extLst>
          </p:cNvPr>
          <p:cNvCxnSpPr>
            <a:cxnSpLocks/>
            <a:stCxn id="6" idx="2"/>
            <a:endCxn id="28" idx="3"/>
          </p:cNvCxnSpPr>
          <p:nvPr/>
        </p:nvCxnSpPr>
        <p:spPr>
          <a:xfrm rot="5400000">
            <a:off x="6511100" y="2967909"/>
            <a:ext cx="937967" cy="2027850"/>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3" name="表格 30">
            <a:extLst>
              <a:ext uri="{FF2B5EF4-FFF2-40B4-BE49-F238E27FC236}">
                <a16:creationId xmlns="" xmlns:a16="http://schemas.microsoft.com/office/drawing/2014/main" id="{B626B49B-28D4-8871-0FBF-DC0D2E9EA673}"/>
              </a:ext>
            </a:extLst>
          </p:cNvPr>
          <p:cNvGraphicFramePr>
            <a:graphicFrameLocks noGrp="1"/>
          </p:cNvGraphicFramePr>
          <p:nvPr>
            <p:extLst>
              <p:ext uri="{D42A27DB-BD31-4B8C-83A1-F6EECF244321}">
                <p14:modId xmlns="" xmlns:p14="http://schemas.microsoft.com/office/powerpoint/2010/main" val="2734807738"/>
              </p:ext>
            </p:extLst>
          </p:nvPr>
        </p:nvGraphicFramePr>
        <p:xfrm>
          <a:off x="3622170" y="2124446"/>
          <a:ext cx="1797828" cy="1391015"/>
        </p:xfrm>
        <a:graphic>
          <a:graphicData uri="http://schemas.openxmlformats.org/drawingml/2006/table">
            <a:tbl>
              <a:tblPr>
                <a:tableStyleId>{5940675A-B579-460E-94D1-54222C63F5DA}</a:tableStyleId>
              </a:tblPr>
              <a:tblGrid>
                <a:gridCol w="898914">
                  <a:extLst>
                    <a:ext uri="{9D8B030D-6E8A-4147-A177-3AD203B41FA5}">
                      <a16:colId xmlns="" xmlns:a16="http://schemas.microsoft.com/office/drawing/2014/main" val="3433979995"/>
                    </a:ext>
                  </a:extLst>
                </a:gridCol>
                <a:gridCol w="898914">
                  <a:extLst>
                    <a:ext uri="{9D8B030D-6E8A-4147-A177-3AD203B41FA5}">
                      <a16:colId xmlns="" xmlns:a16="http://schemas.microsoft.com/office/drawing/2014/main" val="3727974752"/>
                    </a:ext>
                  </a:extLst>
                </a:gridCol>
              </a:tblGrid>
              <a:tr h="412864">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客戶提出模具轉廠需求</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412864">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14" name="Group 220">
            <a:extLst>
              <a:ext uri="{FF2B5EF4-FFF2-40B4-BE49-F238E27FC236}">
                <a16:creationId xmlns="" xmlns:a16="http://schemas.microsoft.com/office/drawing/2014/main" id="{2478BA30-9B8C-1637-9491-6F3F629DBF6E}"/>
              </a:ext>
            </a:extLst>
          </p:cNvPr>
          <p:cNvGrpSpPr/>
          <p:nvPr/>
        </p:nvGrpSpPr>
        <p:grpSpPr>
          <a:xfrm>
            <a:off x="5249628" y="1962804"/>
            <a:ext cx="533400" cy="408605"/>
            <a:chOff x="5906184" y="1486857"/>
            <a:chExt cx="355600" cy="272361"/>
          </a:xfrm>
        </p:grpSpPr>
        <p:sp>
          <p:nvSpPr>
            <p:cNvPr id="427" name="Oval 221">
              <a:extLst>
                <a:ext uri="{FF2B5EF4-FFF2-40B4-BE49-F238E27FC236}">
                  <a16:creationId xmlns="" xmlns:a16="http://schemas.microsoft.com/office/drawing/2014/main" id="{DB26B384-389B-9BB6-14A3-5F5006627D5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28" name="TextBox 222">
              <a:extLst>
                <a:ext uri="{FF2B5EF4-FFF2-40B4-BE49-F238E27FC236}">
                  <a16:creationId xmlns="" xmlns:a16="http://schemas.microsoft.com/office/drawing/2014/main" id="{EE73695E-98CB-F9F0-7B31-AA26BF88E5CD}"/>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6" name="表格 30">
            <a:extLst>
              <a:ext uri="{FF2B5EF4-FFF2-40B4-BE49-F238E27FC236}">
                <a16:creationId xmlns="" xmlns:a16="http://schemas.microsoft.com/office/drawing/2014/main" id="{EABBDE34-BE79-FE06-E396-151B1AEF56A3}"/>
              </a:ext>
            </a:extLst>
          </p:cNvPr>
          <p:cNvGraphicFramePr>
            <a:graphicFrameLocks noGrp="1"/>
          </p:cNvGraphicFramePr>
          <p:nvPr>
            <p:extLst>
              <p:ext uri="{D42A27DB-BD31-4B8C-83A1-F6EECF244321}">
                <p14:modId xmlns="" xmlns:p14="http://schemas.microsoft.com/office/powerpoint/2010/main" val="2119605355"/>
              </p:ext>
            </p:extLst>
          </p:nvPr>
        </p:nvGraphicFramePr>
        <p:xfrm>
          <a:off x="7095093" y="2121836"/>
          <a:ext cx="1797828" cy="1391015"/>
        </p:xfrm>
        <a:graphic>
          <a:graphicData uri="http://schemas.openxmlformats.org/drawingml/2006/table">
            <a:tbl>
              <a:tblPr>
                <a:tableStyleId>{5940675A-B579-460E-94D1-54222C63F5DA}</a:tableStyleId>
              </a:tblPr>
              <a:tblGrid>
                <a:gridCol w="898914">
                  <a:extLst>
                    <a:ext uri="{9D8B030D-6E8A-4147-A177-3AD203B41FA5}">
                      <a16:colId xmlns="" xmlns:a16="http://schemas.microsoft.com/office/drawing/2014/main" val="3433979995"/>
                    </a:ext>
                  </a:extLst>
                </a:gridCol>
                <a:gridCol w="898914">
                  <a:extLst>
                    <a:ext uri="{9D8B030D-6E8A-4147-A177-3AD203B41FA5}">
                      <a16:colId xmlns="" xmlns:a16="http://schemas.microsoft.com/office/drawing/2014/main" val="3727974752"/>
                    </a:ext>
                  </a:extLst>
                </a:gridCol>
              </a:tblGrid>
              <a:tr h="412864">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提供樣品給轉入廠試樣</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412864">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9" name="肘形接點 68">
            <a:extLst>
              <a:ext uri="{FF2B5EF4-FFF2-40B4-BE49-F238E27FC236}">
                <a16:creationId xmlns="" xmlns:a16="http://schemas.microsoft.com/office/drawing/2014/main" id="{2BC82C81-073E-C971-EE6B-92BA93C05B8F}"/>
              </a:ext>
            </a:extLst>
          </p:cNvPr>
          <p:cNvCxnSpPr>
            <a:cxnSpLocks/>
            <a:stCxn id="3" idx="3"/>
            <a:endCxn id="6" idx="1"/>
          </p:cNvCxnSpPr>
          <p:nvPr/>
        </p:nvCxnSpPr>
        <p:spPr>
          <a:xfrm flipV="1">
            <a:off x="5419998" y="2817344"/>
            <a:ext cx="1675095" cy="261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15" name="Group 220">
            <a:extLst>
              <a:ext uri="{FF2B5EF4-FFF2-40B4-BE49-F238E27FC236}">
                <a16:creationId xmlns="" xmlns:a16="http://schemas.microsoft.com/office/drawing/2014/main" id="{9B968566-A085-7CA1-F36C-A54A8795E27F}"/>
              </a:ext>
            </a:extLst>
          </p:cNvPr>
          <p:cNvGrpSpPr/>
          <p:nvPr/>
        </p:nvGrpSpPr>
        <p:grpSpPr>
          <a:xfrm>
            <a:off x="8598473" y="1962804"/>
            <a:ext cx="533400" cy="408605"/>
            <a:chOff x="5906184" y="1486857"/>
            <a:chExt cx="355600" cy="272361"/>
          </a:xfrm>
        </p:grpSpPr>
        <p:sp>
          <p:nvSpPr>
            <p:cNvPr id="19" name="Oval 221">
              <a:extLst>
                <a:ext uri="{FF2B5EF4-FFF2-40B4-BE49-F238E27FC236}">
                  <a16:creationId xmlns="" xmlns:a16="http://schemas.microsoft.com/office/drawing/2014/main" id="{2EF3D5CC-C73F-DF9F-90AA-2947D5D1C99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 name="TextBox 222">
              <a:extLst>
                <a:ext uri="{FF2B5EF4-FFF2-40B4-BE49-F238E27FC236}">
                  <a16:creationId xmlns="" xmlns:a16="http://schemas.microsoft.com/office/drawing/2014/main" id="{15E51259-3C37-6E6E-0F87-639712044BA9}"/>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28" name="流程圖: 決策 50">
            <a:extLst>
              <a:ext uri="{FF2B5EF4-FFF2-40B4-BE49-F238E27FC236}">
                <a16:creationId xmlns="" xmlns:a16="http://schemas.microsoft.com/office/drawing/2014/main" id="{696E77D6-4837-28D6-BA09-FAE3FE89FA3B}"/>
              </a:ext>
            </a:extLst>
          </p:cNvPr>
          <p:cNvSpPr/>
          <p:nvPr/>
        </p:nvSpPr>
        <p:spPr bwMode="auto">
          <a:xfrm>
            <a:off x="4124208" y="3861755"/>
            <a:ext cx="1841949" cy="117812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是否</a:t>
            </a:r>
            <a:r>
              <a:rPr lang="en-US" altLang="zh-TW" sz="1500" dirty="0">
                <a:latin typeface="微軟正黑體" panose="020B0604030504040204" pitchFamily="34" charset="-120"/>
                <a:ea typeface="微軟正黑體" panose="020B0604030504040204" pitchFamily="34" charset="-120"/>
              </a:rPr>
              <a:t>OK</a:t>
            </a:r>
            <a:endParaRPr lang="zh-TW" altLang="en-US" sz="1500" dirty="0">
              <a:latin typeface="微軟正黑體" panose="020B0604030504040204" pitchFamily="34" charset="-120"/>
              <a:ea typeface="微軟正黑體" panose="020B0604030504040204" pitchFamily="34" charset="-120"/>
            </a:endParaRPr>
          </a:p>
        </p:txBody>
      </p:sp>
      <p:cxnSp>
        <p:nvCxnSpPr>
          <p:cNvPr id="30" name="肘形接點 68">
            <a:extLst>
              <a:ext uri="{FF2B5EF4-FFF2-40B4-BE49-F238E27FC236}">
                <a16:creationId xmlns="" xmlns:a16="http://schemas.microsoft.com/office/drawing/2014/main" id="{6BC3F9AF-7815-AE16-C845-01B91AA1A15D}"/>
              </a:ext>
            </a:extLst>
          </p:cNvPr>
          <p:cNvCxnSpPr>
            <a:cxnSpLocks/>
            <a:stCxn id="28" idx="2"/>
            <a:endCxn id="39" idx="0"/>
          </p:cNvCxnSpPr>
          <p:nvPr/>
        </p:nvCxnSpPr>
        <p:spPr>
          <a:xfrm rot="5400000">
            <a:off x="4798382" y="5281147"/>
            <a:ext cx="488069" cy="553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5" name="Straight Connector 284">
            <a:extLst>
              <a:ext uri="{FF2B5EF4-FFF2-40B4-BE49-F238E27FC236}">
                <a16:creationId xmlns="" xmlns:a16="http://schemas.microsoft.com/office/drawing/2014/main" id="{F6E4FEEA-9DCE-4B56-137B-E204F6512411}"/>
              </a:ext>
            </a:extLst>
          </p:cNvPr>
          <p:cNvCxnSpPr>
            <a:cxnSpLocks/>
          </p:cNvCxnSpPr>
          <p:nvPr/>
        </p:nvCxnSpPr>
        <p:spPr>
          <a:xfrm>
            <a:off x="9528015" y="1378349"/>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文字方塊 17">
            <a:extLst>
              <a:ext uri="{FF2B5EF4-FFF2-40B4-BE49-F238E27FC236}">
                <a16:creationId xmlns="" xmlns:a16="http://schemas.microsoft.com/office/drawing/2014/main" id="{1E427DAC-D639-3D9A-7D02-67A4A3CD9227}"/>
              </a:ext>
            </a:extLst>
          </p:cNvPr>
          <p:cNvSpPr txBox="1"/>
          <p:nvPr/>
        </p:nvSpPr>
        <p:spPr>
          <a:xfrm>
            <a:off x="9726422" y="1386484"/>
            <a:ext cx="1853246" cy="400110"/>
          </a:xfrm>
          <a:prstGeom prst="rect">
            <a:avLst/>
          </a:prstGeom>
          <a:noFill/>
        </p:spPr>
        <p:txBody>
          <a:bodyPr wrap="square" lIns="137160" tIns="68580" rIns="137160" bIns="68580" rtlCol="0">
            <a:spAutoFit/>
          </a:bodyPr>
          <a:lstStyle/>
          <a:p>
            <a:pPr algn="ctr"/>
            <a:r>
              <a:rPr lang="zh-TW" altLang="en-US" sz="1700" dirty="0"/>
              <a:t>進出口</a:t>
            </a:r>
          </a:p>
        </p:txBody>
      </p:sp>
      <p:sp>
        <p:nvSpPr>
          <p:cNvPr id="38" name="TextBox 46">
            <a:extLst>
              <a:ext uri="{FF2B5EF4-FFF2-40B4-BE49-F238E27FC236}">
                <a16:creationId xmlns="" xmlns:a16="http://schemas.microsoft.com/office/drawing/2014/main" id="{E243152C-0C49-3356-F36F-F3591CCF67C8}"/>
              </a:ext>
            </a:extLst>
          </p:cNvPr>
          <p:cNvSpPr txBox="1"/>
          <p:nvPr/>
        </p:nvSpPr>
        <p:spPr>
          <a:xfrm>
            <a:off x="5092452" y="4988584"/>
            <a:ext cx="580224" cy="369389"/>
          </a:xfrm>
          <a:prstGeom prst="rect">
            <a:avLst/>
          </a:prstGeom>
          <a:noFill/>
        </p:spPr>
        <p:txBody>
          <a:bodyPr wrap="square" lIns="137160" tIns="68580" rIns="137160" bIns="68580" rtlCol="0">
            <a:spAutoFit/>
          </a:bodyPr>
          <a:lstStyle/>
          <a:p>
            <a:r>
              <a:rPr lang="en-US" altLang="zh-TW" sz="1500" dirty="0"/>
              <a:t>OK</a:t>
            </a:r>
            <a:endParaRPr lang="zh-TW" altLang="en-US" sz="1500" dirty="0"/>
          </a:p>
        </p:txBody>
      </p:sp>
      <p:graphicFrame>
        <p:nvGraphicFramePr>
          <p:cNvPr id="39" name="表格 30">
            <a:extLst>
              <a:ext uri="{FF2B5EF4-FFF2-40B4-BE49-F238E27FC236}">
                <a16:creationId xmlns="" xmlns:a16="http://schemas.microsoft.com/office/drawing/2014/main" id="{46FBBBEB-0B01-FD14-F8D9-455D34372151}"/>
              </a:ext>
            </a:extLst>
          </p:cNvPr>
          <p:cNvGraphicFramePr>
            <a:graphicFrameLocks noGrp="1"/>
          </p:cNvGraphicFramePr>
          <p:nvPr>
            <p:extLst>
              <p:ext uri="{D42A27DB-BD31-4B8C-83A1-F6EECF244321}">
                <p14:modId xmlns="" xmlns:p14="http://schemas.microsoft.com/office/powerpoint/2010/main" val="272902613"/>
              </p:ext>
            </p:extLst>
          </p:nvPr>
        </p:nvGraphicFramePr>
        <p:xfrm>
          <a:off x="4140732" y="5527950"/>
          <a:ext cx="1797832" cy="100995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MB21</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預留單</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16" name="Group 220">
            <a:extLst>
              <a:ext uri="{FF2B5EF4-FFF2-40B4-BE49-F238E27FC236}">
                <a16:creationId xmlns="" xmlns:a16="http://schemas.microsoft.com/office/drawing/2014/main" id="{80621863-EC8D-0935-A4B9-4ED043FA6A31}"/>
              </a:ext>
            </a:extLst>
          </p:cNvPr>
          <p:cNvGrpSpPr/>
          <p:nvPr/>
        </p:nvGrpSpPr>
        <p:grpSpPr>
          <a:xfrm>
            <a:off x="5691063" y="5281906"/>
            <a:ext cx="533400" cy="408605"/>
            <a:chOff x="5906184" y="1486857"/>
            <a:chExt cx="355600" cy="272361"/>
          </a:xfrm>
        </p:grpSpPr>
        <p:sp>
          <p:nvSpPr>
            <p:cNvPr id="41" name="Oval 221">
              <a:extLst>
                <a:ext uri="{FF2B5EF4-FFF2-40B4-BE49-F238E27FC236}">
                  <a16:creationId xmlns="" xmlns:a16="http://schemas.microsoft.com/office/drawing/2014/main" id="{4232D0F4-8AC4-DF6C-A47A-D6BFB32BC75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42" name="TextBox 222">
              <a:extLst>
                <a:ext uri="{FF2B5EF4-FFF2-40B4-BE49-F238E27FC236}">
                  <a16:creationId xmlns="" xmlns:a16="http://schemas.microsoft.com/office/drawing/2014/main" id="{C203EE44-081C-9B4D-CD59-476CE3DB0E6E}"/>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cxnSp>
        <p:nvCxnSpPr>
          <p:cNvPr id="44" name="肘形接點 68">
            <a:extLst>
              <a:ext uri="{FF2B5EF4-FFF2-40B4-BE49-F238E27FC236}">
                <a16:creationId xmlns="" xmlns:a16="http://schemas.microsoft.com/office/drawing/2014/main" id="{1CE47513-42E8-02B0-990E-847D225BE82C}"/>
              </a:ext>
            </a:extLst>
          </p:cNvPr>
          <p:cNvCxnSpPr>
            <a:cxnSpLocks/>
            <a:stCxn id="28" idx="1"/>
            <a:endCxn id="47" idx="0"/>
          </p:cNvCxnSpPr>
          <p:nvPr/>
        </p:nvCxnSpPr>
        <p:spPr>
          <a:xfrm rot="10800000" flipV="1">
            <a:off x="3503352" y="4450818"/>
            <a:ext cx="620856" cy="3911302"/>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47" name="表格 30">
            <a:extLst>
              <a:ext uri="{FF2B5EF4-FFF2-40B4-BE49-F238E27FC236}">
                <a16:creationId xmlns="" xmlns:a16="http://schemas.microsoft.com/office/drawing/2014/main" id="{15ABB10C-4B9A-E5B4-E907-BDDD7A153BDE}"/>
              </a:ext>
            </a:extLst>
          </p:cNvPr>
          <p:cNvGraphicFramePr>
            <a:graphicFrameLocks noGrp="1"/>
          </p:cNvGraphicFramePr>
          <p:nvPr>
            <p:extLst>
              <p:ext uri="{D42A27DB-BD31-4B8C-83A1-F6EECF244321}">
                <p14:modId xmlns="" xmlns:p14="http://schemas.microsoft.com/office/powerpoint/2010/main" val="65536397"/>
              </p:ext>
            </p:extLst>
          </p:nvPr>
        </p:nvGraphicFramePr>
        <p:xfrm>
          <a:off x="2582378" y="8362120"/>
          <a:ext cx="1841950" cy="1391015"/>
        </p:xfrm>
        <a:graphic>
          <a:graphicData uri="http://schemas.openxmlformats.org/drawingml/2006/table">
            <a:tbl>
              <a:tblPr>
                <a:tableStyleId>{5940675A-B579-460E-94D1-54222C63F5DA}</a:tableStyleId>
              </a:tblPr>
              <a:tblGrid>
                <a:gridCol w="920975">
                  <a:extLst>
                    <a:ext uri="{9D8B030D-6E8A-4147-A177-3AD203B41FA5}">
                      <a16:colId xmlns="" xmlns:a16="http://schemas.microsoft.com/office/drawing/2014/main" val="3433979995"/>
                    </a:ext>
                  </a:extLst>
                </a:gridCol>
                <a:gridCol w="920975">
                  <a:extLst>
                    <a:ext uri="{9D8B030D-6E8A-4147-A177-3AD203B41FA5}">
                      <a16:colId xmlns="" xmlns:a16="http://schemas.microsoft.com/office/drawing/2014/main" val="3727974752"/>
                    </a:ext>
                  </a:extLst>
                </a:gridCol>
              </a:tblGrid>
              <a:tr h="412864">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回覆客戶</a:t>
                      </a:r>
                      <a:endParaRPr kumimoji="0" lang="en-US" altLang="zh-TW" sz="1500" dirty="0">
                        <a:latin typeface="微軟正黑體" panose="020B0604030504040204" pitchFamily="34" charset="-120"/>
                        <a:ea typeface="微軟正黑體" panose="020B0604030504040204" pitchFamily="34" charset="-120"/>
                      </a:endParaRPr>
                    </a:p>
                    <a:p>
                      <a:pPr algn="ctr" eaLnBrk="0" hangingPunct="0"/>
                      <a:r>
                        <a:rPr kumimoji="0" lang="zh-TW" altLang="en-US" sz="1500" dirty="0">
                          <a:latin typeface="微軟正黑體" panose="020B0604030504040204" pitchFamily="34" charset="-120"/>
                          <a:ea typeface="微軟正黑體" panose="020B0604030504040204" pitchFamily="34" charset="-120"/>
                        </a:rPr>
                        <a:t>後續處理方式</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412864">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195" name="TextBox 46">
            <a:extLst>
              <a:ext uri="{FF2B5EF4-FFF2-40B4-BE49-F238E27FC236}">
                <a16:creationId xmlns="" xmlns:a16="http://schemas.microsoft.com/office/drawing/2014/main" id="{6350E15B-AF66-0474-17EE-62310048BF27}"/>
              </a:ext>
            </a:extLst>
          </p:cNvPr>
          <p:cNvSpPr txBox="1"/>
          <p:nvPr/>
        </p:nvSpPr>
        <p:spPr>
          <a:xfrm>
            <a:off x="3442184" y="3942990"/>
            <a:ext cx="580224" cy="369389"/>
          </a:xfrm>
          <a:prstGeom prst="rect">
            <a:avLst/>
          </a:prstGeom>
          <a:noFill/>
        </p:spPr>
        <p:txBody>
          <a:bodyPr wrap="square" lIns="137160" tIns="68580" rIns="137160" bIns="68580" rtlCol="0">
            <a:spAutoFit/>
          </a:bodyPr>
          <a:lstStyle/>
          <a:p>
            <a:r>
              <a:rPr lang="en-US" altLang="zh-TW" sz="1500" dirty="0"/>
              <a:t>NG</a:t>
            </a:r>
            <a:endParaRPr lang="zh-TW" altLang="en-US" sz="1500" dirty="0"/>
          </a:p>
        </p:txBody>
      </p:sp>
      <p:cxnSp>
        <p:nvCxnSpPr>
          <p:cNvPr id="197" name="肘形接點 68">
            <a:extLst>
              <a:ext uri="{FF2B5EF4-FFF2-40B4-BE49-F238E27FC236}">
                <a16:creationId xmlns="" xmlns:a16="http://schemas.microsoft.com/office/drawing/2014/main" id="{2B9EF773-6725-4948-EBD0-E490D08FDDDA}"/>
              </a:ext>
            </a:extLst>
          </p:cNvPr>
          <p:cNvCxnSpPr>
            <a:cxnSpLocks/>
            <a:endCxn id="415" idx="1"/>
          </p:cNvCxnSpPr>
          <p:nvPr/>
        </p:nvCxnSpPr>
        <p:spPr>
          <a:xfrm flipV="1">
            <a:off x="4429092" y="9057627"/>
            <a:ext cx="7819610" cy="8719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1" name="流程圖: 文件 42">
            <a:extLst>
              <a:ext uri="{FF2B5EF4-FFF2-40B4-BE49-F238E27FC236}">
                <a16:creationId xmlns="" xmlns:a16="http://schemas.microsoft.com/office/drawing/2014/main" id="{8B6C5144-209A-F7D8-A058-F74DB6B9FC90}"/>
              </a:ext>
            </a:extLst>
          </p:cNvPr>
          <p:cNvSpPr/>
          <p:nvPr/>
        </p:nvSpPr>
        <p:spPr bwMode="auto">
          <a:xfrm>
            <a:off x="4995305" y="6490369"/>
            <a:ext cx="1637504" cy="947042"/>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fontAlgn="ctr"/>
            <a:endParaRPr lang="en-US" altLang="zh-CN" sz="1500" dirty="0">
              <a:solidFill>
                <a:prstClr val="black"/>
              </a:solidFill>
              <a:ea typeface="微軟正黑體"/>
            </a:endParaRPr>
          </a:p>
          <a:p>
            <a:pPr algn="ctr" fontAlgn="ctr"/>
            <a:r>
              <a:rPr lang="zh-TW" altLang="en-US" sz="1500" dirty="0">
                <a:latin typeface="微軟正黑體" panose="020B0604030504040204" pitchFamily="34" charset="-120"/>
                <a:ea typeface="微軟正黑體" panose="020B0604030504040204" pitchFamily="34" charset="-120"/>
              </a:rPr>
              <a:t>模具轉出申請單</a:t>
            </a:r>
          </a:p>
        </p:txBody>
      </p:sp>
      <p:cxnSp>
        <p:nvCxnSpPr>
          <p:cNvPr id="202" name="肘形接點 68">
            <a:extLst>
              <a:ext uri="{FF2B5EF4-FFF2-40B4-BE49-F238E27FC236}">
                <a16:creationId xmlns="" xmlns:a16="http://schemas.microsoft.com/office/drawing/2014/main" id="{B31F66F4-B804-6A77-35CA-8F4C6B5A5C15}"/>
              </a:ext>
            </a:extLst>
          </p:cNvPr>
          <p:cNvCxnSpPr>
            <a:cxnSpLocks/>
            <a:stCxn id="39" idx="3"/>
            <a:endCxn id="205" idx="1"/>
          </p:cNvCxnSpPr>
          <p:nvPr/>
        </p:nvCxnSpPr>
        <p:spPr>
          <a:xfrm flipV="1">
            <a:off x="5938564" y="6024472"/>
            <a:ext cx="1113839" cy="845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205" name="表格 30">
            <a:extLst>
              <a:ext uri="{FF2B5EF4-FFF2-40B4-BE49-F238E27FC236}">
                <a16:creationId xmlns="" xmlns:a16="http://schemas.microsoft.com/office/drawing/2014/main" id="{FCAFF143-00C7-5187-24D2-A23338540FAB}"/>
              </a:ext>
            </a:extLst>
          </p:cNvPr>
          <p:cNvGraphicFramePr>
            <a:graphicFrameLocks noGrp="1"/>
          </p:cNvGraphicFramePr>
          <p:nvPr>
            <p:extLst>
              <p:ext uri="{D42A27DB-BD31-4B8C-83A1-F6EECF244321}">
                <p14:modId xmlns="" xmlns:p14="http://schemas.microsoft.com/office/powerpoint/2010/main" val="1099435183"/>
              </p:ext>
            </p:extLst>
          </p:nvPr>
        </p:nvGraphicFramePr>
        <p:xfrm>
          <a:off x="7052402" y="5405175"/>
          <a:ext cx="1797828" cy="1238592"/>
        </p:xfrm>
        <a:graphic>
          <a:graphicData uri="http://schemas.openxmlformats.org/drawingml/2006/table">
            <a:tbl>
              <a:tblPr>
                <a:tableStyleId>{5940675A-B579-460E-94D1-54222C63F5DA}</a:tableStyleId>
              </a:tblPr>
              <a:tblGrid>
                <a:gridCol w="898914">
                  <a:extLst>
                    <a:ext uri="{9D8B030D-6E8A-4147-A177-3AD203B41FA5}">
                      <a16:colId xmlns="" xmlns:a16="http://schemas.microsoft.com/office/drawing/2014/main" val="3433979995"/>
                    </a:ext>
                  </a:extLst>
                </a:gridCol>
                <a:gridCol w="898914">
                  <a:extLst>
                    <a:ext uri="{9D8B030D-6E8A-4147-A177-3AD203B41FA5}">
                      <a16:colId xmlns="" xmlns:a16="http://schemas.microsoft.com/office/drawing/2014/main" val="3727974752"/>
                    </a:ext>
                  </a:extLst>
                </a:gridCol>
              </a:tblGrid>
              <a:tr h="412864">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412864">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整理模具打包</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412864">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10" name="肘形接點 68">
            <a:extLst>
              <a:ext uri="{FF2B5EF4-FFF2-40B4-BE49-F238E27FC236}">
                <a16:creationId xmlns="" xmlns:a16="http://schemas.microsoft.com/office/drawing/2014/main" id="{60AC4212-ED4B-2AB6-054C-864096CE20D3}"/>
              </a:ext>
            </a:extLst>
          </p:cNvPr>
          <p:cNvCxnSpPr>
            <a:cxnSpLocks/>
            <a:stCxn id="205" idx="3"/>
            <a:endCxn id="64" idx="1"/>
          </p:cNvCxnSpPr>
          <p:nvPr/>
        </p:nvCxnSpPr>
        <p:spPr>
          <a:xfrm rot="5400000" flipH="1" flipV="1">
            <a:off x="8891906" y="4295825"/>
            <a:ext cx="168761" cy="2049940"/>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14" name="肘形接點 68">
            <a:extLst>
              <a:ext uri="{FF2B5EF4-FFF2-40B4-BE49-F238E27FC236}">
                <a16:creationId xmlns="" xmlns:a16="http://schemas.microsoft.com/office/drawing/2014/main" id="{E3CAA3B9-D441-E8F3-417D-E3C5E59FE3C9}"/>
              </a:ext>
            </a:extLst>
          </p:cNvPr>
          <p:cNvCxnSpPr>
            <a:cxnSpLocks/>
            <a:stCxn id="83" idx="2"/>
            <a:endCxn id="90" idx="0"/>
          </p:cNvCxnSpPr>
          <p:nvPr/>
        </p:nvCxnSpPr>
        <p:spPr>
          <a:xfrm rot="10800000" flipV="1">
            <a:off x="7881410" y="7377838"/>
            <a:ext cx="2191284" cy="238574"/>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17" name="Group 220">
            <a:extLst>
              <a:ext uri="{FF2B5EF4-FFF2-40B4-BE49-F238E27FC236}">
                <a16:creationId xmlns="" xmlns:a16="http://schemas.microsoft.com/office/drawing/2014/main" id="{A2038C13-FE73-0CC1-204F-214060D98205}"/>
              </a:ext>
            </a:extLst>
          </p:cNvPr>
          <p:cNvGrpSpPr/>
          <p:nvPr/>
        </p:nvGrpSpPr>
        <p:grpSpPr>
          <a:xfrm>
            <a:off x="4157822" y="8194405"/>
            <a:ext cx="533400" cy="408605"/>
            <a:chOff x="5906184" y="1486857"/>
            <a:chExt cx="355600" cy="272361"/>
          </a:xfrm>
        </p:grpSpPr>
        <p:sp>
          <p:nvSpPr>
            <p:cNvPr id="221" name="Oval 221">
              <a:extLst>
                <a:ext uri="{FF2B5EF4-FFF2-40B4-BE49-F238E27FC236}">
                  <a16:creationId xmlns="" xmlns:a16="http://schemas.microsoft.com/office/drawing/2014/main" id="{95411A55-49E0-96D5-FEDD-7EF03AC8CE53}"/>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222" name="TextBox 222">
              <a:extLst>
                <a:ext uri="{FF2B5EF4-FFF2-40B4-BE49-F238E27FC236}">
                  <a16:creationId xmlns="" xmlns:a16="http://schemas.microsoft.com/office/drawing/2014/main" id="{5E7BCC49-00A0-5814-0B2A-A210E767F25B}"/>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smtClean="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sp>
        <p:nvSpPr>
          <p:cNvPr id="54" name="Google Shape;38;p9">
            <a:extLst>
              <a:ext uri="{FF2B5EF4-FFF2-40B4-BE49-F238E27FC236}">
                <a16:creationId xmlns:a16="http://schemas.microsoft.com/office/drawing/2014/main" xmlns="" id="{424A9B21-226E-4E89-EEBE-161D8D8BED1D}"/>
              </a:ext>
            </a:extLst>
          </p:cNvPr>
          <p:cNvSpPr txBox="1"/>
          <p:nvPr/>
        </p:nvSpPr>
        <p:spPr>
          <a:xfrm>
            <a:off x="15501983" y="310242"/>
            <a:ext cx="648072" cy="547772"/>
          </a:xfrm>
          <a:prstGeom prst="rect">
            <a:avLst/>
          </a:prstGeom>
          <a:noFill/>
          <a:ln>
            <a:noFill/>
          </a:ln>
        </p:spPr>
        <p:txBody>
          <a:bodyPr spcFirstLastPara="1" wrap="square" lIns="137124" tIns="68543" rIns="137124" bIns="68543" anchor="ctr" anchorCtr="0">
            <a:noAutofit/>
          </a:bodyPr>
          <a:lstStyle/>
          <a:p>
            <a:pPr algn="r"/>
            <a:r>
              <a:rPr lang="en-US" sz="1500" dirty="0">
                <a:solidFill>
                  <a:srgbClr val="888888"/>
                </a:solidFill>
              </a:rPr>
              <a:t>1</a:t>
            </a:r>
            <a:endParaRPr sz="1500" dirty="0">
              <a:solidFill>
                <a:srgbClr val="888888"/>
              </a:solidFill>
            </a:endParaRPr>
          </a:p>
        </p:txBody>
      </p:sp>
      <p:grpSp>
        <p:nvGrpSpPr>
          <p:cNvPr id="55" name="Group 5"/>
          <p:cNvGrpSpPr/>
          <p:nvPr/>
        </p:nvGrpSpPr>
        <p:grpSpPr>
          <a:xfrm>
            <a:off x="10674360" y="835922"/>
            <a:ext cx="3416142" cy="421694"/>
            <a:chOff x="10674360" y="835920"/>
            <a:chExt cx="3416142" cy="421693"/>
          </a:xfrm>
        </p:grpSpPr>
        <p:grpSp>
          <p:nvGrpSpPr>
            <p:cNvPr id="56" name="Group 6"/>
            <p:cNvGrpSpPr/>
            <p:nvPr/>
          </p:nvGrpSpPr>
          <p:grpSpPr>
            <a:xfrm>
              <a:off x="10674360" y="835920"/>
              <a:ext cx="1303230" cy="421693"/>
              <a:chOff x="10674360" y="835920"/>
              <a:chExt cx="1303230" cy="421693"/>
            </a:xfrm>
          </p:grpSpPr>
          <p:sp>
            <p:nvSpPr>
              <p:cNvPr id="61" name="文字方塊 21"/>
              <p:cNvSpPr/>
              <p:nvPr/>
            </p:nvSpPr>
            <p:spPr>
              <a:xfrm>
                <a:off x="10674360" y="835920"/>
                <a:ext cx="410731" cy="398654"/>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155"/>
                <a:r>
                  <a:rPr lang="en-US" sz="2000" spc="-2" dirty="0" smtClean="0">
                    <a:latin typeface="Wingdings"/>
                    <a:ea typeface="Arial"/>
                  </a:rPr>
                  <a:t></a:t>
                </a:r>
                <a:endParaRPr lang="en-US" spc="-2" dirty="0">
                  <a:latin typeface="Calibri"/>
                </a:endParaRPr>
              </a:p>
            </p:txBody>
          </p:sp>
          <p:sp>
            <p:nvSpPr>
              <p:cNvPr id="62" name="文字方塊 22"/>
              <p:cNvSpPr/>
              <p:nvPr/>
            </p:nvSpPr>
            <p:spPr>
              <a:xfrm>
                <a:off x="11027160" y="858959"/>
                <a:ext cx="950430" cy="398654"/>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155"/>
                <a:r>
                  <a:rPr lang="zh-TW" altLang="en-US" sz="2000" spc="-2" dirty="0">
                    <a:solidFill>
                      <a:schemeClr val="dk1"/>
                    </a:solidFill>
                    <a:latin typeface="Microsoft JhengHei"/>
                    <a:ea typeface="Microsoft JhengHei"/>
                  </a:rPr>
                  <a:t>新流程</a:t>
                </a:r>
                <a:endParaRPr lang="en-US" sz="2000" spc="-2" dirty="0">
                  <a:latin typeface="Calibri"/>
                </a:endParaRPr>
              </a:p>
            </p:txBody>
          </p:sp>
        </p:grpSp>
        <p:grpSp>
          <p:nvGrpSpPr>
            <p:cNvPr id="57" name="Group 8"/>
            <p:cNvGrpSpPr/>
            <p:nvPr/>
          </p:nvGrpSpPr>
          <p:grpSpPr>
            <a:xfrm>
              <a:off x="11982960" y="843838"/>
              <a:ext cx="2107542" cy="413774"/>
              <a:chOff x="11982960" y="843838"/>
              <a:chExt cx="2107542" cy="413774"/>
            </a:xfrm>
          </p:grpSpPr>
          <p:sp>
            <p:nvSpPr>
              <p:cNvPr id="58" name="文字方塊 23"/>
              <p:cNvSpPr/>
              <p:nvPr/>
            </p:nvSpPr>
            <p:spPr>
              <a:xfrm>
                <a:off x="12371400" y="858958"/>
                <a:ext cx="1719102" cy="398654"/>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155"/>
                <a:r>
                  <a:rPr lang="zh-TW" altLang="en-US" sz="2000" spc="-2" dirty="0">
                    <a:solidFill>
                      <a:schemeClr val="dk1"/>
                    </a:solidFill>
                    <a:latin typeface="Microsoft JhengHei"/>
                    <a:ea typeface="Microsoft JhengHei"/>
                  </a:rPr>
                  <a:t>權責單位改變</a:t>
                </a:r>
                <a:endParaRPr lang="en-US" sz="2000" spc="-2" dirty="0">
                  <a:latin typeface="Calibri"/>
                </a:endParaRPr>
              </a:p>
            </p:txBody>
          </p:sp>
          <p:sp>
            <p:nvSpPr>
              <p:cNvPr id="59" name="文字方塊 21"/>
              <p:cNvSpPr/>
              <p:nvPr/>
            </p:nvSpPr>
            <p:spPr>
              <a:xfrm>
                <a:off x="11982960" y="843838"/>
                <a:ext cx="386686" cy="367877"/>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155"/>
                <a:r>
                  <a:rPr lang="en-US" spc="-2" dirty="0">
                    <a:solidFill>
                      <a:schemeClr val="dk1"/>
                    </a:solidFill>
                    <a:latin typeface="Wingdings"/>
                    <a:ea typeface="Microsoft JhengHei"/>
                  </a:rPr>
                  <a:t></a:t>
                </a:r>
                <a:endParaRPr lang="en-US" spc="-2" dirty="0">
                  <a:latin typeface="Calibri"/>
                </a:endParaRPr>
              </a:p>
            </p:txBody>
          </p:sp>
        </p:grpSp>
      </p:grpSp>
      <p:sp>
        <p:nvSpPr>
          <p:cNvPr id="63" name="TextBox 46">
            <a:extLst>
              <a:ext uri="{FF2B5EF4-FFF2-40B4-BE49-F238E27FC236}">
                <a16:creationId xmlns="" xmlns:a16="http://schemas.microsoft.com/office/drawing/2014/main" id="{0497950F-113F-5E76-1425-A53965741E4E}"/>
              </a:ext>
            </a:extLst>
          </p:cNvPr>
          <p:cNvSpPr txBox="1"/>
          <p:nvPr/>
        </p:nvSpPr>
        <p:spPr>
          <a:xfrm>
            <a:off x="10441768" y="4872881"/>
            <a:ext cx="404262" cy="369389"/>
          </a:xfrm>
          <a:prstGeom prst="rect">
            <a:avLst/>
          </a:prstGeom>
          <a:noFill/>
        </p:spPr>
        <p:txBody>
          <a:bodyPr wrap="square" lIns="137160" tIns="68580" rIns="137160" bIns="68580" rtlCol="0">
            <a:spAutoFit/>
          </a:bodyPr>
          <a:lstStyle/>
          <a:p>
            <a:r>
              <a:rPr lang="zh-TW" altLang="en-US" sz="1500" dirty="0"/>
              <a:t>是</a:t>
            </a:r>
          </a:p>
        </p:txBody>
      </p:sp>
      <p:sp>
        <p:nvSpPr>
          <p:cNvPr id="64" name="流程圖: 決策 50">
            <a:extLst>
              <a:ext uri="{FF2B5EF4-FFF2-40B4-BE49-F238E27FC236}">
                <a16:creationId xmlns="" xmlns:a16="http://schemas.microsoft.com/office/drawing/2014/main" id="{AD12E8BF-FC22-85CD-B930-1ECBB327F5D1}"/>
              </a:ext>
            </a:extLst>
          </p:cNvPr>
          <p:cNvSpPr/>
          <p:nvPr/>
        </p:nvSpPr>
        <p:spPr bwMode="auto">
          <a:xfrm>
            <a:off x="10001256" y="4805377"/>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是否需要報關</a:t>
            </a:r>
            <a:endParaRPr lang="en-US" altLang="zh-TW" sz="1500" dirty="0">
              <a:latin typeface="微軟正黑體" panose="020B0604030504040204" pitchFamily="34" charset="-120"/>
              <a:ea typeface="微軟正黑體" panose="020B0604030504040204" pitchFamily="34" charset="-120"/>
            </a:endParaRPr>
          </a:p>
        </p:txBody>
      </p:sp>
      <p:sp>
        <p:nvSpPr>
          <p:cNvPr id="65" name="TextBox 46">
            <a:extLst>
              <a:ext uri="{FF2B5EF4-FFF2-40B4-BE49-F238E27FC236}">
                <a16:creationId xmlns="" xmlns:a16="http://schemas.microsoft.com/office/drawing/2014/main" id="{D430A5A5-5974-986C-8204-140655B1C2AA}"/>
              </a:ext>
            </a:extLst>
          </p:cNvPr>
          <p:cNvSpPr txBox="1"/>
          <p:nvPr/>
        </p:nvSpPr>
        <p:spPr>
          <a:xfrm>
            <a:off x="11501454" y="4733939"/>
            <a:ext cx="404262" cy="369389"/>
          </a:xfrm>
          <a:prstGeom prst="rect">
            <a:avLst/>
          </a:prstGeom>
          <a:noFill/>
        </p:spPr>
        <p:txBody>
          <a:bodyPr wrap="square" lIns="137160" tIns="68580" rIns="137160" bIns="68580" rtlCol="0">
            <a:spAutoFit/>
          </a:bodyPr>
          <a:lstStyle/>
          <a:p>
            <a:r>
              <a:rPr lang="zh-TW" altLang="en-US" sz="1500" dirty="0"/>
              <a:t>否</a:t>
            </a:r>
          </a:p>
        </p:txBody>
      </p:sp>
      <p:sp>
        <p:nvSpPr>
          <p:cNvPr id="66" name="TextBox 46">
            <a:extLst>
              <a:ext uri="{FF2B5EF4-FFF2-40B4-BE49-F238E27FC236}">
                <a16:creationId xmlns="" xmlns:a16="http://schemas.microsoft.com/office/drawing/2014/main" id="{F7233931-3D31-2B59-5C27-A63E18699916}"/>
              </a:ext>
            </a:extLst>
          </p:cNvPr>
          <p:cNvSpPr txBox="1"/>
          <p:nvPr/>
        </p:nvSpPr>
        <p:spPr>
          <a:xfrm>
            <a:off x="10929950" y="4305311"/>
            <a:ext cx="404262" cy="369389"/>
          </a:xfrm>
          <a:prstGeom prst="rect">
            <a:avLst/>
          </a:prstGeom>
          <a:noFill/>
        </p:spPr>
        <p:txBody>
          <a:bodyPr wrap="square" lIns="137160" tIns="68580" rIns="137160" bIns="68580" rtlCol="0">
            <a:spAutoFit/>
          </a:bodyPr>
          <a:lstStyle/>
          <a:p>
            <a:r>
              <a:rPr lang="zh-TW" altLang="en-US" sz="1500" dirty="0"/>
              <a:t>是</a:t>
            </a:r>
          </a:p>
        </p:txBody>
      </p:sp>
      <p:cxnSp>
        <p:nvCxnSpPr>
          <p:cNvPr id="67" name="肘形接點 68">
            <a:extLst>
              <a:ext uri="{FF2B5EF4-FFF2-40B4-BE49-F238E27FC236}">
                <a16:creationId xmlns="" xmlns:a16="http://schemas.microsoft.com/office/drawing/2014/main" id="{455F687E-D5F2-BB6B-9318-21C6E7BF176C}"/>
              </a:ext>
            </a:extLst>
          </p:cNvPr>
          <p:cNvCxnSpPr>
            <a:cxnSpLocks/>
            <a:stCxn id="64" idx="0"/>
          </p:cNvCxnSpPr>
          <p:nvPr/>
        </p:nvCxnSpPr>
        <p:spPr>
          <a:xfrm rot="5400000" flipH="1" flipV="1">
            <a:off x="10394089" y="4412392"/>
            <a:ext cx="785818" cy="15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8" name="肘形接點 68">
            <a:extLst>
              <a:ext uri="{FF2B5EF4-FFF2-40B4-BE49-F238E27FC236}">
                <a16:creationId xmlns="" xmlns:a16="http://schemas.microsoft.com/office/drawing/2014/main" id="{455F687E-D5F2-BB6B-9318-21C6E7BF176C}"/>
              </a:ext>
            </a:extLst>
          </p:cNvPr>
          <p:cNvCxnSpPr>
            <a:cxnSpLocks/>
          </p:cNvCxnSpPr>
          <p:nvPr/>
        </p:nvCxnSpPr>
        <p:spPr>
          <a:xfrm>
            <a:off x="11669180" y="3404806"/>
            <a:ext cx="1332472" cy="1369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9" name="肘形接點 68">
            <a:extLst>
              <a:ext uri="{FF2B5EF4-FFF2-40B4-BE49-F238E27FC236}">
                <a16:creationId xmlns="" xmlns:a16="http://schemas.microsoft.com/office/drawing/2014/main" id="{455F687E-D5F2-BB6B-9318-21C6E7BF176C}"/>
              </a:ext>
            </a:extLst>
          </p:cNvPr>
          <p:cNvCxnSpPr>
            <a:cxnSpLocks/>
            <a:stCxn id="64" idx="3"/>
            <a:endCxn id="81" idx="4"/>
          </p:cNvCxnSpPr>
          <p:nvPr/>
        </p:nvCxnSpPr>
        <p:spPr>
          <a:xfrm flipV="1">
            <a:off x="11572587" y="3651783"/>
            <a:ext cx="1701405" cy="1584631"/>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70" name="群組 69"/>
          <p:cNvGrpSpPr>
            <a:grpSpLocks noChangeAspect="1"/>
          </p:cNvGrpSpPr>
          <p:nvPr/>
        </p:nvGrpSpPr>
        <p:grpSpPr>
          <a:xfrm>
            <a:off x="9858380" y="2590799"/>
            <a:ext cx="2162966" cy="1424040"/>
            <a:chOff x="8715372" y="4366006"/>
            <a:chExt cx="2162966" cy="1424040"/>
          </a:xfrm>
        </p:grpSpPr>
        <p:grpSp>
          <p:nvGrpSpPr>
            <p:cNvPr id="71" name="群組 30"/>
            <p:cNvGrpSpPr/>
            <p:nvPr/>
          </p:nvGrpSpPr>
          <p:grpSpPr>
            <a:xfrm>
              <a:off x="8715372" y="4572790"/>
              <a:ext cx="1814856" cy="1217256"/>
              <a:chOff x="15073354" y="8308668"/>
              <a:chExt cx="1814856" cy="1217256"/>
            </a:xfrm>
          </p:grpSpPr>
          <p:sp>
            <p:nvSpPr>
              <p:cNvPr id="75" name="流程圖: 程序 74"/>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76" name="流程圖: 程序 75"/>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出口報關</a:t>
                </a:r>
                <a:endParaRPr lang="zh-TW" altLang="en-US" sz="1500" dirty="0">
                  <a:latin typeface="微軟正黑體" panose="020B0604030504040204" pitchFamily="34" charset="-120"/>
                  <a:ea typeface="微軟正黑體" panose="020B0604030504040204" pitchFamily="34" charset="-120"/>
                </a:endParaRPr>
              </a:p>
            </p:txBody>
          </p:sp>
          <p:sp>
            <p:nvSpPr>
              <p:cNvPr id="77" name="流程圖: 程序 76"/>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78" name="流程圖: 程序 77"/>
              <p:cNvSpPr/>
              <p:nvPr/>
            </p:nvSpPr>
            <p:spPr>
              <a:xfrm>
                <a:off x="1600621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72" name="Group 220">
              <a:extLst>
                <a:ext uri="{FF2B5EF4-FFF2-40B4-BE49-F238E27FC236}">
                  <a16:creationId xmlns="" xmlns:a16="http://schemas.microsoft.com/office/drawing/2014/main" id="{0C75984D-876F-5104-7AA0-5996E344A44D}"/>
                </a:ext>
              </a:extLst>
            </p:cNvPr>
            <p:cNvGrpSpPr/>
            <p:nvPr/>
          </p:nvGrpSpPr>
          <p:grpSpPr>
            <a:xfrm>
              <a:off x="10344938" y="4366006"/>
              <a:ext cx="533400" cy="408605"/>
              <a:chOff x="5906184" y="1486857"/>
              <a:chExt cx="355600" cy="272361"/>
            </a:xfrm>
          </p:grpSpPr>
          <p:sp>
            <p:nvSpPr>
              <p:cNvPr id="73" name="Oval 221">
                <a:extLst>
                  <a:ext uri="{FF2B5EF4-FFF2-40B4-BE49-F238E27FC236}">
                    <a16:creationId xmlns="" xmlns:a16="http://schemas.microsoft.com/office/drawing/2014/main"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4" name="TextBox 222">
                <a:extLst>
                  <a:ext uri="{FF2B5EF4-FFF2-40B4-BE49-F238E27FC236}">
                    <a16:creationId xmlns="" xmlns:a16="http://schemas.microsoft.com/office/drawing/2014/main"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sp>
        <p:nvSpPr>
          <p:cNvPr id="81" name="流程圖: 接點 51"/>
          <p:cNvSpPr/>
          <p:nvPr/>
        </p:nvSpPr>
        <p:spPr>
          <a:xfrm>
            <a:off x="13001652" y="3185223"/>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83" name="流程圖: 接點 51"/>
          <p:cNvSpPr/>
          <p:nvPr/>
        </p:nvSpPr>
        <p:spPr>
          <a:xfrm>
            <a:off x="10072694" y="7144558"/>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cxnSp>
        <p:nvCxnSpPr>
          <p:cNvPr id="84" name="肘形接點 68">
            <a:extLst>
              <a:ext uri="{FF2B5EF4-FFF2-40B4-BE49-F238E27FC236}">
                <a16:creationId xmlns="" xmlns:a16="http://schemas.microsoft.com/office/drawing/2014/main" id="{455F687E-D5F2-BB6B-9318-21C6E7BF176C}"/>
              </a:ext>
            </a:extLst>
          </p:cNvPr>
          <p:cNvCxnSpPr>
            <a:cxnSpLocks/>
            <a:endCxn id="415" idx="1"/>
          </p:cNvCxnSpPr>
          <p:nvPr/>
        </p:nvCxnSpPr>
        <p:spPr>
          <a:xfrm>
            <a:off x="8786810" y="8223636"/>
            <a:ext cx="3461892" cy="83399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85" name="群組 84"/>
          <p:cNvGrpSpPr/>
          <p:nvPr/>
        </p:nvGrpSpPr>
        <p:grpSpPr>
          <a:xfrm>
            <a:off x="6976010" y="7409628"/>
            <a:ext cx="2162966" cy="1424040"/>
            <a:chOff x="8715372" y="4366006"/>
            <a:chExt cx="2162966" cy="1424040"/>
          </a:xfrm>
        </p:grpSpPr>
        <p:grpSp>
          <p:nvGrpSpPr>
            <p:cNvPr id="86" name="群組 30"/>
            <p:cNvGrpSpPr/>
            <p:nvPr/>
          </p:nvGrpSpPr>
          <p:grpSpPr>
            <a:xfrm>
              <a:off x="8715372" y="4572790"/>
              <a:ext cx="1814856" cy="1217256"/>
              <a:chOff x="15073354" y="8308668"/>
              <a:chExt cx="1814856" cy="1217256"/>
            </a:xfrm>
          </p:grpSpPr>
          <p:sp>
            <p:nvSpPr>
              <p:cNvPr id="90" name="流程圖: 程序 89"/>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91" name="流程圖: 程序 90"/>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模具轉出</a:t>
                </a:r>
                <a:endParaRPr lang="en-US" altLang="zh-TW" sz="1500" dirty="0" smtClean="0">
                  <a:latin typeface="微軟正黑體" panose="020B0604030504040204" pitchFamily="34" charset="-120"/>
                  <a:ea typeface="微軟正黑體" panose="020B0604030504040204" pitchFamily="34" charset="-120"/>
                </a:endParaRPr>
              </a:p>
              <a:p>
                <a:pPr algn="ctr" eaLnBrk="0" hangingPunct="0"/>
                <a:r>
                  <a:rPr lang="en-US" altLang="zh-TW" sz="1500" dirty="0" smtClean="0">
                    <a:latin typeface="微軟正黑體" panose="020B0604030504040204" pitchFamily="34" charset="-120"/>
                    <a:ea typeface="微軟正黑體" panose="020B0604030504040204" pitchFamily="34" charset="-120"/>
                  </a:rPr>
                  <a:t>(Mvt.915</a:t>
                </a:r>
                <a:r>
                  <a:rPr lang="en-US" altLang="zh-TW" sz="1500" dirty="0" smtClean="0">
                    <a:latin typeface="微軟正黑體" panose="020B0604030504040204" pitchFamily="34" charset="-120"/>
                    <a:ea typeface="微軟正黑體" panose="020B0604030504040204" pitchFamily="34" charset="-120"/>
                  </a:rPr>
                  <a:t>))</a:t>
                </a:r>
                <a:endParaRPr lang="zh-TW" altLang="en-US" sz="1500" dirty="0">
                  <a:latin typeface="微軟正黑體" panose="020B0604030504040204" pitchFamily="34" charset="-120"/>
                  <a:ea typeface="微軟正黑體" panose="020B0604030504040204" pitchFamily="34" charset="-120"/>
                </a:endParaRPr>
              </a:p>
            </p:txBody>
          </p:sp>
          <p:sp>
            <p:nvSpPr>
              <p:cNvPr id="92" name="流程圖: 程序 91"/>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93" name="流程圖: 程序 92"/>
              <p:cNvSpPr/>
              <p:nvPr/>
            </p:nvSpPr>
            <p:spPr>
              <a:xfrm>
                <a:off x="15906728" y="9165924"/>
                <a:ext cx="981482"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87" name="Group 220">
              <a:extLst>
                <a:ext uri="{FF2B5EF4-FFF2-40B4-BE49-F238E27FC236}">
                  <a16:creationId xmlns="" xmlns:a16="http://schemas.microsoft.com/office/drawing/2014/main" id="{0C75984D-876F-5104-7AA0-5996E344A44D}"/>
                </a:ext>
              </a:extLst>
            </p:cNvPr>
            <p:cNvGrpSpPr/>
            <p:nvPr/>
          </p:nvGrpSpPr>
          <p:grpSpPr>
            <a:xfrm>
              <a:off x="10344938" y="4366006"/>
              <a:ext cx="533400" cy="408605"/>
              <a:chOff x="5906184" y="1486857"/>
              <a:chExt cx="355600" cy="272361"/>
            </a:xfrm>
          </p:grpSpPr>
          <p:sp>
            <p:nvSpPr>
              <p:cNvPr id="88" name="Oval 221">
                <a:extLst>
                  <a:ext uri="{FF2B5EF4-FFF2-40B4-BE49-F238E27FC236}">
                    <a16:creationId xmlns="" xmlns:a16="http://schemas.microsoft.com/office/drawing/2014/main"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9" name="TextBox 222">
                <a:extLst>
                  <a:ext uri="{FF2B5EF4-FFF2-40B4-BE49-F238E27FC236}">
                    <a16:creationId xmlns="" xmlns:a16="http://schemas.microsoft.com/office/drawing/2014/main"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1">
            <a:extLst>
              <a:ext uri="{FF2B5EF4-FFF2-40B4-BE49-F238E27FC236}">
                <a16:creationId xmlns="" xmlns:a16="http://schemas.microsoft.com/office/drawing/2014/main" id="{1FB9514E-6261-C7AC-D58E-6A5F2E6F81FD}"/>
              </a:ext>
            </a:extLst>
          </p:cNvPr>
          <p:cNvSpPr/>
          <p:nvPr/>
        </p:nvSpPr>
        <p:spPr bwMode="auto">
          <a:xfrm>
            <a:off x="413248" y="2434652"/>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sp>
        <p:nvSpPr>
          <p:cNvPr id="7" name="TextBox 53">
            <a:extLst>
              <a:ext uri="{FF2B5EF4-FFF2-40B4-BE49-F238E27FC236}">
                <a16:creationId xmlns="" xmlns:a16="http://schemas.microsoft.com/office/drawing/2014/main" id="{30381EE2-3320-4812-6081-3A15B03E8B32}"/>
              </a:ext>
            </a:extLst>
          </p:cNvPr>
          <p:cNvSpPr txBox="1"/>
          <p:nvPr/>
        </p:nvSpPr>
        <p:spPr>
          <a:xfrm>
            <a:off x="14394343" y="2013759"/>
            <a:ext cx="3594197" cy="5955476"/>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業務</a:t>
            </a:r>
            <a:r>
              <a:rPr lang="en-US" altLang="zh-TW" dirty="0"/>
              <a:t>/</a:t>
            </a:r>
            <a:r>
              <a:rPr lang="zh-TW" altLang="en-US" dirty="0"/>
              <a:t>生管</a:t>
            </a:r>
            <a:r>
              <a:rPr lang="en-US" altLang="zh-TW" dirty="0"/>
              <a:t>/</a:t>
            </a:r>
            <a:r>
              <a:rPr lang="zh-TW" altLang="en-US" dirty="0"/>
              <a:t>模具課接收到客戶的訊息，需要友廠會把模具轉入，並通知模具課準備接收事宜。</a:t>
            </a:r>
            <a:endParaRPr lang="en-US" altLang="zh-TW" dirty="0"/>
          </a:p>
          <a:p>
            <a:r>
              <a:rPr lang="zh-TW" altLang="en-US" dirty="0"/>
              <a:t>      集團內</a:t>
            </a:r>
            <a:r>
              <a:rPr lang="en-US" altLang="zh-TW" dirty="0"/>
              <a:t>:</a:t>
            </a:r>
            <a:r>
              <a:rPr lang="zh-TW" altLang="en-US" dirty="0"/>
              <a:t> 生管</a:t>
            </a:r>
            <a:r>
              <a:rPr lang="en-US" altLang="zh-TW" dirty="0"/>
              <a:t>/</a:t>
            </a:r>
            <a:r>
              <a:rPr lang="zh-TW" altLang="en-US" dirty="0"/>
              <a:t>模具課</a:t>
            </a:r>
            <a:r>
              <a:rPr lang="en-US" altLang="zh-TW" dirty="0"/>
              <a:t>      </a:t>
            </a:r>
          </a:p>
          <a:p>
            <a:r>
              <a:rPr lang="zh-TW" altLang="en-US" dirty="0"/>
              <a:t>      集團外</a:t>
            </a:r>
            <a:r>
              <a:rPr lang="en-US" altLang="zh-TW" dirty="0"/>
              <a:t>:</a:t>
            </a:r>
            <a:r>
              <a:rPr lang="zh-TW" altLang="en-US" dirty="0"/>
              <a:t> 業務</a:t>
            </a:r>
            <a:endParaRPr lang="en-US" altLang="zh-TW" dirty="0"/>
          </a:p>
          <a:p>
            <a:pPr marL="342900" indent="-342900">
              <a:buFont typeface="+mj-lt"/>
              <a:buAutoNum type="arabicPeriod" startAt="2"/>
            </a:pPr>
            <a:r>
              <a:rPr lang="zh-TW" altLang="en-US" dirty="0"/>
              <a:t>接收到樣品，測試驗證是否</a:t>
            </a:r>
            <a:r>
              <a:rPr lang="en-US" altLang="zh-TW" dirty="0"/>
              <a:t>OK</a:t>
            </a:r>
            <a:r>
              <a:rPr lang="zh-TW" altLang="en-US" dirty="0"/>
              <a:t>。</a:t>
            </a:r>
            <a:endParaRPr lang="en-US" altLang="zh-TW" dirty="0"/>
          </a:p>
          <a:p>
            <a:pPr marL="342900" indent="-342900">
              <a:buFont typeface="+mj-lt"/>
              <a:buAutoNum type="arabicPeriod" startAt="2"/>
            </a:pPr>
            <a:r>
              <a:rPr lang="zh-TW" altLang="en-US" dirty="0"/>
              <a:t>底廠開發</a:t>
            </a:r>
            <a:r>
              <a:rPr lang="en-US" altLang="zh-TW" dirty="0"/>
              <a:t>/</a:t>
            </a:r>
            <a:r>
              <a:rPr lang="zh-TW" altLang="en-US" dirty="0"/>
              <a:t>模具課開立模具轉入申請單的</a:t>
            </a:r>
            <a:r>
              <a:rPr lang="zh-TW" altLang="en-US" dirty="0" smtClean="0"/>
              <a:t>需求</a:t>
            </a:r>
            <a:endParaRPr lang="en-US" altLang="zh-TW" dirty="0" smtClean="0"/>
          </a:p>
          <a:p>
            <a:pPr marL="342900" indent="-342900">
              <a:buFont typeface="+mj-lt"/>
              <a:buAutoNum type="arabicPeriod" startAt="2"/>
            </a:pPr>
            <a:r>
              <a:rPr lang="zh-TW" altLang="en-US" dirty="0" smtClean="0"/>
              <a:t>需要報關由</a:t>
            </a:r>
            <a:r>
              <a:rPr lang="zh-TW" altLang="en-US" dirty="0" smtClean="0"/>
              <a:t>進出口</a:t>
            </a:r>
            <a:r>
              <a:rPr lang="zh-TW" altLang="en-US" dirty="0"/>
              <a:t>著手處理報關事務。</a:t>
            </a:r>
            <a:endParaRPr lang="en-US" altLang="zh-TW" dirty="0"/>
          </a:p>
          <a:p>
            <a:pPr marL="342900" indent="-342900">
              <a:buFont typeface="+mj-lt"/>
              <a:buAutoNum type="arabicPeriod" startAt="2"/>
            </a:pPr>
            <a:r>
              <a:rPr lang="zh-TW" altLang="en-US" dirty="0"/>
              <a:t>當試樣結果不</a:t>
            </a:r>
            <a:r>
              <a:rPr lang="en-US" altLang="zh-TW" dirty="0"/>
              <a:t>OK</a:t>
            </a:r>
            <a:r>
              <a:rPr lang="zh-TW" altLang="en-US" dirty="0"/>
              <a:t>，通知客戶後續的處理方式，是否要重新開模。</a:t>
            </a:r>
            <a:endParaRPr lang="en-US" altLang="zh-TW" dirty="0"/>
          </a:p>
          <a:p>
            <a:pPr marL="342900" indent="-342900">
              <a:buFont typeface="+mj-lt"/>
              <a:buAutoNum type="arabicPeriod" startAt="2"/>
            </a:pPr>
            <a:r>
              <a:rPr lang="zh-TW" altLang="en-US" dirty="0"/>
              <a:t>生管單位或模具課點收模具後，依據模具轉入的申請單執行庫存入庫作業。</a:t>
            </a:r>
            <a:endParaRPr lang="en-US" altLang="zh-TW" dirty="0"/>
          </a:p>
          <a:p>
            <a:pPr marL="342900" indent="-342900">
              <a:buFont typeface="+mj-lt"/>
              <a:buAutoNum type="arabicPeriod" startAt="2"/>
            </a:pPr>
            <a:endParaRPr lang="en-US" altLang="zh-TW" dirty="0"/>
          </a:p>
          <a:p>
            <a:pPr marL="342900" indent="-342900">
              <a:buFont typeface="+mj-lt"/>
              <a:buAutoNum type="arabicPeriod" startAt="2"/>
            </a:pPr>
            <a:endParaRPr lang="en-US" altLang="zh-TW" dirty="0"/>
          </a:p>
          <a:p>
            <a:endParaRPr lang="en-US" altLang="zh-TW" dirty="0"/>
          </a:p>
        </p:txBody>
      </p:sp>
      <p:cxnSp>
        <p:nvCxnSpPr>
          <p:cNvPr id="11" name="肘形接點 68">
            <a:extLst>
              <a:ext uri="{FF2B5EF4-FFF2-40B4-BE49-F238E27FC236}">
                <a16:creationId xmlns="" xmlns:a16="http://schemas.microsoft.com/office/drawing/2014/main" id="{24024915-9D25-B9A4-2836-72F0277283A4}"/>
              </a:ext>
            </a:extLst>
          </p:cNvPr>
          <p:cNvCxnSpPr>
            <a:cxnSpLocks/>
            <a:stCxn id="2" idx="3"/>
            <a:endCxn id="3" idx="1"/>
          </p:cNvCxnSpPr>
          <p:nvPr/>
        </p:nvCxnSpPr>
        <p:spPr>
          <a:xfrm flipV="1">
            <a:off x="2211080" y="2819954"/>
            <a:ext cx="1081907" cy="598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60" name="文字方塊 59">
            <a:extLst>
              <a:ext uri="{FF2B5EF4-FFF2-40B4-BE49-F238E27FC236}">
                <a16:creationId xmlns="" xmlns:a16="http://schemas.microsoft.com/office/drawing/2014/main"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a:t>
            </a:r>
            <a:r>
              <a:rPr lang="en-US" altLang="zh-TW" b="1" dirty="0">
                <a:latin typeface="微軟正黑體" panose="020B0604030504040204" pitchFamily="34" charset="-120"/>
                <a:ea typeface="微軟正黑體" panose="020B0604030504040204" pitchFamily="34" charset="-120"/>
              </a:rPr>
              <a:t>24</a:t>
            </a:r>
            <a:r>
              <a:rPr kumimoji="0" lang="en-US" altLang="zh-TW" b="1" dirty="0">
                <a:latin typeface="微軟正黑體" panose="020B0604030504040204" pitchFamily="34" charset="-120"/>
                <a:ea typeface="微軟正黑體" panose="020B0604030504040204" pitchFamily="34" charset="-120"/>
              </a:rPr>
              <a:t>0</a:t>
            </a:r>
            <a:r>
              <a:rPr lang="zh-TW" altLang="en-US" b="1" dirty="0">
                <a:latin typeface="微軟正黑體" panose="020B0604030504040204" pitchFamily="34" charset="-120"/>
                <a:ea typeface="微軟正黑體" panose="020B0604030504040204" pitchFamily="34" charset="-120"/>
              </a:rPr>
              <a:t>模具轉出轉入作業流程</a:t>
            </a:r>
            <a:r>
              <a:rPr lang="en-US" altLang="zh-TW" b="1" dirty="0">
                <a:latin typeface="微軟正黑體" panose="020B0604030504040204" pitchFamily="34" charset="-120"/>
                <a:ea typeface="微軟正黑體" panose="020B0604030504040204" pitchFamily="34" charset="-120"/>
              </a:rPr>
              <a:t>(</a:t>
            </a:r>
            <a:r>
              <a:rPr lang="zh-TW" altLang="en-US" b="1" dirty="0">
                <a:latin typeface="微軟正黑體" panose="020B0604030504040204" pitchFamily="34" charset="-120"/>
                <a:ea typeface="微軟正黑體" panose="020B0604030504040204" pitchFamily="34" charset="-120"/>
              </a:rPr>
              <a:t>轉入</a:t>
            </a:r>
            <a:r>
              <a:rPr lang="en-US" altLang="zh-TW" b="1" dirty="0">
                <a:latin typeface="微軟正黑體" panose="020B0604030504040204" pitchFamily="34" charset="-120"/>
                <a:ea typeface="微軟正黑體" panose="020B0604030504040204" pitchFamily="34" charset="-120"/>
              </a:rPr>
              <a:t>)</a:t>
            </a:r>
            <a:endParaRPr kumimoji="0" lang="zh-TW" altLang="en-US" b="1" dirty="0">
              <a:latin typeface="微軟正黑體" panose="020B0604030504040204" pitchFamily="34" charset="-120"/>
              <a:ea typeface="微軟正黑體" panose="020B0604030504040204" pitchFamily="34" charset="-120"/>
            </a:endParaRPr>
          </a:p>
        </p:txBody>
      </p:sp>
      <p:cxnSp>
        <p:nvCxnSpPr>
          <p:cNvPr id="334" name="Straight Connector 284">
            <a:extLst>
              <a:ext uri="{FF2B5EF4-FFF2-40B4-BE49-F238E27FC236}">
                <a16:creationId xmlns="" xmlns:a16="http://schemas.microsoft.com/office/drawing/2014/main" id="{66EEDD7F-2E52-CD98-24FC-881810678C1A}"/>
              </a:ext>
            </a:extLst>
          </p:cNvPr>
          <p:cNvCxnSpPr>
            <a:cxnSpLocks/>
          </p:cNvCxnSpPr>
          <p:nvPr/>
        </p:nvCxnSpPr>
        <p:spPr>
          <a:xfrm>
            <a:off x="6107813" y="1378349"/>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7" name="文字方塊 17">
            <a:extLst>
              <a:ext uri="{FF2B5EF4-FFF2-40B4-BE49-F238E27FC236}">
                <a16:creationId xmlns="" xmlns:a16="http://schemas.microsoft.com/office/drawing/2014/main" id="{DBA98B6C-6F2F-6D2E-EEB6-BCF7085C5BCA}"/>
              </a:ext>
            </a:extLst>
          </p:cNvPr>
          <p:cNvSpPr txBox="1"/>
          <p:nvPr/>
        </p:nvSpPr>
        <p:spPr>
          <a:xfrm>
            <a:off x="3142924" y="1367218"/>
            <a:ext cx="2494049" cy="400110"/>
          </a:xfrm>
          <a:prstGeom prst="rect">
            <a:avLst/>
          </a:prstGeom>
          <a:noFill/>
        </p:spPr>
        <p:txBody>
          <a:bodyPr wrap="square" lIns="137160" tIns="68580" rIns="137160" bIns="68580" rtlCol="0">
            <a:spAutoFit/>
          </a:bodyPr>
          <a:lstStyle/>
          <a:p>
            <a:pPr algn="ctr"/>
            <a:r>
              <a:rPr lang="zh-TW" altLang="en-US" sz="1700" dirty="0"/>
              <a:t>業務單位</a:t>
            </a:r>
            <a:r>
              <a:rPr lang="en-US" altLang="zh-TW" sz="1700" dirty="0"/>
              <a:t>/</a:t>
            </a:r>
            <a:r>
              <a:rPr lang="zh-TW" altLang="en-US" sz="1700" dirty="0"/>
              <a:t>生管</a:t>
            </a:r>
            <a:r>
              <a:rPr lang="en-US" altLang="zh-TW" sz="1700" dirty="0"/>
              <a:t>/</a:t>
            </a:r>
            <a:r>
              <a:rPr lang="zh-TW" altLang="en-US" sz="1700" dirty="0"/>
              <a:t>模具課</a:t>
            </a:r>
          </a:p>
        </p:txBody>
      </p:sp>
      <p:sp>
        <p:nvSpPr>
          <p:cNvPr id="415" name="流程圖: 結束點 414">
            <a:extLst>
              <a:ext uri="{FF2B5EF4-FFF2-40B4-BE49-F238E27FC236}">
                <a16:creationId xmlns="" xmlns:a16="http://schemas.microsoft.com/office/drawing/2014/main" id="{6DBFADDD-02ED-2959-F880-E6A099D3C842}"/>
              </a:ext>
            </a:extLst>
          </p:cNvPr>
          <p:cNvSpPr/>
          <p:nvPr/>
        </p:nvSpPr>
        <p:spPr bwMode="auto">
          <a:xfrm>
            <a:off x="12248702" y="8698244"/>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420" name="肘形接點 68">
            <a:extLst>
              <a:ext uri="{FF2B5EF4-FFF2-40B4-BE49-F238E27FC236}">
                <a16:creationId xmlns="" xmlns:a16="http://schemas.microsoft.com/office/drawing/2014/main" id="{1753F705-F7D0-B5EF-63F3-8ECA496B0B43}"/>
              </a:ext>
            </a:extLst>
          </p:cNvPr>
          <p:cNvCxnSpPr>
            <a:cxnSpLocks/>
            <a:endCxn id="28" idx="3"/>
          </p:cNvCxnSpPr>
          <p:nvPr/>
        </p:nvCxnSpPr>
        <p:spPr>
          <a:xfrm rot="10800000" flipV="1">
            <a:off x="5500664" y="3001153"/>
            <a:ext cx="2428895" cy="117872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3" name="表格 30">
            <a:extLst>
              <a:ext uri="{FF2B5EF4-FFF2-40B4-BE49-F238E27FC236}">
                <a16:creationId xmlns="" xmlns:a16="http://schemas.microsoft.com/office/drawing/2014/main" id="{B626B49B-28D4-8871-0FBF-DC0D2E9EA673}"/>
              </a:ext>
            </a:extLst>
          </p:cNvPr>
          <p:cNvGraphicFramePr>
            <a:graphicFrameLocks noGrp="1"/>
          </p:cNvGraphicFramePr>
          <p:nvPr>
            <p:extLst>
              <p:ext uri="{D42A27DB-BD31-4B8C-83A1-F6EECF244321}">
                <p14:modId xmlns="" xmlns:p14="http://schemas.microsoft.com/office/powerpoint/2010/main" val="1492205418"/>
              </p:ext>
            </p:extLst>
          </p:nvPr>
        </p:nvGraphicFramePr>
        <p:xfrm>
          <a:off x="3292986" y="2124446"/>
          <a:ext cx="1797828" cy="1391015"/>
        </p:xfrm>
        <a:graphic>
          <a:graphicData uri="http://schemas.openxmlformats.org/drawingml/2006/table">
            <a:tbl>
              <a:tblPr>
                <a:tableStyleId>{5940675A-B579-460E-94D1-54222C63F5DA}</a:tableStyleId>
              </a:tblPr>
              <a:tblGrid>
                <a:gridCol w="898914">
                  <a:extLst>
                    <a:ext uri="{9D8B030D-6E8A-4147-A177-3AD203B41FA5}">
                      <a16:colId xmlns="" xmlns:a16="http://schemas.microsoft.com/office/drawing/2014/main" val="3433979995"/>
                    </a:ext>
                  </a:extLst>
                </a:gridCol>
                <a:gridCol w="898914">
                  <a:extLst>
                    <a:ext uri="{9D8B030D-6E8A-4147-A177-3AD203B41FA5}">
                      <a16:colId xmlns="" xmlns:a16="http://schemas.microsoft.com/office/drawing/2014/main" val="3727974752"/>
                    </a:ext>
                  </a:extLst>
                </a:gridCol>
              </a:tblGrid>
              <a:tr h="412864">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客戶提出模具轉廠需求</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412864">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4" name="Group 220">
            <a:extLst>
              <a:ext uri="{FF2B5EF4-FFF2-40B4-BE49-F238E27FC236}">
                <a16:creationId xmlns="" xmlns:a16="http://schemas.microsoft.com/office/drawing/2014/main" id="{2478BA30-9B8C-1637-9491-6F3F629DBF6E}"/>
              </a:ext>
            </a:extLst>
          </p:cNvPr>
          <p:cNvGrpSpPr/>
          <p:nvPr/>
        </p:nvGrpSpPr>
        <p:grpSpPr>
          <a:xfrm>
            <a:off x="4920444" y="1962804"/>
            <a:ext cx="533400" cy="408605"/>
            <a:chOff x="5906184" y="1486857"/>
            <a:chExt cx="355600" cy="272361"/>
          </a:xfrm>
        </p:grpSpPr>
        <p:sp>
          <p:nvSpPr>
            <p:cNvPr id="427" name="Oval 221">
              <a:extLst>
                <a:ext uri="{FF2B5EF4-FFF2-40B4-BE49-F238E27FC236}">
                  <a16:creationId xmlns="" xmlns:a16="http://schemas.microsoft.com/office/drawing/2014/main" id="{DB26B384-389B-9BB6-14A3-5F5006627D5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28" name="TextBox 222">
              <a:extLst>
                <a:ext uri="{FF2B5EF4-FFF2-40B4-BE49-F238E27FC236}">
                  <a16:creationId xmlns="" xmlns:a16="http://schemas.microsoft.com/office/drawing/2014/main" id="{EE73695E-98CB-F9F0-7B31-AA26BF88E5CD}"/>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9" name="肘形接點 68">
            <a:extLst>
              <a:ext uri="{FF2B5EF4-FFF2-40B4-BE49-F238E27FC236}">
                <a16:creationId xmlns="" xmlns:a16="http://schemas.microsoft.com/office/drawing/2014/main" id="{2BC82C81-073E-C971-EE6B-92BA93C05B8F}"/>
              </a:ext>
            </a:extLst>
          </p:cNvPr>
          <p:cNvCxnSpPr>
            <a:cxnSpLocks/>
            <a:stCxn id="3" idx="3"/>
          </p:cNvCxnSpPr>
          <p:nvPr/>
        </p:nvCxnSpPr>
        <p:spPr>
          <a:xfrm flipV="1">
            <a:off x="5090814" y="2817344"/>
            <a:ext cx="2004279" cy="261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8" name="流程圖: 決策 50">
            <a:extLst>
              <a:ext uri="{FF2B5EF4-FFF2-40B4-BE49-F238E27FC236}">
                <a16:creationId xmlns="" xmlns:a16="http://schemas.microsoft.com/office/drawing/2014/main" id="{696E77D6-4837-28D6-BA09-FAE3FE89FA3B}"/>
              </a:ext>
            </a:extLst>
          </p:cNvPr>
          <p:cNvSpPr/>
          <p:nvPr/>
        </p:nvSpPr>
        <p:spPr bwMode="auto">
          <a:xfrm>
            <a:off x="3781309" y="3715534"/>
            <a:ext cx="1719354" cy="92869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是否</a:t>
            </a:r>
            <a:r>
              <a:rPr lang="en-US" altLang="zh-TW" sz="1500" dirty="0">
                <a:latin typeface="微軟正黑體" panose="020B0604030504040204" pitchFamily="34" charset="-120"/>
                <a:ea typeface="微軟正黑體" panose="020B0604030504040204" pitchFamily="34" charset="-120"/>
              </a:rPr>
              <a:t>OK</a:t>
            </a:r>
            <a:endParaRPr lang="zh-TW" altLang="en-US" sz="1500" dirty="0">
              <a:latin typeface="微軟正黑體" panose="020B0604030504040204" pitchFamily="34" charset="-120"/>
              <a:ea typeface="微軟正黑體" panose="020B0604030504040204" pitchFamily="34" charset="-120"/>
            </a:endParaRPr>
          </a:p>
        </p:txBody>
      </p:sp>
      <p:cxnSp>
        <p:nvCxnSpPr>
          <p:cNvPr id="30" name="肘形接點 68">
            <a:extLst>
              <a:ext uri="{FF2B5EF4-FFF2-40B4-BE49-F238E27FC236}">
                <a16:creationId xmlns="" xmlns:a16="http://schemas.microsoft.com/office/drawing/2014/main" id="{6BC3F9AF-7815-AE16-C845-01B91AA1A15D}"/>
              </a:ext>
            </a:extLst>
          </p:cNvPr>
          <p:cNvCxnSpPr>
            <a:cxnSpLocks/>
            <a:stCxn id="28" idx="2"/>
          </p:cNvCxnSpPr>
          <p:nvPr/>
        </p:nvCxnSpPr>
        <p:spPr>
          <a:xfrm rot="16200000" flipH="1">
            <a:off x="4427882" y="4857332"/>
            <a:ext cx="428630" cy="242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5" name="Straight Connector 284">
            <a:extLst>
              <a:ext uri="{FF2B5EF4-FFF2-40B4-BE49-F238E27FC236}">
                <a16:creationId xmlns="" xmlns:a16="http://schemas.microsoft.com/office/drawing/2014/main" id="{F6E4FEEA-9DCE-4B56-137B-E204F6512411}"/>
              </a:ext>
            </a:extLst>
          </p:cNvPr>
          <p:cNvCxnSpPr>
            <a:cxnSpLocks/>
          </p:cNvCxnSpPr>
          <p:nvPr/>
        </p:nvCxnSpPr>
        <p:spPr>
          <a:xfrm>
            <a:off x="9582879" y="1378349"/>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文字方塊 17">
            <a:extLst>
              <a:ext uri="{FF2B5EF4-FFF2-40B4-BE49-F238E27FC236}">
                <a16:creationId xmlns="" xmlns:a16="http://schemas.microsoft.com/office/drawing/2014/main" id="{1E427DAC-D639-3D9A-7D02-67A4A3CD9227}"/>
              </a:ext>
            </a:extLst>
          </p:cNvPr>
          <p:cNvSpPr txBox="1"/>
          <p:nvPr/>
        </p:nvSpPr>
        <p:spPr>
          <a:xfrm>
            <a:off x="9726422" y="1386484"/>
            <a:ext cx="1853246" cy="400110"/>
          </a:xfrm>
          <a:prstGeom prst="rect">
            <a:avLst/>
          </a:prstGeom>
          <a:noFill/>
        </p:spPr>
        <p:txBody>
          <a:bodyPr wrap="square" lIns="137160" tIns="68580" rIns="137160" bIns="68580" rtlCol="0">
            <a:spAutoFit/>
          </a:bodyPr>
          <a:lstStyle/>
          <a:p>
            <a:pPr algn="ctr"/>
            <a:r>
              <a:rPr lang="zh-TW" altLang="en-US" sz="1700" dirty="0"/>
              <a:t>進出口</a:t>
            </a:r>
          </a:p>
        </p:txBody>
      </p:sp>
      <p:sp>
        <p:nvSpPr>
          <p:cNvPr id="38" name="TextBox 46">
            <a:extLst>
              <a:ext uri="{FF2B5EF4-FFF2-40B4-BE49-F238E27FC236}">
                <a16:creationId xmlns="" xmlns:a16="http://schemas.microsoft.com/office/drawing/2014/main" id="{E243152C-0C49-3356-F36F-F3591CCF67C8}"/>
              </a:ext>
            </a:extLst>
          </p:cNvPr>
          <p:cNvSpPr txBox="1"/>
          <p:nvPr/>
        </p:nvSpPr>
        <p:spPr>
          <a:xfrm>
            <a:off x="4714844" y="4715666"/>
            <a:ext cx="580224" cy="369389"/>
          </a:xfrm>
          <a:prstGeom prst="rect">
            <a:avLst/>
          </a:prstGeom>
          <a:noFill/>
        </p:spPr>
        <p:txBody>
          <a:bodyPr wrap="square" lIns="137160" tIns="68580" rIns="137160" bIns="68580" rtlCol="0">
            <a:spAutoFit/>
          </a:bodyPr>
          <a:lstStyle/>
          <a:p>
            <a:r>
              <a:rPr lang="en-US" altLang="zh-TW" sz="1500" dirty="0"/>
              <a:t>OK</a:t>
            </a:r>
            <a:endParaRPr lang="zh-TW" altLang="en-US" sz="1500" dirty="0"/>
          </a:p>
        </p:txBody>
      </p:sp>
      <p:cxnSp>
        <p:nvCxnSpPr>
          <p:cNvPr id="44" name="肘形接點 68">
            <a:extLst>
              <a:ext uri="{FF2B5EF4-FFF2-40B4-BE49-F238E27FC236}">
                <a16:creationId xmlns="" xmlns:a16="http://schemas.microsoft.com/office/drawing/2014/main" id="{1CE47513-42E8-02B0-990E-847D225BE82C}"/>
              </a:ext>
            </a:extLst>
          </p:cNvPr>
          <p:cNvCxnSpPr>
            <a:cxnSpLocks/>
            <a:stCxn id="28" idx="1"/>
            <a:endCxn id="113" idx="0"/>
          </p:cNvCxnSpPr>
          <p:nvPr/>
        </p:nvCxnSpPr>
        <p:spPr>
          <a:xfrm rot="10800000" flipV="1">
            <a:off x="3548543" y="4179880"/>
            <a:ext cx="232767" cy="4319189"/>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95" name="TextBox 46">
            <a:extLst>
              <a:ext uri="{FF2B5EF4-FFF2-40B4-BE49-F238E27FC236}">
                <a16:creationId xmlns="" xmlns:a16="http://schemas.microsoft.com/office/drawing/2014/main" id="{6350E15B-AF66-0474-17EE-62310048BF27}"/>
              </a:ext>
            </a:extLst>
          </p:cNvPr>
          <p:cNvSpPr txBox="1"/>
          <p:nvPr/>
        </p:nvSpPr>
        <p:spPr>
          <a:xfrm>
            <a:off x="3113000" y="3824205"/>
            <a:ext cx="580224" cy="369389"/>
          </a:xfrm>
          <a:prstGeom prst="rect">
            <a:avLst/>
          </a:prstGeom>
          <a:noFill/>
        </p:spPr>
        <p:txBody>
          <a:bodyPr wrap="square" lIns="137160" tIns="68580" rIns="137160" bIns="68580" rtlCol="0">
            <a:spAutoFit/>
          </a:bodyPr>
          <a:lstStyle/>
          <a:p>
            <a:r>
              <a:rPr lang="en-US" altLang="zh-TW" sz="1500" dirty="0"/>
              <a:t>NG</a:t>
            </a:r>
            <a:endParaRPr lang="zh-TW" altLang="en-US" sz="1500" dirty="0"/>
          </a:p>
        </p:txBody>
      </p:sp>
      <p:cxnSp>
        <p:nvCxnSpPr>
          <p:cNvPr id="197" name="肘形接點 68">
            <a:extLst>
              <a:ext uri="{FF2B5EF4-FFF2-40B4-BE49-F238E27FC236}">
                <a16:creationId xmlns="" xmlns:a16="http://schemas.microsoft.com/office/drawing/2014/main" id="{2B9EF773-6725-4948-EBD0-E490D08FDDDA}"/>
              </a:ext>
            </a:extLst>
          </p:cNvPr>
          <p:cNvCxnSpPr>
            <a:cxnSpLocks/>
            <a:stCxn id="114" idx="3"/>
            <a:endCxn id="415" idx="1"/>
          </p:cNvCxnSpPr>
          <p:nvPr/>
        </p:nvCxnSpPr>
        <p:spPr>
          <a:xfrm flipV="1">
            <a:off x="4453942" y="9089526"/>
            <a:ext cx="7794760" cy="1676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1" name="流程圖: 文件 42">
            <a:extLst>
              <a:ext uri="{FF2B5EF4-FFF2-40B4-BE49-F238E27FC236}">
                <a16:creationId xmlns="" xmlns:a16="http://schemas.microsoft.com/office/drawing/2014/main" id="{8B6C5144-209A-F7D8-A058-F74DB6B9FC90}"/>
              </a:ext>
            </a:extLst>
          </p:cNvPr>
          <p:cNvSpPr/>
          <p:nvPr/>
        </p:nvSpPr>
        <p:spPr bwMode="auto">
          <a:xfrm>
            <a:off x="4857720" y="6715930"/>
            <a:ext cx="1637504" cy="768356"/>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fontAlgn="ctr"/>
            <a:endParaRPr lang="en-US" altLang="zh-CN" sz="1500" dirty="0">
              <a:solidFill>
                <a:prstClr val="black"/>
              </a:solidFill>
              <a:ea typeface="微軟正黑體"/>
            </a:endParaRPr>
          </a:p>
          <a:p>
            <a:pPr algn="ctr" fontAlgn="ctr"/>
            <a:r>
              <a:rPr lang="zh-TW" altLang="en-US" sz="1500" dirty="0">
                <a:latin typeface="微軟正黑體" panose="020B0604030504040204" pitchFamily="34" charset="-120"/>
                <a:ea typeface="微軟正黑體" panose="020B0604030504040204" pitchFamily="34" charset="-120"/>
              </a:rPr>
              <a:t>模具轉入申請單</a:t>
            </a:r>
          </a:p>
        </p:txBody>
      </p:sp>
      <p:cxnSp>
        <p:nvCxnSpPr>
          <p:cNvPr id="202" name="肘形接點 68">
            <a:extLst>
              <a:ext uri="{FF2B5EF4-FFF2-40B4-BE49-F238E27FC236}">
                <a16:creationId xmlns="" xmlns:a16="http://schemas.microsoft.com/office/drawing/2014/main" id="{B31F66F4-B804-6A77-35CA-8F4C6B5A5C15}"/>
              </a:ext>
            </a:extLst>
          </p:cNvPr>
          <p:cNvCxnSpPr>
            <a:cxnSpLocks/>
            <a:stCxn id="103" idx="3"/>
            <a:endCxn id="64" idx="1"/>
          </p:cNvCxnSpPr>
          <p:nvPr/>
        </p:nvCxnSpPr>
        <p:spPr>
          <a:xfrm flipV="1">
            <a:off x="5668388" y="5236414"/>
            <a:ext cx="4332868" cy="43613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205" name="表格 30">
            <a:extLst>
              <a:ext uri="{FF2B5EF4-FFF2-40B4-BE49-F238E27FC236}">
                <a16:creationId xmlns="" xmlns:a16="http://schemas.microsoft.com/office/drawing/2014/main" id="{FCAFF143-00C7-5187-24D2-A23338540FAB}"/>
              </a:ext>
            </a:extLst>
          </p:cNvPr>
          <p:cNvGraphicFramePr>
            <a:graphicFrameLocks noGrp="1"/>
          </p:cNvGraphicFramePr>
          <p:nvPr>
            <p:extLst>
              <p:ext uri="{D42A27DB-BD31-4B8C-83A1-F6EECF244321}">
                <p14:modId xmlns="" xmlns:p14="http://schemas.microsoft.com/office/powerpoint/2010/main" val="2993213847"/>
              </p:ext>
            </p:extLst>
          </p:nvPr>
        </p:nvGraphicFramePr>
        <p:xfrm>
          <a:off x="7067345" y="5785159"/>
          <a:ext cx="1797828" cy="1238592"/>
        </p:xfrm>
        <a:graphic>
          <a:graphicData uri="http://schemas.openxmlformats.org/drawingml/2006/table">
            <a:tbl>
              <a:tblPr>
                <a:tableStyleId>{5940675A-B579-460E-94D1-54222C63F5DA}</a:tableStyleId>
              </a:tblPr>
              <a:tblGrid>
                <a:gridCol w="898914">
                  <a:extLst>
                    <a:ext uri="{9D8B030D-6E8A-4147-A177-3AD203B41FA5}">
                      <a16:colId xmlns="" xmlns:a16="http://schemas.microsoft.com/office/drawing/2014/main" val="3433979995"/>
                    </a:ext>
                  </a:extLst>
                </a:gridCol>
                <a:gridCol w="898914">
                  <a:extLst>
                    <a:ext uri="{9D8B030D-6E8A-4147-A177-3AD203B41FA5}">
                      <a16:colId xmlns="" xmlns:a16="http://schemas.microsoft.com/office/drawing/2014/main" val="3727974752"/>
                    </a:ext>
                  </a:extLst>
                </a:gridCol>
              </a:tblGrid>
              <a:tr h="412864">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412864">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點收模具</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412864">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213" name="表格 30">
            <a:extLst>
              <a:ext uri="{FF2B5EF4-FFF2-40B4-BE49-F238E27FC236}">
                <a16:creationId xmlns="" xmlns:a16="http://schemas.microsoft.com/office/drawing/2014/main" id="{A17626DF-E5B4-DF5B-F3F9-B7FABE173EBD}"/>
              </a:ext>
            </a:extLst>
          </p:cNvPr>
          <p:cNvGraphicFramePr>
            <a:graphicFrameLocks noGrp="1"/>
          </p:cNvGraphicFramePr>
          <p:nvPr>
            <p:extLst>
              <p:ext uri="{D42A27DB-BD31-4B8C-83A1-F6EECF244321}">
                <p14:modId xmlns="" xmlns:p14="http://schemas.microsoft.com/office/powerpoint/2010/main" val="1334642781"/>
              </p:ext>
            </p:extLst>
          </p:nvPr>
        </p:nvGraphicFramePr>
        <p:xfrm>
          <a:off x="7068915" y="7510456"/>
          <a:ext cx="1808745" cy="1238591"/>
        </p:xfrm>
        <a:graphic>
          <a:graphicData uri="http://schemas.openxmlformats.org/drawingml/2006/table">
            <a:tbl>
              <a:tblPr>
                <a:tableStyleId>{5940675A-B579-460E-94D1-54222C63F5DA}</a:tableStyleId>
              </a:tblPr>
              <a:tblGrid>
                <a:gridCol w="953064">
                  <a:extLst>
                    <a:ext uri="{9D8B030D-6E8A-4147-A177-3AD203B41FA5}">
                      <a16:colId xmlns="" xmlns:a16="http://schemas.microsoft.com/office/drawing/2014/main" val="3433979995"/>
                    </a:ext>
                  </a:extLst>
                </a:gridCol>
                <a:gridCol w="855681">
                  <a:extLst>
                    <a:ext uri="{9D8B030D-6E8A-4147-A177-3AD203B41FA5}">
                      <a16:colId xmlns="" xmlns:a16="http://schemas.microsoft.com/office/drawing/2014/main" val="3727974752"/>
                    </a:ext>
                  </a:extLst>
                </a:gridCol>
              </a:tblGrid>
              <a:tr h="336652">
                <a:tc gridSpan="2">
                  <a:txBody>
                    <a:bodyPr/>
                    <a:lstStyle/>
                    <a:p>
                      <a:pPr algn="ctr"/>
                      <a:r>
                        <a:rPr lang="en-GB" sz="1500" b="1" dirty="0" smtClean="0">
                          <a:solidFill>
                            <a:schemeClr val="tx1"/>
                          </a:solidFill>
                          <a:latin typeface="微軟正黑體" panose="020B0604030504040204" pitchFamily="34" charset="-120"/>
                          <a:ea typeface="微軟正黑體" panose="020B0604030504040204" pitchFamily="34" charset="-120"/>
                        </a:rPr>
                        <a:t>MIGO</a:t>
                      </a: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模具轉入</a:t>
                      </a:r>
                      <a:endParaRPr kumimoji="0" lang="en-US" altLang="zh-TW" sz="1500" dirty="0">
                        <a:latin typeface="微軟正黑體" panose="020B0604030504040204" pitchFamily="34" charset="-120"/>
                        <a:ea typeface="微軟正黑體" panose="020B0604030504040204" pitchFamily="34" charset="-120"/>
                      </a:endParaRPr>
                    </a:p>
                    <a:p>
                      <a:pPr algn="ctr" eaLnBrk="0" hangingPunct="0"/>
                      <a:r>
                        <a:rPr kumimoji="0" lang="en-US" altLang="zh-TW" sz="1500" dirty="0">
                          <a:latin typeface="微軟正黑體" panose="020B0604030504040204" pitchFamily="34" charset="-120"/>
                          <a:ea typeface="微軟正黑體" panose="020B0604030504040204" pitchFamily="34" charset="-120"/>
                        </a:rPr>
                        <a:t>(Mvt.916)</a:t>
                      </a:r>
                      <a:endParaRPr kumimoji="0" lang="zh-TW" altLang="en-US" sz="1500" dirty="0">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17" name="肘形接點 68">
            <a:extLst>
              <a:ext uri="{FF2B5EF4-FFF2-40B4-BE49-F238E27FC236}">
                <a16:creationId xmlns="" xmlns:a16="http://schemas.microsoft.com/office/drawing/2014/main" id="{DA3F20C4-CE30-D677-06E9-2C3EA457E9CC}"/>
              </a:ext>
            </a:extLst>
          </p:cNvPr>
          <p:cNvCxnSpPr>
            <a:cxnSpLocks/>
            <a:endCxn id="415" idx="0"/>
          </p:cNvCxnSpPr>
          <p:nvPr/>
        </p:nvCxnSpPr>
        <p:spPr>
          <a:xfrm>
            <a:off x="8858248" y="8073254"/>
            <a:ext cx="4289370" cy="624990"/>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21" name="Group 220">
            <a:extLst>
              <a:ext uri="{FF2B5EF4-FFF2-40B4-BE49-F238E27FC236}">
                <a16:creationId xmlns="" xmlns:a16="http://schemas.microsoft.com/office/drawing/2014/main" id="{A2038C13-FE73-0CC1-204F-214060D98205}"/>
              </a:ext>
            </a:extLst>
          </p:cNvPr>
          <p:cNvGrpSpPr/>
          <p:nvPr/>
        </p:nvGrpSpPr>
        <p:grpSpPr>
          <a:xfrm>
            <a:off x="8589527" y="7325340"/>
            <a:ext cx="533400" cy="408605"/>
            <a:chOff x="5906184" y="1486857"/>
            <a:chExt cx="355600" cy="272361"/>
          </a:xfrm>
        </p:grpSpPr>
        <p:sp>
          <p:nvSpPr>
            <p:cNvPr id="221" name="Oval 221">
              <a:extLst>
                <a:ext uri="{FF2B5EF4-FFF2-40B4-BE49-F238E27FC236}">
                  <a16:creationId xmlns="" xmlns:a16="http://schemas.microsoft.com/office/drawing/2014/main" id="{95411A55-49E0-96D5-FEDD-7EF03AC8CE53}"/>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222" name="TextBox 222">
              <a:extLst>
                <a:ext uri="{FF2B5EF4-FFF2-40B4-BE49-F238E27FC236}">
                  <a16:creationId xmlns="" xmlns:a16="http://schemas.microsoft.com/office/drawing/2014/main" id="{5E7BCC49-00A0-5814-0B2A-A210E767F25B}"/>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smtClean="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cxnSp>
        <p:nvCxnSpPr>
          <p:cNvPr id="23" name="肘形接點 68">
            <a:extLst>
              <a:ext uri="{FF2B5EF4-FFF2-40B4-BE49-F238E27FC236}">
                <a16:creationId xmlns="" xmlns:a16="http://schemas.microsoft.com/office/drawing/2014/main" id="{8242C0F0-B9A4-3EB3-B524-E3E34D415535}"/>
              </a:ext>
            </a:extLst>
          </p:cNvPr>
          <p:cNvCxnSpPr>
            <a:cxnSpLocks/>
            <a:endCxn id="205" idx="3"/>
          </p:cNvCxnSpPr>
          <p:nvPr/>
        </p:nvCxnSpPr>
        <p:spPr>
          <a:xfrm rot="5400000">
            <a:off x="9452897" y="5093910"/>
            <a:ext cx="722822" cy="1898267"/>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 name="肘形接點 68">
            <a:extLst>
              <a:ext uri="{FF2B5EF4-FFF2-40B4-BE49-F238E27FC236}">
                <a16:creationId xmlns="" xmlns:a16="http://schemas.microsoft.com/office/drawing/2014/main" id="{AF11D298-06F9-0594-DF61-02926C847C9B}"/>
              </a:ext>
            </a:extLst>
          </p:cNvPr>
          <p:cNvCxnSpPr>
            <a:cxnSpLocks/>
            <a:stCxn id="205" idx="2"/>
            <a:endCxn id="213" idx="0"/>
          </p:cNvCxnSpPr>
          <p:nvPr/>
        </p:nvCxnSpPr>
        <p:spPr>
          <a:xfrm rot="16200000" flipH="1">
            <a:off x="7726421" y="7263588"/>
            <a:ext cx="486707" cy="702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7" name="文字方塊 17">
            <a:extLst>
              <a:ext uri="{FF2B5EF4-FFF2-40B4-BE49-F238E27FC236}">
                <a16:creationId xmlns="" xmlns:a16="http://schemas.microsoft.com/office/drawing/2014/main" id="{9B85B269-F56A-D2A0-ADF1-418AD6F72EEF}"/>
              </a:ext>
            </a:extLst>
          </p:cNvPr>
          <p:cNvSpPr txBox="1"/>
          <p:nvPr/>
        </p:nvSpPr>
        <p:spPr>
          <a:xfrm>
            <a:off x="6055364" y="1392026"/>
            <a:ext cx="3594197" cy="400110"/>
          </a:xfrm>
          <a:prstGeom prst="rect">
            <a:avLst/>
          </a:prstGeom>
          <a:noFill/>
        </p:spPr>
        <p:txBody>
          <a:bodyPr wrap="square" lIns="137160" tIns="68580" rIns="137160" bIns="68580" rtlCol="0">
            <a:spAutoFit/>
          </a:bodyPr>
          <a:lstStyle/>
          <a:p>
            <a:pPr algn="ctr"/>
            <a:r>
              <a:rPr lang="zh-TW" altLang="en-US" sz="1700" dirty="0"/>
              <a:t>鞋廠底部工程及底廠開發</a:t>
            </a:r>
            <a:r>
              <a:rPr lang="en-US" altLang="zh-TW" sz="1700" dirty="0"/>
              <a:t>/</a:t>
            </a:r>
            <a:r>
              <a:rPr lang="zh-TW" altLang="en-US" sz="1700" dirty="0"/>
              <a:t>模具課</a:t>
            </a:r>
          </a:p>
        </p:txBody>
      </p:sp>
      <p:sp>
        <p:nvSpPr>
          <p:cNvPr id="54" name="Google Shape;38;p9">
            <a:extLst>
              <a:ext uri="{FF2B5EF4-FFF2-40B4-BE49-F238E27FC236}">
                <a16:creationId xmlns:a16="http://schemas.microsoft.com/office/drawing/2014/main" xmlns="" id="{424A9B21-226E-4E89-EEBE-161D8D8BED1D}"/>
              </a:ext>
            </a:extLst>
          </p:cNvPr>
          <p:cNvSpPr txBox="1"/>
          <p:nvPr/>
        </p:nvSpPr>
        <p:spPr>
          <a:xfrm>
            <a:off x="15501983" y="310242"/>
            <a:ext cx="648072" cy="547772"/>
          </a:xfrm>
          <a:prstGeom prst="rect">
            <a:avLst/>
          </a:prstGeom>
          <a:noFill/>
          <a:ln>
            <a:noFill/>
          </a:ln>
        </p:spPr>
        <p:txBody>
          <a:bodyPr spcFirstLastPara="1" wrap="square" lIns="137124" tIns="68543" rIns="137124" bIns="68543" anchor="ctr" anchorCtr="0">
            <a:noAutofit/>
          </a:bodyPr>
          <a:lstStyle/>
          <a:p>
            <a:pPr algn="r"/>
            <a:r>
              <a:rPr lang="en-US" sz="1500" dirty="0" smtClean="0">
                <a:solidFill>
                  <a:srgbClr val="888888"/>
                </a:solidFill>
              </a:rPr>
              <a:t>2</a:t>
            </a:r>
            <a:endParaRPr sz="1500" dirty="0">
              <a:solidFill>
                <a:srgbClr val="888888"/>
              </a:solidFill>
            </a:endParaRPr>
          </a:p>
        </p:txBody>
      </p:sp>
      <p:grpSp>
        <p:nvGrpSpPr>
          <p:cNvPr id="55" name="Group 5"/>
          <p:cNvGrpSpPr/>
          <p:nvPr/>
        </p:nvGrpSpPr>
        <p:grpSpPr>
          <a:xfrm>
            <a:off x="10674360" y="835922"/>
            <a:ext cx="3416142" cy="421694"/>
            <a:chOff x="10674360" y="835920"/>
            <a:chExt cx="3416142" cy="421693"/>
          </a:xfrm>
        </p:grpSpPr>
        <p:grpSp>
          <p:nvGrpSpPr>
            <p:cNvPr id="56" name="Group 6"/>
            <p:cNvGrpSpPr/>
            <p:nvPr/>
          </p:nvGrpSpPr>
          <p:grpSpPr>
            <a:xfrm>
              <a:off x="10674360" y="835920"/>
              <a:ext cx="1303230" cy="421693"/>
              <a:chOff x="10674360" y="835920"/>
              <a:chExt cx="1303230" cy="421693"/>
            </a:xfrm>
          </p:grpSpPr>
          <p:sp>
            <p:nvSpPr>
              <p:cNvPr id="61" name="文字方塊 21"/>
              <p:cNvSpPr/>
              <p:nvPr/>
            </p:nvSpPr>
            <p:spPr>
              <a:xfrm>
                <a:off x="10674360" y="835920"/>
                <a:ext cx="410731" cy="398654"/>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155"/>
                <a:r>
                  <a:rPr lang="en-US" sz="2000" spc="-2" dirty="0" smtClean="0">
                    <a:latin typeface="Wingdings"/>
                    <a:ea typeface="Arial"/>
                  </a:rPr>
                  <a:t></a:t>
                </a:r>
                <a:endParaRPr lang="en-US" spc="-2" dirty="0">
                  <a:latin typeface="Calibri"/>
                </a:endParaRPr>
              </a:p>
            </p:txBody>
          </p:sp>
          <p:sp>
            <p:nvSpPr>
              <p:cNvPr id="62" name="文字方塊 22"/>
              <p:cNvSpPr/>
              <p:nvPr/>
            </p:nvSpPr>
            <p:spPr>
              <a:xfrm>
                <a:off x="11027160" y="858959"/>
                <a:ext cx="950430" cy="398654"/>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155"/>
                <a:r>
                  <a:rPr lang="zh-TW" altLang="en-US" sz="2000" spc="-2" dirty="0">
                    <a:solidFill>
                      <a:schemeClr val="dk1"/>
                    </a:solidFill>
                    <a:latin typeface="Microsoft JhengHei"/>
                    <a:ea typeface="Microsoft JhengHei"/>
                  </a:rPr>
                  <a:t>新流程</a:t>
                </a:r>
                <a:endParaRPr lang="en-US" sz="2000" spc="-2" dirty="0">
                  <a:latin typeface="Calibri"/>
                </a:endParaRPr>
              </a:p>
            </p:txBody>
          </p:sp>
        </p:grpSp>
        <p:grpSp>
          <p:nvGrpSpPr>
            <p:cNvPr id="57" name="Group 8"/>
            <p:cNvGrpSpPr/>
            <p:nvPr/>
          </p:nvGrpSpPr>
          <p:grpSpPr>
            <a:xfrm>
              <a:off x="11982960" y="843838"/>
              <a:ext cx="2107542" cy="413774"/>
              <a:chOff x="11982960" y="843838"/>
              <a:chExt cx="2107542" cy="413774"/>
            </a:xfrm>
          </p:grpSpPr>
          <p:sp>
            <p:nvSpPr>
              <p:cNvPr id="58" name="文字方塊 23"/>
              <p:cNvSpPr/>
              <p:nvPr/>
            </p:nvSpPr>
            <p:spPr>
              <a:xfrm>
                <a:off x="12371400" y="858958"/>
                <a:ext cx="1719102" cy="398654"/>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155"/>
                <a:r>
                  <a:rPr lang="zh-TW" altLang="en-US" sz="2000" spc="-2" dirty="0">
                    <a:solidFill>
                      <a:schemeClr val="dk1"/>
                    </a:solidFill>
                    <a:latin typeface="Microsoft JhengHei"/>
                    <a:ea typeface="Microsoft JhengHei"/>
                  </a:rPr>
                  <a:t>權責單位改變</a:t>
                </a:r>
                <a:endParaRPr lang="en-US" sz="2000" spc="-2" dirty="0">
                  <a:latin typeface="Calibri"/>
                </a:endParaRPr>
              </a:p>
            </p:txBody>
          </p:sp>
          <p:sp>
            <p:nvSpPr>
              <p:cNvPr id="59" name="文字方塊 21"/>
              <p:cNvSpPr/>
              <p:nvPr/>
            </p:nvSpPr>
            <p:spPr>
              <a:xfrm>
                <a:off x="11982960" y="843838"/>
                <a:ext cx="386686" cy="367877"/>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155"/>
                <a:r>
                  <a:rPr lang="en-US" spc="-2" dirty="0">
                    <a:solidFill>
                      <a:schemeClr val="dk1"/>
                    </a:solidFill>
                    <a:latin typeface="Wingdings"/>
                    <a:ea typeface="Microsoft JhengHei"/>
                  </a:rPr>
                  <a:t></a:t>
                </a:r>
                <a:endParaRPr lang="en-US" spc="-2" dirty="0">
                  <a:latin typeface="Calibri"/>
                </a:endParaRPr>
              </a:p>
            </p:txBody>
          </p:sp>
        </p:grpSp>
      </p:grpSp>
      <p:sp>
        <p:nvSpPr>
          <p:cNvPr id="63" name="TextBox 46">
            <a:extLst>
              <a:ext uri="{FF2B5EF4-FFF2-40B4-BE49-F238E27FC236}">
                <a16:creationId xmlns="" xmlns:a16="http://schemas.microsoft.com/office/drawing/2014/main" id="{0497950F-113F-5E76-1425-A53965741E4E}"/>
              </a:ext>
            </a:extLst>
          </p:cNvPr>
          <p:cNvSpPr txBox="1"/>
          <p:nvPr/>
        </p:nvSpPr>
        <p:spPr>
          <a:xfrm>
            <a:off x="10441768" y="4872881"/>
            <a:ext cx="404262" cy="369389"/>
          </a:xfrm>
          <a:prstGeom prst="rect">
            <a:avLst/>
          </a:prstGeom>
          <a:noFill/>
        </p:spPr>
        <p:txBody>
          <a:bodyPr wrap="square" lIns="137160" tIns="68580" rIns="137160" bIns="68580" rtlCol="0">
            <a:spAutoFit/>
          </a:bodyPr>
          <a:lstStyle/>
          <a:p>
            <a:r>
              <a:rPr lang="zh-TW" altLang="en-US" sz="1500" dirty="0"/>
              <a:t>是</a:t>
            </a:r>
          </a:p>
        </p:txBody>
      </p:sp>
      <p:sp>
        <p:nvSpPr>
          <p:cNvPr id="64" name="流程圖: 決策 50">
            <a:extLst>
              <a:ext uri="{FF2B5EF4-FFF2-40B4-BE49-F238E27FC236}">
                <a16:creationId xmlns="" xmlns:a16="http://schemas.microsoft.com/office/drawing/2014/main" id="{AD12E8BF-FC22-85CD-B930-1ECBB327F5D1}"/>
              </a:ext>
            </a:extLst>
          </p:cNvPr>
          <p:cNvSpPr/>
          <p:nvPr/>
        </p:nvSpPr>
        <p:spPr bwMode="auto">
          <a:xfrm>
            <a:off x="10001256" y="4805377"/>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是否需要報關</a:t>
            </a:r>
            <a:endParaRPr lang="en-US" altLang="zh-TW" sz="1500" dirty="0">
              <a:latin typeface="微軟正黑體" panose="020B0604030504040204" pitchFamily="34" charset="-120"/>
              <a:ea typeface="微軟正黑體" panose="020B0604030504040204" pitchFamily="34" charset="-120"/>
            </a:endParaRPr>
          </a:p>
        </p:txBody>
      </p:sp>
      <p:sp>
        <p:nvSpPr>
          <p:cNvPr id="65" name="TextBox 46">
            <a:extLst>
              <a:ext uri="{FF2B5EF4-FFF2-40B4-BE49-F238E27FC236}">
                <a16:creationId xmlns="" xmlns:a16="http://schemas.microsoft.com/office/drawing/2014/main" id="{D430A5A5-5974-986C-8204-140655B1C2AA}"/>
              </a:ext>
            </a:extLst>
          </p:cNvPr>
          <p:cNvSpPr txBox="1"/>
          <p:nvPr/>
        </p:nvSpPr>
        <p:spPr>
          <a:xfrm>
            <a:off x="11501454" y="4733939"/>
            <a:ext cx="404262" cy="369389"/>
          </a:xfrm>
          <a:prstGeom prst="rect">
            <a:avLst/>
          </a:prstGeom>
          <a:noFill/>
        </p:spPr>
        <p:txBody>
          <a:bodyPr wrap="square" lIns="137160" tIns="68580" rIns="137160" bIns="68580" rtlCol="0">
            <a:spAutoFit/>
          </a:bodyPr>
          <a:lstStyle/>
          <a:p>
            <a:r>
              <a:rPr lang="zh-TW" altLang="en-US" sz="1500" dirty="0"/>
              <a:t>否</a:t>
            </a:r>
          </a:p>
        </p:txBody>
      </p:sp>
      <p:sp>
        <p:nvSpPr>
          <p:cNvPr id="66" name="TextBox 46">
            <a:extLst>
              <a:ext uri="{FF2B5EF4-FFF2-40B4-BE49-F238E27FC236}">
                <a16:creationId xmlns="" xmlns:a16="http://schemas.microsoft.com/office/drawing/2014/main" id="{F7233931-3D31-2B59-5C27-A63E18699916}"/>
              </a:ext>
            </a:extLst>
          </p:cNvPr>
          <p:cNvSpPr txBox="1"/>
          <p:nvPr/>
        </p:nvSpPr>
        <p:spPr>
          <a:xfrm>
            <a:off x="10929950" y="4305311"/>
            <a:ext cx="404262" cy="369389"/>
          </a:xfrm>
          <a:prstGeom prst="rect">
            <a:avLst/>
          </a:prstGeom>
          <a:noFill/>
        </p:spPr>
        <p:txBody>
          <a:bodyPr wrap="square" lIns="137160" tIns="68580" rIns="137160" bIns="68580" rtlCol="0">
            <a:spAutoFit/>
          </a:bodyPr>
          <a:lstStyle/>
          <a:p>
            <a:r>
              <a:rPr lang="zh-TW" altLang="en-US" sz="1500" dirty="0"/>
              <a:t>是</a:t>
            </a:r>
          </a:p>
        </p:txBody>
      </p:sp>
      <p:cxnSp>
        <p:nvCxnSpPr>
          <p:cNvPr id="67" name="肘形接點 68">
            <a:extLst>
              <a:ext uri="{FF2B5EF4-FFF2-40B4-BE49-F238E27FC236}">
                <a16:creationId xmlns="" xmlns:a16="http://schemas.microsoft.com/office/drawing/2014/main" id="{455F687E-D5F2-BB6B-9318-21C6E7BF176C}"/>
              </a:ext>
            </a:extLst>
          </p:cNvPr>
          <p:cNvCxnSpPr>
            <a:cxnSpLocks/>
            <a:stCxn id="64" idx="0"/>
          </p:cNvCxnSpPr>
          <p:nvPr/>
        </p:nvCxnSpPr>
        <p:spPr>
          <a:xfrm rot="5400000" flipH="1" flipV="1">
            <a:off x="10394089" y="4412392"/>
            <a:ext cx="785818" cy="15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8" name="肘形接點 68">
            <a:extLst>
              <a:ext uri="{FF2B5EF4-FFF2-40B4-BE49-F238E27FC236}">
                <a16:creationId xmlns="" xmlns:a16="http://schemas.microsoft.com/office/drawing/2014/main" id="{455F687E-D5F2-BB6B-9318-21C6E7BF176C}"/>
              </a:ext>
            </a:extLst>
          </p:cNvPr>
          <p:cNvCxnSpPr>
            <a:cxnSpLocks/>
          </p:cNvCxnSpPr>
          <p:nvPr/>
        </p:nvCxnSpPr>
        <p:spPr>
          <a:xfrm>
            <a:off x="11669180" y="3404806"/>
            <a:ext cx="1332472" cy="1369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9" name="肘形接點 68">
            <a:extLst>
              <a:ext uri="{FF2B5EF4-FFF2-40B4-BE49-F238E27FC236}">
                <a16:creationId xmlns="" xmlns:a16="http://schemas.microsoft.com/office/drawing/2014/main" id="{455F687E-D5F2-BB6B-9318-21C6E7BF176C}"/>
              </a:ext>
            </a:extLst>
          </p:cNvPr>
          <p:cNvCxnSpPr>
            <a:cxnSpLocks/>
            <a:stCxn id="64" idx="3"/>
            <a:endCxn id="79" idx="4"/>
          </p:cNvCxnSpPr>
          <p:nvPr/>
        </p:nvCxnSpPr>
        <p:spPr>
          <a:xfrm flipV="1">
            <a:off x="11572587" y="3651783"/>
            <a:ext cx="1701405" cy="1584631"/>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70" name="群組 69"/>
          <p:cNvGrpSpPr>
            <a:grpSpLocks noChangeAspect="1"/>
          </p:cNvGrpSpPr>
          <p:nvPr/>
        </p:nvGrpSpPr>
        <p:grpSpPr>
          <a:xfrm>
            <a:off x="9858380" y="2590799"/>
            <a:ext cx="2162966" cy="1424040"/>
            <a:chOff x="8715372" y="4366006"/>
            <a:chExt cx="2162966" cy="1424040"/>
          </a:xfrm>
        </p:grpSpPr>
        <p:grpSp>
          <p:nvGrpSpPr>
            <p:cNvPr id="71" name="群組 30"/>
            <p:cNvGrpSpPr/>
            <p:nvPr/>
          </p:nvGrpSpPr>
          <p:grpSpPr>
            <a:xfrm>
              <a:off x="8715372" y="4572790"/>
              <a:ext cx="1814856" cy="1217256"/>
              <a:chOff x="15073354" y="8308668"/>
              <a:chExt cx="1814856" cy="1217256"/>
            </a:xfrm>
          </p:grpSpPr>
          <p:sp>
            <p:nvSpPr>
              <p:cNvPr id="75" name="流程圖: 程序 74"/>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76" name="流程圖: 程序 75"/>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進口</a:t>
                </a:r>
                <a:r>
                  <a:rPr lang="zh-TW" altLang="en-US" sz="1500" dirty="0" smtClean="0">
                    <a:latin typeface="微軟正黑體" panose="020B0604030504040204" pitchFamily="34" charset="-120"/>
                    <a:ea typeface="微軟正黑體" panose="020B0604030504040204" pitchFamily="34" charset="-120"/>
                  </a:rPr>
                  <a:t>報關</a:t>
                </a:r>
                <a:endParaRPr lang="zh-TW" altLang="en-US" sz="1500" dirty="0">
                  <a:latin typeface="微軟正黑體" panose="020B0604030504040204" pitchFamily="34" charset="-120"/>
                  <a:ea typeface="微軟正黑體" panose="020B0604030504040204" pitchFamily="34" charset="-120"/>
                </a:endParaRPr>
              </a:p>
            </p:txBody>
          </p:sp>
          <p:sp>
            <p:nvSpPr>
              <p:cNvPr id="77" name="流程圖: 程序 76"/>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78" name="流程圖: 程序 77"/>
              <p:cNvSpPr/>
              <p:nvPr/>
            </p:nvSpPr>
            <p:spPr>
              <a:xfrm>
                <a:off x="1600621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72" name="Group 220">
              <a:extLst>
                <a:ext uri="{FF2B5EF4-FFF2-40B4-BE49-F238E27FC236}">
                  <a16:creationId xmlns="" xmlns:a16="http://schemas.microsoft.com/office/drawing/2014/main" id="{0C75984D-876F-5104-7AA0-5996E344A44D}"/>
                </a:ext>
              </a:extLst>
            </p:cNvPr>
            <p:cNvGrpSpPr/>
            <p:nvPr/>
          </p:nvGrpSpPr>
          <p:grpSpPr>
            <a:xfrm>
              <a:off x="10344938" y="4366006"/>
              <a:ext cx="533400" cy="408605"/>
              <a:chOff x="5906184" y="1486857"/>
              <a:chExt cx="355600" cy="272361"/>
            </a:xfrm>
          </p:grpSpPr>
          <p:sp>
            <p:nvSpPr>
              <p:cNvPr id="73" name="Oval 221">
                <a:extLst>
                  <a:ext uri="{FF2B5EF4-FFF2-40B4-BE49-F238E27FC236}">
                    <a16:creationId xmlns="" xmlns:a16="http://schemas.microsoft.com/office/drawing/2014/main"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4" name="TextBox 222">
                <a:extLst>
                  <a:ext uri="{FF2B5EF4-FFF2-40B4-BE49-F238E27FC236}">
                    <a16:creationId xmlns="" xmlns:a16="http://schemas.microsoft.com/office/drawing/2014/main"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sp>
        <p:nvSpPr>
          <p:cNvPr id="79" name="流程圖: 接點 51"/>
          <p:cNvSpPr/>
          <p:nvPr/>
        </p:nvSpPr>
        <p:spPr>
          <a:xfrm>
            <a:off x="13001652" y="3185223"/>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grpSp>
        <p:nvGrpSpPr>
          <p:cNvPr id="83" name="群組 82"/>
          <p:cNvGrpSpPr>
            <a:grpSpLocks noChangeAspect="1"/>
          </p:cNvGrpSpPr>
          <p:nvPr/>
        </p:nvGrpSpPr>
        <p:grpSpPr>
          <a:xfrm>
            <a:off x="7000860" y="1929584"/>
            <a:ext cx="2162966" cy="1424040"/>
            <a:chOff x="8715372" y="4366006"/>
            <a:chExt cx="2162966" cy="1424040"/>
          </a:xfrm>
        </p:grpSpPr>
        <p:grpSp>
          <p:nvGrpSpPr>
            <p:cNvPr id="84" name="群組 30"/>
            <p:cNvGrpSpPr/>
            <p:nvPr/>
          </p:nvGrpSpPr>
          <p:grpSpPr>
            <a:xfrm>
              <a:off x="8715372" y="4572790"/>
              <a:ext cx="1814856" cy="1217256"/>
              <a:chOff x="15073354" y="8308668"/>
              <a:chExt cx="1814856" cy="1217256"/>
            </a:xfrm>
          </p:grpSpPr>
          <p:sp>
            <p:nvSpPr>
              <p:cNvPr id="88" name="流程圖: 程序 87"/>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89" name="流程圖: 程序 88"/>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接收到樣品，並試機</a:t>
                </a:r>
                <a:endParaRPr lang="zh-TW" altLang="en-US" sz="1500" dirty="0">
                  <a:latin typeface="微軟正黑體" panose="020B0604030504040204" pitchFamily="34" charset="-120"/>
                  <a:ea typeface="微軟正黑體" panose="020B0604030504040204" pitchFamily="34" charset="-120"/>
                </a:endParaRPr>
              </a:p>
            </p:txBody>
          </p:sp>
          <p:sp>
            <p:nvSpPr>
              <p:cNvPr id="90" name="流程圖: 程序 89"/>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91" name="流程圖: 程序 90"/>
              <p:cNvSpPr/>
              <p:nvPr/>
            </p:nvSpPr>
            <p:spPr>
              <a:xfrm>
                <a:off x="1600621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85" name="Group 220">
              <a:extLst>
                <a:ext uri="{FF2B5EF4-FFF2-40B4-BE49-F238E27FC236}">
                  <a16:creationId xmlns="" xmlns:a16="http://schemas.microsoft.com/office/drawing/2014/main" id="{0C75984D-876F-5104-7AA0-5996E344A44D}"/>
                </a:ext>
              </a:extLst>
            </p:cNvPr>
            <p:cNvGrpSpPr/>
            <p:nvPr/>
          </p:nvGrpSpPr>
          <p:grpSpPr>
            <a:xfrm>
              <a:off x="10344938" y="4366006"/>
              <a:ext cx="533400" cy="408605"/>
              <a:chOff x="5906184" y="1486857"/>
              <a:chExt cx="355600" cy="272361"/>
            </a:xfrm>
          </p:grpSpPr>
          <p:sp>
            <p:nvSpPr>
              <p:cNvPr id="86" name="Oval 221">
                <a:extLst>
                  <a:ext uri="{FF2B5EF4-FFF2-40B4-BE49-F238E27FC236}">
                    <a16:creationId xmlns="" xmlns:a16="http://schemas.microsoft.com/office/drawing/2014/main"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7" name="TextBox 222">
                <a:extLst>
                  <a:ext uri="{FF2B5EF4-FFF2-40B4-BE49-F238E27FC236}">
                    <a16:creationId xmlns="" xmlns:a16="http://schemas.microsoft.com/office/drawing/2014/main"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grpSp>
        <p:nvGrpSpPr>
          <p:cNvPr id="97" name="群組 96"/>
          <p:cNvGrpSpPr>
            <a:grpSpLocks noChangeAspect="1"/>
          </p:cNvGrpSpPr>
          <p:nvPr/>
        </p:nvGrpSpPr>
        <p:grpSpPr>
          <a:xfrm>
            <a:off x="3857588" y="4858542"/>
            <a:ext cx="2162966" cy="1424040"/>
            <a:chOff x="8715372" y="4366006"/>
            <a:chExt cx="2162966" cy="1424040"/>
          </a:xfrm>
        </p:grpSpPr>
        <p:grpSp>
          <p:nvGrpSpPr>
            <p:cNvPr id="98" name="群組 30"/>
            <p:cNvGrpSpPr/>
            <p:nvPr/>
          </p:nvGrpSpPr>
          <p:grpSpPr>
            <a:xfrm>
              <a:off x="8715372" y="4572790"/>
              <a:ext cx="1814856" cy="1217256"/>
              <a:chOff x="15073354" y="8308668"/>
              <a:chExt cx="1814856" cy="1217256"/>
            </a:xfrm>
          </p:grpSpPr>
          <p:sp>
            <p:nvSpPr>
              <p:cNvPr id="102" name="流程圖: 程序 101"/>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MB21</a:t>
                </a:r>
                <a:endParaRPr lang="en-GB" sz="1500" b="1" dirty="0" smtClean="0">
                  <a:latin typeface="微軟正黑體" panose="020B0604030504040204" pitchFamily="34" charset="-120"/>
                  <a:ea typeface="微軟正黑體" panose="020B0604030504040204" pitchFamily="34" charset="-120"/>
                </a:endParaRPr>
              </a:p>
            </p:txBody>
          </p:sp>
          <p:sp>
            <p:nvSpPr>
              <p:cNvPr id="103" name="流程圖: 程序 102"/>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建立轉入預留單</a:t>
                </a:r>
                <a:endParaRPr lang="zh-TW" altLang="en-US" sz="1500" dirty="0">
                  <a:latin typeface="微軟正黑體" panose="020B0604030504040204" pitchFamily="34" charset="-120"/>
                  <a:ea typeface="微軟正黑體" panose="020B0604030504040204" pitchFamily="34" charset="-120"/>
                </a:endParaRPr>
              </a:p>
            </p:txBody>
          </p:sp>
          <p:sp>
            <p:nvSpPr>
              <p:cNvPr id="104" name="流程圖: 程序 103"/>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05" name="流程圖: 程序 104"/>
              <p:cNvSpPr/>
              <p:nvPr/>
            </p:nvSpPr>
            <p:spPr>
              <a:xfrm>
                <a:off x="1600621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99" name="Group 220">
              <a:extLst>
                <a:ext uri="{FF2B5EF4-FFF2-40B4-BE49-F238E27FC236}">
                  <a16:creationId xmlns="" xmlns:a16="http://schemas.microsoft.com/office/drawing/2014/main" id="{0C75984D-876F-5104-7AA0-5996E344A44D}"/>
                </a:ext>
              </a:extLst>
            </p:cNvPr>
            <p:cNvGrpSpPr/>
            <p:nvPr/>
          </p:nvGrpSpPr>
          <p:grpSpPr>
            <a:xfrm>
              <a:off x="10344938" y="4366006"/>
              <a:ext cx="533400" cy="408605"/>
              <a:chOff x="5906184" y="1486857"/>
              <a:chExt cx="355600" cy="272361"/>
            </a:xfrm>
          </p:grpSpPr>
          <p:sp>
            <p:nvSpPr>
              <p:cNvPr id="100" name="Oval 221">
                <a:extLst>
                  <a:ext uri="{FF2B5EF4-FFF2-40B4-BE49-F238E27FC236}">
                    <a16:creationId xmlns="" xmlns:a16="http://schemas.microsoft.com/office/drawing/2014/main"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1" name="TextBox 222">
                <a:extLst>
                  <a:ext uri="{FF2B5EF4-FFF2-40B4-BE49-F238E27FC236}">
                    <a16:creationId xmlns="" xmlns:a16="http://schemas.microsoft.com/office/drawing/2014/main"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grpSp>
        <p:nvGrpSpPr>
          <p:cNvPr id="108" name="群組 107"/>
          <p:cNvGrpSpPr>
            <a:grpSpLocks noChangeAspect="1"/>
          </p:cNvGrpSpPr>
          <p:nvPr/>
        </p:nvGrpSpPr>
        <p:grpSpPr>
          <a:xfrm>
            <a:off x="2643142" y="8292286"/>
            <a:ext cx="2162966" cy="1424040"/>
            <a:chOff x="8715372" y="4366006"/>
            <a:chExt cx="2162966" cy="1424040"/>
          </a:xfrm>
        </p:grpSpPr>
        <p:grpSp>
          <p:nvGrpSpPr>
            <p:cNvPr id="109" name="群組 30"/>
            <p:cNvGrpSpPr/>
            <p:nvPr/>
          </p:nvGrpSpPr>
          <p:grpSpPr>
            <a:xfrm>
              <a:off x="8715372" y="4572790"/>
              <a:ext cx="1814856" cy="1217256"/>
              <a:chOff x="15073354" y="8308668"/>
              <a:chExt cx="1814856" cy="1217256"/>
            </a:xfrm>
          </p:grpSpPr>
          <p:sp>
            <p:nvSpPr>
              <p:cNvPr id="113" name="流程圖: 程序 112"/>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smtClean="0">
                  <a:latin typeface="微軟正黑體" panose="020B0604030504040204" pitchFamily="34" charset="-120"/>
                  <a:ea typeface="微軟正黑體" panose="020B0604030504040204" pitchFamily="34" charset="-120"/>
                </a:endParaRPr>
              </a:p>
            </p:txBody>
          </p:sp>
          <p:sp>
            <p:nvSpPr>
              <p:cNvPr id="114" name="流程圖: 程序 113"/>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回覆客戶</a:t>
                </a:r>
                <a:endParaRPr lang="en-US" altLang="zh-TW" sz="1500" dirty="0" smtClean="0">
                  <a:latin typeface="微軟正黑體" panose="020B0604030504040204" pitchFamily="34" charset="-120"/>
                  <a:ea typeface="微軟正黑體" panose="020B0604030504040204" pitchFamily="34" charset="-120"/>
                </a:endParaRPr>
              </a:p>
              <a:p>
                <a:pPr algn="ctr" eaLnBrk="0" hangingPunct="0"/>
                <a:r>
                  <a:rPr lang="zh-TW" altLang="en-US" sz="1500" dirty="0" smtClean="0">
                    <a:latin typeface="微軟正黑體" panose="020B0604030504040204" pitchFamily="34" charset="-120"/>
                    <a:ea typeface="微軟正黑體" panose="020B0604030504040204" pitchFamily="34" charset="-120"/>
                  </a:rPr>
                  <a:t>後續處理方式</a:t>
                </a:r>
                <a:endParaRPr lang="zh-TW" altLang="en-US" sz="1500" dirty="0">
                  <a:latin typeface="微軟正黑體" panose="020B0604030504040204" pitchFamily="34" charset="-120"/>
                  <a:ea typeface="微軟正黑體" panose="020B0604030504040204" pitchFamily="34" charset="-120"/>
                </a:endParaRPr>
              </a:p>
            </p:txBody>
          </p:sp>
          <p:sp>
            <p:nvSpPr>
              <p:cNvPr id="115" name="流程圖: 程序 114"/>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116" name="流程圖: 程序 115"/>
              <p:cNvSpPr/>
              <p:nvPr/>
            </p:nvSpPr>
            <p:spPr>
              <a:xfrm>
                <a:off x="1600621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110" name="Group 220">
              <a:extLst>
                <a:ext uri="{FF2B5EF4-FFF2-40B4-BE49-F238E27FC236}">
                  <a16:creationId xmlns="" xmlns:a16="http://schemas.microsoft.com/office/drawing/2014/main" id="{0C75984D-876F-5104-7AA0-5996E344A44D}"/>
                </a:ext>
              </a:extLst>
            </p:cNvPr>
            <p:cNvGrpSpPr/>
            <p:nvPr/>
          </p:nvGrpSpPr>
          <p:grpSpPr>
            <a:xfrm>
              <a:off x="10344938" y="4366006"/>
              <a:ext cx="533400" cy="408605"/>
              <a:chOff x="5906184" y="1486857"/>
              <a:chExt cx="355600" cy="272361"/>
            </a:xfrm>
          </p:grpSpPr>
          <p:sp>
            <p:nvSpPr>
              <p:cNvPr id="111" name="Oval 221">
                <a:extLst>
                  <a:ext uri="{FF2B5EF4-FFF2-40B4-BE49-F238E27FC236}">
                    <a16:creationId xmlns="" xmlns:a16="http://schemas.microsoft.com/office/drawing/2014/main"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2" name="TextBox 222">
                <a:extLst>
                  <a:ext uri="{FF2B5EF4-FFF2-40B4-BE49-F238E27FC236}">
                    <a16:creationId xmlns="" xmlns:a16="http://schemas.microsoft.com/office/drawing/2014/main"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spTree>
    <p:extLst>
      <p:ext uri="{BB962C8B-B14F-4D97-AF65-F5344CB8AC3E}">
        <p14:creationId xmlns="" xmlns:p14="http://schemas.microsoft.com/office/powerpoint/2010/main" val="9177801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4875"/>
            <a:ext cx="17911883" cy="8400709"/>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a:t>
            </a:r>
          </a:p>
          <a:p>
            <a:endParaRPr lang="en-US" sz="2400" dirty="0">
              <a:solidFill>
                <a:schemeClr val="dk1"/>
              </a:solidFill>
              <a:latin typeface="Arial"/>
              <a:ea typeface="Arial"/>
              <a:cs typeface="Arial"/>
              <a:sym typeface="Arial"/>
            </a:endParaRPr>
          </a:p>
          <a:p>
            <a:r>
              <a:rPr lang="en-US" altLang="zh-TW" sz="2400" dirty="0">
                <a:solidFill>
                  <a:schemeClr val="dk1"/>
                </a:solidFill>
                <a:latin typeface="Arial"/>
                <a:ea typeface="Arial"/>
                <a:cs typeface="Arial"/>
                <a:sym typeface="Arial"/>
              </a:rPr>
              <a:t>NIKE VN </a:t>
            </a:r>
            <a:r>
              <a:rPr lang="zh-TW" altLang="en-US" sz="2400" dirty="0">
                <a:solidFill>
                  <a:schemeClr val="dk1"/>
                </a:solidFill>
                <a:latin typeface="Arial"/>
                <a:ea typeface="Arial"/>
                <a:cs typeface="Arial"/>
                <a:sym typeface="Arial"/>
              </a:rPr>
              <a:t>反饋 </a:t>
            </a:r>
            <a:r>
              <a:rPr lang="en-US" altLang="zh-TW" sz="2400" dirty="0">
                <a:solidFill>
                  <a:schemeClr val="dk1"/>
                </a:solidFill>
                <a:latin typeface="Arial"/>
                <a:ea typeface="Arial"/>
                <a:cs typeface="Arial"/>
                <a:sym typeface="Arial"/>
              </a:rPr>
              <a:t>:</a:t>
            </a:r>
            <a:endParaRPr lang="zh-TW" altLang="en-US" sz="2400" dirty="0">
              <a:solidFill>
                <a:schemeClr val="dk1"/>
              </a:solidFill>
              <a:latin typeface="Arial"/>
              <a:ea typeface="Arial"/>
              <a:cs typeface="Arial"/>
              <a:sym typeface="Arial"/>
            </a:endParaRPr>
          </a:p>
          <a:p>
            <a:r>
              <a:rPr lang="zh-TW" altLang="en-US" sz="2400" dirty="0">
                <a:solidFill>
                  <a:schemeClr val="dk1"/>
                </a:solidFill>
                <a:latin typeface="Arial"/>
                <a:ea typeface="Arial"/>
                <a:cs typeface="Arial"/>
                <a:sym typeface="Arial"/>
              </a:rPr>
              <a:t>轉出流程</a:t>
            </a:r>
          </a:p>
          <a:p>
            <a:r>
              <a:rPr lang="zh-TW" altLang="en-US" sz="2400" dirty="0">
                <a:solidFill>
                  <a:schemeClr val="dk1"/>
                </a:solidFill>
                <a:latin typeface="Arial"/>
                <a:ea typeface="Arial"/>
                <a:cs typeface="Arial"/>
                <a:sym typeface="Arial"/>
              </a:rPr>
              <a:t>步驟一，如果是轉出集團外的，會由鞋廠業務收到並轉發資訊給內部，如果是轉出到集團內的工廠，那就會由鞋廠總生管將資訊發給相關</a:t>
            </a:r>
            <a:r>
              <a:rPr lang="en-US" altLang="zh-TW" sz="2400" dirty="0">
                <a:solidFill>
                  <a:schemeClr val="dk1"/>
                </a:solidFill>
                <a:latin typeface="Arial"/>
                <a:ea typeface="Arial"/>
                <a:cs typeface="Arial"/>
                <a:sym typeface="Arial"/>
              </a:rPr>
              <a:t>­</a:t>
            </a:r>
            <a:r>
              <a:rPr lang="zh-TW" altLang="en-US" sz="2400" dirty="0">
                <a:solidFill>
                  <a:schemeClr val="dk1"/>
                </a:solidFill>
                <a:latin typeface="Arial"/>
                <a:ea typeface="Arial"/>
                <a:cs typeface="Arial"/>
                <a:sym typeface="Arial"/>
              </a:rPr>
              <a:t>單位</a:t>
            </a:r>
          </a:p>
          <a:p>
            <a:r>
              <a:rPr lang="zh-TW" altLang="en-US" sz="2400" dirty="0">
                <a:solidFill>
                  <a:schemeClr val="dk1"/>
                </a:solidFill>
                <a:latin typeface="Arial"/>
                <a:ea typeface="Arial"/>
                <a:cs typeface="Arial"/>
                <a:sym typeface="Arial"/>
              </a:rPr>
              <a:t>步驟二，現行提供樣品給轉入廠為鞋廠底部工程及底廠開發</a:t>
            </a:r>
          </a:p>
          <a:p>
            <a:r>
              <a:rPr lang="zh-TW" altLang="en-US" sz="2400" dirty="0">
                <a:solidFill>
                  <a:schemeClr val="dk1"/>
                </a:solidFill>
                <a:latin typeface="Arial"/>
                <a:ea typeface="Arial"/>
                <a:cs typeface="Arial"/>
                <a:sym typeface="Arial"/>
              </a:rPr>
              <a:t>步驟三，模具轉出申請單，現行模具倉實際管理單為底廠開發，整理模具打包也是底廠開發。</a:t>
            </a:r>
            <a:endParaRPr lang="en-US" altLang="zh-TW" sz="2400" dirty="0">
              <a:solidFill>
                <a:schemeClr val="dk1"/>
              </a:solidFill>
              <a:latin typeface="Arial"/>
              <a:ea typeface="Arial"/>
              <a:cs typeface="Arial"/>
              <a:sym typeface="Arial"/>
            </a:endParaRPr>
          </a:p>
          <a:p>
            <a:endParaRPr lang="en-US" sz="2400" dirty="0">
              <a:solidFill>
                <a:schemeClr val="dk1"/>
              </a:solidFill>
            </a:endParaRPr>
          </a:p>
          <a:p>
            <a:r>
              <a:rPr lang="zh-TW" altLang="en-US" sz="2400" dirty="0">
                <a:solidFill>
                  <a:schemeClr val="dk1"/>
                </a:solidFill>
                <a:latin typeface="Arial"/>
                <a:ea typeface="Arial"/>
                <a:cs typeface="Arial"/>
                <a:sym typeface="Arial"/>
              </a:rPr>
              <a:t>轉入流程</a:t>
            </a:r>
          </a:p>
          <a:p>
            <a:r>
              <a:rPr lang="zh-TW" altLang="en-US" sz="2400" dirty="0">
                <a:solidFill>
                  <a:schemeClr val="dk1"/>
                </a:solidFill>
                <a:latin typeface="Arial"/>
                <a:ea typeface="Arial"/>
                <a:cs typeface="Arial"/>
                <a:sym typeface="Arial"/>
              </a:rPr>
              <a:t>步驟一，如果是從集團外轉入會由鞋廠業務收到並轉發資訊給內部，如果是從集團內的工廠轉入，那就會由鞋廠總生管將資訊發給</a:t>
            </a:r>
            <a:r>
              <a:rPr lang="zh-TW" altLang="en-US" sz="2400" dirty="0" smtClean="0">
                <a:solidFill>
                  <a:schemeClr val="dk1"/>
                </a:solidFill>
                <a:latin typeface="Arial"/>
                <a:ea typeface="Arial"/>
                <a:cs typeface="Arial"/>
                <a:sym typeface="Arial"/>
              </a:rPr>
              <a:t>相關單位</a:t>
            </a:r>
            <a:endParaRPr lang="zh-TW" altLang="en-US" sz="2400" dirty="0">
              <a:solidFill>
                <a:schemeClr val="dk1"/>
              </a:solidFill>
              <a:latin typeface="Arial"/>
              <a:ea typeface="Arial"/>
              <a:cs typeface="Arial"/>
              <a:sym typeface="Arial"/>
            </a:endParaRPr>
          </a:p>
          <a:p>
            <a:r>
              <a:rPr lang="zh-TW" altLang="en-US" sz="2400" dirty="0">
                <a:solidFill>
                  <a:schemeClr val="dk1"/>
                </a:solidFill>
                <a:latin typeface="Arial"/>
                <a:ea typeface="Arial"/>
                <a:cs typeface="Arial"/>
                <a:sym typeface="Arial"/>
              </a:rPr>
              <a:t>步驟二，接受到樣品及確認樣品為底廠品保，試機會等實際模具轉入才能試</a:t>
            </a:r>
            <a:r>
              <a:rPr lang="en-US" altLang="zh-TW" sz="2400" dirty="0">
                <a:solidFill>
                  <a:schemeClr val="dk1"/>
                </a:solidFill>
                <a:latin typeface="Arial"/>
                <a:ea typeface="Arial"/>
                <a:cs typeface="Arial"/>
                <a:sym typeface="Arial"/>
              </a:rPr>
              <a:t>(</a:t>
            </a:r>
            <a:r>
              <a:rPr lang="zh-TW" altLang="en-US" sz="2400" dirty="0">
                <a:solidFill>
                  <a:schemeClr val="dk1"/>
                </a:solidFill>
                <a:latin typeface="Arial"/>
                <a:ea typeface="Arial"/>
                <a:cs typeface="Arial"/>
                <a:sym typeface="Arial"/>
              </a:rPr>
              <a:t>小批量試模為底廠開發，量產試模為底廠廠務</a:t>
            </a:r>
            <a:r>
              <a:rPr lang="en-US" altLang="zh-TW" sz="2400" dirty="0">
                <a:solidFill>
                  <a:schemeClr val="dk1"/>
                </a:solidFill>
                <a:latin typeface="Arial"/>
                <a:ea typeface="Arial"/>
                <a:cs typeface="Arial"/>
                <a:sym typeface="Arial"/>
              </a:rPr>
              <a:t>)</a:t>
            </a:r>
          </a:p>
          <a:p>
            <a:r>
              <a:rPr lang="zh-TW" altLang="en-US" sz="2400" dirty="0">
                <a:solidFill>
                  <a:schemeClr val="dk1"/>
                </a:solidFill>
                <a:latin typeface="Arial"/>
                <a:ea typeface="Arial"/>
                <a:cs typeface="Arial"/>
                <a:sym typeface="Arial"/>
              </a:rPr>
              <a:t>步驟三，模具轉入申請單，現行模具倉實際管理單為底廠開發，點收模具為底廠開發</a:t>
            </a:r>
            <a:endParaRPr lang="en-US" altLang="zh-TW" sz="2400" dirty="0">
              <a:solidFill>
                <a:schemeClr val="dk1"/>
              </a:solidFill>
              <a:latin typeface="Arial"/>
              <a:ea typeface="Arial"/>
              <a:cs typeface="Arial"/>
              <a:sym typeface="Arial"/>
            </a:endParaRPr>
          </a:p>
          <a:p>
            <a:endParaRPr lang="en-US" sz="2400" dirty="0">
              <a:solidFill>
                <a:schemeClr val="dk1"/>
              </a:solidFill>
            </a:endParaRPr>
          </a:p>
          <a:p>
            <a:r>
              <a:rPr lang="en-US" altLang="zh-CN" sz="2400" dirty="0">
                <a:solidFill>
                  <a:schemeClr val="dk1"/>
                </a:solidFill>
                <a:latin typeface="Arial"/>
                <a:ea typeface="Arial"/>
                <a:cs typeface="Arial"/>
                <a:sym typeface="Arial"/>
              </a:rPr>
              <a:t>FVN NB</a:t>
            </a:r>
            <a:r>
              <a:rPr lang="zh-CN" altLang="en-US" sz="2400" dirty="0">
                <a:solidFill>
                  <a:schemeClr val="dk1"/>
                </a:solidFill>
                <a:latin typeface="Arial"/>
                <a:ea typeface="Arial"/>
                <a:cs typeface="Arial"/>
                <a:sym typeface="Arial"/>
              </a:rPr>
              <a:t>回复意见如下，请参考：</a:t>
            </a:r>
            <a:endParaRPr lang="en-US" sz="2400" dirty="0">
              <a:solidFill>
                <a:schemeClr val="dk1"/>
              </a:solidFill>
              <a:latin typeface="Arial"/>
              <a:ea typeface="Arial"/>
              <a:cs typeface="Arial"/>
              <a:sym typeface="Arial"/>
            </a:endParaRPr>
          </a:p>
          <a:p>
            <a:r>
              <a:rPr lang="zh-TW" altLang="en-US" sz="2400" dirty="0">
                <a:solidFill>
                  <a:schemeClr val="dk1"/>
                </a:solidFill>
                <a:latin typeface="Arial"/>
                <a:ea typeface="Arial"/>
                <a:cs typeface="Arial"/>
                <a:sym typeface="Arial"/>
              </a:rPr>
              <a:t>關於轉出轉入模具</a:t>
            </a:r>
            <a:r>
              <a:rPr lang="en-US" altLang="zh-TW" sz="2400" dirty="0">
                <a:solidFill>
                  <a:schemeClr val="dk1"/>
                </a:solidFill>
                <a:latin typeface="Arial"/>
                <a:ea typeface="Arial"/>
                <a:cs typeface="Arial"/>
                <a:sym typeface="Arial"/>
              </a:rPr>
              <a:t>,   NB</a:t>
            </a:r>
            <a:r>
              <a:rPr lang="zh-TW" altLang="en-US" sz="2400" dirty="0">
                <a:solidFill>
                  <a:schemeClr val="dk1"/>
                </a:solidFill>
                <a:latin typeface="Arial"/>
                <a:ea typeface="Arial"/>
                <a:cs typeface="Arial"/>
                <a:sym typeface="Arial"/>
              </a:rPr>
              <a:t>沒有遇到過第</a:t>
            </a:r>
            <a:r>
              <a:rPr lang="en-US" altLang="zh-TW" sz="2400" dirty="0">
                <a:solidFill>
                  <a:schemeClr val="dk1"/>
                </a:solidFill>
                <a:latin typeface="Arial"/>
                <a:ea typeface="Arial"/>
                <a:cs typeface="Arial"/>
                <a:sym typeface="Arial"/>
              </a:rPr>
              <a:t>2</a:t>
            </a:r>
            <a:r>
              <a:rPr lang="zh-TW" altLang="en-US" sz="2400" dirty="0">
                <a:solidFill>
                  <a:schemeClr val="dk1"/>
                </a:solidFill>
                <a:latin typeface="Arial"/>
                <a:ea typeface="Arial"/>
                <a:cs typeface="Arial"/>
                <a:sym typeface="Arial"/>
              </a:rPr>
              <a:t>個流程</a:t>
            </a:r>
            <a:r>
              <a:rPr lang="en-US" altLang="zh-TW" sz="2400" dirty="0">
                <a:solidFill>
                  <a:schemeClr val="dk1"/>
                </a:solidFill>
                <a:latin typeface="Arial"/>
                <a:ea typeface="Arial"/>
                <a:cs typeface="Arial"/>
                <a:sym typeface="Arial"/>
              </a:rPr>
              <a:t>, </a:t>
            </a:r>
            <a:r>
              <a:rPr lang="zh-TW" altLang="en-US" sz="2400" dirty="0">
                <a:solidFill>
                  <a:schemeClr val="dk1"/>
                </a:solidFill>
                <a:latin typeface="Arial"/>
                <a:ea typeface="Arial"/>
                <a:cs typeface="Arial"/>
                <a:sym typeface="Arial"/>
              </a:rPr>
              <a:t>因為若要測試仍是需要提供模具給接收工廠才能試做</a:t>
            </a:r>
            <a:r>
              <a:rPr lang="en-US" altLang="zh-TW" sz="2400" dirty="0">
                <a:solidFill>
                  <a:schemeClr val="dk1"/>
                </a:solidFill>
                <a:latin typeface="Arial"/>
                <a:ea typeface="Arial"/>
                <a:cs typeface="Arial"/>
                <a:sym typeface="Arial"/>
              </a:rPr>
              <a:t>. </a:t>
            </a:r>
            <a:r>
              <a:rPr lang="zh-TW" altLang="en-US" sz="2400" dirty="0">
                <a:solidFill>
                  <a:schemeClr val="dk1"/>
                </a:solidFill>
                <a:latin typeface="Arial"/>
                <a:ea typeface="Arial"/>
                <a:cs typeface="Arial"/>
                <a:sym typeface="Arial"/>
              </a:rPr>
              <a:t>目前我這邊碰過的流程是收到客人轉底模通知後</a:t>
            </a:r>
            <a:r>
              <a:rPr lang="en-US" altLang="zh-TW" sz="2400" dirty="0">
                <a:solidFill>
                  <a:schemeClr val="dk1"/>
                </a:solidFill>
                <a:latin typeface="Arial"/>
                <a:ea typeface="Arial"/>
                <a:cs typeface="Arial"/>
                <a:sym typeface="Arial"/>
              </a:rPr>
              <a:t>, </a:t>
            </a:r>
            <a:r>
              <a:rPr lang="zh-TW" altLang="en-US" sz="2400" dirty="0">
                <a:solidFill>
                  <a:schemeClr val="dk1"/>
                </a:solidFill>
                <a:latin typeface="Arial"/>
                <a:ea typeface="Arial"/>
                <a:cs typeface="Arial"/>
                <a:sym typeface="Arial"/>
              </a:rPr>
              <a:t>底廠會進行確認是否仍有訂單需求</a:t>
            </a:r>
            <a:r>
              <a:rPr lang="en-US" altLang="zh-TW" sz="2400" dirty="0">
                <a:solidFill>
                  <a:schemeClr val="dk1"/>
                </a:solidFill>
                <a:latin typeface="Arial"/>
                <a:ea typeface="Arial"/>
                <a:cs typeface="Arial"/>
                <a:sym typeface="Arial"/>
              </a:rPr>
              <a:t>, </a:t>
            </a:r>
            <a:r>
              <a:rPr lang="zh-TW" altLang="en-US" sz="2400" dirty="0">
                <a:solidFill>
                  <a:schemeClr val="dk1"/>
                </a:solidFill>
                <a:latin typeface="Arial"/>
                <a:ea typeface="Arial"/>
                <a:cs typeface="Arial"/>
                <a:sym typeface="Arial"/>
              </a:rPr>
              <a:t>並提醒鞋廠採購與量產單位再做確認</a:t>
            </a:r>
            <a:r>
              <a:rPr lang="en-US" altLang="zh-TW" sz="2400" dirty="0">
                <a:solidFill>
                  <a:schemeClr val="dk1"/>
                </a:solidFill>
                <a:latin typeface="Arial"/>
                <a:ea typeface="Arial"/>
                <a:cs typeface="Arial"/>
                <a:sym typeface="Arial"/>
              </a:rPr>
              <a:t>, </a:t>
            </a:r>
            <a:r>
              <a:rPr lang="zh-TW" altLang="en-US" sz="2400" dirty="0">
                <a:solidFill>
                  <a:schemeClr val="dk1"/>
                </a:solidFill>
                <a:latin typeface="Arial"/>
                <a:ea typeface="Arial"/>
                <a:cs typeface="Arial"/>
                <a:sym typeface="Arial"/>
              </a:rPr>
              <a:t>後由底廠做出口報關打包出貨</a:t>
            </a:r>
            <a:r>
              <a:rPr lang="en-US" altLang="zh-TW" sz="2400" dirty="0">
                <a:solidFill>
                  <a:schemeClr val="dk1"/>
                </a:solidFill>
                <a:latin typeface="Arial"/>
                <a:ea typeface="Arial"/>
                <a:cs typeface="Arial"/>
                <a:sym typeface="Arial"/>
              </a:rPr>
              <a:t>. </a:t>
            </a:r>
            <a:r>
              <a:rPr lang="zh-TW" altLang="en-US" sz="2400" dirty="0">
                <a:solidFill>
                  <a:schemeClr val="dk1"/>
                </a:solidFill>
                <a:latin typeface="Arial"/>
                <a:ea typeface="Arial"/>
                <a:cs typeface="Arial"/>
                <a:sym typeface="Arial"/>
              </a:rPr>
              <a:t>轉底模的部分</a:t>
            </a:r>
            <a:r>
              <a:rPr lang="en-US" altLang="zh-TW" sz="2400" dirty="0">
                <a:solidFill>
                  <a:schemeClr val="dk1"/>
                </a:solidFill>
                <a:latin typeface="Arial"/>
                <a:ea typeface="Arial"/>
                <a:cs typeface="Arial"/>
                <a:sym typeface="Arial"/>
              </a:rPr>
              <a:t>,   </a:t>
            </a:r>
            <a:r>
              <a:rPr lang="zh-TW" altLang="en-US" sz="2400" dirty="0">
                <a:solidFill>
                  <a:schemeClr val="dk1"/>
                </a:solidFill>
                <a:latin typeface="Arial"/>
                <a:ea typeface="Arial"/>
                <a:cs typeface="Arial"/>
                <a:sym typeface="Arial"/>
              </a:rPr>
              <a:t>基本上都會由底廠主導</a:t>
            </a:r>
            <a:endParaRPr lang="en-US" sz="2400" dirty="0">
              <a:solidFill>
                <a:schemeClr val="dk1"/>
              </a:solidFill>
              <a:latin typeface="Arial"/>
              <a:ea typeface="Arial"/>
              <a:cs typeface="Arial"/>
              <a:sym typeface="Arial"/>
            </a:endParaRPr>
          </a:p>
          <a:p>
            <a:endParaRPr lang="en-US" sz="2400" dirty="0">
              <a:solidFill>
                <a:schemeClr val="dk1"/>
              </a:solidFill>
            </a:endParaRPr>
          </a:p>
          <a:p>
            <a:endParaRPr dirty="0"/>
          </a:p>
          <a:p>
            <a:endParaRPr dirty="0">
              <a:solidFill>
                <a:schemeClr val="dk1"/>
              </a:solidFill>
              <a:latin typeface="Arial"/>
              <a:ea typeface="Arial"/>
              <a:cs typeface="Arial"/>
              <a:sym typeface="Arial"/>
            </a:endParaRPr>
          </a:p>
        </p:txBody>
      </p:sp>
      <p:sp>
        <p:nvSpPr>
          <p:cNvPr id="2" name="Google Shape;38;p9">
            <a:extLst>
              <a:ext uri="{FF2B5EF4-FFF2-40B4-BE49-F238E27FC236}">
                <a16:creationId xmlns="" xmlns:a16="http://schemas.microsoft.com/office/drawing/2014/main" id="{BB8B50DC-E0A5-1E23-F0D8-2B2AC9686DBA}"/>
              </a:ext>
            </a:extLst>
          </p:cNvPr>
          <p:cNvSpPr txBox="1"/>
          <p:nvPr/>
        </p:nvSpPr>
        <p:spPr>
          <a:xfrm>
            <a:off x="15359106" y="310242"/>
            <a:ext cx="648072" cy="547772"/>
          </a:xfrm>
          <a:prstGeom prst="rect">
            <a:avLst/>
          </a:prstGeom>
          <a:noFill/>
          <a:ln>
            <a:noFill/>
          </a:ln>
        </p:spPr>
        <p:txBody>
          <a:bodyPr spcFirstLastPara="1" wrap="square" lIns="137138" tIns="68550" rIns="137138" bIns="68550" anchor="ctr" anchorCtr="0">
            <a:noAutofit/>
          </a:bodyPr>
          <a:lstStyle/>
          <a:p>
            <a:pPr algn="r"/>
            <a:r>
              <a:rPr lang="en-US" sz="1500" dirty="0">
                <a:solidFill>
                  <a:srgbClr val="888888"/>
                </a:solidFill>
              </a:rPr>
              <a:t>3</a:t>
            </a:r>
            <a:endParaRPr sz="1500" dirty="0">
              <a:solidFill>
                <a:srgbClr val="888888"/>
              </a:solidFill>
              <a:latin typeface="Arial"/>
              <a:ea typeface="Arial"/>
              <a:cs typeface="Arial"/>
              <a:sym typeface="Arial"/>
            </a:endParaRPr>
          </a:p>
        </p:txBody>
      </p:sp>
      <p:sp>
        <p:nvSpPr>
          <p:cNvPr id="4" name="文字方塊 3">
            <a:extLst>
              <a:ext uri="{FF2B5EF4-FFF2-40B4-BE49-F238E27FC236}">
                <a16:creationId xmlns="" xmlns:a16="http://schemas.microsoft.com/office/drawing/2014/main"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a:t>
            </a:r>
            <a:r>
              <a:rPr lang="en-US" altLang="zh-TW" b="1" dirty="0">
                <a:latin typeface="微軟正黑體" panose="020B0604030504040204" pitchFamily="34" charset="-120"/>
                <a:ea typeface="微軟正黑體" panose="020B0604030504040204" pitchFamily="34" charset="-120"/>
              </a:rPr>
              <a:t>24</a:t>
            </a:r>
            <a:r>
              <a:rPr kumimoji="0" lang="en-US" altLang="zh-TW" b="1" dirty="0">
                <a:latin typeface="微軟正黑體" panose="020B0604030504040204" pitchFamily="34" charset="-120"/>
                <a:ea typeface="微軟正黑體" panose="020B0604030504040204" pitchFamily="34" charset="-120"/>
              </a:rPr>
              <a:t>0</a:t>
            </a:r>
            <a:r>
              <a:rPr lang="zh-TW" altLang="en-US" b="1" dirty="0">
                <a:latin typeface="微軟正黑體" panose="020B0604030504040204" pitchFamily="34" charset="-120"/>
                <a:ea typeface="微軟正黑體" panose="020B0604030504040204" pitchFamily="34" charset="-120"/>
              </a:rPr>
              <a:t>模具轉出轉入作業</a:t>
            </a:r>
            <a:r>
              <a:rPr lang="zh-TW" altLang="en-US" b="1" dirty="0" smtClean="0">
                <a:latin typeface="微軟正黑體" panose="020B0604030504040204" pitchFamily="34" charset="-120"/>
                <a:ea typeface="微軟正黑體" panose="020B0604030504040204" pitchFamily="34" charset="-120"/>
              </a:rPr>
              <a:t>流程</a:t>
            </a:r>
            <a:endParaRPr kumimoji="0" lang="zh-TW" altLang="en-US" b="1" dirty="0">
              <a:latin typeface="微軟正黑體" panose="020B0604030504040204" pitchFamily="34" charset="-120"/>
              <a:ea typeface="微軟正黑體" panose="020B0604030504040204" pitchFamily="34" charset="-12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graphicFrame>
        <p:nvGraphicFramePr>
          <p:cNvPr id="2981" name="表格 30"/>
          <p:cNvGraphicFramePr/>
          <p:nvPr/>
        </p:nvGraphicFramePr>
        <p:xfrm>
          <a:off x="3242520" y="300240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a:solidFill>
                  <a:schemeClr val="dk1"/>
                </a:solidFill>
                <a:latin typeface="微軟正黑體"/>
                <a:ea typeface="微軟正黑體"/>
              </a:rPr>
              <a:t>XXX-001-02</a:t>
            </a:r>
            <a:endParaRPr lang="en-US" sz="1500" b="0" strike="noStrike" spc="-1">
              <a:solidFill>
                <a:srgbClr val="000000"/>
              </a:solidFill>
              <a:latin typeface="Calibri"/>
            </a:endParaRPr>
          </a:p>
          <a:p>
            <a:pPr algn="ctr" defTabSz="457200">
              <a:lnSpc>
                <a:spcPct val="100000"/>
              </a:lnSpc>
            </a:pPr>
            <a:r>
              <a:rPr lang="en-US" sz="1500" b="0" strike="noStrike" spc="-1">
                <a:solidFill>
                  <a:schemeClr val="dk1"/>
                </a:solidFill>
                <a:latin typeface="微軟正黑體"/>
                <a:ea typeface="微軟正黑體"/>
              </a:rPr>
              <a:t>XXX</a:t>
            </a:r>
            <a:r>
              <a:rPr lang="zh-TW" sz="1500" b="0" strike="noStrike" spc="-1">
                <a:solidFill>
                  <a:schemeClr val="dk1"/>
                </a:solidFill>
                <a:latin typeface="微軟正黑體"/>
                <a:ea typeface="微軟正黑體"/>
              </a:rPr>
              <a:t>作業流程</a:t>
            </a:r>
            <a:endParaRPr lang="en-US" sz="1500" b="0" strike="noStrike" spc="-1">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aphicFrame>
        <p:nvGraphicFramePr>
          <p:cNvPr id="2994" name="表格 30"/>
          <p:cNvGraphicFramePr/>
          <p:nvPr/>
        </p:nvGraphicFramePr>
        <p:xfrm>
          <a:off x="3242520" y="811944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16025</TotalTime>
  <Words>1113</Words>
  <Application>Collabora_Office/23.05.5.4$Linux_X86_64 LibreOffice_project/1681200a96e5ffa1bee996c23ec760042f91abfa</Application>
  <PresentationFormat>自訂</PresentationFormat>
  <Paragraphs>229</Paragraphs>
  <Slides>8</Slides>
  <Notes>4</Notes>
  <HiddenSlides>0</HiddenSlides>
  <MMClips>0</MMClips>
  <ScaleCrop>false</ScaleCrop>
  <HeadingPairs>
    <vt:vector size="4" baseType="variant">
      <vt:variant>
        <vt:lpstr>佈景主題</vt:lpstr>
      </vt:variant>
      <vt:variant>
        <vt:i4>5</vt:i4>
      </vt:variant>
      <vt:variant>
        <vt:lpstr>投影片標題</vt:lpstr>
      </vt:variant>
      <vt:variant>
        <vt:i4>8</vt:i4>
      </vt:variant>
    </vt:vector>
  </HeadingPairs>
  <TitlesOfParts>
    <vt:vector size="13" baseType="lpstr">
      <vt:lpstr>Office 2013 - 2022 Theme</vt:lpstr>
      <vt:lpstr>Office 2013 - 2022 Theme</vt:lpstr>
      <vt:lpstr>Office 2013 - 2022 Theme</vt:lpstr>
      <vt:lpstr>Office 2013 - 2022 Theme</vt:lpstr>
      <vt:lpstr>Office 2013 - 2022 Theme</vt:lpstr>
      <vt:lpstr>投影片 1</vt:lpstr>
      <vt:lpstr>投影片 2</vt:lpstr>
      <vt:lpstr>投影片 3</vt:lpstr>
      <vt:lpstr>投影片 4</vt:lpstr>
      <vt:lpstr>投影片 5</vt:lpstr>
      <vt:lpstr>投影片 6</vt:lpstr>
      <vt:lpstr>投影片 7</vt:lpstr>
      <vt:lpstr>投影片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136</cp:revision>
  <dcterms:created xsi:type="dcterms:W3CDTF">2023-05-31T01:27:04Z</dcterms:created>
  <dcterms:modified xsi:type="dcterms:W3CDTF">2025-07-10T05:33:00Z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