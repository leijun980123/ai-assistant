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4"/>
  </p:notesMasterIdLst>
  <p:sldIdLst>
    <p:sldId id="256" r:id="rId6"/>
    <p:sldId id="257" r:id="rId7"/>
    <p:sldId id="258" r:id="rId8"/>
    <p:sldId id="300" r:id="rId9"/>
    <p:sldId id="301" r:id="rId10"/>
    <p:sldId id="302" r:id="rId11"/>
    <p:sldId id="263" r:id="rId12"/>
    <p:sldId id="264" r:id="rId13"/>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0" autoAdjust="0"/>
    <p:restoredTop sz="94737" autoAdjust="0"/>
  </p:normalViewPr>
  <p:slideViewPr>
    <p:cSldViewPr>
      <p:cViewPr>
        <p:scale>
          <a:sx n="50" d="100"/>
          <a:sy n="50" d="100"/>
        </p:scale>
        <p:origin x="-228" y="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625143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5" Type="http://schemas.openxmlformats.org/officeDocument/2006/relationships/image" Target="../media/image3.png"/><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MM-IM-0100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盤點作業流程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v2.2</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smtClean="0">
                          <a:solidFill>
                            <a:srgbClr val="000000"/>
                          </a:solidFill>
                          <a:latin typeface="Calibri"/>
                        </a:rPr>
                        <a:t>2.1</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smtClean="0">
                          <a:solidFill>
                            <a:srgbClr val="000000"/>
                          </a:solidFill>
                          <a:latin typeface="Calibri"/>
                        </a:rPr>
                        <a:t>修改盤點文件傳遞說明</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2025/07/18</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2.2</a:t>
                      </a:r>
                      <a:endParaRPr lang="en-US" sz="1800" b="0" strike="noStrike" spc="-1" dirty="0">
                        <a:solidFill>
                          <a:srgbClr val="000000"/>
                        </a:solidFill>
                        <a:latin typeface="Calibri"/>
                      </a:endParaRPr>
                    </a:p>
                  </a:txBody>
                  <a:tcPr marL="102600" marR="102600" anchor="ctr">
                    <a:lnL w="12240">
                      <a:solidFill>
                        <a:srgbClr val="FFFFFF"/>
                      </a:solidFill>
                      <a:prstDash val="solid"/>
                    </a:lnL>
                    <a:lnR w="12240" cap="flat" cmpd="sng" algn="ctr">
                      <a:solidFill>
                        <a:srgbClr val="FFFFFF"/>
                      </a:solidFill>
                      <a:prstDash val="solid"/>
                      <a:round/>
                      <a:headEnd type="none" w="med" len="med"/>
                      <a:tailEnd type="none" w="med" len="me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smtClean="0">
                          <a:solidFill>
                            <a:srgbClr val="000000"/>
                          </a:solidFill>
                          <a:latin typeface="Calibri"/>
                        </a:rPr>
                        <a:t>修改步驟編號錯誤和說明</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2025/07/21</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姓名 與 職稱</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b="1" spc="-1" dirty="0" smtClean="0">
                <a:solidFill>
                  <a:schemeClr val="dk1"/>
                </a:solidFill>
                <a:latin typeface="Microsoft JhengHei"/>
                <a:ea typeface="Microsoft JhengHei"/>
              </a:rPr>
              <a:t>MM-IM-0100 </a:t>
            </a:r>
            <a:r>
              <a:rPr lang="zh-TW" altLang="en-US" sz="2400" b="1" spc="-1" dirty="0" smtClean="0">
                <a:solidFill>
                  <a:schemeClr val="dk1"/>
                </a:solidFill>
                <a:latin typeface="Microsoft JhengHei"/>
                <a:ea typeface="Microsoft JhengHei"/>
              </a:rPr>
              <a:t>盤點作業流程</a:t>
            </a:r>
            <a:endParaRPr lang="en-US" sz="2400" b="1" strike="noStrike" spc="-1" dirty="0">
              <a:solidFill>
                <a:srgbClr val="000000"/>
              </a:solidFill>
              <a:latin typeface="Calibri"/>
            </a:endParaRPr>
          </a:p>
        </p:txBody>
      </p:sp>
      <p:sp>
        <p:nvSpPr>
          <p:cNvPr id="7" name="矩形 6"/>
          <p:cNvSpPr/>
          <p:nvPr/>
        </p:nvSpPr>
        <p:spPr>
          <a:xfrm>
            <a:off x="16703238" y="702996"/>
            <a:ext cx="1299074" cy="369332"/>
          </a:xfrm>
          <a:prstGeom prst="rect">
            <a:avLst/>
          </a:prstGeom>
        </p:spPr>
        <p:txBody>
          <a:bodyPr wrap="none">
            <a:spAutoFit/>
          </a:bodyPr>
          <a:lstStyle/>
          <a:p>
            <a:pPr algn="ctr" defTabSz="1371600">
              <a:lnSpc>
                <a:spcPct val="100000"/>
              </a:lnSpc>
              <a:tabLst>
                <a:tab pos="0" algn="l"/>
              </a:tabLst>
            </a:pPr>
            <a:r>
              <a:rPr lang="en-US" spc="-1" dirty="0" smtClean="0">
                <a:solidFill>
                  <a:srgbClr val="000000"/>
                </a:solidFill>
              </a:rPr>
              <a:t>2025/07/21</a:t>
            </a:r>
            <a:endParaRPr lang="en-US" spc="-1" dirty="0">
              <a:solidFill>
                <a:srgbClr val="000000"/>
              </a:solidFil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413248" y="228375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例行性作業</a:t>
            </a:r>
          </a:p>
        </p:txBody>
      </p:sp>
      <p:grpSp>
        <p:nvGrpSpPr>
          <p:cNvPr id="3" name="Group 220">
            <a:extLst>
              <a:ext uri="{FF2B5EF4-FFF2-40B4-BE49-F238E27FC236}">
                <a16:creationId xmlns="" xmlns:a16="http://schemas.microsoft.com/office/drawing/2014/main" id="{A9B401BC-DE49-5FC0-6565-D216316A23DA}"/>
              </a:ext>
            </a:extLst>
          </p:cNvPr>
          <p:cNvGrpSpPr/>
          <p:nvPr/>
        </p:nvGrpSpPr>
        <p:grpSpPr>
          <a:xfrm>
            <a:off x="1801124" y="1983422"/>
            <a:ext cx="533400" cy="408605"/>
            <a:chOff x="5906184" y="1486857"/>
            <a:chExt cx="355600" cy="272361"/>
          </a:xfrm>
        </p:grpSpPr>
        <p:sp>
          <p:nvSpPr>
            <p:cNvPr id="4"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6" name="Straight Connector 284">
            <a:extLst>
              <a:ext uri="{FF2B5EF4-FFF2-40B4-BE49-F238E27FC236}">
                <a16:creationId xmlns="" xmlns:a16="http://schemas.microsoft.com/office/drawing/2014/main" id="{9B19B4BF-9599-B835-12D9-B67512228A7B}"/>
              </a:ext>
            </a:extLst>
          </p:cNvPr>
          <p:cNvCxnSpPr>
            <a:cxnSpLocks/>
          </p:cNvCxnSpPr>
          <p:nvPr/>
        </p:nvCxnSpPr>
        <p:spPr>
          <a:xfrm>
            <a:off x="7560008" y="1390167"/>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4847481"/>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倉管人員平常例行性倉庫庫存管理，查詢庫存帳面數與實際的數量是否有一致。</a:t>
            </a:r>
            <a:endParaRPr lang="en-US" altLang="zh-TW" dirty="0"/>
          </a:p>
          <a:p>
            <a:pPr marL="342900" indent="-342900">
              <a:buFont typeface="+mj-lt"/>
              <a:buAutoNum type="arabicPeriod"/>
            </a:pPr>
            <a:r>
              <a:rPr lang="zh-TW" altLang="en-US" dirty="0"/>
              <a:t>倉管人員查詢庫存報表，下載庫存明細表，依據庫存明細表去檢點實際庫存量或庫存卡。</a:t>
            </a:r>
            <a:endParaRPr lang="en-US" altLang="zh-TW" dirty="0"/>
          </a:p>
          <a:p>
            <a:pPr marL="342900" indent="-342900">
              <a:buFont typeface="+mj-lt"/>
              <a:buAutoNum type="arabicPeriod"/>
            </a:pPr>
            <a:r>
              <a:rPr lang="zh-TW" altLang="en-US" dirty="0"/>
              <a:t>當庫存的帳面數與實際數有差異時則須要找出差異原因</a:t>
            </a:r>
            <a:r>
              <a:rPr lang="en-US" altLang="zh-TW" dirty="0"/>
              <a:t>(</a:t>
            </a:r>
            <a:r>
              <a:rPr lang="zh-TW" altLang="en-US" dirty="0"/>
              <a:t>領錯料</a:t>
            </a:r>
            <a:r>
              <a:rPr lang="en-US" altLang="zh-TW" dirty="0"/>
              <a:t>/</a:t>
            </a:r>
            <a:r>
              <a:rPr lang="zh-TW" altLang="en-US" dirty="0"/>
              <a:t>不良品</a:t>
            </a:r>
            <a:r>
              <a:rPr lang="en-US" altLang="zh-TW" dirty="0"/>
              <a:t>/</a:t>
            </a:r>
            <a:r>
              <a:rPr lang="zh-TW" altLang="en-US" dirty="0"/>
              <a:t>入錯倉</a:t>
            </a:r>
            <a:r>
              <a:rPr lang="en-US" altLang="zh-TW" dirty="0"/>
              <a:t>…..)</a:t>
            </a:r>
            <a:r>
              <a:rPr lang="zh-TW" altLang="en-US" dirty="0"/>
              <a:t>，並呈報主管簽核，可先記錄後待後續年度盤點或月季度盤點時再執行盤盈虧過帳，第</a:t>
            </a:r>
            <a:r>
              <a:rPr lang="en-US" altLang="zh-TW" dirty="0"/>
              <a:t>2</a:t>
            </a:r>
            <a:r>
              <a:rPr lang="zh-TW" altLang="en-US" dirty="0"/>
              <a:t>頁流程。</a:t>
            </a:r>
            <a:endParaRPr lang="en-US" altLang="zh-TW" dirty="0"/>
          </a:p>
          <a:p>
            <a:pPr marL="342900" indent="-342900">
              <a:buFont typeface="+mj-lt"/>
              <a:buAutoNum type="arabicPeriod"/>
            </a:pPr>
            <a:r>
              <a:rPr lang="zh-TW" altLang="en-US" dirty="0"/>
              <a:t>當庫存正確，也把庫存明細表交給主管複核。</a:t>
            </a:r>
            <a:endParaRPr lang="en-US" altLang="zh-TW" dirty="0"/>
          </a:p>
          <a:p>
            <a:endParaRPr lang="en-US" altLang="zh-TW" dirty="0"/>
          </a:p>
          <a:p>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4121971" y="1374729"/>
            <a:ext cx="1853246" cy="400110"/>
          </a:xfrm>
          <a:prstGeom prst="rect">
            <a:avLst/>
          </a:prstGeom>
          <a:noFill/>
        </p:spPr>
        <p:txBody>
          <a:bodyPr wrap="square" lIns="137160" tIns="68580" rIns="137160" bIns="68580" rtlCol="0">
            <a:spAutoFit/>
          </a:bodyPr>
          <a:lstStyle/>
          <a:p>
            <a:pPr algn="ctr"/>
            <a:r>
              <a:rPr lang="zh-TW" altLang="en-US" sz="1700" dirty="0"/>
              <a:t>倉管人員</a:t>
            </a:r>
          </a:p>
        </p:txBody>
      </p:sp>
      <p:graphicFrame>
        <p:nvGraphicFramePr>
          <p:cNvPr id="10" name="表格 30">
            <a:extLst>
              <a:ext uri="{FF2B5EF4-FFF2-40B4-BE49-F238E27FC236}">
                <a16:creationId xmlns="" xmlns:a16="http://schemas.microsoft.com/office/drawing/2014/main" id="{560E075C-2049-BB70-8393-BAD2317E0F8A}"/>
              </a:ext>
            </a:extLst>
          </p:cNvPr>
          <p:cNvGraphicFramePr>
            <a:graphicFrameLocks noGrp="1"/>
          </p:cNvGraphicFramePr>
          <p:nvPr>
            <p:extLst>
              <p:ext uri="{D42A27DB-BD31-4B8C-83A1-F6EECF244321}">
                <p14:modId xmlns="" xmlns:p14="http://schemas.microsoft.com/office/powerpoint/2010/main" val="2411816194"/>
              </p:ext>
            </p:extLst>
          </p:nvPr>
        </p:nvGraphicFramePr>
        <p:xfrm>
          <a:off x="3499406" y="2171017"/>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MB52</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查詢庫存報表</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1" name="肘形接點 68">
            <a:extLst>
              <a:ext uri="{FF2B5EF4-FFF2-40B4-BE49-F238E27FC236}">
                <a16:creationId xmlns="" xmlns:a16="http://schemas.microsoft.com/office/drawing/2014/main" id="{24024915-9D25-B9A4-2836-72F0277283A4}"/>
              </a:ext>
            </a:extLst>
          </p:cNvPr>
          <p:cNvCxnSpPr>
            <a:cxnSpLocks/>
            <a:stCxn id="2" idx="3"/>
            <a:endCxn id="10" idx="1"/>
          </p:cNvCxnSpPr>
          <p:nvPr/>
        </p:nvCxnSpPr>
        <p:spPr>
          <a:xfrm>
            <a:off x="2211080" y="2675034"/>
            <a:ext cx="1288326" cy="96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4" name="流程圖: 文件 42">
            <a:extLst>
              <a:ext uri="{FF2B5EF4-FFF2-40B4-BE49-F238E27FC236}">
                <a16:creationId xmlns="" xmlns:a16="http://schemas.microsoft.com/office/drawing/2014/main" id="{AD8F574D-DD78-EB00-0EE1-D8329CF831D8}"/>
              </a:ext>
            </a:extLst>
          </p:cNvPr>
          <p:cNvSpPr/>
          <p:nvPr/>
        </p:nvSpPr>
        <p:spPr bwMode="auto">
          <a:xfrm>
            <a:off x="5156465" y="2970445"/>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庫存明細表</a:t>
            </a:r>
          </a:p>
        </p:txBody>
      </p:sp>
      <p:cxnSp>
        <p:nvCxnSpPr>
          <p:cNvPr id="15" name="肘形接點 68">
            <a:extLst>
              <a:ext uri="{FF2B5EF4-FFF2-40B4-BE49-F238E27FC236}">
                <a16:creationId xmlns="" xmlns:a16="http://schemas.microsoft.com/office/drawing/2014/main" id="{50298082-2249-A57B-0312-6046B31E2EBB}"/>
              </a:ext>
            </a:extLst>
          </p:cNvPr>
          <p:cNvCxnSpPr>
            <a:cxnSpLocks/>
            <a:stCxn id="10" idx="2"/>
            <a:endCxn id="19" idx="0"/>
          </p:cNvCxnSpPr>
          <p:nvPr/>
        </p:nvCxnSpPr>
        <p:spPr>
          <a:xfrm rot="16200000" flipH="1">
            <a:off x="4098298" y="3480996"/>
            <a:ext cx="608729" cy="868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9" name="表格 30">
            <a:extLst>
              <a:ext uri="{FF2B5EF4-FFF2-40B4-BE49-F238E27FC236}">
                <a16:creationId xmlns="" xmlns:a16="http://schemas.microsoft.com/office/drawing/2014/main" id="{407BD284-C1F1-CA6D-034C-197B58128E00}"/>
              </a:ext>
            </a:extLst>
          </p:cNvPr>
          <p:cNvGraphicFramePr>
            <a:graphicFrameLocks noGrp="1"/>
          </p:cNvGraphicFramePr>
          <p:nvPr>
            <p:extLst>
              <p:ext uri="{D42A27DB-BD31-4B8C-83A1-F6EECF244321}">
                <p14:modId xmlns="" xmlns:p14="http://schemas.microsoft.com/office/powerpoint/2010/main" val="192146259"/>
              </p:ext>
            </p:extLst>
          </p:nvPr>
        </p:nvGraphicFramePr>
        <p:xfrm>
          <a:off x="3508088" y="3789702"/>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執行倉庫檢點</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35" name="流程圖: 決策 50">
            <a:extLst>
              <a:ext uri="{FF2B5EF4-FFF2-40B4-BE49-F238E27FC236}">
                <a16:creationId xmlns="" xmlns:a16="http://schemas.microsoft.com/office/drawing/2014/main" id="{9DE72E6E-67CF-352B-9B24-05464AA90E73}"/>
              </a:ext>
            </a:extLst>
          </p:cNvPr>
          <p:cNvSpPr/>
          <p:nvPr/>
        </p:nvSpPr>
        <p:spPr bwMode="auto">
          <a:xfrm>
            <a:off x="3626372" y="5116314"/>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是否有庫存</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差異</a:t>
            </a:r>
            <a:r>
              <a:rPr lang="en-US" altLang="zh-TW" sz="1500" dirty="0">
                <a:latin typeface="微軟正黑體" panose="020B0604030504040204" pitchFamily="34" charset="-120"/>
                <a:ea typeface="微軟正黑體" panose="020B0604030504040204" pitchFamily="34" charset="-120"/>
              </a:rPr>
              <a:t>?</a:t>
            </a:r>
          </a:p>
        </p:txBody>
      </p:sp>
      <p:cxnSp>
        <p:nvCxnSpPr>
          <p:cNvPr id="36" name="肘形接點 68">
            <a:extLst>
              <a:ext uri="{FF2B5EF4-FFF2-40B4-BE49-F238E27FC236}">
                <a16:creationId xmlns="" xmlns:a16="http://schemas.microsoft.com/office/drawing/2014/main" id="{F2933EBA-E849-E414-1234-E8D986564A8B}"/>
              </a:ext>
            </a:extLst>
          </p:cNvPr>
          <p:cNvCxnSpPr>
            <a:cxnSpLocks/>
            <a:stCxn id="19" idx="2"/>
            <a:endCxn id="35" idx="0"/>
          </p:cNvCxnSpPr>
          <p:nvPr/>
        </p:nvCxnSpPr>
        <p:spPr>
          <a:xfrm rot="16200000" flipH="1">
            <a:off x="4251193" y="4955467"/>
            <a:ext cx="316655" cy="503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47" name="表格 30">
            <a:extLst>
              <a:ext uri="{FF2B5EF4-FFF2-40B4-BE49-F238E27FC236}">
                <a16:creationId xmlns="" xmlns:a16="http://schemas.microsoft.com/office/drawing/2014/main" id="{D5B7244A-E133-7819-4878-8BECD3916B81}"/>
              </a:ext>
            </a:extLst>
          </p:cNvPr>
          <p:cNvGraphicFramePr>
            <a:graphicFrameLocks noGrp="1"/>
          </p:cNvGraphicFramePr>
          <p:nvPr>
            <p:extLst>
              <p:ext uri="{D42A27DB-BD31-4B8C-83A1-F6EECF244321}">
                <p14:modId xmlns="" xmlns:p14="http://schemas.microsoft.com/office/powerpoint/2010/main" val="4257313281"/>
              </p:ext>
            </p:extLst>
          </p:nvPr>
        </p:nvGraphicFramePr>
        <p:xfrm>
          <a:off x="3520187" y="6673789"/>
          <a:ext cx="1797828" cy="1238591"/>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分析差異原因並調整</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48" name="文字方塊 17">
            <a:extLst>
              <a:ext uri="{FF2B5EF4-FFF2-40B4-BE49-F238E27FC236}">
                <a16:creationId xmlns="" xmlns:a16="http://schemas.microsoft.com/office/drawing/2014/main" id="{0F2761B4-5F29-64DD-1721-5831D073894C}"/>
              </a:ext>
            </a:extLst>
          </p:cNvPr>
          <p:cNvSpPr txBox="1"/>
          <p:nvPr/>
        </p:nvSpPr>
        <p:spPr>
          <a:xfrm>
            <a:off x="9011059" y="1390165"/>
            <a:ext cx="1853246" cy="400110"/>
          </a:xfrm>
          <a:prstGeom prst="rect">
            <a:avLst/>
          </a:prstGeom>
          <a:noFill/>
        </p:spPr>
        <p:txBody>
          <a:bodyPr wrap="square" lIns="137160" tIns="68580" rIns="137160" bIns="68580" rtlCol="0">
            <a:spAutoFit/>
          </a:bodyPr>
          <a:lstStyle/>
          <a:p>
            <a:pPr algn="ctr"/>
            <a:r>
              <a:rPr lang="zh-TW" altLang="en-US" sz="1700" dirty="0"/>
              <a:t>倉管主管</a:t>
            </a:r>
          </a:p>
        </p:txBody>
      </p:sp>
      <p:sp>
        <p:nvSpPr>
          <p:cNvPr id="50" name="TextBox 46">
            <a:extLst>
              <a:ext uri="{FF2B5EF4-FFF2-40B4-BE49-F238E27FC236}">
                <a16:creationId xmlns="" xmlns:a16="http://schemas.microsoft.com/office/drawing/2014/main" id="{59629F4D-8B89-1A4F-E2BF-A8F7EB2B7338}"/>
              </a:ext>
            </a:extLst>
          </p:cNvPr>
          <p:cNvSpPr txBox="1"/>
          <p:nvPr/>
        </p:nvSpPr>
        <p:spPr>
          <a:xfrm>
            <a:off x="4458816" y="6052298"/>
            <a:ext cx="404262" cy="369389"/>
          </a:xfrm>
          <a:prstGeom prst="rect">
            <a:avLst/>
          </a:prstGeom>
          <a:noFill/>
        </p:spPr>
        <p:txBody>
          <a:bodyPr wrap="square" lIns="137160" tIns="68580" rIns="137160" bIns="68580" rtlCol="0">
            <a:spAutoFit/>
          </a:bodyPr>
          <a:lstStyle/>
          <a:p>
            <a:r>
              <a:rPr lang="zh-TW" altLang="en-US" sz="1500" dirty="0"/>
              <a:t>是</a:t>
            </a:r>
          </a:p>
        </p:txBody>
      </p:sp>
      <p:sp>
        <p:nvSpPr>
          <p:cNvPr id="51" name="TextBox 46">
            <a:extLst>
              <a:ext uri="{FF2B5EF4-FFF2-40B4-BE49-F238E27FC236}">
                <a16:creationId xmlns="" xmlns:a16="http://schemas.microsoft.com/office/drawing/2014/main" id="{79EC02E9-106E-EB7B-657B-ACDB16266DAF}"/>
              </a:ext>
            </a:extLst>
          </p:cNvPr>
          <p:cNvSpPr txBox="1"/>
          <p:nvPr/>
        </p:nvSpPr>
        <p:spPr>
          <a:xfrm>
            <a:off x="5417647" y="5073827"/>
            <a:ext cx="318977" cy="369389"/>
          </a:xfrm>
          <a:prstGeom prst="rect">
            <a:avLst/>
          </a:prstGeom>
          <a:noFill/>
        </p:spPr>
        <p:txBody>
          <a:bodyPr wrap="square" lIns="137160" tIns="68580" rIns="137160" bIns="68580" rtlCol="0">
            <a:spAutoFit/>
          </a:bodyPr>
          <a:lstStyle/>
          <a:p>
            <a:r>
              <a:rPr lang="zh-TW" altLang="en-US" sz="1500" dirty="0"/>
              <a:t>否</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MM-IM-0100</a:t>
            </a:r>
            <a:r>
              <a:rPr kumimoji="0" lang="zh-TW" altLang="en-US" b="1" dirty="0">
                <a:latin typeface="微軟正黑體" panose="020B0604030504040204" pitchFamily="34" charset="-120"/>
                <a:ea typeface="微軟正黑體" panose="020B0604030504040204" pitchFamily="34" charset="-120"/>
              </a:rPr>
              <a:t>盤點作業流程</a:t>
            </a:r>
            <a:r>
              <a:rPr kumimoji="0"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例</a:t>
            </a:r>
            <a:r>
              <a:rPr kumimoji="0" lang="zh-TW" altLang="en-US" b="1" dirty="0">
                <a:latin typeface="微軟正黑體" panose="020B0604030504040204" pitchFamily="34" charset="-120"/>
                <a:ea typeface="微軟正黑體" panose="020B0604030504040204" pitchFamily="34" charset="-120"/>
              </a:rPr>
              <a:t>行性</a:t>
            </a:r>
            <a:r>
              <a:rPr lang="zh-TW" altLang="en-US" b="1" dirty="0">
                <a:latin typeface="微軟正黑體" panose="020B0604030504040204" pitchFamily="34" charset="-120"/>
                <a:ea typeface="微軟正黑體" panose="020B0604030504040204" pitchFamily="34" charset="-120"/>
              </a:rPr>
              <a:t>作業</a:t>
            </a:r>
            <a:r>
              <a:rPr kumimoji="0"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193" name="肘形接點 68">
            <a:extLst>
              <a:ext uri="{FF2B5EF4-FFF2-40B4-BE49-F238E27FC236}">
                <a16:creationId xmlns="" xmlns:a16="http://schemas.microsoft.com/office/drawing/2014/main" id="{B894933E-1E1E-6598-D689-0B2601C139A5}"/>
              </a:ext>
            </a:extLst>
          </p:cNvPr>
          <p:cNvCxnSpPr>
            <a:cxnSpLocks/>
            <a:stCxn id="35" idx="2"/>
            <a:endCxn id="47" idx="0"/>
          </p:cNvCxnSpPr>
          <p:nvPr/>
        </p:nvCxnSpPr>
        <p:spPr>
          <a:xfrm rot="16200000" flipH="1">
            <a:off x="4067867" y="6322556"/>
            <a:ext cx="695402" cy="706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3" name="Group 220">
            <a:extLst>
              <a:ext uri="{FF2B5EF4-FFF2-40B4-BE49-F238E27FC236}">
                <a16:creationId xmlns="" xmlns:a16="http://schemas.microsoft.com/office/drawing/2014/main" id="{AD2FB0C7-15BF-116F-2999-F5E87FA69A6A}"/>
              </a:ext>
            </a:extLst>
          </p:cNvPr>
          <p:cNvGrpSpPr/>
          <p:nvPr/>
        </p:nvGrpSpPr>
        <p:grpSpPr>
          <a:xfrm>
            <a:off x="4995789" y="1958124"/>
            <a:ext cx="533400" cy="408605"/>
            <a:chOff x="5906184" y="1486857"/>
            <a:chExt cx="355600" cy="272361"/>
          </a:xfrm>
        </p:grpSpPr>
        <p:sp>
          <p:nvSpPr>
            <p:cNvPr id="201" name="Oval 221">
              <a:extLst>
                <a:ext uri="{FF2B5EF4-FFF2-40B4-BE49-F238E27FC236}">
                  <a16:creationId xmlns="" xmlns:a16="http://schemas.microsoft.com/office/drawing/2014/main" id="{8B1186DF-BEFD-FB5C-1AEF-1CFFBEF8123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2" name="TextBox 222">
              <a:extLst>
                <a:ext uri="{FF2B5EF4-FFF2-40B4-BE49-F238E27FC236}">
                  <a16:creationId xmlns="" xmlns:a16="http://schemas.microsoft.com/office/drawing/2014/main" id="{83892820-3993-4C09-6D6E-4C64B4846F9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5" name="流程圖: 結束點 204">
            <a:extLst>
              <a:ext uri="{FF2B5EF4-FFF2-40B4-BE49-F238E27FC236}">
                <a16:creationId xmlns="" xmlns:a16="http://schemas.microsoft.com/office/drawing/2014/main" id="{AF6DEB4F-42E0-79A4-1C86-971AEA2097AF}"/>
              </a:ext>
            </a:extLst>
          </p:cNvPr>
          <p:cNvSpPr/>
          <p:nvPr/>
        </p:nvSpPr>
        <p:spPr bwMode="auto">
          <a:xfrm>
            <a:off x="12192962" y="8475053"/>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pSp>
        <p:nvGrpSpPr>
          <p:cNvPr id="16" name="Group 220">
            <a:extLst>
              <a:ext uri="{FF2B5EF4-FFF2-40B4-BE49-F238E27FC236}">
                <a16:creationId xmlns="" xmlns:a16="http://schemas.microsoft.com/office/drawing/2014/main" id="{EE2EFB62-64E8-A5E0-F94F-0FA2D59292D5}"/>
              </a:ext>
            </a:extLst>
          </p:cNvPr>
          <p:cNvGrpSpPr/>
          <p:nvPr/>
        </p:nvGrpSpPr>
        <p:grpSpPr>
          <a:xfrm>
            <a:off x="5163270" y="6531443"/>
            <a:ext cx="533400" cy="408605"/>
            <a:chOff x="5906184" y="1486857"/>
            <a:chExt cx="355600" cy="272361"/>
          </a:xfrm>
        </p:grpSpPr>
        <p:sp>
          <p:nvSpPr>
            <p:cNvPr id="226" name="Oval 221">
              <a:extLst>
                <a:ext uri="{FF2B5EF4-FFF2-40B4-BE49-F238E27FC236}">
                  <a16:creationId xmlns="" xmlns:a16="http://schemas.microsoft.com/office/drawing/2014/main"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 xmlns:a16="http://schemas.microsoft.com/office/drawing/2014/main"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228" name="肘形接點 68">
            <a:extLst>
              <a:ext uri="{FF2B5EF4-FFF2-40B4-BE49-F238E27FC236}">
                <a16:creationId xmlns="" xmlns:a16="http://schemas.microsoft.com/office/drawing/2014/main" id="{AA9DFDF7-6E5E-2853-225F-AF31A849CDEF}"/>
              </a:ext>
            </a:extLst>
          </p:cNvPr>
          <p:cNvCxnSpPr>
            <a:cxnSpLocks/>
            <a:stCxn id="9" idx="3"/>
            <a:endCxn id="205" idx="0"/>
          </p:cNvCxnSpPr>
          <p:nvPr/>
        </p:nvCxnSpPr>
        <p:spPr>
          <a:xfrm>
            <a:off x="10674963" y="2715238"/>
            <a:ext cx="2416914" cy="575981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56" name="肘形接點 68">
            <a:extLst>
              <a:ext uri="{FF2B5EF4-FFF2-40B4-BE49-F238E27FC236}">
                <a16:creationId xmlns="" xmlns:a16="http://schemas.microsoft.com/office/drawing/2014/main" id="{08873431-DD58-FF6E-BA86-6DE56A0E076B}"/>
              </a:ext>
            </a:extLst>
          </p:cNvPr>
          <p:cNvCxnSpPr>
            <a:cxnSpLocks/>
            <a:stCxn id="47" idx="3"/>
            <a:endCxn id="22" idx="1"/>
          </p:cNvCxnSpPr>
          <p:nvPr/>
        </p:nvCxnSpPr>
        <p:spPr>
          <a:xfrm>
            <a:off x="5318015" y="7293085"/>
            <a:ext cx="3595329" cy="160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64" name="肘形接點 68">
            <a:extLst>
              <a:ext uri="{FF2B5EF4-FFF2-40B4-BE49-F238E27FC236}">
                <a16:creationId xmlns="" xmlns:a16="http://schemas.microsoft.com/office/drawing/2014/main" id="{E89904DC-DB33-9356-B919-02F2FEC00BA0}"/>
              </a:ext>
            </a:extLst>
          </p:cNvPr>
          <p:cNvCxnSpPr>
            <a:cxnSpLocks/>
            <a:stCxn id="35" idx="3"/>
            <a:endCxn id="9" idx="1"/>
          </p:cNvCxnSpPr>
          <p:nvPr/>
        </p:nvCxnSpPr>
        <p:spPr>
          <a:xfrm flipV="1">
            <a:off x="5197703" y="2715238"/>
            <a:ext cx="3679433" cy="283211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87" name="流程圖: 接點 51">
            <a:extLst>
              <a:ext uri="{FF2B5EF4-FFF2-40B4-BE49-F238E27FC236}">
                <a16:creationId xmlns="" xmlns:a16="http://schemas.microsoft.com/office/drawing/2014/main" id="{519FF5F2-0220-FFFB-C3E1-05BEF34065D6}"/>
              </a:ext>
            </a:extLst>
          </p:cNvPr>
          <p:cNvSpPr/>
          <p:nvPr/>
        </p:nvSpPr>
        <p:spPr bwMode="auto">
          <a:xfrm>
            <a:off x="2582570" y="5224696"/>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88" name="肘形接點 68">
            <a:extLst>
              <a:ext uri="{FF2B5EF4-FFF2-40B4-BE49-F238E27FC236}">
                <a16:creationId xmlns="" xmlns:a16="http://schemas.microsoft.com/office/drawing/2014/main" id="{F7706134-4074-90E4-D764-20EC644CEBE7}"/>
              </a:ext>
            </a:extLst>
          </p:cNvPr>
          <p:cNvCxnSpPr>
            <a:cxnSpLocks/>
            <a:stCxn id="287" idx="0"/>
            <a:endCxn id="10" idx="1"/>
          </p:cNvCxnSpPr>
          <p:nvPr/>
        </p:nvCxnSpPr>
        <p:spPr>
          <a:xfrm rot="5400000" flipH="1" flipV="1">
            <a:off x="1902974" y="3628264"/>
            <a:ext cx="2548701" cy="64416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9" name="表格 30">
            <a:extLst>
              <a:ext uri="{FF2B5EF4-FFF2-40B4-BE49-F238E27FC236}">
                <a16:creationId xmlns="" xmlns:a16="http://schemas.microsoft.com/office/drawing/2014/main" id="{E58ECC6F-8512-6D36-17F8-DC561C102171}"/>
              </a:ext>
            </a:extLst>
          </p:cNvPr>
          <p:cNvGraphicFramePr>
            <a:graphicFrameLocks noGrp="1"/>
          </p:cNvGraphicFramePr>
          <p:nvPr>
            <p:extLst>
              <p:ext uri="{D42A27DB-BD31-4B8C-83A1-F6EECF244321}">
                <p14:modId xmlns="" xmlns:p14="http://schemas.microsoft.com/office/powerpoint/2010/main" val="1227568128"/>
              </p:ext>
            </p:extLst>
          </p:nvPr>
        </p:nvGraphicFramePr>
        <p:xfrm>
          <a:off x="8877135" y="2210260"/>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主管複核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7" name="Group 220">
            <a:extLst>
              <a:ext uri="{FF2B5EF4-FFF2-40B4-BE49-F238E27FC236}">
                <a16:creationId xmlns="" xmlns:a16="http://schemas.microsoft.com/office/drawing/2014/main" id="{9D541E29-4A08-F947-F56D-E61A0FEC260F}"/>
              </a:ext>
            </a:extLst>
          </p:cNvPr>
          <p:cNvGrpSpPr/>
          <p:nvPr/>
        </p:nvGrpSpPr>
        <p:grpSpPr>
          <a:xfrm>
            <a:off x="10443776" y="1883175"/>
            <a:ext cx="533400" cy="408605"/>
            <a:chOff x="5906184" y="1486857"/>
            <a:chExt cx="355600" cy="272361"/>
          </a:xfrm>
        </p:grpSpPr>
        <p:sp>
          <p:nvSpPr>
            <p:cNvPr id="269" name="Oval 221">
              <a:extLst>
                <a:ext uri="{FF2B5EF4-FFF2-40B4-BE49-F238E27FC236}">
                  <a16:creationId xmlns="" xmlns:a16="http://schemas.microsoft.com/office/drawing/2014/main" id="{49C63E6D-8B4D-9BE2-13AC-C49F3C31181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0" name="TextBox 222">
              <a:extLst>
                <a:ext uri="{FF2B5EF4-FFF2-40B4-BE49-F238E27FC236}">
                  <a16:creationId xmlns="" xmlns:a16="http://schemas.microsoft.com/office/drawing/2014/main" id="{666764CE-9844-D490-A987-195D85BF381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22" name="流程圖: 決策 50">
            <a:extLst>
              <a:ext uri="{FF2B5EF4-FFF2-40B4-BE49-F238E27FC236}">
                <a16:creationId xmlns="" xmlns:a16="http://schemas.microsoft.com/office/drawing/2014/main" id="{691319F5-A5C2-04CA-0108-877B0D865E02}"/>
              </a:ext>
            </a:extLst>
          </p:cNvPr>
          <p:cNvSpPr/>
          <p:nvPr/>
        </p:nvSpPr>
        <p:spPr bwMode="auto">
          <a:xfrm>
            <a:off x="8913344" y="686365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主管核准</a:t>
            </a:r>
            <a:endParaRPr lang="en-US" altLang="zh-TW" sz="1500" dirty="0">
              <a:latin typeface="微軟正黑體" panose="020B0604030504040204" pitchFamily="34" charset="-120"/>
              <a:ea typeface="微軟正黑體" panose="020B0604030504040204" pitchFamily="34" charset="-120"/>
            </a:endParaRPr>
          </a:p>
        </p:txBody>
      </p:sp>
      <p:cxnSp>
        <p:nvCxnSpPr>
          <p:cNvPr id="27" name="肘形接點 68">
            <a:extLst>
              <a:ext uri="{FF2B5EF4-FFF2-40B4-BE49-F238E27FC236}">
                <a16:creationId xmlns="" xmlns:a16="http://schemas.microsoft.com/office/drawing/2014/main" id="{46580805-A8F1-C3D8-6396-B01206678E93}"/>
              </a:ext>
            </a:extLst>
          </p:cNvPr>
          <p:cNvCxnSpPr>
            <a:cxnSpLocks/>
            <a:stCxn id="22" idx="2"/>
            <a:endCxn id="205" idx="1"/>
          </p:cNvCxnSpPr>
          <p:nvPr/>
        </p:nvCxnSpPr>
        <p:spPr>
          <a:xfrm rot="16200000" flipH="1">
            <a:off x="10375683" y="7049055"/>
            <a:ext cx="1140607" cy="2493953"/>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3" name="TextBox 46">
            <a:extLst>
              <a:ext uri="{FF2B5EF4-FFF2-40B4-BE49-F238E27FC236}">
                <a16:creationId xmlns="" xmlns:a16="http://schemas.microsoft.com/office/drawing/2014/main" id="{C23E378D-A5CD-B60A-5FE2-12ABDED8123B}"/>
              </a:ext>
            </a:extLst>
          </p:cNvPr>
          <p:cNvSpPr txBox="1"/>
          <p:nvPr/>
        </p:nvSpPr>
        <p:spPr>
          <a:xfrm>
            <a:off x="9697517" y="7836345"/>
            <a:ext cx="404262" cy="369389"/>
          </a:xfrm>
          <a:prstGeom prst="rect">
            <a:avLst/>
          </a:prstGeom>
          <a:noFill/>
        </p:spPr>
        <p:txBody>
          <a:bodyPr wrap="square" lIns="137160" tIns="68580" rIns="137160" bIns="68580" rtlCol="0">
            <a:spAutoFit/>
          </a:bodyPr>
          <a:lstStyle/>
          <a:p>
            <a:r>
              <a:rPr lang="zh-TW" altLang="en-US" sz="1500" dirty="0"/>
              <a:t>是</a:t>
            </a:r>
          </a:p>
        </p:txBody>
      </p:sp>
      <p:sp>
        <p:nvSpPr>
          <p:cNvPr id="34" name="流程圖: 接點 51">
            <a:extLst>
              <a:ext uri="{FF2B5EF4-FFF2-40B4-BE49-F238E27FC236}">
                <a16:creationId xmlns="" xmlns:a16="http://schemas.microsoft.com/office/drawing/2014/main" id="{C16EEAD7-E8AC-54B8-9D9E-30FBC064AE6F}"/>
              </a:ext>
            </a:extLst>
          </p:cNvPr>
          <p:cNvSpPr/>
          <p:nvPr/>
        </p:nvSpPr>
        <p:spPr bwMode="auto">
          <a:xfrm>
            <a:off x="9422764" y="5593167"/>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37" name="肘形接點 68">
            <a:extLst>
              <a:ext uri="{FF2B5EF4-FFF2-40B4-BE49-F238E27FC236}">
                <a16:creationId xmlns="" xmlns:a16="http://schemas.microsoft.com/office/drawing/2014/main" id="{20594366-4229-EA88-1F3B-EDDEC399FF11}"/>
              </a:ext>
            </a:extLst>
          </p:cNvPr>
          <p:cNvCxnSpPr>
            <a:cxnSpLocks/>
            <a:stCxn id="22" idx="0"/>
            <a:endCxn id="34" idx="4"/>
          </p:cNvCxnSpPr>
          <p:nvPr/>
        </p:nvCxnSpPr>
        <p:spPr>
          <a:xfrm rot="16200000" flipV="1">
            <a:off x="9295667" y="6460312"/>
            <a:ext cx="803114" cy="357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0" name="TextBox 46">
            <a:extLst>
              <a:ext uri="{FF2B5EF4-FFF2-40B4-BE49-F238E27FC236}">
                <a16:creationId xmlns="" xmlns:a16="http://schemas.microsoft.com/office/drawing/2014/main" id="{1F2204A6-0AD1-13CE-1397-2F5FDB0D74D7}"/>
              </a:ext>
            </a:extLst>
          </p:cNvPr>
          <p:cNvSpPr txBox="1"/>
          <p:nvPr/>
        </p:nvSpPr>
        <p:spPr>
          <a:xfrm>
            <a:off x="9726422" y="6449535"/>
            <a:ext cx="404262" cy="369389"/>
          </a:xfrm>
          <a:prstGeom prst="rect">
            <a:avLst/>
          </a:prstGeom>
          <a:noFill/>
        </p:spPr>
        <p:txBody>
          <a:bodyPr wrap="square" lIns="137160" tIns="68580" rIns="137160" bIns="68580" rtlCol="0">
            <a:spAutoFit/>
          </a:bodyPr>
          <a:lstStyle/>
          <a:p>
            <a:r>
              <a:rPr lang="zh-TW" altLang="en-US" sz="1500" dirty="0"/>
              <a:t>否</a:t>
            </a:r>
          </a:p>
        </p:txBody>
      </p:sp>
      <p:sp>
        <p:nvSpPr>
          <p:cNvPr id="6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4" name="流程圖: 文件 42">
            <a:extLst>
              <a:ext uri="{FF2B5EF4-FFF2-40B4-BE49-F238E27FC236}">
                <a16:creationId xmlns="" xmlns:a16="http://schemas.microsoft.com/office/drawing/2014/main" id="{AD8F574D-DD78-EB00-0EE1-D8329CF831D8}"/>
              </a:ext>
            </a:extLst>
          </p:cNvPr>
          <p:cNvSpPr/>
          <p:nvPr/>
        </p:nvSpPr>
        <p:spPr bwMode="auto">
          <a:xfrm>
            <a:off x="4362665" y="4022788"/>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smtClean="0">
                <a:latin typeface="微軟正黑體" panose="020B0604030504040204" pitchFamily="34" charset="-120"/>
                <a:ea typeface="微軟正黑體" panose="020B0604030504040204" pitchFamily="34" charset="-120"/>
              </a:rPr>
              <a:t>盤點文件</a:t>
            </a:r>
            <a:endParaRPr lang="zh-TW" altLang="en-US" sz="1500" dirty="0">
              <a:latin typeface="微軟正黑體" panose="020B0604030504040204" pitchFamily="34" charset="-120"/>
              <a:ea typeface="微軟正黑體" panose="020B0604030504040204" pitchFamily="34" charset="-120"/>
            </a:endParaRPr>
          </a:p>
        </p:txBody>
      </p:sp>
      <p:sp>
        <p:nvSpPr>
          <p:cNvPr id="165" name="流程圖: 文件 42">
            <a:extLst>
              <a:ext uri="{FF2B5EF4-FFF2-40B4-BE49-F238E27FC236}">
                <a16:creationId xmlns="" xmlns:a16="http://schemas.microsoft.com/office/drawing/2014/main" id="{AD8F574D-DD78-EB00-0EE1-D8329CF831D8}"/>
              </a:ext>
            </a:extLst>
          </p:cNvPr>
          <p:cNvSpPr/>
          <p:nvPr/>
        </p:nvSpPr>
        <p:spPr bwMode="auto">
          <a:xfrm>
            <a:off x="6286480" y="9287698"/>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smtClean="0">
                <a:latin typeface="微軟正黑體" panose="020B0604030504040204" pitchFamily="34" charset="-120"/>
                <a:ea typeface="微軟正黑體" panose="020B0604030504040204" pitchFamily="34" charset="-120"/>
              </a:rPr>
              <a:t>盤點文件</a:t>
            </a:r>
            <a:endParaRPr lang="zh-TW" altLang="en-US" sz="1500" dirty="0">
              <a:latin typeface="微軟正黑體" panose="020B0604030504040204" pitchFamily="34" charset="-120"/>
              <a:ea typeface="微軟正黑體" panose="020B0604030504040204" pitchFamily="34" charset="-120"/>
            </a:endParaRPr>
          </a:p>
        </p:txBody>
      </p:sp>
      <p:sp>
        <p:nvSpPr>
          <p:cNvPr id="164" name="流程圖: 文件 42">
            <a:extLst>
              <a:ext uri="{FF2B5EF4-FFF2-40B4-BE49-F238E27FC236}">
                <a16:creationId xmlns="" xmlns:a16="http://schemas.microsoft.com/office/drawing/2014/main" id="{AD8F574D-DD78-EB00-0EE1-D8329CF831D8}"/>
              </a:ext>
            </a:extLst>
          </p:cNvPr>
          <p:cNvSpPr/>
          <p:nvPr/>
        </p:nvSpPr>
        <p:spPr bwMode="auto">
          <a:xfrm>
            <a:off x="3643274" y="9376598"/>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smtClean="0">
                <a:latin typeface="微軟正黑體" panose="020B0604030504040204" pitchFamily="34" charset="-120"/>
                <a:ea typeface="微軟正黑體" panose="020B0604030504040204" pitchFamily="34" charset="-120"/>
              </a:rPr>
              <a:t>盤點文件</a:t>
            </a:r>
            <a:endParaRPr lang="zh-TW" altLang="en-US" sz="1500" dirty="0">
              <a:latin typeface="微軟正黑體" panose="020B0604030504040204" pitchFamily="34" charset="-120"/>
              <a:ea typeface="微軟正黑體" panose="020B0604030504040204" pitchFamily="34" charset="-120"/>
            </a:endParaRPr>
          </a:p>
        </p:txBody>
      </p:sp>
      <p:sp>
        <p:nvSpPr>
          <p:cNvPr id="163" name="流程圖: 文件 42">
            <a:extLst>
              <a:ext uri="{FF2B5EF4-FFF2-40B4-BE49-F238E27FC236}">
                <a16:creationId xmlns="" xmlns:a16="http://schemas.microsoft.com/office/drawing/2014/main" id="{AD8F574D-DD78-EB00-0EE1-D8329CF831D8}"/>
              </a:ext>
            </a:extLst>
          </p:cNvPr>
          <p:cNvSpPr/>
          <p:nvPr/>
        </p:nvSpPr>
        <p:spPr bwMode="auto">
          <a:xfrm>
            <a:off x="8929686" y="3144030"/>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smtClean="0">
                <a:latin typeface="微軟正黑體" panose="020B0604030504040204" pitchFamily="34" charset="-120"/>
                <a:ea typeface="微軟正黑體" panose="020B0604030504040204" pitchFamily="34" charset="-120"/>
              </a:rPr>
              <a:t>盤點文件</a:t>
            </a:r>
            <a:endParaRPr lang="zh-TW" altLang="en-US" sz="1500" dirty="0">
              <a:latin typeface="微軟正黑體" panose="020B0604030504040204" pitchFamily="34" charset="-120"/>
              <a:ea typeface="微軟正黑體" panose="020B0604030504040204" pitchFamily="34" charset="-120"/>
            </a:endParaRPr>
          </a:p>
        </p:txBody>
      </p:sp>
      <p:sp>
        <p:nvSpPr>
          <p:cNvPr id="162" name="流程圖: 文件 42">
            <a:extLst>
              <a:ext uri="{FF2B5EF4-FFF2-40B4-BE49-F238E27FC236}">
                <a16:creationId xmlns="" xmlns:a16="http://schemas.microsoft.com/office/drawing/2014/main" id="{AD8F574D-DD78-EB00-0EE1-D8329CF831D8}"/>
              </a:ext>
            </a:extLst>
          </p:cNvPr>
          <p:cNvSpPr/>
          <p:nvPr/>
        </p:nvSpPr>
        <p:spPr bwMode="auto">
          <a:xfrm>
            <a:off x="4291786" y="5804698"/>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smtClean="0">
                <a:latin typeface="微軟正黑體" panose="020B0604030504040204" pitchFamily="34" charset="-120"/>
                <a:ea typeface="微軟正黑體" panose="020B0604030504040204" pitchFamily="34" charset="-120"/>
              </a:rPr>
              <a:t>盤點文件</a:t>
            </a:r>
            <a:endParaRPr lang="zh-TW" altLang="en-US" sz="1500" dirty="0">
              <a:latin typeface="微軟正黑體" panose="020B0604030504040204" pitchFamily="34" charset="-120"/>
              <a:ea typeface="微軟正黑體" panose="020B0604030504040204" pitchFamily="34" charset="-120"/>
            </a:endParaRPr>
          </a:p>
        </p:txBody>
      </p:sp>
      <p:cxnSp>
        <p:nvCxnSpPr>
          <p:cNvPr id="6" name="Straight Connector 284">
            <a:extLst>
              <a:ext uri="{FF2B5EF4-FFF2-40B4-BE49-F238E27FC236}">
                <a16:creationId xmlns="" xmlns:a16="http://schemas.microsoft.com/office/drawing/2014/main" id="{9B19B4BF-9599-B835-12D9-B67512228A7B}"/>
              </a:ext>
            </a:extLst>
          </p:cNvPr>
          <p:cNvCxnSpPr>
            <a:cxnSpLocks/>
          </p:cNvCxnSpPr>
          <p:nvPr/>
        </p:nvCxnSpPr>
        <p:spPr>
          <a:xfrm>
            <a:off x="5000596" y="1385386"/>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 xmlns:a16="http://schemas.microsoft.com/office/drawing/2014/main" id="{30381EE2-3320-4812-6081-3A15B03E8B32}"/>
              </a:ext>
            </a:extLst>
          </p:cNvPr>
          <p:cNvSpPr txBox="1"/>
          <p:nvPr/>
        </p:nvSpPr>
        <p:spPr>
          <a:xfrm>
            <a:off x="14358974" y="2013760"/>
            <a:ext cx="3929026" cy="8171468"/>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會計單位會公告執行每年度、半年度、季度或每月的盤點計畫，此時會公告何時停止領發料與出貨，並進行盤點作業。</a:t>
            </a:r>
            <a:endParaRPr lang="en-US" altLang="zh-TW" dirty="0"/>
          </a:p>
          <a:p>
            <a:pPr marL="342900" indent="-342900">
              <a:buFont typeface="+mj-lt"/>
              <a:buAutoNum type="arabicPeriod"/>
            </a:pPr>
            <a:r>
              <a:rPr lang="zh-TW" altLang="en-US" dirty="0"/>
              <a:t>各負責的倉管人員批量建立盤點文件，年度大盤設定過帳凍結</a:t>
            </a:r>
            <a:r>
              <a:rPr lang="en-US" altLang="zh-TW" dirty="0"/>
              <a:t>(</a:t>
            </a:r>
            <a:r>
              <a:rPr lang="zh-TW" altLang="en-US" dirty="0"/>
              <a:t>則不允許存貨異動</a:t>
            </a:r>
            <a:r>
              <a:rPr lang="en-US" altLang="zh-TW" dirty="0"/>
              <a:t>)</a:t>
            </a:r>
            <a:r>
              <a:rPr lang="zh-TW" altLang="en-US" dirty="0"/>
              <a:t>，設定凍結帳面存貨</a:t>
            </a:r>
            <a:r>
              <a:rPr lang="en-US" altLang="zh-TW" dirty="0"/>
              <a:t>(</a:t>
            </a:r>
            <a:r>
              <a:rPr lang="zh-TW" altLang="en-US" dirty="0"/>
              <a:t>則帳面數</a:t>
            </a:r>
            <a:r>
              <a:rPr lang="en-US" altLang="zh-TW" dirty="0"/>
              <a:t>=</a:t>
            </a:r>
            <a:r>
              <a:rPr lang="zh-TW" altLang="en-US" dirty="0"/>
              <a:t>庫存數</a:t>
            </a:r>
            <a:r>
              <a:rPr lang="en-US" altLang="zh-TW" dirty="0"/>
              <a:t>)</a:t>
            </a:r>
            <a:r>
              <a:rPr lang="zh-TW" altLang="en-US" dirty="0"/>
              <a:t>，</a:t>
            </a:r>
            <a:endParaRPr lang="en-US" altLang="zh-TW" dirty="0"/>
          </a:p>
          <a:p>
            <a:pPr marL="342900" indent="-342900">
              <a:buFont typeface="+mj-lt"/>
              <a:buAutoNum type="arabicPeriod"/>
            </a:pPr>
            <a:r>
              <a:rPr lang="zh-TW" altLang="en-US" dirty="0"/>
              <a:t>列印盤點文件，並下載盤點文件到</a:t>
            </a:r>
            <a:r>
              <a:rPr lang="en-US" altLang="zh-TW" dirty="0"/>
              <a:t>EXCEL</a:t>
            </a:r>
            <a:r>
              <a:rPr lang="zh-TW" altLang="en-US" dirty="0"/>
              <a:t>。</a:t>
            </a:r>
            <a:endParaRPr lang="en-US" altLang="zh-TW" dirty="0"/>
          </a:p>
          <a:p>
            <a:pPr marL="342900" indent="-342900">
              <a:buFont typeface="+mj-lt"/>
              <a:buAutoNum type="arabicPeriod"/>
            </a:pPr>
            <a:r>
              <a:rPr lang="zh-TW" altLang="en-US" dirty="0"/>
              <a:t>倉管</a:t>
            </a:r>
            <a:r>
              <a:rPr lang="zh-TW" altLang="en-US" dirty="0" smtClean="0"/>
              <a:t>人員进行實際盤點，填寫盤點</a:t>
            </a:r>
            <a:r>
              <a:rPr lang="zh-TW" altLang="en-US" dirty="0"/>
              <a:t>表上的實盤數並簽名，</a:t>
            </a:r>
            <a:r>
              <a:rPr lang="zh-TW" altLang="en-US" dirty="0" smtClean="0"/>
              <a:t>並抄寫實</a:t>
            </a:r>
            <a:r>
              <a:rPr lang="zh-TW" altLang="en-US" dirty="0"/>
              <a:t>盤數</a:t>
            </a:r>
            <a:r>
              <a:rPr lang="zh-TW" altLang="en-US" dirty="0" smtClean="0"/>
              <a:t>紀錄至</a:t>
            </a:r>
            <a:r>
              <a:rPr lang="en-US" altLang="zh-TW" dirty="0" smtClean="0"/>
              <a:t>EXCEL</a:t>
            </a:r>
            <a:r>
              <a:rPr lang="zh-TW" altLang="en-US" dirty="0"/>
              <a:t>上</a:t>
            </a:r>
            <a:r>
              <a:rPr lang="zh-TW" altLang="en-US" dirty="0" smtClean="0"/>
              <a:t>。</a:t>
            </a:r>
            <a:endParaRPr lang="en-US" altLang="zh-TW" dirty="0" smtClean="0"/>
          </a:p>
          <a:p>
            <a:pPr marL="342900" indent="-342900">
              <a:buFont typeface="+mj-lt"/>
              <a:buAutoNum type="arabicPeriod"/>
            </a:pPr>
            <a:r>
              <a:rPr lang="zh-TW" altLang="en-US" dirty="0" smtClean="0"/>
              <a:t>倉</a:t>
            </a:r>
            <a:r>
              <a:rPr lang="zh-TW" altLang="en-US" dirty="0"/>
              <a:t>管單位批量上傳實盤</a:t>
            </a:r>
            <a:r>
              <a:rPr lang="zh-TW" altLang="en-US" dirty="0" smtClean="0"/>
              <a:t>數，將檔案和書面盤點文件給會計單位</a:t>
            </a:r>
            <a:endParaRPr lang="en-US" altLang="zh-TW" dirty="0"/>
          </a:p>
          <a:p>
            <a:pPr marL="342900" indent="-342900">
              <a:buAutoNum type="arabicPeriod" startAt="6"/>
            </a:pPr>
            <a:r>
              <a:rPr lang="zh-TW" altLang="en-US" dirty="0"/>
              <a:t>會計單位確認實盤數，並進行複盤（對盤</a:t>
            </a:r>
            <a:r>
              <a:rPr lang="zh-TW" altLang="en-US" dirty="0" smtClean="0"/>
              <a:t>），將對盤數填入書面盤點文件和</a:t>
            </a:r>
            <a:r>
              <a:rPr lang="en-US" altLang="zh-TW" dirty="0" smtClean="0"/>
              <a:t>EXCEL</a:t>
            </a:r>
            <a:r>
              <a:rPr lang="zh-TW" altLang="en-US" dirty="0" smtClean="0"/>
              <a:t>中。通知</a:t>
            </a:r>
            <a:r>
              <a:rPr lang="zh-TW" altLang="en-US" dirty="0"/>
              <a:t>倉管上傳對盤數</a:t>
            </a:r>
            <a:r>
              <a:rPr lang="zh-TW" altLang="en-US" dirty="0" smtClean="0"/>
              <a:t>。</a:t>
            </a:r>
            <a:endParaRPr lang="en-US" altLang="zh-TW" dirty="0" smtClean="0"/>
          </a:p>
          <a:p>
            <a:pPr marL="342900" indent="-342900">
              <a:buAutoNum type="arabicPeriod" startAt="6"/>
            </a:pPr>
            <a:r>
              <a:rPr lang="zh-TW" altLang="en-US" dirty="0" smtClean="0"/>
              <a:t>倉管上傳對盤數，將盤點文件呈交主管簽核繳交財務留存</a:t>
            </a:r>
            <a:endParaRPr lang="en-US" altLang="zh-TW" dirty="0"/>
          </a:p>
          <a:p>
            <a:pPr marL="342900" indent="-342900">
              <a:buAutoNum type="arabicPeriod" startAt="6"/>
            </a:pPr>
            <a:r>
              <a:rPr lang="zh-TW" altLang="en-US" dirty="0" smtClean="0"/>
              <a:t>會計單位確認盤盈虧差異金額，</a:t>
            </a:r>
            <a:endParaRPr lang="en-US" altLang="zh-TW" dirty="0" smtClean="0"/>
          </a:p>
          <a:p>
            <a:pPr marL="342900" indent="-342900">
              <a:buAutoNum type="arabicPeriod" startAt="6"/>
            </a:pPr>
            <a:r>
              <a:rPr lang="zh-TW" altLang="en-US" dirty="0" smtClean="0"/>
              <a:t>各廠區通報當地稅務海關，做稅務相關事務處理。需轉換成關務的</a:t>
            </a:r>
            <a:r>
              <a:rPr lang="en-US" altLang="zh-TW" dirty="0" smtClean="0"/>
              <a:t>HSCODE</a:t>
            </a:r>
            <a:r>
              <a:rPr lang="zh-TW" altLang="en-US" dirty="0" smtClean="0"/>
              <a:t>庫存盤點清單。</a:t>
            </a:r>
            <a:endParaRPr lang="en-US" altLang="zh-TW" dirty="0" smtClean="0"/>
          </a:p>
          <a:p>
            <a:pPr marL="342900" indent="-342900">
              <a:buAutoNum type="arabicPeriod" startAt="6"/>
            </a:pPr>
            <a:r>
              <a:rPr lang="zh-TW" altLang="en-US" dirty="0" smtClean="0"/>
              <a:t>會計</a:t>
            </a:r>
            <a:r>
              <a:rPr lang="zh-TW" altLang="en-US" dirty="0"/>
              <a:t>單位執行盤盈虧過帳，</a:t>
            </a:r>
            <a:endParaRPr lang="en-US" altLang="zh-TW" dirty="0"/>
          </a:p>
          <a:p>
            <a:r>
              <a:rPr lang="en-US" altLang="zh-TW" dirty="0"/>
              <a:t>     </a:t>
            </a:r>
            <a:r>
              <a:rPr lang="zh-TW" altLang="en-US" dirty="0"/>
              <a:t>執行後當有設定過帳凍結此</a:t>
            </a:r>
            <a:endParaRPr lang="en-US" altLang="zh-TW" dirty="0"/>
          </a:p>
          <a:p>
            <a:r>
              <a:rPr lang="en-US" altLang="zh-TW" dirty="0"/>
              <a:t>     </a:t>
            </a:r>
            <a:r>
              <a:rPr lang="zh-TW" altLang="en-US" dirty="0"/>
              <a:t>時才允許存貨異動。</a:t>
            </a:r>
            <a:endParaRPr lang="en-US" altLang="zh-TW" dirty="0"/>
          </a:p>
          <a:p>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3565113" y="1385620"/>
            <a:ext cx="1853246" cy="400110"/>
          </a:xfrm>
          <a:prstGeom prst="rect">
            <a:avLst/>
          </a:prstGeom>
          <a:noFill/>
        </p:spPr>
        <p:txBody>
          <a:bodyPr wrap="square" lIns="137160" tIns="68580" rIns="137160" bIns="68580" rtlCol="0">
            <a:spAutoFit/>
          </a:bodyPr>
          <a:lstStyle/>
          <a:p>
            <a:pPr algn="ctr"/>
            <a:r>
              <a:rPr lang="zh-TW" altLang="en-US" sz="1700" dirty="0"/>
              <a:t>倉管單位</a:t>
            </a:r>
          </a:p>
        </p:txBody>
      </p:sp>
      <p:graphicFrame>
        <p:nvGraphicFramePr>
          <p:cNvPr id="10" name="表格 30">
            <a:extLst>
              <a:ext uri="{FF2B5EF4-FFF2-40B4-BE49-F238E27FC236}">
                <a16:creationId xmlns="" xmlns:a16="http://schemas.microsoft.com/office/drawing/2014/main" id="{560E075C-2049-BB70-8393-BAD2317E0F8A}"/>
              </a:ext>
            </a:extLst>
          </p:cNvPr>
          <p:cNvGraphicFramePr>
            <a:graphicFrameLocks noGrp="1"/>
          </p:cNvGraphicFramePr>
          <p:nvPr>
            <p:extLst>
              <p:ext uri="{D42A27DB-BD31-4B8C-83A1-F6EECF244321}">
                <p14:modId xmlns="" xmlns:p14="http://schemas.microsoft.com/office/powerpoint/2010/main" val="4261451875"/>
              </p:ext>
            </p:extLst>
          </p:nvPr>
        </p:nvGraphicFramePr>
        <p:xfrm>
          <a:off x="2818748" y="2084005"/>
          <a:ext cx="1797832" cy="1238520"/>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MI31/MIO1</a:t>
                      </a:r>
                      <a:br>
                        <a:rPr lang="en-GB" sz="1500" b="1" dirty="0" smtClean="0">
                          <a:solidFill>
                            <a:schemeClr val="tx1"/>
                          </a:solidFill>
                          <a:latin typeface="微軟正黑體" panose="020B0604030504040204" pitchFamily="34" charset="-120"/>
                          <a:ea typeface="微軟正黑體" panose="020B0604030504040204" pitchFamily="34" charset="-120"/>
                        </a:rPr>
                      </a:br>
                      <a:r>
                        <a:rPr lang="en-GB" sz="1500" b="1" dirty="0" smtClean="0">
                          <a:solidFill>
                            <a:schemeClr val="tx1"/>
                          </a:solidFill>
                          <a:latin typeface="微軟正黑體" panose="020B0604030504040204" pitchFamily="34" charset="-120"/>
                          <a:ea typeface="微軟正黑體" panose="020B0604030504040204" pitchFamily="34" charset="-120"/>
                        </a:rPr>
                        <a:t>/MIE1</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批量建立盤點文件</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48" name="文字方塊 17">
            <a:extLst>
              <a:ext uri="{FF2B5EF4-FFF2-40B4-BE49-F238E27FC236}">
                <a16:creationId xmlns="" xmlns:a16="http://schemas.microsoft.com/office/drawing/2014/main" id="{0F2761B4-5F29-64DD-1721-5831D073894C}"/>
              </a:ext>
            </a:extLst>
          </p:cNvPr>
          <p:cNvSpPr txBox="1"/>
          <p:nvPr/>
        </p:nvSpPr>
        <p:spPr>
          <a:xfrm>
            <a:off x="6876806" y="1357249"/>
            <a:ext cx="1853246" cy="400110"/>
          </a:xfrm>
          <a:prstGeom prst="rect">
            <a:avLst/>
          </a:prstGeom>
          <a:noFill/>
        </p:spPr>
        <p:txBody>
          <a:bodyPr wrap="square" lIns="137160" tIns="68580" rIns="137160" bIns="68580" rtlCol="0">
            <a:spAutoFit/>
          </a:bodyPr>
          <a:lstStyle/>
          <a:p>
            <a:pPr algn="ctr"/>
            <a:r>
              <a:rPr lang="zh-TW" altLang="en-US" sz="1700" dirty="0"/>
              <a:t>會計單位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MM-IM-0100</a:t>
            </a:r>
            <a:r>
              <a:rPr kumimoji="0" lang="zh-TW" altLang="en-US" b="1" dirty="0">
                <a:latin typeface="微軟正黑體" panose="020B0604030504040204" pitchFamily="34" charset="-120"/>
                <a:ea typeface="微軟正黑體" panose="020B0604030504040204" pitchFamily="34" charset="-120"/>
              </a:rPr>
              <a:t>盤點作業流程</a:t>
            </a:r>
            <a:r>
              <a:rPr kumimoji="0" lang="en-US" altLang="zh-TW" b="1" dirty="0">
                <a:latin typeface="微軟正黑體" panose="020B0604030504040204" pitchFamily="34" charset="-120"/>
                <a:ea typeface="微軟正黑體" panose="020B0604030504040204" pitchFamily="34" charset="-120"/>
              </a:rPr>
              <a:t>(</a:t>
            </a:r>
            <a:r>
              <a:rPr kumimoji="0" lang="zh-TW" altLang="en-US" b="1" dirty="0">
                <a:latin typeface="微軟正黑體" panose="020B0604030504040204" pitchFamily="34" charset="-120"/>
                <a:ea typeface="微軟正黑體" panose="020B0604030504040204" pitchFamily="34" charset="-120"/>
              </a:rPr>
              <a:t>盤點計畫</a:t>
            </a:r>
            <a:r>
              <a:rPr kumimoji="0"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grpSp>
        <p:nvGrpSpPr>
          <p:cNvPr id="3" name="Group 220">
            <a:extLst>
              <a:ext uri="{FF2B5EF4-FFF2-40B4-BE49-F238E27FC236}">
                <a16:creationId xmlns="" xmlns:a16="http://schemas.microsoft.com/office/drawing/2014/main" id="{AD2FB0C7-15BF-116F-2999-F5E87FA69A6A}"/>
              </a:ext>
            </a:extLst>
          </p:cNvPr>
          <p:cNvGrpSpPr/>
          <p:nvPr/>
        </p:nvGrpSpPr>
        <p:grpSpPr>
          <a:xfrm>
            <a:off x="4315131" y="1930688"/>
            <a:ext cx="533400" cy="408605"/>
            <a:chOff x="5906184" y="1486857"/>
            <a:chExt cx="355600" cy="272361"/>
          </a:xfrm>
        </p:grpSpPr>
        <p:sp>
          <p:nvSpPr>
            <p:cNvPr id="201" name="Oval 221">
              <a:extLst>
                <a:ext uri="{FF2B5EF4-FFF2-40B4-BE49-F238E27FC236}">
                  <a16:creationId xmlns="" xmlns:a16="http://schemas.microsoft.com/office/drawing/2014/main" id="{8B1186DF-BEFD-FB5C-1AEF-1CFFBEF8123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2" name="TextBox 222">
              <a:extLst>
                <a:ext uri="{FF2B5EF4-FFF2-40B4-BE49-F238E27FC236}">
                  <a16:creationId xmlns="" xmlns:a16="http://schemas.microsoft.com/office/drawing/2014/main" id="{83892820-3993-4C09-6D6E-4C64B4846F9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5" name="流程圖: 結束點 204">
            <a:extLst>
              <a:ext uri="{FF2B5EF4-FFF2-40B4-BE49-F238E27FC236}">
                <a16:creationId xmlns="" xmlns:a16="http://schemas.microsoft.com/office/drawing/2014/main" id="{AF6DEB4F-42E0-79A4-1C86-971AEA2097AF}"/>
              </a:ext>
            </a:extLst>
          </p:cNvPr>
          <p:cNvSpPr/>
          <p:nvPr/>
        </p:nvSpPr>
        <p:spPr bwMode="auto">
          <a:xfrm>
            <a:off x="12192962" y="882573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231" name="流程圖: 結束點 230">
            <a:extLst>
              <a:ext uri="{FF2B5EF4-FFF2-40B4-BE49-F238E27FC236}">
                <a16:creationId xmlns="" xmlns:a16="http://schemas.microsoft.com/office/drawing/2014/main" id="{6339F5CE-6B67-6F5C-0E2E-612C20E4A59D}"/>
              </a:ext>
            </a:extLst>
          </p:cNvPr>
          <p:cNvSpPr/>
          <p:nvPr/>
        </p:nvSpPr>
        <p:spPr bwMode="auto">
          <a:xfrm>
            <a:off x="529716" y="220240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盤點計畫</a:t>
            </a:r>
          </a:p>
        </p:txBody>
      </p:sp>
      <p:cxnSp>
        <p:nvCxnSpPr>
          <p:cNvPr id="236" name="肘形接點 68">
            <a:extLst>
              <a:ext uri="{FF2B5EF4-FFF2-40B4-BE49-F238E27FC236}">
                <a16:creationId xmlns="" xmlns:a16="http://schemas.microsoft.com/office/drawing/2014/main" id="{B0F9A075-FC9D-4E06-4B8D-245653ED262D}"/>
              </a:ext>
            </a:extLst>
          </p:cNvPr>
          <p:cNvCxnSpPr>
            <a:cxnSpLocks/>
            <a:stCxn id="231" idx="3"/>
          </p:cNvCxnSpPr>
          <p:nvPr/>
        </p:nvCxnSpPr>
        <p:spPr>
          <a:xfrm flipV="1">
            <a:off x="2327547" y="2572526"/>
            <a:ext cx="458471" cy="2116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0" name="肘形接點 68">
            <a:extLst>
              <a:ext uri="{FF2B5EF4-FFF2-40B4-BE49-F238E27FC236}">
                <a16:creationId xmlns="" xmlns:a16="http://schemas.microsoft.com/office/drawing/2014/main" id="{4A4BF398-DB44-F166-D9E3-2412F110238F}"/>
              </a:ext>
            </a:extLst>
          </p:cNvPr>
          <p:cNvCxnSpPr>
            <a:cxnSpLocks/>
          </p:cNvCxnSpPr>
          <p:nvPr/>
        </p:nvCxnSpPr>
        <p:spPr>
          <a:xfrm rot="10800000">
            <a:off x="9383164" y="7721684"/>
            <a:ext cx="546654" cy="149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3" name="Group 220">
            <a:extLst>
              <a:ext uri="{FF2B5EF4-FFF2-40B4-BE49-F238E27FC236}">
                <a16:creationId xmlns="" xmlns:a16="http://schemas.microsoft.com/office/drawing/2014/main" id="{A9B401BC-DE49-5FC0-6565-D216316A23DA}"/>
              </a:ext>
            </a:extLst>
          </p:cNvPr>
          <p:cNvGrpSpPr/>
          <p:nvPr/>
        </p:nvGrpSpPr>
        <p:grpSpPr>
          <a:xfrm>
            <a:off x="1801124" y="1955986"/>
            <a:ext cx="533400" cy="408605"/>
            <a:chOff x="5906184" y="1486857"/>
            <a:chExt cx="355600" cy="272361"/>
          </a:xfrm>
        </p:grpSpPr>
        <p:sp>
          <p:nvSpPr>
            <p:cNvPr id="4"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0" name="表格 30">
            <a:extLst>
              <a:ext uri="{FF2B5EF4-FFF2-40B4-BE49-F238E27FC236}">
                <a16:creationId xmlns="" xmlns:a16="http://schemas.microsoft.com/office/drawing/2014/main" id="{2CD427D5-4002-6FB0-47DB-0B6EF7739A6B}"/>
              </a:ext>
            </a:extLst>
          </p:cNvPr>
          <p:cNvGraphicFramePr>
            <a:graphicFrameLocks noGrp="1"/>
          </p:cNvGraphicFramePr>
          <p:nvPr>
            <p:extLst>
              <p:ext uri="{D42A27DB-BD31-4B8C-83A1-F6EECF244321}">
                <p14:modId xmlns="" xmlns:p14="http://schemas.microsoft.com/office/powerpoint/2010/main" val="2866645469"/>
              </p:ext>
            </p:extLst>
          </p:nvPr>
        </p:nvGraphicFramePr>
        <p:xfrm>
          <a:off x="2824379" y="3451571"/>
          <a:ext cx="1797832" cy="1238591"/>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ZMM060</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列印盤點文件</a:t>
                      </a:r>
                      <a:endParaRPr kumimoji="0" lang="en-US" altLang="zh-TW" sz="1500" dirty="0">
                        <a:latin typeface="微軟正黑體" panose="020B0604030504040204" pitchFamily="34" charset="-120"/>
                        <a:ea typeface="微軟正黑體" panose="020B0604030504040204" pitchFamily="34" charset="-120"/>
                      </a:endParaRPr>
                    </a:p>
                    <a:p>
                      <a:pPr algn="ctr" eaLnBrk="0" hangingPunct="0"/>
                      <a:r>
                        <a:rPr kumimoji="0" lang="zh-TW" altLang="en-US" sz="1500" dirty="0">
                          <a:latin typeface="微軟正黑體" panose="020B0604030504040204" pitchFamily="34" charset="-120"/>
                          <a:ea typeface="微軟正黑體" panose="020B0604030504040204" pitchFamily="34" charset="-120"/>
                        </a:rPr>
                        <a:t>下載</a:t>
                      </a:r>
                      <a:r>
                        <a:rPr kumimoji="0" lang="en-US" altLang="zh-TW" sz="1500" dirty="0">
                          <a:latin typeface="微軟正黑體" panose="020B0604030504040204" pitchFamily="34" charset="-120"/>
                          <a:ea typeface="微軟正黑體" panose="020B0604030504040204" pitchFamily="34" charset="-120"/>
                        </a:rPr>
                        <a:t>EXCEL</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5" name="Group 220">
            <a:extLst>
              <a:ext uri="{FF2B5EF4-FFF2-40B4-BE49-F238E27FC236}">
                <a16:creationId xmlns="" xmlns:a16="http://schemas.microsoft.com/office/drawing/2014/main" id="{F2307477-E4A7-E851-BA46-63427F7ABB89}"/>
              </a:ext>
            </a:extLst>
          </p:cNvPr>
          <p:cNvGrpSpPr/>
          <p:nvPr/>
        </p:nvGrpSpPr>
        <p:grpSpPr>
          <a:xfrm>
            <a:off x="4366656" y="3269293"/>
            <a:ext cx="533400" cy="408605"/>
            <a:chOff x="5906184" y="1486857"/>
            <a:chExt cx="355600" cy="272361"/>
          </a:xfrm>
        </p:grpSpPr>
        <p:sp>
          <p:nvSpPr>
            <p:cNvPr id="38" name="Oval 221">
              <a:extLst>
                <a:ext uri="{FF2B5EF4-FFF2-40B4-BE49-F238E27FC236}">
                  <a16:creationId xmlns="" xmlns:a16="http://schemas.microsoft.com/office/drawing/2014/main" id="{75157854-80A9-9DC3-65B8-58FCAE8E5CA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 name="TextBox 222">
              <a:extLst>
                <a:ext uri="{FF2B5EF4-FFF2-40B4-BE49-F238E27FC236}">
                  <a16:creationId xmlns="" xmlns:a16="http://schemas.microsoft.com/office/drawing/2014/main" id="{9AE2ABD7-6BAB-F881-FC8F-C9CFF0E23AC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12" name="Straight Connector 284">
            <a:extLst>
              <a:ext uri="{FF2B5EF4-FFF2-40B4-BE49-F238E27FC236}">
                <a16:creationId xmlns="" xmlns:a16="http://schemas.microsoft.com/office/drawing/2014/main" id="{81A51785-F7FF-20F1-F5CA-630ACE5FA9F2}"/>
              </a:ext>
            </a:extLst>
          </p:cNvPr>
          <p:cNvCxnSpPr>
            <a:cxnSpLocks/>
          </p:cNvCxnSpPr>
          <p:nvPr/>
        </p:nvCxnSpPr>
        <p:spPr>
          <a:xfrm>
            <a:off x="9572628" y="1342662"/>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字方塊 17">
            <a:extLst>
              <a:ext uri="{FF2B5EF4-FFF2-40B4-BE49-F238E27FC236}">
                <a16:creationId xmlns="" xmlns:a16="http://schemas.microsoft.com/office/drawing/2014/main" id="{FE140EF4-22D7-161A-47BD-FA08CE243307}"/>
              </a:ext>
            </a:extLst>
          </p:cNvPr>
          <p:cNvSpPr txBox="1"/>
          <p:nvPr/>
        </p:nvSpPr>
        <p:spPr>
          <a:xfrm>
            <a:off x="9294526" y="1357895"/>
            <a:ext cx="2319653" cy="400110"/>
          </a:xfrm>
          <a:prstGeom prst="rect">
            <a:avLst/>
          </a:prstGeom>
          <a:noFill/>
        </p:spPr>
        <p:txBody>
          <a:bodyPr wrap="square" lIns="137160" tIns="68580" rIns="137160" bIns="68580" rtlCol="0">
            <a:spAutoFit/>
          </a:bodyPr>
          <a:lstStyle/>
          <a:p>
            <a:pPr algn="ctr"/>
            <a:r>
              <a:rPr lang="zh-TW" altLang="en-US" sz="1700" dirty="0"/>
              <a:t>各廠區關務單位</a:t>
            </a:r>
          </a:p>
        </p:txBody>
      </p:sp>
      <p:cxnSp>
        <p:nvCxnSpPr>
          <p:cNvPr id="213" name="肘形接點 68">
            <a:extLst>
              <a:ext uri="{FF2B5EF4-FFF2-40B4-BE49-F238E27FC236}">
                <a16:creationId xmlns="" xmlns:a16="http://schemas.microsoft.com/office/drawing/2014/main" id="{57A92873-BDC9-777D-7260-9EC124562C0F}"/>
              </a:ext>
            </a:extLst>
          </p:cNvPr>
          <p:cNvCxnSpPr>
            <a:cxnSpLocks/>
            <a:stCxn id="93" idx="3"/>
            <a:endCxn id="85" idx="1"/>
          </p:cNvCxnSpPr>
          <p:nvPr/>
        </p:nvCxnSpPr>
        <p:spPr>
          <a:xfrm flipV="1">
            <a:off x="4596818" y="2751121"/>
            <a:ext cx="2976810" cy="464347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9" name="流程圖: 接點 51">
            <a:extLst>
              <a:ext uri="{FF2B5EF4-FFF2-40B4-BE49-F238E27FC236}">
                <a16:creationId xmlns="" xmlns:a16="http://schemas.microsoft.com/office/drawing/2014/main" id="{66D30236-3304-4F96-E663-866F32FB7F14}"/>
              </a:ext>
            </a:extLst>
          </p:cNvPr>
          <p:cNvSpPr/>
          <p:nvPr/>
        </p:nvSpPr>
        <p:spPr bwMode="auto">
          <a:xfrm>
            <a:off x="8145132" y="3715534"/>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212" name="流程圖: 接點 51">
            <a:extLst>
              <a:ext uri="{FF2B5EF4-FFF2-40B4-BE49-F238E27FC236}">
                <a16:creationId xmlns="" xmlns:a16="http://schemas.microsoft.com/office/drawing/2014/main" id="{D968BA03-A3B5-6B2B-EE1E-6931C3F4BBCA}"/>
              </a:ext>
            </a:extLst>
          </p:cNvPr>
          <p:cNvSpPr/>
          <p:nvPr/>
        </p:nvSpPr>
        <p:spPr bwMode="auto">
          <a:xfrm>
            <a:off x="1026228" y="8696820"/>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11" name="直線單箭頭接點 10">
            <a:extLst>
              <a:ext uri="{FF2B5EF4-FFF2-40B4-BE49-F238E27FC236}">
                <a16:creationId xmlns="" xmlns:a16="http://schemas.microsoft.com/office/drawing/2014/main" id="{1426C4C4-D88E-13FC-0328-8502BF0C9A4C}"/>
              </a:ext>
            </a:extLst>
          </p:cNvPr>
          <p:cNvCxnSpPr>
            <a:cxnSpLocks/>
          </p:cNvCxnSpPr>
          <p:nvPr/>
        </p:nvCxnSpPr>
        <p:spPr>
          <a:xfrm>
            <a:off x="8340809" y="3090260"/>
            <a:ext cx="5678" cy="30675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直線單箭頭接點 193">
            <a:extLst>
              <a:ext uri="{FF2B5EF4-FFF2-40B4-BE49-F238E27FC236}">
                <a16:creationId xmlns="" xmlns:a16="http://schemas.microsoft.com/office/drawing/2014/main" id="{596C480C-02CB-D220-A79F-BAD7D4CA3E4F}"/>
              </a:ext>
            </a:extLst>
          </p:cNvPr>
          <p:cNvCxnSpPr>
            <a:cxnSpLocks/>
            <a:stCxn id="10" idx="2"/>
            <a:endCxn id="20" idx="0"/>
          </p:cNvCxnSpPr>
          <p:nvPr/>
        </p:nvCxnSpPr>
        <p:spPr>
          <a:xfrm>
            <a:off x="3717663" y="3093961"/>
            <a:ext cx="5631" cy="357610"/>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7" name="直線單箭頭接點 206">
            <a:extLst>
              <a:ext uri="{FF2B5EF4-FFF2-40B4-BE49-F238E27FC236}">
                <a16:creationId xmlns="" xmlns:a16="http://schemas.microsoft.com/office/drawing/2014/main" id="{797FACA0-4E48-F87C-DFE0-0B47F4C5ABA7}"/>
              </a:ext>
            </a:extLst>
          </p:cNvPr>
          <p:cNvCxnSpPr>
            <a:cxnSpLocks/>
          </p:cNvCxnSpPr>
          <p:nvPr/>
        </p:nvCxnSpPr>
        <p:spPr>
          <a:xfrm rot="5400000">
            <a:off x="3381111" y="4757890"/>
            <a:ext cx="625273" cy="4658"/>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8" name="直線單箭頭接點 207">
            <a:extLst>
              <a:ext uri="{FF2B5EF4-FFF2-40B4-BE49-F238E27FC236}">
                <a16:creationId xmlns="" xmlns:a16="http://schemas.microsoft.com/office/drawing/2014/main" id="{9AF119BC-9987-588A-CD97-2A9C282AF30F}"/>
              </a:ext>
            </a:extLst>
          </p:cNvPr>
          <p:cNvCxnSpPr>
            <a:cxnSpLocks/>
          </p:cNvCxnSpPr>
          <p:nvPr/>
        </p:nvCxnSpPr>
        <p:spPr>
          <a:xfrm rot="5400000">
            <a:off x="3453033" y="6525689"/>
            <a:ext cx="500064" cy="23294"/>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3" name="直線單箭頭接點 222">
            <a:extLst>
              <a:ext uri="{FF2B5EF4-FFF2-40B4-BE49-F238E27FC236}">
                <a16:creationId xmlns="" xmlns:a16="http://schemas.microsoft.com/office/drawing/2014/main" id="{2F3E957A-3281-64A8-7582-4497429770A5}"/>
              </a:ext>
            </a:extLst>
          </p:cNvPr>
          <p:cNvCxnSpPr>
            <a:cxnSpLocks/>
            <a:stCxn id="212" idx="6"/>
          </p:cNvCxnSpPr>
          <p:nvPr/>
        </p:nvCxnSpPr>
        <p:spPr>
          <a:xfrm>
            <a:off x="1571573" y="8930508"/>
            <a:ext cx="1285883" cy="3571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1"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grpSp>
        <p:nvGrpSpPr>
          <p:cNvPr id="76" name="群組 75"/>
          <p:cNvGrpSpPr/>
          <p:nvPr/>
        </p:nvGrpSpPr>
        <p:grpSpPr>
          <a:xfrm>
            <a:off x="2857456" y="8359004"/>
            <a:ext cx="1817458" cy="1217256"/>
            <a:chOff x="15073354" y="8308668"/>
            <a:chExt cx="1817458" cy="1217256"/>
          </a:xfrm>
        </p:grpSpPr>
        <p:sp>
          <p:nvSpPr>
            <p:cNvPr id="77" name="流程圖: 程序 7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ZMM060</a:t>
              </a:r>
              <a:endParaRPr lang="en-GB" sz="1500" b="1" dirty="0">
                <a:latin typeface="微軟正黑體" panose="020B0604030504040204" pitchFamily="34" charset="-120"/>
                <a:ea typeface="微軟正黑體" panose="020B0604030504040204" pitchFamily="34" charset="-120"/>
              </a:endParaRPr>
            </a:p>
          </p:txBody>
        </p:sp>
        <p:sp>
          <p:nvSpPr>
            <p:cNvPr id="78" name="流程圖: 程序 7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批量上傳對盤數</a:t>
              </a:r>
              <a:endParaRPr lang="zh-TW" altLang="en-US" sz="1500" dirty="0">
                <a:latin typeface="微軟正黑體" panose="020B0604030504040204" pitchFamily="34" charset="-120"/>
                <a:ea typeface="微軟正黑體" panose="020B0604030504040204" pitchFamily="34" charset="-120"/>
              </a:endParaRPr>
            </a:p>
          </p:txBody>
        </p:sp>
        <p:sp>
          <p:nvSpPr>
            <p:cNvPr id="79" name="流程圖: 程序 7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80" name="流程圖: 程序 79"/>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68" name="群組 67"/>
          <p:cNvGrpSpPr/>
          <p:nvPr/>
        </p:nvGrpSpPr>
        <p:grpSpPr>
          <a:xfrm>
            <a:off x="9929818" y="7129397"/>
            <a:ext cx="1817458" cy="1217256"/>
            <a:chOff x="15073354" y="8308668"/>
            <a:chExt cx="1817458" cy="1217256"/>
          </a:xfrm>
        </p:grpSpPr>
        <p:sp>
          <p:nvSpPr>
            <p:cNvPr id="69" name="流程圖: 程序 6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70" name="流程圖: 程序 6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關務稅務處理</a:t>
              </a:r>
              <a:endParaRPr lang="en-US" altLang="zh-TW" sz="1500" dirty="0">
                <a:latin typeface="微軟正黑體" panose="020B0604030504040204" pitchFamily="34" charset="-120"/>
                <a:ea typeface="微軟正黑體" panose="020B0604030504040204" pitchFamily="34" charset="-120"/>
              </a:endParaRPr>
            </a:p>
          </p:txBody>
        </p:sp>
        <p:sp>
          <p:nvSpPr>
            <p:cNvPr id="71" name="流程圖: 程序 7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72" name="流程圖: 程序 71"/>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8" name="Group 220">
            <a:extLst>
              <a:ext uri="{FF2B5EF4-FFF2-40B4-BE49-F238E27FC236}">
                <a16:creationId xmlns="" xmlns:a16="http://schemas.microsoft.com/office/drawing/2014/main" id="{A7860FD7-19E6-0CFB-9DA7-68F7DA2DE3BE}"/>
              </a:ext>
            </a:extLst>
          </p:cNvPr>
          <p:cNvGrpSpPr/>
          <p:nvPr/>
        </p:nvGrpSpPr>
        <p:grpSpPr>
          <a:xfrm>
            <a:off x="11539558" y="6858806"/>
            <a:ext cx="533400" cy="408605"/>
            <a:chOff x="5906184" y="1486857"/>
            <a:chExt cx="355600" cy="272361"/>
          </a:xfrm>
        </p:grpSpPr>
        <p:sp>
          <p:nvSpPr>
            <p:cNvPr id="196" name="Oval 221">
              <a:extLst>
                <a:ext uri="{FF2B5EF4-FFF2-40B4-BE49-F238E27FC236}">
                  <a16:creationId xmlns="" xmlns:a16="http://schemas.microsoft.com/office/drawing/2014/main" id="{F2F3F061-6DCD-E116-4F45-87BDAD81835C}"/>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7" name="TextBox 222">
              <a:extLst>
                <a:ext uri="{FF2B5EF4-FFF2-40B4-BE49-F238E27FC236}">
                  <a16:creationId xmlns="" xmlns:a16="http://schemas.microsoft.com/office/drawing/2014/main" id="{4E15B8A6-3752-534A-ED6B-D32E0F2E9C20}"/>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grpSp>
        <p:nvGrpSpPr>
          <p:cNvPr id="83" name="群組 82"/>
          <p:cNvGrpSpPr/>
          <p:nvPr/>
        </p:nvGrpSpPr>
        <p:grpSpPr>
          <a:xfrm>
            <a:off x="7573628" y="2143898"/>
            <a:ext cx="1810800" cy="1217256"/>
            <a:chOff x="15073354" y="8308668"/>
            <a:chExt cx="1810800" cy="1217256"/>
          </a:xfrm>
        </p:grpSpPr>
        <p:sp>
          <p:nvSpPr>
            <p:cNvPr id="84" name="流程圖: 程序 8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85" name="流程圖: 程序 8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執行複盤</a:t>
              </a:r>
              <a:endParaRPr lang="zh-TW" altLang="en-US" sz="1500" dirty="0">
                <a:latin typeface="微軟正黑體" panose="020B0604030504040204" pitchFamily="34" charset="-120"/>
                <a:ea typeface="微軟正黑體" panose="020B0604030504040204" pitchFamily="34" charset="-120"/>
              </a:endParaRPr>
            </a:p>
          </p:txBody>
        </p:sp>
        <p:sp>
          <p:nvSpPr>
            <p:cNvPr id="86" name="流程圖: 程序 8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87" name="流程圖: 程序 86"/>
            <p:cNvSpPr/>
            <p:nvPr/>
          </p:nvSpPr>
          <p:spPr>
            <a:xfrm>
              <a:off x="15993046"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91" name="群組 90"/>
          <p:cNvGrpSpPr/>
          <p:nvPr/>
        </p:nvGrpSpPr>
        <p:grpSpPr>
          <a:xfrm>
            <a:off x="2786018" y="6787368"/>
            <a:ext cx="1817458" cy="1217256"/>
            <a:chOff x="15073354" y="8308668"/>
            <a:chExt cx="1817458" cy="1217256"/>
          </a:xfrm>
        </p:grpSpPr>
        <p:sp>
          <p:nvSpPr>
            <p:cNvPr id="92" name="流程圖: 程序 9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ZMM060</a:t>
              </a:r>
              <a:endParaRPr lang="en-GB" sz="1500" b="1" dirty="0">
                <a:latin typeface="微軟正黑體" panose="020B0604030504040204" pitchFamily="34" charset="-120"/>
                <a:ea typeface="微軟正黑體" panose="020B0604030504040204" pitchFamily="34" charset="-120"/>
              </a:endParaRPr>
            </a:p>
          </p:txBody>
        </p:sp>
        <p:sp>
          <p:nvSpPr>
            <p:cNvPr id="93" name="流程圖: 程序 9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批量上傳實盤數</a:t>
              </a:r>
              <a:endParaRPr lang="zh-TW" altLang="en-US" sz="1500" dirty="0">
                <a:latin typeface="微軟正黑體" panose="020B0604030504040204" pitchFamily="34" charset="-120"/>
                <a:ea typeface="微軟正黑體" panose="020B0604030504040204" pitchFamily="34" charset="-120"/>
              </a:endParaRPr>
            </a:p>
          </p:txBody>
        </p:sp>
        <p:sp>
          <p:nvSpPr>
            <p:cNvPr id="94" name="流程圖: 程序 9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95" name="流程圖: 程序 94"/>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5" name="Group 220">
            <a:extLst>
              <a:ext uri="{FF2B5EF4-FFF2-40B4-BE49-F238E27FC236}">
                <a16:creationId xmlns="" xmlns:a16="http://schemas.microsoft.com/office/drawing/2014/main" id="{F9966606-BC07-30AB-1BA7-C273116B2D26}"/>
              </a:ext>
            </a:extLst>
          </p:cNvPr>
          <p:cNvGrpSpPr/>
          <p:nvPr/>
        </p:nvGrpSpPr>
        <p:grpSpPr>
          <a:xfrm>
            <a:off x="4357654" y="6573054"/>
            <a:ext cx="533400" cy="408605"/>
            <a:chOff x="5906184" y="1486857"/>
            <a:chExt cx="355600" cy="272361"/>
          </a:xfrm>
        </p:grpSpPr>
        <p:sp>
          <p:nvSpPr>
            <p:cNvPr id="58" name="Oval 221">
              <a:extLst>
                <a:ext uri="{FF2B5EF4-FFF2-40B4-BE49-F238E27FC236}">
                  <a16:creationId xmlns="" xmlns:a16="http://schemas.microsoft.com/office/drawing/2014/main" id="{51DAACBC-7AB5-174C-0707-3BCA405F43A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9" name="TextBox 222">
              <a:extLst>
                <a:ext uri="{FF2B5EF4-FFF2-40B4-BE49-F238E27FC236}">
                  <a16:creationId xmlns="" xmlns:a16="http://schemas.microsoft.com/office/drawing/2014/main" id="{52C15592-1E6F-E54A-4205-835A7837B7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104" name="直線單箭頭接點 103">
            <a:extLst>
              <a:ext uri="{FF2B5EF4-FFF2-40B4-BE49-F238E27FC236}">
                <a16:creationId xmlns="" xmlns:a16="http://schemas.microsoft.com/office/drawing/2014/main" id="{1426C4C4-D88E-13FC-0328-8502BF0C9A4C}"/>
              </a:ext>
            </a:extLst>
          </p:cNvPr>
          <p:cNvCxnSpPr>
            <a:cxnSpLocks/>
          </p:cNvCxnSpPr>
          <p:nvPr/>
        </p:nvCxnSpPr>
        <p:spPr>
          <a:xfrm>
            <a:off x="3571836" y="6001550"/>
            <a:ext cx="5678" cy="30675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13" name="直線單箭頭接點 112">
            <a:extLst>
              <a:ext uri="{FF2B5EF4-FFF2-40B4-BE49-F238E27FC236}">
                <a16:creationId xmlns="" xmlns:a16="http://schemas.microsoft.com/office/drawing/2014/main" id="{7713DAF7-311B-776F-657F-63B6329E31DE}"/>
              </a:ext>
            </a:extLst>
          </p:cNvPr>
          <p:cNvCxnSpPr>
            <a:cxnSpLocks/>
            <a:endCxn id="209" idx="0"/>
          </p:cNvCxnSpPr>
          <p:nvPr/>
        </p:nvCxnSpPr>
        <p:spPr>
          <a:xfrm rot="5400000">
            <a:off x="8245750" y="3530398"/>
            <a:ext cx="357192" cy="1308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19" name="Group 220">
            <a:extLst>
              <a:ext uri="{FF2B5EF4-FFF2-40B4-BE49-F238E27FC236}">
                <a16:creationId xmlns="" xmlns:a16="http://schemas.microsoft.com/office/drawing/2014/main" id="{B82D950B-57BE-B4ED-649A-63E395509E09}"/>
              </a:ext>
            </a:extLst>
          </p:cNvPr>
          <p:cNvGrpSpPr/>
          <p:nvPr/>
        </p:nvGrpSpPr>
        <p:grpSpPr>
          <a:xfrm>
            <a:off x="4429092" y="8144690"/>
            <a:ext cx="533400" cy="408605"/>
            <a:chOff x="5906184" y="1486857"/>
            <a:chExt cx="355600" cy="272361"/>
          </a:xfrm>
        </p:grpSpPr>
        <p:sp>
          <p:nvSpPr>
            <p:cNvPr id="120" name="Oval 221">
              <a:extLst>
                <a:ext uri="{FF2B5EF4-FFF2-40B4-BE49-F238E27FC236}">
                  <a16:creationId xmlns="" xmlns:a16="http://schemas.microsoft.com/office/drawing/2014/main" id="{1626D56F-C8C2-6073-FA79-A9FAC6A8CEE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1" name="TextBox 222">
              <a:extLst>
                <a:ext uri="{FF2B5EF4-FFF2-40B4-BE49-F238E27FC236}">
                  <a16:creationId xmlns="" xmlns:a16="http://schemas.microsoft.com/office/drawing/2014/main" id="{0628CEF9-2BF0-5D68-ED4A-FBDD63D09B3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nvGrpSpPr>
          <p:cNvPr id="122" name="群組 121"/>
          <p:cNvGrpSpPr/>
          <p:nvPr/>
        </p:nvGrpSpPr>
        <p:grpSpPr>
          <a:xfrm>
            <a:off x="7590807" y="4787104"/>
            <a:ext cx="1817458" cy="1217256"/>
            <a:chOff x="15073354" y="8308668"/>
            <a:chExt cx="1817458" cy="1217256"/>
          </a:xfrm>
        </p:grpSpPr>
        <p:sp>
          <p:nvSpPr>
            <p:cNvPr id="123" name="流程圖: 程序 12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MI20</a:t>
              </a:r>
              <a:endParaRPr lang="en-GB" sz="1500" b="1" dirty="0">
                <a:latin typeface="微軟正黑體" panose="020B0604030504040204" pitchFamily="34" charset="-120"/>
                <a:ea typeface="微軟正黑體" panose="020B0604030504040204" pitchFamily="34" charset="-120"/>
              </a:endParaRPr>
            </a:p>
          </p:txBody>
        </p:sp>
        <p:sp>
          <p:nvSpPr>
            <p:cNvPr id="124" name="流程圖: 程序 12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盤盈虧差異明細</a:t>
              </a:r>
              <a:endParaRPr lang="zh-TW" altLang="en-US" sz="1500" dirty="0">
                <a:latin typeface="微軟正黑體" panose="020B0604030504040204" pitchFamily="34" charset="-120"/>
                <a:ea typeface="微軟正黑體" panose="020B0604030504040204" pitchFamily="34" charset="-120"/>
              </a:endParaRPr>
            </a:p>
          </p:txBody>
        </p:sp>
        <p:sp>
          <p:nvSpPr>
            <p:cNvPr id="125" name="流程圖: 程序 12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26" name="流程圖: 程序 125"/>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9" name="Group 220">
            <a:extLst>
              <a:ext uri="{FF2B5EF4-FFF2-40B4-BE49-F238E27FC236}">
                <a16:creationId xmlns="" xmlns:a16="http://schemas.microsoft.com/office/drawing/2014/main" id="{B82D950B-57BE-B4ED-649A-63E395509E09}"/>
              </a:ext>
            </a:extLst>
          </p:cNvPr>
          <p:cNvGrpSpPr/>
          <p:nvPr/>
        </p:nvGrpSpPr>
        <p:grpSpPr>
          <a:xfrm>
            <a:off x="9110666" y="4537297"/>
            <a:ext cx="533400" cy="408605"/>
            <a:chOff x="5906184" y="1486857"/>
            <a:chExt cx="355600" cy="272361"/>
          </a:xfrm>
        </p:grpSpPr>
        <p:sp>
          <p:nvSpPr>
            <p:cNvPr id="317" name="Oval 221">
              <a:extLst>
                <a:ext uri="{FF2B5EF4-FFF2-40B4-BE49-F238E27FC236}">
                  <a16:creationId xmlns="" xmlns:a16="http://schemas.microsoft.com/office/drawing/2014/main" id="{1626D56F-C8C2-6073-FA79-A9FAC6A8CEE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18" name="TextBox 222">
              <a:extLst>
                <a:ext uri="{FF2B5EF4-FFF2-40B4-BE49-F238E27FC236}">
                  <a16:creationId xmlns="" xmlns:a16="http://schemas.microsoft.com/office/drawing/2014/main" id="{0628CEF9-2BF0-5D68-ED4A-FBDD63D09B3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cxnSp>
        <p:nvCxnSpPr>
          <p:cNvPr id="132" name="直線單箭頭接點 131">
            <a:extLst>
              <a:ext uri="{FF2B5EF4-FFF2-40B4-BE49-F238E27FC236}">
                <a16:creationId xmlns="" xmlns:a16="http://schemas.microsoft.com/office/drawing/2014/main" id="{1426C4C4-D88E-13FC-0328-8502BF0C9A4C}"/>
              </a:ext>
            </a:extLst>
          </p:cNvPr>
          <p:cNvCxnSpPr>
            <a:cxnSpLocks/>
          </p:cNvCxnSpPr>
          <p:nvPr/>
        </p:nvCxnSpPr>
        <p:spPr>
          <a:xfrm>
            <a:off x="3571836" y="6001550"/>
            <a:ext cx="5678" cy="30675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33" name="群組 132"/>
          <p:cNvGrpSpPr/>
          <p:nvPr/>
        </p:nvGrpSpPr>
        <p:grpSpPr>
          <a:xfrm>
            <a:off x="2786018" y="5072856"/>
            <a:ext cx="1810800" cy="1217256"/>
            <a:chOff x="15073354" y="8308668"/>
            <a:chExt cx="1810800" cy="1217256"/>
          </a:xfrm>
        </p:grpSpPr>
        <p:sp>
          <p:nvSpPr>
            <p:cNvPr id="134" name="流程圖: 程序 133"/>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35" name="流程圖: 程序 134"/>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執行實際盤點</a:t>
              </a:r>
              <a:endParaRPr lang="zh-TW" altLang="en-US" sz="1500" dirty="0">
                <a:latin typeface="微軟正黑體" panose="020B0604030504040204" pitchFamily="34" charset="-120"/>
                <a:ea typeface="微軟正黑體" panose="020B0604030504040204" pitchFamily="34" charset="-120"/>
              </a:endParaRPr>
            </a:p>
          </p:txBody>
        </p:sp>
        <p:sp>
          <p:nvSpPr>
            <p:cNvPr id="136" name="流程圖: 程序 135"/>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37" name="流程圖: 程序 136"/>
            <p:cNvSpPr/>
            <p:nvPr/>
          </p:nvSpPr>
          <p:spPr>
            <a:xfrm>
              <a:off x="15993046"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4" name="Group 220">
            <a:extLst>
              <a:ext uri="{FF2B5EF4-FFF2-40B4-BE49-F238E27FC236}">
                <a16:creationId xmlns="" xmlns:a16="http://schemas.microsoft.com/office/drawing/2014/main" id="{0A24AFBE-D8AB-6CA1-8781-23A3BA5FACAB}"/>
              </a:ext>
            </a:extLst>
          </p:cNvPr>
          <p:cNvGrpSpPr/>
          <p:nvPr/>
        </p:nvGrpSpPr>
        <p:grpSpPr>
          <a:xfrm>
            <a:off x="4357654" y="4858542"/>
            <a:ext cx="533400" cy="408605"/>
            <a:chOff x="5906184" y="1486857"/>
            <a:chExt cx="355600" cy="272361"/>
          </a:xfrm>
        </p:grpSpPr>
        <p:sp>
          <p:nvSpPr>
            <p:cNvPr id="44" name="Oval 221">
              <a:extLst>
                <a:ext uri="{FF2B5EF4-FFF2-40B4-BE49-F238E27FC236}">
                  <a16:creationId xmlns="" xmlns:a16="http://schemas.microsoft.com/office/drawing/2014/main" id="{647DB425-229F-EC52-C3FE-B072AC4D7BA6}"/>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TextBox 222">
              <a:extLst>
                <a:ext uri="{FF2B5EF4-FFF2-40B4-BE49-F238E27FC236}">
                  <a16:creationId xmlns="" xmlns:a16="http://schemas.microsoft.com/office/drawing/2014/main" id="{5CD12A95-6714-14E9-06BC-17141ECA783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44" name="群組 143"/>
          <p:cNvGrpSpPr/>
          <p:nvPr/>
        </p:nvGrpSpPr>
        <p:grpSpPr>
          <a:xfrm>
            <a:off x="7572364" y="7114460"/>
            <a:ext cx="1817458" cy="1217256"/>
            <a:chOff x="15073354" y="8308668"/>
            <a:chExt cx="1817458" cy="1217256"/>
          </a:xfrm>
        </p:grpSpPr>
        <p:sp>
          <p:nvSpPr>
            <p:cNvPr id="145" name="流程圖: 程序 14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MI07</a:t>
              </a:r>
              <a:endParaRPr lang="en-GB" sz="1500" b="1" dirty="0">
                <a:latin typeface="微軟正黑體" panose="020B0604030504040204" pitchFamily="34" charset="-120"/>
                <a:ea typeface="微軟正黑體" panose="020B0604030504040204" pitchFamily="34" charset="-120"/>
              </a:endParaRPr>
            </a:p>
          </p:txBody>
        </p:sp>
        <p:sp>
          <p:nvSpPr>
            <p:cNvPr id="146" name="流程圖: 程序 14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盤盈虧過帳</a:t>
              </a:r>
              <a:endParaRPr lang="zh-TW" altLang="en-US" sz="1500" dirty="0">
                <a:latin typeface="微軟正黑體" panose="020B0604030504040204" pitchFamily="34" charset="-120"/>
                <a:ea typeface="微軟正黑體" panose="020B0604030504040204" pitchFamily="34" charset="-120"/>
              </a:endParaRPr>
            </a:p>
          </p:txBody>
        </p:sp>
        <p:sp>
          <p:nvSpPr>
            <p:cNvPr id="147" name="流程圖: 程序 146"/>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8" name="流程圖: 程序 147"/>
            <p:cNvSpPr/>
            <p:nvPr/>
          </p:nvSpPr>
          <p:spPr>
            <a:xfrm>
              <a:off x="160088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22" name="Group 220">
            <a:extLst>
              <a:ext uri="{FF2B5EF4-FFF2-40B4-BE49-F238E27FC236}">
                <a16:creationId xmlns="" xmlns:a16="http://schemas.microsoft.com/office/drawing/2014/main" id="{3D53D1F1-7082-B5B5-43BA-6F1A0FC9C9CE}"/>
              </a:ext>
            </a:extLst>
          </p:cNvPr>
          <p:cNvGrpSpPr/>
          <p:nvPr/>
        </p:nvGrpSpPr>
        <p:grpSpPr>
          <a:xfrm>
            <a:off x="9110666" y="6917893"/>
            <a:ext cx="533400" cy="408605"/>
            <a:chOff x="5906184" y="1486857"/>
            <a:chExt cx="355600" cy="272361"/>
          </a:xfrm>
        </p:grpSpPr>
        <p:sp>
          <p:nvSpPr>
            <p:cNvPr id="34" name="Oval 221">
              <a:extLst>
                <a:ext uri="{FF2B5EF4-FFF2-40B4-BE49-F238E27FC236}">
                  <a16:creationId xmlns="" xmlns:a16="http://schemas.microsoft.com/office/drawing/2014/main" id="{15F3981B-6D92-7D9D-C7CF-1EB9E28A724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TextBox 222">
              <a:extLst>
                <a:ext uri="{FF2B5EF4-FFF2-40B4-BE49-F238E27FC236}">
                  <a16:creationId xmlns="" xmlns:a16="http://schemas.microsoft.com/office/drawing/2014/main" id="{218A0EE8-928F-B846-6652-BB784A203D16}"/>
                </a:ext>
              </a:extLst>
            </p:cNvPr>
            <p:cNvSpPr txBox="1"/>
            <p:nvPr/>
          </p:nvSpPr>
          <p:spPr>
            <a:xfrm>
              <a:off x="5906184" y="1507079"/>
              <a:ext cx="355600" cy="215410"/>
            </a:xfrm>
            <a:prstGeom prst="rect">
              <a:avLst/>
            </a:prstGeom>
            <a:noFill/>
          </p:spPr>
          <p:txBody>
            <a:bodyPr wrap="square" rtlCol="0">
              <a:spAutoFit/>
            </a:bodyPr>
            <a:lstStyle/>
            <a:p>
              <a:r>
                <a:rPr lang="en-US" altLang="zh-TW" sz="1500" smtClean="0">
                  <a:latin typeface="微軟正黑體" panose="020B0604030504040204" pitchFamily="34" charset="-120"/>
                  <a:ea typeface="微軟正黑體" panose="020B0604030504040204" pitchFamily="34" charset="-120"/>
                </a:rPr>
                <a:t>10</a:t>
              </a:r>
              <a:endParaRPr lang="zh-TW" altLang="en-US" sz="1500" dirty="0">
                <a:latin typeface="微軟正黑體" panose="020B0604030504040204" pitchFamily="34" charset="-120"/>
                <a:ea typeface="微軟正黑體" panose="020B0604030504040204" pitchFamily="34" charset="-120"/>
              </a:endParaRPr>
            </a:p>
          </p:txBody>
        </p:sp>
      </p:grpSp>
      <p:cxnSp>
        <p:nvCxnSpPr>
          <p:cNvPr id="102" name="肘形接點 68">
            <a:extLst>
              <a:ext uri="{FF2B5EF4-FFF2-40B4-BE49-F238E27FC236}">
                <a16:creationId xmlns="" xmlns:a16="http://schemas.microsoft.com/office/drawing/2014/main" id="{57A92873-BDC9-777D-7260-9EC124562C0F}"/>
              </a:ext>
            </a:extLst>
          </p:cNvPr>
          <p:cNvCxnSpPr>
            <a:cxnSpLocks/>
            <a:stCxn id="78" idx="3"/>
            <a:endCxn id="124" idx="1"/>
          </p:cNvCxnSpPr>
          <p:nvPr/>
        </p:nvCxnSpPr>
        <p:spPr>
          <a:xfrm flipV="1">
            <a:off x="4668256" y="5394327"/>
            <a:ext cx="2922551" cy="357190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6" name="Straight Connector 284">
            <a:extLst>
              <a:ext uri="{FF2B5EF4-FFF2-40B4-BE49-F238E27FC236}">
                <a16:creationId xmlns="" xmlns:a16="http://schemas.microsoft.com/office/drawing/2014/main" id="{81A51785-F7FF-20F1-F5CA-630ACE5FA9F2}"/>
              </a:ext>
            </a:extLst>
          </p:cNvPr>
          <p:cNvCxnSpPr>
            <a:cxnSpLocks/>
          </p:cNvCxnSpPr>
          <p:nvPr/>
        </p:nvCxnSpPr>
        <p:spPr>
          <a:xfrm>
            <a:off x="7286612" y="1358080"/>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線單箭頭接點 109">
            <a:extLst>
              <a:ext uri="{FF2B5EF4-FFF2-40B4-BE49-F238E27FC236}">
                <a16:creationId xmlns="" xmlns:a16="http://schemas.microsoft.com/office/drawing/2014/main" id="{1426C4C4-D88E-13FC-0328-8502BF0C9A4C}"/>
              </a:ext>
            </a:extLst>
          </p:cNvPr>
          <p:cNvCxnSpPr>
            <a:cxnSpLocks/>
          </p:cNvCxnSpPr>
          <p:nvPr/>
        </p:nvCxnSpPr>
        <p:spPr>
          <a:xfrm>
            <a:off x="5945251" y="9274975"/>
            <a:ext cx="5678" cy="306751"/>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11" name="群組 110"/>
          <p:cNvGrpSpPr/>
          <p:nvPr/>
        </p:nvGrpSpPr>
        <p:grpSpPr>
          <a:xfrm>
            <a:off x="5178070" y="8328613"/>
            <a:ext cx="1810800" cy="1217256"/>
            <a:chOff x="15073354" y="8308668"/>
            <a:chExt cx="1810800" cy="1217256"/>
          </a:xfrm>
        </p:grpSpPr>
        <p:sp>
          <p:nvSpPr>
            <p:cNvPr id="112" name="流程圖: 程序 11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14" name="流程圖: 程序 11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主管簽核</a:t>
              </a:r>
              <a:endParaRPr lang="zh-TW" altLang="en-US" sz="1500" dirty="0">
                <a:latin typeface="微軟正黑體" panose="020B0604030504040204" pitchFamily="34" charset="-120"/>
                <a:ea typeface="微軟正黑體" panose="020B0604030504040204" pitchFamily="34" charset="-120"/>
              </a:endParaRPr>
            </a:p>
          </p:txBody>
        </p:sp>
        <p:sp>
          <p:nvSpPr>
            <p:cNvPr id="115" name="流程圖: 程序 11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16" name="流程圖: 程序 115"/>
            <p:cNvSpPr/>
            <p:nvPr/>
          </p:nvSpPr>
          <p:spPr>
            <a:xfrm>
              <a:off x="15993046"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cxnSp>
        <p:nvCxnSpPr>
          <p:cNvPr id="118" name="肘形接點 68">
            <a:extLst>
              <a:ext uri="{FF2B5EF4-FFF2-40B4-BE49-F238E27FC236}">
                <a16:creationId xmlns="" xmlns:a16="http://schemas.microsoft.com/office/drawing/2014/main" id="{57A92873-BDC9-777D-7260-9EC124562C0F}"/>
              </a:ext>
            </a:extLst>
          </p:cNvPr>
          <p:cNvCxnSpPr>
            <a:cxnSpLocks/>
          </p:cNvCxnSpPr>
          <p:nvPr/>
        </p:nvCxnSpPr>
        <p:spPr>
          <a:xfrm flipV="1">
            <a:off x="4668256" y="8935836"/>
            <a:ext cx="509814" cy="3039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9" name="肘形接點 68">
            <a:extLst>
              <a:ext uri="{FF2B5EF4-FFF2-40B4-BE49-F238E27FC236}">
                <a16:creationId xmlns="" xmlns:a16="http://schemas.microsoft.com/office/drawing/2014/main" id="{4A4BF398-DB44-F166-D9E3-2412F110238F}"/>
              </a:ext>
            </a:extLst>
          </p:cNvPr>
          <p:cNvCxnSpPr>
            <a:cxnSpLocks/>
            <a:stCxn id="124" idx="2"/>
            <a:endCxn id="69" idx="0"/>
          </p:cNvCxnSpPr>
          <p:nvPr/>
        </p:nvCxnSpPr>
        <p:spPr>
          <a:xfrm rot="16200000" flipH="1">
            <a:off x="8923194" y="5217372"/>
            <a:ext cx="1485037" cy="233901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2" name="肘形接點 68">
            <a:extLst>
              <a:ext uri="{FF2B5EF4-FFF2-40B4-BE49-F238E27FC236}">
                <a16:creationId xmlns="" xmlns:a16="http://schemas.microsoft.com/office/drawing/2014/main" id="{4A4BF398-DB44-F166-D9E3-2412F110238F}"/>
              </a:ext>
            </a:extLst>
          </p:cNvPr>
          <p:cNvCxnSpPr>
            <a:cxnSpLocks/>
            <a:stCxn id="146" idx="2"/>
            <a:endCxn id="205" idx="1"/>
          </p:cNvCxnSpPr>
          <p:nvPr/>
        </p:nvCxnSpPr>
        <p:spPr>
          <a:xfrm rot="16200000" flipH="1">
            <a:off x="9712714" y="6736766"/>
            <a:ext cx="1245298" cy="371519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7" name="肘形接點 68">
            <a:extLst>
              <a:ext uri="{FF2B5EF4-FFF2-40B4-BE49-F238E27FC236}">
                <a16:creationId xmlns="" xmlns:a16="http://schemas.microsoft.com/office/drawing/2014/main" id="{4A4BF398-DB44-F166-D9E3-2412F110238F}"/>
              </a:ext>
            </a:extLst>
          </p:cNvPr>
          <p:cNvCxnSpPr>
            <a:cxnSpLocks/>
            <a:stCxn id="114" idx="3"/>
            <a:endCxn id="205" idx="1"/>
          </p:cNvCxnSpPr>
          <p:nvPr/>
        </p:nvCxnSpPr>
        <p:spPr>
          <a:xfrm>
            <a:off x="6988870" y="8935836"/>
            <a:ext cx="5204092" cy="28117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6" name="Group 220">
            <a:extLst>
              <a:ext uri="{FF2B5EF4-FFF2-40B4-BE49-F238E27FC236}">
                <a16:creationId xmlns="" xmlns:a16="http://schemas.microsoft.com/office/drawing/2014/main" id="{9D541E29-4A08-F947-F56D-E61A0FEC260F}"/>
              </a:ext>
            </a:extLst>
          </p:cNvPr>
          <p:cNvGrpSpPr/>
          <p:nvPr/>
        </p:nvGrpSpPr>
        <p:grpSpPr>
          <a:xfrm>
            <a:off x="9110666" y="1949607"/>
            <a:ext cx="533400" cy="408605"/>
            <a:chOff x="5906184" y="1486857"/>
            <a:chExt cx="355600" cy="272361"/>
          </a:xfrm>
        </p:grpSpPr>
        <p:sp>
          <p:nvSpPr>
            <p:cNvPr id="269" name="Oval 221">
              <a:extLst>
                <a:ext uri="{FF2B5EF4-FFF2-40B4-BE49-F238E27FC236}">
                  <a16:creationId xmlns="" xmlns:a16="http://schemas.microsoft.com/office/drawing/2014/main" id="{49C63E6D-8B4D-9BE2-13AC-C49F3C31181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0" name="TextBox 222">
              <a:extLst>
                <a:ext uri="{FF2B5EF4-FFF2-40B4-BE49-F238E27FC236}">
                  <a16:creationId xmlns="" xmlns:a16="http://schemas.microsoft.com/office/drawing/2014/main" id="{666764CE-9844-D490-A987-195D85BF381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sp>
        <p:nvSpPr>
          <p:cNvPr id="109" name="文字方塊 17">
            <a:extLst>
              <a:ext uri="{FF2B5EF4-FFF2-40B4-BE49-F238E27FC236}">
                <a16:creationId xmlns="" xmlns:a16="http://schemas.microsoft.com/office/drawing/2014/main" id="{0F2761B4-5F29-64DD-1721-5831D073894C}"/>
              </a:ext>
            </a:extLst>
          </p:cNvPr>
          <p:cNvSpPr txBox="1"/>
          <p:nvPr/>
        </p:nvSpPr>
        <p:spPr>
          <a:xfrm>
            <a:off x="5214910" y="1358080"/>
            <a:ext cx="1853246" cy="400110"/>
          </a:xfrm>
          <a:prstGeom prst="rect">
            <a:avLst/>
          </a:prstGeom>
          <a:noFill/>
        </p:spPr>
        <p:txBody>
          <a:bodyPr wrap="square" lIns="137160" tIns="68580" rIns="137160" bIns="68580" rtlCol="0">
            <a:spAutoFit/>
          </a:bodyPr>
          <a:lstStyle/>
          <a:p>
            <a:pPr algn="ctr"/>
            <a:r>
              <a:rPr lang="zh-TW" altLang="en-US" sz="1700" dirty="0" smtClean="0"/>
              <a:t>倉管主管</a:t>
            </a:r>
            <a:endParaRPr lang="zh-TW" altLang="en-US" sz="1700" dirty="0"/>
          </a:p>
        </p:txBody>
      </p:sp>
      <p:sp>
        <p:nvSpPr>
          <p:cNvPr id="117" name="矩形 116"/>
          <p:cNvSpPr/>
          <p:nvPr/>
        </p:nvSpPr>
        <p:spPr>
          <a:xfrm>
            <a:off x="16703238" y="669100"/>
            <a:ext cx="1299074" cy="369332"/>
          </a:xfrm>
          <a:prstGeom prst="rect">
            <a:avLst/>
          </a:prstGeom>
        </p:spPr>
        <p:txBody>
          <a:bodyPr wrap="none">
            <a:spAutoFit/>
          </a:bodyPr>
          <a:lstStyle/>
          <a:p>
            <a:pPr algn="ctr" defTabSz="1371600">
              <a:lnSpc>
                <a:spcPct val="100000"/>
              </a:lnSpc>
              <a:tabLst>
                <a:tab pos="0" algn="l"/>
              </a:tabLst>
            </a:pPr>
            <a:r>
              <a:rPr lang="en-US" spc="-1" dirty="0" smtClean="0">
                <a:solidFill>
                  <a:srgbClr val="000000"/>
                </a:solidFill>
              </a:rPr>
              <a:t>2025/07/21</a:t>
            </a:r>
            <a:endParaRPr lang="en-US" spc="-1" dirty="0">
              <a:solidFill>
                <a:srgbClr val="000000"/>
              </a:solidFill>
            </a:endParaRPr>
          </a:p>
        </p:txBody>
      </p:sp>
    </p:spTree>
    <p:extLst>
      <p:ext uri="{BB962C8B-B14F-4D97-AF65-F5344CB8AC3E}">
        <p14:creationId xmlns="" xmlns:p14="http://schemas.microsoft.com/office/powerpoint/2010/main" val="3333837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p>
          <a:p>
            <a:endParaRPr lang="en-US" sz="2400" dirty="0">
              <a:solidFill>
                <a:schemeClr val="dk1"/>
              </a:solidFill>
            </a:endParaRPr>
          </a:p>
          <a:p>
            <a:pPr marL="457200" indent="-457200">
              <a:buAutoNum type="arabicPlain"/>
            </a:pPr>
            <a:r>
              <a:rPr lang="en-US" altLang="zh-TW" sz="2400" dirty="0" smtClean="0">
                <a:solidFill>
                  <a:schemeClr val="dk1"/>
                </a:solidFill>
                <a:latin typeface="Arial"/>
                <a:ea typeface="Arial"/>
                <a:cs typeface="Arial"/>
                <a:sym typeface="Arial"/>
              </a:rPr>
              <a:t>SAP</a:t>
            </a:r>
            <a:r>
              <a:rPr lang="zh-TW" altLang="en-US" sz="2400" dirty="0" smtClean="0">
                <a:solidFill>
                  <a:schemeClr val="dk1"/>
                </a:solidFill>
                <a:latin typeface="Arial"/>
                <a:ea typeface="Arial"/>
                <a:cs typeface="Arial"/>
                <a:sym typeface="Arial"/>
              </a:rPr>
              <a:t>系統當下有開放的帳期都可以作盤差調整</a:t>
            </a:r>
            <a:endParaRPr lang="en-US" altLang="zh-TW" sz="2400" dirty="0" smtClean="0">
              <a:solidFill>
                <a:schemeClr val="dk1"/>
              </a:solidFill>
              <a:latin typeface="Arial"/>
              <a:ea typeface="Arial"/>
              <a:cs typeface="Arial"/>
              <a:sym typeface="Arial"/>
            </a:endParaRPr>
          </a:p>
          <a:p>
            <a:pPr marL="457200" indent="-457200">
              <a:buAutoNum type="arabicPlain"/>
            </a:pPr>
            <a:endParaRPr lang="zh-TW" altLang="en-US" sz="2400" dirty="0" smtClean="0">
              <a:solidFill>
                <a:schemeClr val="dk1"/>
              </a:solidFill>
              <a:latin typeface="Arial"/>
              <a:ea typeface="Arial"/>
              <a:cs typeface="Arial"/>
              <a:sym typeface="Arial"/>
            </a:endParaRPr>
          </a:p>
          <a:p>
            <a:r>
              <a:rPr lang="en-US" altLang="zh-TW" sz="2400" dirty="0" smtClean="0">
                <a:solidFill>
                  <a:schemeClr val="dk1"/>
                </a:solidFill>
                <a:latin typeface="Arial"/>
                <a:ea typeface="Arial"/>
                <a:cs typeface="Arial"/>
                <a:sym typeface="Arial"/>
              </a:rPr>
              <a:t>2</a:t>
            </a:r>
            <a:r>
              <a:rPr lang="zh-TW" altLang="en-US" sz="2400" dirty="0" smtClean="0">
                <a:solidFill>
                  <a:schemeClr val="dk1"/>
                </a:solidFill>
                <a:latin typeface="Arial"/>
                <a:ea typeface="Arial"/>
                <a:cs typeface="Arial"/>
                <a:sym typeface="Arial"/>
              </a:rPr>
              <a:t>　產生盤點文件時有設「凍結帳面庫存」，產生盤點文件時會立即抄寫計畫盤點日期所在的期別的期未庫存作為盤點文件的帳面數</a:t>
            </a:r>
          </a:p>
          <a:p>
            <a:r>
              <a:rPr lang="zh-TW" altLang="en-US" sz="2400" dirty="0" smtClean="0">
                <a:solidFill>
                  <a:schemeClr val="dk1"/>
                </a:solidFill>
                <a:latin typeface="Arial"/>
                <a:ea typeface="Arial"/>
                <a:cs typeface="Arial"/>
                <a:sym typeface="Arial"/>
              </a:rPr>
              <a:t>	例如 計畫盤點日期是</a:t>
            </a:r>
            <a:r>
              <a:rPr lang="en-US" altLang="zh-TW" sz="2400" dirty="0" smtClean="0">
                <a:solidFill>
                  <a:schemeClr val="dk1"/>
                </a:solidFill>
                <a:latin typeface="Arial"/>
                <a:ea typeface="Arial"/>
                <a:cs typeface="Arial"/>
                <a:sym typeface="Arial"/>
              </a:rPr>
              <a:t>2025/05/31</a:t>
            </a:r>
            <a:r>
              <a:rPr lang="zh-TW" altLang="en-US" sz="2400" dirty="0" smtClean="0">
                <a:solidFill>
                  <a:schemeClr val="dk1"/>
                </a:solidFill>
                <a:latin typeface="Arial"/>
                <a:ea typeface="Arial"/>
                <a:cs typeface="Arial"/>
                <a:sym typeface="Arial"/>
              </a:rPr>
              <a:t>，會抓到</a:t>
            </a:r>
            <a:r>
              <a:rPr lang="en-US" altLang="zh-TW" sz="2400" dirty="0" smtClean="0">
                <a:solidFill>
                  <a:schemeClr val="dk1"/>
                </a:solidFill>
                <a:latin typeface="Arial"/>
                <a:ea typeface="Arial"/>
                <a:cs typeface="Arial"/>
                <a:sym typeface="Arial"/>
              </a:rPr>
              <a:t>2025/5 </a:t>
            </a:r>
            <a:r>
              <a:rPr lang="zh-TW" altLang="en-US" sz="2400" dirty="0" smtClean="0">
                <a:solidFill>
                  <a:schemeClr val="dk1"/>
                </a:solidFill>
                <a:latin typeface="Arial"/>
                <a:ea typeface="Arial"/>
                <a:cs typeface="Arial"/>
                <a:sym typeface="Arial"/>
              </a:rPr>
              <a:t>結餘庫存到盤點文件的帳面數中。</a:t>
            </a:r>
            <a:endParaRPr lang="en-US" altLang="zh-TW" sz="2400" dirty="0" smtClean="0">
              <a:solidFill>
                <a:schemeClr val="dk1"/>
              </a:solidFill>
              <a:latin typeface="Arial"/>
              <a:ea typeface="Arial"/>
              <a:cs typeface="Arial"/>
              <a:sym typeface="Arial"/>
            </a:endParaRPr>
          </a:p>
          <a:p>
            <a:endParaRPr lang="zh-TW" altLang="en-US" sz="2400" dirty="0" smtClean="0">
              <a:solidFill>
                <a:schemeClr val="dk1"/>
              </a:solidFill>
              <a:latin typeface="Arial"/>
              <a:ea typeface="Arial"/>
              <a:cs typeface="Arial"/>
              <a:sym typeface="Arial"/>
            </a:endParaRPr>
          </a:p>
          <a:p>
            <a:r>
              <a:rPr lang="en-US" altLang="zh-TW" sz="2400" dirty="0" smtClean="0">
                <a:solidFill>
                  <a:schemeClr val="dk1"/>
                </a:solidFill>
                <a:latin typeface="Arial"/>
                <a:ea typeface="Arial"/>
                <a:cs typeface="Arial"/>
                <a:sym typeface="Arial"/>
              </a:rPr>
              <a:t>3</a:t>
            </a:r>
            <a:r>
              <a:rPr lang="zh-TW" altLang="en-US" sz="2400" dirty="0" smtClean="0">
                <a:solidFill>
                  <a:schemeClr val="dk1"/>
                </a:solidFill>
                <a:latin typeface="Arial"/>
                <a:ea typeface="Arial"/>
                <a:cs typeface="Arial"/>
                <a:sym typeface="Arial"/>
              </a:rPr>
              <a:t>　輸入實盤數時的盤點日期 決定盤差的過帳期別。</a:t>
            </a:r>
          </a:p>
          <a:p>
            <a:r>
              <a:rPr lang="zh-TW" altLang="en-US" sz="2400" dirty="0" smtClean="0">
                <a:solidFill>
                  <a:schemeClr val="dk1"/>
                </a:solidFill>
                <a:latin typeface="Arial"/>
                <a:ea typeface="Arial"/>
                <a:cs typeface="Arial"/>
                <a:sym typeface="Arial"/>
              </a:rPr>
              <a:t>	例如 盤點日期 是</a:t>
            </a:r>
            <a:r>
              <a:rPr lang="en-US" altLang="zh-TW" sz="2400" dirty="0" smtClean="0">
                <a:solidFill>
                  <a:schemeClr val="dk1"/>
                </a:solidFill>
                <a:latin typeface="Arial"/>
                <a:ea typeface="Arial"/>
                <a:cs typeface="Arial"/>
                <a:sym typeface="Arial"/>
              </a:rPr>
              <a:t>2025/05/31 </a:t>
            </a:r>
            <a:r>
              <a:rPr lang="zh-TW" altLang="en-US" sz="2400" dirty="0" smtClean="0">
                <a:solidFill>
                  <a:schemeClr val="dk1"/>
                </a:solidFill>
                <a:latin typeface="Arial"/>
                <a:ea typeface="Arial"/>
                <a:cs typeface="Arial"/>
                <a:sym typeface="Arial"/>
              </a:rPr>
              <a:t>，只能過帳到</a:t>
            </a:r>
            <a:r>
              <a:rPr lang="en-US" altLang="zh-TW" sz="2400" dirty="0" smtClean="0">
                <a:solidFill>
                  <a:schemeClr val="dk1"/>
                </a:solidFill>
                <a:latin typeface="Arial"/>
                <a:ea typeface="Arial"/>
                <a:cs typeface="Arial"/>
                <a:sym typeface="Arial"/>
              </a:rPr>
              <a:t>2025/5	</a:t>
            </a:r>
          </a:p>
          <a:p>
            <a:endParaRPr lang="en-US" altLang="zh-TW" sz="2400" dirty="0" smtClean="0">
              <a:solidFill>
                <a:schemeClr val="dk1"/>
              </a:solidFill>
              <a:latin typeface="Arial"/>
              <a:ea typeface="Arial"/>
              <a:cs typeface="Arial"/>
              <a:sym typeface="Arial"/>
            </a:endParaRPr>
          </a:p>
          <a:p>
            <a:pPr marL="457200" indent="-457200">
              <a:buAutoNum type="arabicPlain" startAt="4"/>
            </a:pPr>
            <a:r>
              <a:rPr lang="zh-TW" altLang="en-US" sz="2400" dirty="0" smtClean="0">
                <a:solidFill>
                  <a:schemeClr val="dk1"/>
                </a:solidFill>
                <a:latin typeface="Arial"/>
                <a:ea typeface="Arial"/>
                <a:cs typeface="Arial"/>
                <a:sym typeface="Arial"/>
              </a:rPr>
              <a:t>品質檢驗批所綁定的庫存只可以被盤虧，但不能盤盈</a:t>
            </a:r>
            <a:endParaRPr lang="en-US" altLang="zh-TW" sz="2400" dirty="0" smtClean="0">
              <a:solidFill>
                <a:schemeClr val="dk1"/>
              </a:solidFill>
              <a:latin typeface="Arial"/>
              <a:ea typeface="Arial"/>
              <a:cs typeface="Arial"/>
              <a:sym typeface="Arial"/>
            </a:endParaRPr>
          </a:p>
          <a:p>
            <a:pPr marL="342900" indent="-342900">
              <a:buAutoNum type="arabicPlain" startAt="4"/>
            </a:pPr>
            <a:endParaRPr lang="en-US" sz="2400" dirty="0" smtClean="0">
              <a:solidFill>
                <a:schemeClr val="dk1"/>
              </a:solidFill>
              <a:latin typeface="Arial"/>
              <a:cs typeface="Arial"/>
              <a:sym typeface="Arial"/>
            </a:endParaRPr>
          </a:p>
          <a:p>
            <a:pPr marL="342900" indent="-342900">
              <a:buFontTx/>
              <a:buAutoNum type="arabicPlain" startAt="4"/>
            </a:pPr>
            <a:r>
              <a:rPr lang="zh-TW" altLang="en-US" sz="2400" dirty="0" smtClean="0">
                <a:solidFill>
                  <a:schemeClr val="dk1"/>
                </a:solidFill>
                <a:latin typeface="Arial"/>
                <a:ea typeface="Arial"/>
                <a:cs typeface="Arial"/>
                <a:sym typeface="Arial"/>
              </a:rPr>
              <a:t>盤點文件過帳之後，物料文件不能迴轉。因盤點過帳所造庫存錯誤，重建立新盤點文件，輸入正確的庫存作盤庫調整即可。</a:t>
            </a:r>
            <a:endParaRPr lang="en-US" altLang="zh-TW" sz="2400" dirty="0" smtClean="0">
              <a:solidFill>
                <a:schemeClr val="dk1"/>
              </a:solidFill>
              <a:latin typeface="Arial"/>
              <a:ea typeface="Arial"/>
              <a:cs typeface="Arial"/>
              <a:sym typeface="Arial"/>
            </a:endParaRPr>
          </a:p>
          <a:p>
            <a:pPr marL="342900" indent="-342900">
              <a:buAutoNum type="arabicPlain" startAt="4"/>
            </a:pPr>
            <a:endParaRPr dirty="0"/>
          </a:p>
          <a:p>
            <a:endParaRPr dirty="0">
              <a:solidFill>
                <a:schemeClr val="dk1"/>
              </a:solidFill>
              <a:latin typeface="Arial"/>
              <a:ea typeface="Arial"/>
              <a:cs typeface="Arial"/>
              <a:sym typeface="Arial"/>
            </a:endParaRPr>
          </a:p>
        </p:txBody>
      </p:sp>
      <p:sp>
        <p:nvSpPr>
          <p:cNvPr id="30"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1600" b="0" strike="noStrike" spc="-1" dirty="0" smtClean="0">
                <a:solidFill>
                  <a:srgbClr val="000000"/>
                </a:solidFill>
                <a:latin typeface="Calibri"/>
              </a:rPr>
              <a:t>３</a:t>
            </a:r>
            <a:endParaRPr lang="en-US" sz="1600" b="0" strike="noStrike" spc="-1" dirty="0">
              <a:solidFill>
                <a:srgbClr val="000000"/>
              </a:solidFill>
              <a:latin typeface="Calibri"/>
            </a:endParaRPr>
          </a:p>
        </p:txBody>
      </p:sp>
      <p:sp>
        <p:nvSpPr>
          <p:cNvPr id="31" name="文字方塊 30">
            <a:extLst>
              <a:ext uri="{FF2B5EF4-FFF2-40B4-BE49-F238E27FC236}">
                <a16:creationId xmlns="" xmlns:a16="http://schemas.microsoft.com/office/drawing/2014/main" id="{8ECF4CE1-DDC2-62E8-3C4E-7ECD29FF75F3}"/>
              </a:ext>
            </a:extLst>
          </p:cNvPr>
          <p:cNvSpPr txBox="1"/>
          <p:nvPr/>
        </p:nvSpPr>
        <p:spPr>
          <a:xfrm>
            <a:off x="2428828" y="858014"/>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MM-IM-0100</a:t>
            </a:r>
            <a:r>
              <a:rPr kumimoji="0" lang="zh-TW" altLang="en-US" b="1" dirty="0">
                <a:latin typeface="微軟正黑體" panose="020B0604030504040204" pitchFamily="34" charset="-120"/>
                <a:ea typeface="微軟正黑體" panose="020B0604030504040204" pitchFamily="34" charset="-120"/>
              </a:rPr>
              <a:t>盤點作業</a:t>
            </a:r>
            <a:r>
              <a:rPr kumimoji="0" lang="zh-TW" altLang="en-US" b="1" dirty="0" smtClean="0">
                <a:latin typeface="微軟正黑體" panose="020B0604030504040204" pitchFamily="34" charset="-120"/>
                <a:ea typeface="微軟正黑體" panose="020B0604030504040204" pitchFamily="34" charset="-120"/>
              </a:rPr>
              <a:t>流程</a:t>
            </a:r>
            <a:endParaRPr kumimoji="0" lang="zh-TW" altLang="en-US" b="1"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16151</TotalTime>
  <Words>921</Words>
  <Application>Collabora_Office/23.05.5.4$Linux_X86_64 LibreOffice_project/1681200a96e5ffa1bee996c23ec760042f91abfa</Application>
  <PresentationFormat>自訂</PresentationFormat>
  <Paragraphs>225</Paragraphs>
  <Slides>8</Slides>
  <Notes>4</Notes>
  <HiddenSlides>0</HiddenSlides>
  <MMClips>0</MMClips>
  <ScaleCrop>false</ScaleCrop>
  <HeadingPairs>
    <vt:vector size="4" baseType="variant">
      <vt:variant>
        <vt:lpstr>佈景主題</vt:lpstr>
      </vt:variant>
      <vt:variant>
        <vt:i4>5</vt:i4>
      </vt:variant>
      <vt:variant>
        <vt:lpstr>投影片標題</vt:lpstr>
      </vt:variant>
      <vt:variant>
        <vt:i4>8</vt:i4>
      </vt:variant>
    </vt:vector>
  </HeadingPairs>
  <TitlesOfParts>
    <vt:vector size="13"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149</cp:revision>
  <dcterms:created xsi:type="dcterms:W3CDTF">2023-05-31T01:27:04Z</dcterms:created>
  <dcterms:modified xsi:type="dcterms:W3CDTF">2025-07-22T00:43:09Z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