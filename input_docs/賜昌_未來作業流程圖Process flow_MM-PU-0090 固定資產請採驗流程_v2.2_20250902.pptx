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9" r:id="rId1"/>
  </p:sldMasterIdLst>
  <p:notesMasterIdLst>
    <p:notesMasterId r:id="rId16"/>
  </p:notesMasterIdLst>
  <p:sldIdLst>
    <p:sldId id="261" r:id="rId2"/>
    <p:sldId id="2147472997" r:id="rId3"/>
    <p:sldId id="257" r:id="rId4"/>
    <p:sldId id="275" r:id="rId5"/>
    <p:sldId id="2147375392" r:id="rId6"/>
    <p:sldId id="2147375391" r:id="rId7"/>
    <p:sldId id="2147375393" r:id="rId8"/>
    <p:sldId id="2147375394" r:id="rId9"/>
    <p:sldId id="2147375395" r:id="rId10"/>
    <p:sldId id="2147375397" r:id="rId11"/>
    <p:sldId id="2147375399" r:id="rId12"/>
    <p:sldId id="2147375396" r:id="rId13"/>
    <p:sldId id="2147473000" r:id="rId14"/>
    <p:sldId id="2147375389" r:id="rId15"/>
  </p:sldIdLst>
  <p:sldSz cx="18288000" cy="1028858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3240">
          <p15:clr>
            <a:srgbClr val="A4A3A4"/>
          </p15:clr>
        </p15:guide>
        <p15:guide id="2" pos="57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D7CC"/>
    <a:srgbClr val="F1CB78"/>
    <a:srgbClr val="A82415"/>
    <a:srgbClr val="BE5107"/>
    <a:srgbClr val="FFA92A"/>
    <a:srgbClr val="4472C4"/>
    <a:srgbClr val="70170F"/>
    <a:srgbClr val="FF9300"/>
    <a:srgbClr val="ED8278"/>
    <a:srgbClr val="C40A1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D03B7A-A245-4C9A-8BA4-91383371263D}" v="15" dt="2025-09-02T08:05:58.4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29" autoAdjust="0"/>
    <p:restoredTop sz="94142"/>
  </p:normalViewPr>
  <p:slideViewPr>
    <p:cSldViewPr snapToGrid="0">
      <p:cViewPr>
        <p:scale>
          <a:sx n="77" d="100"/>
          <a:sy n="77" d="100"/>
        </p:scale>
        <p:origin x="-414" y="-18"/>
      </p:cViewPr>
      <p:guideLst>
        <p:guide orient="horz" pos="3240"/>
        <p:guide pos="57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A05686-526E-EA47-AD21-0320394F441D}" type="datetimeFigureOut">
              <a:rPr kumimoji="1" lang="zh-TW" altLang="en-US" smtClean="0"/>
              <a:pPr/>
              <a:t>2025/9/12</a:t>
            </a:fld>
            <a:endParaRPr kumimoji="1"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en-US" altLang="zh-TW"/>
              <a:t>Click to edit Master text styles</a:t>
            </a:r>
          </a:p>
          <a:p>
            <a:pPr lvl="1"/>
            <a:r>
              <a:rPr kumimoji="1" lang="en-US" altLang="zh-TW"/>
              <a:t>Second level</a:t>
            </a:r>
          </a:p>
          <a:p>
            <a:pPr lvl="2"/>
            <a:r>
              <a:rPr kumimoji="1" lang="en-US" altLang="zh-TW"/>
              <a:t>Third level</a:t>
            </a:r>
          </a:p>
          <a:p>
            <a:pPr lvl="3"/>
            <a:r>
              <a:rPr kumimoji="1" lang="en-US" altLang="zh-TW"/>
              <a:t>Fourth level</a:t>
            </a:r>
          </a:p>
          <a:p>
            <a:pPr lvl="4"/>
            <a:r>
              <a:rPr kumimoji="1" lang="en-US" altLang="zh-TW"/>
              <a:t>Fifth level</a:t>
            </a:r>
            <a:endParaRPr kumimoji="1"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98844B-D7EC-8749-B720-E795CFF10818}" type="slidenum">
              <a:rPr kumimoji="1" lang="zh-TW" altLang="en-US" smtClean="0"/>
              <a:pPr/>
              <a:t>‹#›</a:t>
            </a:fld>
            <a:endParaRPr kumimoji="1" lang="zh-TW" altLang="en-US"/>
          </a:p>
        </p:txBody>
      </p:sp>
    </p:spTree>
    <p:extLst>
      <p:ext uri="{BB962C8B-B14F-4D97-AF65-F5344CB8AC3E}">
        <p14:creationId xmlns:p14="http://schemas.microsoft.com/office/powerpoint/2010/main" val="3481488999"/>
      </p:ext>
    </p:extLst>
  </p:cSld>
  <p:clrMap bg1="lt1" tx1="dk1" bg2="lt2" tx2="dk2" accent1="accent1" accent2="accent2" accent3="accent3" accent4="accent4" accent5="accent5" accent6="accent6" hlink="hlink" folHlink="folHlink"/>
  <p:notesStyle>
    <a:lvl1pPr marL="0" algn="l" defTabSz="1371327" rtl="0" eaLnBrk="1" latinLnBrk="0" hangingPunct="1">
      <a:defRPr sz="1800" kern="1200">
        <a:solidFill>
          <a:schemeClr val="tx1"/>
        </a:solidFill>
        <a:latin typeface="+mn-lt"/>
        <a:ea typeface="+mn-ea"/>
        <a:cs typeface="+mn-cs"/>
      </a:defRPr>
    </a:lvl1pPr>
    <a:lvl2pPr marL="685662" algn="l" defTabSz="1371327" rtl="0" eaLnBrk="1" latinLnBrk="0" hangingPunct="1">
      <a:defRPr sz="1800" kern="1200">
        <a:solidFill>
          <a:schemeClr val="tx1"/>
        </a:solidFill>
        <a:latin typeface="+mn-lt"/>
        <a:ea typeface="+mn-ea"/>
        <a:cs typeface="+mn-cs"/>
      </a:defRPr>
    </a:lvl2pPr>
    <a:lvl3pPr marL="1371327" algn="l" defTabSz="1371327" rtl="0" eaLnBrk="1" latinLnBrk="0" hangingPunct="1">
      <a:defRPr sz="1800" kern="1200">
        <a:solidFill>
          <a:schemeClr val="tx1"/>
        </a:solidFill>
        <a:latin typeface="+mn-lt"/>
        <a:ea typeface="+mn-ea"/>
        <a:cs typeface="+mn-cs"/>
      </a:defRPr>
    </a:lvl3pPr>
    <a:lvl4pPr marL="2056989" algn="l" defTabSz="1371327" rtl="0" eaLnBrk="1" latinLnBrk="0" hangingPunct="1">
      <a:defRPr sz="1800" kern="1200">
        <a:solidFill>
          <a:schemeClr val="tx1"/>
        </a:solidFill>
        <a:latin typeface="+mn-lt"/>
        <a:ea typeface="+mn-ea"/>
        <a:cs typeface="+mn-cs"/>
      </a:defRPr>
    </a:lvl4pPr>
    <a:lvl5pPr marL="2742651" algn="l" defTabSz="1371327" rtl="0" eaLnBrk="1" latinLnBrk="0" hangingPunct="1">
      <a:defRPr sz="1800" kern="1200">
        <a:solidFill>
          <a:schemeClr val="tx1"/>
        </a:solidFill>
        <a:latin typeface="+mn-lt"/>
        <a:ea typeface="+mn-ea"/>
        <a:cs typeface="+mn-cs"/>
      </a:defRPr>
    </a:lvl5pPr>
    <a:lvl6pPr marL="3428315" algn="l" defTabSz="1371327" rtl="0" eaLnBrk="1" latinLnBrk="0" hangingPunct="1">
      <a:defRPr sz="1800" kern="1200">
        <a:solidFill>
          <a:schemeClr val="tx1"/>
        </a:solidFill>
        <a:latin typeface="+mn-lt"/>
        <a:ea typeface="+mn-ea"/>
        <a:cs typeface="+mn-cs"/>
      </a:defRPr>
    </a:lvl6pPr>
    <a:lvl7pPr marL="4113978" algn="l" defTabSz="1371327" rtl="0" eaLnBrk="1" latinLnBrk="0" hangingPunct="1">
      <a:defRPr sz="1800" kern="1200">
        <a:solidFill>
          <a:schemeClr val="tx1"/>
        </a:solidFill>
        <a:latin typeface="+mn-lt"/>
        <a:ea typeface="+mn-ea"/>
        <a:cs typeface="+mn-cs"/>
      </a:defRPr>
    </a:lvl7pPr>
    <a:lvl8pPr marL="4799640" algn="l" defTabSz="1371327" rtl="0" eaLnBrk="1" latinLnBrk="0" hangingPunct="1">
      <a:defRPr sz="1800" kern="1200">
        <a:solidFill>
          <a:schemeClr val="tx1"/>
        </a:solidFill>
        <a:latin typeface="+mn-lt"/>
        <a:ea typeface="+mn-ea"/>
        <a:cs typeface="+mn-cs"/>
      </a:defRPr>
    </a:lvl8pPr>
    <a:lvl9pPr marL="5485302" algn="l" defTabSz="1371327"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TW" altLang="en-US" dirty="0"/>
          </a:p>
        </p:txBody>
      </p:sp>
      <p:sp>
        <p:nvSpPr>
          <p:cNvPr id="4" name="Slide Number Placeholder 3"/>
          <p:cNvSpPr>
            <a:spLocks noGrp="1"/>
          </p:cNvSpPr>
          <p:nvPr>
            <p:ph type="sldNum" sz="quarter" idx="5"/>
          </p:nvPr>
        </p:nvSpPr>
        <p:spPr/>
        <p:txBody>
          <a:bodyPr/>
          <a:lstStyle/>
          <a:p>
            <a:fld id="{4598844B-D7EC-8749-B720-E795CFF10818}" type="slidenum">
              <a:rPr kumimoji="1" lang="zh-TW" altLang="en-US" smtClean="0"/>
              <a:pPr/>
              <a:t>1</a:t>
            </a:fld>
            <a:endParaRPr kumimoji="1" lang="zh-TW" altLang="en-US"/>
          </a:p>
        </p:txBody>
      </p:sp>
    </p:spTree>
    <p:extLst>
      <p:ext uri="{BB962C8B-B14F-4D97-AF65-F5344CB8AC3E}">
        <p14:creationId xmlns:p14="http://schemas.microsoft.com/office/powerpoint/2010/main" val="7090808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2" name="Google Shape;18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614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183985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020902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246252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359256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083627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614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020902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13844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804"/>
            <a:ext cx="13716000" cy="3581953"/>
          </a:xfrm>
        </p:spPr>
        <p:txBody>
          <a:bodyPr anchor="b"/>
          <a:lstStyle>
            <a:lvl1pPr algn="ctr">
              <a:defRPr sz="9000"/>
            </a:lvl1pPr>
          </a:lstStyle>
          <a:p>
            <a:r>
              <a:rPr lang="en-US" altLang="zh-TW" dirty="0"/>
              <a:t>Click to edit Master title style</a:t>
            </a:r>
            <a:endParaRPr lang="en-US" dirty="0"/>
          </a:p>
        </p:txBody>
      </p:sp>
      <p:sp>
        <p:nvSpPr>
          <p:cNvPr id="3" name="Subtitle 2"/>
          <p:cNvSpPr>
            <a:spLocks noGrp="1"/>
          </p:cNvSpPr>
          <p:nvPr>
            <p:ph type="subTitle" idx="1"/>
          </p:nvPr>
        </p:nvSpPr>
        <p:spPr>
          <a:xfrm>
            <a:off x="2286000" y="5403891"/>
            <a:ext cx="13716000" cy="2484026"/>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ltLang="zh-TW" dirty="0"/>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9/12/2025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val="46888777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Click to edit Master title style</a:t>
            </a:r>
            <a:endParaRPr lang="en-US" dirty="0"/>
          </a:p>
        </p:txBody>
      </p:sp>
      <p:sp>
        <p:nvSpPr>
          <p:cNvPr id="3" name="Content Placeholder 2"/>
          <p:cNvSpPr>
            <a:spLocks noGrp="1"/>
          </p:cNvSpPr>
          <p:nvPr>
            <p:ph idx="1"/>
          </p:nvPr>
        </p:nvSpPr>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9/12/2025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val="272288323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5004"/>
            <a:ext cx="15773400" cy="4279766"/>
          </a:xfrm>
        </p:spPr>
        <p:txBody>
          <a:bodyPr anchor="b"/>
          <a:lstStyle>
            <a:lvl1pPr>
              <a:defRPr sz="9000"/>
            </a:lvl1pPr>
          </a:lstStyle>
          <a:p>
            <a:r>
              <a:rPr lang="en-US" altLang="zh-TW" dirty="0"/>
              <a:t>Click to edit Master title style</a:t>
            </a:r>
            <a:endParaRPr lang="en-US" dirty="0"/>
          </a:p>
        </p:txBody>
      </p:sp>
      <p:sp>
        <p:nvSpPr>
          <p:cNvPr id="3" name="Text Placeholder 2"/>
          <p:cNvSpPr>
            <a:spLocks noGrp="1"/>
          </p:cNvSpPr>
          <p:nvPr>
            <p:ph type="body" idx="1"/>
          </p:nvPr>
        </p:nvSpPr>
        <p:spPr>
          <a:xfrm>
            <a:off x="1247775" y="6885258"/>
            <a:ext cx="15773400" cy="2250628"/>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ltLang="zh-TW" dirty="0"/>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pPr/>
              <a:t>9/12/2025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val="275249958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Click to edit Master title style</a:t>
            </a:r>
            <a:endParaRPr lang="en-US" dirty="0"/>
          </a:p>
        </p:txBody>
      </p:sp>
      <p:sp>
        <p:nvSpPr>
          <p:cNvPr id="3" name="Content Placeholder 2"/>
          <p:cNvSpPr>
            <a:spLocks noGrp="1"/>
          </p:cNvSpPr>
          <p:nvPr>
            <p:ph sz="half" idx="1"/>
          </p:nvPr>
        </p:nvSpPr>
        <p:spPr>
          <a:xfrm>
            <a:off x="1257300" y="2738860"/>
            <a:ext cx="7772400" cy="6528015"/>
          </a:xfrm>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Content Placeholder 3"/>
          <p:cNvSpPr>
            <a:spLocks noGrp="1"/>
          </p:cNvSpPr>
          <p:nvPr>
            <p:ph sz="half" idx="2"/>
          </p:nvPr>
        </p:nvSpPr>
        <p:spPr>
          <a:xfrm>
            <a:off x="9258300" y="2738860"/>
            <a:ext cx="7772400" cy="6528015"/>
          </a:xfrm>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pPr/>
              <a:t>9/12/2025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val="106830400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773"/>
            <a:ext cx="15773400" cy="1988651"/>
          </a:xfrm>
        </p:spPr>
        <p:txBody>
          <a:bodyPr/>
          <a:lstStyle/>
          <a:p>
            <a:r>
              <a:rPr lang="en-US" altLang="zh-TW" dirty="0"/>
              <a:t>Click to edit Master title style</a:t>
            </a:r>
            <a:endParaRPr lang="en-US" dirty="0"/>
          </a:p>
        </p:txBody>
      </p:sp>
      <p:sp>
        <p:nvSpPr>
          <p:cNvPr id="3" name="Text Placeholder 2"/>
          <p:cNvSpPr>
            <a:spLocks noGrp="1"/>
          </p:cNvSpPr>
          <p:nvPr>
            <p:ph type="body" idx="1"/>
          </p:nvPr>
        </p:nvSpPr>
        <p:spPr>
          <a:xfrm>
            <a:off x="1259683" y="2522134"/>
            <a:ext cx="7736681" cy="1236059"/>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ltLang="zh-TW" dirty="0"/>
              <a:t>Click to edit Master text styles</a:t>
            </a:r>
          </a:p>
        </p:txBody>
      </p:sp>
      <p:sp>
        <p:nvSpPr>
          <p:cNvPr id="4" name="Content Placeholder 3"/>
          <p:cNvSpPr>
            <a:spLocks noGrp="1"/>
          </p:cNvSpPr>
          <p:nvPr>
            <p:ph sz="half" idx="2"/>
          </p:nvPr>
        </p:nvSpPr>
        <p:spPr>
          <a:xfrm>
            <a:off x="1259683" y="3758193"/>
            <a:ext cx="7736681" cy="5527735"/>
          </a:xfrm>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5" name="Text Placeholder 4"/>
          <p:cNvSpPr>
            <a:spLocks noGrp="1"/>
          </p:cNvSpPr>
          <p:nvPr>
            <p:ph type="body" sz="quarter" idx="3"/>
          </p:nvPr>
        </p:nvSpPr>
        <p:spPr>
          <a:xfrm>
            <a:off x="9258300" y="2522134"/>
            <a:ext cx="7774782" cy="1236059"/>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ltLang="zh-TW" dirty="0"/>
              <a:t>Click to edit Master text styles</a:t>
            </a:r>
          </a:p>
        </p:txBody>
      </p:sp>
      <p:sp>
        <p:nvSpPr>
          <p:cNvPr id="6" name="Content Placeholder 5"/>
          <p:cNvSpPr>
            <a:spLocks noGrp="1"/>
          </p:cNvSpPr>
          <p:nvPr>
            <p:ph sz="quarter" idx="4"/>
          </p:nvPr>
        </p:nvSpPr>
        <p:spPr>
          <a:xfrm>
            <a:off x="9258300" y="3758193"/>
            <a:ext cx="7774782" cy="5527735"/>
          </a:xfrm>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pPr/>
              <a:t>9/12/2025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val="63192732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pPr/>
              <a:t>9/12/2025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val="28347444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pPr/>
              <a:t>9/12/2025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val="230187064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906"/>
            <a:ext cx="5898356" cy="2400671"/>
          </a:xfrm>
        </p:spPr>
        <p:txBody>
          <a:bodyPr anchor="b"/>
          <a:lstStyle>
            <a:lvl1pPr>
              <a:defRPr sz="4800"/>
            </a:lvl1pPr>
          </a:lstStyle>
          <a:p>
            <a:r>
              <a:rPr lang="en-US" altLang="zh-TW" dirty="0"/>
              <a:t>Click to edit Master title style</a:t>
            </a:r>
            <a:endParaRPr lang="en-US" dirty="0"/>
          </a:p>
        </p:txBody>
      </p:sp>
      <p:sp>
        <p:nvSpPr>
          <p:cNvPr id="3" name="Content Placeholder 2"/>
          <p:cNvSpPr>
            <a:spLocks noGrp="1"/>
          </p:cNvSpPr>
          <p:nvPr>
            <p:ph idx="1"/>
          </p:nvPr>
        </p:nvSpPr>
        <p:spPr>
          <a:xfrm>
            <a:off x="7774782" y="1481367"/>
            <a:ext cx="9258300" cy="7311566"/>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Text Placeholder 3"/>
          <p:cNvSpPr>
            <a:spLocks noGrp="1"/>
          </p:cNvSpPr>
          <p:nvPr>
            <p:ph type="body" sz="half" idx="2"/>
          </p:nvPr>
        </p:nvSpPr>
        <p:spPr>
          <a:xfrm>
            <a:off x="1259683" y="3086576"/>
            <a:ext cx="5898356" cy="5718265"/>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ltLang="zh-TW"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pPr/>
              <a:t>9/12/2025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val="353915219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906"/>
            <a:ext cx="5898356" cy="2400671"/>
          </a:xfrm>
        </p:spPr>
        <p:txBody>
          <a:bodyPr anchor="b"/>
          <a:lstStyle>
            <a:lvl1pPr>
              <a:defRPr sz="4800"/>
            </a:lvl1pPr>
          </a:lstStyle>
          <a:p>
            <a:r>
              <a:rPr lang="en-US" altLang="zh-TW" dirty="0"/>
              <a:t>Click to edit Master title style</a:t>
            </a:r>
            <a:endParaRPr lang="en-US" dirty="0"/>
          </a:p>
        </p:txBody>
      </p:sp>
      <p:sp>
        <p:nvSpPr>
          <p:cNvPr id="3" name="Picture Placeholder 2"/>
          <p:cNvSpPr>
            <a:spLocks noGrp="1" noChangeAspect="1"/>
          </p:cNvSpPr>
          <p:nvPr>
            <p:ph type="pic" idx="1"/>
          </p:nvPr>
        </p:nvSpPr>
        <p:spPr>
          <a:xfrm>
            <a:off x="7774782" y="1481367"/>
            <a:ext cx="9258300" cy="7311566"/>
          </a:xfrm>
        </p:spPr>
        <p:txBody>
          <a:bodyPr anchor="t"/>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ltLang="zh-TW" dirty="0"/>
              <a:t>Click icon to add picture</a:t>
            </a:r>
            <a:endParaRPr lang="en-US" dirty="0"/>
          </a:p>
        </p:txBody>
      </p:sp>
      <p:sp>
        <p:nvSpPr>
          <p:cNvPr id="4" name="Text Placeholder 3"/>
          <p:cNvSpPr>
            <a:spLocks noGrp="1"/>
          </p:cNvSpPr>
          <p:nvPr>
            <p:ph type="body" sz="half" idx="2"/>
          </p:nvPr>
        </p:nvSpPr>
        <p:spPr>
          <a:xfrm>
            <a:off x="1259683" y="3086576"/>
            <a:ext cx="5898356" cy="5718265"/>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ltLang="zh-TW"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pPr/>
              <a:t>9/12/2025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val="258747696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9/12/2025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val="214385171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772"/>
            <a:ext cx="3943350" cy="8719103"/>
          </a:xfrm>
        </p:spPr>
        <p:txBody>
          <a:bodyPr vert="eaVert"/>
          <a:lstStyle/>
          <a:p>
            <a:r>
              <a:rPr lang="en-US" altLang="zh-TW" dirty="0"/>
              <a:t>Click to edit Master title style</a:t>
            </a:r>
            <a:endParaRPr lang="en-US" dirty="0"/>
          </a:p>
        </p:txBody>
      </p:sp>
      <p:sp>
        <p:nvSpPr>
          <p:cNvPr id="3" name="Vertical Text Placeholder 2"/>
          <p:cNvSpPr>
            <a:spLocks noGrp="1"/>
          </p:cNvSpPr>
          <p:nvPr>
            <p:ph type="body" orient="vert" idx="1"/>
          </p:nvPr>
        </p:nvSpPr>
        <p:spPr>
          <a:xfrm>
            <a:off x="1257300" y="547772"/>
            <a:ext cx="11601450" cy="8719103"/>
          </a:xfrm>
        </p:spPr>
        <p:txBody>
          <a:bodyPr vert="eaVert"/>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9/12/2025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val="114701806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自訂版面配置">
    <p:spTree>
      <p:nvGrpSpPr>
        <p:cNvPr id="1" name=""/>
        <p:cNvGrpSpPr/>
        <p:nvPr/>
      </p:nvGrpSpPr>
      <p:grpSpPr>
        <a:xfrm>
          <a:off x="0" y="0"/>
          <a:ext cx="0" cy="0"/>
          <a:chOff x="0" y="0"/>
          <a:chExt cx="0" cy="0"/>
        </a:xfrm>
      </p:grpSpPr>
      <p:pic>
        <p:nvPicPr>
          <p:cNvPr id="9" name="圖片 8">
            <a:extLst>
              <a:ext uri="{FF2B5EF4-FFF2-40B4-BE49-F238E27FC236}">
                <a16:creationId xmlns:a16="http://schemas.microsoft.com/office/drawing/2014/main" xmlns="" id="{E25844F4-1900-BFFB-A55D-854D27EE700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8288000" cy="10288588"/>
          </a:xfrm>
          <a:prstGeom prst="rect">
            <a:avLst/>
          </a:prstGeom>
        </p:spPr>
      </p:pic>
    </p:spTree>
    <p:extLst>
      <p:ext uri="{BB962C8B-B14F-4D97-AF65-F5344CB8AC3E}">
        <p14:creationId xmlns:p14="http://schemas.microsoft.com/office/powerpoint/2010/main" val="833539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自訂版面配置">
    <p:spTree>
      <p:nvGrpSpPr>
        <p:cNvPr id="1" name=""/>
        <p:cNvGrpSpPr/>
        <p:nvPr/>
      </p:nvGrpSpPr>
      <p:grpSpPr>
        <a:xfrm>
          <a:off x="0" y="0"/>
          <a:ext cx="0" cy="0"/>
          <a:chOff x="0" y="0"/>
          <a:chExt cx="0" cy="0"/>
        </a:xfrm>
      </p:grpSpPr>
      <p:pic>
        <p:nvPicPr>
          <p:cNvPr id="7" name="圖片 6">
            <a:extLst>
              <a:ext uri="{FF2B5EF4-FFF2-40B4-BE49-F238E27FC236}">
                <a16:creationId xmlns:a16="http://schemas.microsoft.com/office/drawing/2014/main" xmlns="" id="{1089C009-AC07-C46C-AE77-052C754A5BC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575"/>
            <a:ext cx="18287997" cy="10286015"/>
          </a:xfrm>
          <a:prstGeom prst="rect">
            <a:avLst/>
          </a:prstGeom>
        </p:spPr>
      </p:pic>
    </p:spTree>
    <p:extLst>
      <p:ext uri="{BB962C8B-B14F-4D97-AF65-F5344CB8AC3E}">
        <p14:creationId xmlns:p14="http://schemas.microsoft.com/office/powerpoint/2010/main" val="9564581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自訂版面配置">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xmlns="" id="{8BD2CC32-CECA-3D65-6472-4640E726C04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290"/>
            <a:ext cx="18288000" cy="10286015"/>
          </a:xfrm>
          <a:prstGeom prst="rect">
            <a:avLst/>
          </a:prstGeom>
        </p:spPr>
      </p:pic>
      <p:sp>
        <p:nvSpPr>
          <p:cNvPr id="2" name="TextBox 1">
            <a:extLst>
              <a:ext uri="{FF2B5EF4-FFF2-40B4-BE49-F238E27FC236}">
                <a16:creationId xmlns:a16="http://schemas.microsoft.com/office/drawing/2014/main" xmlns="" id="{3C3275E5-3531-FFFA-3798-282621745510}"/>
              </a:ext>
            </a:extLst>
          </p:cNvPr>
          <p:cNvSpPr txBox="1"/>
          <p:nvPr userDrawn="1"/>
        </p:nvSpPr>
        <p:spPr>
          <a:xfrm>
            <a:off x="644238" y="600812"/>
            <a:ext cx="3262432" cy="1015663"/>
          </a:xfrm>
          <a:prstGeom prst="rect">
            <a:avLst/>
          </a:prstGeom>
          <a:noFill/>
        </p:spPr>
        <p:txBody>
          <a:bodyPr wrap="none" rtlCol="0">
            <a:spAutoFit/>
          </a:bodyPr>
          <a:lstStyle/>
          <a:p>
            <a:r>
              <a:rPr kumimoji="1" lang="zh-TW" altLang="en-US" sz="6000" b="1">
                <a:latin typeface="Microsoft JhengHei" panose="020B0604030504040204" pitchFamily="34" charset="-120"/>
                <a:ea typeface="Microsoft JhengHei" panose="020B0604030504040204" pitchFamily="34" charset="-120"/>
              </a:rPr>
              <a:t>重要聲明</a:t>
            </a:r>
          </a:p>
        </p:txBody>
      </p:sp>
      <p:sp>
        <p:nvSpPr>
          <p:cNvPr id="4" name="TextBox 3">
            <a:extLst>
              <a:ext uri="{FF2B5EF4-FFF2-40B4-BE49-F238E27FC236}">
                <a16:creationId xmlns:a16="http://schemas.microsoft.com/office/drawing/2014/main" xmlns="" id="{D3BA386D-4EF9-4F60-02E3-7C1A898CF24E}"/>
              </a:ext>
            </a:extLst>
          </p:cNvPr>
          <p:cNvSpPr txBox="1"/>
          <p:nvPr userDrawn="1"/>
        </p:nvSpPr>
        <p:spPr>
          <a:xfrm>
            <a:off x="561111" y="3205004"/>
            <a:ext cx="17165778" cy="3416320"/>
          </a:xfrm>
          <a:prstGeom prst="rect">
            <a:avLst/>
          </a:prstGeom>
          <a:noFill/>
        </p:spPr>
        <p:txBody>
          <a:bodyPr wrap="square" rtlCol="0">
            <a:spAutoFit/>
          </a:bodyPr>
          <a:lstStyle/>
          <a:p>
            <a:pPr>
              <a:buClr>
                <a:srgbClr val="000000"/>
              </a:buClr>
            </a:pPr>
            <a:r>
              <a:rPr lang="zh-TW" altLang="en-US" sz="2400" b="1" kern="0" dirty="0">
                <a:solidFill>
                  <a:srgbClr val="000000"/>
                </a:solidFill>
                <a:latin typeface="微軟正黑體" panose="020B0604030504040204" pitchFamily="34" charset="-120"/>
                <a:ea typeface="微軟正黑體" panose="020B0604030504040204" pitchFamily="34" charset="-120"/>
                <a:cs typeface="Arial"/>
                <a:sym typeface="Arial"/>
              </a:rPr>
              <a:t>本簡報依據</a:t>
            </a:r>
            <a:r>
              <a:rPr lang="zh-TW" altLang="en-US" sz="2400" b="1" dirty="0">
                <a:latin typeface="微軟正黑體" panose="020B0604030504040204" pitchFamily="34" charset="-120"/>
                <a:ea typeface="微軟正黑體" panose="020B0604030504040204" pitchFamily="34" charset="-120"/>
              </a:rPr>
              <a:t>裕榮昌科技股份有限公司台中分公司</a:t>
            </a:r>
            <a:r>
              <a:rPr lang="zh-TW" altLang="en-US" sz="2400" b="1" kern="0" dirty="0">
                <a:solidFill>
                  <a:srgbClr val="000000"/>
                </a:solidFill>
                <a:latin typeface="微軟正黑體" panose="020B0604030504040204" pitchFamily="34" charset="-120"/>
                <a:ea typeface="微軟正黑體" panose="020B0604030504040204" pitchFamily="34" charset="-120"/>
                <a:cs typeface="Arial"/>
                <a:sym typeface="Arial"/>
              </a:rPr>
              <a:t>之需求所編製。</a:t>
            </a:r>
            <a:endParaRPr lang="en-US" altLang="zh-TW" sz="2400" b="1" kern="0" dirty="0">
              <a:solidFill>
                <a:srgbClr val="000000"/>
              </a:solidFill>
              <a:latin typeface="微軟正黑體" panose="020B0604030504040204" pitchFamily="34" charset="-120"/>
              <a:ea typeface="微軟正黑體" panose="020B0604030504040204" pitchFamily="34" charset="-120"/>
              <a:cs typeface="Arial"/>
              <a:sym typeface="Arial"/>
            </a:endParaRPr>
          </a:p>
          <a:p>
            <a:pPr>
              <a:buClr>
                <a:srgbClr val="000000"/>
              </a:buClr>
            </a:pPr>
            <a:endParaRPr lang="en-US" altLang="zh-TW" sz="2400" b="1" kern="0" dirty="0">
              <a:solidFill>
                <a:srgbClr val="000000"/>
              </a:solidFill>
              <a:latin typeface="微軟正黑體" panose="020B0604030504040204" pitchFamily="34" charset="-120"/>
              <a:ea typeface="微軟正黑體" panose="020B0604030504040204" pitchFamily="34" charset="-120"/>
              <a:cs typeface="Arial"/>
              <a:sym typeface="Arial"/>
            </a:endParaRPr>
          </a:p>
          <a:p>
            <a:pPr algn="just" fontAlgn="base"/>
            <a:r>
              <a:rPr lang="zh-TW" altLang="en-US" sz="2400" b="1" dirty="0">
                <a:latin typeface="微軟正黑體" panose="020B0604030504040204" pitchFamily="34" charset="-120"/>
                <a:ea typeface="微軟正黑體" panose="020B0604030504040204" pitchFamily="34" charset="-120"/>
              </a:rPr>
              <a:t>本份簡報係於</a:t>
            </a:r>
            <a:r>
              <a:rPr lang="en-US" altLang="zh-TW" sz="2400" b="1" dirty="0">
                <a:latin typeface="微軟正黑體" panose="020B0604030504040204" pitchFamily="34" charset="-120"/>
                <a:ea typeface="微軟正黑體" panose="020B0604030504040204" pitchFamily="34" charset="-120"/>
              </a:rPr>
              <a:t>2025</a:t>
            </a:r>
            <a:r>
              <a:rPr lang="zh-TW" altLang="en-US" sz="2400" b="1" dirty="0">
                <a:latin typeface="微軟正黑體" panose="020B0604030504040204" pitchFamily="34" charset="-120"/>
                <a:ea typeface="微軟正黑體" panose="020B0604030504040204" pitchFamily="34" charset="-120"/>
              </a:rPr>
              <a:t>年</a:t>
            </a:r>
            <a:r>
              <a:rPr lang="en-US" altLang="zh-TW" sz="2400" b="1" dirty="0">
                <a:latin typeface="微軟正黑體" panose="020B0604030504040204" pitchFamily="34" charset="-120"/>
                <a:ea typeface="微軟正黑體" panose="020B0604030504040204" pitchFamily="34" charset="-120"/>
              </a:rPr>
              <a:t>4</a:t>
            </a:r>
            <a:r>
              <a:rPr lang="zh-TW" altLang="en-US" sz="2400" b="1" dirty="0">
                <a:latin typeface="微軟正黑體" panose="020B0604030504040204" pitchFamily="34" charset="-120"/>
                <a:ea typeface="微軟正黑體" panose="020B0604030504040204" pitchFamily="34" charset="-120"/>
              </a:rPr>
              <a:t>月</a:t>
            </a:r>
            <a:r>
              <a:rPr lang="en-US" altLang="zh-TW" sz="2400" b="1" dirty="0">
                <a:latin typeface="微軟正黑體" panose="020B0604030504040204" pitchFamily="34" charset="-120"/>
                <a:ea typeface="微軟正黑體" panose="020B0604030504040204" pitchFamily="34" charset="-120"/>
              </a:rPr>
              <a:t>1</a:t>
            </a:r>
            <a:r>
              <a:rPr lang="zh-TW" altLang="en-US" sz="2400" b="1" dirty="0">
                <a:latin typeface="微軟正黑體" panose="020B0604030504040204" pitchFamily="34" charset="-120"/>
                <a:ea typeface="微軟正黑體" panose="020B0604030504040204" pitchFamily="34" charset="-120"/>
              </a:rPr>
              <a:t>日簽訂之服務委任合約製作完成，僅提供賜昌集團內部參考使用。</a:t>
            </a:r>
          </a:p>
          <a:p>
            <a:pPr algn="just" fontAlgn="base"/>
            <a:endParaRPr lang="en-US" altLang="zh-TW" sz="2400" b="1" dirty="0">
              <a:latin typeface="微軟正黑體" panose="020B0604030504040204" pitchFamily="34" charset="-120"/>
              <a:ea typeface="微軟正黑體" panose="020B0604030504040204" pitchFamily="34" charset="-120"/>
            </a:endParaRPr>
          </a:p>
          <a:p>
            <a:pPr algn="just" fontAlgn="base"/>
            <a:r>
              <a:rPr lang="zh-TW" altLang="en-US" sz="2400" b="1" dirty="0">
                <a:latin typeface="微軟正黑體" panose="020B0604030504040204" pitchFamily="34" charset="-120"/>
                <a:ea typeface="微軟正黑體" panose="020B0604030504040204" pitchFamily="34" charset="-120"/>
              </a:rPr>
              <a:t>本份簡報為機密文件，在未取得本公司書面同意下，除委任合約中指明之對象及用途外，本簡報不得複製或提供第三人使用，亦不得作為其他用途。對於任何人因違反前述規定，任意傳閱、複製或使用本份報告所引發之任何損失，本公司將不負任何義務及責任。</a:t>
            </a:r>
          </a:p>
          <a:p>
            <a:endParaRPr lang="zh-TW" altLang="en-US" sz="2400" b="1" dirty="0">
              <a:latin typeface="微軟正黑體" panose="020B0604030504040204" pitchFamily="34" charset="-120"/>
              <a:ea typeface="微軟正黑體" panose="020B0604030504040204" pitchFamily="34" charset="-120"/>
            </a:endParaRPr>
          </a:p>
          <a:p>
            <a:pPr>
              <a:buClr>
                <a:srgbClr val="000000"/>
              </a:buClr>
            </a:pPr>
            <a:r>
              <a:rPr lang="zh-TW" altLang="en-US" sz="2400" b="1" kern="0" dirty="0">
                <a:solidFill>
                  <a:srgbClr val="000000"/>
                </a:solidFill>
                <a:latin typeface="微軟正黑體" panose="020B0604030504040204" pitchFamily="34" charset="-120"/>
                <a:ea typeface="微軟正黑體" panose="020B0604030504040204" pitchFamily="34" charset="-120"/>
                <a:cs typeface="Arial"/>
                <a:sym typeface="Arial"/>
              </a:rPr>
              <a:t>未經本公司書面同意，  貴公司以及專案所有成員不得將本簡報之全部或部分提供予任何第三人或使第三人得知其內容。</a:t>
            </a:r>
          </a:p>
        </p:txBody>
      </p:sp>
    </p:spTree>
    <p:extLst>
      <p:ext uri="{BB962C8B-B14F-4D97-AF65-F5344CB8AC3E}">
        <p14:creationId xmlns:p14="http://schemas.microsoft.com/office/powerpoint/2010/main" val="194200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自訂版面配置">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xmlns="" id="{8BD2CC32-CECA-3D65-6472-4640E726C04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290"/>
            <a:ext cx="18288000" cy="10286015"/>
          </a:xfrm>
          <a:prstGeom prst="rect">
            <a:avLst/>
          </a:prstGeom>
        </p:spPr>
      </p:pic>
    </p:spTree>
    <p:extLst>
      <p:ext uri="{BB962C8B-B14F-4D97-AF65-F5344CB8AC3E}">
        <p14:creationId xmlns:p14="http://schemas.microsoft.com/office/powerpoint/2010/main" val="27547859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Title and Full Content - Subtitle" preserve="1">
  <p:cSld name="2_Title and Full Content - Subtitle">
    <p:spTree>
      <p:nvGrpSpPr>
        <p:cNvPr id="1" name="Shape 21"/>
        <p:cNvGrpSpPr/>
        <p:nvPr/>
      </p:nvGrpSpPr>
      <p:grpSpPr>
        <a:xfrm>
          <a:off x="0" y="0"/>
          <a:ext cx="0" cy="0"/>
          <a:chOff x="0" y="0"/>
          <a:chExt cx="0" cy="0"/>
        </a:xfrm>
      </p:grpSpPr>
      <p:sp>
        <p:nvSpPr>
          <p:cNvPr id="22" name="Google Shape;22;p8"/>
          <p:cNvSpPr txBox="1">
            <a:spLocks noGrp="1"/>
          </p:cNvSpPr>
          <p:nvPr>
            <p:ph type="title"/>
          </p:nvPr>
        </p:nvSpPr>
        <p:spPr>
          <a:xfrm>
            <a:off x="664371" y="715994"/>
            <a:ext cx="16959261" cy="684373"/>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2800"/>
              <a:buFont typeface="Microsoft JhengHei"/>
              <a:buNone/>
              <a:defRPr sz="4200" b="1">
                <a:latin typeface="Microsoft JhengHei"/>
                <a:ea typeface="Microsoft JhengHei"/>
                <a:cs typeface="Microsoft JhengHei"/>
                <a:sym typeface="Microsoft JhengHe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8"/>
          <p:cNvSpPr txBox="1">
            <a:spLocks noGrp="1"/>
          </p:cNvSpPr>
          <p:nvPr>
            <p:ph type="ftr" idx="11"/>
          </p:nvPr>
        </p:nvSpPr>
        <p:spPr>
          <a:xfrm>
            <a:off x="664368" y="9534091"/>
            <a:ext cx="8210552" cy="205772"/>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8"/>
          <p:cNvSpPr txBox="1">
            <a:spLocks noGrp="1"/>
          </p:cNvSpPr>
          <p:nvPr>
            <p:ph type="dt" idx="10"/>
          </p:nvPr>
        </p:nvSpPr>
        <p:spPr>
          <a:xfrm>
            <a:off x="14976444" y="9534091"/>
            <a:ext cx="2647188" cy="205772"/>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8"/>
          <p:cNvSpPr txBox="1">
            <a:spLocks noGrp="1"/>
          </p:cNvSpPr>
          <p:nvPr>
            <p:ph type="sldNum" idx="12"/>
          </p:nvPr>
        </p:nvSpPr>
        <p:spPr>
          <a:xfrm>
            <a:off x="14976444" y="9739863"/>
            <a:ext cx="2647188" cy="205772"/>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lang="en-US"/>
          </a:p>
        </p:txBody>
      </p:sp>
      <p:sp>
        <p:nvSpPr>
          <p:cNvPr id="28" name="Google Shape;28;p8"/>
          <p:cNvSpPr txBox="1">
            <a:spLocks noGrp="1"/>
          </p:cNvSpPr>
          <p:nvPr>
            <p:ph type="subTitle" idx="1"/>
          </p:nvPr>
        </p:nvSpPr>
        <p:spPr>
          <a:xfrm>
            <a:off x="664368" y="1674730"/>
            <a:ext cx="16959264" cy="1212484"/>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accent4"/>
              </a:buClr>
              <a:buSzPts val="2000"/>
              <a:buNone/>
              <a:defRPr sz="3000" b="1">
                <a:solidFill>
                  <a:schemeClr val="accent4"/>
                </a:solidFill>
                <a:latin typeface="Microsoft JhengHei"/>
                <a:ea typeface="Microsoft JhengHei"/>
                <a:cs typeface="Microsoft JhengHei"/>
                <a:sym typeface="Microsoft JhengHei"/>
              </a:defRPr>
            </a:lvl1pPr>
            <a:lvl2pPr lvl="1" algn="l">
              <a:lnSpc>
                <a:spcPct val="85000"/>
              </a:lnSpc>
              <a:spcBef>
                <a:spcPts val="0"/>
              </a:spcBef>
              <a:spcAft>
                <a:spcPts val="0"/>
              </a:spcAft>
              <a:buClr>
                <a:schemeClr val="dk1"/>
              </a:buClr>
              <a:buSzPts val="2400"/>
              <a:buNone/>
              <a:defRPr sz="3600"/>
            </a:lvl2pPr>
            <a:lvl3pPr lvl="2" algn="l">
              <a:lnSpc>
                <a:spcPct val="85000"/>
              </a:lnSpc>
              <a:spcBef>
                <a:spcPts val="0"/>
              </a:spcBef>
              <a:spcAft>
                <a:spcPts val="0"/>
              </a:spcAft>
              <a:buClr>
                <a:schemeClr val="dk1"/>
              </a:buClr>
              <a:buSzPts val="2400"/>
              <a:buNone/>
              <a:defRPr sz="3600"/>
            </a:lvl3pPr>
            <a:lvl4pPr lvl="3" algn="l">
              <a:lnSpc>
                <a:spcPct val="85000"/>
              </a:lnSpc>
              <a:spcBef>
                <a:spcPts val="0"/>
              </a:spcBef>
              <a:spcAft>
                <a:spcPts val="0"/>
              </a:spcAft>
              <a:buClr>
                <a:schemeClr val="dk1"/>
              </a:buClr>
              <a:buSzPts val="2400"/>
              <a:buNone/>
              <a:defRPr sz="3600"/>
            </a:lvl4pPr>
            <a:lvl5pPr lvl="4" algn="l">
              <a:lnSpc>
                <a:spcPct val="85000"/>
              </a:lnSpc>
              <a:spcBef>
                <a:spcPts val="0"/>
              </a:spcBef>
              <a:spcAft>
                <a:spcPts val="0"/>
              </a:spcAft>
              <a:buClr>
                <a:schemeClr val="dk1"/>
              </a:buClr>
              <a:buSzPts val="2400"/>
              <a:buNone/>
              <a:defRPr sz="3600"/>
            </a:lvl5pPr>
            <a:lvl6pPr lvl="5" algn="l">
              <a:lnSpc>
                <a:spcPct val="85000"/>
              </a:lnSpc>
              <a:spcBef>
                <a:spcPts val="0"/>
              </a:spcBef>
              <a:spcAft>
                <a:spcPts val="0"/>
              </a:spcAft>
              <a:buClr>
                <a:schemeClr val="dk1"/>
              </a:buClr>
              <a:buSzPts val="2400"/>
              <a:buNone/>
              <a:defRPr sz="3600"/>
            </a:lvl6pPr>
            <a:lvl7pPr lvl="6" algn="l">
              <a:lnSpc>
                <a:spcPct val="85000"/>
              </a:lnSpc>
              <a:spcBef>
                <a:spcPts val="0"/>
              </a:spcBef>
              <a:spcAft>
                <a:spcPts val="0"/>
              </a:spcAft>
              <a:buClr>
                <a:schemeClr val="dk1"/>
              </a:buClr>
              <a:buSzPts val="2400"/>
              <a:buNone/>
              <a:defRPr sz="3600"/>
            </a:lvl7pPr>
            <a:lvl8pPr lvl="7" algn="l">
              <a:lnSpc>
                <a:spcPct val="85000"/>
              </a:lnSpc>
              <a:spcBef>
                <a:spcPts val="0"/>
              </a:spcBef>
              <a:spcAft>
                <a:spcPts val="0"/>
              </a:spcAft>
              <a:buClr>
                <a:schemeClr val="dk1"/>
              </a:buClr>
              <a:buSzPts val="2400"/>
              <a:buNone/>
              <a:defRPr sz="3600"/>
            </a:lvl8pPr>
            <a:lvl9pPr lvl="8" algn="l">
              <a:lnSpc>
                <a:spcPct val="85000"/>
              </a:lnSpc>
              <a:spcBef>
                <a:spcPts val="0"/>
              </a:spcBef>
              <a:spcAft>
                <a:spcPts val="0"/>
              </a:spcAft>
              <a:buClr>
                <a:schemeClr val="dk1"/>
              </a:buClr>
              <a:buSzPts val="2400"/>
              <a:buNone/>
              <a:defRPr sz="3600"/>
            </a:lvl9pPr>
          </a:lstStyle>
          <a:p>
            <a:endParaRPr/>
          </a:p>
        </p:txBody>
      </p:sp>
      <p:cxnSp>
        <p:nvCxnSpPr>
          <p:cNvPr id="2" name="Google Shape;26;p8">
            <a:extLst>
              <a:ext uri="{FF2B5EF4-FFF2-40B4-BE49-F238E27FC236}">
                <a16:creationId xmlns:a16="http://schemas.microsoft.com/office/drawing/2014/main" xmlns="" id="{3C44852E-2A4F-C390-0531-598DA50C7D0D}"/>
              </a:ext>
            </a:extLst>
          </p:cNvPr>
          <p:cNvCxnSpPr>
            <a:cxnSpLocks/>
          </p:cNvCxnSpPr>
          <p:nvPr userDrawn="1"/>
        </p:nvCxnSpPr>
        <p:spPr>
          <a:xfrm>
            <a:off x="609166" y="1512141"/>
            <a:ext cx="17014463" cy="0"/>
          </a:xfrm>
          <a:prstGeom prst="straightConnector1">
            <a:avLst/>
          </a:prstGeom>
          <a:noFill/>
          <a:ln w="38100" cap="sq" cmpd="sng">
            <a:solidFill>
              <a:srgbClr val="A82415"/>
            </a:solidFill>
            <a:prstDash val="solid"/>
            <a:round/>
            <a:headEnd type="none" w="sm" len="sm"/>
            <a:tailEnd type="none" w="sm" len="sm"/>
          </a:ln>
        </p:spPr>
      </p:cxnSp>
      <p:pic>
        <p:nvPicPr>
          <p:cNvPr id="3" name="Google Shape;27;p8" descr="A red and black logo&#10;&#10;Description automatically generated">
            <a:extLst>
              <a:ext uri="{FF2B5EF4-FFF2-40B4-BE49-F238E27FC236}">
                <a16:creationId xmlns:a16="http://schemas.microsoft.com/office/drawing/2014/main" xmlns="" id="{7203C895-E48E-5654-59B4-87C538B70FA1}"/>
              </a:ext>
            </a:extLst>
          </p:cNvPr>
          <p:cNvPicPr preferRelativeResize="0"/>
          <p:nvPr userDrawn="1"/>
        </p:nvPicPr>
        <p:blipFill rotWithShape="1">
          <a:blip r:embed="rId2">
            <a:alphaModFix/>
          </a:blip>
          <a:srcRect/>
          <a:stretch/>
        </p:blipFill>
        <p:spPr>
          <a:xfrm>
            <a:off x="16791708" y="695699"/>
            <a:ext cx="831921" cy="724961"/>
          </a:xfrm>
          <a:prstGeom prst="rect">
            <a:avLst/>
          </a:prstGeom>
          <a:noFill/>
          <a:ln>
            <a:noFill/>
          </a:ln>
        </p:spPr>
      </p:pic>
    </p:spTree>
    <p:extLst>
      <p:ext uri="{BB962C8B-B14F-4D97-AF65-F5344CB8AC3E}">
        <p14:creationId xmlns:p14="http://schemas.microsoft.com/office/powerpoint/2010/main" val="18044274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_Title and Full Content - Subtitle" preserve="1" userDrawn="1">
  <p:cSld name="2_Title and Full Content - Subtitle">
    <p:spTree>
      <p:nvGrpSpPr>
        <p:cNvPr id="1" name="Shape 21"/>
        <p:cNvGrpSpPr/>
        <p:nvPr/>
      </p:nvGrpSpPr>
      <p:grpSpPr>
        <a:xfrm>
          <a:off x="0" y="0"/>
          <a:ext cx="0" cy="0"/>
          <a:chOff x="0" y="0"/>
          <a:chExt cx="0" cy="0"/>
        </a:xfrm>
      </p:grpSpPr>
      <p:graphicFrame>
        <p:nvGraphicFramePr>
          <p:cNvPr id="2" name="Google Shape;35;p9">
            <a:extLst>
              <a:ext uri="{FF2B5EF4-FFF2-40B4-BE49-F238E27FC236}">
                <a16:creationId xmlns:a16="http://schemas.microsoft.com/office/drawing/2014/main" xmlns="" id="{DDE4C3EC-89CD-BB54-5F4C-D558F5C045CB}"/>
              </a:ext>
            </a:extLst>
          </p:cNvPr>
          <p:cNvGraphicFramePr/>
          <p:nvPr userDrawn="1">
            <p:extLst>
              <p:ext uri="{D42A27DB-BD31-4B8C-83A1-F6EECF244321}">
                <p14:modId xmlns:p14="http://schemas.microsoft.com/office/powerpoint/2010/main" val="3675913295"/>
              </p:ext>
            </p:extLst>
          </p:nvPr>
        </p:nvGraphicFramePr>
        <p:xfrm>
          <a:off x="122557" y="114450"/>
          <a:ext cx="18019970" cy="10041076"/>
        </p:xfrm>
        <a:graphic>
          <a:graphicData uri="http://schemas.openxmlformats.org/drawingml/2006/table">
            <a:tbl>
              <a:tblPr>
                <a:noFill/>
              </a:tblPr>
              <a:tblGrid>
                <a:gridCol w="2311228">
                  <a:extLst>
                    <a:ext uri="{9D8B030D-6E8A-4147-A177-3AD203B41FA5}">
                      <a16:colId xmlns:a16="http://schemas.microsoft.com/office/drawing/2014/main" xmlns="" val="20000"/>
                    </a:ext>
                  </a:extLst>
                </a:gridCol>
                <a:gridCol w="11889371">
                  <a:extLst>
                    <a:ext uri="{9D8B030D-6E8A-4147-A177-3AD203B41FA5}">
                      <a16:colId xmlns:a16="http://schemas.microsoft.com/office/drawing/2014/main" xmlns="" val="20001"/>
                    </a:ext>
                  </a:extLst>
                </a:gridCol>
                <a:gridCol w="3819371">
                  <a:extLst>
                    <a:ext uri="{9D8B030D-6E8A-4147-A177-3AD203B41FA5}">
                      <a16:colId xmlns:a16="http://schemas.microsoft.com/office/drawing/2014/main" xmlns="" val="20002"/>
                    </a:ext>
                  </a:extLst>
                </a:gridCol>
              </a:tblGrid>
              <a:tr h="626091">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Company / 公司名稱</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50000"/>
                        </a:lnSpc>
                        <a:spcBef>
                          <a:spcPts val="0"/>
                        </a:spcBef>
                        <a:spcAft>
                          <a:spcPts val="0"/>
                        </a:spcAft>
                        <a:buNone/>
                      </a:pPr>
                      <a:r>
                        <a:rPr lang="en-US" sz="2400" b="1">
                          <a:solidFill>
                            <a:schemeClr val="dk1"/>
                          </a:solidFill>
                          <a:latin typeface="Microsoft JhengHei"/>
                          <a:ea typeface="Microsoft JhengHei"/>
                          <a:cs typeface="Microsoft JhengHei"/>
                          <a:sym typeface="Microsoft JhengHei"/>
                        </a:rPr>
                        <a:t>                Freetrend </a:t>
                      </a:r>
                      <a:r>
                        <a:rPr lang="zh-TW" altLang="en-US" sz="2400" b="1">
                          <a:solidFill>
                            <a:schemeClr val="dk1"/>
                          </a:solidFill>
                          <a:latin typeface="Microsoft JhengHei"/>
                          <a:ea typeface="Microsoft JhengHei"/>
                          <a:cs typeface="Microsoft JhengHei"/>
                          <a:sym typeface="Microsoft JhengHei"/>
                        </a:rPr>
                        <a:t>賜昌集團</a:t>
                      </a:r>
                      <a:endParaRPr sz="2400" b="1">
                        <a:solidFill>
                          <a:schemeClr val="dk1"/>
                        </a:solidFill>
                        <a:latin typeface="Microsoft JhengHei"/>
                        <a:ea typeface="Microsoft JhengHei"/>
                        <a:cs typeface="Microsoft JhengHei"/>
                        <a:sym typeface="Microsoft JhengHei"/>
                      </a:endParaRPr>
                    </a:p>
                  </a:txBody>
                  <a:tcPr marL="84400" marR="84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rowSpan="2">
                  <a:txBody>
                    <a:bodyPr/>
                    <a:lstStyle/>
                    <a:p>
                      <a:pPr marL="0" marR="0" lvl="0" indent="0" algn="l" rtl="0">
                        <a:lnSpc>
                          <a:spcPct val="100000"/>
                        </a:lnSpc>
                        <a:spcBef>
                          <a:spcPts val="0"/>
                        </a:spcBef>
                        <a:spcAft>
                          <a:spcPts val="0"/>
                        </a:spcAft>
                        <a:buNone/>
                      </a:pPr>
                      <a:r>
                        <a:rPr 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Page </a:t>
                      </a:r>
                      <a:r>
                        <a:rPr lang="zh-TW" alt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頁次：</a:t>
                      </a:r>
                      <a:endParaRPr lang="zh-TW" altLang="en-US" sz="1600" b="1">
                        <a:latin typeface="Microsoft JhengHei" panose="020B0604030504040204" pitchFamily="34" charset="-120"/>
                        <a:ea typeface="Microsoft JhengHei" panose="020B0604030504040204" pitchFamily="34" charset="-120"/>
                      </a:endParaRPr>
                    </a:p>
                    <a:p>
                      <a:pPr marL="0" marR="0" lvl="0" indent="0" algn="l" defTabSz="914446" rtl="0" eaLnBrk="1" fontAlgn="auto" latinLnBrk="0" hangingPunct="1">
                        <a:lnSpc>
                          <a:spcPct val="100000"/>
                        </a:lnSpc>
                        <a:spcBef>
                          <a:spcPts val="300"/>
                        </a:spcBef>
                        <a:spcAft>
                          <a:spcPts val="0"/>
                        </a:spcAft>
                        <a:buClrTx/>
                        <a:buSzTx/>
                        <a:buFontTx/>
                        <a:buNone/>
                        <a:tabLst/>
                        <a:defRPr/>
                      </a:pPr>
                      <a:r>
                        <a:rPr 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Latest Update 最後更新</a:t>
                      </a:r>
                      <a:r>
                        <a:rPr lang="zh-TW" alt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a:t>
                      </a:r>
                      <a:endParaRPr lang="en-US" altLang="zh-TW"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xmlns="" val="10000"/>
                  </a:ext>
                </a:extLst>
              </a:tr>
              <a:tr h="601603">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Process ID / Name</a:t>
                      </a:r>
                      <a:endParaRPr sz="1600" b="1">
                        <a:latin typeface="Microsoft JhengHei" panose="020B0604030504040204" pitchFamily="34" charset="-120"/>
                        <a:ea typeface="Microsoft JhengHei" panose="020B0604030504040204" pitchFamily="34" charset="-120"/>
                      </a:endParaRPr>
                    </a:p>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流程代碼 / 名稱</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600">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vMerge="1">
                  <a:txBody>
                    <a:bodyPr/>
                    <a:lstStyle/>
                    <a:p>
                      <a:endParaRPr lang="en-US"/>
                    </a:p>
                  </a:txBody>
                  <a:tcPr/>
                </a:tc>
                <a:extLst>
                  <a:ext uri="{0D108BD9-81ED-4DB2-BD59-A6C34878D82A}">
                    <a16:rowId xmlns:a16="http://schemas.microsoft.com/office/drawing/2014/main" xmlns="" val="10001"/>
                  </a:ext>
                </a:extLst>
              </a:tr>
              <a:tr h="8799383">
                <a:tc gridSpan="3">
                  <a:txBody>
                    <a:bodyPr/>
                    <a:lstStyle/>
                    <a:p>
                      <a:pPr marL="0" marR="0" lvl="0" indent="0" algn="ctr" rtl="0">
                        <a:spcBef>
                          <a:spcPts val="0"/>
                        </a:spcBef>
                        <a:spcAft>
                          <a:spcPts val="0"/>
                        </a:spcAft>
                        <a:buNone/>
                      </a:pP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hMerge="1">
                  <a:txBody>
                    <a:bodyPr/>
                    <a:lstStyle/>
                    <a:p>
                      <a:pPr marL="0" marR="0" lvl="0" indent="0" algn="ctr" rtl="0">
                        <a:spcBef>
                          <a:spcPts val="0"/>
                        </a:spcBef>
                        <a:spcAft>
                          <a:spcPts val="0"/>
                        </a:spcAft>
                        <a:buNone/>
                      </a:pPr>
                      <a:endParaRPr sz="1600" b="1">
                        <a:solidFill>
                          <a:schemeClr val="dk1"/>
                        </a:solidFill>
                        <a:latin typeface="Microsoft JhengHei" panose="020B0604030504040204" pitchFamily="34" charset="-120"/>
                        <a:ea typeface="Microsoft JhengHei" panose="020B0604030504040204" pitchFamily="34" charset="-120"/>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hMerge="1">
                  <a:txBody>
                    <a:bodyPr/>
                    <a:lstStyle/>
                    <a:p>
                      <a:pPr marL="0" marR="0" lvl="0" indent="0" algn="ctr" rtl="0">
                        <a:lnSpc>
                          <a:spcPct val="100000"/>
                        </a:lnSpc>
                        <a:spcBef>
                          <a:spcPts val="0"/>
                        </a:spcBef>
                        <a:spcAft>
                          <a:spcPts val="0"/>
                        </a:spcAft>
                        <a:buClr>
                          <a:schemeClr val="dk1"/>
                        </a:buClr>
                        <a:buSzPts val="1000"/>
                        <a:buFont typeface="Arial"/>
                        <a:buNone/>
                      </a:pP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xmlns="" val="1438868285"/>
                  </a:ext>
                </a:extLst>
              </a:tr>
            </a:tbl>
          </a:graphicData>
        </a:graphic>
      </p:graphicFrame>
      <p:pic>
        <p:nvPicPr>
          <p:cNvPr id="3" name="Google Shape;37;p9" descr="A red and black logo&#10;&#10;Description automatically generated">
            <a:extLst>
              <a:ext uri="{FF2B5EF4-FFF2-40B4-BE49-F238E27FC236}">
                <a16:creationId xmlns:a16="http://schemas.microsoft.com/office/drawing/2014/main" xmlns="" id="{FEC0DF01-974E-FA50-4309-25053ECD68E4}"/>
              </a:ext>
            </a:extLst>
          </p:cNvPr>
          <p:cNvPicPr preferRelativeResize="0"/>
          <p:nvPr userDrawn="1"/>
        </p:nvPicPr>
        <p:blipFill rotWithShape="1">
          <a:blip r:embed="rId2">
            <a:alphaModFix/>
          </a:blip>
          <a:srcRect/>
          <a:stretch/>
        </p:blipFill>
        <p:spPr>
          <a:xfrm>
            <a:off x="7067490" y="213243"/>
            <a:ext cx="482734" cy="420132"/>
          </a:xfrm>
          <a:prstGeom prst="rect">
            <a:avLst/>
          </a:prstGeom>
          <a:noFill/>
          <a:ln>
            <a:noFill/>
          </a:ln>
        </p:spPr>
      </p:pic>
      <p:sp>
        <p:nvSpPr>
          <p:cNvPr id="4" name="Google Shape;24;p8">
            <a:extLst>
              <a:ext uri="{FF2B5EF4-FFF2-40B4-BE49-F238E27FC236}">
                <a16:creationId xmlns:a16="http://schemas.microsoft.com/office/drawing/2014/main" xmlns="" id="{10ED93F3-E6DB-99ED-6C71-93C2253FB3D7}"/>
              </a:ext>
            </a:extLst>
          </p:cNvPr>
          <p:cNvSpPr txBox="1">
            <a:spLocks noGrp="1"/>
          </p:cNvSpPr>
          <p:nvPr>
            <p:ph type="dt" idx="10"/>
          </p:nvPr>
        </p:nvSpPr>
        <p:spPr>
          <a:xfrm>
            <a:off x="16862156" y="726363"/>
            <a:ext cx="1164432" cy="260837"/>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4/4/25</a:t>
            </a:r>
            <a:endParaRPr/>
          </a:p>
        </p:txBody>
      </p:sp>
    </p:spTree>
    <p:extLst>
      <p:ext uri="{BB962C8B-B14F-4D97-AF65-F5344CB8AC3E}">
        <p14:creationId xmlns:p14="http://schemas.microsoft.com/office/powerpoint/2010/main" val="19753370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_Title and Full Content - Subtitle" userDrawn="1">
  <p:cSld name="1_Title and Full Content - Subtitle">
    <p:spTree>
      <p:nvGrpSpPr>
        <p:cNvPr id="1" name="Shape 21"/>
        <p:cNvGrpSpPr/>
        <p:nvPr/>
      </p:nvGrpSpPr>
      <p:grpSpPr>
        <a:xfrm>
          <a:off x="0" y="0"/>
          <a:ext cx="0" cy="0"/>
          <a:chOff x="0" y="0"/>
          <a:chExt cx="0" cy="0"/>
        </a:xfrm>
      </p:grpSpPr>
      <p:graphicFrame>
        <p:nvGraphicFramePr>
          <p:cNvPr id="2" name="Google Shape;35;p9">
            <a:extLst>
              <a:ext uri="{FF2B5EF4-FFF2-40B4-BE49-F238E27FC236}">
                <a16:creationId xmlns:a16="http://schemas.microsoft.com/office/drawing/2014/main" xmlns="" id="{DDE4C3EC-89CD-BB54-5F4C-D558F5C045CB}"/>
              </a:ext>
            </a:extLst>
          </p:cNvPr>
          <p:cNvGraphicFramePr/>
          <p:nvPr userDrawn="1">
            <p:extLst>
              <p:ext uri="{D42A27DB-BD31-4B8C-83A1-F6EECF244321}">
                <p14:modId xmlns:p14="http://schemas.microsoft.com/office/powerpoint/2010/main" val="642626727"/>
              </p:ext>
            </p:extLst>
          </p:nvPr>
        </p:nvGraphicFramePr>
        <p:xfrm>
          <a:off x="122557" y="114450"/>
          <a:ext cx="18019970" cy="10041076"/>
        </p:xfrm>
        <a:graphic>
          <a:graphicData uri="http://schemas.openxmlformats.org/drawingml/2006/table">
            <a:tbl>
              <a:tblPr>
                <a:noFill/>
              </a:tblPr>
              <a:tblGrid>
                <a:gridCol w="2311228">
                  <a:extLst>
                    <a:ext uri="{9D8B030D-6E8A-4147-A177-3AD203B41FA5}">
                      <a16:colId xmlns:a16="http://schemas.microsoft.com/office/drawing/2014/main" xmlns="" val="20000"/>
                    </a:ext>
                  </a:extLst>
                </a:gridCol>
                <a:gridCol w="9468940">
                  <a:extLst>
                    <a:ext uri="{9D8B030D-6E8A-4147-A177-3AD203B41FA5}">
                      <a16:colId xmlns:a16="http://schemas.microsoft.com/office/drawing/2014/main" xmlns="" val="20001"/>
                    </a:ext>
                  </a:extLst>
                </a:gridCol>
                <a:gridCol w="2420431">
                  <a:extLst>
                    <a:ext uri="{9D8B030D-6E8A-4147-A177-3AD203B41FA5}">
                      <a16:colId xmlns:a16="http://schemas.microsoft.com/office/drawing/2014/main" xmlns="" val="697488759"/>
                    </a:ext>
                  </a:extLst>
                </a:gridCol>
                <a:gridCol w="3819371">
                  <a:extLst>
                    <a:ext uri="{9D8B030D-6E8A-4147-A177-3AD203B41FA5}">
                      <a16:colId xmlns:a16="http://schemas.microsoft.com/office/drawing/2014/main" xmlns="" val="20002"/>
                    </a:ext>
                  </a:extLst>
                </a:gridCol>
              </a:tblGrid>
              <a:tr h="626091">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Company / 公司名稱</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gridSpan="2">
                  <a:txBody>
                    <a:bodyPr/>
                    <a:lstStyle/>
                    <a:p>
                      <a:pPr marL="0" marR="0" lvl="0" indent="0" algn="ctr" rtl="0">
                        <a:lnSpc>
                          <a:spcPct val="150000"/>
                        </a:lnSpc>
                        <a:spcBef>
                          <a:spcPts val="0"/>
                        </a:spcBef>
                        <a:spcAft>
                          <a:spcPts val="0"/>
                        </a:spcAft>
                        <a:buNone/>
                      </a:pPr>
                      <a:r>
                        <a:rPr lang="en-US" sz="2400" b="1">
                          <a:solidFill>
                            <a:schemeClr val="dk1"/>
                          </a:solidFill>
                          <a:latin typeface="Microsoft JhengHei"/>
                          <a:ea typeface="Microsoft JhengHei"/>
                          <a:cs typeface="Microsoft JhengHei"/>
                          <a:sym typeface="Microsoft JhengHei"/>
                        </a:rPr>
                        <a:t>                Freetrend </a:t>
                      </a:r>
                      <a:r>
                        <a:rPr lang="zh-TW" altLang="en-US" sz="2400" b="1">
                          <a:solidFill>
                            <a:schemeClr val="dk1"/>
                          </a:solidFill>
                          <a:latin typeface="Microsoft JhengHei"/>
                          <a:ea typeface="Microsoft JhengHei"/>
                          <a:cs typeface="Microsoft JhengHei"/>
                          <a:sym typeface="Microsoft JhengHei"/>
                        </a:rPr>
                        <a:t>賜昌集團</a:t>
                      </a:r>
                      <a:endParaRPr sz="2400" b="1">
                        <a:solidFill>
                          <a:schemeClr val="dk1"/>
                        </a:solidFill>
                        <a:latin typeface="Microsoft JhengHei"/>
                        <a:ea typeface="Microsoft JhengHei"/>
                        <a:cs typeface="Microsoft JhengHei"/>
                        <a:sym typeface="Microsoft JhengHei"/>
                      </a:endParaRPr>
                    </a:p>
                  </a:txBody>
                  <a:tcPr marL="84400" marR="84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hMerge="1">
                  <a:txBody>
                    <a:bodyPr/>
                    <a:lstStyle/>
                    <a:p>
                      <a:endParaRPr lang="zh-TW" altLang="en-US"/>
                    </a:p>
                  </a:txBody>
                  <a:tcPr/>
                </a:tc>
                <a:tc rowSpan="2">
                  <a:txBody>
                    <a:bodyPr/>
                    <a:lstStyle/>
                    <a:p>
                      <a:pPr marL="0" marR="0" lvl="0" indent="0" algn="l" rtl="0">
                        <a:lnSpc>
                          <a:spcPct val="100000"/>
                        </a:lnSpc>
                        <a:spcBef>
                          <a:spcPts val="0"/>
                        </a:spcBef>
                        <a:spcAft>
                          <a:spcPts val="0"/>
                        </a:spcAft>
                        <a:buNone/>
                      </a:pPr>
                      <a:r>
                        <a:rPr 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Page </a:t>
                      </a:r>
                      <a:r>
                        <a:rPr lang="zh-TW" alt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頁次：</a:t>
                      </a:r>
                      <a:endParaRPr lang="zh-TW" altLang="en-US" sz="1600" b="1">
                        <a:latin typeface="Microsoft JhengHei" panose="020B0604030504040204" pitchFamily="34" charset="-120"/>
                        <a:ea typeface="Microsoft JhengHei" panose="020B0604030504040204" pitchFamily="34" charset="-120"/>
                      </a:endParaRPr>
                    </a:p>
                    <a:p>
                      <a:pPr marL="0" marR="0" lvl="0" indent="0" algn="l" defTabSz="914446" rtl="0" eaLnBrk="1" fontAlgn="auto" latinLnBrk="0" hangingPunct="1">
                        <a:lnSpc>
                          <a:spcPct val="100000"/>
                        </a:lnSpc>
                        <a:spcBef>
                          <a:spcPts val="300"/>
                        </a:spcBef>
                        <a:spcAft>
                          <a:spcPts val="0"/>
                        </a:spcAft>
                        <a:buClrTx/>
                        <a:buSzTx/>
                        <a:buFontTx/>
                        <a:buNone/>
                        <a:tabLst/>
                        <a:defRPr/>
                      </a:pPr>
                      <a:r>
                        <a:rPr 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Latest Update 最後更新</a:t>
                      </a:r>
                      <a:r>
                        <a:rPr lang="zh-TW" alt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a:t>
                      </a:r>
                      <a:endParaRPr lang="en-US" altLang="zh-TW"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xmlns="" val="10000"/>
                  </a:ext>
                </a:extLst>
              </a:tr>
              <a:tr h="601603">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Process ID / Name</a:t>
                      </a:r>
                      <a:endParaRPr sz="1600" b="1">
                        <a:latin typeface="Microsoft JhengHei" panose="020B0604030504040204" pitchFamily="34" charset="-120"/>
                        <a:ea typeface="Microsoft JhengHei" panose="020B0604030504040204" pitchFamily="34" charset="-120"/>
                      </a:endParaRPr>
                    </a:p>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流程代碼 / 名稱</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gridSpan="2">
                  <a:txBody>
                    <a:bodyPr/>
                    <a:lstStyle/>
                    <a:p>
                      <a:pPr marL="0" marR="0" lvl="0" indent="0" algn="l" rtl="0">
                        <a:spcBef>
                          <a:spcPts val="0"/>
                        </a:spcBef>
                        <a:spcAft>
                          <a:spcPts val="0"/>
                        </a:spcAft>
                        <a:buNone/>
                      </a:pPr>
                      <a:endParaRPr sz="1600">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hMerge="1">
                  <a:txBody>
                    <a:bodyPr/>
                    <a:lstStyle/>
                    <a:p>
                      <a:endParaRPr lang="zh-TW" altLang="en-US"/>
                    </a:p>
                  </a:txBody>
                  <a:tcPr/>
                </a:tc>
                <a:tc vMerge="1">
                  <a:txBody>
                    <a:bodyPr/>
                    <a:lstStyle/>
                    <a:p>
                      <a:endParaRPr lang="en-US"/>
                    </a:p>
                  </a:txBody>
                  <a:tcPr/>
                </a:tc>
                <a:extLst>
                  <a:ext uri="{0D108BD9-81ED-4DB2-BD59-A6C34878D82A}">
                    <a16:rowId xmlns:a16="http://schemas.microsoft.com/office/drawing/2014/main" xmlns="" val="10001"/>
                  </a:ext>
                </a:extLst>
              </a:tr>
              <a:tr h="370223">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Input</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tx1"/>
                      </a:solidFill>
                      <a:prstDash val="solid"/>
                      <a:round/>
                      <a:headEnd type="none" w="med" len="med"/>
                      <a:tailEnd type="none" w="med" len="med"/>
                    </a:lnB>
                    <a:solidFill>
                      <a:schemeClr val="lt1"/>
                    </a:solidFill>
                  </a:tcPr>
                </a:tc>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Output</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tx1"/>
                      </a:solidFill>
                      <a:prstDash val="solid"/>
                      <a:round/>
                      <a:headEnd type="none" w="med" len="med"/>
                      <a:tailEnd type="none" w="med" len="med"/>
                    </a:lnB>
                    <a:solidFill>
                      <a:schemeClr val="lt1"/>
                    </a:solidFill>
                  </a:tcPr>
                </a:tc>
                <a:tc>
                  <a:txBody>
                    <a:bodyPr/>
                    <a:lstStyle/>
                    <a:p>
                      <a:pPr marL="0" marR="0" lvl="0" indent="0" algn="ctr" rtl="0">
                        <a:lnSpc>
                          <a:spcPct val="100000"/>
                        </a:lnSpc>
                        <a:spcBef>
                          <a:spcPts val="0"/>
                        </a:spcBef>
                        <a:spcAft>
                          <a:spcPts val="0"/>
                        </a:spcAft>
                        <a:buClr>
                          <a:schemeClr val="dk1"/>
                        </a:buClr>
                        <a:buSzPts val="1000"/>
                        <a:buFont typeface="Arial"/>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Process Activities</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xmlns="" val="1438868285"/>
                  </a:ext>
                </a:extLst>
              </a:tr>
              <a:tr h="8429160">
                <a:tc>
                  <a:txBody>
                    <a:bodyPr/>
                    <a:lstStyle/>
                    <a:p>
                      <a:pPr marL="0" marR="0" lvl="0" indent="0" algn="l" rtl="0">
                        <a:spcBef>
                          <a:spcPts val="0"/>
                        </a:spcBef>
                        <a:spcAft>
                          <a:spcPts val="0"/>
                        </a:spcAft>
                        <a:buNone/>
                      </a:pPr>
                      <a:endParaRPr sz="1000">
                        <a:solidFill>
                          <a:schemeClr val="dk1"/>
                        </a:solidFill>
                        <a:latin typeface="Microsoft JhengHei"/>
                        <a:ea typeface="Microsoft JhengHei"/>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000">
                        <a:solidFill>
                          <a:schemeClr val="dk1"/>
                        </a:solidFill>
                        <a:latin typeface="Microsoft JhengHei"/>
                        <a:ea typeface="Microsoft JhengHei"/>
                        <a:cs typeface="Microsoft JhengHei"/>
                        <a:sym typeface="Microsoft JhengHei"/>
                      </a:endParaRPr>
                    </a:p>
                  </a:txBody>
                  <a:tcPr marL="84400" marR="8440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1"/>
                    </a:solidFill>
                  </a:tcPr>
                </a:tc>
                <a:tc>
                  <a:txBody>
                    <a:bodyPr/>
                    <a:lstStyle/>
                    <a:p>
                      <a:pPr marL="0" marR="0" lvl="0" indent="0" algn="l" rtl="0">
                        <a:spcBef>
                          <a:spcPts val="0"/>
                        </a:spcBef>
                        <a:spcAft>
                          <a:spcPts val="0"/>
                        </a:spcAft>
                        <a:buNone/>
                      </a:pPr>
                      <a:endParaRPr sz="1000">
                        <a:solidFill>
                          <a:schemeClr val="dk1"/>
                        </a:solidFill>
                        <a:latin typeface="Microsoft JhengHei"/>
                        <a:ea typeface="Microsoft JhengHei"/>
                        <a:cs typeface="Microsoft JhengHei"/>
                        <a:sym typeface="Microsoft JhengHei"/>
                      </a:endParaRPr>
                    </a:p>
                  </a:txBody>
                  <a:tcPr marL="84400" marR="8440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1"/>
                    </a:solidFill>
                  </a:tcPr>
                </a:tc>
                <a:tc>
                  <a:txBody>
                    <a:bodyPr/>
                    <a:lstStyle/>
                    <a:p>
                      <a:pPr marL="0" marR="0" lvl="0" indent="0" algn="l" rtl="0">
                        <a:lnSpc>
                          <a:spcPct val="100000"/>
                        </a:lnSpc>
                        <a:spcBef>
                          <a:spcPts val="0"/>
                        </a:spcBef>
                        <a:spcAft>
                          <a:spcPts val="0"/>
                        </a:spcAft>
                        <a:buClr>
                          <a:schemeClr val="dk1"/>
                        </a:buClr>
                        <a:buSzPts val="1000"/>
                        <a:buFont typeface="Arial"/>
                        <a:buNone/>
                      </a:pPr>
                      <a:endParaRPr sz="1000">
                        <a:solidFill>
                          <a:schemeClr val="dk1"/>
                        </a:solidFill>
                        <a:latin typeface="Microsoft JhengHei"/>
                        <a:ea typeface="Microsoft JhengHei"/>
                        <a:cs typeface="Microsoft JhengHei"/>
                        <a:sym typeface="Microsoft JhengHei"/>
                      </a:endParaRPr>
                    </a:p>
                  </a:txBody>
                  <a:tcPr marL="84400" marR="84400" marT="45725" marB="45725" anchor="ctr">
                    <a:lnL w="12700" cap="flat" cmpd="sng" algn="ctr">
                      <a:solidFill>
                        <a:schemeClr val="tx1"/>
                      </a:solidFill>
                      <a:prstDash val="solid"/>
                      <a:round/>
                      <a:headEnd type="none" w="med" len="med"/>
                      <a:tailEnd type="none" w="med" len="med"/>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xmlns="" val="3940032794"/>
                  </a:ext>
                </a:extLst>
              </a:tr>
            </a:tbl>
          </a:graphicData>
        </a:graphic>
      </p:graphicFrame>
      <p:pic>
        <p:nvPicPr>
          <p:cNvPr id="3" name="Google Shape;37;p9" descr="A red and black logo&#10;&#10;Description automatically generated">
            <a:extLst>
              <a:ext uri="{FF2B5EF4-FFF2-40B4-BE49-F238E27FC236}">
                <a16:creationId xmlns:a16="http://schemas.microsoft.com/office/drawing/2014/main" xmlns="" id="{FEC0DF01-974E-FA50-4309-25053ECD68E4}"/>
              </a:ext>
            </a:extLst>
          </p:cNvPr>
          <p:cNvPicPr preferRelativeResize="0"/>
          <p:nvPr userDrawn="1"/>
        </p:nvPicPr>
        <p:blipFill rotWithShape="1">
          <a:blip r:embed="rId2">
            <a:alphaModFix/>
          </a:blip>
          <a:srcRect/>
          <a:stretch/>
        </p:blipFill>
        <p:spPr>
          <a:xfrm>
            <a:off x="7067490" y="213243"/>
            <a:ext cx="482734" cy="420132"/>
          </a:xfrm>
          <a:prstGeom prst="rect">
            <a:avLst/>
          </a:prstGeom>
          <a:noFill/>
          <a:ln>
            <a:noFill/>
          </a:ln>
        </p:spPr>
      </p:pic>
      <p:sp>
        <p:nvSpPr>
          <p:cNvPr id="10" name="Google Shape;24;p8">
            <a:extLst>
              <a:ext uri="{FF2B5EF4-FFF2-40B4-BE49-F238E27FC236}">
                <a16:creationId xmlns:a16="http://schemas.microsoft.com/office/drawing/2014/main" xmlns="" id="{0448B46C-C68B-BB74-204F-0F458130E386}"/>
              </a:ext>
            </a:extLst>
          </p:cNvPr>
          <p:cNvSpPr txBox="1">
            <a:spLocks noGrp="1"/>
          </p:cNvSpPr>
          <p:nvPr>
            <p:ph type="dt" idx="10"/>
          </p:nvPr>
        </p:nvSpPr>
        <p:spPr>
          <a:xfrm>
            <a:off x="16862156" y="726363"/>
            <a:ext cx="1164432" cy="260837"/>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4/4/25</a:t>
            </a:r>
            <a:endParaRPr/>
          </a:p>
        </p:txBody>
      </p:sp>
    </p:spTree>
    <p:extLst>
      <p:ext uri="{BB962C8B-B14F-4D97-AF65-F5344CB8AC3E}">
        <p14:creationId xmlns:p14="http://schemas.microsoft.com/office/powerpoint/2010/main" val="34162246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自訂版面配置">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xmlns="" id="{0B02BF32-51F7-DDF0-4455-62412D8BC83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8288000" cy="10288588"/>
          </a:xfrm>
          <a:prstGeom prst="rect">
            <a:avLst/>
          </a:prstGeom>
        </p:spPr>
      </p:pic>
    </p:spTree>
    <p:extLst>
      <p:ext uri="{BB962C8B-B14F-4D97-AF65-F5344CB8AC3E}">
        <p14:creationId xmlns:p14="http://schemas.microsoft.com/office/powerpoint/2010/main" val="42046135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773"/>
            <a:ext cx="15773400" cy="1988651"/>
          </a:xfrm>
          <a:prstGeom prst="rect">
            <a:avLst/>
          </a:prstGeom>
        </p:spPr>
        <p:txBody>
          <a:bodyPr vert="horz" lIns="91440" tIns="45720" rIns="91440" bIns="45720" rtlCol="0" anchor="ctr">
            <a:normAutofit/>
          </a:bodyPr>
          <a:lstStyle/>
          <a:p>
            <a:r>
              <a:rPr lang="en-US" altLang="zh-TW" dirty="0"/>
              <a:t>Click to edit Master title style</a:t>
            </a:r>
            <a:endParaRPr lang="en-US" dirty="0"/>
          </a:p>
        </p:txBody>
      </p:sp>
      <p:sp>
        <p:nvSpPr>
          <p:cNvPr id="3" name="Text Placeholder 2"/>
          <p:cNvSpPr>
            <a:spLocks noGrp="1"/>
          </p:cNvSpPr>
          <p:nvPr>
            <p:ph type="body" idx="1"/>
          </p:nvPr>
        </p:nvSpPr>
        <p:spPr>
          <a:xfrm>
            <a:off x="1257300" y="2738860"/>
            <a:ext cx="15773400" cy="6528015"/>
          </a:xfrm>
          <a:prstGeom prst="rect">
            <a:avLst/>
          </a:prstGeom>
        </p:spPr>
        <p:txBody>
          <a:bodyPr vert="horz" lIns="91440" tIns="45720" rIns="91440" bIns="45720" rtlCol="0">
            <a:normAutofit/>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Date Placeholder 3"/>
          <p:cNvSpPr>
            <a:spLocks noGrp="1"/>
          </p:cNvSpPr>
          <p:nvPr>
            <p:ph type="dt" sz="half" idx="2"/>
          </p:nvPr>
        </p:nvSpPr>
        <p:spPr>
          <a:xfrm>
            <a:off x="1257300" y="9535998"/>
            <a:ext cx="4114800" cy="547772"/>
          </a:xfrm>
          <a:prstGeom prst="rect">
            <a:avLst/>
          </a:prstGeom>
        </p:spPr>
        <p:txBody>
          <a:bodyPr vert="horz" lIns="91440" tIns="45720" rIns="91440" bIns="45720" rtlCol="0" anchor="ctr"/>
          <a:lstStyle>
            <a:lvl1pPr algn="l">
              <a:defRPr sz="1800">
                <a:solidFill>
                  <a:schemeClr val="tx1">
                    <a:tint val="75000"/>
                  </a:schemeClr>
                </a:solidFill>
              </a:defRPr>
            </a:lvl1pPr>
          </a:lstStyle>
          <a:p>
            <a:fld id="{C764DE79-268F-4C1A-8933-263129D2AF90}" type="datetimeFigureOut">
              <a:rPr lang="en-US" dirty="0"/>
              <a:pPr/>
              <a:t>9/12/2025</a:t>
            </a:fld>
            <a:endParaRPr lang="en-US" dirty="0"/>
          </a:p>
        </p:txBody>
      </p:sp>
      <p:sp>
        <p:nvSpPr>
          <p:cNvPr id="5" name="Footer Placeholder 4"/>
          <p:cNvSpPr>
            <a:spLocks noGrp="1"/>
          </p:cNvSpPr>
          <p:nvPr>
            <p:ph type="ftr" sz="quarter" idx="3"/>
          </p:nvPr>
        </p:nvSpPr>
        <p:spPr>
          <a:xfrm>
            <a:off x="6057900" y="9535998"/>
            <a:ext cx="6172200" cy="547772"/>
          </a:xfrm>
          <a:prstGeom prst="rect">
            <a:avLst/>
          </a:prstGeom>
        </p:spPr>
        <p:txBody>
          <a:bodyPr vert="horz" lIns="91440" tIns="45720" rIns="91440" bIns="45720" rtlCol="0" anchor="ctr"/>
          <a:lstStyle>
            <a:lvl1pPr algn="ctr">
              <a:defRPr sz="18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2915900" y="9535998"/>
            <a:ext cx="4114800" cy="547772"/>
          </a:xfrm>
          <a:prstGeom prst="rect">
            <a:avLst/>
          </a:prstGeom>
        </p:spPr>
        <p:txBody>
          <a:bodyPr vert="horz" lIns="91440" tIns="45720" rIns="91440" bIns="45720" rtlCol="0" anchor="ctr"/>
          <a:lstStyle>
            <a:lvl1pPr algn="r">
              <a:defRPr sz="1800">
                <a:solidFill>
                  <a:schemeClr val="tx1">
                    <a:tint val="75000"/>
                  </a:schemeClr>
                </a:solidFill>
              </a:defRPr>
            </a:lvl1pPr>
          </a:lstStyle>
          <a:p>
            <a:fld id="{48F63A3B-78C7-47BE-AE5E-E10140E04643}" type="slidenum">
              <a:rPr lang="en-US" dirty="0"/>
              <a:pPr/>
              <a:t>‹#›</a:t>
            </a:fld>
            <a:endParaRPr lang="en-US" dirty="0"/>
          </a:p>
        </p:txBody>
      </p:sp>
    </p:spTree>
    <p:extLst>
      <p:ext uri="{BB962C8B-B14F-4D97-AF65-F5344CB8AC3E}">
        <p14:creationId xmlns:p14="http://schemas.microsoft.com/office/powerpoint/2010/main" val="319702633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65" r:id="rId13"/>
    <p:sldLayoutId id="2147483668" r:id="rId14"/>
    <p:sldLayoutId id="2147483664" r:id="rId15"/>
    <p:sldLayoutId id="2147483683" r:id="rId16"/>
    <p:sldLayoutId id="2147483684" r:id="rId17"/>
    <p:sldLayoutId id="2147483682" r:id="rId18"/>
    <p:sldLayoutId id="2147483663" r:id="rId19"/>
  </p:sldLayoutIdLst>
  <p:hf sldNum="0" hdr="0" ftr="0" dt="0"/>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1">
            <a:extLst>
              <a:ext uri="{FF2B5EF4-FFF2-40B4-BE49-F238E27FC236}">
                <a16:creationId xmlns:a16="http://schemas.microsoft.com/office/drawing/2014/main" xmlns="" id="{7F582E9E-3697-760D-DA26-BA27025404FB}"/>
              </a:ext>
            </a:extLst>
          </p:cNvPr>
          <p:cNvSpPr>
            <a:spLocks noChangeArrowheads="1"/>
          </p:cNvSpPr>
          <p:nvPr/>
        </p:nvSpPr>
        <p:spPr bwMode="auto">
          <a:xfrm>
            <a:off x="843405" y="5144294"/>
            <a:ext cx="653711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b="1">
                <a:solidFill>
                  <a:schemeClr val="tx1"/>
                </a:solidFill>
                <a:latin typeface="Arial" panose="020B0604020202020204" pitchFamily="34" charset="0"/>
                <a:ea typeface="微軟正黑體" panose="020B0604030504040204" pitchFamily="34" charset="-12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微軟正黑體" panose="020B0604030504040204" pitchFamily="34" charset="-12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ea typeface="微軟正黑體" panose="020B0604030504040204" pitchFamily="34" charset="-12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ea typeface="微軟正黑體" panose="020B0604030504040204" pitchFamily="34" charset="-120"/>
                <a:cs typeface="Arial" panose="020B0604020202020204" pitchFamily="34" charset="0"/>
              </a:defRPr>
            </a:lvl4pPr>
            <a:lvl5pPr marL="2057400" indent="-228600">
              <a:spcBef>
                <a:spcPct val="20000"/>
              </a:spcBef>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9pPr>
          </a:lstStyle>
          <a:p>
            <a:pPr eaLnBrk="1" hangingPunct="1">
              <a:spcBef>
                <a:spcPct val="0"/>
              </a:spcBef>
              <a:buFontTx/>
              <a:buNone/>
            </a:pPr>
            <a:r>
              <a:rPr lang="zh-TW" altLang="en-US" sz="4800" dirty="0">
                <a:latin typeface="Microsoft JhengHei" panose="020B0604030504040204" pitchFamily="34" charset="-120"/>
                <a:ea typeface="Microsoft JhengHei" panose="020B0604030504040204" pitchFamily="34" charset="-120"/>
              </a:rPr>
              <a:t>賜昌集團 </a:t>
            </a:r>
            <a:r>
              <a:rPr lang="en-US" altLang="zh-TW" sz="4800" dirty="0">
                <a:latin typeface="Microsoft JhengHei" panose="020B0604030504040204" pitchFamily="34" charset="-120"/>
                <a:ea typeface="Microsoft JhengHei" panose="020B0604030504040204" pitchFamily="34" charset="-120"/>
              </a:rPr>
              <a:t>SAP</a:t>
            </a:r>
            <a:r>
              <a:rPr lang="zh-TW" altLang="en-US" sz="4800" dirty="0">
                <a:latin typeface="Microsoft JhengHei" panose="020B0604030504040204" pitchFamily="34" charset="-120"/>
                <a:ea typeface="Microsoft JhengHei" panose="020B0604030504040204" pitchFamily="34" charset="-120"/>
              </a:rPr>
              <a:t>推進中心</a:t>
            </a:r>
          </a:p>
        </p:txBody>
      </p:sp>
      <p:sp>
        <p:nvSpPr>
          <p:cNvPr id="3" name="TextBox 2">
            <a:extLst>
              <a:ext uri="{FF2B5EF4-FFF2-40B4-BE49-F238E27FC236}">
                <a16:creationId xmlns:a16="http://schemas.microsoft.com/office/drawing/2014/main" xmlns="" id="{8859345E-AB13-0337-28A8-72F68FB71A83}"/>
              </a:ext>
            </a:extLst>
          </p:cNvPr>
          <p:cNvSpPr txBox="1"/>
          <p:nvPr/>
        </p:nvSpPr>
        <p:spPr>
          <a:xfrm>
            <a:off x="843407" y="7871570"/>
            <a:ext cx="2833853" cy="738664"/>
          </a:xfrm>
          <a:prstGeom prst="rect">
            <a:avLst/>
          </a:prstGeom>
          <a:noFill/>
        </p:spPr>
        <p:txBody>
          <a:bodyPr wrap="none" rtlCol="0">
            <a:spAutoFit/>
          </a:bodyPr>
          <a:lstStyle/>
          <a:p>
            <a:r>
              <a:rPr kumimoji="1" lang="en-US" altLang="zh-TW" sz="2100" dirty="0">
                <a:latin typeface="Microsoft JhengHei" panose="020B0604030504040204" pitchFamily="34" charset="-120"/>
                <a:ea typeface="Microsoft JhengHei" panose="020B0604030504040204" pitchFamily="34" charset="-120"/>
              </a:rPr>
              <a:t>Presentation by </a:t>
            </a:r>
            <a:r>
              <a:rPr kumimoji="1" lang="en-US" altLang="zh-TW" sz="2100" b="1" dirty="0">
                <a:latin typeface="Microsoft JhengHei" panose="020B0604030504040204" pitchFamily="34" charset="-120"/>
                <a:ea typeface="Microsoft JhengHei" panose="020B0604030504040204" pitchFamily="34" charset="-120"/>
              </a:rPr>
              <a:t>DSIT</a:t>
            </a:r>
          </a:p>
          <a:p>
            <a:r>
              <a:rPr kumimoji="1" lang="en-US" altLang="zh-TW" sz="2100" dirty="0">
                <a:latin typeface="Microsoft JhengHei" panose="020B0604030504040204" pitchFamily="34" charset="-120"/>
                <a:ea typeface="Microsoft JhengHei" panose="020B0604030504040204" pitchFamily="34" charset="-120"/>
              </a:rPr>
              <a:t>2025/07/01</a:t>
            </a:r>
            <a:endParaRPr kumimoji="1" lang="zh-TW" altLang="en-US" sz="2100" dirty="0">
              <a:latin typeface="Microsoft JhengHei" panose="020B0604030504040204" pitchFamily="34" charset="-120"/>
              <a:ea typeface="Microsoft JhengHei" panose="020B0604030504040204" pitchFamily="34" charset="-120"/>
            </a:endParaRPr>
          </a:p>
        </p:txBody>
      </p:sp>
      <p:sp>
        <p:nvSpPr>
          <p:cNvPr id="4" name="矩形 1">
            <a:extLst>
              <a:ext uri="{FF2B5EF4-FFF2-40B4-BE49-F238E27FC236}">
                <a16:creationId xmlns:a16="http://schemas.microsoft.com/office/drawing/2014/main" xmlns="" id="{B99C6C67-25AF-0B71-AD21-378FF0D6B16C}"/>
              </a:ext>
            </a:extLst>
          </p:cNvPr>
          <p:cNvSpPr>
            <a:spLocks noChangeArrowheads="1"/>
          </p:cNvSpPr>
          <p:nvPr/>
        </p:nvSpPr>
        <p:spPr bwMode="auto">
          <a:xfrm>
            <a:off x="843405" y="6523311"/>
            <a:ext cx="653711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b="1">
                <a:solidFill>
                  <a:schemeClr val="tx1"/>
                </a:solidFill>
                <a:latin typeface="Arial" panose="020B0604020202020204" pitchFamily="34" charset="0"/>
                <a:ea typeface="微軟正黑體" panose="020B0604030504040204" pitchFamily="34" charset="-12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微軟正黑體" panose="020B0604030504040204" pitchFamily="34" charset="-12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ea typeface="微軟正黑體" panose="020B0604030504040204" pitchFamily="34" charset="-12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ea typeface="微軟正黑體" panose="020B0604030504040204" pitchFamily="34" charset="-120"/>
                <a:cs typeface="Arial" panose="020B0604020202020204" pitchFamily="34" charset="0"/>
              </a:defRPr>
            </a:lvl4pPr>
            <a:lvl5pPr marL="2057400" indent="-228600">
              <a:spcBef>
                <a:spcPct val="20000"/>
              </a:spcBef>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9pPr>
          </a:lstStyle>
          <a:p>
            <a:pPr eaLnBrk="1" hangingPunct="1">
              <a:spcBef>
                <a:spcPct val="0"/>
              </a:spcBef>
              <a:buFontTx/>
              <a:buNone/>
            </a:pPr>
            <a:r>
              <a:rPr lang="en-US" altLang="zh-TW" sz="3600" b="0" strike="noStrike" spc="-1" dirty="0">
                <a:solidFill>
                  <a:schemeClr val="dk1"/>
                </a:solidFill>
                <a:latin typeface="Microsoft JhengHei"/>
                <a:ea typeface="Microsoft JhengHei"/>
              </a:rPr>
              <a:t>MM-</a:t>
            </a:r>
            <a:r>
              <a:rPr lang="en-US" altLang="zh-TW" sz="3600" b="0" spc="-1" dirty="0">
                <a:solidFill>
                  <a:schemeClr val="dk1"/>
                </a:solidFill>
                <a:latin typeface="Microsoft JhengHei"/>
                <a:ea typeface="Microsoft JhengHei"/>
              </a:rPr>
              <a:t>PU</a:t>
            </a:r>
            <a:r>
              <a:rPr lang="en-US" altLang="zh-TW" sz="3600" b="0" strike="noStrike" spc="-1" dirty="0">
                <a:solidFill>
                  <a:schemeClr val="dk1"/>
                </a:solidFill>
                <a:latin typeface="Microsoft JhengHei"/>
                <a:ea typeface="Microsoft JhengHei"/>
              </a:rPr>
              <a:t>-0090</a:t>
            </a:r>
            <a:endParaRPr lang="zh-TW" altLang="en-US" sz="3600" b="0" dirty="0">
              <a:ea typeface="新細明體" panose="02020500000000000000" pitchFamily="18" charset="-120"/>
            </a:endParaRPr>
          </a:p>
        </p:txBody>
      </p:sp>
      <p:sp>
        <p:nvSpPr>
          <p:cNvPr id="5" name="矩形 1">
            <a:extLst>
              <a:ext uri="{FF2B5EF4-FFF2-40B4-BE49-F238E27FC236}">
                <a16:creationId xmlns:a16="http://schemas.microsoft.com/office/drawing/2014/main" xmlns="" id="{E1637891-39B6-9F83-1E67-17C75D44F0A1}"/>
              </a:ext>
            </a:extLst>
          </p:cNvPr>
          <p:cNvSpPr>
            <a:spLocks noChangeArrowheads="1"/>
          </p:cNvSpPr>
          <p:nvPr/>
        </p:nvSpPr>
        <p:spPr bwMode="auto">
          <a:xfrm>
            <a:off x="843405" y="7179076"/>
            <a:ext cx="653711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b="1">
                <a:solidFill>
                  <a:schemeClr val="tx1"/>
                </a:solidFill>
                <a:latin typeface="Arial" panose="020B0604020202020204" pitchFamily="34" charset="0"/>
                <a:ea typeface="微軟正黑體" panose="020B0604030504040204" pitchFamily="34" charset="-12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微軟正黑體" panose="020B0604030504040204" pitchFamily="34" charset="-12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ea typeface="微軟正黑體" panose="020B0604030504040204" pitchFamily="34" charset="-12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ea typeface="微軟正黑體" panose="020B0604030504040204" pitchFamily="34" charset="-120"/>
                <a:cs typeface="Arial" panose="020B0604020202020204" pitchFamily="34" charset="0"/>
              </a:defRPr>
            </a:lvl4pPr>
            <a:lvl5pPr marL="2057400" indent="-228600">
              <a:spcBef>
                <a:spcPct val="20000"/>
              </a:spcBef>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9pPr>
          </a:lstStyle>
          <a:p>
            <a:pPr eaLnBrk="1" hangingPunct="1">
              <a:spcBef>
                <a:spcPct val="0"/>
              </a:spcBef>
              <a:buFontTx/>
              <a:buNone/>
            </a:pPr>
            <a:r>
              <a:rPr lang="zh-TW" altLang="en-US" sz="3600" b="0" spc="-1" dirty="0">
                <a:solidFill>
                  <a:schemeClr val="dk1"/>
                </a:solidFill>
                <a:latin typeface="Microsoft JhengHei"/>
                <a:ea typeface="Microsoft JhengHei"/>
              </a:rPr>
              <a:t>固定資產請採驗流程</a:t>
            </a:r>
          </a:p>
        </p:txBody>
      </p:sp>
    </p:spTree>
    <p:extLst>
      <p:ext uri="{BB962C8B-B14F-4D97-AF65-F5344CB8AC3E}">
        <p14:creationId xmlns:p14="http://schemas.microsoft.com/office/powerpoint/2010/main" val="428307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309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graphicFrame>
        <p:nvGraphicFramePr>
          <p:cNvPr id="190" name="Google Shape;190;p2"/>
          <p:cNvGraphicFramePr/>
          <p:nvPr>
            <p:extLst>
              <p:ext uri="{D42A27DB-BD31-4B8C-83A1-F6EECF244321}">
                <p14:modId xmlns:p14="http://schemas.microsoft.com/office/powerpoint/2010/main" val="1750050027"/>
              </p:ext>
            </p:extLst>
          </p:nvPr>
        </p:nvGraphicFramePr>
        <p:xfrm>
          <a:off x="366269" y="1567509"/>
          <a:ext cx="17518777" cy="1512000"/>
        </p:xfrm>
        <a:graphic>
          <a:graphicData uri="http://schemas.openxmlformats.org/drawingml/2006/table">
            <a:tbl>
              <a:tblPr>
                <a:noFill/>
              </a:tblPr>
              <a:tblGrid>
                <a:gridCol w="2061420">
                  <a:extLst>
                    <a:ext uri="{9D8B030D-6E8A-4147-A177-3AD203B41FA5}">
                      <a16:colId xmlns:a16="http://schemas.microsoft.com/office/drawing/2014/main" xmlns="" val="1034483988"/>
                    </a:ext>
                  </a:extLst>
                </a:gridCol>
                <a:gridCol w="2061420">
                  <a:extLst>
                    <a:ext uri="{9D8B030D-6E8A-4147-A177-3AD203B41FA5}">
                      <a16:colId xmlns:a16="http://schemas.microsoft.com/office/drawing/2014/main" xmlns="" val="20000"/>
                    </a:ext>
                  </a:extLst>
                </a:gridCol>
                <a:gridCol w="8327926">
                  <a:extLst>
                    <a:ext uri="{9D8B030D-6E8A-4147-A177-3AD203B41FA5}">
                      <a16:colId xmlns:a16="http://schemas.microsoft.com/office/drawing/2014/main" xmlns="" val="20001"/>
                    </a:ext>
                  </a:extLst>
                </a:gridCol>
                <a:gridCol w="1423236">
                  <a:extLst>
                    <a:ext uri="{9D8B030D-6E8A-4147-A177-3AD203B41FA5}">
                      <a16:colId xmlns:a16="http://schemas.microsoft.com/office/drawing/2014/main" xmlns="" val="20002"/>
                    </a:ext>
                  </a:extLst>
                </a:gridCol>
                <a:gridCol w="634687">
                  <a:extLst>
                    <a:ext uri="{9D8B030D-6E8A-4147-A177-3AD203B41FA5}">
                      <a16:colId xmlns:a16="http://schemas.microsoft.com/office/drawing/2014/main" xmlns="" val="20003"/>
                    </a:ext>
                  </a:extLst>
                </a:gridCol>
                <a:gridCol w="1192442">
                  <a:extLst>
                    <a:ext uri="{9D8B030D-6E8A-4147-A177-3AD203B41FA5}">
                      <a16:colId xmlns:a16="http://schemas.microsoft.com/office/drawing/2014/main" xmlns="" val="2445255174"/>
                    </a:ext>
                  </a:extLst>
                </a:gridCol>
                <a:gridCol w="576988">
                  <a:extLst>
                    <a:ext uri="{9D8B030D-6E8A-4147-A177-3AD203B41FA5}">
                      <a16:colId xmlns:a16="http://schemas.microsoft.com/office/drawing/2014/main" xmlns="" val="3610384773"/>
                    </a:ext>
                  </a:extLst>
                </a:gridCol>
                <a:gridCol w="1240658">
                  <a:extLst>
                    <a:ext uri="{9D8B030D-6E8A-4147-A177-3AD203B41FA5}">
                      <a16:colId xmlns:a16="http://schemas.microsoft.com/office/drawing/2014/main" xmlns="" val="4169125416"/>
                    </a:ext>
                  </a:extLst>
                </a:gridCol>
              </a:tblGrid>
              <a:tr h="504000">
                <a:tc rowSpan="3">
                  <a:txBody>
                    <a:bodyPr/>
                    <a:lstStyle/>
                    <a:p>
                      <a:pPr marL="0" marR="0" lvl="0" indent="0" algn="l" rtl="0">
                        <a:lnSpc>
                          <a:spcPct val="166666"/>
                        </a:lnSpc>
                        <a:spcBef>
                          <a:spcPts val="0"/>
                        </a:spcBef>
                        <a:spcAft>
                          <a:spcPts val="0"/>
                        </a:spcAft>
                        <a:buNone/>
                      </a:pPr>
                      <a:r>
                        <a:rPr lang="x-none" sz="1800" b="1" u="none" strike="noStrike" cap="none" dirty="0">
                          <a:solidFill>
                            <a:schemeClr val="lt1"/>
                          </a:solidFill>
                          <a:latin typeface="Microsoft JhengHei"/>
                          <a:ea typeface="Microsoft JhengHei"/>
                          <a:cs typeface="Microsoft JhengHei"/>
                          <a:sym typeface="Microsoft JhengHei"/>
                        </a:rPr>
                        <a:t>文件基本訊息</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文件主題</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 To be_Business Process</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創建日期</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gridSpan="4">
                  <a:txBody>
                    <a:bodyPr/>
                    <a:lstStyle/>
                    <a:p>
                      <a:pPr marL="0" marR="0" lvl="0" indent="0" algn="l" defTabSz="1371600" rtl="0" eaLnBrk="1" fontAlgn="auto" latinLnBrk="0" hangingPunct="1">
                        <a:lnSpc>
                          <a:spcPct val="166666"/>
                        </a:lnSpc>
                        <a:spcBef>
                          <a:spcPts val="0"/>
                        </a:spcBef>
                        <a:spcAft>
                          <a:spcPts val="0"/>
                        </a:spcAft>
                        <a:buClrTx/>
                        <a:buSzTx/>
                        <a:buFontTx/>
                        <a:buNone/>
                        <a:tabLst/>
                        <a:defRPr/>
                      </a:pPr>
                      <a:r>
                        <a:rPr lang="en-US" sz="1800" b="1" u="none" strike="noStrike" cap="none" dirty="0">
                          <a:solidFill>
                            <a:schemeClr val="lt1"/>
                          </a:solidFill>
                          <a:latin typeface="Microsoft JhengHei"/>
                          <a:ea typeface="Microsoft JhengHei"/>
                          <a:cs typeface="Microsoft JhengHei"/>
                          <a:sym typeface="Microsoft JhengHei"/>
                        </a:rPr>
                        <a:t>2025/07/01</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xmlns="" val="10000"/>
                  </a:ext>
                </a:extLst>
              </a:tr>
              <a:tr h="504000">
                <a:tc vMerge="1">
                  <a:txBody>
                    <a:bodyPr/>
                    <a:lstStyle/>
                    <a:p>
                      <a:pPr marL="0" marR="0" lvl="0" indent="0" algn="l" rtl="0">
                        <a:lnSpc>
                          <a:spcPct val="166666"/>
                        </a:lnSpc>
                        <a:spcBef>
                          <a:spcPts val="0"/>
                        </a:spcBef>
                        <a:spcAft>
                          <a:spcPts val="0"/>
                        </a:spcAft>
                        <a:buNone/>
                      </a:pP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err="1">
                          <a:solidFill>
                            <a:schemeClr val="lt1"/>
                          </a:solidFill>
                          <a:latin typeface="Microsoft JhengHei"/>
                          <a:ea typeface="Microsoft JhengHei"/>
                          <a:cs typeface="Microsoft JhengHei"/>
                          <a:sym typeface="Microsoft JhengHei"/>
                        </a:rPr>
                        <a:t>作者</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r>
                        <a:rPr lang="en-US" altLang="zh-TW" sz="1800" b="1" u="none" strike="noStrike" cap="none" dirty="0">
                          <a:solidFill>
                            <a:schemeClr val="dk1"/>
                          </a:solidFill>
                          <a:latin typeface="Microsoft JhengHei"/>
                          <a:ea typeface="Microsoft JhengHei"/>
                          <a:cs typeface="Microsoft JhengHei"/>
                          <a:sym typeface="Microsoft JhengHei"/>
                        </a:rPr>
                        <a:t>DSIT</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l" rtl="0">
                        <a:lnSpc>
                          <a:spcPct val="166666"/>
                        </a:lnSpc>
                        <a:spcBef>
                          <a:spcPts val="0"/>
                        </a:spcBef>
                        <a:spcAft>
                          <a:spcPts val="0"/>
                        </a:spcAft>
                        <a:buNone/>
                      </a:pPr>
                      <a:r>
                        <a:rPr lang="en-US" sz="1800" b="1" u="none" strike="noStrike" cap="none" dirty="0" err="1">
                          <a:solidFill>
                            <a:schemeClr val="dk1"/>
                          </a:solidFill>
                          <a:latin typeface="Microsoft JhengHei"/>
                          <a:ea typeface="Microsoft JhengHei"/>
                          <a:cs typeface="Microsoft JhengHei"/>
                          <a:sym typeface="Microsoft JhengHei"/>
                        </a:rPr>
                        <a:t>文件狀態</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ctr" rtl="0">
                        <a:lnSpc>
                          <a:spcPct val="166666"/>
                        </a:lnSpc>
                        <a:spcBef>
                          <a:spcPts val="0"/>
                        </a:spcBef>
                        <a:spcAft>
                          <a:spcPts val="0"/>
                        </a:spcAft>
                        <a:buClr>
                          <a:schemeClr val="dk1"/>
                        </a:buClr>
                        <a:buSzPts val="1200"/>
                        <a:buFont typeface="Arimo"/>
                        <a:buNone/>
                      </a:pP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l" rtl="0">
                        <a:lnSpc>
                          <a:spcPct val="166666"/>
                        </a:lnSpc>
                        <a:spcBef>
                          <a:spcPts val="0"/>
                        </a:spcBef>
                        <a:spcAft>
                          <a:spcPts val="0"/>
                        </a:spcAft>
                        <a:buClr>
                          <a:schemeClr val="dk1"/>
                        </a:buClr>
                        <a:buSzPts val="1200"/>
                        <a:buFont typeface="Arimo"/>
                        <a:buNone/>
                      </a:pPr>
                      <a:r>
                        <a:rPr lang="en-US" sz="1800" b="1" u="none" strike="noStrike" cap="none" dirty="0" err="1">
                          <a:solidFill>
                            <a:schemeClr val="dk1"/>
                          </a:solidFill>
                          <a:latin typeface="Microsoft JhengHei"/>
                          <a:ea typeface="Microsoft JhengHei"/>
                          <a:cs typeface="Microsoft JhengHei"/>
                          <a:sym typeface="Microsoft JhengHei"/>
                        </a:rPr>
                        <a:t>草稿版</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0" algn="ctr" rtl="0">
                        <a:lnSpc>
                          <a:spcPct val="166666"/>
                        </a:lnSpc>
                        <a:spcBef>
                          <a:spcPts val="0"/>
                        </a:spcBef>
                        <a:spcAft>
                          <a:spcPts val="0"/>
                        </a:spcAft>
                        <a:buClr>
                          <a:schemeClr val="dk1"/>
                        </a:buClr>
                        <a:buSzPts val="1200"/>
                        <a:buFont typeface="Arimo"/>
                        <a:buNone/>
                      </a:pPr>
                      <a:r>
                        <a:rPr lang="x-none" sz="1800" b="1" u="none" strike="noStrike" cap="none" dirty="0">
                          <a:solidFill>
                            <a:schemeClr val="dk1"/>
                          </a:solidFill>
                          <a:latin typeface="Microsoft JhengHei"/>
                          <a:ea typeface="Microsoft JhengHei"/>
                          <a:cs typeface="Microsoft JhengHei"/>
                          <a:sym typeface="Microsoft JhengHei"/>
                        </a:rPr>
                        <a:t>V</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0" algn="l" defTabSz="1371600" rtl="0" eaLnBrk="1" fontAlgn="auto" latinLnBrk="0" hangingPunct="1">
                        <a:lnSpc>
                          <a:spcPct val="166666"/>
                        </a:lnSpc>
                        <a:spcBef>
                          <a:spcPts val="0"/>
                        </a:spcBef>
                        <a:spcAft>
                          <a:spcPts val="0"/>
                        </a:spcAft>
                        <a:buClr>
                          <a:schemeClr val="dk1"/>
                        </a:buClr>
                        <a:buSzPts val="1200"/>
                        <a:buFont typeface="Arimo"/>
                        <a:buNone/>
                        <a:tabLst/>
                        <a:defRPr/>
                      </a:pPr>
                      <a:r>
                        <a:rPr lang="zh-TW" altLang="en-US" sz="1800" b="1" u="none" strike="noStrike" cap="none" dirty="0">
                          <a:solidFill>
                            <a:schemeClr val="dk1"/>
                          </a:solidFill>
                          <a:latin typeface="Microsoft JhengHei"/>
                          <a:ea typeface="Microsoft JhengHei"/>
                          <a:cs typeface="Microsoft JhengHei"/>
                          <a:sym typeface="Microsoft JhengHei"/>
                        </a:rPr>
                        <a:t>確認版</a:t>
                      </a: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extLst>
                  <a:ext uri="{0D108BD9-81ED-4DB2-BD59-A6C34878D82A}">
                    <a16:rowId xmlns:a16="http://schemas.microsoft.com/office/drawing/2014/main" xmlns="" val="10001"/>
                  </a:ext>
                </a:extLst>
              </a:tr>
              <a:tr h="504000">
                <a:tc vMerge="1">
                  <a:txBody>
                    <a:bodyPr/>
                    <a:lstStyle/>
                    <a:p>
                      <a:pPr marL="0" marR="0" lvl="0" indent="0" algn="l" rtl="0">
                        <a:lnSpc>
                          <a:spcPct val="166666"/>
                        </a:lnSpc>
                        <a:spcBef>
                          <a:spcPts val="0"/>
                        </a:spcBef>
                        <a:spcAft>
                          <a:spcPts val="0"/>
                        </a:spcAft>
                        <a:buNone/>
                      </a:pPr>
                      <a:endParaRPr sz="4100"/>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endParaRPr sz="1800" dirty="0"/>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l" defTabSz="1371600" rtl="0" eaLnBrk="1" fontAlgn="auto" latinLnBrk="0" hangingPunct="1">
                        <a:lnSpc>
                          <a:spcPct val="166666"/>
                        </a:lnSpc>
                        <a:spcBef>
                          <a:spcPts val="0"/>
                        </a:spcBef>
                        <a:spcAft>
                          <a:spcPts val="0"/>
                        </a:spcAft>
                        <a:buClrTx/>
                        <a:buSzTx/>
                        <a:buFontTx/>
                        <a:buNone/>
                        <a:tabLst/>
                        <a:defRPr/>
                      </a:pPr>
                      <a:endParaRPr lang="zh-TW" altLang="en-US" sz="1800" b="1" dirty="0">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a:txBody>
                    <a:bodyPr/>
                    <a:lstStyle/>
                    <a:p>
                      <a:pPr marL="0" marR="0" lvl="0" indent="0" algn="l" rtl="0">
                        <a:lnSpc>
                          <a:spcPct val="166666"/>
                        </a:lnSpc>
                        <a:spcBef>
                          <a:spcPts val="0"/>
                        </a:spcBef>
                        <a:spcAft>
                          <a:spcPts val="0"/>
                        </a:spcAft>
                        <a:buNone/>
                      </a:pPr>
                      <a:r>
                        <a:rPr lang="en-US" sz="1800" b="1" u="none" strike="noStrike" cap="none" dirty="0" err="1">
                          <a:solidFill>
                            <a:schemeClr val="dk1"/>
                          </a:solidFill>
                          <a:latin typeface="Microsoft JhengHei"/>
                          <a:ea typeface="Microsoft JhengHei"/>
                          <a:cs typeface="Microsoft JhengHei"/>
                          <a:sym typeface="Microsoft JhengHei"/>
                        </a:rPr>
                        <a:t>版本</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gridSpan="4">
                  <a:txBody>
                    <a:bodyPr/>
                    <a:lstStyle/>
                    <a:p>
                      <a:pPr marL="0" marR="0" lvl="0" indent="0" algn="l" rtl="0">
                        <a:lnSpc>
                          <a:spcPct val="166666"/>
                        </a:lnSpc>
                        <a:spcBef>
                          <a:spcPts val="0"/>
                        </a:spcBef>
                        <a:spcAft>
                          <a:spcPts val="0"/>
                        </a:spcAft>
                        <a:buNone/>
                      </a:pPr>
                      <a:r>
                        <a:rPr lang="en-US" sz="1800" b="1" u="none" strike="noStrike" cap="none" dirty="0">
                          <a:solidFill>
                            <a:schemeClr val="dk1"/>
                          </a:solidFill>
                          <a:latin typeface="Microsoft JhengHei"/>
                          <a:ea typeface="Microsoft JhengHei"/>
                          <a:cs typeface="Microsoft JhengHei"/>
                          <a:sym typeface="Microsoft JhengHei"/>
                        </a:rPr>
                        <a:t> v2.1</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xmlns="" val="10002"/>
                  </a:ext>
                </a:extLst>
              </a:tr>
            </a:tbl>
          </a:graphicData>
        </a:graphic>
      </p:graphicFrame>
      <p:graphicFrame>
        <p:nvGraphicFramePr>
          <p:cNvPr id="191" name="Google Shape;191;p2"/>
          <p:cNvGraphicFramePr/>
          <p:nvPr>
            <p:extLst>
              <p:ext uri="{D42A27DB-BD31-4B8C-83A1-F6EECF244321}">
                <p14:modId xmlns:p14="http://schemas.microsoft.com/office/powerpoint/2010/main" val="3644532040"/>
              </p:ext>
            </p:extLst>
          </p:nvPr>
        </p:nvGraphicFramePr>
        <p:xfrm>
          <a:off x="366270" y="3155451"/>
          <a:ext cx="17518775" cy="3149589"/>
        </p:xfrm>
        <a:graphic>
          <a:graphicData uri="http://schemas.openxmlformats.org/drawingml/2006/table">
            <a:tbl>
              <a:tblPr>
                <a:noFill/>
              </a:tblPr>
              <a:tblGrid>
                <a:gridCol w="2061420">
                  <a:extLst>
                    <a:ext uri="{9D8B030D-6E8A-4147-A177-3AD203B41FA5}">
                      <a16:colId xmlns:a16="http://schemas.microsoft.com/office/drawing/2014/main" xmlns="" val="2419195791"/>
                    </a:ext>
                  </a:extLst>
                </a:gridCol>
                <a:gridCol w="2061420">
                  <a:extLst>
                    <a:ext uri="{9D8B030D-6E8A-4147-A177-3AD203B41FA5}">
                      <a16:colId xmlns:a16="http://schemas.microsoft.com/office/drawing/2014/main" xmlns="" val="20000"/>
                    </a:ext>
                  </a:extLst>
                </a:gridCol>
                <a:gridCol w="8327988">
                  <a:extLst>
                    <a:ext uri="{9D8B030D-6E8A-4147-A177-3AD203B41FA5}">
                      <a16:colId xmlns:a16="http://schemas.microsoft.com/office/drawing/2014/main" xmlns="" val="20001"/>
                    </a:ext>
                  </a:extLst>
                </a:gridCol>
                <a:gridCol w="3270143">
                  <a:extLst>
                    <a:ext uri="{9D8B030D-6E8A-4147-A177-3AD203B41FA5}">
                      <a16:colId xmlns:a16="http://schemas.microsoft.com/office/drawing/2014/main" xmlns="" val="20002"/>
                    </a:ext>
                  </a:extLst>
                </a:gridCol>
                <a:gridCol w="1797804">
                  <a:extLst>
                    <a:ext uri="{9D8B030D-6E8A-4147-A177-3AD203B41FA5}">
                      <a16:colId xmlns:a16="http://schemas.microsoft.com/office/drawing/2014/main" xmlns="" val="20003"/>
                    </a:ext>
                  </a:extLst>
                </a:gridCol>
              </a:tblGrid>
              <a:tr h="428821">
                <a:tc rowSpan="6">
                  <a:txBody>
                    <a:bodyPr/>
                    <a:lstStyle/>
                    <a:p>
                      <a:pPr marL="0" marR="0" lvl="0" indent="0" algn="l" rtl="0">
                        <a:lnSpc>
                          <a:spcPct val="166666"/>
                        </a:lnSpc>
                        <a:spcBef>
                          <a:spcPts val="0"/>
                        </a:spcBef>
                        <a:spcAft>
                          <a:spcPts val="0"/>
                        </a:spcAft>
                        <a:buNone/>
                      </a:pPr>
                      <a:r>
                        <a:rPr lang="x-none"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文件版本</a:t>
                      </a:r>
                      <a:endParaRPr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版本號</a:t>
                      </a: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r>
                        <a:rPr lang="en-US"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變更說明(修改內容說明)</a:t>
                      </a: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修改人</a:t>
                      </a: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日期</a:t>
                      </a: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ED7D31"/>
                    </a:solidFill>
                  </a:tcPr>
                </a:tc>
                <a:extLst>
                  <a:ext uri="{0D108BD9-81ED-4DB2-BD59-A6C34878D82A}">
                    <a16:rowId xmlns:a16="http://schemas.microsoft.com/office/drawing/2014/main" xmlns="" val="10000"/>
                  </a:ext>
                </a:extLst>
              </a:tr>
              <a:tr h="590284">
                <a:tc vMerge="1">
                  <a:txBody>
                    <a:bodyPr/>
                    <a:lstStyle/>
                    <a:p>
                      <a:pPr marL="0" marR="0" lvl="0" indent="0" algn="l" rtl="0">
                        <a:lnSpc>
                          <a:spcPct val="166666"/>
                        </a:lnSpc>
                        <a:spcBef>
                          <a:spcPts val="0"/>
                        </a:spcBef>
                        <a:spcAft>
                          <a:spcPts val="0"/>
                        </a:spcAft>
                        <a:buNone/>
                      </a:pPr>
                      <a:endParaRPr sz="1800"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endParaRPr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a:lnSpc>
                          <a:spcPct val="166000"/>
                        </a:lnSpc>
                        <a:tabLst>
                          <a:tab pos="0" algn="l"/>
                        </a:tabLst>
                      </a:pPr>
                      <a:r>
                        <a:rPr lang="zh-TW" altLang="en-US" sz="1800" b="1" strike="noStrike" spc="-1" dirty="0">
                          <a:solidFill>
                            <a:srgbClr val="000000"/>
                          </a:solidFill>
                          <a:latin typeface="Microsoft JhengHei" panose="020B0604030504040204" pitchFamily="34" charset="-120"/>
                          <a:ea typeface="Microsoft JhengHei" panose="020B0604030504040204" pitchFamily="34" charset="-120"/>
                        </a:rPr>
                        <a:t>調整</a:t>
                      </a:r>
                      <a:r>
                        <a:rPr lang="zh-TW" altLang="en-US" sz="1800" dirty="0">
                          <a:latin typeface="微軟正黑體" panose="020B0604030504040204" pitchFamily="34" charset="-120"/>
                          <a:ea typeface="微軟正黑體" panose="020B0604030504040204" pitchFamily="34" charset="-120"/>
                        </a:rPr>
                        <a:t>楦頭流程為楦頭</a:t>
                      </a:r>
                      <a:r>
                        <a:rPr lang="en-US" altLang="zh-TW" sz="1800" dirty="0">
                          <a:latin typeface="微軟正黑體" panose="020B0604030504040204" pitchFamily="34" charset="-120"/>
                          <a:ea typeface="微軟正黑體" panose="020B0604030504040204" pitchFamily="34" charset="-120"/>
                        </a:rPr>
                        <a:t>/</a:t>
                      </a:r>
                      <a:r>
                        <a:rPr lang="zh-TW" altLang="en-US" sz="1800" dirty="0">
                          <a:latin typeface="微軟正黑體" panose="020B0604030504040204" pitchFamily="34" charset="-120"/>
                          <a:ea typeface="微軟正黑體" panose="020B0604030504040204" pitchFamily="34" charset="-120"/>
                        </a:rPr>
                        <a:t>模具 共用，修改成用</a:t>
                      </a:r>
                      <a:r>
                        <a:rPr lang="en-US" altLang="zh-TW" sz="1800" dirty="0">
                          <a:latin typeface="微軟正黑體" panose="020B0604030504040204" pitchFamily="34" charset="-120"/>
                          <a:ea typeface="微軟正黑體" panose="020B0604030504040204" pitchFamily="34" charset="-120"/>
                        </a:rPr>
                        <a:t>101</a:t>
                      </a:r>
                      <a:r>
                        <a:rPr lang="zh-TW" altLang="en-US" sz="1800" dirty="0">
                          <a:latin typeface="微軟正黑體" panose="020B0604030504040204" pitchFamily="34" charset="-120"/>
                          <a:ea typeface="微軟正黑體" panose="020B0604030504040204" pitchFamily="34" charset="-120"/>
                        </a:rPr>
                        <a:t>收貨</a:t>
                      </a: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0" algn="ctr" defTabSz="1371600" rtl="0" eaLnBrk="1" fontAlgn="auto" latinLnBrk="0" hangingPunct="1">
                        <a:lnSpc>
                          <a:spcPct val="166000"/>
                        </a:lnSpc>
                        <a:spcBef>
                          <a:spcPts val="0"/>
                        </a:spcBef>
                        <a:spcAft>
                          <a:spcPts val="0"/>
                        </a:spcAft>
                        <a:buClrTx/>
                        <a:buSzTx/>
                        <a:buFontTx/>
                        <a:buNone/>
                        <a:tabLst>
                          <a:tab pos="0" algn="l"/>
                        </a:tabLst>
                        <a:defRPr/>
                      </a:pPr>
                      <a:r>
                        <a:rPr lang="en-US" altLang="zh-TW" sz="1800" b="0" strike="noStrike" spc="-1" dirty="0">
                          <a:solidFill>
                            <a:schemeClr val="dk1"/>
                          </a:solidFill>
                          <a:latin typeface="Microsoft JhengHei"/>
                          <a:ea typeface="Microsoft JhengHei"/>
                        </a:rPr>
                        <a:t>Vincent</a:t>
                      </a:r>
                      <a:r>
                        <a:rPr lang="en-US" altLang="zh-TW" sz="1800" b="0" strike="noStrike" spc="-1" baseline="0" dirty="0">
                          <a:solidFill>
                            <a:schemeClr val="dk1"/>
                          </a:solidFill>
                          <a:latin typeface="Microsoft JhengHei"/>
                          <a:ea typeface="Microsoft JhengHei"/>
                        </a:rPr>
                        <a:t> Yeh</a:t>
                      </a:r>
                      <a:endParaRPr lang="en-US" altLang="zh-TW" sz="1800" b="0" strike="noStrike" spc="-1" dirty="0">
                        <a:solidFill>
                          <a:schemeClr val="dk1"/>
                        </a:solidFill>
                        <a:latin typeface="Microsoft JhengHei"/>
                        <a:ea typeface="Microsoft JhengHei"/>
                      </a:endParaRPr>
                    </a:p>
                  </a:txBody>
                  <a:tcP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algn="ctr">
                        <a:lnSpc>
                          <a:spcPct val="166000"/>
                        </a:lnSpc>
                        <a:tabLst>
                          <a:tab pos="0" algn="l"/>
                        </a:tabLst>
                      </a:pPr>
                      <a:r>
                        <a:rPr lang="en-US" sz="1800" b="1" strike="noStrike" spc="-1" dirty="0">
                          <a:solidFill>
                            <a:srgbClr val="000000"/>
                          </a:solidFill>
                          <a:latin typeface="Microsoft JhengHei" panose="020B0604030504040204" pitchFamily="34" charset="-120"/>
                          <a:ea typeface="Microsoft JhengHei" panose="020B0604030504040204" pitchFamily="34" charset="-120"/>
                        </a:rPr>
                        <a:t>2025/07/14</a:t>
                      </a:r>
                    </a:p>
                  </a:txBody>
                  <a:tcPr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extLst>
                  <a:ext uri="{0D108BD9-81ED-4DB2-BD59-A6C34878D82A}">
                    <a16:rowId xmlns:a16="http://schemas.microsoft.com/office/drawing/2014/main" xmlns="" val="10001"/>
                  </a:ext>
                </a:extLst>
              </a:tr>
              <a:tr h="524626">
                <a:tc vMerge="1">
                  <a:txBody>
                    <a:bodyPr/>
                    <a:lstStyle/>
                    <a:p>
                      <a:pPr marL="0" marR="0" lvl="0" indent="0" algn="l" defTabSz="914400" rtl="0" eaLnBrk="1" fontAlgn="auto" latinLnBrk="0" hangingPunct="1">
                        <a:lnSpc>
                          <a:spcPct val="166666"/>
                        </a:lnSpc>
                        <a:spcBef>
                          <a:spcPts val="0"/>
                        </a:spcBef>
                        <a:spcAft>
                          <a:spcPts val="0"/>
                        </a:spcAft>
                        <a:buClr>
                          <a:srgbClr val="000000"/>
                        </a:buClr>
                        <a:buSzTx/>
                        <a:buFont typeface="Arial"/>
                        <a:buNone/>
                        <a:tabLst/>
                        <a:defRPr/>
                      </a:pPr>
                      <a:endParaRPr lang="en-US" altLang="zh-TW" sz="1800" u="none" strike="noStrike" cap="none" dirty="0">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endParaRPr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tc>
                  <a:txBody>
                    <a:bodyPr/>
                    <a:lstStyle/>
                    <a:p>
                      <a:pPr algn="ct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tc>
                  <a:txBody>
                    <a:bodyPr/>
                    <a:lstStyle/>
                    <a:p>
                      <a:pPr algn="ctr">
                        <a:lnSpc>
                          <a:spcPct val="166000"/>
                        </a:lnSpc>
                        <a:tabLst>
                          <a:tab pos="0" algn="l"/>
                        </a:tabLst>
                      </a:pPr>
                      <a:endParaRPr lang="en-US" sz="1800" b="1" strike="noStrike" spc="-1">
                        <a:solidFill>
                          <a:srgbClr val="000000"/>
                        </a:solidFill>
                        <a:latin typeface="Microsoft JhengHei" panose="020B0604030504040204" pitchFamily="34" charset="-120"/>
                        <a:ea typeface="Microsoft JhengHei" panose="020B0604030504040204" pitchFamily="34" charset="-120"/>
                      </a:endParaRPr>
                    </a:p>
                  </a:txBody>
                  <a:tcPr marL="68400" marR="68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extLst>
                  <a:ext uri="{0D108BD9-81ED-4DB2-BD59-A6C34878D82A}">
                    <a16:rowId xmlns:a16="http://schemas.microsoft.com/office/drawing/2014/main" xmlns="" val="10002"/>
                  </a:ext>
                </a:extLst>
              </a:tr>
              <a:tr h="524626">
                <a:tc vMerge="1">
                  <a:txBody>
                    <a:bodyPr/>
                    <a:lstStyle/>
                    <a:p>
                      <a:pPr marL="0" marR="0" lvl="0" indent="0" algn="l" rtl="0">
                        <a:lnSpc>
                          <a:spcPct val="166666"/>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defTabSz="914400" rtl="0" eaLnBrk="1" fontAlgn="auto" latinLnBrk="0" hangingPunct="1">
                        <a:lnSpc>
                          <a:spcPct val="166666"/>
                        </a:lnSpc>
                        <a:spcBef>
                          <a:spcPts val="0"/>
                        </a:spcBef>
                        <a:spcAft>
                          <a:spcPts val="0"/>
                        </a:spcAft>
                        <a:buClr>
                          <a:srgbClr val="000000"/>
                        </a:buClr>
                        <a:buSzTx/>
                        <a:buFont typeface="Arial"/>
                        <a:buNone/>
                        <a:tabLst/>
                        <a:defRPr/>
                      </a:pPr>
                      <a:endParaRPr lang="en-US" altLang="zh-TW"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algn="ct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algn="ct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extLst>
                  <a:ext uri="{0D108BD9-81ED-4DB2-BD59-A6C34878D82A}">
                    <a16:rowId xmlns:a16="http://schemas.microsoft.com/office/drawing/2014/main" xmlns="" val="10003"/>
                  </a:ext>
                </a:extLst>
              </a:tr>
              <a:tr h="526822">
                <a:tc vMerge="1">
                  <a:txBody>
                    <a:bodyPr/>
                    <a:lstStyle/>
                    <a:p>
                      <a:pPr marL="0" marR="0" lvl="0" indent="0" algn="l" rtl="0">
                        <a:lnSpc>
                          <a:spcPct val="166666"/>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endParaRPr sz="1800"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endParaRPr lang="en-US" sz="1800" b="1" strike="noStrike" spc="-1" dirty="0">
                        <a:solidFill>
                          <a:schemeClr val="dk1"/>
                        </a:solidFill>
                        <a:latin typeface="Microsoft JhengHei" panose="020B0604030504040204" pitchFamily="34" charset="-120"/>
                        <a:ea typeface="Microsoft JhengHei" panose="020B0604030504040204" pitchFamily="34" charset="-120"/>
                      </a:endParaRPr>
                    </a:p>
                  </a:txBody>
                  <a:tcPr marL="68400" marR="68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tc>
                  <a:txBody>
                    <a:bodyPr/>
                    <a:lstStyle/>
                    <a:p>
                      <a:pPr marL="0" marR="0" lvl="0" indent="0" algn="ctr" defTabSz="914400" rtl="0" eaLnBrk="1" fontAlgn="auto" latinLnBrk="0" hangingPunct="1">
                        <a:lnSpc>
                          <a:spcPct val="166666"/>
                        </a:lnSpc>
                        <a:spcBef>
                          <a:spcPts val="0"/>
                        </a:spcBef>
                        <a:spcAft>
                          <a:spcPts val="0"/>
                        </a:spcAft>
                        <a:buClr>
                          <a:srgbClr val="000000"/>
                        </a:buClr>
                        <a:buSzTx/>
                        <a:buFont typeface="Arial"/>
                        <a:buNone/>
                        <a:tabLst/>
                        <a:defRPr/>
                      </a:pPr>
                      <a:endParaRPr lang="zh-TW" altLang="en-US" sz="1800" b="1" i="0" u="none" strike="noStrike" cap="none" dirty="0">
                        <a:solidFill>
                          <a:schemeClr val="dk1"/>
                        </a:solidFill>
                        <a:latin typeface="Microsoft JhengHei" panose="020B0604030504040204" pitchFamily="34" charset="-120"/>
                        <a:ea typeface="Microsoft JhengHei" panose="020B0604030504040204" pitchFamily="34" charset="-120"/>
                        <a:cs typeface="Arial"/>
                        <a:sym typeface="Microsoft JhengHei"/>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tc>
                  <a:txBody>
                    <a:bodyPr/>
                    <a:lstStyle/>
                    <a:p>
                      <a:pPr algn="ctr"/>
                      <a:endParaRPr lang="en-US" sz="1800" b="1" strike="noStrike" spc="-1" dirty="0">
                        <a:solidFill>
                          <a:schemeClr val="dk1"/>
                        </a:solidFill>
                        <a:latin typeface="Microsoft JhengHei" panose="020B0604030504040204" pitchFamily="34" charset="-120"/>
                        <a:ea typeface="Microsoft JhengHei" panose="020B0604030504040204" pitchFamily="34" charset="-120"/>
                      </a:endParaRPr>
                    </a:p>
                  </a:txBody>
                  <a:tcPr marL="68400" marR="68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extLst>
                  <a:ext uri="{0D108BD9-81ED-4DB2-BD59-A6C34878D82A}">
                    <a16:rowId xmlns:a16="http://schemas.microsoft.com/office/drawing/2014/main" xmlns="" val="10004"/>
                  </a:ext>
                </a:extLst>
              </a:tr>
              <a:tr h="428821">
                <a:tc vMerge="1">
                  <a:txBody>
                    <a:bodyPr/>
                    <a:lstStyle/>
                    <a:p>
                      <a:pPr marL="0" marR="0" lvl="0" indent="0" algn="l" rtl="0">
                        <a:lnSpc>
                          <a:spcPct val="166666"/>
                        </a:lnSpc>
                        <a:spcBef>
                          <a:spcPts val="0"/>
                        </a:spcBef>
                        <a:spcAft>
                          <a:spcPts val="0"/>
                        </a:spcAft>
                        <a:buNone/>
                      </a:pP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defTabSz="914400" rtl="0" eaLnBrk="1" fontAlgn="auto" latinLnBrk="0" hangingPunct="1">
                        <a:lnSpc>
                          <a:spcPct val="166666"/>
                        </a:lnSpc>
                        <a:spcBef>
                          <a:spcPts val="0"/>
                        </a:spcBef>
                        <a:spcAft>
                          <a:spcPts val="0"/>
                        </a:spcAft>
                        <a:buClr>
                          <a:srgbClr val="000000"/>
                        </a:buClr>
                        <a:buSzTx/>
                        <a:buFont typeface="Arial"/>
                        <a:buNone/>
                        <a:tabLst/>
                        <a:defRPr/>
                      </a:pPr>
                      <a:endParaRPr lang="en-US" altLang="zh-TW"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endParaRPr sz="1800" b="1" u="none" strike="noStrike" cap="none" dirty="0">
                        <a:solidFill>
                          <a:schemeClr val="dk1"/>
                        </a:solidFill>
                        <a:latin typeface="Microsoft JhengHei" panose="020B0604030504040204" pitchFamily="34" charset="-120"/>
                        <a:ea typeface="Microsoft JhengHei" panose="020B0604030504040204" pitchFamily="34" charset="-120"/>
                        <a:cs typeface="Arial"/>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7CC"/>
                    </a:solidFill>
                  </a:tcPr>
                </a:tc>
                <a:tc>
                  <a:txBody>
                    <a:bodyPr/>
                    <a:lstStyle/>
                    <a:p>
                      <a:pPr marL="0" marR="0" lvl="0" indent="0" algn="ctr" defTabSz="914400" rtl="0" eaLnBrk="1" fontAlgn="auto" latinLnBrk="0" hangingPunct="1">
                        <a:lnSpc>
                          <a:spcPct val="166666"/>
                        </a:lnSpc>
                        <a:spcBef>
                          <a:spcPts val="0"/>
                        </a:spcBef>
                        <a:spcAft>
                          <a:spcPts val="0"/>
                        </a:spcAft>
                        <a:buClr>
                          <a:srgbClr val="000000"/>
                        </a:buClr>
                        <a:buSzTx/>
                        <a:buFont typeface="Arial"/>
                        <a:buNone/>
                        <a:tabLst/>
                        <a:defRPr/>
                      </a:pPr>
                      <a:endParaRPr lang="zh-TW" altLang="en-US" sz="1800" b="1" i="0" u="none" strike="noStrike" cap="none" dirty="0">
                        <a:solidFill>
                          <a:schemeClr val="dk1"/>
                        </a:solidFill>
                        <a:latin typeface="Microsoft JhengHei" panose="020B0604030504040204" pitchFamily="34" charset="-120"/>
                        <a:ea typeface="Microsoft JhengHei" panose="020B0604030504040204" pitchFamily="34" charset="-120"/>
                        <a:cs typeface="Arial"/>
                        <a:sym typeface="Microsoft JhengHei"/>
                      </a:endParaRPr>
                    </a:p>
                  </a:txBody>
                  <a:tcPr marL="0" marR="0"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7CC"/>
                    </a:solidFill>
                  </a:tcPr>
                </a:tc>
                <a:tc>
                  <a:txBody>
                    <a:bodyPr/>
                    <a:lstStyle/>
                    <a:p>
                      <a:pPr marL="0" marR="0" lvl="0" indent="0" algn="ctr" rtl="0">
                        <a:spcBef>
                          <a:spcPts val="0"/>
                        </a:spcBef>
                        <a:spcAft>
                          <a:spcPts val="0"/>
                        </a:spcAft>
                        <a:buNone/>
                      </a:pPr>
                      <a:endParaRPr sz="1800" b="1" i="0" u="none" strike="noStrike" cap="none" dirty="0">
                        <a:solidFill>
                          <a:srgbClr val="000000"/>
                        </a:solidFill>
                        <a:latin typeface="Microsoft JhengHei" panose="020B0604030504040204" pitchFamily="34" charset="-120"/>
                        <a:ea typeface="Microsoft JhengHei" panose="020B0604030504040204" pitchFamily="34" charset="-120"/>
                        <a:cs typeface="Arial"/>
                        <a:sym typeface="Microsoft JhengHei"/>
                      </a:endParaRPr>
                    </a:p>
                  </a:txBody>
                  <a:tcPr marL="0" marR="0" marT="0" marB="0"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7CC"/>
                    </a:solidFill>
                  </a:tcPr>
                </a:tc>
                <a:extLst>
                  <a:ext uri="{0D108BD9-81ED-4DB2-BD59-A6C34878D82A}">
                    <a16:rowId xmlns:a16="http://schemas.microsoft.com/office/drawing/2014/main" xmlns="" val="1342071289"/>
                  </a:ext>
                </a:extLst>
              </a:tr>
            </a:tbl>
          </a:graphicData>
        </a:graphic>
      </p:graphicFrame>
      <p:graphicFrame>
        <p:nvGraphicFramePr>
          <p:cNvPr id="192" name="Google Shape;192;p2"/>
          <p:cNvGraphicFramePr/>
          <p:nvPr>
            <p:extLst>
              <p:ext uri="{D42A27DB-BD31-4B8C-83A1-F6EECF244321}">
                <p14:modId xmlns:p14="http://schemas.microsoft.com/office/powerpoint/2010/main" val="2853513147"/>
              </p:ext>
            </p:extLst>
          </p:nvPr>
        </p:nvGraphicFramePr>
        <p:xfrm>
          <a:off x="366269" y="6255393"/>
          <a:ext cx="17518780" cy="504000"/>
        </p:xfrm>
        <a:graphic>
          <a:graphicData uri="http://schemas.openxmlformats.org/drawingml/2006/table">
            <a:tbl>
              <a:tblPr>
                <a:noFill/>
              </a:tblPr>
              <a:tblGrid>
                <a:gridCol w="2061420">
                  <a:extLst>
                    <a:ext uri="{9D8B030D-6E8A-4147-A177-3AD203B41FA5}">
                      <a16:colId xmlns:a16="http://schemas.microsoft.com/office/drawing/2014/main" xmlns="" val="2993713426"/>
                    </a:ext>
                  </a:extLst>
                </a:gridCol>
                <a:gridCol w="2066819">
                  <a:extLst>
                    <a:ext uri="{9D8B030D-6E8A-4147-A177-3AD203B41FA5}">
                      <a16:colId xmlns:a16="http://schemas.microsoft.com/office/drawing/2014/main" xmlns="" val="20000"/>
                    </a:ext>
                  </a:extLst>
                </a:gridCol>
                <a:gridCol w="1797521">
                  <a:extLst>
                    <a:ext uri="{9D8B030D-6E8A-4147-A177-3AD203B41FA5}">
                      <a16:colId xmlns:a16="http://schemas.microsoft.com/office/drawing/2014/main" xmlns="" val="20001"/>
                    </a:ext>
                  </a:extLst>
                </a:gridCol>
                <a:gridCol w="1932170">
                  <a:extLst>
                    <a:ext uri="{9D8B030D-6E8A-4147-A177-3AD203B41FA5}">
                      <a16:colId xmlns:a16="http://schemas.microsoft.com/office/drawing/2014/main" xmlns="" val="20002"/>
                    </a:ext>
                  </a:extLst>
                </a:gridCol>
                <a:gridCol w="1932170">
                  <a:extLst>
                    <a:ext uri="{9D8B030D-6E8A-4147-A177-3AD203B41FA5}">
                      <a16:colId xmlns:a16="http://schemas.microsoft.com/office/drawing/2014/main" xmlns="" val="20003"/>
                    </a:ext>
                  </a:extLst>
                </a:gridCol>
                <a:gridCol w="1932170">
                  <a:extLst>
                    <a:ext uri="{9D8B030D-6E8A-4147-A177-3AD203B41FA5}">
                      <a16:colId xmlns:a16="http://schemas.microsoft.com/office/drawing/2014/main" xmlns="" val="20004"/>
                    </a:ext>
                  </a:extLst>
                </a:gridCol>
                <a:gridCol w="1932170">
                  <a:extLst>
                    <a:ext uri="{9D8B030D-6E8A-4147-A177-3AD203B41FA5}">
                      <a16:colId xmlns:a16="http://schemas.microsoft.com/office/drawing/2014/main" xmlns="" val="20005"/>
                    </a:ext>
                  </a:extLst>
                </a:gridCol>
                <a:gridCol w="1932170">
                  <a:extLst>
                    <a:ext uri="{9D8B030D-6E8A-4147-A177-3AD203B41FA5}">
                      <a16:colId xmlns:a16="http://schemas.microsoft.com/office/drawing/2014/main" xmlns="" val="20006"/>
                    </a:ext>
                  </a:extLst>
                </a:gridCol>
                <a:gridCol w="1932170">
                  <a:extLst>
                    <a:ext uri="{9D8B030D-6E8A-4147-A177-3AD203B41FA5}">
                      <a16:colId xmlns:a16="http://schemas.microsoft.com/office/drawing/2014/main" xmlns="" val="20007"/>
                    </a:ext>
                  </a:extLst>
                </a:gridCol>
              </a:tblGrid>
              <a:tr h="504000">
                <a:tc>
                  <a:txBody>
                    <a:bodyPr/>
                    <a:lstStyle/>
                    <a:p>
                      <a:pPr marL="0" marR="0" lvl="0" indent="0" algn="l" rtl="0">
                        <a:lnSpc>
                          <a:spcPct val="150000"/>
                        </a:lnSpc>
                        <a:spcBef>
                          <a:spcPts val="0"/>
                        </a:spcBef>
                        <a:spcAft>
                          <a:spcPts val="0"/>
                        </a:spcAft>
                        <a:buNone/>
                      </a:pPr>
                      <a:r>
                        <a:rPr lang="x-none" sz="1800" b="1" u="none" strike="noStrike" cap="none">
                          <a:solidFill>
                            <a:schemeClr val="lt1"/>
                          </a:solidFill>
                          <a:latin typeface="Microsoft JhengHei"/>
                          <a:ea typeface="Microsoft JhengHei"/>
                          <a:cs typeface="Microsoft JhengHei"/>
                          <a:sym typeface="Microsoft JhengHei"/>
                        </a:rPr>
                        <a:t>機密等級</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極機密</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dk1"/>
                          </a:solidFill>
                          <a:latin typeface="Microsoft JhengHei"/>
                          <a:ea typeface="Microsoft JhengHei"/>
                          <a:cs typeface="Microsoft JhengHei"/>
                          <a:sym typeface="Microsoft JhengHei"/>
                        </a:rPr>
                        <a:t> </a:t>
                      </a:r>
                      <a:endParaRPr sz="1800" b="1" u="none" strike="noStrike" cap="none">
                        <a:solidFill>
                          <a:schemeClr val="dk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FCECE8"/>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機密</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dk1"/>
                          </a:solidFill>
                          <a:latin typeface="Microsoft JhengHei"/>
                          <a:ea typeface="Microsoft JhengHei"/>
                          <a:cs typeface="Microsoft JhengHei"/>
                          <a:sym typeface="Microsoft JhengHei"/>
                        </a:rPr>
                        <a:t> </a:t>
                      </a:r>
                      <a:endParaRPr sz="1800" b="1" u="none" strike="noStrike" cap="none">
                        <a:solidFill>
                          <a:schemeClr val="dk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FCECE8"/>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內部使用</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dk1"/>
                          </a:solidFill>
                          <a:latin typeface="Microsoft JhengHei"/>
                          <a:ea typeface="Microsoft JhengHei"/>
                          <a:cs typeface="Microsoft JhengHei"/>
                          <a:sym typeface="Microsoft JhengHei"/>
                        </a:rPr>
                        <a:t>V </a:t>
                      </a:r>
                      <a:endParaRPr sz="1800" b="1" u="none" strike="noStrike" cap="none">
                        <a:solidFill>
                          <a:schemeClr val="dk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FCECE8"/>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一般</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dirty="0">
                          <a:solidFill>
                            <a:schemeClr val="dk1"/>
                          </a:solidFill>
                          <a:latin typeface="Microsoft JhengHei"/>
                          <a:ea typeface="Microsoft JhengHei"/>
                          <a:cs typeface="Microsoft JhengHei"/>
                          <a:sym typeface="Microsoft JhengHei"/>
                        </a:rPr>
                        <a:t> </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FCECE8"/>
                    </a:solidFill>
                  </a:tcPr>
                </a:tc>
                <a:extLst>
                  <a:ext uri="{0D108BD9-81ED-4DB2-BD59-A6C34878D82A}">
                    <a16:rowId xmlns:a16="http://schemas.microsoft.com/office/drawing/2014/main" xmlns="" val="10000"/>
                  </a:ext>
                </a:extLst>
              </a:tr>
            </a:tbl>
          </a:graphicData>
        </a:graphic>
      </p:graphicFrame>
      <p:graphicFrame>
        <p:nvGraphicFramePr>
          <p:cNvPr id="193" name="Google Shape;193;p2"/>
          <p:cNvGraphicFramePr/>
          <p:nvPr>
            <p:extLst>
              <p:ext uri="{D42A27DB-BD31-4B8C-83A1-F6EECF244321}">
                <p14:modId xmlns:p14="http://schemas.microsoft.com/office/powerpoint/2010/main" val="2533766799"/>
              </p:ext>
            </p:extLst>
          </p:nvPr>
        </p:nvGraphicFramePr>
        <p:xfrm>
          <a:off x="366270" y="6835335"/>
          <a:ext cx="17518773" cy="3195196"/>
        </p:xfrm>
        <a:graphic>
          <a:graphicData uri="http://schemas.openxmlformats.org/drawingml/2006/table">
            <a:tbl>
              <a:tblPr>
                <a:noFill/>
              </a:tblPr>
              <a:tblGrid>
                <a:gridCol w="2045751">
                  <a:extLst>
                    <a:ext uri="{9D8B030D-6E8A-4147-A177-3AD203B41FA5}">
                      <a16:colId xmlns:a16="http://schemas.microsoft.com/office/drawing/2014/main" xmlns="" val="1293584311"/>
                    </a:ext>
                  </a:extLst>
                </a:gridCol>
                <a:gridCol w="2066989">
                  <a:extLst>
                    <a:ext uri="{9D8B030D-6E8A-4147-A177-3AD203B41FA5}">
                      <a16:colId xmlns:a16="http://schemas.microsoft.com/office/drawing/2014/main" xmlns="" val="20000"/>
                    </a:ext>
                  </a:extLst>
                </a:gridCol>
                <a:gridCol w="8024943">
                  <a:extLst>
                    <a:ext uri="{9D8B030D-6E8A-4147-A177-3AD203B41FA5}">
                      <a16:colId xmlns:a16="http://schemas.microsoft.com/office/drawing/2014/main" xmlns="" val="20001"/>
                    </a:ext>
                  </a:extLst>
                </a:gridCol>
                <a:gridCol w="2861625">
                  <a:extLst>
                    <a:ext uri="{9D8B030D-6E8A-4147-A177-3AD203B41FA5}">
                      <a16:colId xmlns:a16="http://schemas.microsoft.com/office/drawing/2014/main" xmlns="" val="20002"/>
                    </a:ext>
                  </a:extLst>
                </a:gridCol>
                <a:gridCol w="2519465">
                  <a:extLst>
                    <a:ext uri="{9D8B030D-6E8A-4147-A177-3AD203B41FA5}">
                      <a16:colId xmlns:a16="http://schemas.microsoft.com/office/drawing/2014/main" xmlns="" val="20003"/>
                    </a:ext>
                  </a:extLst>
                </a:gridCol>
              </a:tblGrid>
              <a:tr h="504000">
                <a:tc rowSpan="6">
                  <a:txBody>
                    <a:bodyPr/>
                    <a:lstStyle/>
                    <a:p>
                      <a:pPr marL="0" marR="0" lvl="0" indent="0" algn="l" rtl="0">
                        <a:lnSpc>
                          <a:spcPct val="166666"/>
                        </a:lnSpc>
                        <a:spcBef>
                          <a:spcPts val="0"/>
                        </a:spcBef>
                        <a:spcAft>
                          <a:spcPts val="0"/>
                        </a:spcAft>
                        <a:buNone/>
                      </a:pPr>
                      <a:r>
                        <a:rPr lang="x-none" sz="1800" b="1" u="none" strike="noStrike" cap="none" dirty="0">
                          <a:solidFill>
                            <a:schemeClr val="lt1"/>
                          </a:solidFill>
                          <a:latin typeface="Microsoft JhengHei"/>
                          <a:ea typeface="Microsoft JhengHei"/>
                          <a:cs typeface="Microsoft JhengHei"/>
                          <a:sym typeface="Microsoft JhengHei"/>
                        </a:rPr>
                        <a:t>審批</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角色</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姓名 與 職稱</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簽名</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日期</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extLst>
                  <a:ext uri="{0D108BD9-81ED-4DB2-BD59-A6C34878D82A}">
                    <a16:rowId xmlns:a16="http://schemas.microsoft.com/office/drawing/2014/main" xmlns="" val="10000"/>
                  </a:ext>
                </a:extLst>
              </a:tr>
              <a:tr h="504000">
                <a:tc vMerge="1">
                  <a:txBody>
                    <a:bodyPr/>
                    <a:lstStyle/>
                    <a:p>
                      <a:pPr marL="0" marR="0" lvl="0" indent="0" algn="l" rtl="0">
                        <a:lnSpc>
                          <a:spcPct val="166666"/>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專案顧問</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chemeClr val="bg1"/>
                      </a:solidFill>
                      <a:prstDash val="solid"/>
                      <a:round/>
                      <a:headEnd type="none" w="med" len="med"/>
                      <a:tailEnd type="none" w="med" len="med"/>
                    </a:lnB>
                    <a:solidFill>
                      <a:srgbClr val="ED7D31"/>
                    </a:solidFill>
                  </a:tcPr>
                </a:tc>
                <a:tc>
                  <a:txBody>
                    <a:bodyPr/>
                    <a:lstStyle/>
                    <a:p>
                      <a:pPr defTabSz="914400">
                        <a:lnSpc>
                          <a:spcPct val="166000"/>
                        </a:lnSpc>
                        <a:tabLst>
                          <a:tab pos="0" algn="l"/>
                        </a:tabLst>
                      </a:pPr>
                      <a:r>
                        <a:rPr lang="en-US" sz="1800" b="1" strike="noStrike" spc="-1" dirty="0">
                          <a:solidFill>
                            <a:schemeClr val="dk1"/>
                          </a:solidFill>
                          <a:latin typeface="Microsoft JhengHei"/>
                          <a:ea typeface="Microsoft JhengHei"/>
                        </a:rPr>
                        <a:t>Vincent</a:t>
                      </a:r>
                      <a:r>
                        <a:rPr lang="en-US" sz="1800" b="1" strike="noStrike" spc="-1" baseline="0" dirty="0">
                          <a:solidFill>
                            <a:schemeClr val="dk1"/>
                          </a:solidFill>
                          <a:latin typeface="Microsoft JhengHei"/>
                          <a:ea typeface="Microsoft JhengHei"/>
                        </a:rPr>
                        <a:t> Yeh</a:t>
                      </a:r>
                      <a:endParaRPr lang="en-US" sz="1800" b="0" strike="noStrike" spc="-1" dirty="0">
                        <a:solidFill>
                          <a:srgbClr val="000000"/>
                        </a:solidFill>
                        <a:latin typeface="Calibri"/>
                      </a:endParaRPr>
                    </a:p>
                  </a:txBody>
                  <a:tcPr marL="102600" marR="1026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ctr" rtl="0">
                        <a:lnSpc>
                          <a:spcPct val="166666"/>
                        </a:lnSpc>
                        <a:spcBef>
                          <a:spcPts val="0"/>
                        </a:spcBef>
                        <a:spcAft>
                          <a:spcPts val="0"/>
                        </a:spcAft>
                        <a:buNone/>
                      </a:pPr>
                      <a:endParaRPr sz="1800" u="none" strike="noStrike" cap="none" dirty="0">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ctr" rtl="0">
                        <a:lnSpc>
                          <a:spcPct val="166666"/>
                        </a:lnSpc>
                        <a:spcBef>
                          <a:spcPts val="0"/>
                        </a:spcBef>
                        <a:spcAft>
                          <a:spcPts val="0"/>
                        </a:spcAft>
                        <a:buNone/>
                      </a:pPr>
                      <a:endParaRPr sz="1800" u="none" strike="noStrike" cap="none" dirty="0">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extLst>
                  <a:ext uri="{0D108BD9-81ED-4DB2-BD59-A6C34878D82A}">
                    <a16:rowId xmlns:a16="http://schemas.microsoft.com/office/drawing/2014/main" xmlns="" val="10001"/>
                  </a:ext>
                </a:extLst>
              </a:tr>
              <a:tr h="504000">
                <a:tc vMerge="1">
                  <a:txBody>
                    <a:bodyPr/>
                    <a:lstStyle/>
                    <a:p>
                      <a:endParaRPr lang="zh-TW" altLang="en-US"/>
                    </a:p>
                  </a:txBody>
                  <a:tcPr>
                    <a:lnT w="12700" cap="flat" cmpd="sng" algn="ctr">
                      <a:solidFill>
                        <a:srgbClr val="FFFFFF"/>
                      </a:solidFill>
                      <a:prstDash val="solid"/>
                      <a:round/>
                      <a:headEnd type="none" w="sm" len="sm"/>
                      <a:tailEnd type="none" w="sm" len="sm"/>
                    </a:lnT>
                  </a:tcPr>
                </a:tc>
                <a:tc>
                  <a:txBody>
                    <a:bodyPr/>
                    <a:lstStyle/>
                    <a:p>
                      <a:pPr marL="0" marR="0" lvl="0" indent="0" algn="ctr" rtl="0">
                        <a:lnSpc>
                          <a:spcPct val="100000"/>
                        </a:lnSpc>
                        <a:spcBef>
                          <a:spcPts val="0"/>
                        </a:spcBef>
                        <a:spcAft>
                          <a:spcPts val="0"/>
                        </a:spcAft>
                        <a:buNone/>
                      </a:pPr>
                      <a:r>
                        <a:rPr lang="x-none" sz="1800" b="1" u="none" strike="noStrike" cap="none" dirty="0">
                          <a:solidFill>
                            <a:schemeClr val="lt1"/>
                          </a:solidFill>
                          <a:latin typeface="Microsoft JhengHei"/>
                          <a:ea typeface="Microsoft JhengHei"/>
                          <a:cs typeface="Microsoft JhengHei"/>
                          <a:sym typeface="Microsoft JhengHei"/>
                        </a:rPr>
                        <a:t>關鍵使用者</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D7D31"/>
                    </a:solidFill>
                  </a:tcPr>
                </a:tc>
                <a:tc>
                  <a:txBody>
                    <a:bodyPr/>
                    <a:lstStyle/>
                    <a:p>
                      <a:endParaRPr lang="en-US" sz="1800" b="1" strike="noStrike" spc="-1" dirty="0">
                        <a:solidFill>
                          <a:schemeClr val="dk1"/>
                        </a:solidFill>
                        <a:latin typeface="Microsoft JhengHei"/>
                        <a:ea typeface="Microsoft JhengHei"/>
                      </a:endParaRPr>
                    </a:p>
                  </a:txBody>
                  <a:tcPr marL="102600" marR="102600">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endParaRPr sz="1800" u="none" strike="noStrike" cap="none" dirty="0">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endParaRPr sz="1800" u="none" strike="noStrike" cap="none" dirty="0">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extLst>
                  <a:ext uri="{0D108BD9-81ED-4DB2-BD59-A6C34878D82A}">
                    <a16:rowId xmlns:a16="http://schemas.microsoft.com/office/drawing/2014/main" xmlns="" val="2466057711"/>
                  </a:ext>
                </a:extLst>
              </a:tr>
              <a:tr h="504000">
                <a:tc vMerge="1">
                  <a:txBody>
                    <a:bodyPr/>
                    <a:lstStyle/>
                    <a:p>
                      <a:pPr marL="0" marR="0" lvl="0" indent="0" algn="l" rtl="0">
                        <a:lnSpc>
                          <a:spcPct val="100000"/>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00000"/>
                        </a:lnSpc>
                        <a:spcBef>
                          <a:spcPts val="0"/>
                        </a:spcBef>
                        <a:spcAft>
                          <a:spcPts val="0"/>
                        </a:spcAft>
                        <a:buNone/>
                      </a:pPr>
                      <a:r>
                        <a:rPr lang="en-US" sz="1800" b="1" u="none" strike="noStrike" cap="none" dirty="0" err="1">
                          <a:solidFill>
                            <a:schemeClr val="lt1"/>
                          </a:solidFill>
                          <a:latin typeface="Microsoft JhengHei"/>
                          <a:ea typeface="Microsoft JhengHei"/>
                          <a:cs typeface="Microsoft JhengHei"/>
                          <a:sym typeface="Microsoft JhengHei"/>
                        </a:rPr>
                        <a:t>流程負責人</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chemeClr val="bg1"/>
                      </a:solidFill>
                      <a:prstDash val="solid"/>
                      <a:round/>
                      <a:headEnd type="none" w="med" len="med"/>
                      <a:tailEnd type="none" w="med" len="med"/>
                    </a:lnT>
                    <a:lnB w="12700" cap="flat" cmpd="sng">
                      <a:solidFill>
                        <a:srgbClr val="FFFFFF"/>
                      </a:solidFill>
                      <a:prstDash val="solid"/>
                      <a:round/>
                      <a:headEnd type="none" w="sm" len="sm"/>
                      <a:tailEnd type="none" w="sm" len="sm"/>
                    </a:lnB>
                    <a:solidFill>
                      <a:srgbClr val="ED7D31"/>
                    </a:solidFill>
                  </a:tcPr>
                </a:tc>
                <a:tc>
                  <a:txBody>
                    <a:bodyPr/>
                    <a:lstStyle/>
                    <a:p>
                      <a:pPr defTabSz="914400">
                        <a:lnSpc>
                          <a:spcPct val="166000"/>
                        </a:lnSpc>
                        <a:tabLst>
                          <a:tab pos="0" algn="l"/>
                        </a:tabLst>
                      </a:pPr>
                      <a:endParaRPr lang="en-US" sz="1800" b="0" strike="noStrike" spc="-1" dirty="0">
                        <a:solidFill>
                          <a:srgbClr val="000000"/>
                        </a:solidFill>
                        <a:latin typeface="Calibri"/>
                      </a:endParaRPr>
                    </a:p>
                  </a:txBody>
                  <a:tcPr marL="102600" marR="1026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r>
                        <a:rPr lang="en-US" sz="1800" u="none" strike="noStrike" cap="none" dirty="0">
                          <a:latin typeface="Microsoft JhengHei"/>
                          <a:ea typeface="Microsoft JhengHei"/>
                          <a:cs typeface="Microsoft JhengHei"/>
                          <a:sym typeface="Microsoft JhengHei"/>
                        </a:rPr>
                        <a:t> </a:t>
                      </a:r>
                      <a:endParaRPr sz="1800" u="none" strike="noStrike" cap="none" dirty="0">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r>
                        <a:rPr lang="en-US" sz="1800" u="none" strike="noStrike" cap="none" dirty="0">
                          <a:latin typeface="Microsoft JhengHei"/>
                          <a:ea typeface="Microsoft JhengHei"/>
                          <a:cs typeface="Microsoft JhengHei"/>
                          <a:sym typeface="Microsoft JhengHei"/>
                        </a:rPr>
                        <a:t> </a:t>
                      </a:r>
                      <a:endParaRPr sz="1800" u="none" strike="noStrike" cap="none" dirty="0">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extLst>
                  <a:ext uri="{0D108BD9-81ED-4DB2-BD59-A6C34878D82A}">
                    <a16:rowId xmlns:a16="http://schemas.microsoft.com/office/drawing/2014/main" xmlns="" val="10003"/>
                  </a:ext>
                </a:extLst>
              </a:tr>
              <a:tr h="504000">
                <a:tc vMerge="1">
                  <a:txBody>
                    <a:bodyPr/>
                    <a:lstStyle/>
                    <a:p>
                      <a:pPr marL="0" marR="0" lvl="0" indent="0" algn="l" rtl="0">
                        <a:lnSpc>
                          <a:spcPct val="100000"/>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00000"/>
                        </a:lnSpc>
                        <a:spcBef>
                          <a:spcPts val="0"/>
                        </a:spcBef>
                        <a:spcAft>
                          <a:spcPts val="0"/>
                        </a:spcAft>
                        <a:buNone/>
                      </a:pPr>
                      <a:r>
                        <a:rPr lang="en-US" sz="1800" b="1" u="none" strike="noStrike" cap="none" dirty="0" err="1">
                          <a:solidFill>
                            <a:schemeClr val="lt1"/>
                          </a:solidFill>
                          <a:latin typeface="Microsoft JhengHei"/>
                          <a:ea typeface="Microsoft JhengHei"/>
                          <a:cs typeface="Microsoft JhengHei"/>
                          <a:sym typeface="Microsoft JhengHei"/>
                        </a:rPr>
                        <a:t>資訊單位</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defTabSz="914400">
                        <a:lnSpc>
                          <a:spcPct val="166000"/>
                        </a:lnSpc>
                        <a:tabLst>
                          <a:tab pos="0" algn="l"/>
                        </a:tabLst>
                      </a:pPr>
                      <a:r>
                        <a:rPr lang="zh-TW" altLang="en-US" sz="1800" b="0" strike="noStrike" spc="-1" dirty="0">
                          <a:solidFill>
                            <a:srgbClr val="000000"/>
                          </a:solidFill>
                          <a:latin typeface="Microsoft JhengHei"/>
                          <a:ea typeface="Microsoft JhengHei"/>
                        </a:rPr>
                        <a:t>余哲 </a:t>
                      </a:r>
                      <a:r>
                        <a:rPr lang="en-US" sz="1800" b="0" strike="noStrike" spc="-1" dirty="0">
                          <a:solidFill>
                            <a:srgbClr val="000000"/>
                          </a:solidFill>
                          <a:latin typeface="Microsoft JhengHei"/>
                          <a:ea typeface="Microsoft JhengHei"/>
                        </a:rPr>
                        <a:t>Mark Yu</a:t>
                      </a:r>
                      <a:endParaRPr lang="en-US" sz="1800" b="0" strike="noStrike" spc="-1" dirty="0">
                        <a:solidFill>
                          <a:srgbClr val="000000"/>
                        </a:solidFill>
                        <a:latin typeface="Calibri"/>
                      </a:endParaRPr>
                    </a:p>
                  </a:txBody>
                  <a:tcPr marL="102600" marR="1026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a:txBody>
                    <a:bodyPr/>
                    <a:lstStyle/>
                    <a:p>
                      <a:pPr marL="0" marR="0" lvl="0" indent="279400" algn="ctr" rtl="0">
                        <a:lnSpc>
                          <a:spcPct val="100000"/>
                        </a:lnSpc>
                        <a:spcBef>
                          <a:spcPts val="0"/>
                        </a:spcBef>
                        <a:spcAft>
                          <a:spcPts val="0"/>
                        </a:spcAft>
                        <a:buNone/>
                      </a:pPr>
                      <a:endParaRPr sz="1800" u="none" strike="noStrike" cap="none">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a:txBody>
                    <a:bodyPr/>
                    <a:lstStyle/>
                    <a:p>
                      <a:pPr marL="0" marR="0" lvl="0" indent="279400" algn="ctr" rtl="0">
                        <a:lnSpc>
                          <a:spcPct val="100000"/>
                        </a:lnSpc>
                        <a:spcBef>
                          <a:spcPts val="0"/>
                        </a:spcBef>
                        <a:spcAft>
                          <a:spcPts val="0"/>
                        </a:spcAft>
                        <a:buNone/>
                      </a:pPr>
                      <a:endParaRPr sz="1800" u="none" strike="noStrike" cap="none">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extLst>
                  <a:ext uri="{0D108BD9-81ED-4DB2-BD59-A6C34878D82A}">
                    <a16:rowId xmlns:a16="http://schemas.microsoft.com/office/drawing/2014/main" xmlns="" val="10004"/>
                  </a:ext>
                </a:extLst>
              </a:tr>
              <a:tr h="504000">
                <a:tc vMerge="1">
                  <a:txBody>
                    <a:bodyPr/>
                    <a:lstStyle/>
                    <a:p>
                      <a:pPr marL="0" marR="0" lvl="0" indent="0" algn="l" rtl="0">
                        <a:lnSpc>
                          <a:spcPct val="100000"/>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0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專案經理</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defTabSz="914400">
                        <a:lnSpc>
                          <a:spcPct val="166000"/>
                        </a:lnSpc>
                        <a:tabLst>
                          <a:tab pos="0" algn="l"/>
                        </a:tabLst>
                      </a:pPr>
                      <a:r>
                        <a:rPr lang="zh-TW" sz="1800" b="1" strike="noStrike" spc="-1" dirty="0">
                          <a:solidFill>
                            <a:schemeClr val="dk1"/>
                          </a:solidFill>
                          <a:latin typeface="Microsoft JhengHei"/>
                          <a:ea typeface="Microsoft JhengHei"/>
                        </a:rPr>
                        <a:t>蘇靖之 </a:t>
                      </a:r>
                      <a:r>
                        <a:rPr lang="en-US" sz="1800" b="1" strike="noStrike" spc="-1" dirty="0" err="1">
                          <a:solidFill>
                            <a:schemeClr val="dk1"/>
                          </a:solidFill>
                          <a:latin typeface="Microsoft JhengHei"/>
                          <a:ea typeface="Microsoft JhengHei"/>
                        </a:rPr>
                        <a:t>Giovenni</a:t>
                      </a:r>
                      <a:r>
                        <a:rPr lang="en-US" sz="1800" b="1" strike="noStrike" spc="-1" dirty="0">
                          <a:solidFill>
                            <a:schemeClr val="dk1"/>
                          </a:solidFill>
                          <a:latin typeface="Microsoft JhengHei"/>
                          <a:ea typeface="Microsoft JhengHei"/>
                        </a:rPr>
                        <a:t> Su </a:t>
                      </a:r>
                      <a:endParaRPr lang="en-US" sz="1800" b="0" strike="noStrike" spc="-1" dirty="0">
                        <a:solidFill>
                          <a:srgbClr val="000000"/>
                        </a:solidFill>
                        <a:latin typeface="Calibri"/>
                      </a:endParaRPr>
                    </a:p>
                  </a:txBody>
                  <a:tcPr marL="102600" marR="1026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r>
                        <a:rPr lang="en-US" sz="1800" u="none" strike="noStrike" cap="none">
                          <a:latin typeface="Microsoft JhengHei"/>
                          <a:ea typeface="Microsoft JhengHei"/>
                          <a:cs typeface="Microsoft JhengHei"/>
                          <a:sym typeface="Microsoft JhengHei"/>
                        </a:rPr>
                        <a:t> </a:t>
                      </a:r>
                      <a:endParaRPr sz="1800" u="none" strike="noStrike" cap="none">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r>
                        <a:rPr lang="en-US" sz="1800" u="none" strike="noStrike" cap="none" dirty="0">
                          <a:latin typeface="Microsoft JhengHei"/>
                          <a:ea typeface="Microsoft JhengHei"/>
                          <a:cs typeface="Microsoft JhengHei"/>
                          <a:sym typeface="Microsoft JhengHei"/>
                        </a:rPr>
                        <a:t> </a:t>
                      </a:r>
                      <a:endParaRPr sz="1800" u="none" strike="noStrike" cap="none" dirty="0">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extLst>
                  <a:ext uri="{0D108BD9-81ED-4DB2-BD59-A6C34878D82A}">
                    <a16:rowId xmlns:a16="http://schemas.microsoft.com/office/drawing/2014/main" xmlns="" val="10005"/>
                  </a:ext>
                </a:extLst>
              </a:tr>
            </a:tbl>
          </a:graphicData>
        </a:graphic>
      </p:graphicFrame>
      <p:sp>
        <p:nvSpPr>
          <p:cNvPr id="2" name="TextBox 1">
            <a:extLst>
              <a:ext uri="{FF2B5EF4-FFF2-40B4-BE49-F238E27FC236}">
                <a16:creationId xmlns:a16="http://schemas.microsoft.com/office/drawing/2014/main" xmlns="" id="{632BD657-D42C-B5C5-74AF-5218C346A770}"/>
              </a:ext>
            </a:extLst>
          </p:cNvPr>
          <p:cNvSpPr txBox="1"/>
          <p:nvPr/>
        </p:nvSpPr>
        <p:spPr>
          <a:xfrm>
            <a:off x="2456660" y="762478"/>
            <a:ext cx="8244896" cy="1153457"/>
          </a:xfrm>
          <a:prstGeom prst="rect">
            <a:avLst/>
          </a:prstGeom>
          <a:noFill/>
        </p:spPr>
        <p:txBody>
          <a:bodyPr wrap="square" rtlCol="0">
            <a:spAutoFit/>
          </a:bodyPr>
          <a:lstStyle>
            <a:defPPr>
              <a:defRPr lang="en-US"/>
            </a:defPPr>
            <a:lvl1pPr>
              <a:lnSpc>
                <a:spcPct val="166666"/>
              </a:lnSpc>
              <a:defRPr sz="2000" b="1">
                <a:solidFill>
                  <a:schemeClr val="dk1"/>
                </a:solidFill>
                <a:latin typeface="Microsoft JhengHei"/>
                <a:ea typeface="Microsoft JhengHei"/>
                <a:cs typeface="Microsoft JhengHei"/>
              </a:defRPr>
            </a:lvl1pPr>
          </a:lstStyle>
          <a:p>
            <a:r>
              <a:rPr lang="en-US" altLang="zh-TW" sz="2400" dirty="0"/>
              <a:t>MM-PU-0090 </a:t>
            </a:r>
            <a:r>
              <a:rPr lang="zh-TW" altLang="en-US" sz="2400" dirty="0"/>
              <a:t>固定資產請採驗流程</a:t>
            </a:r>
          </a:p>
          <a:p>
            <a:endParaRPr lang="zh-TW" altLang="en-US" dirty="0"/>
          </a:p>
        </p:txBody>
      </p:sp>
      <p:sp>
        <p:nvSpPr>
          <p:cNvPr id="3" name="TextBox 2">
            <a:extLst>
              <a:ext uri="{FF2B5EF4-FFF2-40B4-BE49-F238E27FC236}">
                <a16:creationId xmlns:a16="http://schemas.microsoft.com/office/drawing/2014/main" xmlns="" id="{6B09882B-C884-419E-9EB0-7F4E083F29C0}"/>
              </a:ext>
            </a:extLst>
          </p:cNvPr>
          <p:cNvSpPr txBox="1"/>
          <p:nvPr/>
        </p:nvSpPr>
        <p:spPr>
          <a:xfrm>
            <a:off x="16643413" y="697082"/>
            <a:ext cx="1464973" cy="338554"/>
          </a:xfrm>
          <a:prstGeom prst="rect">
            <a:avLst/>
          </a:prstGeom>
          <a:noFill/>
        </p:spPr>
        <p:txBody>
          <a:bodyPr wrap="square" rtlCol="0">
            <a:spAutoFit/>
          </a:bodyPr>
          <a:lstStyle/>
          <a:p>
            <a:r>
              <a:rPr lang="en-US" altLang="zh-TW" sz="1600" dirty="0">
                <a:latin typeface="微軟正黑體" panose="020B0604030504040204" pitchFamily="34" charset="-120"/>
                <a:ea typeface="微軟正黑體" panose="020B0604030504040204" pitchFamily="34" charset="-120"/>
              </a:rPr>
              <a:t>2025/07/14</a:t>
            </a:r>
            <a:endParaRPr lang="zh-TW" altLang="en-US" sz="1600" dirty="0">
              <a:latin typeface="微軟正黑體" panose="020B0604030504040204" pitchFamily="34" charset="-120"/>
              <a:ea typeface="微軟正黑體" panose="020B0604030504040204" pitchFamily="34" charset="-12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文字方塊 3">
            <a:extLst>
              <a:ext uri="{FF2B5EF4-FFF2-40B4-BE49-F238E27FC236}">
                <a16:creationId xmlns:a16="http://schemas.microsoft.com/office/drawing/2014/main" xmlns="" id="{83E6F622-2FBE-CC67-50FE-4ABD7D8B9696}"/>
              </a:ext>
            </a:extLst>
          </p:cNvPr>
          <p:cNvSpPr txBox="1"/>
          <p:nvPr/>
        </p:nvSpPr>
        <p:spPr>
          <a:xfrm>
            <a:off x="2444080" y="794373"/>
            <a:ext cx="8571594" cy="461665"/>
          </a:xfrm>
          <a:prstGeom prst="rect">
            <a:avLst/>
          </a:prstGeom>
          <a:noFill/>
        </p:spPr>
        <p:txBody>
          <a:bodyPr wrap="square">
            <a:spAutoFit/>
          </a:bodyPr>
          <a:lstStyle/>
          <a:p>
            <a:pPr eaLnBrk="0" hangingPunct="0"/>
            <a:r>
              <a:rPr lang="en-US" altLang="zh-TW" sz="2400" b="1" dirty="0">
                <a:latin typeface="微軟正黑體" panose="020B0604030504040204" pitchFamily="34" charset="-120"/>
                <a:ea typeface="微軟正黑體" panose="020B0604030504040204" pitchFamily="34" charset="-120"/>
              </a:rPr>
              <a:t>MM-PU-0090-01 </a:t>
            </a:r>
            <a:r>
              <a:rPr lang="zh-TW" altLang="en-US" sz="2400" b="1" dirty="0">
                <a:latin typeface="微軟正黑體" panose="020B0604030504040204" pitchFamily="34" charset="-120"/>
                <a:ea typeface="微軟正黑體" panose="020B0604030504040204" pitchFamily="34" charset="-120"/>
              </a:rPr>
              <a:t>固定資產請採驗流程 </a:t>
            </a:r>
            <a:r>
              <a:rPr lang="en-US" altLang="zh-TW" sz="2400" b="1" dirty="0">
                <a:latin typeface="微軟正黑體" panose="020B0604030504040204" pitchFamily="34" charset="-120"/>
                <a:ea typeface="微軟正黑體" panose="020B0604030504040204" pitchFamily="34" charset="-120"/>
              </a:rPr>
              <a:t>(</a:t>
            </a:r>
            <a:r>
              <a:rPr lang="zh-TW" altLang="en-US" sz="2400" b="1" dirty="0">
                <a:latin typeface="微軟正黑體" panose="020B0604030504040204" pitchFamily="34" charset="-120"/>
                <a:ea typeface="微軟正黑體" panose="020B0604030504040204" pitchFamily="34" charset="-120"/>
              </a:rPr>
              <a:t>機器設備</a:t>
            </a:r>
            <a:r>
              <a:rPr lang="en-US" altLang="zh-TW" sz="2400" b="1" dirty="0">
                <a:latin typeface="微軟正黑體" panose="020B0604030504040204" pitchFamily="34" charset="-120"/>
                <a:ea typeface="微軟正黑體" panose="020B0604030504040204" pitchFamily="34" charset="-120"/>
              </a:rPr>
              <a:t>)</a:t>
            </a:r>
            <a:endParaRPr lang="zh-TW" altLang="en-US" sz="2400" b="1" dirty="0">
              <a:latin typeface="微軟正黑體" panose="020B0604030504040204" pitchFamily="34" charset="-120"/>
              <a:ea typeface="微軟正黑體" panose="020B0604030504040204" pitchFamily="34" charset="-120"/>
            </a:endParaRPr>
          </a:p>
        </p:txBody>
      </p:sp>
      <p:sp>
        <p:nvSpPr>
          <p:cNvPr id="14" name="文字方塊 17">
            <a:extLst>
              <a:ext uri="{FF2B5EF4-FFF2-40B4-BE49-F238E27FC236}">
                <a16:creationId xmlns:a16="http://schemas.microsoft.com/office/drawing/2014/main" xmlns="" id="{E114DEFF-4464-1230-5102-DAAA05109B8A}"/>
              </a:ext>
            </a:extLst>
          </p:cNvPr>
          <p:cNvSpPr txBox="1"/>
          <p:nvPr/>
        </p:nvSpPr>
        <p:spPr>
          <a:xfrm>
            <a:off x="2444079" y="1363613"/>
            <a:ext cx="2241401"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需求單位</a:t>
            </a:r>
          </a:p>
        </p:txBody>
      </p:sp>
      <p:graphicFrame>
        <p:nvGraphicFramePr>
          <p:cNvPr id="30" name="表格 30">
            <a:extLst>
              <a:ext uri="{FF2B5EF4-FFF2-40B4-BE49-F238E27FC236}">
                <a16:creationId xmlns:a16="http://schemas.microsoft.com/office/drawing/2014/main" xmlns="" id="{18197701-0564-3E2B-648E-413A6C8BBE0A}"/>
              </a:ext>
            </a:extLst>
          </p:cNvPr>
          <p:cNvGraphicFramePr>
            <a:graphicFrameLocks noGrp="1"/>
          </p:cNvGraphicFramePr>
          <p:nvPr/>
        </p:nvGraphicFramePr>
        <p:xfrm>
          <a:off x="2626962" y="2006500"/>
          <a:ext cx="1941772" cy="1397740"/>
        </p:xfrm>
        <a:graphic>
          <a:graphicData uri="http://schemas.openxmlformats.org/drawingml/2006/table">
            <a:tbl>
              <a:tblPr>
                <a:tableStyleId>{5940675A-B579-460E-94D1-54222C63F5DA}</a:tableStyleId>
              </a:tblPr>
              <a:tblGrid>
                <a:gridCol w="970886">
                  <a:extLst>
                    <a:ext uri="{9D8B030D-6E8A-4147-A177-3AD203B41FA5}">
                      <a16:colId xmlns:a16="http://schemas.microsoft.com/office/drawing/2014/main" xmlns="" val="3433979995"/>
                    </a:ext>
                  </a:extLst>
                </a:gridCol>
                <a:gridCol w="970886">
                  <a:extLst>
                    <a:ext uri="{9D8B030D-6E8A-4147-A177-3AD203B41FA5}">
                      <a16:colId xmlns:a16="http://schemas.microsoft.com/office/drawing/2014/main" xmlns="" val="3727974752"/>
                    </a:ext>
                  </a:extLst>
                </a:gridCol>
              </a:tblGrid>
              <a:tr h="332510">
                <a:tc gridSpan="2">
                  <a:txBody>
                    <a:bodyPr/>
                    <a:lstStyle/>
                    <a:p>
                      <a:pPr algn="ctr"/>
                      <a:r>
                        <a:rPr lang="en-GB" sz="1400" b="1" dirty="0">
                          <a:solidFill>
                            <a:schemeClr val="tx1"/>
                          </a:solidFill>
                          <a:latin typeface="微軟正黑體" panose="020B0604030504040204" pitchFamily="34" charset="-120"/>
                          <a:ea typeface="微軟正黑體" panose="020B0604030504040204" pitchFamily="34" charset="-120"/>
                        </a:rPr>
                        <a:t>ME51N</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748146">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建立機器設備請購單</a:t>
                      </a:r>
                      <a:r>
                        <a:rPr kumimoji="0" lang="en-US" altLang="zh-TW" sz="1400" dirty="0">
                          <a:latin typeface="微軟正黑體" panose="020B0604030504040204" pitchFamily="34" charset="-120"/>
                          <a:ea typeface="微軟正黑體" panose="020B0604030504040204" pitchFamily="34" charset="-120"/>
                        </a:rPr>
                        <a:t>;</a:t>
                      </a:r>
                      <a:r>
                        <a:rPr kumimoji="0" lang="zh-TW" altLang="en-US" sz="1400" dirty="0">
                          <a:latin typeface="微軟正黑體" panose="020B0604030504040204" pitchFamily="34" charset="-120"/>
                          <a:ea typeface="微軟正黑體" panose="020B0604030504040204" pitchFamily="34" charset="-120"/>
                        </a:rPr>
                        <a:t>建立資產主檔</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06000">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手動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pSp>
        <p:nvGrpSpPr>
          <p:cNvPr id="31" name="Group 220">
            <a:extLst>
              <a:ext uri="{FF2B5EF4-FFF2-40B4-BE49-F238E27FC236}">
                <a16:creationId xmlns:a16="http://schemas.microsoft.com/office/drawing/2014/main" xmlns="" id="{A9B401BC-DE49-5FC0-6565-D216316A23DA}"/>
              </a:ext>
            </a:extLst>
          </p:cNvPr>
          <p:cNvGrpSpPr/>
          <p:nvPr/>
        </p:nvGrpSpPr>
        <p:grpSpPr>
          <a:xfrm>
            <a:off x="4367707" y="1793170"/>
            <a:ext cx="545669" cy="408542"/>
            <a:chOff x="5906472" y="1486857"/>
            <a:chExt cx="363779" cy="272361"/>
          </a:xfrm>
        </p:grpSpPr>
        <p:sp>
          <p:nvSpPr>
            <p:cNvPr id="32" name="Oval 221">
              <a:extLst>
                <a:ext uri="{FF2B5EF4-FFF2-40B4-BE49-F238E27FC236}">
                  <a16:creationId xmlns:a16="http://schemas.microsoft.com/office/drawing/2014/main" xmlns="" id="{DEBB780E-65E5-AB48-7071-2CDA63191644}"/>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33" name="TextBox 222">
              <a:extLst>
                <a:ext uri="{FF2B5EF4-FFF2-40B4-BE49-F238E27FC236}">
                  <a16:creationId xmlns:a16="http://schemas.microsoft.com/office/drawing/2014/main" xmlns="" id="{38213EC1-2A6F-CC6F-9F41-D87C1E84A2C8}"/>
                </a:ext>
              </a:extLst>
            </p:cNvPr>
            <p:cNvSpPr txBox="1"/>
            <p:nvPr/>
          </p:nvSpPr>
          <p:spPr>
            <a:xfrm>
              <a:off x="5914651" y="1498612"/>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graphicFrame>
        <p:nvGraphicFramePr>
          <p:cNvPr id="15" name="表格 30">
            <a:extLst>
              <a:ext uri="{FF2B5EF4-FFF2-40B4-BE49-F238E27FC236}">
                <a16:creationId xmlns:a16="http://schemas.microsoft.com/office/drawing/2014/main" xmlns="" id="{DD4D6B14-D3B2-B7AE-AA9C-20D4B4848A80}"/>
              </a:ext>
            </a:extLst>
          </p:cNvPr>
          <p:cNvGraphicFramePr>
            <a:graphicFrameLocks noGrp="1"/>
          </p:cNvGraphicFramePr>
          <p:nvPr/>
        </p:nvGraphicFramePr>
        <p:xfrm>
          <a:off x="4882335" y="5095832"/>
          <a:ext cx="1800526" cy="1073844"/>
        </p:xfrm>
        <a:graphic>
          <a:graphicData uri="http://schemas.openxmlformats.org/drawingml/2006/table">
            <a:tbl>
              <a:tblPr>
                <a:tableStyleId>{5940675A-B579-460E-94D1-54222C63F5DA}</a:tableStyleId>
              </a:tblPr>
              <a:tblGrid>
                <a:gridCol w="900263">
                  <a:extLst>
                    <a:ext uri="{9D8B030D-6E8A-4147-A177-3AD203B41FA5}">
                      <a16:colId xmlns:a16="http://schemas.microsoft.com/office/drawing/2014/main" xmlns="" val="3433979995"/>
                    </a:ext>
                  </a:extLst>
                </a:gridCol>
                <a:gridCol w="900263">
                  <a:extLst>
                    <a:ext uri="{9D8B030D-6E8A-4147-A177-3AD203B41FA5}">
                      <a16:colId xmlns:a16="http://schemas.microsoft.com/office/drawing/2014/main" xmlns="" val="3727974752"/>
                    </a:ext>
                  </a:extLst>
                </a:gridCol>
              </a:tblGrid>
              <a:tr h="365760">
                <a:tc gridSpan="2">
                  <a:txBody>
                    <a:bodyPr/>
                    <a:lstStyle/>
                    <a:p>
                      <a:pPr algn="ctr"/>
                      <a:endParaRPr lang="en-GB" sz="1500" b="1" dirty="0">
                        <a:latin typeface="微軟正黑體" panose="020B0604030504040204" pitchFamily="34" charset="-120"/>
                        <a:ea typeface="微軟正黑體" panose="020B0604030504040204" pitchFamily="34" charset="-120"/>
                      </a:endParaRPr>
                    </a:p>
                  </a:txBody>
                  <a:tcPr marL="54000" marR="54000"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371484">
                <a:tc gridSpan="2">
                  <a:txBody>
                    <a:bodyPr/>
                    <a:lstStyle/>
                    <a:p>
                      <a:pPr algn="ctr"/>
                      <a:r>
                        <a:rPr lang="zh-TW" altLang="en-US" sz="1500" dirty="0">
                          <a:latin typeface="微軟正黑體" panose="020B0604030504040204" pitchFamily="34" charset="-120"/>
                          <a:ea typeface="微軟正黑體" panose="020B0604030504040204" pitchFamily="34" charset="-120"/>
                        </a:rPr>
                        <a:t>簽核請購單</a:t>
                      </a:r>
                      <a:endParaRPr lang="en-US" altLang="zh-TW" sz="1500" dirty="0">
                        <a:latin typeface="微軟正黑體" panose="020B0604030504040204" pitchFamily="34" charset="-120"/>
                        <a:ea typeface="微軟正黑體" panose="020B0604030504040204" pitchFamily="34" charset="-120"/>
                      </a:endParaRPr>
                    </a:p>
                  </a:txBody>
                  <a:tcPr marL="54000" marR="54000"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BPM</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sp>
        <p:nvSpPr>
          <p:cNvPr id="34" name="文字方塊 17">
            <a:extLst>
              <a:ext uri="{FF2B5EF4-FFF2-40B4-BE49-F238E27FC236}">
                <a16:creationId xmlns:a16="http://schemas.microsoft.com/office/drawing/2014/main" xmlns="" id="{DE52170D-3194-E094-D743-3842F95326FE}"/>
              </a:ext>
            </a:extLst>
          </p:cNvPr>
          <p:cNvSpPr txBox="1"/>
          <p:nvPr/>
        </p:nvSpPr>
        <p:spPr>
          <a:xfrm>
            <a:off x="9072613" y="1363755"/>
            <a:ext cx="2809794"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總公司機器統購</a:t>
            </a:r>
          </a:p>
        </p:txBody>
      </p:sp>
      <p:cxnSp>
        <p:nvCxnSpPr>
          <p:cNvPr id="3" name="肘形接點 68">
            <a:extLst>
              <a:ext uri="{FF2B5EF4-FFF2-40B4-BE49-F238E27FC236}">
                <a16:creationId xmlns:a16="http://schemas.microsoft.com/office/drawing/2014/main" xmlns="" id="{5D236408-3F02-99D0-9ECC-DC4D4E746909}"/>
              </a:ext>
            </a:extLst>
          </p:cNvPr>
          <p:cNvCxnSpPr>
            <a:cxnSpLocks/>
            <a:stCxn id="30" idx="2"/>
            <a:endCxn id="24" idx="0"/>
          </p:cNvCxnSpPr>
          <p:nvPr/>
        </p:nvCxnSpPr>
        <p:spPr>
          <a:xfrm rot="16200000" flipH="1">
            <a:off x="3400042" y="3602045"/>
            <a:ext cx="396711" cy="1099"/>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24" name="表格 30">
            <a:extLst>
              <a:ext uri="{FF2B5EF4-FFF2-40B4-BE49-F238E27FC236}">
                <a16:creationId xmlns:a16="http://schemas.microsoft.com/office/drawing/2014/main" xmlns="" id="{DB7A0832-7D21-1719-AE8D-90899BF1A64F}"/>
              </a:ext>
            </a:extLst>
          </p:cNvPr>
          <p:cNvGraphicFramePr>
            <a:graphicFrameLocks noGrp="1"/>
          </p:cNvGraphicFramePr>
          <p:nvPr/>
        </p:nvGraphicFramePr>
        <p:xfrm>
          <a:off x="2632449" y="3800951"/>
          <a:ext cx="1932996" cy="1184439"/>
        </p:xfrm>
        <a:graphic>
          <a:graphicData uri="http://schemas.openxmlformats.org/drawingml/2006/table">
            <a:tbl>
              <a:tblPr>
                <a:tableStyleId>{5940675A-B579-460E-94D1-54222C63F5DA}</a:tableStyleId>
              </a:tblPr>
              <a:tblGrid>
                <a:gridCol w="966498">
                  <a:extLst>
                    <a:ext uri="{9D8B030D-6E8A-4147-A177-3AD203B41FA5}">
                      <a16:colId xmlns:a16="http://schemas.microsoft.com/office/drawing/2014/main" xmlns="" val="3433979995"/>
                    </a:ext>
                  </a:extLst>
                </a:gridCol>
                <a:gridCol w="966498">
                  <a:extLst>
                    <a:ext uri="{9D8B030D-6E8A-4147-A177-3AD203B41FA5}">
                      <a16:colId xmlns:a16="http://schemas.microsoft.com/office/drawing/2014/main" xmlns=""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500" b="1" dirty="0">
                          <a:solidFill>
                            <a:schemeClr val="tx1"/>
                          </a:solidFill>
                          <a:latin typeface="微軟正黑體" panose="020B0604030504040204" pitchFamily="34" charset="-120"/>
                          <a:ea typeface="微軟正黑體" panose="020B0604030504040204" pitchFamily="34" charset="-120"/>
                        </a:rPr>
                        <a:t>ZM</a:t>
                      </a:r>
                      <a:r>
                        <a:rPr lang="en-US" altLang="zh-TW" sz="1500" b="1" dirty="0">
                          <a:solidFill>
                            <a:schemeClr val="tx1"/>
                          </a:solidFill>
                          <a:latin typeface="微軟正黑體" panose="020B0604030504040204" pitchFamily="34" charset="-120"/>
                          <a:ea typeface="微軟正黑體" panose="020B0604030504040204" pitchFamily="34" charset="-120"/>
                        </a:rPr>
                        <a:t>M017</a:t>
                      </a:r>
                      <a:endParaRPr lang="en-GB" altLang="zh-TW" sz="1500" b="1" dirty="0">
                        <a:solidFill>
                          <a:schemeClr val="tx1"/>
                        </a:solidFill>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11239">
                <a:tc gridSpan="2">
                  <a:txBody>
                    <a:bodyPr/>
                    <a:lstStyle/>
                    <a:p>
                      <a:pPr algn="ctr"/>
                      <a:r>
                        <a:rPr lang="zh-TW" altLang="en-US" sz="1500" dirty="0">
                          <a:latin typeface="微軟正黑體" panose="020B0604030504040204" pitchFamily="34" charset="-120"/>
                          <a:ea typeface="微軟正黑體" panose="020B0604030504040204" pitchFamily="34" charset="-120"/>
                        </a:rPr>
                        <a:t>發起</a:t>
                      </a:r>
                      <a:r>
                        <a:rPr lang="en-US" altLang="zh-TW" sz="1500" dirty="0">
                          <a:latin typeface="微軟正黑體" panose="020B0604030504040204" pitchFamily="34" charset="-120"/>
                          <a:ea typeface="微軟正黑體" panose="020B0604030504040204" pitchFamily="34" charset="-120"/>
                        </a:rPr>
                        <a:t>BPM</a:t>
                      </a:r>
                      <a:r>
                        <a:rPr lang="zh-TW" altLang="en-US" sz="1500" dirty="0">
                          <a:latin typeface="微軟正黑體" panose="020B0604030504040204" pitchFamily="34" charset="-120"/>
                          <a:ea typeface="微軟正黑體" panose="020B0604030504040204" pitchFamily="34" charset="-120"/>
                        </a:rPr>
                        <a:t>簽核</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cxnSp>
        <p:nvCxnSpPr>
          <p:cNvPr id="27" name="肘形接點 68">
            <a:extLst>
              <a:ext uri="{FF2B5EF4-FFF2-40B4-BE49-F238E27FC236}">
                <a16:creationId xmlns:a16="http://schemas.microsoft.com/office/drawing/2014/main" xmlns="" id="{4D315B82-E1CA-313C-D4BB-3BBD9FD7F973}"/>
              </a:ext>
            </a:extLst>
          </p:cNvPr>
          <p:cNvCxnSpPr>
            <a:cxnSpLocks/>
            <a:stCxn id="24" idx="2"/>
            <a:endCxn id="15" idx="1"/>
          </p:cNvCxnSpPr>
          <p:nvPr/>
        </p:nvCxnSpPr>
        <p:spPr>
          <a:xfrm rot="16200000" flipH="1">
            <a:off x="3916959" y="4667378"/>
            <a:ext cx="647364" cy="1283388"/>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35" name="流程圖: 決策 50">
            <a:extLst>
              <a:ext uri="{FF2B5EF4-FFF2-40B4-BE49-F238E27FC236}">
                <a16:creationId xmlns:a16="http://schemas.microsoft.com/office/drawing/2014/main" xmlns="" id="{8037CA89-DBE3-1441-8E4C-7EA04E993D61}"/>
              </a:ext>
            </a:extLst>
          </p:cNvPr>
          <p:cNvSpPr/>
          <p:nvPr/>
        </p:nvSpPr>
        <p:spPr bwMode="auto">
          <a:xfrm>
            <a:off x="4864998" y="7003040"/>
            <a:ext cx="1841949" cy="712200"/>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簽核通過</a:t>
            </a:r>
          </a:p>
        </p:txBody>
      </p:sp>
      <p:cxnSp>
        <p:nvCxnSpPr>
          <p:cNvPr id="51" name="肘形接點 68">
            <a:extLst>
              <a:ext uri="{FF2B5EF4-FFF2-40B4-BE49-F238E27FC236}">
                <a16:creationId xmlns:a16="http://schemas.microsoft.com/office/drawing/2014/main" xmlns="" id="{2AA47122-2BF1-7633-656B-9B6710026CD9}"/>
              </a:ext>
            </a:extLst>
          </p:cNvPr>
          <p:cNvCxnSpPr>
            <a:cxnSpLocks/>
            <a:stCxn id="66" idx="3"/>
            <a:endCxn id="11" idx="1"/>
          </p:cNvCxnSpPr>
          <p:nvPr/>
        </p:nvCxnSpPr>
        <p:spPr>
          <a:xfrm flipV="1">
            <a:off x="8756700" y="4234727"/>
            <a:ext cx="870474" cy="4116339"/>
          </a:xfrm>
          <a:prstGeom prst="bentConnector3">
            <a:avLst>
              <a:gd name="adj1" fmla="val 62179"/>
            </a:avLst>
          </a:prstGeom>
          <a:ln>
            <a:tailEnd type="triangle"/>
          </a:ln>
        </p:spPr>
        <p:style>
          <a:lnRef idx="1">
            <a:schemeClr val="dk1"/>
          </a:lnRef>
          <a:fillRef idx="0">
            <a:schemeClr val="dk1"/>
          </a:fillRef>
          <a:effectRef idx="0">
            <a:schemeClr val="dk1"/>
          </a:effectRef>
          <a:fontRef idx="minor">
            <a:schemeClr val="tx1"/>
          </a:fontRef>
        </p:style>
      </p:cxnSp>
      <p:sp>
        <p:nvSpPr>
          <p:cNvPr id="210" name="文字方塊 17">
            <a:extLst>
              <a:ext uri="{FF2B5EF4-FFF2-40B4-BE49-F238E27FC236}">
                <a16:creationId xmlns:a16="http://schemas.microsoft.com/office/drawing/2014/main" xmlns="" id="{306A0461-FB0A-6B8E-26F4-F4121B822258}"/>
              </a:ext>
            </a:extLst>
          </p:cNvPr>
          <p:cNvSpPr txBox="1"/>
          <p:nvPr/>
        </p:nvSpPr>
        <p:spPr>
          <a:xfrm>
            <a:off x="4682475" y="1364107"/>
            <a:ext cx="4390138" cy="345755"/>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品牌主管</a:t>
            </a:r>
          </a:p>
        </p:txBody>
      </p:sp>
      <p:sp>
        <p:nvSpPr>
          <p:cNvPr id="7" name="流程圖: 結束點 8">
            <a:extLst>
              <a:ext uri="{FF2B5EF4-FFF2-40B4-BE49-F238E27FC236}">
                <a16:creationId xmlns:a16="http://schemas.microsoft.com/office/drawing/2014/main" xmlns="" id="{A0DBA237-CDB5-528B-0345-5BE2CBAC9775}"/>
              </a:ext>
            </a:extLst>
          </p:cNvPr>
          <p:cNvSpPr/>
          <p:nvPr/>
        </p:nvSpPr>
        <p:spPr bwMode="auto">
          <a:xfrm>
            <a:off x="262373" y="2308605"/>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開始</a:t>
            </a:r>
          </a:p>
        </p:txBody>
      </p:sp>
      <p:sp>
        <p:nvSpPr>
          <p:cNvPr id="193" name="流程圖: 換頁接點 52">
            <a:extLst>
              <a:ext uri="{FF2B5EF4-FFF2-40B4-BE49-F238E27FC236}">
                <a16:creationId xmlns:a16="http://schemas.microsoft.com/office/drawing/2014/main" xmlns="" id="{81294BE7-C300-D1CD-4376-34B54DFCC2AF}"/>
              </a:ext>
            </a:extLst>
          </p:cNvPr>
          <p:cNvSpPr/>
          <p:nvPr/>
        </p:nvSpPr>
        <p:spPr bwMode="auto">
          <a:xfrm>
            <a:off x="12903028" y="7239979"/>
            <a:ext cx="560627" cy="467303"/>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P2</a:t>
            </a:r>
            <a:endParaRPr lang="zh-TW" altLang="en-US" dirty="0">
              <a:latin typeface="微軟正黑體" panose="020B0604030504040204" pitchFamily="34" charset="-120"/>
              <a:ea typeface="微軟正黑體" panose="020B0604030504040204" pitchFamily="34" charset="-120"/>
            </a:endParaRPr>
          </a:p>
        </p:txBody>
      </p:sp>
      <p:sp>
        <p:nvSpPr>
          <p:cNvPr id="195" name="文字方塊 194">
            <a:extLst>
              <a:ext uri="{FF2B5EF4-FFF2-40B4-BE49-F238E27FC236}">
                <a16:creationId xmlns:a16="http://schemas.microsoft.com/office/drawing/2014/main" xmlns="" id="{6FB1FA4C-3B8A-FBB5-B280-85555F843464}"/>
              </a:ext>
            </a:extLst>
          </p:cNvPr>
          <p:cNvSpPr txBox="1"/>
          <p:nvPr/>
        </p:nvSpPr>
        <p:spPr>
          <a:xfrm>
            <a:off x="5811191" y="7824770"/>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否</a:t>
            </a:r>
            <a:endParaRPr lang="zh-TW" altLang="en-US" sz="1350" dirty="0"/>
          </a:p>
        </p:txBody>
      </p:sp>
      <p:sp>
        <p:nvSpPr>
          <p:cNvPr id="196" name="文字方塊 195">
            <a:extLst>
              <a:ext uri="{FF2B5EF4-FFF2-40B4-BE49-F238E27FC236}">
                <a16:creationId xmlns:a16="http://schemas.microsoft.com/office/drawing/2014/main" xmlns="" id="{29D95A87-8E81-E79E-403B-C860DCAF45F5}"/>
              </a:ext>
            </a:extLst>
          </p:cNvPr>
          <p:cNvSpPr txBox="1"/>
          <p:nvPr/>
        </p:nvSpPr>
        <p:spPr>
          <a:xfrm>
            <a:off x="6696974" y="7104114"/>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zh-TW" altLang="en-US" sz="1350" dirty="0"/>
          </a:p>
        </p:txBody>
      </p:sp>
      <p:sp>
        <p:nvSpPr>
          <p:cNvPr id="2" name="TextBox 53">
            <a:extLst>
              <a:ext uri="{FF2B5EF4-FFF2-40B4-BE49-F238E27FC236}">
                <a16:creationId xmlns:a16="http://schemas.microsoft.com/office/drawing/2014/main" xmlns="" id="{B72E3EFF-4B3C-A9C8-E3E4-F926D0F3D738}"/>
              </a:ext>
            </a:extLst>
          </p:cNvPr>
          <p:cNvSpPr txBox="1"/>
          <p:nvPr/>
        </p:nvSpPr>
        <p:spPr>
          <a:xfrm>
            <a:off x="14380627" y="1909363"/>
            <a:ext cx="3594197" cy="8402300"/>
          </a:xfrm>
          <a:prstGeom prst="rect">
            <a:avLst/>
          </a:prstGeom>
          <a:noFill/>
        </p:spPr>
        <p:txBody>
          <a:bodyPr wrap="square" rtlCol="0">
            <a:spAutoFit/>
          </a:bodyPr>
          <a:lstStyle/>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建立機器設備請購單</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選擇正確的物料群組，建立資產主檔時，讓系統自動引導帶出</a:t>
            </a:r>
            <a:r>
              <a:rPr lang="en-US" altLang="zh-TW" dirty="0">
                <a:latin typeface="微軟正黑體" panose="020B0604030504040204" pitchFamily="34" charset="-120"/>
                <a:ea typeface="微軟正黑體" panose="020B0604030504040204" pitchFamily="34" charset="-120"/>
              </a:rPr>
              <a:t>M</a:t>
            </a:r>
            <a:r>
              <a:rPr lang="zh-TW" altLang="en-US" dirty="0">
                <a:latin typeface="微軟正黑體" panose="020B0604030504040204" pitchFamily="34" charset="-120"/>
                <a:ea typeface="微軟正黑體" panose="020B0604030504040204" pitchFamily="34" charset="-120"/>
              </a:rPr>
              <a:t>類預付設備款。首次購買時無物料主檔可供選用，只能建立無料號的機器設備請購單。固定資產請購時，需要填內部訂單號碼作預算管理。</a:t>
            </a: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用程式</a:t>
            </a:r>
            <a:r>
              <a:rPr lang="en-US" altLang="zh-TW" dirty="0">
                <a:latin typeface="微軟正黑體" panose="020B0604030504040204" pitchFamily="34" charset="-120"/>
                <a:ea typeface="微軟正黑體" panose="020B0604030504040204" pitchFamily="34" charset="-120"/>
              </a:rPr>
              <a:t>ZMM017</a:t>
            </a:r>
            <a:r>
              <a:rPr lang="zh-TW" altLang="en-US" dirty="0">
                <a:latin typeface="微軟正黑體" panose="020B0604030504040204" pitchFamily="34" charset="-120"/>
                <a:ea typeface="微軟正黑體" panose="020B0604030504040204" pitchFamily="34" charset="-120"/>
              </a:rPr>
              <a:t>將請購單上傳</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發起簽核流程</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簽核首關為資產組人員，檢核資產類別是否正確，再依序由主管在</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簽核請購單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通過簽核的採購單透過程式</a:t>
            </a:r>
            <a:r>
              <a:rPr lang="en-US" altLang="zh-TW" dirty="0">
                <a:latin typeface="微軟正黑體" panose="020B0604030504040204" pitchFamily="34" charset="-120"/>
                <a:ea typeface="微軟正黑體" panose="020B0604030504040204" pitchFamily="34" charset="-120"/>
              </a:rPr>
              <a:t>ZMM018</a:t>
            </a:r>
            <a:r>
              <a:rPr lang="zh-TW" altLang="en-US" dirty="0">
                <a:latin typeface="微軟正黑體" panose="020B0604030504040204" pitchFamily="34" charset="-120"/>
                <a:ea typeface="微軟正黑體" panose="020B0604030504040204" pitchFamily="34" charset="-120"/>
              </a:rPr>
              <a:t>核發</a:t>
            </a:r>
            <a:r>
              <a:rPr lang="en-US" altLang="zh-TW" dirty="0">
                <a:latin typeface="微軟正黑體" panose="020B0604030504040204" pitchFamily="34" charset="-120"/>
                <a:ea typeface="微軟正黑體" panose="020B0604030504040204" pitchFamily="34" charset="-120"/>
              </a:rPr>
              <a:t>SAP</a:t>
            </a:r>
            <a:r>
              <a:rPr lang="zh-TW" altLang="en-US" dirty="0">
                <a:latin typeface="微軟正黑體" panose="020B0604030504040204" pitchFamily="34" charset="-120"/>
                <a:ea typeface="微軟正黑體" panose="020B0604030504040204" pitchFamily="34" charset="-120"/>
              </a:rPr>
              <a:t>請購單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建立機器設備物料主檔，並且在物料主檔分類上記錄機器設備所需的屬性資料。通知廠區採購新的物料編號。</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在此流程中完成詢價單簽核流程並產生價格主檔</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簽核駁回的採購單透過程式</a:t>
            </a:r>
            <a:r>
              <a:rPr lang="en-US" altLang="zh-TW" dirty="0">
                <a:latin typeface="微軟正黑體" panose="020B0604030504040204" pitchFamily="34" charset="-120"/>
                <a:ea typeface="微軟正黑體" panose="020B0604030504040204" pitchFamily="34" charset="-120"/>
              </a:rPr>
              <a:t>ZMM018</a:t>
            </a:r>
            <a:r>
              <a:rPr lang="zh-TW" altLang="en-US" dirty="0">
                <a:latin typeface="微軟正黑體" panose="020B0604030504040204" pitchFamily="34" charset="-120"/>
                <a:ea typeface="微軟正黑體" panose="020B0604030504040204" pitchFamily="34" charset="-120"/>
              </a:rPr>
              <a:t>拒絕核發</a:t>
            </a:r>
            <a:r>
              <a:rPr lang="en-US" altLang="zh-TW" dirty="0">
                <a:latin typeface="微軟正黑體" panose="020B0604030504040204" pitchFamily="34" charset="-120"/>
                <a:ea typeface="微軟正黑體" panose="020B0604030504040204" pitchFamily="34" charset="-120"/>
              </a:rPr>
              <a:t>SAP</a:t>
            </a:r>
            <a:r>
              <a:rPr lang="zh-TW" altLang="en-US" dirty="0">
                <a:latin typeface="微軟正黑體" panose="020B0604030504040204" pitchFamily="34" charset="-120"/>
                <a:ea typeface="微軟正黑體" panose="020B0604030504040204" pitchFamily="34" charset="-120"/>
              </a:rPr>
              <a:t>請購單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p>
        </p:txBody>
      </p:sp>
      <p:grpSp>
        <p:nvGrpSpPr>
          <p:cNvPr id="5" name="Group 220">
            <a:extLst>
              <a:ext uri="{FF2B5EF4-FFF2-40B4-BE49-F238E27FC236}">
                <a16:creationId xmlns:a16="http://schemas.microsoft.com/office/drawing/2014/main" xmlns="" id="{33DE9BA6-990E-DE54-C6C1-2FDFC3EF39E7}"/>
              </a:ext>
            </a:extLst>
          </p:cNvPr>
          <p:cNvGrpSpPr/>
          <p:nvPr/>
        </p:nvGrpSpPr>
        <p:grpSpPr>
          <a:xfrm>
            <a:off x="6465188" y="4867643"/>
            <a:ext cx="558369" cy="415761"/>
            <a:chOff x="5906472" y="1486857"/>
            <a:chExt cx="372246" cy="272361"/>
          </a:xfrm>
        </p:grpSpPr>
        <p:sp>
          <p:nvSpPr>
            <p:cNvPr id="9" name="Oval 221">
              <a:extLst>
                <a:ext uri="{FF2B5EF4-FFF2-40B4-BE49-F238E27FC236}">
                  <a16:creationId xmlns:a16="http://schemas.microsoft.com/office/drawing/2014/main" xmlns="" id="{F948E0C2-1964-7035-7990-D49AB0C97E5A}"/>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10" name="TextBox 222">
              <a:extLst>
                <a:ext uri="{FF2B5EF4-FFF2-40B4-BE49-F238E27FC236}">
                  <a16:creationId xmlns:a16="http://schemas.microsoft.com/office/drawing/2014/main" xmlns="" id="{C4D33436-02F5-686F-699E-8597EF0E4654}"/>
                </a:ext>
              </a:extLst>
            </p:cNvPr>
            <p:cNvSpPr txBox="1"/>
            <p:nvPr/>
          </p:nvSpPr>
          <p:spPr>
            <a:xfrm>
              <a:off x="5923118" y="1507079"/>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sp>
        <p:nvSpPr>
          <p:cNvPr id="11" name="流程圖: 預設處理作業 21">
            <a:extLst>
              <a:ext uri="{FF2B5EF4-FFF2-40B4-BE49-F238E27FC236}">
                <a16:creationId xmlns:a16="http://schemas.microsoft.com/office/drawing/2014/main" xmlns="" id="{437DE4D2-167A-5B0F-4D29-C55BF6E9C12F}"/>
              </a:ext>
            </a:extLst>
          </p:cNvPr>
          <p:cNvSpPr/>
          <p:nvPr/>
        </p:nvSpPr>
        <p:spPr bwMode="auto">
          <a:xfrm>
            <a:off x="9627174" y="3615527"/>
            <a:ext cx="1728927"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MM-MA-0010-02</a:t>
            </a:r>
          </a:p>
          <a:p>
            <a:pPr algn="ctr" eaLnBrk="0" hangingPunct="0"/>
            <a:r>
              <a:rPr lang="zh-TW" altLang="en-US" sz="1500" dirty="0">
                <a:latin typeface="微軟正黑體" panose="020B0604030504040204" pitchFamily="34" charset="-120"/>
                <a:ea typeface="微軟正黑體" panose="020B0604030504040204" pitchFamily="34" charset="-120"/>
              </a:rPr>
              <a:t>物料主檔</a:t>
            </a:r>
            <a:r>
              <a:rPr lang="en-US" altLang="zh-TW" sz="1500" dirty="0">
                <a:latin typeface="微軟正黑體" panose="020B0604030504040204" pitchFamily="34" charset="-120"/>
                <a:ea typeface="微軟正黑體" panose="020B0604030504040204" pitchFamily="34" charset="-120"/>
              </a:rPr>
              <a:t>-</a:t>
            </a:r>
          </a:p>
          <a:p>
            <a:pPr algn="ctr" eaLnBrk="0" hangingPunct="0"/>
            <a:r>
              <a:rPr lang="zh-TW" altLang="en-US" sz="1500" dirty="0">
                <a:latin typeface="微軟正黑體" panose="020B0604030504040204" pitchFamily="34" charset="-120"/>
                <a:ea typeface="微軟正黑體" panose="020B0604030504040204" pitchFamily="34" charset="-120"/>
              </a:rPr>
              <a:t>建檔流程</a:t>
            </a:r>
            <a:endParaRPr lang="en-US" altLang="zh-TW" sz="1500" dirty="0">
              <a:latin typeface="微軟正黑體" panose="020B0604030504040204" pitchFamily="34" charset="-120"/>
              <a:ea typeface="微軟正黑體" panose="020B0604030504040204" pitchFamily="34" charset="-120"/>
            </a:endParaRPr>
          </a:p>
          <a:p>
            <a:pPr algn="ctr" eaLnBrk="0" hangingPunct="0"/>
            <a:endParaRPr lang="zh-TW" altLang="en-US" sz="1500" dirty="0">
              <a:latin typeface="微軟正黑體" panose="020B0604030504040204" pitchFamily="34" charset="-120"/>
              <a:ea typeface="微軟正黑體" panose="020B0604030504040204" pitchFamily="34" charset="-120"/>
            </a:endParaRPr>
          </a:p>
        </p:txBody>
      </p:sp>
      <p:cxnSp>
        <p:nvCxnSpPr>
          <p:cNvPr id="245" name="肘形接點 68">
            <a:extLst>
              <a:ext uri="{FF2B5EF4-FFF2-40B4-BE49-F238E27FC236}">
                <a16:creationId xmlns:a16="http://schemas.microsoft.com/office/drawing/2014/main" xmlns="" id="{93B41F5C-6F29-27A3-5DF3-9768C1D35ECA}"/>
              </a:ext>
            </a:extLst>
          </p:cNvPr>
          <p:cNvCxnSpPr>
            <a:cxnSpLocks/>
            <a:stCxn id="11" idx="2"/>
            <a:endCxn id="73" idx="0"/>
          </p:cNvCxnSpPr>
          <p:nvPr/>
        </p:nvCxnSpPr>
        <p:spPr>
          <a:xfrm rot="16200000" flipH="1">
            <a:off x="10222431" y="5123134"/>
            <a:ext cx="538737" cy="324"/>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263" name="流程圖: 結束點 8">
            <a:extLst>
              <a:ext uri="{FF2B5EF4-FFF2-40B4-BE49-F238E27FC236}">
                <a16:creationId xmlns:a16="http://schemas.microsoft.com/office/drawing/2014/main" xmlns="" id="{A8F2E797-9B58-4468-C0C3-57206032ACC8}"/>
              </a:ext>
            </a:extLst>
          </p:cNvPr>
          <p:cNvSpPr/>
          <p:nvPr/>
        </p:nvSpPr>
        <p:spPr bwMode="auto">
          <a:xfrm>
            <a:off x="12142197" y="8942385"/>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cxnSp>
        <p:nvCxnSpPr>
          <p:cNvPr id="274" name="肘形接點 68">
            <a:extLst>
              <a:ext uri="{FF2B5EF4-FFF2-40B4-BE49-F238E27FC236}">
                <a16:creationId xmlns:a16="http://schemas.microsoft.com/office/drawing/2014/main" xmlns="" id="{43DC4C85-1AB2-73CA-1BEA-B222BB7D613F}"/>
              </a:ext>
            </a:extLst>
          </p:cNvPr>
          <p:cNvCxnSpPr>
            <a:cxnSpLocks/>
            <a:stCxn id="73" idx="2"/>
            <a:endCxn id="193" idx="0"/>
          </p:cNvCxnSpPr>
          <p:nvPr/>
        </p:nvCxnSpPr>
        <p:spPr>
          <a:xfrm rot="16200000" flipH="1">
            <a:off x="11533195" y="5589831"/>
            <a:ext cx="608915" cy="269138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pSp>
        <p:nvGrpSpPr>
          <p:cNvPr id="282" name="Group 220">
            <a:extLst>
              <a:ext uri="{FF2B5EF4-FFF2-40B4-BE49-F238E27FC236}">
                <a16:creationId xmlns:a16="http://schemas.microsoft.com/office/drawing/2014/main" xmlns="" id="{0BD2C8C4-0B4D-5996-F905-28B42D93FFFF}"/>
              </a:ext>
            </a:extLst>
          </p:cNvPr>
          <p:cNvGrpSpPr/>
          <p:nvPr/>
        </p:nvGrpSpPr>
        <p:grpSpPr>
          <a:xfrm>
            <a:off x="11111487" y="3401780"/>
            <a:ext cx="547418" cy="415762"/>
            <a:chOff x="5906472" y="1486857"/>
            <a:chExt cx="364945" cy="272361"/>
          </a:xfrm>
        </p:grpSpPr>
        <p:sp>
          <p:nvSpPr>
            <p:cNvPr id="283" name="Oval 221">
              <a:extLst>
                <a:ext uri="{FF2B5EF4-FFF2-40B4-BE49-F238E27FC236}">
                  <a16:creationId xmlns:a16="http://schemas.microsoft.com/office/drawing/2014/main" xmlns="" id="{CB70F267-BADF-9A72-825D-DA35BEBA7240}"/>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84" name="TextBox 222">
              <a:extLst>
                <a:ext uri="{FF2B5EF4-FFF2-40B4-BE49-F238E27FC236}">
                  <a16:creationId xmlns:a16="http://schemas.microsoft.com/office/drawing/2014/main" xmlns="" id="{830FB61F-6965-AA2B-54FE-CEB201AE835B}"/>
                </a:ext>
              </a:extLst>
            </p:cNvPr>
            <p:cNvSpPr txBox="1"/>
            <p:nvPr/>
          </p:nvSpPr>
          <p:spPr>
            <a:xfrm>
              <a:off x="5915817" y="1499266"/>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5</a:t>
              </a:r>
              <a:endParaRPr lang="zh-TW" altLang="en-US" sz="1500" dirty="0">
                <a:latin typeface="微軟正黑體" panose="020B0604030504040204" pitchFamily="34" charset="-120"/>
                <a:ea typeface="微軟正黑體" panose="020B0604030504040204" pitchFamily="34" charset="-120"/>
              </a:endParaRPr>
            </a:p>
          </p:txBody>
        </p:sp>
      </p:grpSp>
      <p:cxnSp>
        <p:nvCxnSpPr>
          <p:cNvPr id="50" name="Straight Connector 284">
            <a:extLst>
              <a:ext uri="{FF2B5EF4-FFF2-40B4-BE49-F238E27FC236}">
                <a16:creationId xmlns:a16="http://schemas.microsoft.com/office/drawing/2014/main" xmlns="" id="{CCB3D035-826A-6F8E-1D15-1A3E96F62413}"/>
              </a:ext>
            </a:extLst>
          </p:cNvPr>
          <p:cNvCxnSpPr>
            <a:cxnSpLocks/>
          </p:cNvCxnSpPr>
          <p:nvPr/>
        </p:nvCxnSpPr>
        <p:spPr>
          <a:xfrm>
            <a:off x="4685481" y="1353636"/>
            <a:ext cx="0" cy="87975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284">
            <a:extLst>
              <a:ext uri="{FF2B5EF4-FFF2-40B4-BE49-F238E27FC236}">
                <a16:creationId xmlns:a16="http://schemas.microsoft.com/office/drawing/2014/main" xmlns="" id="{CCB3D035-826A-6F8E-1D15-1A3E96F62413}"/>
              </a:ext>
            </a:extLst>
          </p:cNvPr>
          <p:cNvCxnSpPr>
            <a:cxnSpLocks/>
          </p:cNvCxnSpPr>
          <p:nvPr/>
        </p:nvCxnSpPr>
        <p:spPr>
          <a:xfrm>
            <a:off x="9075626" y="1350779"/>
            <a:ext cx="0" cy="88003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肘形接點 68">
            <a:extLst>
              <a:ext uri="{FF2B5EF4-FFF2-40B4-BE49-F238E27FC236}">
                <a16:creationId xmlns:a16="http://schemas.microsoft.com/office/drawing/2014/main" xmlns="" id="{E6DDA5A3-E6DF-5F58-0F3D-691C20C6801E}"/>
              </a:ext>
            </a:extLst>
          </p:cNvPr>
          <p:cNvCxnSpPr>
            <a:cxnSpLocks/>
            <a:stCxn id="35" idx="3"/>
            <a:endCxn id="66" idx="0"/>
          </p:cNvCxnSpPr>
          <p:nvPr/>
        </p:nvCxnSpPr>
        <p:spPr>
          <a:xfrm>
            <a:off x="6706947" y="7359140"/>
            <a:ext cx="1150837" cy="487026"/>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64" name="Google Shape;198;p3"/>
          <p:cNvSpPr txBox="1">
            <a:spLocks/>
          </p:cNvSpPr>
          <p:nvPr/>
        </p:nvSpPr>
        <p:spPr>
          <a:xfrm>
            <a:off x="15399027" y="487206"/>
            <a:ext cx="280050" cy="215157"/>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9pPr>
          </a:lstStyle>
          <a:p>
            <a:r>
              <a:rPr lang="en-US" sz="1500"/>
              <a:t>1</a:t>
            </a:r>
            <a:endParaRPr lang="en-US" sz="1500" dirty="0"/>
          </a:p>
        </p:txBody>
      </p:sp>
      <p:grpSp>
        <p:nvGrpSpPr>
          <p:cNvPr id="36" name="Group 220">
            <a:extLst>
              <a:ext uri="{FF2B5EF4-FFF2-40B4-BE49-F238E27FC236}">
                <a16:creationId xmlns:a16="http://schemas.microsoft.com/office/drawing/2014/main" xmlns="" id="{49B965EA-5488-20F5-FB4A-DE694754D613}"/>
              </a:ext>
            </a:extLst>
          </p:cNvPr>
          <p:cNvGrpSpPr/>
          <p:nvPr/>
        </p:nvGrpSpPr>
        <p:grpSpPr>
          <a:xfrm>
            <a:off x="4340204" y="3576560"/>
            <a:ext cx="556821" cy="408542"/>
            <a:chOff x="5906472" y="1486857"/>
            <a:chExt cx="371214" cy="272361"/>
          </a:xfrm>
        </p:grpSpPr>
        <p:sp>
          <p:nvSpPr>
            <p:cNvPr id="37" name="Oval 221">
              <a:extLst>
                <a:ext uri="{FF2B5EF4-FFF2-40B4-BE49-F238E27FC236}">
                  <a16:creationId xmlns:a16="http://schemas.microsoft.com/office/drawing/2014/main" xmlns="" id="{D7BB0CC3-1FCC-825A-8223-1DF8E8AA32F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38" name="TextBox 222">
              <a:extLst>
                <a:ext uri="{FF2B5EF4-FFF2-40B4-BE49-F238E27FC236}">
                  <a16:creationId xmlns:a16="http://schemas.microsoft.com/office/drawing/2014/main" xmlns="" id="{AA6B41EE-F383-4448-3FC3-5177F4E9C325}"/>
                </a:ext>
              </a:extLst>
            </p:cNvPr>
            <p:cNvSpPr txBox="1"/>
            <p:nvPr/>
          </p:nvSpPr>
          <p:spPr>
            <a:xfrm>
              <a:off x="5922086" y="1507079"/>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graphicFrame>
        <p:nvGraphicFramePr>
          <p:cNvPr id="66" name="表格 30">
            <a:extLst>
              <a:ext uri="{FF2B5EF4-FFF2-40B4-BE49-F238E27FC236}">
                <a16:creationId xmlns:a16="http://schemas.microsoft.com/office/drawing/2014/main" xmlns="" id="{94474DA2-C417-6AE7-95EE-50C9649AB985}"/>
              </a:ext>
            </a:extLst>
          </p:cNvPr>
          <p:cNvGraphicFramePr>
            <a:graphicFrameLocks noGrp="1"/>
          </p:cNvGraphicFramePr>
          <p:nvPr/>
        </p:nvGraphicFramePr>
        <p:xfrm>
          <a:off x="6958868" y="7846166"/>
          <a:ext cx="1797832" cy="1009800"/>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6600">
                <a:tc gridSpan="2">
                  <a:txBody>
                    <a:bodyPr/>
                    <a:lstStyle/>
                    <a:p>
                      <a:pPr algn="ctr"/>
                      <a:r>
                        <a:rPr lang="en-GB" altLang="zh-TW" sz="1500" b="1" dirty="0">
                          <a:solidFill>
                            <a:schemeClr val="tx1"/>
                          </a:solidFill>
                          <a:latin typeface="微軟正黑體" panose="020B0604030504040204" pitchFamily="34" charset="-120"/>
                          <a:ea typeface="微軟正黑體" panose="020B0604030504040204" pitchFamily="34" charset="-120"/>
                        </a:rPr>
                        <a:t>ZMM018</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336600">
                <a:tc gridSpan="2">
                  <a:txBody>
                    <a:bodyPr/>
                    <a:lstStyle/>
                    <a:p>
                      <a:pPr algn="ctr"/>
                      <a:r>
                        <a:rPr lang="zh-TW" altLang="en-US" sz="1500" dirty="0">
                          <a:latin typeface="微軟正黑體" panose="020B0604030504040204" pitchFamily="34" charset="-120"/>
                          <a:ea typeface="微軟正黑體" panose="020B0604030504040204" pitchFamily="34" charset="-120"/>
                        </a:rPr>
                        <a:t>核發請購單</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自動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aphicFrame>
        <p:nvGraphicFramePr>
          <p:cNvPr id="68" name="表格 30">
            <a:extLst>
              <a:ext uri="{FF2B5EF4-FFF2-40B4-BE49-F238E27FC236}">
                <a16:creationId xmlns:a16="http://schemas.microsoft.com/office/drawing/2014/main" xmlns="" id="{94474DA2-C417-6AE7-95EE-50C9649AB985}"/>
              </a:ext>
            </a:extLst>
          </p:cNvPr>
          <p:cNvGraphicFramePr>
            <a:graphicFrameLocks noGrp="1"/>
          </p:cNvGraphicFramePr>
          <p:nvPr>
            <p:extLst>
              <p:ext uri="{D42A27DB-BD31-4B8C-83A1-F6EECF244321}">
                <p14:modId xmlns:p14="http://schemas.microsoft.com/office/powerpoint/2010/main" val="4272937869"/>
              </p:ext>
            </p:extLst>
          </p:nvPr>
        </p:nvGraphicFramePr>
        <p:xfrm>
          <a:off x="4886424" y="8716456"/>
          <a:ext cx="1797832" cy="1238400"/>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6600">
                <a:tc gridSpan="2">
                  <a:txBody>
                    <a:bodyPr/>
                    <a:lstStyle/>
                    <a:p>
                      <a:pPr algn="ctr"/>
                      <a:r>
                        <a:rPr lang="en-GB" altLang="zh-TW" sz="1500" b="1" dirty="0">
                          <a:solidFill>
                            <a:schemeClr val="tx1"/>
                          </a:solidFill>
                          <a:latin typeface="微軟正黑體" panose="020B0604030504040204" pitchFamily="34" charset="-120"/>
                          <a:ea typeface="微軟正黑體" panose="020B0604030504040204" pitchFamily="34" charset="-120"/>
                        </a:rPr>
                        <a:t>ZMM018</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65200">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更新</a:t>
                      </a:r>
                      <a:r>
                        <a:rPr kumimoji="0" lang="en-US" altLang="zh-TW" sz="1500" dirty="0">
                          <a:latin typeface="微軟正黑體" panose="020B0604030504040204" pitchFamily="34" charset="-120"/>
                          <a:ea typeface="微軟正黑體" panose="020B0604030504040204" pitchFamily="34" charset="-120"/>
                        </a:rPr>
                        <a:t>SAP </a:t>
                      </a:r>
                      <a:r>
                        <a:rPr kumimoji="0" lang="zh-TW" altLang="en-US" sz="1500" dirty="0">
                          <a:latin typeface="微軟正黑體" panose="020B0604030504040204" pitchFamily="34" charset="-120"/>
                          <a:ea typeface="微軟正黑體" panose="020B0604030504040204" pitchFamily="34" charset="-120"/>
                        </a:rPr>
                        <a:t>請購單，刪除標記</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自動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pSp>
        <p:nvGrpSpPr>
          <p:cNvPr id="12" name="Group 220">
            <a:extLst>
              <a:ext uri="{FF2B5EF4-FFF2-40B4-BE49-F238E27FC236}">
                <a16:creationId xmlns:a16="http://schemas.microsoft.com/office/drawing/2014/main" xmlns="" id="{9F128FF6-A533-AD66-E783-59326744DB4F}"/>
              </a:ext>
            </a:extLst>
          </p:cNvPr>
          <p:cNvGrpSpPr/>
          <p:nvPr/>
        </p:nvGrpSpPr>
        <p:grpSpPr>
          <a:xfrm>
            <a:off x="8521820" y="7625812"/>
            <a:ext cx="556821" cy="408542"/>
            <a:chOff x="5906472" y="1486857"/>
            <a:chExt cx="371214" cy="272361"/>
          </a:xfrm>
        </p:grpSpPr>
        <p:sp>
          <p:nvSpPr>
            <p:cNvPr id="13" name="Oval 221">
              <a:extLst>
                <a:ext uri="{FF2B5EF4-FFF2-40B4-BE49-F238E27FC236}">
                  <a16:creationId xmlns:a16="http://schemas.microsoft.com/office/drawing/2014/main" xmlns="" id="{80168108-106B-2C4B-41AE-D7B2634E928B}"/>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16" name="TextBox 222">
              <a:extLst>
                <a:ext uri="{FF2B5EF4-FFF2-40B4-BE49-F238E27FC236}">
                  <a16:creationId xmlns:a16="http://schemas.microsoft.com/office/drawing/2014/main" xmlns="" id="{EC906020-C32F-1BC7-D654-A9E0F12AAC24}"/>
                </a:ext>
              </a:extLst>
            </p:cNvPr>
            <p:cNvSpPr txBox="1"/>
            <p:nvPr/>
          </p:nvSpPr>
          <p:spPr>
            <a:xfrm>
              <a:off x="5922086" y="1499128"/>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4</a:t>
              </a:r>
              <a:endParaRPr lang="zh-TW" altLang="en-US" sz="1500" dirty="0">
                <a:latin typeface="微軟正黑體" panose="020B0604030504040204" pitchFamily="34" charset="-120"/>
                <a:ea typeface="微軟正黑體" panose="020B0604030504040204" pitchFamily="34" charset="-120"/>
              </a:endParaRPr>
            </a:p>
          </p:txBody>
        </p:sp>
      </p:grpSp>
      <p:grpSp>
        <p:nvGrpSpPr>
          <p:cNvPr id="29" name="Group 220">
            <a:extLst>
              <a:ext uri="{FF2B5EF4-FFF2-40B4-BE49-F238E27FC236}">
                <a16:creationId xmlns:a16="http://schemas.microsoft.com/office/drawing/2014/main" xmlns="" id="{85F6DF8D-D513-CACE-C82D-6152F1C67FAA}"/>
              </a:ext>
            </a:extLst>
          </p:cNvPr>
          <p:cNvGrpSpPr/>
          <p:nvPr/>
        </p:nvGrpSpPr>
        <p:grpSpPr>
          <a:xfrm>
            <a:off x="6432806" y="8507302"/>
            <a:ext cx="541488" cy="408542"/>
            <a:chOff x="5906472" y="1486857"/>
            <a:chExt cx="360992" cy="272361"/>
          </a:xfrm>
        </p:grpSpPr>
        <p:sp>
          <p:nvSpPr>
            <p:cNvPr id="224" name="Oval 221">
              <a:extLst>
                <a:ext uri="{FF2B5EF4-FFF2-40B4-BE49-F238E27FC236}">
                  <a16:creationId xmlns:a16="http://schemas.microsoft.com/office/drawing/2014/main" xmlns="" id="{7090D349-92C2-9A4C-0E14-34148CF8A770}"/>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225" name="TextBox 222">
              <a:extLst>
                <a:ext uri="{FF2B5EF4-FFF2-40B4-BE49-F238E27FC236}">
                  <a16:creationId xmlns:a16="http://schemas.microsoft.com/office/drawing/2014/main" xmlns="" id="{9D762527-7F41-2EE2-42B0-511681EE229D}"/>
                </a:ext>
              </a:extLst>
            </p:cNvPr>
            <p:cNvSpPr txBox="1"/>
            <p:nvPr/>
          </p:nvSpPr>
          <p:spPr>
            <a:xfrm>
              <a:off x="5911864" y="1499128"/>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7</a:t>
              </a:r>
              <a:endParaRPr lang="zh-TW" altLang="en-US" sz="1500" dirty="0">
                <a:latin typeface="微軟正黑體" panose="020B0604030504040204" pitchFamily="34" charset="-120"/>
                <a:ea typeface="微軟正黑體" panose="020B0604030504040204" pitchFamily="34" charset="-120"/>
              </a:endParaRPr>
            </a:p>
          </p:txBody>
        </p:sp>
      </p:grpSp>
      <p:sp>
        <p:nvSpPr>
          <p:cNvPr id="73" name="流程圖: 預設處理作業 21">
            <a:extLst>
              <a:ext uri="{FF2B5EF4-FFF2-40B4-BE49-F238E27FC236}">
                <a16:creationId xmlns:a16="http://schemas.microsoft.com/office/drawing/2014/main" xmlns="" id="{437DE4D2-167A-5B0F-4D29-C55BF6E9C12F}"/>
              </a:ext>
            </a:extLst>
          </p:cNvPr>
          <p:cNvSpPr/>
          <p:nvPr/>
        </p:nvSpPr>
        <p:spPr bwMode="auto">
          <a:xfrm>
            <a:off x="9627498" y="5392664"/>
            <a:ext cx="1728927"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MM-PU-0010</a:t>
            </a:r>
          </a:p>
          <a:p>
            <a:pPr algn="ctr" eaLnBrk="0" hangingPunct="0"/>
            <a:r>
              <a:rPr lang="zh-TW" altLang="en-US" sz="1500" dirty="0">
                <a:latin typeface="微軟正黑體" panose="020B0604030504040204" pitchFamily="34" charset="-120"/>
                <a:ea typeface="微軟正黑體" panose="020B0604030504040204" pitchFamily="34" charset="-120"/>
              </a:rPr>
              <a:t>詢報價更新</a:t>
            </a:r>
            <a:endParaRPr lang="en-US" altLang="zh-TW" sz="1500" dirty="0">
              <a:latin typeface="微軟正黑體" panose="020B0604030504040204" pitchFamily="34" charset="-120"/>
              <a:ea typeface="微軟正黑體" panose="020B0604030504040204" pitchFamily="34" charset="-120"/>
            </a:endParaRPr>
          </a:p>
          <a:p>
            <a:pPr algn="ctr" eaLnBrk="0" hangingPunct="0"/>
            <a:r>
              <a:rPr lang="zh-TW" altLang="en-US" sz="1500" dirty="0">
                <a:latin typeface="微軟正黑體" panose="020B0604030504040204" pitchFamily="34" charset="-120"/>
                <a:ea typeface="微軟正黑體" panose="020B0604030504040204" pitchFamily="34" charset="-120"/>
              </a:rPr>
              <a:t>價格主檔</a:t>
            </a:r>
          </a:p>
        </p:txBody>
      </p:sp>
      <p:grpSp>
        <p:nvGrpSpPr>
          <p:cNvPr id="285" name="Group 220">
            <a:extLst>
              <a:ext uri="{FF2B5EF4-FFF2-40B4-BE49-F238E27FC236}">
                <a16:creationId xmlns:a16="http://schemas.microsoft.com/office/drawing/2014/main" xmlns="" id="{7CD0E319-17AE-E4AB-6055-9D3E8B4E2238}"/>
              </a:ext>
            </a:extLst>
          </p:cNvPr>
          <p:cNvGrpSpPr/>
          <p:nvPr/>
        </p:nvGrpSpPr>
        <p:grpSpPr>
          <a:xfrm>
            <a:off x="11108998" y="5154982"/>
            <a:ext cx="559344" cy="415761"/>
            <a:chOff x="5906472" y="1486857"/>
            <a:chExt cx="372896" cy="272361"/>
          </a:xfrm>
        </p:grpSpPr>
        <p:sp>
          <p:nvSpPr>
            <p:cNvPr id="286" name="Oval 221">
              <a:extLst>
                <a:ext uri="{FF2B5EF4-FFF2-40B4-BE49-F238E27FC236}">
                  <a16:creationId xmlns:a16="http://schemas.microsoft.com/office/drawing/2014/main" xmlns="" id="{5A690108-5F93-794F-3365-46815A5AD4BF}"/>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87" name="TextBox 222">
              <a:extLst>
                <a:ext uri="{FF2B5EF4-FFF2-40B4-BE49-F238E27FC236}">
                  <a16:creationId xmlns:a16="http://schemas.microsoft.com/office/drawing/2014/main" xmlns="" id="{839A2228-26F2-3D6A-A51A-643C6B50277B}"/>
                </a:ext>
              </a:extLst>
            </p:cNvPr>
            <p:cNvSpPr txBox="1"/>
            <p:nvPr/>
          </p:nvSpPr>
          <p:spPr>
            <a:xfrm>
              <a:off x="5923768" y="1507079"/>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6</a:t>
              </a:r>
              <a:endParaRPr lang="zh-TW" altLang="en-US" sz="1500" dirty="0">
                <a:latin typeface="微軟正黑體" panose="020B0604030504040204" pitchFamily="34" charset="-120"/>
                <a:ea typeface="微軟正黑體" panose="020B0604030504040204" pitchFamily="34" charset="-120"/>
              </a:endParaRPr>
            </a:p>
          </p:txBody>
        </p:sp>
      </p:grpSp>
      <p:cxnSp>
        <p:nvCxnSpPr>
          <p:cNvPr id="8" name="直線單箭頭接點 7">
            <a:extLst>
              <a:ext uri="{FF2B5EF4-FFF2-40B4-BE49-F238E27FC236}">
                <a16:creationId xmlns:a16="http://schemas.microsoft.com/office/drawing/2014/main" xmlns="" id="{83ECBFDE-29B2-86AA-4A77-69B06BED93CA}"/>
              </a:ext>
            </a:extLst>
          </p:cNvPr>
          <p:cNvCxnSpPr>
            <a:cxnSpLocks/>
            <a:stCxn id="68" idx="3"/>
            <a:endCxn id="263" idx="1"/>
          </p:cNvCxnSpPr>
          <p:nvPr/>
        </p:nvCxnSpPr>
        <p:spPr>
          <a:xfrm flipV="1">
            <a:off x="6684256" y="9333607"/>
            <a:ext cx="5457941" cy="204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直線單箭頭接點 21">
            <a:extLst>
              <a:ext uri="{FF2B5EF4-FFF2-40B4-BE49-F238E27FC236}">
                <a16:creationId xmlns:a16="http://schemas.microsoft.com/office/drawing/2014/main" xmlns="" id="{8FBBD342-E06E-DEAB-0A9F-BB44385C53D2}"/>
              </a:ext>
            </a:extLst>
          </p:cNvPr>
          <p:cNvCxnSpPr>
            <a:cxnSpLocks/>
            <a:stCxn id="7" idx="3"/>
            <a:endCxn id="30" idx="1"/>
          </p:cNvCxnSpPr>
          <p:nvPr/>
        </p:nvCxnSpPr>
        <p:spPr>
          <a:xfrm>
            <a:off x="2060204" y="2699827"/>
            <a:ext cx="566758" cy="554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0" name="直線單箭頭接點 39">
            <a:extLst>
              <a:ext uri="{FF2B5EF4-FFF2-40B4-BE49-F238E27FC236}">
                <a16:creationId xmlns:a16="http://schemas.microsoft.com/office/drawing/2014/main" xmlns="" id="{0632A1D5-EC40-36F5-35B3-8526241E1A8D}"/>
              </a:ext>
            </a:extLst>
          </p:cNvPr>
          <p:cNvCxnSpPr>
            <a:cxnSpLocks/>
            <a:stCxn id="15" idx="2"/>
            <a:endCxn id="35" idx="0"/>
          </p:cNvCxnSpPr>
          <p:nvPr/>
        </p:nvCxnSpPr>
        <p:spPr>
          <a:xfrm>
            <a:off x="5782598" y="6169676"/>
            <a:ext cx="3375" cy="83336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3" name="直線單箭頭接點 42">
            <a:extLst>
              <a:ext uri="{FF2B5EF4-FFF2-40B4-BE49-F238E27FC236}">
                <a16:creationId xmlns:a16="http://schemas.microsoft.com/office/drawing/2014/main" xmlns="" id="{110B4403-26FD-03C9-F34F-E4466338E5E1}"/>
              </a:ext>
            </a:extLst>
          </p:cNvPr>
          <p:cNvCxnSpPr>
            <a:cxnSpLocks/>
            <a:stCxn id="35" idx="2"/>
            <a:endCxn id="68" idx="0"/>
          </p:cNvCxnSpPr>
          <p:nvPr/>
        </p:nvCxnSpPr>
        <p:spPr>
          <a:xfrm flipH="1">
            <a:off x="5785340" y="7715240"/>
            <a:ext cx="633" cy="100121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4078046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文字方塊 3">
            <a:extLst>
              <a:ext uri="{FF2B5EF4-FFF2-40B4-BE49-F238E27FC236}">
                <a16:creationId xmlns:a16="http://schemas.microsoft.com/office/drawing/2014/main" xmlns="" id="{83E6F622-2FBE-CC67-50FE-4ABD7D8B9696}"/>
              </a:ext>
            </a:extLst>
          </p:cNvPr>
          <p:cNvSpPr txBox="1"/>
          <p:nvPr/>
        </p:nvSpPr>
        <p:spPr>
          <a:xfrm>
            <a:off x="2444080" y="794373"/>
            <a:ext cx="11046632" cy="461665"/>
          </a:xfrm>
          <a:prstGeom prst="rect">
            <a:avLst/>
          </a:prstGeom>
          <a:noFill/>
        </p:spPr>
        <p:txBody>
          <a:bodyPr wrap="square">
            <a:spAutoFit/>
          </a:bodyPr>
          <a:lstStyle/>
          <a:p>
            <a:pPr eaLnBrk="0" hangingPunct="0"/>
            <a:r>
              <a:rPr lang="en-US" altLang="zh-TW" sz="2400" b="1" dirty="0">
                <a:latin typeface="微軟正黑體" panose="020B0604030504040204" pitchFamily="34" charset="-120"/>
                <a:ea typeface="微軟正黑體" panose="020B0604030504040204" pitchFamily="34" charset="-120"/>
              </a:rPr>
              <a:t>MM-PU-0090-01 </a:t>
            </a:r>
            <a:r>
              <a:rPr lang="zh-TW" altLang="en-US" sz="2400" b="1" dirty="0">
                <a:latin typeface="微軟正黑體" panose="020B0604030504040204" pitchFamily="34" charset="-120"/>
                <a:ea typeface="微軟正黑體" panose="020B0604030504040204" pitchFamily="34" charset="-120"/>
              </a:rPr>
              <a:t>固定資產請採驗流程 </a:t>
            </a:r>
            <a:r>
              <a:rPr lang="en-US" altLang="zh-TW" sz="2400" b="1" dirty="0">
                <a:latin typeface="微軟正黑體" panose="020B0604030504040204" pitchFamily="34" charset="-120"/>
                <a:ea typeface="微軟正黑體" panose="020B0604030504040204" pitchFamily="34" charset="-120"/>
              </a:rPr>
              <a:t>(</a:t>
            </a:r>
            <a:r>
              <a:rPr lang="zh-TW" altLang="en-US" sz="2400" b="1" dirty="0">
                <a:latin typeface="微軟正黑體" panose="020B0604030504040204" pitchFamily="34" charset="-120"/>
                <a:ea typeface="微軟正黑體" panose="020B0604030504040204" pitchFamily="34" charset="-120"/>
              </a:rPr>
              <a:t>機器設備</a:t>
            </a:r>
            <a:r>
              <a:rPr lang="en-US" altLang="zh-TW" sz="2400" b="1" dirty="0">
                <a:latin typeface="微軟正黑體" panose="020B0604030504040204" pitchFamily="34" charset="-120"/>
                <a:ea typeface="微軟正黑體" panose="020B0604030504040204" pitchFamily="34" charset="-120"/>
              </a:rPr>
              <a:t>)</a:t>
            </a:r>
            <a:endParaRPr lang="zh-TW" altLang="en-US" sz="2400" b="1" dirty="0">
              <a:latin typeface="微軟正黑體" panose="020B0604030504040204" pitchFamily="34" charset="-120"/>
              <a:ea typeface="微軟正黑體" panose="020B0604030504040204" pitchFamily="34" charset="-120"/>
            </a:endParaRPr>
          </a:p>
        </p:txBody>
      </p:sp>
      <p:sp>
        <p:nvSpPr>
          <p:cNvPr id="14" name="文字方塊 17">
            <a:extLst>
              <a:ext uri="{FF2B5EF4-FFF2-40B4-BE49-F238E27FC236}">
                <a16:creationId xmlns:a16="http://schemas.microsoft.com/office/drawing/2014/main" xmlns="" id="{E114DEFF-4464-1230-5102-DAAA05109B8A}"/>
              </a:ext>
            </a:extLst>
          </p:cNvPr>
          <p:cNvSpPr txBox="1"/>
          <p:nvPr/>
        </p:nvSpPr>
        <p:spPr>
          <a:xfrm>
            <a:off x="2430541" y="1360960"/>
            <a:ext cx="3433108"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廠區採購</a:t>
            </a:r>
          </a:p>
        </p:txBody>
      </p:sp>
      <p:sp>
        <p:nvSpPr>
          <p:cNvPr id="25" name="流程圖: 結束點 8">
            <a:extLst>
              <a:ext uri="{FF2B5EF4-FFF2-40B4-BE49-F238E27FC236}">
                <a16:creationId xmlns:a16="http://schemas.microsoft.com/office/drawing/2014/main" xmlns="" id="{1FB9514E-6261-C7AC-D58E-6A5F2E6F81FD}"/>
              </a:ext>
            </a:extLst>
          </p:cNvPr>
          <p:cNvSpPr/>
          <p:nvPr/>
        </p:nvSpPr>
        <p:spPr bwMode="auto">
          <a:xfrm>
            <a:off x="12142197" y="8799270"/>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graphicFrame>
        <p:nvGraphicFramePr>
          <p:cNvPr id="30" name="表格 30">
            <a:extLst>
              <a:ext uri="{FF2B5EF4-FFF2-40B4-BE49-F238E27FC236}">
                <a16:creationId xmlns:a16="http://schemas.microsoft.com/office/drawing/2014/main" xmlns="" id="{18197701-0564-3E2B-648E-413A6C8BBE0A}"/>
              </a:ext>
            </a:extLst>
          </p:cNvPr>
          <p:cNvGraphicFramePr>
            <a:graphicFrameLocks noGrp="1"/>
          </p:cNvGraphicFramePr>
          <p:nvPr>
            <p:extLst>
              <p:ext uri="{D42A27DB-BD31-4B8C-83A1-F6EECF244321}">
                <p14:modId xmlns:p14="http://schemas.microsoft.com/office/powerpoint/2010/main" val="2996229049"/>
              </p:ext>
            </p:extLst>
          </p:nvPr>
        </p:nvGraphicFramePr>
        <p:xfrm>
          <a:off x="3192113" y="3658800"/>
          <a:ext cx="1797832" cy="1289741"/>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600" dirty="0" smtClean="0">
                          <a:latin typeface="微軟正黑體" panose="020B0604030504040204" pitchFamily="34" charset="-120"/>
                          <a:ea typeface="微軟正黑體" panose="020B0604030504040204" pitchFamily="34" charset="-120"/>
                        </a:rPr>
                        <a:t>ZMM017</a:t>
                      </a:r>
                      <a:endParaRPr lang="en-GB" altLang="zh-TW" sz="1500" b="1" dirty="0">
                        <a:solidFill>
                          <a:schemeClr val="tx1"/>
                        </a:solidFill>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601301">
                <a:tc gridSpan="2">
                  <a:txBody>
                    <a:bodyPr/>
                    <a:lstStyle/>
                    <a:p>
                      <a:pPr algn="ctr"/>
                      <a:r>
                        <a:rPr lang="zh-TW" altLang="en-US" sz="1500" dirty="0">
                          <a:latin typeface="微軟正黑體" panose="020B0604030504040204" pitchFamily="34" charset="-120"/>
                          <a:ea typeface="微軟正黑體" panose="020B0604030504040204" pitchFamily="34" charset="-120"/>
                        </a:rPr>
                        <a:t>發起</a:t>
                      </a:r>
                      <a:r>
                        <a:rPr lang="en-US" altLang="zh-TW" sz="1500" dirty="0">
                          <a:latin typeface="微軟正黑體" panose="020B0604030504040204" pitchFamily="34" charset="-120"/>
                          <a:ea typeface="微軟正黑體" panose="020B0604030504040204" pitchFamily="34" charset="-120"/>
                        </a:rPr>
                        <a:t>BPM</a:t>
                      </a:r>
                      <a:r>
                        <a:rPr lang="zh-TW" altLang="en-US" sz="1500" dirty="0">
                          <a:latin typeface="微軟正黑體" panose="020B0604030504040204" pitchFamily="34" charset="-120"/>
                          <a:ea typeface="微軟正黑體" panose="020B0604030504040204" pitchFamily="34" charset="-120"/>
                        </a:rPr>
                        <a:t>簽核</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aphicFrame>
        <p:nvGraphicFramePr>
          <p:cNvPr id="15" name="表格 30">
            <a:extLst>
              <a:ext uri="{FF2B5EF4-FFF2-40B4-BE49-F238E27FC236}">
                <a16:creationId xmlns:a16="http://schemas.microsoft.com/office/drawing/2014/main" xmlns="" id="{DD4D6B14-D3B2-B7AE-AA9C-20D4B4848A80}"/>
              </a:ext>
            </a:extLst>
          </p:cNvPr>
          <p:cNvGraphicFramePr>
            <a:graphicFrameLocks noGrp="1"/>
          </p:cNvGraphicFramePr>
          <p:nvPr>
            <p:extLst>
              <p:ext uri="{D42A27DB-BD31-4B8C-83A1-F6EECF244321}">
                <p14:modId xmlns:p14="http://schemas.microsoft.com/office/powerpoint/2010/main" val="2287228207"/>
              </p:ext>
            </p:extLst>
          </p:nvPr>
        </p:nvGraphicFramePr>
        <p:xfrm>
          <a:off x="6488450" y="3650070"/>
          <a:ext cx="1800526" cy="1296720"/>
        </p:xfrm>
        <a:graphic>
          <a:graphicData uri="http://schemas.openxmlformats.org/drawingml/2006/table">
            <a:tbl>
              <a:tblPr>
                <a:tableStyleId>{5940675A-B579-460E-94D1-54222C63F5DA}</a:tableStyleId>
              </a:tblPr>
              <a:tblGrid>
                <a:gridCol w="900263">
                  <a:extLst>
                    <a:ext uri="{9D8B030D-6E8A-4147-A177-3AD203B41FA5}">
                      <a16:colId xmlns:a16="http://schemas.microsoft.com/office/drawing/2014/main" xmlns="" val="3433979995"/>
                    </a:ext>
                  </a:extLst>
                </a:gridCol>
                <a:gridCol w="900263">
                  <a:extLst>
                    <a:ext uri="{9D8B030D-6E8A-4147-A177-3AD203B41FA5}">
                      <a16:colId xmlns:a16="http://schemas.microsoft.com/office/drawing/2014/main" xmlns="" val="3727974752"/>
                    </a:ext>
                  </a:extLst>
                </a:gridCol>
              </a:tblGrid>
              <a:tr h="365760">
                <a:tc gridSpan="2">
                  <a:txBody>
                    <a:bodyPr/>
                    <a:lstStyle/>
                    <a:p>
                      <a:pPr algn="ctr"/>
                      <a:endParaRPr lang="en-GB" sz="1500" b="1" dirty="0">
                        <a:latin typeface="微軟正黑體" panose="020B0604030504040204" pitchFamily="34" charset="-120"/>
                        <a:ea typeface="微軟正黑體" panose="020B0604030504040204" pitchFamily="34" charset="-120"/>
                      </a:endParaRPr>
                    </a:p>
                  </a:txBody>
                  <a:tcPr marL="54000" marR="54000"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94360">
                <a:tc gridSpan="2">
                  <a:txBody>
                    <a:bodyPr/>
                    <a:lstStyle/>
                    <a:p>
                      <a:pPr algn="ctr"/>
                      <a:r>
                        <a:rPr lang="zh-TW" altLang="en-US" sz="1500" dirty="0">
                          <a:latin typeface="微軟正黑體" panose="020B0604030504040204" pitchFamily="34" charset="-120"/>
                          <a:ea typeface="微軟正黑體" panose="020B0604030504040204" pitchFamily="34" charset="-120"/>
                        </a:rPr>
                        <a:t>簽核</a:t>
                      </a:r>
                      <a:r>
                        <a:rPr kumimoji="0" lang="zh-TW" altLang="en-US" sz="1500" dirty="0">
                          <a:latin typeface="微軟正黑體" panose="020B0604030504040204" pitchFamily="34" charset="-120"/>
                          <a:ea typeface="微軟正黑體" panose="020B0604030504040204" pitchFamily="34" charset="-120"/>
                        </a:rPr>
                        <a:t>資本支出單</a:t>
                      </a:r>
                      <a:endParaRPr lang="en-US" altLang="zh-TW" sz="1500" dirty="0">
                        <a:latin typeface="微軟正黑體" panose="020B0604030504040204" pitchFamily="34" charset="-120"/>
                        <a:ea typeface="微軟正黑體" panose="020B0604030504040204" pitchFamily="34" charset="-120"/>
                      </a:endParaRPr>
                    </a:p>
                  </a:txBody>
                  <a:tcPr marL="54000" marR="54000"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BPM</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cxnSp>
        <p:nvCxnSpPr>
          <p:cNvPr id="57" name="肘形接點 68">
            <a:extLst>
              <a:ext uri="{FF2B5EF4-FFF2-40B4-BE49-F238E27FC236}">
                <a16:creationId xmlns:a16="http://schemas.microsoft.com/office/drawing/2014/main" xmlns="" id="{8E184E7B-49D4-0B0F-DFF1-32CCB2A9AB0C}"/>
              </a:ext>
            </a:extLst>
          </p:cNvPr>
          <p:cNvCxnSpPr>
            <a:cxnSpLocks/>
            <a:stCxn id="15" idx="2"/>
            <a:endCxn id="35" idx="0"/>
          </p:cNvCxnSpPr>
          <p:nvPr/>
        </p:nvCxnSpPr>
        <p:spPr>
          <a:xfrm rot="16200000" flipH="1">
            <a:off x="7190212" y="5145291"/>
            <a:ext cx="398112" cy="111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35" name="流程圖: 決策 50">
            <a:extLst>
              <a:ext uri="{FF2B5EF4-FFF2-40B4-BE49-F238E27FC236}">
                <a16:creationId xmlns:a16="http://schemas.microsoft.com/office/drawing/2014/main" xmlns="" id="{8037CA89-DBE3-1441-8E4C-7EA04E993D61}"/>
              </a:ext>
            </a:extLst>
          </p:cNvPr>
          <p:cNvSpPr/>
          <p:nvPr/>
        </p:nvSpPr>
        <p:spPr bwMode="auto">
          <a:xfrm>
            <a:off x="6468848" y="5344902"/>
            <a:ext cx="1841949" cy="712200"/>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簽核通過</a:t>
            </a:r>
          </a:p>
        </p:txBody>
      </p:sp>
      <p:sp>
        <p:nvSpPr>
          <p:cNvPr id="55" name="文字方塊 54">
            <a:extLst>
              <a:ext uri="{FF2B5EF4-FFF2-40B4-BE49-F238E27FC236}">
                <a16:creationId xmlns:a16="http://schemas.microsoft.com/office/drawing/2014/main" xmlns="" id="{B106DB5A-3C2B-C42B-E706-9F53E0CA364F}"/>
              </a:ext>
            </a:extLst>
          </p:cNvPr>
          <p:cNvSpPr txBox="1"/>
          <p:nvPr/>
        </p:nvSpPr>
        <p:spPr>
          <a:xfrm>
            <a:off x="11614212" y="6599762"/>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zh-TW" altLang="en-US" sz="1350" dirty="0"/>
          </a:p>
        </p:txBody>
      </p:sp>
      <p:sp>
        <p:nvSpPr>
          <p:cNvPr id="56" name="文字方塊 55">
            <a:extLst>
              <a:ext uri="{FF2B5EF4-FFF2-40B4-BE49-F238E27FC236}">
                <a16:creationId xmlns:a16="http://schemas.microsoft.com/office/drawing/2014/main" xmlns="" id="{7BDD8B3B-9FC5-B431-B92A-CADEB291222C}"/>
              </a:ext>
            </a:extLst>
          </p:cNvPr>
          <p:cNvSpPr txBox="1"/>
          <p:nvPr/>
        </p:nvSpPr>
        <p:spPr>
          <a:xfrm>
            <a:off x="8746542" y="7385698"/>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否</a:t>
            </a:r>
            <a:endParaRPr lang="zh-TW" altLang="en-US" sz="1350" dirty="0"/>
          </a:p>
        </p:txBody>
      </p:sp>
      <p:sp>
        <p:nvSpPr>
          <p:cNvPr id="210" name="文字方塊 17">
            <a:extLst>
              <a:ext uri="{FF2B5EF4-FFF2-40B4-BE49-F238E27FC236}">
                <a16:creationId xmlns:a16="http://schemas.microsoft.com/office/drawing/2014/main" xmlns="" id="{306A0461-FB0A-6B8E-26F4-F4121B822258}"/>
              </a:ext>
            </a:extLst>
          </p:cNvPr>
          <p:cNvSpPr txBox="1"/>
          <p:nvPr/>
        </p:nvSpPr>
        <p:spPr>
          <a:xfrm>
            <a:off x="5863649" y="1362780"/>
            <a:ext cx="3744386"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高階主管</a:t>
            </a:r>
          </a:p>
        </p:txBody>
      </p:sp>
      <p:graphicFrame>
        <p:nvGraphicFramePr>
          <p:cNvPr id="238" name="表格 30">
            <a:extLst>
              <a:ext uri="{FF2B5EF4-FFF2-40B4-BE49-F238E27FC236}">
                <a16:creationId xmlns:a16="http://schemas.microsoft.com/office/drawing/2014/main" xmlns="" id="{AFF9763D-0DA0-D7C1-DED2-F1F470C624C4}"/>
              </a:ext>
            </a:extLst>
          </p:cNvPr>
          <p:cNvGraphicFramePr>
            <a:graphicFrameLocks noGrp="1"/>
          </p:cNvGraphicFramePr>
          <p:nvPr>
            <p:extLst>
              <p:ext uri="{D42A27DB-BD31-4B8C-83A1-F6EECF244321}">
                <p14:modId xmlns:p14="http://schemas.microsoft.com/office/powerpoint/2010/main" val="23154335"/>
              </p:ext>
            </p:extLst>
          </p:nvPr>
        </p:nvGraphicFramePr>
        <p:xfrm>
          <a:off x="9914244" y="5275345"/>
          <a:ext cx="1797832" cy="1120980"/>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65760">
                <a:tc gridSpan="2">
                  <a:txBody>
                    <a:bodyPr/>
                    <a:lstStyle/>
                    <a:p>
                      <a:pPr algn="ctr"/>
                      <a:endParaRPr lang="en-GB" sz="1500" b="1" dirty="0">
                        <a:latin typeface="微軟正黑體" panose="020B0604030504040204" pitchFamily="34" charset="-120"/>
                        <a:ea typeface="微軟正黑體" panose="020B0604030504040204" pitchFamily="34" charset="-120"/>
                      </a:endParaRPr>
                    </a:p>
                  </a:txBody>
                  <a:tcPr marL="54000" marR="54000"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418620">
                <a:tc gridSpan="2">
                  <a:txBody>
                    <a:bodyPr/>
                    <a:lstStyle/>
                    <a:p>
                      <a:pPr algn="ctr"/>
                      <a:r>
                        <a:rPr lang="zh-TW" altLang="en-US" sz="1500" dirty="0">
                          <a:latin typeface="微軟正黑體" panose="020B0604030504040204" pitchFamily="34" charset="-120"/>
                          <a:ea typeface="微軟正黑體" panose="020B0604030504040204" pitchFamily="34" charset="-120"/>
                        </a:rPr>
                        <a:t>簽核採購單</a:t>
                      </a:r>
                      <a:endParaRPr lang="en-US" altLang="zh-TW" sz="1500" dirty="0">
                        <a:latin typeface="微軟正黑體" panose="020B0604030504040204" pitchFamily="34" charset="-120"/>
                        <a:ea typeface="微軟正黑體" panose="020B0604030504040204" pitchFamily="34" charset="-120"/>
                      </a:endParaRPr>
                    </a:p>
                  </a:txBody>
                  <a:tcPr marL="54000" marR="54000"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BPM</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aphicFrame>
        <p:nvGraphicFramePr>
          <p:cNvPr id="240" name="表格 30">
            <a:extLst>
              <a:ext uri="{FF2B5EF4-FFF2-40B4-BE49-F238E27FC236}">
                <a16:creationId xmlns:a16="http://schemas.microsoft.com/office/drawing/2014/main" xmlns="" id="{D50514A0-AA46-1916-EFBB-5F1C0FA347E6}"/>
              </a:ext>
            </a:extLst>
          </p:cNvPr>
          <p:cNvGraphicFramePr>
            <a:graphicFrameLocks noGrp="1"/>
          </p:cNvGraphicFramePr>
          <p:nvPr>
            <p:extLst>
              <p:ext uri="{D42A27DB-BD31-4B8C-83A1-F6EECF244321}">
                <p14:modId xmlns:p14="http://schemas.microsoft.com/office/powerpoint/2010/main" val="2038256283"/>
              </p:ext>
            </p:extLst>
          </p:nvPr>
        </p:nvGraphicFramePr>
        <p:xfrm>
          <a:off x="3149420" y="7606319"/>
          <a:ext cx="1868214" cy="1184439"/>
        </p:xfrm>
        <a:graphic>
          <a:graphicData uri="http://schemas.openxmlformats.org/drawingml/2006/table">
            <a:tbl>
              <a:tblPr>
                <a:tableStyleId>{5940675A-B579-460E-94D1-54222C63F5DA}</a:tableStyleId>
              </a:tblPr>
              <a:tblGrid>
                <a:gridCol w="934107">
                  <a:extLst>
                    <a:ext uri="{9D8B030D-6E8A-4147-A177-3AD203B41FA5}">
                      <a16:colId xmlns:a16="http://schemas.microsoft.com/office/drawing/2014/main" xmlns="" val="3433979995"/>
                    </a:ext>
                  </a:extLst>
                </a:gridCol>
                <a:gridCol w="934107">
                  <a:extLst>
                    <a:ext uri="{9D8B030D-6E8A-4147-A177-3AD203B41FA5}">
                      <a16:colId xmlns:a16="http://schemas.microsoft.com/office/drawing/2014/main" xmlns=""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500" b="1" dirty="0">
                          <a:solidFill>
                            <a:schemeClr val="tx1"/>
                          </a:solidFill>
                          <a:latin typeface="微軟正黑體" panose="020B0604030504040204" pitchFamily="34" charset="-120"/>
                          <a:ea typeface="微軟正黑體" panose="020B0604030504040204" pitchFamily="34" charset="-120"/>
                        </a:rPr>
                        <a:t>ZMM019</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11239">
                <a:tc gridSpan="2">
                  <a:txBody>
                    <a:bodyPr/>
                    <a:lstStyle/>
                    <a:p>
                      <a:pPr algn="ctr"/>
                      <a:r>
                        <a:rPr lang="zh-TW" altLang="en-US" sz="1500" dirty="0">
                          <a:latin typeface="微軟正黑體" panose="020B0604030504040204" pitchFamily="34" charset="-120"/>
                          <a:ea typeface="微軟正黑體" panose="020B0604030504040204" pitchFamily="34" charset="-120"/>
                        </a:rPr>
                        <a:t>採購單發起</a:t>
                      </a:r>
                      <a:r>
                        <a:rPr lang="en-US" altLang="zh-TW" sz="1500" dirty="0">
                          <a:latin typeface="微軟正黑體" panose="020B0604030504040204" pitchFamily="34" charset="-120"/>
                          <a:ea typeface="微軟正黑體" panose="020B0604030504040204" pitchFamily="34" charset="-120"/>
                        </a:rPr>
                        <a:t>BPM</a:t>
                      </a:r>
                      <a:r>
                        <a:rPr lang="zh-TW" altLang="en-US" sz="1500" dirty="0">
                          <a:latin typeface="微軟正黑體" panose="020B0604030504040204" pitchFamily="34" charset="-120"/>
                          <a:ea typeface="微軟正黑體" panose="020B0604030504040204" pitchFamily="34" charset="-120"/>
                        </a:rPr>
                        <a:t>簽核</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cxnSp>
        <p:nvCxnSpPr>
          <p:cNvPr id="241" name="肘形接點 68">
            <a:extLst>
              <a:ext uri="{FF2B5EF4-FFF2-40B4-BE49-F238E27FC236}">
                <a16:creationId xmlns:a16="http://schemas.microsoft.com/office/drawing/2014/main" xmlns="" id="{A46CDCFE-67EF-4E51-A944-F4A0C09EC5BD}"/>
              </a:ext>
            </a:extLst>
          </p:cNvPr>
          <p:cNvCxnSpPr>
            <a:cxnSpLocks/>
            <a:stCxn id="240" idx="3"/>
            <a:endCxn id="238" idx="1"/>
          </p:cNvCxnSpPr>
          <p:nvPr/>
        </p:nvCxnSpPr>
        <p:spPr>
          <a:xfrm flipV="1">
            <a:off x="5017634" y="5835835"/>
            <a:ext cx="4896610" cy="2362703"/>
          </a:xfrm>
          <a:prstGeom prst="bentConnector3">
            <a:avLst>
              <a:gd name="adj1" fmla="val 66509"/>
            </a:avLst>
          </a:prstGeom>
          <a:ln>
            <a:tailEnd type="triangle"/>
          </a:ln>
        </p:spPr>
        <p:style>
          <a:lnRef idx="1">
            <a:schemeClr val="dk1"/>
          </a:lnRef>
          <a:fillRef idx="0">
            <a:schemeClr val="dk1"/>
          </a:fillRef>
          <a:effectRef idx="0">
            <a:schemeClr val="dk1"/>
          </a:effectRef>
          <a:fontRef idx="minor">
            <a:schemeClr val="tx1"/>
          </a:fontRef>
        </p:style>
      </p:cxnSp>
      <p:sp>
        <p:nvSpPr>
          <p:cNvPr id="47" name="流程圖: 決策 50">
            <a:extLst>
              <a:ext uri="{FF2B5EF4-FFF2-40B4-BE49-F238E27FC236}">
                <a16:creationId xmlns:a16="http://schemas.microsoft.com/office/drawing/2014/main" xmlns="" id="{4211AE0E-E934-C866-6745-99857AA1659D}"/>
              </a:ext>
            </a:extLst>
          </p:cNvPr>
          <p:cNvSpPr/>
          <p:nvPr/>
        </p:nvSpPr>
        <p:spPr bwMode="auto">
          <a:xfrm>
            <a:off x="9889842" y="6803204"/>
            <a:ext cx="1841949" cy="712200"/>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簽核通過</a:t>
            </a:r>
          </a:p>
        </p:txBody>
      </p:sp>
      <p:cxnSp>
        <p:nvCxnSpPr>
          <p:cNvPr id="50" name="肘形接點 68">
            <a:extLst>
              <a:ext uri="{FF2B5EF4-FFF2-40B4-BE49-F238E27FC236}">
                <a16:creationId xmlns:a16="http://schemas.microsoft.com/office/drawing/2014/main" xmlns="" id="{132B4FAF-6538-8C69-D0DE-40BD508AF11A}"/>
              </a:ext>
            </a:extLst>
          </p:cNvPr>
          <p:cNvCxnSpPr>
            <a:cxnSpLocks/>
            <a:stCxn id="11" idx="3"/>
            <a:endCxn id="25" idx="1"/>
          </p:cNvCxnSpPr>
          <p:nvPr/>
        </p:nvCxnSpPr>
        <p:spPr>
          <a:xfrm>
            <a:off x="9445332" y="9189522"/>
            <a:ext cx="2696865" cy="97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193" name="流程圖: 換頁接點 52">
            <a:extLst>
              <a:ext uri="{FF2B5EF4-FFF2-40B4-BE49-F238E27FC236}">
                <a16:creationId xmlns:a16="http://schemas.microsoft.com/office/drawing/2014/main" xmlns="" id="{81294BE7-C300-D1CD-4376-34B54DFCC2AF}"/>
              </a:ext>
            </a:extLst>
          </p:cNvPr>
          <p:cNvSpPr/>
          <p:nvPr/>
        </p:nvSpPr>
        <p:spPr bwMode="auto">
          <a:xfrm>
            <a:off x="12616391" y="6931216"/>
            <a:ext cx="560627" cy="467303"/>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P3</a:t>
            </a:r>
            <a:endParaRPr lang="zh-TW" altLang="en-US" dirty="0">
              <a:latin typeface="微軟正黑體" panose="020B0604030504040204" pitchFamily="34" charset="-120"/>
              <a:ea typeface="微軟正黑體" panose="020B0604030504040204" pitchFamily="34" charset="-120"/>
            </a:endParaRPr>
          </a:p>
        </p:txBody>
      </p:sp>
      <p:sp>
        <p:nvSpPr>
          <p:cNvPr id="195" name="文字方塊 194">
            <a:extLst>
              <a:ext uri="{FF2B5EF4-FFF2-40B4-BE49-F238E27FC236}">
                <a16:creationId xmlns:a16="http://schemas.microsoft.com/office/drawing/2014/main" xmlns="" id="{6FB1FA4C-3B8A-FBB5-B280-85555F843464}"/>
              </a:ext>
            </a:extLst>
          </p:cNvPr>
          <p:cNvSpPr txBox="1"/>
          <p:nvPr/>
        </p:nvSpPr>
        <p:spPr>
          <a:xfrm>
            <a:off x="7397768" y="6205897"/>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否</a:t>
            </a:r>
            <a:endParaRPr lang="zh-TW" altLang="en-US" sz="1350" dirty="0"/>
          </a:p>
        </p:txBody>
      </p:sp>
      <p:sp>
        <p:nvSpPr>
          <p:cNvPr id="196" name="文字方塊 195">
            <a:extLst>
              <a:ext uri="{FF2B5EF4-FFF2-40B4-BE49-F238E27FC236}">
                <a16:creationId xmlns:a16="http://schemas.microsoft.com/office/drawing/2014/main" xmlns="" id="{29D95A87-8E81-E79E-403B-C860DCAF45F5}"/>
              </a:ext>
            </a:extLst>
          </p:cNvPr>
          <p:cNvSpPr txBox="1"/>
          <p:nvPr/>
        </p:nvSpPr>
        <p:spPr>
          <a:xfrm>
            <a:off x="6099354" y="5405549"/>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zh-TW" altLang="en-US" sz="1350" dirty="0"/>
          </a:p>
        </p:txBody>
      </p:sp>
      <p:sp>
        <p:nvSpPr>
          <p:cNvPr id="8" name="文字方塊 17">
            <a:extLst>
              <a:ext uri="{FF2B5EF4-FFF2-40B4-BE49-F238E27FC236}">
                <a16:creationId xmlns:a16="http://schemas.microsoft.com/office/drawing/2014/main" xmlns="" id="{BBC38995-B8DF-63A0-4401-9FE50A36E787}"/>
              </a:ext>
            </a:extLst>
          </p:cNvPr>
          <p:cNvSpPr txBox="1"/>
          <p:nvPr/>
        </p:nvSpPr>
        <p:spPr>
          <a:xfrm>
            <a:off x="9608035" y="1368691"/>
            <a:ext cx="2312840"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權責主管</a:t>
            </a:r>
          </a:p>
        </p:txBody>
      </p:sp>
      <p:sp>
        <p:nvSpPr>
          <p:cNvPr id="2" name="TextBox 53">
            <a:extLst>
              <a:ext uri="{FF2B5EF4-FFF2-40B4-BE49-F238E27FC236}">
                <a16:creationId xmlns:a16="http://schemas.microsoft.com/office/drawing/2014/main" xmlns="" id="{B72E3EFF-4B3C-A9C8-E3E4-F926D0F3D738}"/>
              </a:ext>
            </a:extLst>
          </p:cNvPr>
          <p:cNvSpPr txBox="1"/>
          <p:nvPr/>
        </p:nvSpPr>
        <p:spPr>
          <a:xfrm>
            <a:off x="14380627" y="2064631"/>
            <a:ext cx="3594197" cy="8679299"/>
          </a:xfrm>
          <a:prstGeom prst="rect">
            <a:avLst/>
          </a:prstGeom>
          <a:noFill/>
        </p:spPr>
        <p:txBody>
          <a:bodyPr wrap="square" rtlCol="0">
            <a:spAutoFit/>
          </a:bodyPr>
          <a:lstStyle/>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廠區採購更新請購單，首次請購的新機器需補填物料主檔編號。有物料主檔的情況才能指派價格主檔</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廠區將已經維護好物料主檔編號的請購單，以程式</a:t>
            </a:r>
            <a:r>
              <a:rPr lang="en-US" altLang="zh-TW" dirty="0">
                <a:latin typeface="微軟正黑體" panose="020B0604030504040204" pitchFamily="34" charset="-120"/>
                <a:ea typeface="微軟正黑體" panose="020B0604030504040204" pitchFamily="34" charset="-120"/>
              </a:rPr>
              <a:t>ZMM017</a:t>
            </a:r>
            <a:r>
              <a:rPr lang="zh-TW" altLang="en-US" dirty="0">
                <a:latin typeface="微軟正黑體" panose="020B0604030504040204" pitchFamily="34" charset="-120"/>
                <a:ea typeface="微軟正黑體" panose="020B0604030504040204" pitchFamily="34" charset="-120"/>
              </a:rPr>
              <a:t>發起</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資本支出單簽核流程</a:t>
            </a: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主管在</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上簽核資本支出單 。主管未核準的資本支出單會通知到原申請人進行刪單處理。</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採購進行請購單轉採購單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用程式</a:t>
            </a:r>
            <a:r>
              <a:rPr lang="en-US" altLang="zh-TW" dirty="0">
                <a:latin typeface="微軟正黑體" panose="020B0604030504040204" pitchFamily="34" charset="-120"/>
                <a:ea typeface="微軟正黑體" panose="020B0604030504040204" pitchFamily="34" charset="-120"/>
              </a:rPr>
              <a:t>ZMM019</a:t>
            </a:r>
            <a:r>
              <a:rPr lang="zh-TW" altLang="en-US" dirty="0">
                <a:latin typeface="微軟正黑體" panose="020B0604030504040204" pitchFamily="34" charset="-120"/>
                <a:ea typeface="微軟正黑體" panose="020B0604030504040204" pitchFamily="34" charset="-120"/>
              </a:rPr>
              <a:t>將採購單上傳</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發起簽核流程</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主管在</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上簽核採購單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簽核未通過，透過程式</a:t>
            </a:r>
            <a:r>
              <a:rPr lang="en-US" altLang="zh-TW" dirty="0">
                <a:latin typeface="微軟正黑體" panose="020B0604030504040204" pitchFamily="34" charset="-120"/>
                <a:ea typeface="微軟正黑體" panose="020B0604030504040204" pitchFamily="34" charset="-120"/>
              </a:rPr>
              <a:t>ZMM006</a:t>
            </a:r>
            <a:r>
              <a:rPr lang="zh-TW" altLang="en-US" dirty="0">
                <a:latin typeface="微軟正黑體" panose="020B0604030504040204" pitchFamily="34" charset="-120"/>
                <a:ea typeface="微軟正黑體" panose="020B0604030504040204" pitchFamily="34" charset="-120"/>
              </a:rPr>
              <a:t>將採購單標記為刪除，一並刪關連請購單。</a:t>
            </a:r>
          </a:p>
          <a:p>
            <a:pPr marL="342900" indent="-342900">
              <a:buFont typeface="+mj-lt"/>
              <a:buAutoNum type="arabicPeriod"/>
            </a:pPr>
            <a:endParaRPr lang="en-US" altLang="zh-TW" dirty="0"/>
          </a:p>
          <a:p>
            <a:pPr marL="342900" indent="-342900">
              <a:buFont typeface="+mj-lt"/>
              <a:buAutoNum type="arabicPeriod"/>
            </a:pPr>
            <a:endParaRPr lang="en-US" altLang="zh-TW" dirty="0"/>
          </a:p>
          <a:p>
            <a:pPr marL="342900" indent="-342900">
              <a:buFont typeface="+mj-lt"/>
              <a:buAutoNum type="arabicPeriod"/>
            </a:pPr>
            <a:endParaRPr lang="en-US" altLang="zh-TW" dirty="0"/>
          </a:p>
          <a:p>
            <a:pPr marL="342900" indent="-342900">
              <a:buFont typeface="+mj-lt"/>
              <a:buAutoNum type="arabicPeriod"/>
            </a:pPr>
            <a:endParaRPr lang="en-US" altLang="zh-TW" dirty="0"/>
          </a:p>
          <a:p>
            <a:pPr marL="342900" indent="-342900">
              <a:buFont typeface="+mj-lt"/>
              <a:buAutoNum type="arabicPeriod"/>
            </a:pPr>
            <a:endParaRPr lang="en-US" altLang="zh-TW" dirty="0"/>
          </a:p>
          <a:p>
            <a:pPr marL="342900" indent="-342900">
              <a:buFont typeface="+mj-lt"/>
              <a:buAutoNum type="arabicPeriod"/>
            </a:pPr>
            <a:endParaRPr lang="en-US" altLang="zh-TW" dirty="0"/>
          </a:p>
          <a:p>
            <a:endParaRPr lang="en-US" altLang="zh-TW" dirty="0"/>
          </a:p>
        </p:txBody>
      </p:sp>
      <p:sp>
        <p:nvSpPr>
          <p:cNvPr id="12" name="流程圖: 換頁接點 52">
            <a:extLst>
              <a:ext uri="{FF2B5EF4-FFF2-40B4-BE49-F238E27FC236}">
                <a16:creationId xmlns:a16="http://schemas.microsoft.com/office/drawing/2014/main" xmlns="" id="{448D21C5-C439-7966-729A-8E00EDEAE2A6}"/>
              </a:ext>
            </a:extLst>
          </p:cNvPr>
          <p:cNvSpPr/>
          <p:nvPr/>
        </p:nvSpPr>
        <p:spPr bwMode="auto">
          <a:xfrm>
            <a:off x="976415" y="2482571"/>
            <a:ext cx="560627" cy="467303"/>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P1</a:t>
            </a:r>
            <a:endParaRPr lang="zh-TW" altLang="en-US" dirty="0">
              <a:latin typeface="微軟正黑體" panose="020B0604030504040204" pitchFamily="34" charset="-120"/>
              <a:ea typeface="微軟正黑體" panose="020B0604030504040204" pitchFamily="34" charset="-120"/>
            </a:endParaRPr>
          </a:p>
        </p:txBody>
      </p:sp>
      <p:grpSp>
        <p:nvGrpSpPr>
          <p:cNvPr id="244" name="Group 220">
            <a:extLst>
              <a:ext uri="{FF2B5EF4-FFF2-40B4-BE49-F238E27FC236}">
                <a16:creationId xmlns:a16="http://schemas.microsoft.com/office/drawing/2014/main" xmlns="" id="{B5FE5C15-35AB-68F5-E353-F8A18C9C555A}"/>
              </a:ext>
            </a:extLst>
          </p:cNvPr>
          <p:cNvGrpSpPr/>
          <p:nvPr/>
        </p:nvGrpSpPr>
        <p:grpSpPr>
          <a:xfrm>
            <a:off x="4770138" y="7425150"/>
            <a:ext cx="546786" cy="415759"/>
            <a:chOff x="5906472" y="1486857"/>
            <a:chExt cx="364524" cy="272361"/>
          </a:xfrm>
        </p:grpSpPr>
        <p:sp>
          <p:nvSpPr>
            <p:cNvPr id="246" name="Oval 221">
              <a:extLst>
                <a:ext uri="{FF2B5EF4-FFF2-40B4-BE49-F238E27FC236}">
                  <a16:creationId xmlns:a16="http://schemas.microsoft.com/office/drawing/2014/main" xmlns="" id="{4BDC1F77-9896-B2CA-83E6-8EC9E56DD326}"/>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47" name="TextBox 222">
              <a:extLst>
                <a:ext uri="{FF2B5EF4-FFF2-40B4-BE49-F238E27FC236}">
                  <a16:creationId xmlns:a16="http://schemas.microsoft.com/office/drawing/2014/main" xmlns="" id="{3C1970B3-7168-C4BB-89C7-ED51993BA15F}"/>
                </a:ext>
              </a:extLst>
            </p:cNvPr>
            <p:cNvSpPr txBox="1"/>
            <p:nvPr/>
          </p:nvSpPr>
          <p:spPr>
            <a:xfrm>
              <a:off x="5915396" y="1501945"/>
              <a:ext cx="355600" cy="21170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5</a:t>
              </a:r>
              <a:endParaRPr lang="zh-TW" altLang="en-US" sz="1500" dirty="0">
                <a:latin typeface="微軟正黑體" panose="020B0604030504040204" pitchFamily="34" charset="-120"/>
                <a:ea typeface="微軟正黑體" panose="020B0604030504040204" pitchFamily="34" charset="-120"/>
              </a:endParaRPr>
            </a:p>
          </p:txBody>
        </p:sp>
      </p:grpSp>
      <p:sp>
        <p:nvSpPr>
          <p:cNvPr id="255" name="流程圖: 接點 51">
            <a:extLst>
              <a:ext uri="{FF2B5EF4-FFF2-40B4-BE49-F238E27FC236}">
                <a16:creationId xmlns:a16="http://schemas.microsoft.com/office/drawing/2014/main" xmlns="" id="{10FB8D8A-3FFE-6EBC-DE5E-86A028B056BA}"/>
              </a:ext>
            </a:extLst>
          </p:cNvPr>
          <p:cNvSpPr/>
          <p:nvPr/>
        </p:nvSpPr>
        <p:spPr bwMode="auto">
          <a:xfrm>
            <a:off x="7198661" y="7020864"/>
            <a:ext cx="380102" cy="390197"/>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b="1" dirty="0">
                <a:latin typeface="微軟正黑體" panose="020B0604030504040204" pitchFamily="34" charset="-120"/>
                <a:ea typeface="微軟正黑體" panose="020B0604030504040204" pitchFamily="34" charset="-120"/>
              </a:rPr>
              <a:t>A</a:t>
            </a:r>
            <a:endParaRPr lang="zh-TW" altLang="en-US" b="1" dirty="0">
              <a:latin typeface="微軟正黑體" panose="020B0604030504040204" pitchFamily="34" charset="-120"/>
              <a:ea typeface="微軟正黑體" panose="020B0604030504040204" pitchFamily="34" charset="-120"/>
            </a:endParaRPr>
          </a:p>
        </p:txBody>
      </p:sp>
      <p:sp>
        <p:nvSpPr>
          <p:cNvPr id="3" name="流程圖: 接點 51">
            <a:extLst>
              <a:ext uri="{FF2B5EF4-FFF2-40B4-BE49-F238E27FC236}">
                <a16:creationId xmlns:a16="http://schemas.microsoft.com/office/drawing/2014/main" xmlns="" id="{B983F568-C2D2-8BF3-2697-A407CAF7AB51}"/>
              </a:ext>
            </a:extLst>
          </p:cNvPr>
          <p:cNvSpPr/>
          <p:nvPr/>
        </p:nvSpPr>
        <p:spPr bwMode="auto">
          <a:xfrm>
            <a:off x="12842917" y="7853419"/>
            <a:ext cx="380102" cy="390197"/>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A</a:t>
            </a:r>
            <a:endParaRPr lang="zh-TW" altLang="en-US" dirty="0">
              <a:latin typeface="微軟正黑體" panose="020B0604030504040204" pitchFamily="34" charset="-120"/>
              <a:ea typeface="微軟正黑體" panose="020B0604030504040204" pitchFamily="34" charset="-120"/>
            </a:endParaRPr>
          </a:p>
        </p:txBody>
      </p:sp>
      <p:cxnSp>
        <p:nvCxnSpPr>
          <p:cNvPr id="59" name="Straight Connector 284">
            <a:extLst>
              <a:ext uri="{FF2B5EF4-FFF2-40B4-BE49-F238E27FC236}">
                <a16:creationId xmlns:a16="http://schemas.microsoft.com/office/drawing/2014/main" xmlns="" id="{CCB3D035-826A-6F8E-1D15-1A3E96F62413}"/>
              </a:ext>
            </a:extLst>
          </p:cNvPr>
          <p:cNvCxnSpPr>
            <a:cxnSpLocks/>
          </p:cNvCxnSpPr>
          <p:nvPr/>
        </p:nvCxnSpPr>
        <p:spPr>
          <a:xfrm>
            <a:off x="5863649" y="1340384"/>
            <a:ext cx="0" cy="881078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284">
            <a:extLst>
              <a:ext uri="{FF2B5EF4-FFF2-40B4-BE49-F238E27FC236}">
                <a16:creationId xmlns:a16="http://schemas.microsoft.com/office/drawing/2014/main" xmlns="" id="{CCB3D035-826A-6F8E-1D15-1A3E96F62413}"/>
              </a:ext>
            </a:extLst>
          </p:cNvPr>
          <p:cNvCxnSpPr>
            <a:cxnSpLocks/>
          </p:cNvCxnSpPr>
          <p:nvPr/>
        </p:nvCxnSpPr>
        <p:spPr>
          <a:xfrm>
            <a:off x="9599859" y="1352403"/>
            <a:ext cx="0" cy="87987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1" name="表格 30">
            <a:extLst>
              <a:ext uri="{FF2B5EF4-FFF2-40B4-BE49-F238E27FC236}">
                <a16:creationId xmlns:a16="http://schemas.microsoft.com/office/drawing/2014/main" xmlns="" id="{B46B8FA7-437E-6378-815F-BD7F85554DB2}"/>
              </a:ext>
            </a:extLst>
          </p:cNvPr>
          <p:cNvGraphicFramePr>
            <a:graphicFrameLocks noGrp="1"/>
          </p:cNvGraphicFramePr>
          <p:nvPr/>
        </p:nvGraphicFramePr>
        <p:xfrm>
          <a:off x="7647500" y="8490652"/>
          <a:ext cx="1797832" cy="1397740"/>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2510">
                <a:tc gridSpan="2">
                  <a:txBody>
                    <a:bodyPr/>
                    <a:lstStyle/>
                    <a:p>
                      <a:pPr algn="ctr"/>
                      <a:r>
                        <a:rPr lang="en-GB" sz="1400" b="1" dirty="0">
                          <a:solidFill>
                            <a:schemeClr val="tx1"/>
                          </a:solidFill>
                          <a:latin typeface="微軟正黑體" panose="020B0604030504040204" pitchFamily="34" charset="-120"/>
                          <a:ea typeface="微軟正黑體" panose="020B0604030504040204" pitchFamily="34" charset="-120"/>
                        </a:rPr>
                        <a:t>ZMM006</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748146">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更新</a:t>
                      </a:r>
                      <a:r>
                        <a:rPr kumimoji="0" lang="en-US" altLang="zh-TW" sz="1400" dirty="0">
                          <a:latin typeface="微軟正黑體" panose="020B0604030504040204" pitchFamily="34" charset="-120"/>
                          <a:ea typeface="微軟正黑體" panose="020B0604030504040204" pitchFamily="34" charset="-120"/>
                        </a:rPr>
                        <a:t>SAP </a:t>
                      </a:r>
                      <a:r>
                        <a:rPr kumimoji="0" lang="zh-TW" altLang="en-US" sz="1400" dirty="0">
                          <a:latin typeface="微軟正黑體" panose="020B0604030504040204" pitchFamily="34" charset="-120"/>
                          <a:ea typeface="微軟正黑體" panose="020B0604030504040204" pitchFamily="34" charset="-120"/>
                        </a:rPr>
                        <a:t>採購單，刪除標記</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06000">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自動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cxnSp>
        <p:nvCxnSpPr>
          <p:cNvPr id="16" name="肘形接點 68">
            <a:extLst>
              <a:ext uri="{FF2B5EF4-FFF2-40B4-BE49-F238E27FC236}">
                <a16:creationId xmlns:a16="http://schemas.microsoft.com/office/drawing/2014/main" xmlns="" id="{09C53CB7-1793-9E77-4F6C-9F50594C8C72}"/>
              </a:ext>
            </a:extLst>
          </p:cNvPr>
          <p:cNvCxnSpPr>
            <a:cxnSpLocks/>
            <a:stCxn id="47" idx="1"/>
            <a:endCxn id="11" idx="0"/>
          </p:cNvCxnSpPr>
          <p:nvPr/>
        </p:nvCxnSpPr>
        <p:spPr>
          <a:xfrm rot="10800000" flipV="1">
            <a:off x="8546416" y="7159304"/>
            <a:ext cx="1343426" cy="1331348"/>
          </a:xfrm>
          <a:prstGeom prst="bentConnector2">
            <a:avLst/>
          </a:prstGeom>
          <a:ln>
            <a:tailEnd type="triangle"/>
          </a:ln>
        </p:spPr>
        <p:style>
          <a:lnRef idx="1">
            <a:schemeClr val="dk1"/>
          </a:lnRef>
          <a:fillRef idx="0">
            <a:schemeClr val="dk1"/>
          </a:fillRef>
          <a:effectRef idx="0">
            <a:schemeClr val="dk1"/>
          </a:effectRef>
          <a:fontRef idx="minor">
            <a:schemeClr val="tx1"/>
          </a:fontRef>
        </p:style>
      </p:cxnSp>
      <p:grpSp>
        <p:nvGrpSpPr>
          <p:cNvPr id="22" name="Group 220">
            <a:extLst>
              <a:ext uri="{FF2B5EF4-FFF2-40B4-BE49-F238E27FC236}">
                <a16:creationId xmlns:a16="http://schemas.microsoft.com/office/drawing/2014/main" xmlns="" id="{5DAF5F32-1A6D-8CD3-B7CA-4109875A6785}"/>
              </a:ext>
            </a:extLst>
          </p:cNvPr>
          <p:cNvGrpSpPr/>
          <p:nvPr/>
        </p:nvGrpSpPr>
        <p:grpSpPr>
          <a:xfrm>
            <a:off x="9180204" y="8259766"/>
            <a:ext cx="546285" cy="408542"/>
            <a:chOff x="5906472" y="1486857"/>
            <a:chExt cx="364190" cy="272361"/>
          </a:xfrm>
        </p:grpSpPr>
        <p:sp>
          <p:nvSpPr>
            <p:cNvPr id="23" name="Oval 221">
              <a:extLst>
                <a:ext uri="{FF2B5EF4-FFF2-40B4-BE49-F238E27FC236}">
                  <a16:creationId xmlns:a16="http://schemas.microsoft.com/office/drawing/2014/main" xmlns="" id="{0A88AE4F-F335-D64C-2DB6-610BDDF76EC3}"/>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4" name="TextBox 222">
              <a:extLst>
                <a:ext uri="{FF2B5EF4-FFF2-40B4-BE49-F238E27FC236}">
                  <a16:creationId xmlns:a16="http://schemas.microsoft.com/office/drawing/2014/main" xmlns="" id="{551C0B92-A3CE-0806-7D0C-ADA6D7B8F0D7}"/>
                </a:ext>
              </a:extLst>
            </p:cNvPr>
            <p:cNvSpPr txBox="1"/>
            <p:nvPr/>
          </p:nvSpPr>
          <p:spPr>
            <a:xfrm>
              <a:off x="5915062" y="1507079"/>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7</a:t>
              </a:r>
              <a:endParaRPr lang="zh-TW" altLang="en-US" sz="1500" dirty="0">
                <a:latin typeface="微軟正黑體" panose="020B0604030504040204" pitchFamily="34" charset="-120"/>
                <a:ea typeface="微軟正黑體" panose="020B0604030504040204" pitchFamily="34" charset="-120"/>
              </a:endParaRPr>
            </a:p>
          </p:txBody>
        </p:sp>
      </p:grpSp>
      <p:sp>
        <p:nvSpPr>
          <p:cNvPr id="64" name="Google Shape;198;p3"/>
          <p:cNvSpPr txBox="1">
            <a:spLocks/>
          </p:cNvSpPr>
          <p:nvPr/>
        </p:nvSpPr>
        <p:spPr>
          <a:xfrm>
            <a:off x="15425530" y="500460"/>
            <a:ext cx="253546" cy="201905"/>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9pPr>
          </a:lstStyle>
          <a:p>
            <a:r>
              <a:rPr lang="en-US" sz="1500" dirty="0"/>
              <a:t>2</a:t>
            </a:r>
          </a:p>
        </p:txBody>
      </p:sp>
      <p:graphicFrame>
        <p:nvGraphicFramePr>
          <p:cNvPr id="70" name="表格 30">
            <a:extLst>
              <a:ext uri="{FF2B5EF4-FFF2-40B4-BE49-F238E27FC236}">
                <a16:creationId xmlns:a16="http://schemas.microsoft.com/office/drawing/2014/main" xmlns="" id="{94474DA2-C417-6AE7-95EE-50C9649AB985}"/>
              </a:ext>
            </a:extLst>
          </p:cNvPr>
          <p:cNvGraphicFramePr>
            <a:graphicFrameLocks noGrp="1"/>
          </p:cNvGraphicFramePr>
          <p:nvPr/>
        </p:nvGraphicFramePr>
        <p:xfrm>
          <a:off x="3185646" y="5208911"/>
          <a:ext cx="1797832" cy="987646"/>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0432">
                <a:tc gridSpan="2">
                  <a:txBody>
                    <a:bodyPr/>
                    <a:lstStyle/>
                    <a:p>
                      <a:pPr algn="ctr"/>
                      <a:r>
                        <a:rPr lang="en-GB" sz="1400" b="1" dirty="0">
                          <a:solidFill>
                            <a:schemeClr val="tx1"/>
                          </a:solidFill>
                          <a:latin typeface="微軟正黑體" panose="020B0604030504040204" pitchFamily="34" charset="-120"/>
                          <a:ea typeface="微軟正黑體" panose="020B0604030504040204" pitchFamily="34" charset="-120"/>
                        </a:rPr>
                        <a:t>ME58</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330432">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請購單轉採購單</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03921">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手動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pSp>
        <p:nvGrpSpPr>
          <p:cNvPr id="13" name="Group 220">
            <a:extLst>
              <a:ext uri="{FF2B5EF4-FFF2-40B4-BE49-F238E27FC236}">
                <a16:creationId xmlns:a16="http://schemas.microsoft.com/office/drawing/2014/main" xmlns="" id="{8F9100A8-C49B-4A69-8C8C-1F7583CA5532}"/>
              </a:ext>
            </a:extLst>
          </p:cNvPr>
          <p:cNvGrpSpPr/>
          <p:nvPr/>
        </p:nvGrpSpPr>
        <p:grpSpPr>
          <a:xfrm>
            <a:off x="4762576" y="4987373"/>
            <a:ext cx="548048" cy="415759"/>
            <a:chOff x="5906472" y="1486857"/>
            <a:chExt cx="365365" cy="272361"/>
          </a:xfrm>
        </p:grpSpPr>
        <p:sp>
          <p:nvSpPr>
            <p:cNvPr id="17" name="Oval 221">
              <a:extLst>
                <a:ext uri="{FF2B5EF4-FFF2-40B4-BE49-F238E27FC236}">
                  <a16:creationId xmlns:a16="http://schemas.microsoft.com/office/drawing/2014/main" xmlns="" id="{563A1C4E-D680-B5D1-5A89-9099D1F33AC2}"/>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18" name="TextBox 222">
              <a:extLst>
                <a:ext uri="{FF2B5EF4-FFF2-40B4-BE49-F238E27FC236}">
                  <a16:creationId xmlns:a16="http://schemas.microsoft.com/office/drawing/2014/main" xmlns="" id="{60D91B19-79E7-F88F-B376-D3C257050AE7}"/>
                </a:ext>
              </a:extLst>
            </p:cNvPr>
            <p:cNvSpPr txBox="1"/>
            <p:nvPr/>
          </p:nvSpPr>
          <p:spPr>
            <a:xfrm>
              <a:off x="5916237" y="1513063"/>
              <a:ext cx="355600" cy="21170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4</a:t>
              </a:r>
              <a:endParaRPr lang="zh-TW" altLang="en-US" sz="1500" dirty="0">
                <a:latin typeface="微軟正黑體" panose="020B0604030504040204" pitchFamily="34" charset="-120"/>
                <a:ea typeface="微軟正黑體" panose="020B0604030504040204" pitchFamily="34" charset="-120"/>
              </a:endParaRPr>
            </a:p>
          </p:txBody>
        </p:sp>
      </p:grpSp>
      <p:grpSp>
        <p:nvGrpSpPr>
          <p:cNvPr id="36" name="Group 220">
            <a:extLst>
              <a:ext uri="{FF2B5EF4-FFF2-40B4-BE49-F238E27FC236}">
                <a16:creationId xmlns:a16="http://schemas.microsoft.com/office/drawing/2014/main" xmlns="" id="{49B965EA-5488-20F5-FB4A-DE694754D613}"/>
              </a:ext>
            </a:extLst>
          </p:cNvPr>
          <p:cNvGrpSpPr/>
          <p:nvPr/>
        </p:nvGrpSpPr>
        <p:grpSpPr>
          <a:xfrm>
            <a:off x="4697327" y="3454529"/>
            <a:ext cx="547418" cy="408542"/>
            <a:chOff x="5906472" y="1486857"/>
            <a:chExt cx="364945" cy="272361"/>
          </a:xfrm>
        </p:grpSpPr>
        <p:sp>
          <p:nvSpPr>
            <p:cNvPr id="37" name="Oval 221">
              <a:extLst>
                <a:ext uri="{FF2B5EF4-FFF2-40B4-BE49-F238E27FC236}">
                  <a16:creationId xmlns:a16="http://schemas.microsoft.com/office/drawing/2014/main" xmlns="" id="{D7BB0CC3-1FCC-825A-8223-1DF8E8AA32F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38" name="TextBox 222">
              <a:extLst>
                <a:ext uri="{FF2B5EF4-FFF2-40B4-BE49-F238E27FC236}">
                  <a16:creationId xmlns:a16="http://schemas.microsoft.com/office/drawing/2014/main" xmlns="" id="{AA6B41EE-F383-4448-3FC3-5177F4E9C325}"/>
                </a:ext>
              </a:extLst>
            </p:cNvPr>
            <p:cNvSpPr txBox="1"/>
            <p:nvPr/>
          </p:nvSpPr>
          <p:spPr>
            <a:xfrm>
              <a:off x="5915817" y="1507079"/>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graphicFrame>
        <p:nvGraphicFramePr>
          <p:cNvPr id="73" name="表格 30">
            <a:extLst>
              <a:ext uri="{FF2B5EF4-FFF2-40B4-BE49-F238E27FC236}">
                <a16:creationId xmlns:a16="http://schemas.microsoft.com/office/drawing/2014/main" xmlns="" id="{94474DA2-C417-6AE7-95EE-50C9649AB985}"/>
              </a:ext>
            </a:extLst>
          </p:cNvPr>
          <p:cNvGraphicFramePr>
            <a:graphicFrameLocks noGrp="1"/>
          </p:cNvGraphicFramePr>
          <p:nvPr/>
        </p:nvGraphicFramePr>
        <p:xfrm>
          <a:off x="3192113" y="2013512"/>
          <a:ext cx="1797832" cy="1414366"/>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0432">
                <a:tc gridSpan="2">
                  <a:txBody>
                    <a:bodyPr/>
                    <a:lstStyle/>
                    <a:p>
                      <a:pPr algn="ctr"/>
                      <a:r>
                        <a:rPr lang="en-GB" sz="1400" b="1" dirty="0">
                          <a:solidFill>
                            <a:schemeClr val="tx1"/>
                          </a:solidFill>
                          <a:latin typeface="微軟正黑體" panose="020B0604030504040204" pitchFamily="34" charset="-120"/>
                          <a:ea typeface="微軟正黑體" panose="020B0604030504040204" pitchFamily="34" charset="-120"/>
                        </a:rPr>
                        <a:t>ME52N</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741912">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更新請購單</a:t>
                      </a:r>
                      <a:r>
                        <a:rPr kumimoji="0" lang="en-US" altLang="zh-TW" sz="1400" dirty="0">
                          <a:latin typeface="微軟正黑體" panose="020B0604030504040204" pitchFamily="34" charset="-120"/>
                          <a:ea typeface="微軟正黑體" panose="020B0604030504040204" pitchFamily="34" charset="-120"/>
                        </a:rPr>
                        <a:t>(</a:t>
                      </a:r>
                      <a:r>
                        <a:rPr kumimoji="0" lang="zh-TW" altLang="en-US" sz="1400" dirty="0">
                          <a:latin typeface="微軟正黑體" panose="020B0604030504040204" pitchFamily="34" charset="-120"/>
                          <a:ea typeface="微軟正黑體" panose="020B0604030504040204" pitchFamily="34" charset="-120"/>
                        </a:rPr>
                        <a:t>填寫新建立物料主檔編號</a:t>
                      </a:r>
                      <a:r>
                        <a:rPr kumimoji="0" lang="en-US" altLang="zh-TW" sz="1400" dirty="0">
                          <a:latin typeface="微軟正黑體" panose="020B0604030504040204" pitchFamily="34" charset="-120"/>
                          <a:ea typeface="微軟正黑體" panose="020B0604030504040204" pitchFamily="34" charset="-120"/>
                        </a:rPr>
                        <a:t>)</a:t>
                      </a:r>
                      <a:r>
                        <a:rPr kumimoji="0" lang="zh-TW" altLang="en-US" sz="1400" dirty="0">
                          <a:latin typeface="微軟正黑體" panose="020B0604030504040204" pitchFamily="34" charset="-120"/>
                          <a:ea typeface="微軟正黑體" panose="020B0604030504040204" pitchFamily="34" charset="-120"/>
                        </a:rPr>
                        <a:t>指派價格</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03921">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手動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pSp>
        <p:nvGrpSpPr>
          <p:cNvPr id="5" name="Group 220">
            <a:extLst>
              <a:ext uri="{FF2B5EF4-FFF2-40B4-BE49-F238E27FC236}">
                <a16:creationId xmlns:a16="http://schemas.microsoft.com/office/drawing/2014/main" xmlns="" id="{33DE9BA6-990E-DE54-C6C1-2FDFC3EF39E7}"/>
              </a:ext>
            </a:extLst>
          </p:cNvPr>
          <p:cNvGrpSpPr/>
          <p:nvPr/>
        </p:nvGrpSpPr>
        <p:grpSpPr>
          <a:xfrm>
            <a:off x="8037088" y="3418653"/>
            <a:ext cx="547418" cy="415762"/>
            <a:chOff x="5906472" y="1486857"/>
            <a:chExt cx="364945" cy="272361"/>
          </a:xfrm>
        </p:grpSpPr>
        <p:sp>
          <p:nvSpPr>
            <p:cNvPr id="9" name="Oval 221">
              <a:extLst>
                <a:ext uri="{FF2B5EF4-FFF2-40B4-BE49-F238E27FC236}">
                  <a16:creationId xmlns:a16="http://schemas.microsoft.com/office/drawing/2014/main" xmlns="" id="{F948E0C2-1964-7035-7990-D49AB0C97E5A}"/>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10" name="TextBox 222">
              <a:extLst>
                <a:ext uri="{FF2B5EF4-FFF2-40B4-BE49-F238E27FC236}">
                  <a16:creationId xmlns:a16="http://schemas.microsoft.com/office/drawing/2014/main" xmlns="" id="{C4D33436-02F5-686F-699E-8597EF0E4654}"/>
                </a:ext>
              </a:extLst>
            </p:cNvPr>
            <p:cNvSpPr txBox="1"/>
            <p:nvPr/>
          </p:nvSpPr>
          <p:spPr>
            <a:xfrm>
              <a:off x="5915817" y="1499266"/>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grpSp>
        <p:nvGrpSpPr>
          <p:cNvPr id="235" name="Group 220">
            <a:extLst>
              <a:ext uri="{FF2B5EF4-FFF2-40B4-BE49-F238E27FC236}">
                <a16:creationId xmlns:a16="http://schemas.microsoft.com/office/drawing/2014/main" xmlns="" id="{56A53D60-F177-B66D-1052-09F00D9EB829}"/>
              </a:ext>
            </a:extLst>
          </p:cNvPr>
          <p:cNvGrpSpPr/>
          <p:nvPr/>
        </p:nvGrpSpPr>
        <p:grpSpPr>
          <a:xfrm>
            <a:off x="11509401" y="5045027"/>
            <a:ext cx="546285" cy="408542"/>
            <a:chOff x="5906472" y="1486857"/>
            <a:chExt cx="364190" cy="272361"/>
          </a:xfrm>
        </p:grpSpPr>
        <p:sp>
          <p:nvSpPr>
            <p:cNvPr id="236" name="Oval 221">
              <a:extLst>
                <a:ext uri="{FF2B5EF4-FFF2-40B4-BE49-F238E27FC236}">
                  <a16:creationId xmlns:a16="http://schemas.microsoft.com/office/drawing/2014/main" xmlns="" id="{1026EB19-175E-BAE9-2573-E214F8CC61B8}"/>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37" name="TextBox 222">
              <a:extLst>
                <a:ext uri="{FF2B5EF4-FFF2-40B4-BE49-F238E27FC236}">
                  <a16:creationId xmlns:a16="http://schemas.microsoft.com/office/drawing/2014/main" xmlns="" id="{58D156B1-9578-40C0-E02B-A11714005BD3}"/>
                </a:ext>
              </a:extLst>
            </p:cNvPr>
            <p:cNvSpPr txBox="1"/>
            <p:nvPr/>
          </p:nvSpPr>
          <p:spPr>
            <a:xfrm>
              <a:off x="5915062" y="1507079"/>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6</a:t>
              </a:r>
              <a:endParaRPr lang="zh-TW" altLang="en-US" sz="1500" dirty="0">
                <a:latin typeface="微軟正黑體" panose="020B0604030504040204" pitchFamily="34" charset="-120"/>
                <a:ea typeface="微軟正黑體" panose="020B0604030504040204" pitchFamily="34" charset="-120"/>
              </a:endParaRPr>
            </a:p>
          </p:txBody>
        </p:sp>
      </p:grpSp>
      <p:cxnSp>
        <p:nvCxnSpPr>
          <p:cNvPr id="21" name="直線單箭頭接點 20"/>
          <p:cNvCxnSpPr>
            <a:stCxn id="73" idx="2"/>
            <a:endCxn id="30" idx="0"/>
          </p:cNvCxnSpPr>
          <p:nvPr/>
        </p:nvCxnSpPr>
        <p:spPr>
          <a:xfrm>
            <a:off x="4091029" y="3427878"/>
            <a:ext cx="0" cy="23092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4" name="直線單箭頭接點 73"/>
          <p:cNvCxnSpPr>
            <a:cxnSpLocks/>
            <a:stCxn id="35" idx="1"/>
            <a:endCxn id="70" idx="3"/>
          </p:cNvCxnSpPr>
          <p:nvPr/>
        </p:nvCxnSpPr>
        <p:spPr>
          <a:xfrm flipH="1">
            <a:off x="4983478" y="5701002"/>
            <a:ext cx="1485370" cy="17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31" name="Group 220">
            <a:extLst>
              <a:ext uri="{FF2B5EF4-FFF2-40B4-BE49-F238E27FC236}">
                <a16:creationId xmlns:a16="http://schemas.microsoft.com/office/drawing/2014/main" xmlns="" id="{A9B401BC-DE49-5FC0-6565-D216316A23DA}"/>
              </a:ext>
            </a:extLst>
          </p:cNvPr>
          <p:cNvGrpSpPr/>
          <p:nvPr/>
        </p:nvGrpSpPr>
        <p:grpSpPr>
          <a:xfrm>
            <a:off x="4765297" y="1807855"/>
            <a:ext cx="560606" cy="408542"/>
            <a:chOff x="5906472" y="1486857"/>
            <a:chExt cx="373737" cy="272361"/>
          </a:xfrm>
        </p:grpSpPr>
        <p:sp>
          <p:nvSpPr>
            <p:cNvPr id="32" name="Oval 221">
              <a:extLst>
                <a:ext uri="{FF2B5EF4-FFF2-40B4-BE49-F238E27FC236}">
                  <a16:creationId xmlns:a16="http://schemas.microsoft.com/office/drawing/2014/main" xmlns="" id="{DEBB780E-65E5-AB48-7071-2CDA63191644}"/>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latin typeface="微軟正黑體" panose="020B0604030504040204" pitchFamily="34" charset="-120"/>
                <a:ea typeface="微軟正黑體" panose="020B0604030504040204" pitchFamily="34" charset="-120"/>
              </a:endParaRPr>
            </a:p>
          </p:txBody>
        </p:sp>
        <p:sp>
          <p:nvSpPr>
            <p:cNvPr id="33" name="TextBox 222">
              <a:extLst>
                <a:ext uri="{FF2B5EF4-FFF2-40B4-BE49-F238E27FC236}">
                  <a16:creationId xmlns:a16="http://schemas.microsoft.com/office/drawing/2014/main" xmlns="" id="{38213EC1-2A6F-CC6F-9F41-D87C1E84A2C8}"/>
                </a:ext>
              </a:extLst>
            </p:cNvPr>
            <p:cNvSpPr txBox="1"/>
            <p:nvPr/>
          </p:nvSpPr>
          <p:spPr>
            <a:xfrm>
              <a:off x="5924609" y="1499128"/>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cxnSp>
        <p:nvCxnSpPr>
          <p:cNvPr id="77" name="直線單箭頭接點 76"/>
          <p:cNvCxnSpPr>
            <a:stCxn id="35" idx="2"/>
            <a:endCxn id="255" idx="0"/>
          </p:cNvCxnSpPr>
          <p:nvPr/>
        </p:nvCxnSpPr>
        <p:spPr>
          <a:xfrm flipH="1">
            <a:off x="7388712" y="6057102"/>
            <a:ext cx="1111" cy="9637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直線單箭頭接點 25">
            <a:extLst>
              <a:ext uri="{FF2B5EF4-FFF2-40B4-BE49-F238E27FC236}">
                <a16:creationId xmlns:a16="http://schemas.microsoft.com/office/drawing/2014/main" xmlns="" id="{1C9ABF07-3C76-8E96-17EE-E3EC4EB99B46}"/>
              </a:ext>
            </a:extLst>
          </p:cNvPr>
          <p:cNvCxnSpPr>
            <a:cxnSpLocks/>
            <a:stCxn id="30" idx="3"/>
            <a:endCxn id="15" idx="1"/>
          </p:cNvCxnSpPr>
          <p:nvPr/>
        </p:nvCxnSpPr>
        <p:spPr>
          <a:xfrm flipV="1">
            <a:off x="4989945" y="4298430"/>
            <a:ext cx="1498505" cy="524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直線單箭頭接點 33">
            <a:extLst>
              <a:ext uri="{FF2B5EF4-FFF2-40B4-BE49-F238E27FC236}">
                <a16:creationId xmlns:a16="http://schemas.microsoft.com/office/drawing/2014/main" xmlns="" id="{7ED3A7C3-FF2B-F7E3-B6F5-8D40E7E3F35E}"/>
              </a:ext>
            </a:extLst>
          </p:cNvPr>
          <p:cNvCxnSpPr>
            <a:cxnSpLocks/>
            <a:stCxn id="12" idx="3"/>
            <a:endCxn id="73" idx="1"/>
          </p:cNvCxnSpPr>
          <p:nvPr/>
        </p:nvCxnSpPr>
        <p:spPr>
          <a:xfrm>
            <a:off x="1537042" y="2716223"/>
            <a:ext cx="1655071" cy="44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3" name="直線單箭頭接點 42">
            <a:extLst>
              <a:ext uri="{FF2B5EF4-FFF2-40B4-BE49-F238E27FC236}">
                <a16:creationId xmlns:a16="http://schemas.microsoft.com/office/drawing/2014/main" xmlns="" id="{E16A7F3B-8D18-B00B-478D-83EAFE3B3B7A}"/>
              </a:ext>
            </a:extLst>
          </p:cNvPr>
          <p:cNvCxnSpPr>
            <a:cxnSpLocks/>
            <a:stCxn id="3" idx="4"/>
            <a:endCxn id="25" idx="0"/>
          </p:cNvCxnSpPr>
          <p:nvPr/>
        </p:nvCxnSpPr>
        <p:spPr>
          <a:xfrm>
            <a:off x="13032968" y="8243616"/>
            <a:ext cx="8145" cy="55565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6" name="直線單箭頭接點 45">
            <a:extLst>
              <a:ext uri="{FF2B5EF4-FFF2-40B4-BE49-F238E27FC236}">
                <a16:creationId xmlns:a16="http://schemas.microsoft.com/office/drawing/2014/main" xmlns="" id="{FA12BA42-DC64-297E-BA70-890244FD17E0}"/>
              </a:ext>
            </a:extLst>
          </p:cNvPr>
          <p:cNvCxnSpPr>
            <a:cxnSpLocks/>
            <a:stCxn id="238" idx="2"/>
            <a:endCxn id="47" idx="0"/>
          </p:cNvCxnSpPr>
          <p:nvPr/>
        </p:nvCxnSpPr>
        <p:spPr>
          <a:xfrm flipH="1">
            <a:off x="10810817" y="6396325"/>
            <a:ext cx="2343" cy="40687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2" name="直線單箭頭接點 51">
            <a:extLst>
              <a:ext uri="{FF2B5EF4-FFF2-40B4-BE49-F238E27FC236}">
                <a16:creationId xmlns:a16="http://schemas.microsoft.com/office/drawing/2014/main" xmlns="" id="{0E6CA6A2-EA5C-A354-9702-424E4CC95FD8}"/>
              </a:ext>
            </a:extLst>
          </p:cNvPr>
          <p:cNvCxnSpPr>
            <a:cxnSpLocks/>
            <a:stCxn id="47" idx="3"/>
            <a:endCxn id="193" idx="1"/>
          </p:cNvCxnSpPr>
          <p:nvPr/>
        </p:nvCxnSpPr>
        <p:spPr>
          <a:xfrm>
            <a:off x="11731791" y="7159304"/>
            <a:ext cx="884600" cy="556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3" name="直線單箭頭接點 62">
            <a:extLst>
              <a:ext uri="{FF2B5EF4-FFF2-40B4-BE49-F238E27FC236}">
                <a16:creationId xmlns:a16="http://schemas.microsoft.com/office/drawing/2014/main" xmlns="" id="{556AAFB0-9B63-36AB-5BD3-325629C5FFCE}"/>
              </a:ext>
            </a:extLst>
          </p:cNvPr>
          <p:cNvCxnSpPr>
            <a:cxnSpLocks/>
            <a:stCxn id="70" idx="2"/>
            <a:endCxn id="240" idx="0"/>
          </p:cNvCxnSpPr>
          <p:nvPr/>
        </p:nvCxnSpPr>
        <p:spPr>
          <a:xfrm flipH="1">
            <a:off x="4083527" y="6196557"/>
            <a:ext cx="1035" cy="14097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 name="流程圖: 換頁接點 52">
            <a:extLst>
              <a:ext uri="{FF2B5EF4-FFF2-40B4-BE49-F238E27FC236}">
                <a16:creationId xmlns:a16="http://schemas.microsoft.com/office/drawing/2014/main" xmlns="" id="{31586811-AAE7-1F9F-8E2A-3B545019A6D7}"/>
              </a:ext>
            </a:extLst>
          </p:cNvPr>
          <p:cNvSpPr/>
          <p:nvPr/>
        </p:nvSpPr>
        <p:spPr bwMode="auto">
          <a:xfrm>
            <a:off x="893622" y="7949888"/>
            <a:ext cx="560627" cy="467303"/>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P3</a:t>
            </a:r>
            <a:endParaRPr lang="zh-TW" altLang="en-US" dirty="0">
              <a:latin typeface="微軟正黑體" panose="020B0604030504040204" pitchFamily="34" charset="-120"/>
              <a:ea typeface="微軟正黑體" panose="020B0604030504040204" pitchFamily="34" charset="-120"/>
            </a:endParaRPr>
          </a:p>
        </p:txBody>
      </p:sp>
      <p:cxnSp>
        <p:nvCxnSpPr>
          <p:cNvPr id="7" name="直線單箭頭接點 6">
            <a:extLst>
              <a:ext uri="{FF2B5EF4-FFF2-40B4-BE49-F238E27FC236}">
                <a16:creationId xmlns:a16="http://schemas.microsoft.com/office/drawing/2014/main" xmlns="" id="{9E6F10CD-D85D-86B2-252B-9A3B5800CCEF}"/>
              </a:ext>
            </a:extLst>
          </p:cNvPr>
          <p:cNvCxnSpPr>
            <a:cxnSpLocks/>
            <a:stCxn id="6" idx="3"/>
            <a:endCxn id="240" idx="1"/>
          </p:cNvCxnSpPr>
          <p:nvPr/>
        </p:nvCxnSpPr>
        <p:spPr>
          <a:xfrm>
            <a:off x="1454249" y="8183540"/>
            <a:ext cx="1695171" cy="149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0108047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1" name="流程圖: 文件 42">
            <a:extLst>
              <a:ext uri="{FF2B5EF4-FFF2-40B4-BE49-F238E27FC236}">
                <a16:creationId xmlns:a16="http://schemas.microsoft.com/office/drawing/2014/main" xmlns="" id="{580160BC-29D0-9D19-BFCE-78B7FC429FBC}"/>
              </a:ext>
            </a:extLst>
          </p:cNvPr>
          <p:cNvSpPr/>
          <p:nvPr/>
        </p:nvSpPr>
        <p:spPr bwMode="auto">
          <a:xfrm>
            <a:off x="3886440" y="5536569"/>
            <a:ext cx="1086981" cy="534714"/>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採購單</a:t>
            </a:r>
          </a:p>
        </p:txBody>
      </p:sp>
      <p:sp>
        <p:nvSpPr>
          <p:cNvPr id="4" name="文字方塊 3">
            <a:extLst>
              <a:ext uri="{FF2B5EF4-FFF2-40B4-BE49-F238E27FC236}">
                <a16:creationId xmlns:a16="http://schemas.microsoft.com/office/drawing/2014/main" xmlns="" id="{83E6F622-2FBE-CC67-50FE-4ABD7D8B9696}"/>
              </a:ext>
            </a:extLst>
          </p:cNvPr>
          <p:cNvSpPr txBox="1"/>
          <p:nvPr/>
        </p:nvSpPr>
        <p:spPr>
          <a:xfrm>
            <a:off x="2444080" y="794373"/>
            <a:ext cx="8450034" cy="461665"/>
          </a:xfrm>
          <a:prstGeom prst="rect">
            <a:avLst/>
          </a:prstGeom>
          <a:noFill/>
        </p:spPr>
        <p:txBody>
          <a:bodyPr wrap="square">
            <a:spAutoFit/>
          </a:bodyPr>
          <a:lstStyle/>
          <a:p>
            <a:pPr eaLnBrk="0" hangingPunct="0"/>
            <a:r>
              <a:rPr lang="en-US" altLang="zh-TW" sz="2400" b="1" dirty="0">
                <a:latin typeface="微軟正黑體" panose="020B0604030504040204" pitchFamily="34" charset="-120"/>
                <a:ea typeface="微軟正黑體" panose="020B0604030504040204" pitchFamily="34" charset="-120"/>
              </a:rPr>
              <a:t>MM-PU-0090-01 </a:t>
            </a:r>
            <a:r>
              <a:rPr lang="zh-TW" altLang="en-US" sz="2400" b="1" dirty="0">
                <a:latin typeface="微軟正黑體" panose="020B0604030504040204" pitchFamily="34" charset="-120"/>
                <a:ea typeface="微軟正黑體" panose="020B0604030504040204" pitchFamily="34" charset="-120"/>
              </a:rPr>
              <a:t>固定資產請採驗流程 </a:t>
            </a:r>
            <a:r>
              <a:rPr lang="en-US" altLang="zh-TW" sz="2400" b="1" dirty="0">
                <a:latin typeface="微軟正黑體" panose="020B0604030504040204" pitchFamily="34" charset="-120"/>
                <a:ea typeface="微軟正黑體" panose="020B0604030504040204" pitchFamily="34" charset="-120"/>
              </a:rPr>
              <a:t>(</a:t>
            </a:r>
            <a:r>
              <a:rPr lang="zh-TW" altLang="en-US" sz="2400" b="1" dirty="0">
                <a:latin typeface="微軟正黑體" panose="020B0604030504040204" pitchFamily="34" charset="-120"/>
                <a:ea typeface="微軟正黑體" panose="020B0604030504040204" pitchFamily="34" charset="-120"/>
              </a:rPr>
              <a:t>機器設備</a:t>
            </a:r>
            <a:r>
              <a:rPr lang="en-US" altLang="zh-TW" sz="2400" b="1" dirty="0">
                <a:latin typeface="微軟正黑體" panose="020B0604030504040204" pitchFamily="34" charset="-120"/>
                <a:ea typeface="微軟正黑體" panose="020B0604030504040204" pitchFamily="34" charset="-120"/>
              </a:rPr>
              <a:t>)</a:t>
            </a:r>
            <a:endParaRPr lang="zh-TW" altLang="en-US" sz="2400" b="1" dirty="0">
              <a:latin typeface="微軟正黑體" panose="020B0604030504040204" pitchFamily="34" charset="-120"/>
              <a:ea typeface="微軟正黑體" panose="020B0604030504040204" pitchFamily="34" charset="-120"/>
            </a:endParaRPr>
          </a:p>
        </p:txBody>
      </p:sp>
      <p:sp>
        <p:nvSpPr>
          <p:cNvPr id="14" name="文字方塊 17">
            <a:extLst>
              <a:ext uri="{FF2B5EF4-FFF2-40B4-BE49-F238E27FC236}">
                <a16:creationId xmlns:a16="http://schemas.microsoft.com/office/drawing/2014/main" xmlns="" id="{E114DEFF-4464-1230-5102-DAAA05109B8A}"/>
              </a:ext>
            </a:extLst>
          </p:cNvPr>
          <p:cNvSpPr txBox="1"/>
          <p:nvPr/>
        </p:nvSpPr>
        <p:spPr>
          <a:xfrm>
            <a:off x="2493949" y="1364937"/>
            <a:ext cx="3904233"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採購</a:t>
            </a:r>
          </a:p>
        </p:txBody>
      </p:sp>
      <p:sp>
        <p:nvSpPr>
          <p:cNvPr id="25" name="流程圖: 結束點 8">
            <a:extLst>
              <a:ext uri="{FF2B5EF4-FFF2-40B4-BE49-F238E27FC236}">
                <a16:creationId xmlns:a16="http://schemas.microsoft.com/office/drawing/2014/main" xmlns="" id="{1FB9514E-6261-C7AC-D58E-6A5F2E6F81FD}"/>
              </a:ext>
            </a:extLst>
          </p:cNvPr>
          <p:cNvSpPr/>
          <p:nvPr/>
        </p:nvSpPr>
        <p:spPr bwMode="auto">
          <a:xfrm>
            <a:off x="12142197" y="8718588"/>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graphicFrame>
        <p:nvGraphicFramePr>
          <p:cNvPr id="30" name="表格 30">
            <a:extLst>
              <a:ext uri="{FF2B5EF4-FFF2-40B4-BE49-F238E27FC236}">
                <a16:creationId xmlns:a16="http://schemas.microsoft.com/office/drawing/2014/main" xmlns="" id="{18197701-0564-3E2B-648E-413A6C8BBE0A}"/>
              </a:ext>
            </a:extLst>
          </p:cNvPr>
          <p:cNvGraphicFramePr>
            <a:graphicFrameLocks noGrp="1"/>
          </p:cNvGraphicFramePr>
          <p:nvPr>
            <p:extLst>
              <p:ext uri="{D42A27DB-BD31-4B8C-83A1-F6EECF244321}">
                <p14:modId xmlns:p14="http://schemas.microsoft.com/office/powerpoint/2010/main" val="3850348209"/>
              </p:ext>
            </p:extLst>
          </p:nvPr>
        </p:nvGraphicFramePr>
        <p:xfrm>
          <a:off x="2760269" y="2076474"/>
          <a:ext cx="1797832" cy="1090108"/>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2510">
                <a:tc gridSpan="2">
                  <a:txBody>
                    <a:bodyPr/>
                    <a:lstStyle/>
                    <a:p>
                      <a:pPr algn="ctr"/>
                      <a:r>
                        <a:rPr lang="en-GB" sz="1400" b="1" dirty="0">
                          <a:solidFill>
                            <a:schemeClr val="tx1"/>
                          </a:solidFill>
                          <a:latin typeface="微軟正黑體" panose="020B0604030504040204" pitchFamily="34" charset="-120"/>
                          <a:ea typeface="微軟正黑體" panose="020B0604030504040204" pitchFamily="34" charset="-120"/>
                        </a:rPr>
                        <a:t>ZMM006</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440514">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核發</a:t>
                      </a:r>
                      <a:r>
                        <a:rPr kumimoji="0" lang="en-US" altLang="zh-TW" sz="1400" dirty="0">
                          <a:latin typeface="微軟正黑體" panose="020B0604030504040204" pitchFamily="34" charset="-120"/>
                          <a:ea typeface="微軟正黑體" panose="020B0604030504040204" pitchFamily="34" charset="-120"/>
                        </a:rPr>
                        <a:t>SAP </a:t>
                      </a:r>
                      <a:r>
                        <a:rPr kumimoji="0" lang="zh-TW" altLang="en-US" sz="1400" dirty="0">
                          <a:latin typeface="微軟正黑體" panose="020B0604030504040204" pitchFamily="34" charset="-120"/>
                          <a:ea typeface="微軟正黑體" panose="020B0604030504040204" pitchFamily="34" charset="-120"/>
                        </a:rPr>
                        <a:t>採購單</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06000">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自動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pSp>
        <p:nvGrpSpPr>
          <p:cNvPr id="31" name="Group 220">
            <a:extLst>
              <a:ext uri="{FF2B5EF4-FFF2-40B4-BE49-F238E27FC236}">
                <a16:creationId xmlns:a16="http://schemas.microsoft.com/office/drawing/2014/main" xmlns="" id="{A9B401BC-DE49-5FC0-6565-D216316A23DA}"/>
              </a:ext>
            </a:extLst>
          </p:cNvPr>
          <p:cNvGrpSpPr/>
          <p:nvPr/>
        </p:nvGrpSpPr>
        <p:grpSpPr>
          <a:xfrm>
            <a:off x="4339263" y="1842482"/>
            <a:ext cx="559344" cy="408542"/>
            <a:chOff x="5906472" y="1486857"/>
            <a:chExt cx="372896" cy="272361"/>
          </a:xfrm>
        </p:grpSpPr>
        <p:sp>
          <p:nvSpPr>
            <p:cNvPr id="32" name="Oval 221">
              <a:extLst>
                <a:ext uri="{FF2B5EF4-FFF2-40B4-BE49-F238E27FC236}">
                  <a16:creationId xmlns:a16="http://schemas.microsoft.com/office/drawing/2014/main" xmlns="" id="{DEBB780E-65E5-AB48-7071-2CDA63191644}"/>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latin typeface="微軟正黑體" panose="020B0604030504040204" pitchFamily="34" charset="-120"/>
                <a:ea typeface="微軟正黑體" panose="020B0604030504040204" pitchFamily="34" charset="-120"/>
              </a:endParaRPr>
            </a:p>
          </p:txBody>
        </p:sp>
        <p:sp>
          <p:nvSpPr>
            <p:cNvPr id="33" name="TextBox 222">
              <a:extLst>
                <a:ext uri="{FF2B5EF4-FFF2-40B4-BE49-F238E27FC236}">
                  <a16:creationId xmlns:a16="http://schemas.microsoft.com/office/drawing/2014/main" xmlns="" id="{38213EC1-2A6F-CC6F-9F41-D87C1E84A2C8}"/>
                </a:ext>
              </a:extLst>
            </p:cNvPr>
            <p:cNvSpPr txBox="1"/>
            <p:nvPr/>
          </p:nvSpPr>
          <p:spPr>
            <a:xfrm>
              <a:off x="5923768" y="1507079"/>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cxnSp>
        <p:nvCxnSpPr>
          <p:cNvPr id="49" name="肘形接點 68">
            <a:extLst>
              <a:ext uri="{FF2B5EF4-FFF2-40B4-BE49-F238E27FC236}">
                <a16:creationId xmlns:a16="http://schemas.microsoft.com/office/drawing/2014/main" xmlns="" id="{8DD1663D-3235-8D1E-F1BD-80C90EB0F8CB}"/>
              </a:ext>
            </a:extLst>
          </p:cNvPr>
          <p:cNvCxnSpPr>
            <a:cxnSpLocks/>
            <a:stCxn id="85" idx="3"/>
            <a:endCxn id="25" idx="1"/>
          </p:cNvCxnSpPr>
          <p:nvPr/>
        </p:nvCxnSpPr>
        <p:spPr>
          <a:xfrm>
            <a:off x="8963807" y="9102828"/>
            <a:ext cx="3178390" cy="6982"/>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19" name="表格 30">
            <a:extLst>
              <a:ext uri="{FF2B5EF4-FFF2-40B4-BE49-F238E27FC236}">
                <a16:creationId xmlns:a16="http://schemas.microsoft.com/office/drawing/2014/main" xmlns="" id="{323DEA68-B2E9-C177-AF6C-305B02CA9243}"/>
              </a:ext>
            </a:extLst>
          </p:cNvPr>
          <p:cNvGraphicFramePr>
            <a:graphicFrameLocks noGrp="1"/>
          </p:cNvGraphicFramePr>
          <p:nvPr>
            <p:extLst>
              <p:ext uri="{D42A27DB-BD31-4B8C-83A1-F6EECF244321}">
                <p14:modId xmlns:p14="http://schemas.microsoft.com/office/powerpoint/2010/main" val="2020052596"/>
              </p:ext>
            </p:extLst>
          </p:nvPr>
        </p:nvGraphicFramePr>
        <p:xfrm>
          <a:off x="2760269" y="4404590"/>
          <a:ext cx="1797832" cy="1184439"/>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GB" altLang="zh-TW" sz="1500" b="1" dirty="0">
                        <a:solidFill>
                          <a:schemeClr val="tx1"/>
                        </a:solidFill>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11239">
                <a:tc gridSpan="2">
                  <a:txBody>
                    <a:bodyPr/>
                    <a:lstStyle/>
                    <a:p>
                      <a:pPr algn="ctr"/>
                      <a:r>
                        <a:rPr lang="zh-TW" altLang="en-US" sz="1500" dirty="0">
                          <a:latin typeface="微軟正黑體" panose="020B0604030504040204" pitchFamily="34" charset="-120"/>
                          <a:ea typeface="微軟正黑體" panose="020B0604030504040204" pitchFamily="34" charset="-120"/>
                        </a:rPr>
                        <a:t>列印採購單</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sz="1500" dirty="0">
                          <a:latin typeface="微軟正黑體" panose="020B0604030504040204" pitchFamily="34" charset="-120"/>
                          <a:ea typeface="微軟正黑體" panose="020B0604030504040204" pitchFamily="34" charset="-120"/>
                        </a:rPr>
                        <a:t>BPM</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自動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cxnSp>
        <p:nvCxnSpPr>
          <p:cNvPr id="27" name="肘形接點 68">
            <a:extLst>
              <a:ext uri="{FF2B5EF4-FFF2-40B4-BE49-F238E27FC236}">
                <a16:creationId xmlns:a16="http://schemas.microsoft.com/office/drawing/2014/main" xmlns="" id="{4D315B82-E1CA-313C-D4BB-3BBD9FD7F973}"/>
              </a:ext>
            </a:extLst>
          </p:cNvPr>
          <p:cNvCxnSpPr>
            <a:cxnSpLocks/>
            <a:stCxn id="91" idx="3"/>
            <a:endCxn id="102" idx="0"/>
          </p:cNvCxnSpPr>
          <p:nvPr/>
        </p:nvCxnSpPr>
        <p:spPr>
          <a:xfrm>
            <a:off x="8838622" y="4045556"/>
            <a:ext cx="1739823" cy="454113"/>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35" name="流程圖: 決策 50">
            <a:extLst>
              <a:ext uri="{FF2B5EF4-FFF2-40B4-BE49-F238E27FC236}">
                <a16:creationId xmlns:a16="http://schemas.microsoft.com/office/drawing/2014/main" xmlns="" id="{8037CA89-DBE3-1441-8E4C-7EA04E993D61}"/>
              </a:ext>
            </a:extLst>
          </p:cNvPr>
          <p:cNvSpPr/>
          <p:nvPr/>
        </p:nvSpPr>
        <p:spPr bwMode="auto">
          <a:xfrm>
            <a:off x="9692051" y="6227915"/>
            <a:ext cx="1841949" cy="588972"/>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符合要求</a:t>
            </a:r>
          </a:p>
        </p:txBody>
      </p:sp>
      <p:cxnSp>
        <p:nvCxnSpPr>
          <p:cNvPr id="51" name="肘形接點 68">
            <a:extLst>
              <a:ext uri="{FF2B5EF4-FFF2-40B4-BE49-F238E27FC236}">
                <a16:creationId xmlns:a16="http://schemas.microsoft.com/office/drawing/2014/main" xmlns="" id="{2AA47122-2BF1-7633-656B-9B6710026CD9}"/>
              </a:ext>
            </a:extLst>
          </p:cNvPr>
          <p:cNvCxnSpPr>
            <a:cxnSpLocks/>
            <a:stCxn id="35" idx="2"/>
            <a:endCxn id="84" idx="0"/>
          </p:cNvCxnSpPr>
          <p:nvPr/>
        </p:nvCxnSpPr>
        <p:spPr>
          <a:xfrm rot="5400000">
            <a:off x="8496358" y="6378937"/>
            <a:ext cx="1678718" cy="2554619"/>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55" name="文字方塊 54">
            <a:extLst>
              <a:ext uri="{FF2B5EF4-FFF2-40B4-BE49-F238E27FC236}">
                <a16:creationId xmlns:a16="http://schemas.microsoft.com/office/drawing/2014/main" xmlns="" id="{B106DB5A-3C2B-C42B-E706-9F53E0CA364F}"/>
              </a:ext>
            </a:extLst>
          </p:cNvPr>
          <p:cNvSpPr txBox="1"/>
          <p:nvPr/>
        </p:nvSpPr>
        <p:spPr>
          <a:xfrm>
            <a:off x="11433071" y="6121311"/>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zh-TW" altLang="en-US" sz="1350" dirty="0"/>
          </a:p>
        </p:txBody>
      </p:sp>
      <p:sp>
        <p:nvSpPr>
          <p:cNvPr id="56" name="文字方塊 55">
            <a:extLst>
              <a:ext uri="{FF2B5EF4-FFF2-40B4-BE49-F238E27FC236}">
                <a16:creationId xmlns:a16="http://schemas.microsoft.com/office/drawing/2014/main" xmlns="" id="{7BDD8B3B-9FC5-B431-B92A-CADEB291222C}"/>
              </a:ext>
            </a:extLst>
          </p:cNvPr>
          <p:cNvSpPr txBox="1"/>
          <p:nvPr/>
        </p:nvSpPr>
        <p:spPr>
          <a:xfrm>
            <a:off x="10703081" y="6922916"/>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否</a:t>
            </a:r>
            <a:endParaRPr lang="zh-TW" altLang="en-US" sz="1350" dirty="0"/>
          </a:p>
        </p:txBody>
      </p:sp>
      <p:sp>
        <p:nvSpPr>
          <p:cNvPr id="210" name="文字方塊 17">
            <a:extLst>
              <a:ext uri="{FF2B5EF4-FFF2-40B4-BE49-F238E27FC236}">
                <a16:creationId xmlns:a16="http://schemas.microsoft.com/office/drawing/2014/main" xmlns="" id="{306A0461-FB0A-6B8E-26F4-F4121B822258}"/>
              </a:ext>
            </a:extLst>
          </p:cNvPr>
          <p:cNvSpPr txBox="1"/>
          <p:nvPr/>
        </p:nvSpPr>
        <p:spPr>
          <a:xfrm>
            <a:off x="9695286" y="1380203"/>
            <a:ext cx="2194531"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申請單位</a:t>
            </a:r>
          </a:p>
        </p:txBody>
      </p:sp>
      <p:cxnSp>
        <p:nvCxnSpPr>
          <p:cNvPr id="217" name="肘形接點 68">
            <a:extLst>
              <a:ext uri="{FF2B5EF4-FFF2-40B4-BE49-F238E27FC236}">
                <a16:creationId xmlns:a16="http://schemas.microsoft.com/office/drawing/2014/main" xmlns="" id="{3C63507D-83FD-0025-3EF4-B6F87A20780B}"/>
              </a:ext>
            </a:extLst>
          </p:cNvPr>
          <p:cNvCxnSpPr>
            <a:cxnSpLocks/>
            <a:stCxn id="35" idx="3"/>
            <a:endCxn id="78" idx="1"/>
          </p:cNvCxnSpPr>
          <p:nvPr/>
        </p:nvCxnSpPr>
        <p:spPr>
          <a:xfrm flipV="1">
            <a:off x="11534000" y="6517244"/>
            <a:ext cx="642649" cy="515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61" name="TextBox 53">
            <a:extLst>
              <a:ext uri="{FF2B5EF4-FFF2-40B4-BE49-F238E27FC236}">
                <a16:creationId xmlns:a16="http://schemas.microsoft.com/office/drawing/2014/main" xmlns="" id="{2DE69ECC-E293-FAA8-6082-E6D2F887DBFF}"/>
              </a:ext>
            </a:extLst>
          </p:cNvPr>
          <p:cNvSpPr txBox="1"/>
          <p:nvPr/>
        </p:nvSpPr>
        <p:spPr>
          <a:xfrm>
            <a:off x="14380627" y="2064631"/>
            <a:ext cx="3594197" cy="369332"/>
          </a:xfrm>
          <a:prstGeom prst="rect">
            <a:avLst/>
          </a:prstGeom>
          <a:noFill/>
        </p:spPr>
        <p:txBody>
          <a:bodyPr wrap="square" rtlCol="0">
            <a:spAutoFit/>
          </a:bodyPr>
          <a:lstStyle/>
          <a:p>
            <a:endParaRPr lang="zh-TW" altLang="en-US" dirty="0"/>
          </a:p>
        </p:txBody>
      </p:sp>
      <p:sp>
        <p:nvSpPr>
          <p:cNvPr id="5" name="流程圖: 換頁接點 52">
            <a:extLst>
              <a:ext uri="{FF2B5EF4-FFF2-40B4-BE49-F238E27FC236}">
                <a16:creationId xmlns:a16="http://schemas.microsoft.com/office/drawing/2014/main" xmlns="" id="{A020D090-1F04-66A8-DDD2-0A428105439C}"/>
              </a:ext>
            </a:extLst>
          </p:cNvPr>
          <p:cNvSpPr/>
          <p:nvPr/>
        </p:nvSpPr>
        <p:spPr bwMode="auto">
          <a:xfrm>
            <a:off x="1131236" y="2391873"/>
            <a:ext cx="560627" cy="467303"/>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P2</a:t>
            </a:r>
            <a:endParaRPr lang="zh-TW" altLang="en-US" dirty="0">
              <a:latin typeface="微軟正黑體" panose="020B0604030504040204" pitchFamily="34" charset="-120"/>
              <a:ea typeface="微軟正黑體" panose="020B0604030504040204" pitchFamily="34" charset="-120"/>
            </a:endParaRPr>
          </a:p>
        </p:txBody>
      </p:sp>
      <p:grpSp>
        <p:nvGrpSpPr>
          <p:cNvPr id="41" name="Group 220">
            <a:extLst>
              <a:ext uri="{FF2B5EF4-FFF2-40B4-BE49-F238E27FC236}">
                <a16:creationId xmlns:a16="http://schemas.microsoft.com/office/drawing/2014/main" xmlns="" id="{8CFE2FFC-F192-E4BE-BA08-1FF5A5D8B2F9}"/>
              </a:ext>
            </a:extLst>
          </p:cNvPr>
          <p:cNvGrpSpPr/>
          <p:nvPr/>
        </p:nvGrpSpPr>
        <p:grpSpPr>
          <a:xfrm>
            <a:off x="4352235" y="4160434"/>
            <a:ext cx="559344" cy="408542"/>
            <a:chOff x="5906472" y="1486857"/>
            <a:chExt cx="372896" cy="272361"/>
          </a:xfrm>
        </p:grpSpPr>
        <p:sp>
          <p:nvSpPr>
            <p:cNvPr id="42" name="Oval 221">
              <a:extLst>
                <a:ext uri="{FF2B5EF4-FFF2-40B4-BE49-F238E27FC236}">
                  <a16:creationId xmlns:a16="http://schemas.microsoft.com/office/drawing/2014/main" xmlns="" id="{7919AE74-A7E0-3890-38AC-DCBB5AA39E9F}"/>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43" name="TextBox 222">
              <a:extLst>
                <a:ext uri="{FF2B5EF4-FFF2-40B4-BE49-F238E27FC236}">
                  <a16:creationId xmlns:a16="http://schemas.microsoft.com/office/drawing/2014/main" xmlns="" id="{3F82B52D-D32E-9A97-A08F-EE46FBDF7380}"/>
                </a:ext>
              </a:extLst>
            </p:cNvPr>
            <p:cNvSpPr txBox="1"/>
            <p:nvPr/>
          </p:nvSpPr>
          <p:spPr>
            <a:xfrm>
              <a:off x="5923768" y="1507079"/>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sp>
        <p:nvSpPr>
          <p:cNvPr id="200" name="文字方塊 17">
            <a:extLst>
              <a:ext uri="{FF2B5EF4-FFF2-40B4-BE49-F238E27FC236}">
                <a16:creationId xmlns:a16="http://schemas.microsoft.com/office/drawing/2014/main" xmlns="" id="{46781F1A-BA99-952E-F060-2BBE7B71DFBE}"/>
              </a:ext>
            </a:extLst>
          </p:cNvPr>
          <p:cNvSpPr txBox="1"/>
          <p:nvPr/>
        </p:nvSpPr>
        <p:spPr>
          <a:xfrm>
            <a:off x="6398181" y="1366262"/>
            <a:ext cx="3297105"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廠區總務</a:t>
            </a:r>
          </a:p>
        </p:txBody>
      </p:sp>
      <p:sp>
        <p:nvSpPr>
          <p:cNvPr id="9" name="TextBox 53">
            <a:extLst>
              <a:ext uri="{FF2B5EF4-FFF2-40B4-BE49-F238E27FC236}">
                <a16:creationId xmlns:a16="http://schemas.microsoft.com/office/drawing/2014/main" xmlns="" id="{04612EE1-7D42-C47D-2705-304DF742CE7B}"/>
              </a:ext>
            </a:extLst>
          </p:cNvPr>
          <p:cNvSpPr txBox="1"/>
          <p:nvPr/>
        </p:nvSpPr>
        <p:spPr>
          <a:xfrm>
            <a:off x="14380627" y="2064631"/>
            <a:ext cx="3594197" cy="7017306"/>
          </a:xfrm>
          <a:prstGeom prst="rect">
            <a:avLst/>
          </a:prstGeom>
          <a:noFill/>
        </p:spPr>
        <p:txBody>
          <a:bodyPr wrap="square" rtlCol="0">
            <a:spAutoFit/>
          </a:bodyPr>
          <a:lstStyle/>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完成簽核</a:t>
            </a:r>
            <a:r>
              <a:rPr lang="en-US" altLang="zh-TW" dirty="0">
                <a:latin typeface="微軟正黑體" panose="020B0604030504040204" pitchFamily="34" charset="-120"/>
                <a:ea typeface="微軟正黑體" panose="020B0604030504040204" pitchFamily="34" charset="-120"/>
              </a:rPr>
              <a:t>BPM </a:t>
            </a:r>
            <a:r>
              <a:rPr lang="zh-TW" altLang="en-US" dirty="0">
                <a:latin typeface="微軟正黑體" panose="020B0604030504040204" pitchFamily="34" charset="-120"/>
                <a:ea typeface="微軟正黑體" panose="020B0604030504040204" pitchFamily="34" charset="-120"/>
              </a:rPr>
              <a:t>自動核發採購單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採購列印採購單，交付給供應商</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如果需要預付，按預付百分比例作收貨</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預付先以暫存發票驗證部份收貨數量的金額作預付申請</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廠商交貨、安裝機器後，進行點收，用</a:t>
            </a:r>
            <a:r>
              <a:rPr lang="en-US" altLang="zh-TW" dirty="0">
                <a:latin typeface="微軟正黑體" panose="020B0604030504040204" pitchFamily="34" charset="-120"/>
                <a:ea typeface="微軟正黑體" panose="020B0604030504040204" pitchFamily="34" charset="-120"/>
              </a:rPr>
              <a:t>MIGO </a:t>
            </a:r>
            <a:r>
              <a:rPr lang="zh-TW" altLang="en-US" dirty="0">
                <a:latin typeface="微軟正黑體" panose="020B0604030504040204" pitchFamily="34" charset="-120"/>
                <a:ea typeface="微軟正黑體" panose="020B0604030504040204" pitchFamily="34" charset="-120"/>
              </a:rPr>
              <a:t>進行收貨</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由申請單位進行功能確認</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驗收不合格，則進行驗收 </a:t>
            </a:r>
            <a:r>
              <a:rPr lang="en-US" altLang="zh-TW" dirty="0">
                <a:latin typeface="微軟正黑體" panose="020B0604030504040204" pitchFamily="34" charset="-120"/>
                <a:ea typeface="微軟正黑體" panose="020B0604030504040204" pitchFamily="34" charset="-120"/>
              </a:rPr>
              <a:t>MIGO </a:t>
            </a:r>
            <a:r>
              <a:rPr lang="zh-TW" altLang="en-US" dirty="0">
                <a:latin typeface="微軟正黑體" panose="020B0604030504040204" pitchFamily="34" charset="-120"/>
                <a:ea typeface="微軟正黑體" panose="020B0604030504040204" pitchFamily="34" charset="-120"/>
              </a:rPr>
              <a:t>進行</a:t>
            </a:r>
            <a:r>
              <a:rPr lang="en-US" altLang="zh-TW" dirty="0">
                <a:latin typeface="微軟正黑體" panose="020B0604030504040204" pitchFamily="34" charset="-120"/>
                <a:ea typeface="微軟正黑體" panose="020B0604030504040204" pitchFamily="34" charset="-120"/>
              </a:rPr>
              <a:t>122</a:t>
            </a:r>
            <a:r>
              <a:rPr lang="zh-TW" altLang="en-US" dirty="0">
                <a:latin typeface="微軟正黑體" panose="020B0604030504040204" pitchFamily="34" charset="-120"/>
                <a:ea typeface="微軟正黑體" panose="020B0604030504040204" pitchFamily="34" charset="-120"/>
              </a:rPr>
              <a:t>退貨作業，通知廠商收退貨重送</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a:latin typeface="微軟正黑體" panose="020B0604030504040204" pitchFamily="34" charset="-120"/>
                <a:ea typeface="微軟正黑體" panose="020B0604030504040204" pitchFamily="34" charset="-120"/>
              </a:rPr>
              <a:t>當機器設備採購</a:t>
            </a:r>
            <a:r>
              <a:rPr lang="zh-TW" altLang="en-US" dirty="0">
                <a:latin typeface="微軟正黑體" panose="020B0604030504040204" pitchFamily="34" charset="-120"/>
                <a:ea typeface="微軟正黑體" panose="020B0604030504040204" pitchFamily="34" charset="-120"/>
              </a:rPr>
              <a:t>單有調整數量、金額、付款條件時，需重新執行</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簽核</a:t>
            </a:r>
            <a:endParaRPr lang="en-US" altLang="zh-TW" dirty="0">
              <a:latin typeface="微軟正黑體" panose="020B0604030504040204" pitchFamily="34" charset="-120"/>
              <a:ea typeface="微軟正黑體" panose="020B0604030504040204" pitchFamily="34" charset="-120"/>
            </a:endParaRPr>
          </a:p>
          <a:p>
            <a:endParaRPr lang="en-US" altLang="zh-TW" dirty="0"/>
          </a:p>
        </p:txBody>
      </p:sp>
      <p:sp>
        <p:nvSpPr>
          <p:cNvPr id="17" name="流程圖: 決策 50">
            <a:extLst>
              <a:ext uri="{FF2B5EF4-FFF2-40B4-BE49-F238E27FC236}">
                <a16:creationId xmlns:a16="http://schemas.microsoft.com/office/drawing/2014/main" xmlns="" id="{90AD232C-F7E6-105E-35B0-3783B1FD3A62}"/>
              </a:ext>
            </a:extLst>
          </p:cNvPr>
          <p:cNvSpPr/>
          <p:nvPr/>
        </p:nvSpPr>
        <p:spPr bwMode="auto">
          <a:xfrm>
            <a:off x="2738211" y="6131935"/>
            <a:ext cx="1841949" cy="597606"/>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需預付</a:t>
            </a:r>
          </a:p>
        </p:txBody>
      </p:sp>
      <p:sp>
        <p:nvSpPr>
          <p:cNvPr id="228" name="流程圖: 預設處理作業 21">
            <a:extLst>
              <a:ext uri="{FF2B5EF4-FFF2-40B4-BE49-F238E27FC236}">
                <a16:creationId xmlns:a16="http://schemas.microsoft.com/office/drawing/2014/main" xmlns="" id="{2857039D-4439-AE14-74EB-A5CEC0477F9A}"/>
              </a:ext>
            </a:extLst>
          </p:cNvPr>
          <p:cNvSpPr/>
          <p:nvPr/>
        </p:nvSpPr>
        <p:spPr bwMode="auto">
          <a:xfrm>
            <a:off x="2793888" y="8638426"/>
            <a:ext cx="1728927"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MM-IV-0010</a:t>
            </a:r>
          </a:p>
          <a:p>
            <a:pPr algn="ctr" eaLnBrk="0" hangingPunct="0"/>
            <a:r>
              <a:rPr lang="zh-TW" altLang="en-US" sz="1500" dirty="0">
                <a:latin typeface="微軟正黑體" panose="020B0604030504040204" pitchFamily="34" charset="-120"/>
                <a:ea typeface="微軟正黑體" panose="020B0604030504040204" pitchFamily="34" charset="-120"/>
              </a:rPr>
              <a:t>發票驗證流程</a:t>
            </a:r>
          </a:p>
          <a:p>
            <a:pPr algn="ctr" eaLnBrk="0" hangingPunct="0"/>
            <a:endParaRPr lang="zh-TW" altLang="en-US" sz="1500" dirty="0">
              <a:latin typeface="微軟正黑體" panose="020B0604030504040204" pitchFamily="34" charset="-120"/>
              <a:ea typeface="微軟正黑體" panose="020B0604030504040204" pitchFamily="34" charset="-120"/>
            </a:endParaRPr>
          </a:p>
        </p:txBody>
      </p:sp>
      <p:cxnSp>
        <p:nvCxnSpPr>
          <p:cNvPr id="230" name="肘形接點 68">
            <a:extLst>
              <a:ext uri="{FF2B5EF4-FFF2-40B4-BE49-F238E27FC236}">
                <a16:creationId xmlns:a16="http://schemas.microsoft.com/office/drawing/2014/main" xmlns="" id="{7E72D76D-CF8D-5ACC-0DDF-7EAF9F64AC25}"/>
              </a:ext>
            </a:extLst>
          </p:cNvPr>
          <p:cNvCxnSpPr>
            <a:cxnSpLocks/>
            <a:stCxn id="228" idx="3"/>
            <a:endCxn id="91" idx="1"/>
          </p:cNvCxnSpPr>
          <p:nvPr/>
        </p:nvCxnSpPr>
        <p:spPr>
          <a:xfrm flipV="1">
            <a:off x="4522815" y="4045556"/>
            <a:ext cx="2505007" cy="5212070"/>
          </a:xfrm>
          <a:prstGeom prst="bentConnector3">
            <a:avLst>
              <a:gd name="adj1" fmla="val 50913"/>
            </a:avLst>
          </a:prstGeom>
          <a:ln>
            <a:tailEnd type="triangle"/>
          </a:ln>
        </p:spPr>
        <p:style>
          <a:lnRef idx="1">
            <a:schemeClr val="dk1"/>
          </a:lnRef>
          <a:fillRef idx="0">
            <a:schemeClr val="dk1"/>
          </a:fillRef>
          <a:effectRef idx="0">
            <a:schemeClr val="dk1"/>
          </a:effectRef>
          <a:fontRef idx="minor">
            <a:schemeClr val="tx1"/>
          </a:fontRef>
        </p:style>
      </p:cxnSp>
      <p:cxnSp>
        <p:nvCxnSpPr>
          <p:cNvPr id="234" name="肘形接點 68">
            <a:extLst>
              <a:ext uri="{FF2B5EF4-FFF2-40B4-BE49-F238E27FC236}">
                <a16:creationId xmlns:a16="http://schemas.microsoft.com/office/drawing/2014/main" xmlns="" id="{A69FBE0A-7432-A6D7-9148-CCE6E8B4C592}"/>
              </a:ext>
            </a:extLst>
          </p:cNvPr>
          <p:cNvCxnSpPr>
            <a:cxnSpLocks/>
            <a:stCxn id="17" idx="3"/>
            <a:endCxn id="91" idx="1"/>
          </p:cNvCxnSpPr>
          <p:nvPr/>
        </p:nvCxnSpPr>
        <p:spPr>
          <a:xfrm flipV="1">
            <a:off x="4580160" y="4045556"/>
            <a:ext cx="2447662" cy="2385182"/>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pSp>
        <p:nvGrpSpPr>
          <p:cNvPr id="238" name="Group 220">
            <a:extLst>
              <a:ext uri="{FF2B5EF4-FFF2-40B4-BE49-F238E27FC236}">
                <a16:creationId xmlns:a16="http://schemas.microsoft.com/office/drawing/2014/main" xmlns="" id="{98184046-84E1-88B2-6AF0-D27D19F1759B}"/>
              </a:ext>
            </a:extLst>
          </p:cNvPr>
          <p:cNvGrpSpPr/>
          <p:nvPr/>
        </p:nvGrpSpPr>
        <p:grpSpPr>
          <a:xfrm>
            <a:off x="4286139" y="8433574"/>
            <a:ext cx="559344" cy="408542"/>
            <a:chOff x="5906472" y="1486857"/>
            <a:chExt cx="372896" cy="272361"/>
          </a:xfrm>
        </p:grpSpPr>
        <p:sp>
          <p:nvSpPr>
            <p:cNvPr id="239" name="Oval 221">
              <a:extLst>
                <a:ext uri="{FF2B5EF4-FFF2-40B4-BE49-F238E27FC236}">
                  <a16:creationId xmlns:a16="http://schemas.microsoft.com/office/drawing/2014/main" xmlns="" id="{55B9FF93-B5E1-9E9A-CBEC-A269103F4B71}"/>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40" name="TextBox 222">
              <a:extLst>
                <a:ext uri="{FF2B5EF4-FFF2-40B4-BE49-F238E27FC236}">
                  <a16:creationId xmlns:a16="http://schemas.microsoft.com/office/drawing/2014/main" xmlns="" id="{9ADE62B4-165E-B381-5172-7241F9C872D4}"/>
                </a:ext>
              </a:extLst>
            </p:cNvPr>
            <p:cNvSpPr txBox="1"/>
            <p:nvPr/>
          </p:nvSpPr>
          <p:spPr>
            <a:xfrm>
              <a:off x="5923768" y="1507079"/>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4</a:t>
              </a:r>
              <a:endParaRPr lang="zh-TW" altLang="en-US" sz="1500" dirty="0">
                <a:latin typeface="微軟正黑體" panose="020B0604030504040204" pitchFamily="34" charset="-120"/>
                <a:ea typeface="微軟正黑體" panose="020B0604030504040204" pitchFamily="34" charset="-120"/>
              </a:endParaRPr>
            </a:p>
          </p:txBody>
        </p:sp>
      </p:grpSp>
      <p:cxnSp>
        <p:nvCxnSpPr>
          <p:cNvPr id="75" name="Straight Connector 284">
            <a:extLst>
              <a:ext uri="{FF2B5EF4-FFF2-40B4-BE49-F238E27FC236}">
                <a16:creationId xmlns:a16="http://schemas.microsoft.com/office/drawing/2014/main" xmlns="" id="{CCB3D035-826A-6F8E-1D15-1A3E96F62413}"/>
              </a:ext>
            </a:extLst>
          </p:cNvPr>
          <p:cNvCxnSpPr>
            <a:cxnSpLocks/>
          </p:cNvCxnSpPr>
          <p:nvPr/>
        </p:nvCxnSpPr>
        <p:spPr>
          <a:xfrm>
            <a:off x="6398184" y="1340384"/>
            <a:ext cx="0" cy="881078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284">
            <a:extLst>
              <a:ext uri="{FF2B5EF4-FFF2-40B4-BE49-F238E27FC236}">
                <a16:creationId xmlns:a16="http://schemas.microsoft.com/office/drawing/2014/main" xmlns="" id="{CCB3D035-826A-6F8E-1D15-1A3E96F62413}"/>
              </a:ext>
            </a:extLst>
          </p:cNvPr>
          <p:cNvCxnSpPr>
            <a:cxnSpLocks/>
          </p:cNvCxnSpPr>
          <p:nvPr/>
        </p:nvCxnSpPr>
        <p:spPr>
          <a:xfrm>
            <a:off x="9303405" y="1350113"/>
            <a:ext cx="0" cy="87878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文字方塊 15">
            <a:extLst>
              <a:ext uri="{FF2B5EF4-FFF2-40B4-BE49-F238E27FC236}">
                <a16:creationId xmlns:a16="http://schemas.microsoft.com/office/drawing/2014/main" xmlns="" id="{1FF3F166-78C2-469B-04E2-59F70F345ADB}"/>
              </a:ext>
            </a:extLst>
          </p:cNvPr>
          <p:cNvSpPr txBox="1"/>
          <p:nvPr/>
        </p:nvSpPr>
        <p:spPr>
          <a:xfrm>
            <a:off x="3730015" y="6776162"/>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zh-TW" altLang="en-US" sz="1350" dirty="0"/>
          </a:p>
        </p:txBody>
      </p:sp>
      <p:sp>
        <p:nvSpPr>
          <p:cNvPr id="26" name="文字方塊 25">
            <a:extLst>
              <a:ext uri="{FF2B5EF4-FFF2-40B4-BE49-F238E27FC236}">
                <a16:creationId xmlns:a16="http://schemas.microsoft.com/office/drawing/2014/main" xmlns="" id="{77419519-709D-F221-F31E-BD5D89B4A461}"/>
              </a:ext>
            </a:extLst>
          </p:cNvPr>
          <p:cNvSpPr txBox="1"/>
          <p:nvPr/>
        </p:nvSpPr>
        <p:spPr>
          <a:xfrm>
            <a:off x="4970905" y="6443007"/>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否</a:t>
            </a:r>
            <a:endParaRPr lang="zh-TW" altLang="en-US" sz="1350" dirty="0"/>
          </a:p>
        </p:txBody>
      </p:sp>
      <p:graphicFrame>
        <p:nvGraphicFramePr>
          <p:cNvPr id="233" name="表格 30">
            <a:extLst>
              <a:ext uri="{FF2B5EF4-FFF2-40B4-BE49-F238E27FC236}">
                <a16:creationId xmlns:a16="http://schemas.microsoft.com/office/drawing/2014/main" xmlns="" id="{EE4D7AF3-C0E3-AC0D-8B46-7916F4CB28DF}"/>
              </a:ext>
            </a:extLst>
          </p:cNvPr>
          <p:cNvGraphicFramePr>
            <a:graphicFrameLocks noGrp="1"/>
          </p:cNvGraphicFramePr>
          <p:nvPr>
            <p:extLst>
              <p:ext uri="{D42A27DB-BD31-4B8C-83A1-F6EECF244321}">
                <p14:modId xmlns:p14="http://schemas.microsoft.com/office/powerpoint/2010/main" val="519396770"/>
              </p:ext>
            </p:extLst>
          </p:nvPr>
        </p:nvGraphicFramePr>
        <p:xfrm>
          <a:off x="2754538" y="7108024"/>
          <a:ext cx="1797832" cy="1238400"/>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500" b="1" dirty="0">
                          <a:solidFill>
                            <a:schemeClr val="tx1"/>
                          </a:solidFill>
                          <a:latin typeface="微軟正黑體" panose="020B0604030504040204" pitchFamily="34" charset="-120"/>
                          <a:ea typeface="微軟正黑體" panose="020B0604030504040204" pitchFamily="34" charset="-120"/>
                        </a:rPr>
                        <a:t>MIGO</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65200">
                <a:tc gridSpan="2">
                  <a:txBody>
                    <a:bodyPr/>
                    <a:lstStyle/>
                    <a:p>
                      <a:pPr algn="ctr"/>
                      <a:r>
                        <a:rPr lang="zh-TW" altLang="en-US" sz="1500" dirty="0">
                          <a:latin typeface="微軟正黑體" panose="020B0604030504040204" pitchFamily="34" charset="-120"/>
                          <a:ea typeface="微軟正黑體" panose="020B0604030504040204" pitchFamily="34" charset="-120"/>
                        </a:rPr>
                        <a:t>採購單按預付百份比收貨</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sp>
        <p:nvSpPr>
          <p:cNvPr id="73" name="Google Shape;198;p3"/>
          <p:cNvSpPr txBox="1">
            <a:spLocks/>
          </p:cNvSpPr>
          <p:nvPr/>
        </p:nvSpPr>
        <p:spPr>
          <a:xfrm>
            <a:off x="15067722" y="473956"/>
            <a:ext cx="598102" cy="241662"/>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9pPr>
          </a:lstStyle>
          <a:p>
            <a:r>
              <a:rPr lang="en-US" sz="1500" dirty="0"/>
              <a:t>3</a:t>
            </a:r>
          </a:p>
        </p:txBody>
      </p:sp>
      <p:grpSp>
        <p:nvGrpSpPr>
          <p:cNvPr id="219" name="Group 220">
            <a:extLst>
              <a:ext uri="{FF2B5EF4-FFF2-40B4-BE49-F238E27FC236}">
                <a16:creationId xmlns:a16="http://schemas.microsoft.com/office/drawing/2014/main" xmlns="" id="{52B0433D-9B75-3C72-E260-A94168985ECD}"/>
              </a:ext>
            </a:extLst>
          </p:cNvPr>
          <p:cNvGrpSpPr/>
          <p:nvPr/>
        </p:nvGrpSpPr>
        <p:grpSpPr>
          <a:xfrm>
            <a:off x="4282841" y="6903163"/>
            <a:ext cx="559344" cy="415761"/>
            <a:chOff x="5906472" y="1486857"/>
            <a:chExt cx="372896" cy="272361"/>
          </a:xfrm>
        </p:grpSpPr>
        <p:sp>
          <p:nvSpPr>
            <p:cNvPr id="220" name="Oval 221">
              <a:extLst>
                <a:ext uri="{FF2B5EF4-FFF2-40B4-BE49-F238E27FC236}">
                  <a16:creationId xmlns:a16="http://schemas.microsoft.com/office/drawing/2014/main" xmlns="" id="{82502817-9A10-B369-0278-8E3FD83C06C5}"/>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21" name="TextBox 222">
              <a:extLst>
                <a:ext uri="{FF2B5EF4-FFF2-40B4-BE49-F238E27FC236}">
                  <a16:creationId xmlns:a16="http://schemas.microsoft.com/office/drawing/2014/main" xmlns="" id="{1F11146B-09DF-2934-D6B3-1E55A404FEA4}"/>
                </a:ext>
              </a:extLst>
            </p:cNvPr>
            <p:cNvSpPr txBox="1"/>
            <p:nvPr/>
          </p:nvSpPr>
          <p:spPr>
            <a:xfrm>
              <a:off x="5923768" y="1507079"/>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sp>
        <p:nvSpPr>
          <p:cNvPr id="78" name="流程圖: 預設處理作業 21">
            <a:extLst>
              <a:ext uri="{FF2B5EF4-FFF2-40B4-BE49-F238E27FC236}">
                <a16:creationId xmlns:a16="http://schemas.microsoft.com/office/drawing/2014/main" xmlns="" id="{2857039D-4439-AE14-74EB-A5CEC0477F9A}"/>
              </a:ext>
            </a:extLst>
          </p:cNvPr>
          <p:cNvSpPr/>
          <p:nvPr/>
        </p:nvSpPr>
        <p:spPr bwMode="auto">
          <a:xfrm>
            <a:off x="12176649" y="5898044"/>
            <a:ext cx="1728927"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MM-IV-0010</a:t>
            </a:r>
          </a:p>
          <a:p>
            <a:pPr algn="ctr" eaLnBrk="0" hangingPunct="0"/>
            <a:r>
              <a:rPr lang="zh-TW" altLang="en-US" sz="1500" dirty="0">
                <a:latin typeface="微軟正黑體" panose="020B0604030504040204" pitchFamily="34" charset="-120"/>
                <a:ea typeface="微軟正黑體" panose="020B0604030504040204" pitchFamily="34" charset="-120"/>
              </a:rPr>
              <a:t>發票驗證流程</a:t>
            </a:r>
          </a:p>
          <a:p>
            <a:pPr algn="ctr" eaLnBrk="0" hangingPunct="0"/>
            <a:endParaRPr lang="zh-TW" altLang="en-US" sz="1500" dirty="0">
              <a:latin typeface="微軟正黑體" panose="020B0604030504040204" pitchFamily="34" charset="-120"/>
              <a:ea typeface="微軟正黑體" panose="020B0604030504040204" pitchFamily="34" charset="-120"/>
            </a:endParaRPr>
          </a:p>
        </p:txBody>
      </p:sp>
      <p:cxnSp>
        <p:nvCxnSpPr>
          <p:cNvPr id="34" name="直線單箭頭接點 33">
            <a:extLst>
              <a:ext uri="{FF2B5EF4-FFF2-40B4-BE49-F238E27FC236}">
                <a16:creationId xmlns:a16="http://schemas.microsoft.com/office/drawing/2014/main" xmlns="" id="{3ED16FF9-2228-D582-74F0-064BC5EF132C}"/>
              </a:ext>
            </a:extLst>
          </p:cNvPr>
          <p:cNvCxnSpPr>
            <a:cxnSpLocks/>
            <a:stCxn id="5" idx="3"/>
            <a:endCxn id="30" idx="1"/>
          </p:cNvCxnSpPr>
          <p:nvPr/>
        </p:nvCxnSpPr>
        <p:spPr>
          <a:xfrm flipV="1">
            <a:off x="1691863" y="2621528"/>
            <a:ext cx="1068406" cy="39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直線單箭頭接點 37">
            <a:extLst>
              <a:ext uri="{FF2B5EF4-FFF2-40B4-BE49-F238E27FC236}">
                <a16:creationId xmlns:a16="http://schemas.microsoft.com/office/drawing/2014/main" xmlns="" id="{89DA98A6-DE42-7C08-F439-8F31E2058ACE}"/>
              </a:ext>
            </a:extLst>
          </p:cNvPr>
          <p:cNvCxnSpPr>
            <a:cxnSpLocks/>
            <a:stCxn id="30" idx="2"/>
            <a:endCxn id="2" idx="0"/>
          </p:cNvCxnSpPr>
          <p:nvPr/>
        </p:nvCxnSpPr>
        <p:spPr>
          <a:xfrm>
            <a:off x="3659185" y="3166582"/>
            <a:ext cx="1" cy="220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4" name="直線單箭頭接點 43">
            <a:extLst>
              <a:ext uri="{FF2B5EF4-FFF2-40B4-BE49-F238E27FC236}">
                <a16:creationId xmlns:a16="http://schemas.microsoft.com/office/drawing/2014/main" xmlns="" id="{C0C8CAD6-ADC7-858D-7013-E2CDBA1B8DD9}"/>
              </a:ext>
            </a:extLst>
          </p:cNvPr>
          <p:cNvCxnSpPr>
            <a:cxnSpLocks/>
            <a:stCxn id="19" idx="2"/>
            <a:endCxn id="17" idx="0"/>
          </p:cNvCxnSpPr>
          <p:nvPr/>
        </p:nvCxnSpPr>
        <p:spPr>
          <a:xfrm>
            <a:off x="3659185" y="5589029"/>
            <a:ext cx="1" cy="5429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2" name="直線單箭頭接點 51">
            <a:extLst>
              <a:ext uri="{FF2B5EF4-FFF2-40B4-BE49-F238E27FC236}">
                <a16:creationId xmlns:a16="http://schemas.microsoft.com/office/drawing/2014/main" xmlns="" id="{E9488062-8F4A-E35F-2F3D-10DA7F8251F5}"/>
              </a:ext>
            </a:extLst>
          </p:cNvPr>
          <p:cNvCxnSpPr>
            <a:cxnSpLocks/>
            <a:stCxn id="17" idx="2"/>
            <a:endCxn id="233" idx="0"/>
          </p:cNvCxnSpPr>
          <p:nvPr/>
        </p:nvCxnSpPr>
        <p:spPr>
          <a:xfrm flipH="1">
            <a:off x="3653454" y="6729541"/>
            <a:ext cx="5732" cy="37848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2" name="直線單箭頭接點 61">
            <a:extLst>
              <a:ext uri="{FF2B5EF4-FFF2-40B4-BE49-F238E27FC236}">
                <a16:creationId xmlns:a16="http://schemas.microsoft.com/office/drawing/2014/main" xmlns="" id="{FEF279C2-83AB-41D2-6A75-A39F6D7EE9C7}"/>
              </a:ext>
            </a:extLst>
          </p:cNvPr>
          <p:cNvCxnSpPr>
            <a:cxnSpLocks/>
            <a:stCxn id="233" idx="2"/>
            <a:endCxn id="228" idx="0"/>
          </p:cNvCxnSpPr>
          <p:nvPr/>
        </p:nvCxnSpPr>
        <p:spPr>
          <a:xfrm>
            <a:off x="3653454" y="8346424"/>
            <a:ext cx="4898" cy="29200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1" name="直線單箭頭接點 70">
            <a:extLst>
              <a:ext uri="{FF2B5EF4-FFF2-40B4-BE49-F238E27FC236}">
                <a16:creationId xmlns:a16="http://schemas.microsoft.com/office/drawing/2014/main" xmlns="" id="{4C2B1276-06B9-E2EA-9FD1-D922936615B7}"/>
              </a:ext>
            </a:extLst>
          </p:cNvPr>
          <p:cNvCxnSpPr>
            <a:cxnSpLocks/>
            <a:endCxn id="35" idx="0"/>
          </p:cNvCxnSpPr>
          <p:nvPr/>
        </p:nvCxnSpPr>
        <p:spPr>
          <a:xfrm rot="5400000">
            <a:off x="10193546" y="5807889"/>
            <a:ext cx="839507" cy="54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7" name="直線單箭頭接點 76">
            <a:extLst>
              <a:ext uri="{FF2B5EF4-FFF2-40B4-BE49-F238E27FC236}">
                <a16:creationId xmlns:a16="http://schemas.microsoft.com/office/drawing/2014/main" xmlns="" id="{8358A9BC-99C1-0844-3360-02305B1AEB36}"/>
              </a:ext>
            </a:extLst>
          </p:cNvPr>
          <p:cNvCxnSpPr>
            <a:cxnSpLocks/>
            <a:stCxn id="78" idx="2"/>
            <a:endCxn id="25" idx="0"/>
          </p:cNvCxnSpPr>
          <p:nvPr/>
        </p:nvCxnSpPr>
        <p:spPr>
          <a:xfrm rot="5400000">
            <a:off x="12250041" y="7927516"/>
            <a:ext cx="1582144" cy="15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83" name="群組 82"/>
          <p:cNvGrpSpPr/>
          <p:nvPr/>
        </p:nvGrpSpPr>
        <p:grpSpPr>
          <a:xfrm>
            <a:off x="7153007" y="8495605"/>
            <a:ext cx="1810800" cy="1217256"/>
            <a:chOff x="15073354" y="8308668"/>
            <a:chExt cx="1810800" cy="1217256"/>
          </a:xfrm>
        </p:grpSpPr>
        <p:sp>
          <p:nvSpPr>
            <p:cNvPr id="84" name="流程圖: 程序 83"/>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GB" altLang="zh-TW" sz="1500" b="1" dirty="0">
                  <a:latin typeface="微軟正黑體" panose="020B0604030504040204" pitchFamily="34" charset="-120"/>
                  <a:ea typeface="微軟正黑體" panose="020B0604030504040204" pitchFamily="34" charset="-120"/>
                </a:rPr>
                <a:t>MIGO</a:t>
              </a:r>
              <a:endParaRPr lang="en-GB" sz="1500" b="1" dirty="0">
                <a:latin typeface="微軟正黑體" panose="020B0604030504040204" pitchFamily="34" charset="-120"/>
                <a:ea typeface="微軟正黑體" panose="020B0604030504040204" pitchFamily="34" charset="-120"/>
              </a:endParaRPr>
            </a:p>
          </p:txBody>
        </p:sp>
        <p:sp>
          <p:nvSpPr>
            <p:cNvPr id="85" name="流程圖: 程序 84"/>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a:latin typeface="微軟正黑體" panose="020B0604030504040204" pitchFamily="34" charset="-120"/>
                  <a:ea typeface="微軟正黑體" panose="020B0604030504040204" pitchFamily="34" charset="-120"/>
                </a:rPr>
                <a:t>採購單退貨，</a:t>
              </a:r>
              <a:endParaRPr lang="en-US" altLang="zh-TW" sz="1500" dirty="0">
                <a:latin typeface="微軟正黑體" panose="020B0604030504040204" pitchFamily="34" charset="-120"/>
                <a:ea typeface="微軟正黑體" panose="020B0604030504040204" pitchFamily="34" charset="-120"/>
              </a:endParaRPr>
            </a:p>
            <a:p>
              <a:pPr algn="ctr"/>
              <a:r>
                <a:rPr lang="zh-TW" altLang="en-US" sz="1500" dirty="0">
                  <a:latin typeface="微軟正黑體" panose="020B0604030504040204" pitchFamily="34" charset="-120"/>
                  <a:ea typeface="微軟正黑體" panose="020B0604030504040204" pitchFamily="34" charset="-120"/>
                </a:rPr>
                <a:t>通知廠商收退重送</a:t>
              </a:r>
              <a:endParaRPr lang="en-US" altLang="zh-TW" sz="1500" dirty="0">
                <a:latin typeface="微軟正黑體" panose="020B0604030504040204" pitchFamily="34" charset="-120"/>
                <a:ea typeface="微軟正黑體" panose="020B0604030504040204" pitchFamily="34" charset="-120"/>
              </a:endParaRPr>
            </a:p>
          </p:txBody>
        </p:sp>
        <p:sp>
          <p:nvSpPr>
            <p:cNvPr id="86" name="流程圖: 程序 85"/>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87" name="流程圖: 程序 86"/>
            <p:cNvSpPr/>
            <p:nvPr/>
          </p:nvSpPr>
          <p:spPr>
            <a:xfrm>
              <a:off x="15996112"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a:solidFill>
                    <a:schemeClr val="dk1"/>
                  </a:solidFill>
                  <a:latin typeface="微軟正黑體"/>
                  <a:ea typeface="微軟正黑體"/>
                </a:rPr>
                <a:t>手動</a:t>
              </a:r>
            </a:p>
          </p:txBody>
        </p:sp>
      </p:grpSp>
      <p:grpSp>
        <p:nvGrpSpPr>
          <p:cNvPr id="88" name="群組 87"/>
          <p:cNvGrpSpPr/>
          <p:nvPr/>
        </p:nvGrpSpPr>
        <p:grpSpPr>
          <a:xfrm>
            <a:off x="7027822" y="3438333"/>
            <a:ext cx="1810800" cy="1217256"/>
            <a:chOff x="15073354" y="8308668"/>
            <a:chExt cx="1810800" cy="1217256"/>
          </a:xfrm>
        </p:grpSpPr>
        <p:sp>
          <p:nvSpPr>
            <p:cNvPr id="89" name="流程圖: 程序 88"/>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GB" altLang="zh-TW" sz="1500" b="1" dirty="0">
                  <a:latin typeface="微軟正黑體" panose="020B0604030504040204" pitchFamily="34" charset="-120"/>
                  <a:ea typeface="微軟正黑體" panose="020B0604030504040204" pitchFamily="34" charset="-120"/>
                </a:rPr>
                <a:t>MIGO</a:t>
              </a:r>
              <a:endParaRPr lang="en-GB" sz="1500" b="1" dirty="0">
                <a:latin typeface="微軟正黑體" panose="020B0604030504040204" pitchFamily="34" charset="-120"/>
                <a:ea typeface="微軟正黑體" panose="020B0604030504040204" pitchFamily="34" charset="-120"/>
              </a:endParaRPr>
            </a:p>
          </p:txBody>
        </p:sp>
        <p:sp>
          <p:nvSpPr>
            <p:cNvPr id="91" name="流程圖: 程序 90"/>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a:latin typeface="微軟正黑體" panose="020B0604030504040204" pitchFamily="34" charset="-120"/>
                  <a:ea typeface="微軟正黑體" panose="020B0604030504040204" pitchFamily="34" charset="-120"/>
                </a:rPr>
                <a:t>採購單收貨</a:t>
              </a:r>
              <a:endParaRPr lang="en-US" altLang="zh-TW" sz="1500" dirty="0">
                <a:latin typeface="微軟正黑體" panose="020B0604030504040204" pitchFamily="34" charset="-120"/>
                <a:ea typeface="微軟正黑體" panose="020B0604030504040204" pitchFamily="34" charset="-120"/>
              </a:endParaRPr>
            </a:p>
          </p:txBody>
        </p:sp>
        <p:sp>
          <p:nvSpPr>
            <p:cNvPr id="92" name="流程圖: 程序 91"/>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93" name="流程圖: 程序 92"/>
            <p:cNvSpPr/>
            <p:nvPr/>
          </p:nvSpPr>
          <p:spPr>
            <a:xfrm>
              <a:off x="15996112"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a:solidFill>
                    <a:schemeClr val="dk1"/>
                  </a:solidFill>
                  <a:latin typeface="微軟正黑體"/>
                  <a:ea typeface="微軟正黑體"/>
                </a:rPr>
                <a:t>手動</a:t>
              </a:r>
            </a:p>
          </p:txBody>
        </p:sp>
      </p:grpSp>
      <p:grpSp>
        <p:nvGrpSpPr>
          <p:cNvPr id="101" name="群組 100"/>
          <p:cNvGrpSpPr/>
          <p:nvPr/>
        </p:nvGrpSpPr>
        <p:grpSpPr>
          <a:xfrm>
            <a:off x="9673045" y="4499669"/>
            <a:ext cx="1810800" cy="1217256"/>
            <a:chOff x="15073354" y="8308668"/>
            <a:chExt cx="1810800" cy="1217256"/>
          </a:xfrm>
        </p:grpSpPr>
        <p:sp>
          <p:nvSpPr>
            <p:cNvPr id="102" name="流程圖: 程序 101"/>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endParaRPr lang="en-GB" sz="1500" b="1" dirty="0">
                <a:latin typeface="微軟正黑體" panose="020B0604030504040204" pitchFamily="34" charset="-120"/>
                <a:ea typeface="微軟正黑體" panose="020B0604030504040204" pitchFamily="34" charset="-120"/>
              </a:endParaRPr>
            </a:p>
          </p:txBody>
        </p:sp>
        <p:sp>
          <p:nvSpPr>
            <p:cNvPr id="103" name="流程圖: 程序 102"/>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a:latin typeface="微軟正黑體" panose="020B0604030504040204" pitchFamily="34" charset="-120"/>
                  <a:ea typeface="微軟正黑體" panose="020B0604030504040204" pitchFamily="34" charset="-120"/>
                </a:rPr>
                <a:t>功能確認</a:t>
              </a:r>
              <a:endParaRPr lang="en-US" altLang="zh-TW" sz="1500" dirty="0">
                <a:latin typeface="微軟正黑體" panose="020B0604030504040204" pitchFamily="34" charset="-120"/>
                <a:ea typeface="微軟正黑體" panose="020B0604030504040204" pitchFamily="34" charset="-120"/>
              </a:endParaRPr>
            </a:p>
          </p:txBody>
        </p:sp>
        <p:sp>
          <p:nvSpPr>
            <p:cNvPr id="104" name="流程圖: 程序 103"/>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endParaRPr lang="zh-TW" altLang="en-US" sz="1500" spc="-1" dirty="0">
                <a:solidFill>
                  <a:schemeClr val="dk1"/>
                </a:solidFill>
                <a:latin typeface="微軟正黑體"/>
                <a:ea typeface="微軟正黑體"/>
              </a:endParaRPr>
            </a:p>
          </p:txBody>
        </p:sp>
        <p:sp>
          <p:nvSpPr>
            <p:cNvPr id="105" name="流程圖: 程序 104"/>
            <p:cNvSpPr/>
            <p:nvPr/>
          </p:nvSpPr>
          <p:spPr>
            <a:xfrm>
              <a:off x="15996112"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a:solidFill>
                    <a:schemeClr val="dk1"/>
                  </a:solidFill>
                  <a:latin typeface="微軟正黑體"/>
                  <a:ea typeface="微軟正黑體"/>
                </a:rPr>
                <a:t>手動</a:t>
              </a:r>
            </a:p>
          </p:txBody>
        </p:sp>
      </p:grpSp>
      <p:grpSp>
        <p:nvGrpSpPr>
          <p:cNvPr id="241" name="Group 220">
            <a:extLst>
              <a:ext uri="{FF2B5EF4-FFF2-40B4-BE49-F238E27FC236}">
                <a16:creationId xmlns:a16="http://schemas.microsoft.com/office/drawing/2014/main" xmlns="" id="{13E9951B-4A3E-E489-AE09-B89089F6F4B6}"/>
              </a:ext>
            </a:extLst>
          </p:cNvPr>
          <p:cNvGrpSpPr/>
          <p:nvPr/>
        </p:nvGrpSpPr>
        <p:grpSpPr>
          <a:xfrm>
            <a:off x="11236423" y="4294422"/>
            <a:ext cx="560606" cy="415761"/>
            <a:chOff x="5906472" y="1486857"/>
            <a:chExt cx="373737" cy="272361"/>
          </a:xfrm>
        </p:grpSpPr>
        <p:sp>
          <p:nvSpPr>
            <p:cNvPr id="242" name="Oval 221">
              <a:extLst>
                <a:ext uri="{FF2B5EF4-FFF2-40B4-BE49-F238E27FC236}">
                  <a16:creationId xmlns:a16="http://schemas.microsoft.com/office/drawing/2014/main" xmlns="" id="{658E3F42-D710-EA0A-760A-56D3E70DDA80}"/>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43" name="TextBox 222">
              <a:extLst>
                <a:ext uri="{FF2B5EF4-FFF2-40B4-BE49-F238E27FC236}">
                  <a16:creationId xmlns:a16="http://schemas.microsoft.com/office/drawing/2014/main" xmlns="" id="{04B45D44-738C-9015-C58C-EA8A042CC559}"/>
                </a:ext>
              </a:extLst>
            </p:cNvPr>
            <p:cNvSpPr txBox="1"/>
            <p:nvPr/>
          </p:nvSpPr>
          <p:spPr>
            <a:xfrm>
              <a:off x="5924609" y="1507079"/>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6</a:t>
              </a:r>
              <a:endParaRPr lang="zh-TW" altLang="en-US" sz="1500" dirty="0">
                <a:latin typeface="微軟正黑體" panose="020B0604030504040204" pitchFamily="34" charset="-120"/>
                <a:ea typeface="微軟正黑體" panose="020B0604030504040204" pitchFamily="34" charset="-120"/>
              </a:endParaRPr>
            </a:p>
          </p:txBody>
        </p:sp>
      </p:grpSp>
      <p:grpSp>
        <p:nvGrpSpPr>
          <p:cNvPr id="3" name="Group 220">
            <a:extLst>
              <a:ext uri="{FF2B5EF4-FFF2-40B4-BE49-F238E27FC236}">
                <a16:creationId xmlns:a16="http://schemas.microsoft.com/office/drawing/2014/main" xmlns="" id="{A1983CA1-988B-B586-6B79-EED6E53CD361}"/>
              </a:ext>
            </a:extLst>
          </p:cNvPr>
          <p:cNvGrpSpPr/>
          <p:nvPr/>
        </p:nvGrpSpPr>
        <p:grpSpPr>
          <a:xfrm>
            <a:off x="8648867" y="3248049"/>
            <a:ext cx="572532" cy="408542"/>
            <a:chOff x="5906472" y="1486857"/>
            <a:chExt cx="381688" cy="272361"/>
          </a:xfrm>
        </p:grpSpPr>
        <p:sp>
          <p:nvSpPr>
            <p:cNvPr id="7" name="Oval 221">
              <a:extLst>
                <a:ext uri="{FF2B5EF4-FFF2-40B4-BE49-F238E27FC236}">
                  <a16:creationId xmlns:a16="http://schemas.microsoft.com/office/drawing/2014/main" xmlns="" id="{C9A8929E-42CE-DCDD-06D7-93FEB4DAB3BB}"/>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8" name="TextBox 222">
              <a:extLst>
                <a:ext uri="{FF2B5EF4-FFF2-40B4-BE49-F238E27FC236}">
                  <a16:creationId xmlns:a16="http://schemas.microsoft.com/office/drawing/2014/main" xmlns="" id="{B52B9FCC-FC80-B8A2-DA40-E3EA863599DF}"/>
                </a:ext>
              </a:extLst>
            </p:cNvPr>
            <p:cNvSpPr txBox="1"/>
            <p:nvPr/>
          </p:nvSpPr>
          <p:spPr>
            <a:xfrm>
              <a:off x="5932560" y="1507079"/>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5</a:t>
              </a:r>
              <a:endParaRPr lang="zh-TW" altLang="en-US" sz="1500" dirty="0">
                <a:latin typeface="微軟正黑體" panose="020B0604030504040204" pitchFamily="34" charset="-120"/>
                <a:ea typeface="微軟正黑體" panose="020B0604030504040204" pitchFamily="34" charset="-120"/>
              </a:endParaRPr>
            </a:p>
          </p:txBody>
        </p:sp>
      </p:grpSp>
      <p:grpSp>
        <p:nvGrpSpPr>
          <p:cNvPr id="45" name="Group 220">
            <a:extLst>
              <a:ext uri="{FF2B5EF4-FFF2-40B4-BE49-F238E27FC236}">
                <a16:creationId xmlns:a16="http://schemas.microsoft.com/office/drawing/2014/main" xmlns="" id="{ADD1546F-75A2-0E22-F66E-32DFDB0DE746}"/>
              </a:ext>
            </a:extLst>
          </p:cNvPr>
          <p:cNvGrpSpPr/>
          <p:nvPr/>
        </p:nvGrpSpPr>
        <p:grpSpPr>
          <a:xfrm>
            <a:off x="8746107" y="8253326"/>
            <a:ext cx="559344" cy="415761"/>
            <a:chOff x="5906472" y="1486857"/>
            <a:chExt cx="372896" cy="272361"/>
          </a:xfrm>
        </p:grpSpPr>
        <p:sp>
          <p:nvSpPr>
            <p:cNvPr id="46" name="Oval 221">
              <a:extLst>
                <a:ext uri="{FF2B5EF4-FFF2-40B4-BE49-F238E27FC236}">
                  <a16:creationId xmlns:a16="http://schemas.microsoft.com/office/drawing/2014/main" xmlns="" id="{E638D9BF-33CE-140D-7D4D-42C18836B305}"/>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48" name="TextBox 222">
              <a:extLst>
                <a:ext uri="{FF2B5EF4-FFF2-40B4-BE49-F238E27FC236}">
                  <a16:creationId xmlns:a16="http://schemas.microsoft.com/office/drawing/2014/main" xmlns="" id="{454E1CB9-6ED4-AD5A-39EC-6D1B324BA26E}"/>
                </a:ext>
              </a:extLst>
            </p:cNvPr>
            <p:cNvSpPr txBox="1"/>
            <p:nvPr/>
          </p:nvSpPr>
          <p:spPr>
            <a:xfrm>
              <a:off x="5923768" y="1507079"/>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7</a:t>
              </a:r>
              <a:endParaRPr lang="zh-TW" altLang="en-US" sz="1500" dirty="0">
                <a:latin typeface="微軟正黑體" panose="020B0604030504040204" pitchFamily="34" charset="-120"/>
                <a:ea typeface="微軟正黑體" panose="020B0604030504040204" pitchFamily="34" charset="-120"/>
              </a:endParaRPr>
            </a:p>
          </p:txBody>
        </p:sp>
      </p:grpSp>
      <p:sp>
        <p:nvSpPr>
          <p:cNvPr id="2" name="流程圖: 決策 50">
            <a:extLst>
              <a:ext uri="{FF2B5EF4-FFF2-40B4-BE49-F238E27FC236}">
                <a16:creationId xmlns:a16="http://schemas.microsoft.com/office/drawing/2014/main" xmlns="" id="{38F91E30-0CEA-6378-FF5C-587C8F0E9FBC}"/>
              </a:ext>
            </a:extLst>
          </p:cNvPr>
          <p:cNvSpPr/>
          <p:nvPr/>
        </p:nvSpPr>
        <p:spPr bwMode="auto">
          <a:xfrm>
            <a:off x="2738211" y="3387107"/>
            <a:ext cx="1841949" cy="712200"/>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是否修改數量</a:t>
            </a:r>
            <a:endParaRPr lang="en-US" altLang="zh-TW" sz="1500" dirty="0">
              <a:latin typeface="微軟正黑體" panose="020B0604030504040204" pitchFamily="34" charset="-120"/>
              <a:ea typeface="微軟正黑體" panose="020B0604030504040204" pitchFamily="34" charset="-120"/>
            </a:endParaRPr>
          </a:p>
          <a:p>
            <a:pPr algn="ctr" eaLnBrk="0" hangingPunct="0"/>
            <a:r>
              <a:rPr lang="en-US" altLang="zh-TW" sz="1500" dirty="0">
                <a:latin typeface="微軟正黑體" panose="020B0604030504040204" pitchFamily="34" charset="-120"/>
                <a:ea typeface="微軟正黑體" panose="020B0604030504040204" pitchFamily="34" charset="-120"/>
              </a:rPr>
              <a:t>/</a:t>
            </a:r>
            <a:r>
              <a:rPr lang="zh-TW" altLang="en-US" sz="1500" dirty="0">
                <a:latin typeface="微軟正黑體" panose="020B0604030504040204" pitchFamily="34" charset="-120"/>
                <a:ea typeface="微軟正黑體" panose="020B0604030504040204" pitchFamily="34" charset="-120"/>
              </a:rPr>
              <a:t>金額</a:t>
            </a:r>
          </a:p>
        </p:txBody>
      </p:sp>
      <p:grpSp>
        <p:nvGrpSpPr>
          <p:cNvPr id="6" name="Group 220">
            <a:extLst>
              <a:ext uri="{FF2B5EF4-FFF2-40B4-BE49-F238E27FC236}">
                <a16:creationId xmlns:a16="http://schemas.microsoft.com/office/drawing/2014/main" xmlns="" id="{DD30A21A-17CC-DCDF-DDA7-729272CC579F}"/>
              </a:ext>
            </a:extLst>
          </p:cNvPr>
          <p:cNvGrpSpPr/>
          <p:nvPr/>
        </p:nvGrpSpPr>
        <p:grpSpPr>
          <a:xfrm>
            <a:off x="4301431" y="3266644"/>
            <a:ext cx="561236" cy="415760"/>
            <a:chOff x="5906472" y="1486857"/>
            <a:chExt cx="374157" cy="272361"/>
          </a:xfrm>
        </p:grpSpPr>
        <p:sp>
          <p:nvSpPr>
            <p:cNvPr id="10" name="Oval 221">
              <a:extLst>
                <a:ext uri="{FF2B5EF4-FFF2-40B4-BE49-F238E27FC236}">
                  <a16:creationId xmlns:a16="http://schemas.microsoft.com/office/drawing/2014/main" xmlns="" id="{57FC915D-E6FF-1387-30B0-5808EA054CD9}"/>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12" name="TextBox 222">
              <a:extLst>
                <a:ext uri="{FF2B5EF4-FFF2-40B4-BE49-F238E27FC236}">
                  <a16:creationId xmlns:a16="http://schemas.microsoft.com/office/drawing/2014/main" xmlns="" id="{D540003F-36D1-2496-FFE3-4A411E9A240D}"/>
                </a:ext>
              </a:extLst>
            </p:cNvPr>
            <p:cNvSpPr txBox="1"/>
            <p:nvPr/>
          </p:nvSpPr>
          <p:spPr>
            <a:xfrm>
              <a:off x="5925029" y="1503597"/>
              <a:ext cx="355600" cy="21170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8</a:t>
              </a:r>
              <a:endParaRPr lang="zh-TW" altLang="en-US" sz="1500" dirty="0">
                <a:latin typeface="微軟正黑體" panose="020B0604030504040204" pitchFamily="34" charset="-120"/>
                <a:ea typeface="微軟正黑體" panose="020B0604030504040204" pitchFamily="34" charset="-120"/>
              </a:endParaRPr>
            </a:p>
          </p:txBody>
        </p:sp>
      </p:grpSp>
      <p:cxnSp>
        <p:nvCxnSpPr>
          <p:cNvPr id="20" name="直線單箭頭接點 19">
            <a:extLst>
              <a:ext uri="{FF2B5EF4-FFF2-40B4-BE49-F238E27FC236}">
                <a16:creationId xmlns:a16="http://schemas.microsoft.com/office/drawing/2014/main" xmlns="" id="{5D57EFC7-8D66-7465-04E8-6A6D7D65D1A8}"/>
              </a:ext>
            </a:extLst>
          </p:cNvPr>
          <p:cNvCxnSpPr>
            <a:cxnSpLocks/>
            <a:stCxn id="2" idx="2"/>
            <a:endCxn id="19" idx="0"/>
          </p:cNvCxnSpPr>
          <p:nvPr/>
        </p:nvCxnSpPr>
        <p:spPr>
          <a:xfrm flipH="1">
            <a:off x="3659185" y="4099307"/>
            <a:ext cx="1" cy="30528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 name="文字方塊 27">
            <a:extLst>
              <a:ext uri="{FF2B5EF4-FFF2-40B4-BE49-F238E27FC236}">
                <a16:creationId xmlns:a16="http://schemas.microsoft.com/office/drawing/2014/main" xmlns="" id="{69636D03-0CAA-12A8-6902-A5B92529167E}"/>
              </a:ext>
            </a:extLst>
          </p:cNvPr>
          <p:cNvSpPr txBox="1"/>
          <p:nvPr/>
        </p:nvSpPr>
        <p:spPr>
          <a:xfrm>
            <a:off x="3667484" y="4080807"/>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否</a:t>
            </a:r>
            <a:endParaRPr lang="zh-TW" altLang="en-US" sz="1350" dirty="0"/>
          </a:p>
        </p:txBody>
      </p:sp>
      <p:sp>
        <p:nvSpPr>
          <p:cNvPr id="29" name="文字方塊 28">
            <a:extLst>
              <a:ext uri="{FF2B5EF4-FFF2-40B4-BE49-F238E27FC236}">
                <a16:creationId xmlns:a16="http://schemas.microsoft.com/office/drawing/2014/main" xmlns="" id="{BB1391DA-284B-60FE-33E9-3169DAC7BEE4}"/>
              </a:ext>
            </a:extLst>
          </p:cNvPr>
          <p:cNvSpPr txBox="1"/>
          <p:nvPr/>
        </p:nvSpPr>
        <p:spPr>
          <a:xfrm>
            <a:off x="4893068" y="3114551"/>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zh-TW" altLang="en-US" sz="1350" dirty="0"/>
          </a:p>
        </p:txBody>
      </p:sp>
      <p:sp>
        <p:nvSpPr>
          <p:cNvPr id="36" name="流程圖: 換頁接點 52">
            <a:extLst>
              <a:ext uri="{FF2B5EF4-FFF2-40B4-BE49-F238E27FC236}">
                <a16:creationId xmlns:a16="http://schemas.microsoft.com/office/drawing/2014/main" xmlns="" id="{1F7D242E-EB57-C97F-57CE-966F6AF07BFD}"/>
              </a:ext>
            </a:extLst>
          </p:cNvPr>
          <p:cNvSpPr/>
          <p:nvPr/>
        </p:nvSpPr>
        <p:spPr bwMode="auto">
          <a:xfrm>
            <a:off x="5386405" y="3157885"/>
            <a:ext cx="560627" cy="467303"/>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P2</a:t>
            </a:r>
            <a:endParaRPr lang="zh-TW" altLang="en-US" dirty="0">
              <a:latin typeface="微軟正黑體" panose="020B0604030504040204" pitchFamily="34" charset="-120"/>
              <a:ea typeface="微軟正黑體" panose="020B0604030504040204" pitchFamily="34" charset="-120"/>
            </a:endParaRPr>
          </a:p>
        </p:txBody>
      </p:sp>
      <p:cxnSp>
        <p:nvCxnSpPr>
          <p:cNvPr id="37" name="肘形接點 68">
            <a:extLst>
              <a:ext uri="{FF2B5EF4-FFF2-40B4-BE49-F238E27FC236}">
                <a16:creationId xmlns:a16="http://schemas.microsoft.com/office/drawing/2014/main" xmlns="" id="{4CF9A8ED-838A-7ED8-93DF-4CC80C00BEBF}"/>
              </a:ext>
            </a:extLst>
          </p:cNvPr>
          <p:cNvCxnSpPr>
            <a:cxnSpLocks/>
            <a:stCxn id="2" idx="3"/>
            <a:endCxn id="36" idx="1"/>
          </p:cNvCxnSpPr>
          <p:nvPr/>
        </p:nvCxnSpPr>
        <p:spPr>
          <a:xfrm flipV="1">
            <a:off x="4580160" y="3391537"/>
            <a:ext cx="806245" cy="35167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2840725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文字方塊 3">
            <a:extLst>
              <a:ext uri="{FF2B5EF4-FFF2-40B4-BE49-F238E27FC236}">
                <a16:creationId xmlns:a16="http://schemas.microsoft.com/office/drawing/2014/main" xmlns="" id="{83E6F622-2FBE-CC67-50FE-4ABD7D8B9696}"/>
              </a:ext>
            </a:extLst>
          </p:cNvPr>
          <p:cNvSpPr txBox="1"/>
          <p:nvPr/>
        </p:nvSpPr>
        <p:spPr>
          <a:xfrm>
            <a:off x="2444080" y="794373"/>
            <a:ext cx="8735649" cy="461665"/>
          </a:xfrm>
          <a:prstGeom prst="rect">
            <a:avLst/>
          </a:prstGeom>
          <a:noFill/>
        </p:spPr>
        <p:txBody>
          <a:bodyPr wrap="square">
            <a:spAutoFit/>
          </a:bodyPr>
          <a:lstStyle/>
          <a:p>
            <a:pPr eaLnBrk="0" hangingPunct="0"/>
            <a:r>
              <a:rPr lang="en-US" altLang="zh-TW" sz="2400" b="1" dirty="0">
                <a:latin typeface="微軟正黑體" panose="020B0604030504040204" pitchFamily="34" charset="-120"/>
                <a:ea typeface="微軟正黑體" panose="020B0604030504040204" pitchFamily="34" charset="-120"/>
              </a:rPr>
              <a:t>MM-PU-0090-02 </a:t>
            </a:r>
            <a:r>
              <a:rPr lang="zh-TW" altLang="en-US" sz="2400" b="1" dirty="0">
                <a:latin typeface="微軟正黑體" panose="020B0604030504040204" pitchFamily="34" charset="-120"/>
                <a:ea typeface="微軟正黑體" panose="020B0604030504040204" pitchFamily="34" charset="-120"/>
              </a:rPr>
              <a:t>固定資產請採驗流程 </a:t>
            </a:r>
            <a:r>
              <a:rPr lang="en-US" altLang="zh-TW" sz="2400" b="1" dirty="0">
                <a:latin typeface="微軟正黑體" panose="020B0604030504040204" pitchFamily="34" charset="-120"/>
                <a:ea typeface="微軟正黑體" panose="020B0604030504040204" pitchFamily="34" charset="-120"/>
              </a:rPr>
              <a:t>(</a:t>
            </a:r>
            <a:r>
              <a:rPr lang="zh-TW" altLang="en-US" sz="2400" b="1" dirty="0">
                <a:latin typeface="微軟正黑體" panose="020B0604030504040204" pitchFamily="34" charset="-120"/>
                <a:ea typeface="微軟正黑體" panose="020B0604030504040204" pitchFamily="34" charset="-120"/>
              </a:rPr>
              <a:t>楦頭</a:t>
            </a:r>
            <a:r>
              <a:rPr lang="en-US" altLang="zh-TW" sz="2400" b="1" dirty="0">
                <a:latin typeface="微軟正黑體" panose="020B0604030504040204" pitchFamily="34" charset="-120"/>
                <a:ea typeface="微軟正黑體" panose="020B0604030504040204" pitchFamily="34" charset="-120"/>
              </a:rPr>
              <a:t>/</a:t>
            </a:r>
            <a:r>
              <a:rPr lang="zh-TW" altLang="en-US" sz="2400" b="1" dirty="0">
                <a:latin typeface="微軟正黑體" panose="020B0604030504040204" pitchFamily="34" charset="-120"/>
                <a:ea typeface="微軟正黑體" panose="020B0604030504040204" pitchFamily="34" charset="-120"/>
              </a:rPr>
              <a:t>模具</a:t>
            </a:r>
            <a:r>
              <a:rPr lang="en-US" altLang="zh-TW" sz="2400" b="1" dirty="0">
                <a:latin typeface="微軟正黑體" panose="020B0604030504040204" pitchFamily="34" charset="-120"/>
                <a:ea typeface="微軟正黑體" panose="020B0604030504040204" pitchFamily="34" charset="-120"/>
              </a:rPr>
              <a:t>)</a:t>
            </a:r>
            <a:endParaRPr lang="zh-TW" altLang="en-US" sz="2400" b="1" dirty="0">
              <a:latin typeface="微軟正黑體" panose="020B0604030504040204" pitchFamily="34" charset="-120"/>
              <a:ea typeface="微軟正黑體" panose="020B0604030504040204" pitchFamily="34" charset="-120"/>
            </a:endParaRPr>
          </a:p>
        </p:txBody>
      </p:sp>
      <p:sp>
        <p:nvSpPr>
          <p:cNvPr id="14" name="文字方塊 17">
            <a:extLst>
              <a:ext uri="{FF2B5EF4-FFF2-40B4-BE49-F238E27FC236}">
                <a16:creationId xmlns:a16="http://schemas.microsoft.com/office/drawing/2014/main" xmlns="" id="{E114DEFF-4464-1230-5102-DAAA05109B8A}"/>
              </a:ext>
            </a:extLst>
          </p:cNvPr>
          <p:cNvSpPr txBox="1"/>
          <p:nvPr/>
        </p:nvSpPr>
        <p:spPr>
          <a:xfrm>
            <a:off x="2444080" y="1391440"/>
            <a:ext cx="2254597"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開發</a:t>
            </a:r>
          </a:p>
        </p:txBody>
      </p:sp>
      <p:sp>
        <p:nvSpPr>
          <p:cNvPr id="34" name="文字方塊 17">
            <a:extLst>
              <a:ext uri="{FF2B5EF4-FFF2-40B4-BE49-F238E27FC236}">
                <a16:creationId xmlns:a16="http://schemas.microsoft.com/office/drawing/2014/main" xmlns="" id="{DE52170D-3194-E094-D743-3842F95326FE}"/>
              </a:ext>
            </a:extLst>
          </p:cNvPr>
          <p:cNvSpPr txBox="1"/>
          <p:nvPr/>
        </p:nvSpPr>
        <p:spPr>
          <a:xfrm>
            <a:off x="7033314" y="1366407"/>
            <a:ext cx="2447301"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處主管</a:t>
            </a:r>
          </a:p>
        </p:txBody>
      </p:sp>
      <p:cxnSp>
        <p:nvCxnSpPr>
          <p:cNvPr id="27" name="肘形接點 68">
            <a:extLst>
              <a:ext uri="{FF2B5EF4-FFF2-40B4-BE49-F238E27FC236}">
                <a16:creationId xmlns:a16="http://schemas.microsoft.com/office/drawing/2014/main" xmlns="" id="{4D315B82-E1CA-313C-D4BB-3BBD9FD7F973}"/>
              </a:ext>
            </a:extLst>
          </p:cNvPr>
          <p:cNvCxnSpPr>
            <a:cxnSpLocks/>
            <a:stCxn id="72" idx="2"/>
            <a:endCxn id="84" idx="1"/>
          </p:cNvCxnSpPr>
          <p:nvPr/>
        </p:nvCxnSpPr>
        <p:spPr>
          <a:xfrm rot="16200000" flipH="1">
            <a:off x="6413920" y="4514170"/>
            <a:ext cx="320903" cy="1444744"/>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35" name="流程圖: 決策 50">
            <a:extLst>
              <a:ext uri="{FF2B5EF4-FFF2-40B4-BE49-F238E27FC236}">
                <a16:creationId xmlns:a16="http://schemas.microsoft.com/office/drawing/2014/main" xmlns="" id="{8037CA89-DBE3-1441-8E4C-7EA04E993D61}"/>
              </a:ext>
            </a:extLst>
          </p:cNvPr>
          <p:cNvSpPr/>
          <p:nvPr/>
        </p:nvSpPr>
        <p:spPr bwMode="auto">
          <a:xfrm>
            <a:off x="7343722" y="6265225"/>
            <a:ext cx="1841949" cy="712200"/>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簽核通過</a:t>
            </a:r>
          </a:p>
        </p:txBody>
      </p:sp>
      <p:sp>
        <p:nvSpPr>
          <p:cNvPr id="210" name="文字方塊 17">
            <a:extLst>
              <a:ext uri="{FF2B5EF4-FFF2-40B4-BE49-F238E27FC236}">
                <a16:creationId xmlns:a16="http://schemas.microsoft.com/office/drawing/2014/main" xmlns="" id="{306A0461-FB0A-6B8E-26F4-F4121B822258}"/>
              </a:ext>
            </a:extLst>
          </p:cNvPr>
          <p:cNvSpPr txBox="1"/>
          <p:nvPr/>
        </p:nvSpPr>
        <p:spPr>
          <a:xfrm>
            <a:off x="4698677" y="1260417"/>
            <a:ext cx="2334640" cy="600164"/>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開發</a:t>
            </a:r>
            <a:r>
              <a:rPr lang="en-US" altLang="zh-TW" sz="1650" dirty="0">
                <a:latin typeface="微軟正黑體" panose="020B0604030504040204" pitchFamily="34" charset="-120"/>
                <a:ea typeface="微軟正黑體" panose="020B0604030504040204" pitchFamily="34" charset="-120"/>
              </a:rPr>
              <a:t>:</a:t>
            </a:r>
            <a:r>
              <a:rPr lang="zh-TW" altLang="en-US" sz="1650" dirty="0">
                <a:latin typeface="微軟正黑體" panose="020B0604030504040204" pitchFamily="34" charset="-120"/>
                <a:ea typeface="微軟正黑體" panose="020B0604030504040204" pitchFamily="34" charset="-120"/>
              </a:rPr>
              <a:t>底部製具</a:t>
            </a:r>
            <a:r>
              <a:rPr lang="en-US" altLang="zh-TW" sz="1650" dirty="0">
                <a:latin typeface="微軟正黑體" panose="020B0604030504040204" pitchFamily="34" charset="-120"/>
                <a:ea typeface="微軟正黑體" panose="020B0604030504040204" pitchFamily="34" charset="-120"/>
              </a:rPr>
              <a:t>/</a:t>
            </a:r>
          </a:p>
          <a:p>
            <a:pPr algn="ctr"/>
            <a:r>
              <a:rPr lang="zh-TW" altLang="en-US" sz="1650" dirty="0">
                <a:latin typeface="微軟正黑體" panose="020B0604030504040204" pitchFamily="34" charset="-120"/>
                <a:ea typeface="微軟正黑體" panose="020B0604030504040204" pitchFamily="34" charset="-120"/>
              </a:rPr>
              <a:t>量產</a:t>
            </a:r>
            <a:r>
              <a:rPr lang="en-US" altLang="zh-TW" sz="1650" dirty="0">
                <a:latin typeface="微軟正黑體" panose="020B0604030504040204" pitchFamily="34" charset="-120"/>
                <a:ea typeface="微軟正黑體" panose="020B0604030504040204" pitchFamily="34" charset="-120"/>
              </a:rPr>
              <a:t>:</a:t>
            </a:r>
            <a:r>
              <a:rPr lang="zh-TW" altLang="en-US" sz="1650" dirty="0">
                <a:latin typeface="微軟正黑體" panose="020B0604030504040204" pitchFamily="34" charset="-120"/>
                <a:ea typeface="微軟正黑體" panose="020B0604030504040204" pitchFamily="34" charset="-120"/>
              </a:rPr>
              <a:t>生管</a:t>
            </a:r>
            <a:r>
              <a:rPr lang="en-US" altLang="zh-TW" sz="1650" dirty="0">
                <a:latin typeface="微軟正黑體" panose="020B0604030504040204" pitchFamily="34" charset="-120"/>
                <a:ea typeface="微軟正黑體" panose="020B0604030504040204" pitchFamily="34" charset="-120"/>
              </a:rPr>
              <a:t>/NB:</a:t>
            </a:r>
            <a:r>
              <a:rPr lang="zh-TW" altLang="en-US" sz="1650" dirty="0">
                <a:latin typeface="微軟正黑體" panose="020B0604030504040204" pitchFamily="34" charset="-120"/>
                <a:ea typeface="微軟正黑體" panose="020B0604030504040204" pitchFamily="34" charset="-120"/>
              </a:rPr>
              <a:t>技轉</a:t>
            </a:r>
          </a:p>
        </p:txBody>
      </p:sp>
      <p:cxnSp>
        <p:nvCxnSpPr>
          <p:cNvPr id="217" name="肘形接點 68">
            <a:extLst>
              <a:ext uri="{FF2B5EF4-FFF2-40B4-BE49-F238E27FC236}">
                <a16:creationId xmlns:a16="http://schemas.microsoft.com/office/drawing/2014/main" xmlns="" id="{3C63507D-83FD-0025-3EF4-B6F87A20780B}"/>
              </a:ext>
            </a:extLst>
          </p:cNvPr>
          <p:cNvCxnSpPr>
            <a:cxnSpLocks/>
            <a:stCxn id="83" idx="2"/>
            <a:endCxn id="263" idx="1"/>
          </p:cNvCxnSpPr>
          <p:nvPr/>
        </p:nvCxnSpPr>
        <p:spPr>
          <a:xfrm rot="16200000" flipH="1">
            <a:off x="8662336" y="5893501"/>
            <a:ext cx="701403" cy="6417343"/>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7" name="流程圖: 結束點 8">
            <a:extLst>
              <a:ext uri="{FF2B5EF4-FFF2-40B4-BE49-F238E27FC236}">
                <a16:creationId xmlns:a16="http://schemas.microsoft.com/office/drawing/2014/main" xmlns="" id="{A0DBA237-CDB5-528B-0345-5BE2CBAC9775}"/>
              </a:ext>
            </a:extLst>
          </p:cNvPr>
          <p:cNvSpPr/>
          <p:nvPr/>
        </p:nvSpPr>
        <p:spPr bwMode="auto">
          <a:xfrm>
            <a:off x="262373" y="2282229"/>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開始</a:t>
            </a:r>
          </a:p>
        </p:txBody>
      </p:sp>
      <p:sp>
        <p:nvSpPr>
          <p:cNvPr id="193" name="流程圖: 換頁接點 52">
            <a:extLst>
              <a:ext uri="{FF2B5EF4-FFF2-40B4-BE49-F238E27FC236}">
                <a16:creationId xmlns:a16="http://schemas.microsoft.com/office/drawing/2014/main" xmlns="" id="{81294BE7-C300-D1CD-4376-34B54DFCC2AF}"/>
              </a:ext>
            </a:extLst>
          </p:cNvPr>
          <p:cNvSpPr/>
          <p:nvPr/>
        </p:nvSpPr>
        <p:spPr bwMode="auto">
          <a:xfrm>
            <a:off x="12903028" y="7239979"/>
            <a:ext cx="560627" cy="467303"/>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P5</a:t>
            </a:r>
            <a:endParaRPr lang="zh-TW" altLang="en-US" dirty="0">
              <a:latin typeface="微軟正黑體" panose="020B0604030504040204" pitchFamily="34" charset="-120"/>
              <a:ea typeface="微軟正黑體" panose="020B0604030504040204" pitchFamily="34" charset="-120"/>
            </a:endParaRPr>
          </a:p>
        </p:txBody>
      </p:sp>
      <p:sp>
        <p:nvSpPr>
          <p:cNvPr id="195" name="文字方塊 194">
            <a:extLst>
              <a:ext uri="{FF2B5EF4-FFF2-40B4-BE49-F238E27FC236}">
                <a16:creationId xmlns:a16="http://schemas.microsoft.com/office/drawing/2014/main" xmlns="" id="{6FB1FA4C-3B8A-FBB5-B280-85555F843464}"/>
              </a:ext>
            </a:extLst>
          </p:cNvPr>
          <p:cNvSpPr txBox="1"/>
          <p:nvPr/>
        </p:nvSpPr>
        <p:spPr>
          <a:xfrm>
            <a:off x="6627527" y="6316568"/>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否</a:t>
            </a:r>
            <a:endParaRPr lang="zh-TW" altLang="en-US" sz="1350" dirty="0"/>
          </a:p>
        </p:txBody>
      </p:sp>
      <p:sp>
        <p:nvSpPr>
          <p:cNvPr id="196" name="文字方塊 195">
            <a:extLst>
              <a:ext uri="{FF2B5EF4-FFF2-40B4-BE49-F238E27FC236}">
                <a16:creationId xmlns:a16="http://schemas.microsoft.com/office/drawing/2014/main" xmlns="" id="{29D95A87-8E81-E79E-403B-C860DCAF45F5}"/>
              </a:ext>
            </a:extLst>
          </p:cNvPr>
          <p:cNvSpPr txBox="1"/>
          <p:nvPr/>
        </p:nvSpPr>
        <p:spPr>
          <a:xfrm>
            <a:off x="8300317" y="7047903"/>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zh-TW" altLang="en-US" sz="1350" dirty="0"/>
          </a:p>
        </p:txBody>
      </p:sp>
      <p:sp>
        <p:nvSpPr>
          <p:cNvPr id="2" name="TextBox 53">
            <a:extLst>
              <a:ext uri="{FF2B5EF4-FFF2-40B4-BE49-F238E27FC236}">
                <a16:creationId xmlns:a16="http://schemas.microsoft.com/office/drawing/2014/main" xmlns="" id="{B72E3EFF-4B3C-A9C8-E3E4-F926D0F3D738}"/>
              </a:ext>
            </a:extLst>
          </p:cNvPr>
          <p:cNvSpPr txBox="1"/>
          <p:nvPr/>
        </p:nvSpPr>
        <p:spPr>
          <a:xfrm>
            <a:off x="14380627" y="2064631"/>
            <a:ext cx="3594197" cy="7294305"/>
          </a:xfrm>
          <a:prstGeom prst="rect">
            <a:avLst/>
          </a:prstGeom>
          <a:noFill/>
        </p:spPr>
        <p:txBody>
          <a:bodyPr wrap="square" rtlCol="0">
            <a:spAutoFit/>
          </a:bodyPr>
          <a:lstStyle/>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新開發的楦頭</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模具，需建立新的物料主檔</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建立楦頭</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模具請購申購單</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選擇正確的物料群組，建立資產主檔時，讓系統自動引導帶出</a:t>
            </a:r>
            <a:r>
              <a:rPr lang="en-US" altLang="zh-TW" dirty="0">
                <a:latin typeface="微軟正黑體" panose="020B0604030504040204" pitchFamily="34" charset="-120"/>
                <a:ea typeface="微軟正黑體" panose="020B0604030504040204" pitchFamily="34" charset="-120"/>
              </a:rPr>
              <a:t>M</a:t>
            </a:r>
            <a:r>
              <a:rPr lang="zh-TW" altLang="en-US" dirty="0">
                <a:latin typeface="微軟正黑體" panose="020B0604030504040204" pitchFamily="34" charset="-120"/>
                <a:ea typeface="微軟正黑體" panose="020B0604030504040204" pitchFamily="34" charset="-120"/>
              </a:rPr>
              <a:t>類預付設備款。固定資產請購時，需要填內部訂單號碼作預算管理。</a:t>
            </a: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用程式</a:t>
            </a:r>
            <a:r>
              <a:rPr lang="en-US" altLang="zh-TW" dirty="0">
                <a:latin typeface="微軟正黑體" panose="020B0604030504040204" pitchFamily="34" charset="-120"/>
                <a:ea typeface="微軟正黑體" panose="020B0604030504040204" pitchFamily="34" charset="-120"/>
              </a:rPr>
              <a:t>ZMM017</a:t>
            </a:r>
            <a:r>
              <a:rPr lang="zh-TW" altLang="en-US" dirty="0">
                <a:latin typeface="微軟正黑體" panose="020B0604030504040204" pitchFamily="34" charset="-120"/>
                <a:ea typeface="微軟正黑體" panose="020B0604030504040204" pitchFamily="34" charset="-120"/>
              </a:rPr>
              <a:t>將請購單上傳</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發起簽核流程</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簽核首關為資產組人員，檢核資產類別是否正確，再依序由主管在</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上簽核請購單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簽核不通過的請購單透過程式</a:t>
            </a:r>
            <a:r>
              <a:rPr lang="en-US" altLang="zh-TW" dirty="0">
                <a:latin typeface="微軟正黑體" panose="020B0604030504040204" pitchFamily="34" charset="-120"/>
                <a:ea typeface="微軟正黑體" panose="020B0604030504040204" pitchFamily="34" charset="-120"/>
              </a:rPr>
              <a:t>ZMM018</a:t>
            </a:r>
            <a:r>
              <a:rPr lang="zh-TW" altLang="en-US" dirty="0">
                <a:latin typeface="微軟正黑體" panose="020B0604030504040204" pitchFamily="34" charset="-120"/>
                <a:ea typeface="微軟正黑體" panose="020B0604030504040204" pitchFamily="34" charset="-120"/>
              </a:rPr>
              <a:t>核發請購單標記為刪除</a:t>
            </a: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通過簽核的請購單透過程式</a:t>
            </a:r>
            <a:r>
              <a:rPr lang="en-US" altLang="zh-TW" dirty="0">
                <a:latin typeface="微軟正黑體" panose="020B0604030504040204" pitchFamily="34" charset="-120"/>
                <a:ea typeface="微軟正黑體" panose="020B0604030504040204" pitchFamily="34" charset="-120"/>
              </a:rPr>
              <a:t>ZMM018</a:t>
            </a:r>
            <a:r>
              <a:rPr lang="zh-TW" altLang="en-US" dirty="0">
                <a:latin typeface="微軟正黑體" panose="020B0604030504040204" pitchFamily="34" charset="-120"/>
                <a:ea typeface="微軟正黑體" panose="020B0604030504040204" pitchFamily="34" charset="-120"/>
              </a:rPr>
              <a:t>核發</a:t>
            </a:r>
            <a:r>
              <a:rPr lang="en-US" altLang="zh-TW" dirty="0">
                <a:latin typeface="微軟正黑體" panose="020B0604030504040204" pitchFamily="34" charset="-120"/>
                <a:ea typeface="微軟正黑體" panose="020B0604030504040204" pitchFamily="34" charset="-120"/>
              </a:rPr>
              <a:t>SAP</a:t>
            </a:r>
            <a:r>
              <a:rPr lang="zh-TW" altLang="en-US" dirty="0">
                <a:latin typeface="微軟正黑體" panose="020B0604030504040204" pitchFamily="34" charset="-120"/>
                <a:ea typeface="微軟正黑體" panose="020B0604030504040204" pitchFamily="34" charset="-120"/>
              </a:rPr>
              <a:t>請購單</a:t>
            </a:r>
          </a:p>
          <a:p>
            <a:pPr marL="342900" indent="-342900">
              <a:buFont typeface="+mj-lt"/>
              <a:buAutoNum type="arabicPeriod"/>
            </a:pPr>
            <a:endParaRPr lang="en-US" altLang="zh-TW" dirty="0"/>
          </a:p>
          <a:p>
            <a:endParaRPr lang="en-US" altLang="zh-TW" dirty="0"/>
          </a:p>
        </p:txBody>
      </p:sp>
      <p:sp>
        <p:nvSpPr>
          <p:cNvPr id="263" name="流程圖: 結束點 8">
            <a:extLst>
              <a:ext uri="{FF2B5EF4-FFF2-40B4-BE49-F238E27FC236}">
                <a16:creationId xmlns:a16="http://schemas.microsoft.com/office/drawing/2014/main" xmlns="" id="{A8F2E797-9B58-4468-C0C3-57206032ACC8}"/>
              </a:ext>
            </a:extLst>
          </p:cNvPr>
          <p:cNvSpPr/>
          <p:nvPr/>
        </p:nvSpPr>
        <p:spPr bwMode="auto">
          <a:xfrm>
            <a:off x="12221709" y="9061653"/>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cxnSp>
        <p:nvCxnSpPr>
          <p:cNvPr id="274" name="肘形接點 68">
            <a:extLst>
              <a:ext uri="{FF2B5EF4-FFF2-40B4-BE49-F238E27FC236}">
                <a16:creationId xmlns:a16="http://schemas.microsoft.com/office/drawing/2014/main" xmlns="" id="{43DC4C85-1AB2-73CA-1BEA-B222BB7D613F}"/>
              </a:ext>
            </a:extLst>
          </p:cNvPr>
          <p:cNvCxnSpPr>
            <a:cxnSpLocks/>
            <a:stCxn id="85" idx="2"/>
            <a:endCxn id="193" idx="0"/>
          </p:cNvCxnSpPr>
          <p:nvPr/>
        </p:nvCxnSpPr>
        <p:spPr>
          <a:xfrm rot="16200000" flipH="1">
            <a:off x="10130167" y="4186803"/>
            <a:ext cx="3726015" cy="2380335"/>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12" name="流程圖: 決策 50">
            <a:extLst>
              <a:ext uri="{FF2B5EF4-FFF2-40B4-BE49-F238E27FC236}">
                <a16:creationId xmlns:a16="http://schemas.microsoft.com/office/drawing/2014/main" xmlns="" id="{DF0A16A6-B7B2-9F64-2B8C-2130D087B551}"/>
              </a:ext>
            </a:extLst>
          </p:cNvPr>
          <p:cNvSpPr/>
          <p:nvPr/>
        </p:nvSpPr>
        <p:spPr bwMode="auto">
          <a:xfrm>
            <a:off x="2709494" y="2317865"/>
            <a:ext cx="1578422" cy="712200"/>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新楦頭</a:t>
            </a:r>
            <a:r>
              <a:rPr lang="en-US" altLang="zh-TW" sz="1500" dirty="0">
                <a:latin typeface="微軟正黑體" panose="020B0604030504040204" pitchFamily="34" charset="-120"/>
                <a:ea typeface="微軟正黑體" panose="020B0604030504040204" pitchFamily="34" charset="-120"/>
              </a:rPr>
              <a:t>/</a:t>
            </a:r>
            <a:r>
              <a:rPr lang="zh-TW" altLang="en-US" sz="1500" dirty="0">
                <a:latin typeface="微軟正黑體" panose="020B0604030504040204" pitchFamily="34" charset="-120"/>
                <a:ea typeface="微軟正黑體" panose="020B0604030504040204" pitchFamily="34" charset="-120"/>
              </a:rPr>
              <a:t>模具</a:t>
            </a:r>
          </a:p>
        </p:txBody>
      </p:sp>
      <p:sp>
        <p:nvSpPr>
          <p:cNvPr id="18" name="文字方塊 17">
            <a:extLst>
              <a:ext uri="{FF2B5EF4-FFF2-40B4-BE49-F238E27FC236}">
                <a16:creationId xmlns:a16="http://schemas.microsoft.com/office/drawing/2014/main" xmlns="" id="{6EEF240C-77D0-D23F-D48A-305334081FE5}"/>
              </a:ext>
            </a:extLst>
          </p:cNvPr>
          <p:cNvSpPr txBox="1"/>
          <p:nvPr/>
        </p:nvSpPr>
        <p:spPr>
          <a:xfrm>
            <a:off x="4124228" y="2328922"/>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否</a:t>
            </a:r>
            <a:endParaRPr lang="zh-TW" altLang="en-US" sz="1350" dirty="0"/>
          </a:p>
        </p:txBody>
      </p:sp>
      <p:sp>
        <p:nvSpPr>
          <p:cNvPr id="19" name="文字方塊 18">
            <a:extLst>
              <a:ext uri="{FF2B5EF4-FFF2-40B4-BE49-F238E27FC236}">
                <a16:creationId xmlns:a16="http://schemas.microsoft.com/office/drawing/2014/main" xmlns="" id="{4356C966-2848-A63B-1047-263376AA3E7C}"/>
              </a:ext>
            </a:extLst>
          </p:cNvPr>
          <p:cNvSpPr txBox="1"/>
          <p:nvPr/>
        </p:nvSpPr>
        <p:spPr>
          <a:xfrm>
            <a:off x="3132032" y="3637225"/>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zh-TW" altLang="en-US" sz="1350" dirty="0"/>
          </a:p>
        </p:txBody>
      </p:sp>
      <p:cxnSp>
        <p:nvCxnSpPr>
          <p:cNvPr id="25" name="肘形接點 68">
            <a:extLst>
              <a:ext uri="{FF2B5EF4-FFF2-40B4-BE49-F238E27FC236}">
                <a16:creationId xmlns:a16="http://schemas.microsoft.com/office/drawing/2014/main" xmlns="" id="{69589159-4809-2E90-640D-3429993E649B}"/>
              </a:ext>
            </a:extLst>
          </p:cNvPr>
          <p:cNvCxnSpPr>
            <a:cxnSpLocks/>
            <a:stCxn id="73" idx="3"/>
            <a:endCxn id="77" idx="1"/>
          </p:cNvCxnSpPr>
          <p:nvPr/>
        </p:nvCxnSpPr>
        <p:spPr>
          <a:xfrm flipV="1">
            <a:off x="4413060" y="2690139"/>
            <a:ext cx="476707" cy="2139205"/>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225" name="文字方塊 17">
            <a:extLst>
              <a:ext uri="{FF2B5EF4-FFF2-40B4-BE49-F238E27FC236}">
                <a16:creationId xmlns:a16="http://schemas.microsoft.com/office/drawing/2014/main" xmlns="" id="{1C94C05C-BC39-16A9-FAA3-3069737D2B31}"/>
              </a:ext>
            </a:extLst>
          </p:cNvPr>
          <p:cNvSpPr txBox="1"/>
          <p:nvPr/>
        </p:nvSpPr>
        <p:spPr>
          <a:xfrm>
            <a:off x="9480616" y="1368561"/>
            <a:ext cx="2399757"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廠區採購</a:t>
            </a:r>
          </a:p>
        </p:txBody>
      </p:sp>
      <p:cxnSp>
        <p:nvCxnSpPr>
          <p:cNvPr id="56" name="Straight Connector 284">
            <a:extLst>
              <a:ext uri="{FF2B5EF4-FFF2-40B4-BE49-F238E27FC236}">
                <a16:creationId xmlns:a16="http://schemas.microsoft.com/office/drawing/2014/main" xmlns="" id="{CCB3D035-826A-6F8E-1D15-1A3E96F62413}"/>
              </a:ext>
            </a:extLst>
          </p:cNvPr>
          <p:cNvCxnSpPr>
            <a:cxnSpLocks/>
          </p:cNvCxnSpPr>
          <p:nvPr/>
        </p:nvCxnSpPr>
        <p:spPr>
          <a:xfrm>
            <a:off x="4698677" y="1353636"/>
            <a:ext cx="0" cy="87975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284">
            <a:extLst>
              <a:ext uri="{FF2B5EF4-FFF2-40B4-BE49-F238E27FC236}">
                <a16:creationId xmlns:a16="http://schemas.microsoft.com/office/drawing/2014/main" xmlns="" id="{CCB3D035-826A-6F8E-1D15-1A3E96F62413}"/>
              </a:ext>
            </a:extLst>
          </p:cNvPr>
          <p:cNvCxnSpPr>
            <a:cxnSpLocks/>
          </p:cNvCxnSpPr>
          <p:nvPr/>
        </p:nvCxnSpPr>
        <p:spPr>
          <a:xfrm>
            <a:off x="7033316" y="1327132"/>
            <a:ext cx="0" cy="88240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284">
            <a:extLst>
              <a:ext uri="{FF2B5EF4-FFF2-40B4-BE49-F238E27FC236}">
                <a16:creationId xmlns:a16="http://schemas.microsoft.com/office/drawing/2014/main" xmlns="" id="{CCB3D035-826A-6F8E-1D15-1A3E96F62413}"/>
              </a:ext>
            </a:extLst>
          </p:cNvPr>
          <p:cNvCxnSpPr>
            <a:cxnSpLocks/>
          </p:cNvCxnSpPr>
          <p:nvPr/>
        </p:nvCxnSpPr>
        <p:spPr>
          <a:xfrm>
            <a:off x="9480615" y="1340837"/>
            <a:ext cx="0" cy="8810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肘形接點 68">
            <a:extLst>
              <a:ext uri="{FF2B5EF4-FFF2-40B4-BE49-F238E27FC236}">
                <a16:creationId xmlns:a16="http://schemas.microsoft.com/office/drawing/2014/main" xmlns="" id="{2E1676E0-7AF3-D540-120C-AB96F907F72F}"/>
              </a:ext>
            </a:extLst>
          </p:cNvPr>
          <p:cNvCxnSpPr>
            <a:cxnSpLocks/>
            <a:stCxn id="90" idx="3"/>
            <a:endCxn id="85" idx="1"/>
          </p:cNvCxnSpPr>
          <p:nvPr/>
        </p:nvCxnSpPr>
        <p:spPr>
          <a:xfrm flipV="1">
            <a:off x="9234893" y="2894764"/>
            <a:ext cx="685137" cy="5714578"/>
          </a:xfrm>
          <a:prstGeom prst="bentConnector3">
            <a:avLst>
              <a:gd name="adj1" fmla="val 65474"/>
            </a:avLst>
          </a:prstGeom>
          <a:ln>
            <a:tailEnd type="triangle"/>
          </a:ln>
        </p:spPr>
        <p:style>
          <a:lnRef idx="1">
            <a:schemeClr val="dk1"/>
          </a:lnRef>
          <a:fillRef idx="0">
            <a:schemeClr val="dk1"/>
          </a:fillRef>
          <a:effectRef idx="0">
            <a:schemeClr val="dk1"/>
          </a:effectRef>
          <a:fontRef idx="minor">
            <a:schemeClr val="tx1"/>
          </a:fontRef>
        </p:style>
      </p:cxnSp>
      <p:cxnSp>
        <p:nvCxnSpPr>
          <p:cNvPr id="23" name="肘形接點 68">
            <a:extLst>
              <a:ext uri="{FF2B5EF4-FFF2-40B4-BE49-F238E27FC236}">
                <a16:creationId xmlns:a16="http://schemas.microsoft.com/office/drawing/2014/main" xmlns="" id="{BD005B3B-B0AC-8A5E-AEB9-8A6CF2B13AC1}"/>
              </a:ext>
            </a:extLst>
          </p:cNvPr>
          <p:cNvCxnSpPr>
            <a:cxnSpLocks/>
            <a:stCxn id="35" idx="1"/>
            <a:endCxn id="83" idx="0"/>
          </p:cNvCxnSpPr>
          <p:nvPr/>
        </p:nvCxnSpPr>
        <p:spPr>
          <a:xfrm rot="10800000" flipV="1">
            <a:off x="5804366" y="6621324"/>
            <a:ext cx="1539356" cy="891747"/>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71" name="Google Shape;198;p3"/>
          <p:cNvSpPr txBox="1">
            <a:spLocks/>
          </p:cNvSpPr>
          <p:nvPr/>
        </p:nvSpPr>
        <p:spPr>
          <a:xfrm>
            <a:off x="15385775" y="487206"/>
            <a:ext cx="280050" cy="215157"/>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9pPr>
          </a:lstStyle>
          <a:p>
            <a:r>
              <a:rPr lang="en-US" sz="1500" dirty="0"/>
              <a:t>4</a:t>
            </a:r>
          </a:p>
        </p:txBody>
      </p:sp>
      <p:graphicFrame>
        <p:nvGraphicFramePr>
          <p:cNvPr id="72" name="表格 30">
            <a:extLst>
              <a:ext uri="{FF2B5EF4-FFF2-40B4-BE49-F238E27FC236}">
                <a16:creationId xmlns:a16="http://schemas.microsoft.com/office/drawing/2014/main" xmlns="" id="{DB7A0832-7D21-1719-AE8D-90899BF1A64F}"/>
              </a:ext>
            </a:extLst>
          </p:cNvPr>
          <p:cNvGraphicFramePr>
            <a:graphicFrameLocks noGrp="1"/>
          </p:cNvGraphicFramePr>
          <p:nvPr>
            <p:extLst>
              <p:ext uri="{D42A27DB-BD31-4B8C-83A1-F6EECF244321}">
                <p14:modId xmlns:p14="http://schemas.microsoft.com/office/powerpoint/2010/main" val="1854796880"/>
              </p:ext>
            </p:extLst>
          </p:nvPr>
        </p:nvGraphicFramePr>
        <p:xfrm>
          <a:off x="4885501" y="3837691"/>
          <a:ext cx="1932996" cy="1238400"/>
        </p:xfrm>
        <a:graphic>
          <a:graphicData uri="http://schemas.openxmlformats.org/drawingml/2006/table">
            <a:tbl>
              <a:tblPr>
                <a:tableStyleId>{5940675A-B579-460E-94D1-54222C63F5DA}</a:tableStyleId>
              </a:tblPr>
              <a:tblGrid>
                <a:gridCol w="966498">
                  <a:extLst>
                    <a:ext uri="{9D8B030D-6E8A-4147-A177-3AD203B41FA5}">
                      <a16:colId xmlns:a16="http://schemas.microsoft.com/office/drawing/2014/main" xmlns="" val="3433979995"/>
                    </a:ext>
                  </a:extLst>
                </a:gridCol>
                <a:gridCol w="966498">
                  <a:extLst>
                    <a:ext uri="{9D8B030D-6E8A-4147-A177-3AD203B41FA5}">
                      <a16:colId xmlns:a16="http://schemas.microsoft.com/office/drawing/2014/main" xmlns=""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500" b="1" dirty="0">
                          <a:solidFill>
                            <a:schemeClr val="tx1"/>
                          </a:solidFill>
                          <a:latin typeface="微軟正黑體" panose="020B0604030504040204" pitchFamily="34" charset="-120"/>
                          <a:ea typeface="微軟正黑體" panose="020B0604030504040204" pitchFamily="34" charset="-120"/>
                        </a:rPr>
                        <a:t>ZM</a:t>
                      </a:r>
                      <a:r>
                        <a:rPr lang="en-US" altLang="zh-TW" sz="1500" b="1" dirty="0">
                          <a:solidFill>
                            <a:schemeClr val="tx1"/>
                          </a:solidFill>
                          <a:latin typeface="微軟正黑體" panose="020B0604030504040204" pitchFamily="34" charset="-120"/>
                          <a:ea typeface="微軟正黑體" panose="020B0604030504040204" pitchFamily="34" charset="-120"/>
                        </a:rPr>
                        <a:t>M017</a:t>
                      </a:r>
                      <a:endParaRPr lang="en-GB" altLang="zh-TW" sz="1500" b="1" dirty="0">
                        <a:solidFill>
                          <a:schemeClr val="tx1"/>
                        </a:solidFill>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65200">
                <a:tc gridSpan="2">
                  <a:txBody>
                    <a:bodyPr/>
                    <a:lstStyle/>
                    <a:p>
                      <a:pPr algn="ctr"/>
                      <a:r>
                        <a:rPr lang="zh-TW" altLang="en-US" sz="1500" dirty="0">
                          <a:latin typeface="微軟正黑體" panose="020B0604030504040204" pitchFamily="34" charset="-120"/>
                          <a:ea typeface="微軟正黑體" panose="020B0604030504040204" pitchFamily="34" charset="-120"/>
                        </a:rPr>
                        <a:t>將請購單發起</a:t>
                      </a:r>
                      <a:endParaRPr lang="en-US" altLang="zh-TW" sz="1500" dirty="0">
                        <a:latin typeface="微軟正黑體" panose="020B0604030504040204" pitchFamily="34" charset="-120"/>
                        <a:ea typeface="微軟正黑體" panose="020B0604030504040204" pitchFamily="34" charset="-120"/>
                      </a:endParaRPr>
                    </a:p>
                    <a:p>
                      <a:pPr algn="ctr"/>
                      <a:r>
                        <a:rPr lang="en-US" altLang="zh-TW" sz="1500" dirty="0">
                          <a:latin typeface="微軟正黑體" panose="020B0604030504040204" pitchFamily="34" charset="-120"/>
                          <a:ea typeface="微軟正黑體" panose="020B0604030504040204" pitchFamily="34" charset="-120"/>
                        </a:rPr>
                        <a:t>BPM</a:t>
                      </a:r>
                      <a:r>
                        <a:rPr lang="zh-TW" altLang="en-US" sz="1500" dirty="0">
                          <a:latin typeface="微軟正黑體" panose="020B0604030504040204" pitchFamily="34" charset="-120"/>
                          <a:ea typeface="微軟正黑體" panose="020B0604030504040204" pitchFamily="34" charset="-120"/>
                        </a:rPr>
                        <a:t>簽核</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sp>
        <p:nvSpPr>
          <p:cNvPr id="73" name="流程圖: 預設處理作業 21">
            <a:extLst>
              <a:ext uri="{FF2B5EF4-FFF2-40B4-BE49-F238E27FC236}">
                <a16:creationId xmlns:a16="http://schemas.microsoft.com/office/drawing/2014/main" xmlns="" id="{6AB8729A-A396-2BA6-E6B9-1B2A79082818}"/>
              </a:ext>
            </a:extLst>
          </p:cNvPr>
          <p:cNvSpPr/>
          <p:nvPr/>
        </p:nvSpPr>
        <p:spPr bwMode="auto">
          <a:xfrm>
            <a:off x="2599948" y="4210144"/>
            <a:ext cx="1813112"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MM-MA-0010-04</a:t>
            </a:r>
          </a:p>
          <a:p>
            <a:pPr algn="ctr" eaLnBrk="0" hangingPunct="0"/>
            <a:r>
              <a:rPr lang="zh-TW" altLang="en-US" sz="1500" dirty="0">
                <a:latin typeface="微軟正黑體" panose="020B0604030504040204" pitchFamily="34" charset="-120"/>
                <a:ea typeface="微軟正黑體" panose="020B0604030504040204" pitchFamily="34" charset="-120"/>
              </a:rPr>
              <a:t>物料主檔</a:t>
            </a:r>
            <a:r>
              <a:rPr lang="en-US" altLang="zh-TW" sz="1500" dirty="0">
                <a:latin typeface="微軟正黑體" panose="020B0604030504040204" pitchFamily="34" charset="-120"/>
                <a:ea typeface="微軟正黑體" panose="020B0604030504040204" pitchFamily="34" charset="-120"/>
              </a:rPr>
              <a:t>-</a:t>
            </a:r>
            <a:r>
              <a:rPr lang="zh-TW" altLang="en-US" sz="1500" dirty="0">
                <a:latin typeface="微軟正黑體" panose="020B0604030504040204" pitchFamily="34" charset="-120"/>
                <a:ea typeface="微軟正黑體" panose="020B0604030504040204" pitchFamily="34" charset="-120"/>
              </a:rPr>
              <a:t>建檔流程</a:t>
            </a:r>
            <a:endParaRPr lang="en-US" altLang="zh-TW" sz="1500" dirty="0">
              <a:latin typeface="微軟正黑體" panose="020B0604030504040204" pitchFamily="34" charset="-120"/>
              <a:ea typeface="微軟正黑體" panose="020B0604030504040204" pitchFamily="34" charset="-120"/>
            </a:endParaRPr>
          </a:p>
          <a:p>
            <a:pPr algn="ctr" eaLnBrk="0" hangingPunct="0"/>
            <a:r>
              <a:rPr lang="en-US" altLang="zh-TW" sz="1500" dirty="0">
                <a:latin typeface="微軟正黑體" panose="020B0604030504040204" pitchFamily="34" charset="-120"/>
                <a:ea typeface="微軟正黑體" panose="020B0604030504040204" pitchFamily="34" charset="-120"/>
              </a:rPr>
              <a:t>(</a:t>
            </a:r>
            <a:r>
              <a:rPr lang="zh-TW" altLang="en-US" sz="1500" dirty="0">
                <a:latin typeface="微軟正黑體" panose="020B0604030504040204" pitchFamily="34" charset="-120"/>
                <a:ea typeface="微軟正黑體" panose="020B0604030504040204" pitchFamily="34" charset="-120"/>
              </a:rPr>
              <a:t>製工具</a:t>
            </a:r>
            <a:r>
              <a:rPr lang="en-US" altLang="zh-TW" sz="1500" dirty="0">
                <a:latin typeface="微軟正黑體" panose="020B0604030504040204" pitchFamily="34" charset="-120"/>
                <a:ea typeface="微軟正黑體" panose="020B0604030504040204" pitchFamily="34" charset="-120"/>
              </a:rPr>
              <a:t>/</a:t>
            </a:r>
            <a:r>
              <a:rPr lang="zh-TW" altLang="en-US" sz="1500" dirty="0">
                <a:latin typeface="微軟正黑體" panose="020B0604030504040204" pitchFamily="34" charset="-120"/>
                <a:ea typeface="微軟正黑體" panose="020B0604030504040204" pitchFamily="34" charset="-120"/>
              </a:rPr>
              <a:t>楦頭</a:t>
            </a:r>
            <a:r>
              <a:rPr lang="en-US" altLang="zh-TW" sz="1500" dirty="0">
                <a:latin typeface="微軟正黑體" panose="020B0604030504040204" pitchFamily="34" charset="-120"/>
                <a:ea typeface="微軟正黑體" panose="020B0604030504040204" pitchFamily="34" charset="-120"/>
              </a:rPr>
              <a:t>)</a:t>
            </a:r>
          </a:p>
        </p:txBody>
      </p:sp>
      <p:graphicFrame>
        <p:nvGraphicFramePr>
          <p:cNvPr id="77" name="表格 30">
            <a:extLst>
              <a:ext uri="{FF2B5EF4-FFF2-40B4-BE49-F238E27FC236}">
                <a16:creationId xmlns:a16="http://schemas.microsoft.com/office/drawing/2014/main" xmlns="" id="{DB7A0832-7D21-1719-AE8D-90899BF1A64F}"/>
              </a:ext>
            </a:extLst>
          </p:cNvPr>
          <p:cNvGraphicFramePr>
            <a:graphicFrameLocks noGrp="1"/>
          </p:cNvGraphicFramePr>
          <p:nvPr>
            <p:extLst>
              <p:ext uri="{D42A27DB-BD31-4B8C-83A1-F6EECF244321}">
                <p14:modId xmlns:p14="http://schemas.microsoft.com/office/powerpoint/2010/main" val="1657075073"/>
              </p:ext>
            </p:extLst>
          </p:nvPr>
        </p:nvGraphicFramePr>
        <p:xfrm>
          <a:off x="4889767" y="2089636"/>
          <a:ext cx="1932996" cy="1201006"/>
        </p:xfrm>
        <a:graphic>
          <a:graphicData uri="http://schemas.openxmlformats.org/drawingml/2006/table">
            <a:tbl>
              <a:tblPr>
                <a:tableStyleId>{5940675A-B579-460E-94D1-54222C63F5DA}</a:tableStyleId>
              </a:tblPr>
              <a:tblGrid>
                <a:gridCol w="966498">
                  <a:extLst>
                    <a:ext uri="{9D8B030D-6E8A-4147-A177-3AD203B41FA5}">
                      <a16:colId xmlns:a16="http://schemas.microsoft.com/office/drawing/2014/main" xmlns="" val="3433979995"/>
                    </a:ext>
                  </a:extLst>
                </a:gridCol>
                <a:gridCol w="966498">
                  <a:extLst>
                    <a:ext uri="{9D8B030D-6E8A-4147-A177-3AD203B41FA5}">
                      <a16:colId xmlns:a16="http://schemas.microsoft.com/office/drawing/2014/main" xmlns="" val="3727974752"/>
                    </a:ext>
                  </a:extLst>
                </a:gridCol>
              </a:tblGrid>
              <a:tr h="330432">
                <a:tc gridSpan="2">
                  <a:txBody>
                    <a:bodyPr/>
                    <a:lstStyle/>
                    <a:p>
                      <a:pPr algn="ctr"/>
                      <a:r>
                        <a:rPr lang="en-GB" sz="1400" b="1" dirty="0">
                          <a:solidFill>
                            <a:schemeClr val="tx1"/>
                          </a:solidFill>
                          <a:latin typeface="微軟正黑體" panose="020B0604030504040204" pitchFamily="34" charset="-120"/>
                          <a:ea typeface="微軟正黑體" panose="020B0604030504040204" pitchFamily="34" charset="-120"/>
                        </a:rPr>
                        <a:t>ME51N</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36172">
                <a:tc gridSpan="2">
                  <a:txBody>
                    <a:bodyPr/>
                    <a:lstStyle/>
                    <a:p>
                      <a:pPr algn="ctr" eaLnBrk="0" hangingPunct="0"/>
                      <a:r>
                        <a:rPr lang="zh-TW" altLang="en-US" sz="1400" dirty="0">
                          <a:latin typeface="微軟正黑體" panose="020B0604030504040204" pitchFamily="34" charset="-120"/>
                          <a:ea typeface="微軟正黑體" panose="020B0604030504040204" pitchFamily="34" charset="-120"/>
                        </a:rPr>
                        <a:t>建立楦頭</a:t>
                      </a:r>
                      <a:r>
                        <a:rPr lang="en-US" altLang="zh-TW" sz="1400" dirty="0">
                          <a:latin typeface="微軟正黑體" panose="020B0604030504040204" pitchFamily="34" charset="-120"/>
                          <a:ea typeface="微軟正黑體" panose="020B0604030504040204" pitchFamily="34" charset="-120"/>
                        </a:rPr>
                        <a:t>/</a:t>
                      </a:r>
                      <a:r>
                        <a:rPr lang="zh-TW" altLang="en-US" sz="1400" dirty="0">
                          <a:latin typeface="微軟正黑體" panose="020B0604030504040204" pitchFamily="34" charset="-120"/>
                          <a:ea typeface="微軟正黑體" panose="020B0604030504040204" pitchFamily="34" charset="-120"/>
                        </a:rPr>
                        <a:t>模具</a:t>
                      </a:r>
                      <a:r>
                        <a:rPr kumimoji="0" lang="zh-TW" altLang="en-US" sz="1400" dirty="0">
                          <a:latin typeface="微軟正黑體" panose="020B0604030504040204" pitchFamily="34" charset="-120"/>
                          <a:ea typeface="微軟正黑體" panose="020B0604030504040204" pitchFamily="34" charset="-120"/>
                        </a:rPr>
                        <a:t>請購單 ，建立資產主檔</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04464">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手動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pSp>
        <p:nvGrpSpPr>
          <p:cNvPr id="31" name="Group 220">
            <a:extLst>
              <a:ext uri="{FF2B5EF4-FFF2-40B4-BE49-F238E27FC236}">
                <a16:creationId xmlns:a16="http://schemas.microsoft.com/office/drawing/2014/main" xmlns="" id="{A9B401BC-DE49-5FC0-6565-D216316A23DA}"/>
              </a:ext>
            </a:extLst>
          </p:cNvPr>
          <p:cNvGrpSpPr/>
          <p:nvPr/>
        </p:nvGrpSpPr>
        <p:grpSpPr>
          <a:xfrm>
            <a:off x="4201289" y="3995600"/>
            <a:ext cx="547418" cy="408542"/>
            <a:chOff x="5906472" y="1486857"/>
            <a:chExt cx="364945" cy="272361"/>
          </a:xfrm>
        </p:grpSpPr>
        <p:sp>
          <p:nvSpPr>
            <p:cNvPr id="32" name="Oval 221">
              <a:extLst>
                <a:ext uri="{FF2B5EF4-FFF2-40B4-BE49-F238E27FC236}">
                  <a16:creationId xmlns:a16="http://schemas.microsoft.com/office/drawing/2014/main" xmlns="" id="{DEBB780E-65E5-AB48-7071-2CDA63191644}"/>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33" name="TextBox 222">
              <a:extLst>
                <a:ext uri="{FF2B5EF4-FFF2-40B4-BE49-F238E27FC236}">
                  <a16:creationId xmlns:a16="http://schemas.microsoft.com/office/drawing/2014/main" xmlns="" id="{38213EC1-2A6F-CC6F-9F41-D87C1E84A2C8}"/>
                </a:ext>
              </a:extLst>
            </p:cNvPr>
            <p:cNvSpPr txBox="1"/>
            <p:nvPr/>
          </p:nvSpPr>
          <p:spPr>
            <a:xfrm>
              <a:off x="5915817" y="1499128"/>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grpSp>
        <p:nvGrpSpPr>
          <p:cNvPr id="36" name="Group 220">
            <a:extLst>
              <a:ext uri="{FF2B5EF4-FFF2-40B4-BE49-F238E27FC236}">
                <a16:creationId xmlns:a16="http://schemas.microsoft.com/office/drawing/2014/main" xmlns="" id="{49B965EA-5488-20F5-FB4A-DE694754D613}"/>
              </a:ext>
            </a:extLst>
          </p:cNvPr>
          <p:cNvGrpSpPr/>
          <p:nvPr/>
        </p:nvGrpSpPr>
        <p:grpSpPr>
          <a:xfrm>
            <a:off x="6524036" y="1887829"/>
            <a:ext cx="556821" cy="408542"/>
            <a:chOff x="5906472" y="1486857"/>
            <a:chExt cx="371214" cy="272361"/>
          </a:xfrm>
        </p:grpSpPr>
        <p:sp>
          <p:nvSpPr>
            <p:cNvPr id="37" name="Oval 221">
              <a:extLst>
                <a:ext uri="{FF2B5EF4-FFF2-40B4-BE49-F238E27FC236}">
                  <a16:creationId xmlns:a16="http://schemas.microsoft.com/office/drawing/2014/main" xmlns="" id="{D7BB0CC3-1FCC-825A-8223-1DF8E8AA32F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38" name="TextBox 222">
              <a:extLst>
                <a:ext uri="{FF2B5EF4-FFF2-40B4-BE49-F238E27FC236}">
                  <a16:creationId xmlns:a16="http://schemas.microsoft.com/office/drawing/2014/main" xmlns="" id="{AA6B41EE-F383-4448-3FC3-5177F4E9C325}"/>
                </a:ext>
              </a:extLst>
            </p:cNvPr>
            <p:cNvSpPr txBox="1"/>
            <p:nvPr/>
          </p:nvSpPr>
          <p:spPr>
            <a:xfrm>
              <a:off x="5922086" y="1499128"/>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grpSp>
        <p:nvGrpSpPr>
          <p:cNvPr id="231" name="Group 220">
            <a:extLst>
              <a:ext uri="{FF2B5EF4-FFF2-40B4-BE49-F238E27FC236}">
                <a16:creationId xmlns:a16="http://schemas.microsoft.com/office/drawing/2014/main" xmlns="" id="{C7B24B88-05F2-72D5-39A2-A98AB93FAB81}"/>
              </a:ext>
            </a:extLst>
          </p:cNvPr>
          <p:cNvGrpSpPr/>
          <p:nvPr/>
        </p:nvGrpSpPr>
        <p:grpSpPr>
          <a:xfrm>
            <a:off x="6532739" y="3601052"/>
            <a:ext cx="546156" cy="415761"/>
            <a:chOff x="5906472" y="1486857"/>
            <a:chExt cx="364104" cy="272361"/>
          </a:xfrm>
        </p:grpSpPr>
        <p:sp>
          <p:nvSpPr>
            <p:cNvPr id="233" name="Oval 221">
              <a:extLst>
                <a:ext uri="{FF2B5EF4-FFF2-40B4-BE49-F238E27FC236}">
                  <a16:creationId xmlns:a16="http://schemas.microsoft.com/office/drawing/2014/main" xmlns="" id="{53F6935F-E792-3C96-6885-83030B13E958}"/>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34" name="TextBox 222">
              <a:extLst>
                <a:ext uri="{FF2B5EF4-FFF2-40B4-BE49-F238E27FC236}">
                  <a16:creationId xmlns:a16="http://schemas.microsoft.com/office/drawing/2014/main" xmlns="" id="{C5AABDAF-4F38-1029-AE80-748650A9AD14}"/>
                </a:ext>
              </a:extLst>
            </p:cNvPr>
            <p:cNvSpPr txBox="1"/>
            <p:nvPr/>
          </p:nvSpPr>
          <p:spPr>
            <a:xfrm>
              <a:off x="5914976" y="1507079"/>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graphicFrame>
        <p:nvGraphicFramePr>
          <p:cNvPr id="83" name="表格 30">
            <a:extLst>
              <a:ext uri="{FF2B5EF4-FFF2-40B4-BE49-F238E27FC236}">
                <a16:creationId xmlns:a16="http://schemas.microsoft.com/office/drawing/2014/main" xmlns="" id="{DB7A0832-7D21-1719-AE8D-90899BF1A64F}"/>
              </a:ext>
            </a:extLst>
          </p:cNvPr>
          <p:cNvGraphicFramePr>
            <a:graphicFrameLocks noGrp="1"/>
          </p:cNvGraphicFramePr>
          <p:nvPr>
            <p:extLst>
              <p:ext uri="{D42A27DB-BD31-4B8C-83A1-F6EECF244321}">
                <p14:modId xmlns:p14="http://schemas.microsoft.com/office/powerpoint/2010/main" val="1658782656"/>
              </p:ext>
            </p:extLst>
          </p:nvPr>
        </p:nvGraphicFramePr>
        <p:xfrm>
          <a:off x="4837868" y="7513072"/>
          <a:ext cx="1932996" cy="1238400"/>
        </p:xfrm>
        <a:graphic>
          <a:graphicData uri="http://schemas.openxmlformats.org/drawingml/2006/table">
            <a:tbl>
              <a:tblPr>
                <a:tableStyleId>{5940675A-B579-460E-94D1-54222C63F5DA}</a:tableStyleId>
              </a:tblPr>
              <a:tblGrid>
                <a:gridCol w="966498">
                  <a:extLst>
                    <a:ext uri="{9D8B030D-6E8A-4147-A177-3AD203B41FA5}">
                      <a16:colId xmlns:a16="http://schemas.microsoft.com/office/drawing/2014/main" xmlns="" val="3433979995"/>
                    </a:ext>
                  </a:extLst>
                </a:gridCol>
                <a:gridCol w="966498">
                  <a:extLst>
                    <a:ext uri="{9D8B030D-6E8A-4147-A177-3AD203B41FA5}">
                      <a16:colId xmlns:a16="http://schemas.microsoft.com/office/drawing/2014/main" xmlns="" val="3727974752"/>
                    </a:ext>
                  </a:extLst>
                </a:gridCol>
              </a:tblGrid>
              <a:tr h="336600">
                <a:tc gridSpan="2">
                  <a:txBody>
                    <a:bodyPr/>
                    <a:lstStyle/>
                    <a:p>
                      <a:pPr algn="ctr"/>
                      <a:r>
                        <a:rPr lang="en-GB" altLang="zh-TW" sz="1500" b="1" dirty="0">
                          <a:solidFill>
                            <a:schemeClr val="tx1"/>
                          </a:solidFill>
                          <a:latin typeface="微軟正黑體" panose="020B0604030504040204" pitchFamily="34" charset="-120"/>
                          <a:ea typeface="微軟正黑體" panose="020B0604030504040204" pitchFamily="34" charset="-120"/>
                        </a:rPr>
                        <a:t>ZMM018</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65200">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更新</a:t>
                      </a:r>
                      <a:r>
                        <a:rPr kumimoji="0" lang="en-US" altLang="zh-TW" sz="1500" dirty="0">
                          <a:latin typeface="微軟正黑體" panose="020B0604030504040204" pitchFamily="34" charset="-120"/>
                          <a:ea typeface="微軟正黑體" panose="020B0604030504040204" pitchFamily="34" charset="-120"/>
                        </a:rPr>
                        <a:t>SAP </a:t>
                      </a:r>
                      <a:r>
                        <a:rPr kumimoji="0" lang="zh-TW" altLang="en-US" sz="1500" dirty="0">
                          <a:latin typeface="微軟正黑體" panose="020B0604030504040204" pitchFamily="34" charset="-120"/>
                          <a:ea typeface="微軟正黑體" panose="020B0604030504040204" pitchFamily="34" charset="-120"/>
                        </a:rPr>
                        <a:t>請購單，刪除標記</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自動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aphicFrame>
        <p:nvGraphicFramePr>
          <p:cNvPr id="84" name="表格 30">
            <a:extLst>
              <a:ext uri="{FF2B5EF4-FFF2-40B4-BE49-F238E27FC236}">
                <a16:creationId xmlns:a16="http://schemas.microsoft.com/office/drawing/2014/main" xmlns="" id="{DB7A0832-7D21-1719-AE8D-90899BF1A64F}"/>
              </a:ext>
            </a:extLst>
          </p:cNvPr>
          <p:cNvGraphicFramePr>
            <a:graphicFrameLocks noGrp="1"/>
          </p:cNvGraphicFramePr>
          <p:nvPr>
            <p:extLst>
              <p:ext uri="{D42A27DB-BD31-4B8C-83A1-F6EECF244321}">
                <p14:modId xmlns:p14="http://schemas.microsoft.com/office/powerpoint/2010/main" val="1341395227"/>
              </p:ext>
            </p:extLst>
          </p:nvPr>
        </p:nvGraphicFramePr>
        <p:xfrm>
          <a:off x="7296743" y="4796429"/>
          <a:ext cx="1932996" cy="1201131"/>
        </p:xfrm>
        <a:graphic>
          <a:graphicData uri="http://schemas.openxmlformats.org/drawingml/2006/table">
            <a:tbl>
              <a:tblPr>
                <a:tableStyleId>{5940675A-B579-460E-94D1-54222C63F5DA}</a:tableStyleId>
              </a:tblPr>
              <a:tblGrid>
                <a:gridCol w="966498">
                  <a:extLst>
                    <a:ext uri="{9D8B030D-6E8A-4147-A177-3AD203B41FA5}">
                      <a16:colId xmlns:a16="http://schemas.microsoft.com/office/drawing/2014/main" xmlns="" val="3433979995"/>
                    </a:ext>
                  </a:extLst>
                </a:gridCol>
                <a:gridCol w="966498">
                  <a:extLst>
                    <a:ext uri="{9D8B030D-6E8A-4147-A177-3AD203B41FA5}">
                      <a16:colId xmlns:a16="http://schemas.microsoft.com/office/drawing/2014/main" xmlns="" val="3727974752"/>
                    </a:ext>
                  </a:extLst>
                </a:gridCol>
              </a:tblGrid>
              <a:tr h="353292">
                <a:tc gridSpan="2">
                  <a:txBody>
                    <a:bodyPr/>
                    <a:lstStyle/>
                    <a:p>
                      <a:pPr algn="ctr"/>
                      <a:endParaRPr lang="en-GB" sz="1500" b="1" dirty="0">
                        <a:latin typeface="微軟正黑體" panose="020B0604030504040204" pitchFamily="34" charset="-120"/>
                        <a:ea typeface="微軟正黑體" panose="020B0604030504040204" pitchFamily="34" charset="-120"/>
                      </a:endParaRPr>
                    </a:p>
                  </a:txBody>
                  <a:tcPr marL="54000" marR="54000"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11239">
                <a:tc gridSpan="2">
                  <a:txBody>
                    <a:bodyPr/>
                    <a:lstStyle/>
                    <a:p>
                      <a:pPr algn="ctr"/>
                      <a:r>
                        <a:rPr lang="zh-TW" altLang="en-US" sz="1500" dirty="0">
                          <a:latin typeface="微軟正黑體" panose="020B0604030504040204" pitchFamily="34" charset="-120"/>
                          <a:ea typeface="微軟正黑體" panose="020B0604030504040204" pitchFamily="34" charset="-120"/>
                        </a:rPr>
                        <a:t>簽核請購單</a:t>
                      </a:r>
                      <a:endParaRPr lang="en-US" altLang="zh-TW" sz="1500" dirty="0">
                        <a:latin typeface="微軟正黑體" panose="020B0604030504040204" pitchFamily="34" charset="-120"/>
                        <a:ea typeface="微軟正黑體" panose="020B0604030504040204" pitchFamily="34" charset="-120"/>
                      </a:endParaRPr>
                    </a:p>
                  </a:txBody>
                  <a:tcPr marL="54000" marR="54000"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BPM</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pSp>
        <p:nvGrpSpPr>
          <p:cNvPr id="5" name="Group 220">
            <a:extLst>
              <a:ext uri="{FF2B5EF4-FFF2-40B4-BE49-F238E27FC236}">
                <a16:creationId xmlns:a16="http://schemas.microsoft.com/office/drawing/2014/main" xmlns="" id="{33DE9BA6-990E-DE54-C6C1-2FDFC3EF39E7}"/>
              </a:ext>
            </a:extLst>
          </p:cNvPr>
          <p:cNvGrpSpPr/>
          <p:nvPr/>
        </p:nvGrpSpPr>
        <p:grpSpPr>
          <a:xfrm>
            <a:off x="8902925" y="4568300"/>
            <a:ext cx="559344" cy="415762"/>
            <a:chOff x="5906472" y="1486857"/>
            <a:chExt cx="372896" cy="272361"/>
          </a:xfrm>
        </p:grpSpPr>
        <p:sp>
          <p:nvSpPr>
            <p:cNvPr id="9" name="Oval 221">
              <a:extLst>
                <a:ext uri="{FF2B5EF4-FFF2-40B4-BE49-F238E27FC236}">
                  <a16:creationId xmlns:a16="http://schemas.microsoft.com/office/drawing/2014/main" xmlns="" id="{F948E0C2-1964-7035-7990-D49AB0C97E5A}"/>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10" name="TextBox 222">
              <a:extLst>
                <a:ext uri="{FF2B5EF4-FFF2-40B4-BE49-F238E27FC236}">
                  <a16:creationId xmlns:a16="http://schemas.microsoft.com/office/drawing/2014/main" xmlns="" id="{C4D33436-02F5-686F-699E-8597EF0E4654}"/>
                </a:ext>
              </a:extLst>
            </p:cNvPr>
            <p:cNvSpPr txBox="1"/>
            <p:nvPr/>
          </p:nvSpPr>
          <p:spPr>
            <a:xfrm>
              <a:off x="5923768" y="1499266"/>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4</a:t>
              </a:r>
              <a:endParaRPr lang="zh-TW" altLang="en-US" sz="1500" dirty="0">
                <a:latin typeface="微軟正黑體" panose="020B0604030504040204" pitchFamily="34" charset="-120"/>
                <a:ea typeface="微軟正黑體" panose="020B0604030504040204" pitchFamily="34" charset="-120"/>
              </a:endParaRPr>
            </a:p>
          </p:txBody>
        </p:sp>
      </p:grpSp>
      <p:grpSp>
        <p:nvGrpSpPr>
          <p:cNvPr id="251" name="Group 220">
            <a:extLst>
              <a:ext uri="{FF2B5EF4-FFF2-40B4-BE49-F238E27FC236}">
                <a16:creationId xmlns:a16="http://schemas.microsoft.com/office/drawing/2014/main" xmlns="" id="{8DC8251A-E44B-1164-BACA-6CC3E54D3BE2}"/>
              </a:ext>
            </a:extLst>
          </p:cNvPr>
          <p:cNvGrpSpPr/>
          <p:nvPr/>
        </p:nvGrpSpPr>
        <p:grpSpPr>
          <a:xfrm>
            <a:off x="6486746" y="7274632"/>
            <a:ext cx="558083" cy="415761"/>
            <a:chOff x="5906472" y="1486860"/>
            <a:chExt cx="372055" cy="272361"/>
          </a:xfrm>
        </p:grpSpPr>
        <p:sp>
          <p:nvSpPr>
            <p:cNvPr id="252" name="Oval 221">
              <a:extLst>
                <a:ext uri="{FF2B5EF4-FFF2-40B4-BE49-F238E27FC236}">
                  <a16:creationId xmlns:a16="http://schemas.microsoft.com/office/drawing/2014/main" xmlns="" id="{5EE8FECF-7ADB-5C5F-0E36-C721B027D91C}"/>
                </a:ext>
              </a:extLst>
            </p:cNvPr>
            <p:cNvSpPr/>
            <p:nvPr/>
          </p:nvSpPr>
          <p:spPr>
            <a:xfrm>
              <a:off x="5906472" y="1486860"/>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53" name="TextBox 222">
              <a:extLst>
                <a:ext uri="{FF2B5EF4-FFF2-40B4-BE49-F238E27FC236}">
                  <a16:creationId xmlns:a16="http://schemas.microsoft.com/office/drawing/2014/main" xmlns="" id="{49B18261-A449-F933-55C4-6C66F6F52810}"/>
                </a:ext>
              </a:extLst>
            </p:cNvPr>
            <p:cNvSpPr txBox="1"/>
            <p:nvPr/>
          </p:nvSpPr>
          <p:spPr>
            <a:xfrm>
              <a:off x="5922927" y="1499266"/>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5</a:t>
              </a:r>
              <a:endParaRPr lang="zh-TW" altLang="en-US" sz="1500" dirty="0">
                <a:latin typeface="微軟正黑體" panose="020B0604030504040204" pitchFamily="34" charset="-120"/>
                <a:ea typeface="微軟正黑體" panose="020B0604030504040204" pitchFamily="34" charset="-120"/>
              </a:endParaRPr>
            </a:p>
          </p:txBody>
        </p:sp>
      </p:grpSp>
      <p:graphicFrame>
        <p:nvGraphicFramePr>
          <p:cNvPr id="90" name="表格 30">
            <a:extLst>
              <a:ext uri="{FF2B5EF4-FFF2-40B4-BE49-F238E27FC236}">
                <a16:creationId xmlns:a16="http://schemas.microsoft.com/office/drawing/2014/main" xmlns="" id="{DB7A0832-7D21-1719-AE8D-90899BF1A64F}"/>
              </a:ext>
            </a:extLst>
          </p:cNvPr>
          <p:cNvGraphicFramePr>
            <a:graphicFrameLocks noGrp="1"/>
          </p:cNvGraphicFramePr>
          <p:nvPr>
            <p:extLst>
              <p:ext uri="{D42A27DB-BD31-4B8C-83A1-F6EECF244321}">
                <p14:modId xmlns:p14="http://schemas.microsoft.com/office/powerpoint/2010/main" val="3316506385"/>
              </p:ext>
            </p:extLst>
          </p:nvPr>
        </p:nvGraphicFramePr>
        <p:xfrm>
          <a:off x="7301897" y="8017123"/>
          <a:ext cx="1932996" cy="1184439"/>
        </p:xfrm>
        <a:graphic>
          <a:graphicData uri="http://schemas.openxmlformats.org/drawingml/2006/table">
            <a:tbl>
              <a:tblPr>
                <a:tableStyleId>{5940675A-B579-460E-94D1-54222C63F5DA}</a:tableStyleId>
              </a:tblPr>
              <a:tblGrid>
                <a:gridCol w="966498">
                  <a:extLst>
                    <a:ext uri="{9D8B030D-6E8A-4147-A177-3AD203B41FA5}">
                      <a16:colId xmlns:a16="http://schemas.microsoft.com/office/drawing/2014/main" xmlns="" val="3433979995"/>
                    </a:ext>
                  </a:extLst>
                </a:gridCol>
                <a:gridCol w="966498">
                  <a:extLst>
                    <a:ext uri="{9D8B030D-6E8A-4147-A177-3AD203B41FA5}">
                      <a16:colId xmlns:a16="http://schemas.microsoft.com/office/drawing/2014/main" xmlns="" val="3727974752"/>
                    </a:ext>
                  </a:extLst>
                </a:gridCol>
              </a:tblGrid>
              <a:tr h="336600">
                <a:tc gridSpan="2">
                  <a:txBody>
                    <a:bodyPr/>
                    <a:lstStyle/>
                    <a:p>
                      <a:pPr algn="ctr"/>
                      <a:r>
                        <a:rPr lang="en-GB" altLang="zh-TW" sz="1500" b="1" dirty="0">
                          <a:solidFill>
                            <a:schemeClr val="tx1"/>
                          </a:solidFill>
                          <a:latin typeface="微軟正黑體" panose="020B0604030504040204" pitchFamily="34" charset="-120"/>
                          <a:ea typeface="微軟正黑體" panose="020B0604030504040204" pitchFamily="34" charset="-120"/>
                        </a:rPr>
                        <a:t>ZMM018</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11239">
                <a:tc gridSpan="2">
                  <a:txBody>
                    <a:bodyPr/>
                    <a:lstStyle/>
                    <a:p>
                      <a:pPr algn="ctr"/>
                      <a:r>
                        <a:rPr lang="zh-TW" altLang="en-US" sz="1500" dirty="0">
                          <a:latin typeface="微軟正黑體" panose="020B0604030504040204" pitchFamily="34" charset="-120"/>
                          <a:ea typeface="微軟正黑體" panose="020B0604030504040204" pitchFamily="34" charset="-120"/>
                        </a:rPr>
                        <a:t>核發請購單</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自動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pSp>
        <p:nvGrpSpPr>
          <p:cNvPr id="254" name="Group 220">
            <a:extLst>
              <a:ext uri="{FF2B5EF4-FFF2-40B4-BE49-F238E27FC236}">
                <a16:creationId xmlns:a16="http://schemas.microsoft.com/office/drawing/2014/main" xmlns="" id="{9BD0F043-35D1-5D7D-56A7-9A65F3FBCFF2}"/>
              </a:ext>
            </a:extLst>
          </p:cNvPr>
          <p:cNvGrpSpPr/>
          <p:nvPr/>
        </p:nvGrpSpPr>
        <p:grpSpPr>
          <a:xfrm>
            <a:off x="8990281" y="7777662"/>
            <a:ext cx="546156" cy="415762"/>
            <a:chOff x="5906472" y="1486857"/>
            <a:chExt cx="364104" cy="272361"/>
          </a:xfrm>
        </p:grpSpPr>
        <p:sp>
          <p:nvSpPr>
            <p:cNvPr id="255" name="Oval 221">
              <a:extLst>
                <a:ext uri="{FF2B5EF4-FFF2-40B4-BE49-F238E27FC236}">
                  <a16:creationId xmlns:a16="http://schemas.microsoft.com/office/drawing/2014/main" xmlns="" id="{D4E0BCC8-7DD7-D6B9-D317-4EBC7109D10A}"/>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39" name="TextBox 222">
              <a:extLst>
                <a:ext uri="{FF2B5EF4-FFF2-40B4-BE49-F238E27FC236}">
                  <a16:creationId xmlns:a16="http://schemas.microsoft.com/office/drawing/2014/main" xmlns="" id="{602F340E-AD93-7B12-F684-7EF343728396}"/>
                </a:ext>
              </a:extLst>
            </p:cNvPr>
            <p:cNvSpPr txBox="1"/>
            <p:nvPr/>
          </p:nvSpPr>
          <p:spPr>
            <a:xfrm>
              <a:off x="5914976" y="1499266"/>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6</a:t>
              </a:r>
              <a:endParaRPr lang="zh-TW" altLang="en-US" sz="1500" dirty="0">
                <a:latin typeface="微軟正黑體" panose="020B0604030504040204" pitchFamily="34" charset="-120"/>
                <a:ea typeface="微軟正黑體" panose="020B0604030504040204" pitchFamily="34" charset="-120"/>
              </a:endParaRPr>
            </a:p>
          </p:txBody>
        </p:sp>
      </p:grpSp>
      <p:sp>
        <p:nvSpPr>
          <p:cNvPr id="74" name="流程圖: 文件 42">
            <a:extLst>
              <a:ext uri="{FF2B5EF4-FFF2-40B4-BE49-F238E27FC236}">
                <a16:creationId xmlns:a16="http://schemas.microsoft.com/office/drawing/2014/main" xmlns="" id="{91F9B27C-7F80-2BDA-7707-DDBD4E112805}"/>
              </a:ext>
            </a:extLst>
          </p:cNvPr>
          <p:cNvSpPr/>
          <p:nvPr/>
        </p:nvSpPr>
        <p:spPr bwMode="auto">
          <a:xfrm>
            <a:off x="293561" y="3534809"/>
            <a:ext cx="1841949" cy="1238400"/>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技轉</a:t>
            </a:r>
            <a:r>
              <a:rPr lang="en-US" altLang="zh-TW" sz="1500" dirty="0">
                <a:latin typeface="微軟正黑體" panose="020B0604030504040204" pitchFamily="34" charset="-120"/>
                <a:ea typeface="微軟正黑體" panose="020B0604030504040204" pitchFamily="34" charset="-120"/>
              </a:rPr>
              <a:t>: </a:t>
            </a:r>
            <a:r>
              <a:rPr lang="zh-TW" altLang="en-US" sz="1500" dirty="0">
                <a:latin typeface="微軟正黑體" panose="020B0604030504040204" pitchFamily="34" charset="-120"/>
                <a:ea typeface="微軟正黑體" panose="020B0604030504040204" pitchFamily="34" charset="-120"/>
              </a:rPr>
              <a:t>申請單</a:t>
            </a:r>
            <a:endParaRPr lang="en-US" altLang="zh-TW" sz="1500" dirty="0">
              <a:latin typeface="微軟正黑體" panose="020B0604030504040204" pitchFamily="34" charset="-120"/>
              <a:ea typeface="微軟正黑體" panose="020B0604030504040204" pitchFamily="34" charset="-120"/>
            </a:endParaRPr>
          </a:p>
          <a:p>
            <a:pPr algn="ctr" eaLnBrk="0" hangingPunct="0"/>
            <a:r>
              <a:rPr lang="en-US" altLang="zh-TW" sz="1500" dirty="0">
                <a:latin typeface="微軟正黑體" panose="020B0604030504040204" pitchFamily="34" charset="-120"/>
                <a:ea typeface="微軟正黑體" panose="020B0604030504040204" pitchFamily="34" charset="-120"/>
              </a:rPr>
              <a:t>(</a:t>
            </a:r>
            <a:r>
              <a:rPr lang="zh-TW" altLang="en-US" sz="1500" dirty="0">
                <a:latin typeface="微軟正黑體" panose="020B0604030504040204" pitchFamily="34" charset="-120"/>
                <a:ea typeface="微軟正黑體" panose="020B0604030504040204" pitchFamily="34" charset="-120"/>
              </a:rPr>
              <a:t>紙本</a:t>
            </a:r>
            <a:r>
              <a:rPr lang="en-US" altLang="zh-TW" sz="1500" dirty="0">
                <a:latin typeface="微軟正黑體" panose="020B0604030504040204" pitchFamily="34" charset="-120"/>
                <a:ea typeface="微軟正黑體" panose="020B0604030504040204" pitchFamily="34" charset="-120"/>
              </a:rPr>
              <a:t>/EXCEL)</a:t>
            </a:r>
          </a:p>
          <a:p>
            <a:pPr algn="ctr" eaLnBrk="0" hangingPunct="0"/>
            <a:endParaRPr lang="zh-TW" altLang="en-US" sz="1500" dirty="0">
              <a:latin typeface="微軟正黑體" panose="020B0604030504040204" pitchFamily="34" charset="-120"/>
              <a:ea typeface="微軟正黑體" panose="020B0604030504040204" pitchFamily="34" charset="-120"/>
            </a:endParaRPr>
          </a:p>
        </p:txBody>
      </p:sp>
      <p:sp>
        <p:nvSpPr>
          <p:cNvPr id="85" name="流程圖: 預設處理作業 21">
            <a:extLst>
              <a:ext uri="{FF2B5EF4-FFF2-40B4-BE49-F238E27FC236}">
                <a16:creationId xmlns:a16="http://schemas.microsoft.com/office/drawing/2014/main" xmlns="" id="{061751AD-3FB9-5673-91AF-11A4012F1D93}"/>
              </a:ext>
            </a:extLst>
          </p:cNvPr>
          <p:cNvSpPr/>
          <p:nvPr/>
        </p:nvSpPr>
        <p:spPr bwMode="auto">
          <a:xfrm>
            <a:off x="9920030" y="2275564"/>
            <a:ext cx="1765953"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solidFill>
                  <a:srgbClr val="000000"/>
                </a:solidFill>
                <a:latin typeface="Microsoft JhengHei" panose="020B0604030504040204" pitchFamily="34" charset="-120"/>
                <a:ea typeface="Microsoft JhengHei" panose="020B0604030504040204" pitchFamily="34" charset="-120"/>
              </a:rPr>
              <a:t>MM-PU-0010</a:t>
            </a:r>
          </a:p>
          <a:p>
            <a:pPr algn="ctr" eaLnBrk="0" hangingPunct="0"/>
            <a:r>
              <a:rPr lang="zh-TW" altLang="en-US" sz="1500" dirty="0">
                <a:solidFill>
                  <a:srgbClr val="000000"/>
                </a:solidFill>
                <a:latin typeface="Microsoft JhengHei" panose="020B0604030504040204" pitchFamily="34" charset="-120"/>
                <a:ea typeface="Microsoft JhengHei" panose="020B0604030504040204" pitchFamily="34" charset="-120"/>
              </a:rPr>
              <a:t>詢報價更新</a:t>
            </a:r>
            <a:endParaRPr lang="en-US" altLang="zh-TW" sz="1500" dirty="0">
              <a:solidFill>
                <a:srgbClr val="000000"/>
              </a:solidFill>
              <a:latin typeface="Microsoft JhengHei" panose="020B0604030504040204" pitchFamily="34" charset="-120"/>
              <a:ea typeface="Microsoft JhengHei" panose="020B0604030504040204" pitchFamily="34" charset="-120"/>
            </a:endParaRPr>
          </a:p>
          <a:p>
            <a:pPr algn="ctr" eaLnBrk="0" hangingPunct="0"/>
            <a:r>
              <a:rPr lang="zh-TW" altLang="en-US" sz="1500" dirty="0">
                <a:solidFill>
                  <a:srgbClr val="000000"/>
                </a:solidFill>
                <a:latin typeface="Microsoft JhengHei" panose="020B0604030504040204" pitchFamily="34" charset="-120"/>
                <a:ea typeface="Microsoft JhengHei" panose="020B0604030504040204" pitchFamily="34" charset="-120"/>
              </a:rPr>
              <a:t>價格主檔</a:t>
            </a:r>
            <a:r>
              <a:rPr lang="zh-TW" altLang="en-US" sz="1500" dirty="0"/>
              <a:t> </a:t>
            </a:r>
            <a:endParaRPr lang="zh-TW" altLang="en-US" sz="1500" dirty="0">
              <a:latin typeface="微軟正黑體" panose="020B0604030504040204" pitchFamily="34" charset="-120"/>
              <a:ea typeface="微軟正黑體" panose="020B0604030504040204" pitchFamily="34" charset="-120"/>
            </a:endParaRPr>
          </a:p>
        </p:txBody>
      </p:sp>
      <p:cxnSp>
        <p:nvCxnSpPr>
          <p:cNvPr id="8" name="直線單箭頭接點 7">
            <a:extLst>
              <a:ext uri="{FF2B5EF4-FFF2-40B4-BE49-F238E27FC236}">
                <a16:creationId xmlns:a16="http://schemas.microsoft.com/office/drawing/2014/main" xmlns="" id="{30F40FCB-3B68-A111-C1B6-F7B667FDB45E}"/>
              </a:ext>
            </a:extLst>
          </p:cNvPr>
          <p:cNvCxnSpPr>
            <a:cxnSpLocks/>
            <a:stCxn id="7" idx="3"/>
            <a:endCxn id="12" idx="1"/>
          </p:cNvCxnSpPr>
          <p:nvPr/>
        </p:nvCxnSpPr>
        <p:spPr>
          <a:xfrm>
            <a:off x="2060204" y="2673451"/>
            <a:ext cx="649290" cy="51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直線單箭頭接點 15">
            <a:extLst>
              <a:ext uri="{FF2B5EF4-FFF2-40B4-BE49-F238E27FC236}">
                <a16:creationId xmlns:a16="http://schemas.microsoft.com/office/drawing/2014/main" xmlns="" id="{75A891B9-47AC-C698-135F-2D0E20B3C312}"/>
              </a:ext>
            </a:extLst>
          </p:cNvPr>
          <p:cNvCxnSpPr>
            <a:cxnSpLocks/>
            <a:stCxn id="12" idx="2"/>
            <a:endCxn id="73" idx="0"/>
          </p:cNvCxnSpPr>
          <p:nvPr/>
        </p:nvCxnSpPr>
        <p:spPr>
          <a:xfrm>
            <a:off x="3498705" y="3030065"/>
            <a:ext cx="7799" cy="118007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直線單箭頭接點 21">
            <a:extLst>
              <a:ext uri="{FF2B5EF4-FFF2-40B4-BE49-F238E27FC236}">
                <a16:creationId xmlns:a16="http://schemas.microsoft.com/office/drawing/2014/main" xmlns="" id="{E34813AF-00AB-EA73-C185-DB63B99E2E8E}"/>
              </a:ext>
            </a:extLst>
          </p:cNvPr>
          <p:cNvCxnSpPr>
            <a:cxnSpLocks/>
            <a:stCxn id="77" idx="2"/>
            <a:endCxn id="72" idx="0"/>
          </p:cNvCxnSpPr>
          <p:nvPr/>
        </p:nvCxnSpPr>
        <p:spPr>
          <a:xfrm flipH="1">
            <a:off x="5851999" y="3290642"/>
            <a:ext cx="4266" cy="54704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直線單箭頭接點 27">
            <a:extLst>
              <a:ext uri="{FF2B5EF4-FFF2-40B4-BE49-F238E27FC236}">
                <a16:creationId xmlns:a16="http://schemas.microsoft.com/office/drawing/2014/main" xmlns="" id="{3AB54E48-A607-BBC9-B18A-6CC63CA641D2}"/>
              </a:ext>
            </a:extLst>
          </p:cNvPr>
          <p:cNvCxnSpPr>
            <a:cxnSpLocks/>
            <a:stCxn id="12" idx="3"/>
            <a:endCxn id="77" idx="1"/>
          </p:cNvCxnSpPr>
          <p:nvPr/>
        </p:nvCxnSpPr>
        <p:spPr>
          <a:xfrm>
            <a:off x="4287916" y="2673965"/>
            <a:ext cx="601851" cy="1617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2" name="直線單箭頭接點 41">
            <a:extLst>
              <a:ext uri="{FF2B5EF4-FFF2-40B4-BE49-F238E27FC236}">
                <a16:creationId xmlns:a16="http://schemas.microsoft.com/office/drawing/2014/main" xmlns="" id="{52920293-824F-CFCD-3B1C-5BC07AF64F01}"/>
              </a:ext>
            </a:extLst>
          </p:cNvPr>
          <p:cNvCxnSpPr>
            <a:cxnSpLocks/>
            <a:stCxn id="84" idx="2"/>
            <a:endCxn id="35" idx="0"/>
          </p:cNvCxnSpPr>
          <p:nvPr/>
        </p:nvCxnSpPr>
        <p:spPr>
          <a:xfrm>
            <a:off x="8263241" y="5997560"/>
            <a:ext cx="1456" cy="2676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8" name="直線單箭頭接點 47">
            <a:extLst>
              <a:ext uri="{FF2B5EF4-FFF2-40B4-BE49-F238E27FC236}">
                <a16:creationId xmlns:a16="http://schemas.microsoft.com/office/drawing/2014/main" xmlns="" id="{FF315979-89B1-F737-7283-1CF4C9E1A1A1}"/>
              </a:ext>
            </a:extLst>
          </p:cNvPr>
          <p:cNvCxnSpPr>
            <a:cxnSpLocks/>
            <a:stCxn id="35" idx="2"/>
            <a:endCxn id="90" idx="0"/>
          </p:cNvCxnSpPr>
          <p:nvPr/>
        </p:nvCxnSpPr>
        <p:spPr>
          <a:xfrm>
            <a:off x="8264697" y="6977425"/>
            <a:ext cx="3698" cy="10396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0" name="TextBox 2">
            <a:extLst>
              <a:ext uri="{FF2B5EF4-FFF2-40B4-BE49-F238E27FC236}">
                <a16:creationId xmlns:a16="http://schemas.microsoft.com/office/drawing/2014/main" xmlns="" id="{6B09882B-C884-419E-9EB0-7F4E083F29C0}"/>
              </a:ext>
            </a:extLst>
          </p:cNvPr>
          <p:cNvSpPr txBox="1"/>
          <p:nvPr/>
        </p:nvSpPr>
        <p:spPr>
          <a:xfrm>
            <a:off x="16643413" y="697082"/>
            <a:ext cx="1464973" cy="338554"/>
          </a:xfrm>
          <a:prstGeom prst="rect">
            <a:avLst/>
          </a:prstGeom>
          <a:noFill/>
        </p:spPr>
        <p:txBody>
          <a:bodyPr wrap="square" rtlCol="0">
            <a:spAutoFit/>
          </a:bodyPr>
          <a:lstStyle/>
          <a:p>
            <a:r>
              <a:rPr lang="en-US" altLang="zh-TW" sz="1600" dirty="0">
                <a:latin typeface="微軟正黑體" panose="020B0604030504040204" pitchFamily="34" charset="-120"/>
                <a:ea typeface="微軟正黑體" panose="020B0604030504040204" pitchFamily="34" charset="-120"/>
              </a:rPr>
              <a:t>2025/07/14</a:t>
            </a:r>
            <a:endParaRPr lang="zh-TW" altLang="en-US" sz="16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4498521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文字方塊 3">
            <a:extLst>
              <a:ext uri="{FF2B5EF4-FFF2-40B4-BE49-F238E27FC236}">
                <a16:creationId xmlns:a16="http://schemas.microsoft.com/office/drawing/2014/main" xmlns="" id="{83E6F622-2FBE-CC67-50FE-4ABD7D8B9696}"/>
              </a:ext>
            </a:extLst>
          </p:cNvPr>
          <p:cNvSpPr txBox="1"/>
          <p:nvPr/>
        </p:nvSpPr>
        <p:spPr>
          <a:xfrm>
            <a:off x="2444080" y="820877"/>
            <a:ext cx="7218711" cy="461665"/>
          </a:xfrm>
          <a:prstGeom prst="rect">
            <a:avLst/>
          </a:prstGeom>
          <a:noFill/>
        </p:spPr>
        <p:txBody>
          <a:bodyPr wrap="square">
            <a:spAutoFit/>
          </a:bodyPr>
          <a:lstStyle/>
          <a:p>
            <a:pPr eaLnBrk="0" hangingPunct="0"/>
            <a:r>
              <a:rPr lang="en-US" altLang="zh-TW" sz="2400" b="1" dirty="0">
                <a:latin typeface="微軟正黑體" panose="020B0604030504040204" pitchFamily="34" charset="-120"/>
                <a:ea typeface="微軟正黑體" panose="020B0604030504040204" pitchFamily="34" charset="-120"/>
              </a:rPr>
              <a:t>MM-PU-0090-02 </a:t>
            </a:r>
            <a:r>
              <a:rPr lang="zh-TW" altLang="en-US" sz="2400" b="1" dirty="0">
                <a:latin typeface="微軟正黑體" panose="020B0604030504040204" pitchFamily="34" charset="-120"/>
                <a:ea typeface="微軟正黑體" panose="020B0604030504040204" pitchFamily="34" charset="-120"/>
              </a:rPr>
              <a:t>固定資產請採驗流程 </a:t>
            </a:r>
            <a:r>
              <a:rPr lang="en-US" altLang="zh-TW" sz="2400" b="1" dirty="0">
                <a:latin typeface="微軟正黑體" panose="020B0604030504040204" pitchFamily="34" charset="-120"/>
                <a:ea typeface="微軟正黑體" panose="020B0604030504040204" pitchFamily="34" charset="-120"/>
              </a:rPr>
              <a:t>(</a:t>
            </a:r>
            <a:r>
              <a:rPr lang="zh-TW" altLang="en-US" sz="2400" b="1" dirty="0">
                <a:latin typeface="微軟正黑體" panose="020B0604030504040204" pitchFamily="34" charset="-120"/>
                <a:ea typeface="微軟正黑體" panose="020B0604030504040204" pitchFamily="34" charset="-120"/>
              </a:rPr>
              <a:t>楦頭</a:t>
            </a:r>
            <a:r>
              <a:rPr lang="en-US" altLang="zh-TW" sz="2400" b="1" dirty="0">
                <a:latin typeface="微軟正黑體" panose="020B0604030504040204" pitchFamily="34" charset="-120"/>
                <a:ea typeface="微軟正黑體" panose="020B0604030504040204" pitchFamily="34" charset="-120"/>
              </a:rPr>
              <a:t>/</a:t>
            </a:r>
            <a:r>
              <a:rPr lang="zh-TW" altLang="en-US" sz="2400" b="1" dirty="0">
                <a:latin typeface="微軟正黑體" panose="020B0604030504040204" pitchFamily="34" charset="-120"/>
                <a:ea typeface="微軟正黑體" panose="020B0604030504040204" pitchFamily="34" charset="-120"/>
              </a:rPr>
              <a:t>模具</a:t>
            </a:r>
            <a:r>
              <a:rPr lang="en-US" altLang="zh-TW" sz="2400" b="1" dirty="0">
                <a:latin typeface="微軟正黑體" panose="020B0604030504040204" pitchFamily="34" charset="-120"/>
                <a:ea typeface="微軟正黑體" panose="020B0604030504040204" pitchFamily="34" charset="-120"/>
              </a:rPr>
              <a:t>)</a:t>
            </a:r>
            <a:endParaRPr lang="zh-TW" altLang="en-US" sz="2400" b="1" dirty="0">
              <a:latin typeface="微軟正黑體" panose="020B0604030504040204" pitchFamily="34" charset="-120"/>
              <a:ea typeface="微軟正黑體" panose="020B0604030504040204" pitchFamily="34" charset="-120"/>
            </a:endParaRPr>
          </a:p>
        </p:txBody>
      </p:sp>
      <p:sp>
        <p:nvSpPr>
          <p:cNvPr id="14" name="文字方塊 17">
            <a:extLst>
              <a:ext uri="{FF2B5EF4-FFF2-40B4-BE49-F238E27FC236}">
                <a16:creationId xmlns:a16="http://schemas.microsoft.com/office/drawing/2014/main" xmlns="" id="{E114DEFF-4464-1230-5102-DAAA05109B8A}"/>
              </a:ext>
            </a:extLst>
          </p:cNvPr>
          <p:cNvSpPr txBox="1"/>
          <p:nvPr/>
        </p:nvSpPr>
        <p:spPr>
          <a:xfrm>
            <a:off x="2444081" y="1364936"/>
            <a:ext cx="4103546"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廠區採購</a:t>
            </a:r>
          </a:p>
        </p:txBody>
      </p:sp>
      <p:sp>
        <p:nvSpPr>
          <p:cNvPr id="25" name="流程圖: 結束點 8">
            <a:extLst>
              <a:ext uri="{FF2B5EF4-FFF2-40B4-BE49-F238E27FC236}">
                <a16:creationId xmlns:a16="http://schemas.microsoft.com/office/drawing/2014/main" xmlns="" id="{1FB9514E-6261-C7AC-D58E-6A5F2E6F81FD}"/>
              </a:ext>
            </a:extLst>
          </p:cNvPr>
          <p:cNvSpPr/>
          <p:nvPr/>
        </p:nvSpPr>
        <p:spPr bwMode="auto">
          <a:xfrm>
            <a:off x="12142197" y="9194173"/>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sp>
        <p:nvSpPr>
          <p:cNvPr id="55" name="文字方塊 54">
            <a:extLst>
              <a:ext uri="{FF2B5EF4-FFF2-40B4-BE49-F238E27FC236}">
                <a16:creationId xmlns:a16="http://schemas.microsoft.com/office/drawing/2014/main" xmlns="" id="{B106DB5A-3C2B-C42B-E706-9F53E0CA364F}"/>
              </a:ext>
            </a:extLst>
          </p:cNvPr>
          <p:cNvSpPr txBox="1"/>
          <p:nvPr/>
        </p:nvSpPr>
        <p:spPr>
          <a:xfrm>
            <a:off x="10256837" y="6967266"/>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zh-TW" altLang="en-US" sz="1350" dirty="0"/>
          </a:p>
        </p:txBody>
      </p:sp>
      <p:sp>
        <p:nvSpPr>
          <p:cNvPr id="56" name="文字方塊 55">
            <a:extLst>
              <a:ext uri="{FF2B5EF4-FFF2-40B4-BE49-F238E27FC236}">
                <a16:creationId xmlns:a16="http://schemas.microsoft.com/office/drawing/2014/main" xmlns="" id="{7BDD8B3B-9FC5-B431-B92A-CADEB291222C}"/>
              </a:ext>
            </a:extLst>
          </p:cNvPr>
          <p:cNvSpPr txBox="1"/>
          <p:nvPr/>
        </p:nvSpPr>
        <p:spPr>
          <a:xfrm>
            <a:off x="8067019" y="6969254"/>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否</a:t>
            </a:r>
            <a:endParaRPr lang="zh-TW" altLang="en-US" sz="1350" dirty="0"/>
          </a:p>
        </p:txBody>
      </p:sp>
      <p:sp>
        <p:nvSpPr>
          <p:cNvPr id="47" name="流程圖: 決策 50">
            <a:extLst>
              <a:ext uri="{FF2B5EF4-FFF2-40B4-BE49-F238E27FC236}">
                <a16:creationId xmlns:a16="http://schemas.microsoft.com/office/drawing/2014/main" xmlns="" id="{4211AE0E-E934-C866-6745-99857AA1659D}"/>
              </a:ext>
            </a:extLst>
          </p:cNvPr>
          <p:cNvSpPr/>
          <p:nvPr/>
        </p:nvSpPr>
        <p:spPr bwMode="auto">
          <a:xfrm>
            <a:off x="8427336" y="6928402"/>
            <a:ext cx="1841949" cy="712200"/>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簽核通過</a:t>
            </a:r>
          </a:p>
        </p:txBody>
      </p:sp>
      <p:cxnSp>
        <p:nvCxnSpPr>
          <p:cNvPr id="50" name="肘形接點 68">
            <a:extLst>
              <a:ext uri="{FF2B5EF4-FFF2-40B4-BE49-F238E27FC236}">
                <a16:creationId xmlns:a16="http://schemas.microsoft.com/office/drawing/2014/main" xmlns="" id="{132B4FAF-6538-8C69-D0DE-40BD508AF11A}"/>
              </a:ext>
            </a:extLst>
          </p:cNvPr>
          <p:cNvCxnSpPr>
            <a:cxnSpLocks/>
            <a:stCxn id="10" idx="2"/>
            <a:endCxn id="25" idx="1"/>
          </p:cNvCxnSpPr>
          <p:nvPr/>
        </p:nvCxnSpPr>
        <p:spPr>
          <a:xfrm rot="16200000" flipH="1">
            <a:off x="9941268" y="7384465"/>
            <a:ext cx="326681" cy="4075177"/>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53" name="肘形接點 68">
            <a:extLst>
              <a:ext uri="{FF2B5EF4-FFF2-40B4-BE49-F238E27FC236}">
                <a16:creationId xmlns:a16="http://schemas.microsoft.com/office/drawing/2014/main" xmlns="" id="{4A3048A1-DF9E-B19F-4A1B-A34D05AE9CF9}"/>
              </a:ext>
            </a:extLst>
          </p:cNvPr>
          <p:cNvCxnSpPr>
            <a:cxnSpLocks/>
            <a:stCxn id="54" idx="2"/>
            <a:endCxn id="47" idx="0"/>
          </p:cNvCxnSpPr>
          <p:nvPr/>
        </p:nvCxnSpPr>
        <p:spPr>
          <a:xfrm rot="5400000">
            <a:off x="9163350" y="6741817"/>
            <a:ext cx="371546" cy="1624"/>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61" name="肘形接點 68">
            <a:extLst>
              <a:ext uri="{FF2B5EF4-FFF2-40B4-BE49-F238E27FC236}">
                <a16:creationId xmlns:a16="http://schemas.microsoft.com/office/drawing/2014/main" xmlns="" id="{A1760115-079D-78EA-1EA4-A9CBDFE3271D}"/>
              </a:ext>
            </a:extLst>
          </p:cNvPr>
          <p:cNvCxnSpPr>
            <a:cxnSpLocks/>
            <a:stCxn id="47" idx="3"/>
            <a:endCxn id="69" idx="0"/>
          </p:cNvCxnSpPr>
          <p:nvPr/>
        </p:nvCxnSpPr>
        <p:spPr>
          <a:xfrm>
            <a:off x="10269285" y="7284502"/>
            <a:ext cx="268688" cy="763632"/>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193" name="流程圖: 換頁接點 52">
            <a:extLst>
              <a:ext uri="{FF2B5EF4-FFF2-40B4-BE49-F238E27FC236}">
                <a16:creationId xmlns:a16="http://schemas.microsoft.com/office/drawing/2014/main" xmlns="" id="{81294BE7-C300-D1CD-4376-34B54DFCC2AF}"/>
              </a:ext>
            </a:extLst>
          </p:cNvPr>
          <p:cNvSpPr/>
          <p:nvPr/>
        </p:nvSpPr>
        <p:spPr bwMode="auto">
          <a:xfrm>
            <a:off x="12901718" y="7895494"/>
            <a:ext cx="560627" cy="467303"/>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P6</a:t>
            </a:r>
            <a:endParaRPr lang="zh-TW" altLang="en-US" dirty="0">
              <a:latin typeface="微軟正黑體" panose="020B0604030504040204" pitchFamily="34" charset="-120"/>
              <a:ea typeface="微軟正黑體" panose="020B0604030504040204" pitchFamily="34" charset="-120"/>
            </a:endParaRPr>
          </a:p>
        </p:txBody>
      </p:sp>
      <p:sp>
        <p:nvSpPr>
          <p:cNvPr id="8" name="文字方塊 17">
            <a:extLst>
              <a:ext uri="{FF2B5EF4-FFF2-40B4-BE49-F238E27FC236}">
                <a16:creationId xmlns:a16="http://schemas.microsoft.com/office/drawing/2014/main" xmlns="" id="{BBC38995-B8DF-63A0-4401-9FE50A36E787}"/>
              </a:ext>
            </a:extLst>
          </p:cNvPr>
          <p:cNvSpPr txBox="1"/>
          <p:nvPr/>
        </p:nvSpPr>
        <p:spPr>
          <a:xfrm>
            <a:off x="6547625" y="1368692"/>
            <a:ext cx="5366078"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權責主管</a:t>
            </a:r>
          </a:p>
        </p:txBody>
      </p:sp>
      <p:sp>
        <p:nvSpPr>
          <p:cNvPr id="2" name="TextBox 53">
            <a:extLst>
              <a:ext uri="{FF2B5EF4-FFF2-40B4-BE49-F238E27FC236}">
                <a16:creationId xmlns:a16="http://schemas.microsoft.com/office/drawing/2014/main" xmlns="" id="{B72E3EFF-4B3C-A9C8-E3E4-F926D0F3D738}"/>
              </a:ext>
            </a:extLst>
          </p:cNvPr>
          <p:cNvSpPr txBox="1"/>
          <p:nvPr/>
        </p:nvSpPr>
        <p:spPr>
          <a:xfrm>
            <a:off x="14380627" y="2064631"/>
            <a:ext cx="3594197" cy="6740307"/>
          </a:xfrm>
          <a:prstGeom prst="rect">
            <a:avLst/>
          </a:prstGeom>
          <a:noFill/>
        </p:spPr>
        <p:txBody>
          <a:bodyPr wrap="square" rtlCol="0">
            <a:spAutoFit/>
          </a:bodyPr>
          <a:lstStyle/>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更新請購單，指派價格主檔</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採購進行請購單轉採購單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用程式</a:t>
            </a:r>
            <a:r>
              <a:rPr lang="en-US" altLang="zh-TW" dirty="0">
                <a:latin typeface="微軟正黑體" panose="020B0604030504040204" pitchFamily="34" charset="-120"/>
                <a:ea typeface="微軟正黑體" panose="020B0604030504040204" pitchFamily="34" charset="-120"/>
              </a:rPr>
              <a:t>ZMM019</a:t>
            </a:r>
            <a:r>
              <a:rPr lang="zh-TW" altLang="en-US" dirty="0">
                <a:latin typeface="微軟正黑體" panose="020B0604030504040204" pitchFamily="34" charset="-120"/>
                <a:ea typeface="微軟正黑體" panose="020B0604030504040204" pitchFamily="34" charset="-120"/>
              </a:rPr>
              <a:t>將採購單上傳</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發起簽核流程</a:t>
            </a:r>
            <a:r>
              <a:rPr lang="en-US" altLang="zh-TW" dirty="0">
                <a:latin typeface="微軟正黑體" panose="020B0604030504040204" pitchFamily="34" charset="-120"/>
                <a:ea typeface="微軟正黑體" panose="020B0604030504040204" pitchFamily="34" charset="-120"/>
              </a:rPr>
              <a:t> </a:t>
            </a: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主管在</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上簽核採購單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簽核未通過，</a:t>
            </a:r>
            <a:r>
              <a:rPr lang="en-US" altLang="zh-TW" dirty="0">
                <a:latin typeface="微軟正黑體" panose="020B0604030504040204" pitchFamily="34" charset="-120"/>
                <a:ea typeface="微軟正黑體" panose="020B0604030504040204" pitchFamily="34" charset="-120"/>
              </a:rPr>
              <a:t> ZMM006</a:t>
            </a:r>
            <a:r>
              <a:rPr lang="zh-TW" altLang="en-US" dirty="0">
                <a:latin typeface="微軟正黑體" panose="020B0604030504040204" pitchFamily="34" charset="-120"/>
                <a:ea typeface="微軟正黑體" panose="020B0604030504040204" pitchFamily="34" charset="-120"/>
              </a:rPr>
              <a:t>自動將採購單標記為刪除，一並相關請購單。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zh-TW" altLang="en-US"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完成簽核</a:t>
            </a:r>
            <a:r>
              <a:rPr lang="en-US" altLang="zh-TW" dirty="0">
                <a:latin typeface="微軟正黑體" panose="020B0604030504040204" pitchFamily="34" charset="-120"/>
                <a:ea typeface="微軟正黑體" panose="020B0604030504040204" pitchFamily="34" charset="-120"/>
              </a:rPr>
              <a:t>BPM ZMM006</a:t>
            </a:r>
            <a:r>
              <a:rPr lang="zh-TW" altLang="en-US" dirty="0">
                <a:latin typeface="微軟正黑體" panose="020B0604030504040204" pitchFamily="34" charset="-120"/>
                <a:ea typeface="微軟正黑體" panose="020B0604030504040204" pitchFamily="34" charset="-120"/>
              </a:rPr>
              <a:t>自動核發採購單</a:t>
            </a:r>
          </a:p>
          <a:p>
            <a:pPr marL="342900" indent="-342900">
              <a:buFont typeface="+mj-lt"/>
              <a:buAutoNum type="arabicPeriod"/>
            </a:pPr>
            <a:endParaRPr lang="en-US" altLang="zh-TW" dirty="0"/>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當模具採購單有調整數量、金額、付款條件時，需重新執行</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簽核</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p>
          <a:p>
            <a:pPr marL="342900" indent="-342900">
              <a:buFont typeface="+mj-lt"/>
              <a:buAutoNum type="arabicPeriod"/>
            </a:pPr>
            <a:endParaRPr lang="en-US" altLang="zh-TW" dirty="0"/>
          </a:p>
          <a:p>
            <a:pPr marL="342900" indent="-342900">
              <a:buFont typeface="+mj-lt"/>
              <a:buAutoNum type="arabicPeriod"/>
            </a:pPr>
            <a:endParaRPr lang="en-US" altLang="zh-TW" dirty="0"/>
          </a:p>
          <a:p>
            <a:pPr marL="342900" indent="-342900">
              <a:buFont typeface="+mj-lt"/>
              <a:buAutoNum type="arabicPeriod"/>
            </a:pPr>
            <a:endParaRPr lang="en-US" altLang="zh-TW" dirty="0"/>
          </a:p>
          <a:p>
            <a:endParaRPr lang="en-US" altLang="zh-TW" dirty="0"/>
          </a:p>
        </p:txBody>
      </p:sp>
      <p:sp>
        <p:nvSpPr>
          <p:cNvPr id="12" name="流程圖: 換頁接點 52">
            <a:extLst>
              <a:ext uri="{FF2B5EF4-FFF2-40B4-BE49-F238E27FC236}">
                <a16:creationId xmlns:a16="http://schemas.microsoft.com/office/drawing/2014/main" xmlns="" id="{448D21C5-C439-7966-729A-8E00EDEAE2A6}"/>
              </a:ext>
            </a:extLst>
          </p:cNvPr>
          <p:cNvSpPr/>
          <p:nvPr/>
        </p:nvSpPr>
        <p:spPr bwMode="auto">
          <a:xfrm>
            <a:off x="976415" y="2414604"/>
            <a:ext cx="560627" cy="467303"/>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P4</a:t>
            </a:r>
            <a:endParaRPr lang="zh-TW" altLang="en-US" dirty="0">
              <a:latin typeface="微軟正黑體" panose="020B0604030504040204" pitchFamily="34" charset="-120"/>
              <a:ea typeface="微軟正黑體" panose="020B0604030504040204" pitchFamily="34" charset="-120"/>
            </a:endParaRPr>
          </a:p>
        </p:txBody>
      </p:sp>
      <p:cxnSp>
        <p:nvCxnSpPr>
          <p:cNvPr id="38" name="Straight Connector 284">
            <a:extLst>
              <a:ext uri="{FF2B5EF4-FFF2-40B4-BE49-F238E27FC236}">
                <a16:creationId xmlns:a16="http://schemas.microsoft.com/office/drawing/2014/main" xmlns="" id="{CCB3D035-826A-6F8E-1D15-1A3E96F62413}"/>
              </a:ext>
            </a:extLst>
          </p:cNvPr>
          <p:cNvCxnSpPr>
            <a:cxnSpLocks/>
          </p:cNvCxnSpPr>
          <p:nvPr/>
        </p:nvCxnSpPr>
        <p:spPr>
          <a:xfrm>
            <a:off x="6547626" y="1353636"/>
            <a:ext cx="0" cy="85457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肘形接點 68">
            <a:extLst>
              <a:ext uri="{FF2B5EF4-FFF2-40B4-BE49-F238E27FC236}">
                <a16:creationId xmlns:a16="http://schemas.microsoft.com/office/drawing/2014/main" xmlns="" id="{E3A4B4E4-7674-2476-D44D-D084D524924E}"/>
              </a:ext>
            </a:extLst>
          </p:cNvPr>
          <p:cNvCxnSpPr>
            <a:cxnSpLocks/>
            <a:stCxn id="47" idx="1"/>
            <a:endCxn id="10" idx="0"/>
          </p:cNvCxnSpPr>
          <p:nvPr/>
        </p:nvCxnSpPr>
        <p:spPr>
          <a:xfrm rot="10800000" flipV="1">
            <a:off x="8067020" y="7284502"/>
            <a:ext cx="360316" cy="773206"/>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48" name="Google Shape;198;p3"/>
          <p:cNvSpPr txBox="1">
            <a:spLocks/>
          </p:cNvSpPr>
          <p:nvPr/>
        </p:nvSpPr>
        <p:spPr>
          <a:xfrm>
            <a:off x="15425530" y="487206"/>
            <a:ext cx="253546" cy="215157"/>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9pPr>
          </a:lstStyle>
          <a:p>
            <a:r>
              <a:rPr lang="en-US" sz="1500" dirty="0"/>
              <a:t>5</a:t>
            </a:r>
          </a:p>
        </p:txBody>
      </p:sp>
      <p:graphicFrame>
        <p:nvGraphicFramePr>
          <p:cNvPr id="49" name="表格 30">
            <a:extLst>
              <a:ext uri="{FF2B5EF4-FFF2-40B4-BE49-F238E27FC236}">
                <a16:creationId xmlns:a16="http://schemas.microsoft.com/office/drawing/2014/main" xmlns="" id="{DB7A0832-7D21-1719-AE8D-90899BF1A64F}"/>
              </a:ext>
            </a:extLst>
          </p:cNvPr>
          <p:cNvGraphicFramePr>
            <a:graphicFrameLocks noGrp="1"/>
          </p:cNvGraphicFramePr>
          <p:nvPr>
            <p:extLst>
              <p:ext uri="{D42A27DB-BD31-4B8C-83A1-F6EECF244321}">
                <p14:modId xmlns:p14="http://schemas.microsoft.com/office/powerpoint/2010/main" val="2017494790"/>
              </p:ext>
            </p:extLst>
          </p:nvPr>
        </p:nvGraphicFramePr>
        <p:xfrm>
          <a:off x="3291842" y="5330356"/>
          <a:ext cx="1932996" cy="1238400"/>
        </p:xfrm>
        <a:graphic>
          <a:graphicData uri="http://schemas.openxmlformats.org/drawingml/2006/table">
            <a:tbl>
              <a:tblPr>
                <a:tableStyleId>{5940675A-B579-460E-94D1-54222C63F5DA}</a:tableStyleId>
              </a:tblPr>
              <a:tblGrid>
                <a:gridCol w="966498">
                  <a:extLst>
                    <a:ext uri="{9D8B030D-6E8A-4147-A177-3AD203B41FA5}">
                      <a16:colId xmlns:a16="http://schemas.microsoft.com/office/drawing/2014/main" xmlns="" val="3433979995"/>
                    </a:ext>
                  </a:extLst>
                </a:gridCol>
                <a:gridCol w="966498">
                  <a:extLst>
                    <a:ext uri="{9D8B030D-6E8A-4147-A177-3AD203B41FA5}">
                      <a16:colId xmlns:a16="http://schemas.microsoft.com/office/drawing/2014/main" xmlns=""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500" b="1" dirty="0">
                          <a:solidFill>
                            <a:schemeClr val="tx1"/>
                          </a:solidFill>
                          <a:latin typeface="微軟正黑體" panose="020B0604030504040204" pitchFamily="34" charset="-120"/>
                          <a:ea typeface="微軟正黑體" panose="020B0604030504040204" pitchFamily="34" charset="-120"/>
                        </a:rPr>
                        <a:t>ZMM019</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65200">
                <a:tc gridSpan="2">
                  <a:txBody>
                    <a:bodyPr/>
                    <a:lstStyle/>
                    <a:p>
                      <a:pPr algn="ctr"/>
                      <a:r>
                        <a:rPr lang="zh-TW" altLang="en-US" sz="1500" dirty="0">
                          <a:latin typeface="微軟正黑體" panose="020B0604030504040204" pitchFamily="34" charset="-120"/>
                          <a:ea typeface="微軟正黑體" panose="020B0604030504040204" pitchFamily="34" charset="-120"/>
                        </a:rPr>
                        <a:t>將採購單發起</a:t>
                      </a:r>
                      <a:endParaRPr lang="en-US" altLang="zh-TW" sz="1500" dirty="0">
                        <a:latin typeface="微軟正黑體" panose="020B0604030504040204" pitchFamily="34" charset="-120"/>
                        <a:ea typeface="微軟正黑體" panose="020B0604030504040204" pitchFamily="34" charset="-120"/>
                      </a:endParaRPr>
                    </a:p>
                    <a:p>
                      <a:pPr algn="ctr"/>
                      <a:r>
                        <a:rPr lang="en-US" altLang="zh-TW" sz="1500" dirty="0">
                          <a:latin typeface="微軟正黑體" panose="020B0604030504040204" pitchFamily="34" charset="-120"/>
                          <a:ea typeface="微軟正黑體" panose="020B0604030504040204" pitchFamily="34" charset="-120"/>
                        </a:rPr>
                        <a:t>BPM</a:t>
                      </a:r>
                      <a:r>
                        <a:rPr lang="zh-TW" altLang="en-US" sz="1500" dirty="0">
                          <a:latin typeface="微軟正黑體" panose="020B0604030504040204" pitchFamily="34" charset="-120"/>
                          <a:ea typeface="微軟正黑體" panose="020B0604030504040204" pitchFamily="34" charset="-120"/>
                        </a:rPr>
                        <a:t>簽核</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aphicFrame>
        <p:nvGraphicFramePr>
          <p:cNvPr id="51" name="表格 30">
            <a:extLst>
              <a:ext uri="{FF2B5EF4-FFF2-40B4-BE49-F238E27FC236}">
                <a16:creationId xmlns:a16="http://schemas.microsoft.com/office/drawing/2014/main" xmlns="" id="{DB7A0832-7D21-1719-AE8D-90899BF1A64F}"/>
              </a:ext>
            </a:extLst>
          </p:cNvPr>
          <p:cNvGraphicFramePr>
            <a:graphicFrameLocks noGrp="1"/>
          </p:cNvGraphicFramePr>
          <p:nvPr/>
        </p:nvGraphicFramePr>
        <p:xfrm>
          <a:off x="3294534" y="2064631"/>
          <a:ext cx="1932996" cy="1160833"/>
        </p:xfrm>
        <a:graphic>
          <a:graphicData uri="http://schemas.openxmlformats.org/drawingml/2006/table">
            <a:tbl>
              <a:tblPr>
                <a:tableStyleId>{5940675A-B579-460E-94D1-54222C63F5DA}</a:tableStyleId>
              </a:tblPr>
              <a:tblGrid>
                <a:gridCol w="966498">
                  <a:extLst>
                    <a:ext uri="{9D8B030D-6E8A-4147-A177-3AD203B41FA5}">
                      <a16:colId xmlns:a16="http://schemas.microsoft.com/office/drawing/2014/main" xmlns="" val="3433979995"/>
                    </a:ext>
                  </a:extLst>
                </a:gridCol>
                <a:gridCol w="966498">
                  <a:extLst>
                    <a:ext uri="{9D8B030D-6E8A-4147-A177-3AD203B41FA5}">
                      <a16:colId xmlns:a16="http://schemas.microsoft.com/office/drawing/2014/main" xmlns="" val="3727974752"/>
                    </a:ext>
                  </a:extLst>
                </a:gridCol>
              </a:tblGrid>
              <a:tr h="330432">
                <a:tc gridSpan="2">
                  <a:txBody>
                    <a:bodyPr/>
                    <a:lstStyle/>
                    <a:p>
                      <a:pPr algn="ctr"/>
                      <a:r>
                        <a:rPr lang="en-GB" sz="1400" b="1" dirty="0">
                          <a:solidFill>
                            <a:schemeClr val="tx1"/>
                          </a:solidFill>
                          <a:latin typeface="微軟正黑體" panose="020B0604030504040204" pitchFamily="34" charset="-120"/>
                          <a:ea typeface="微軟正黑體" panose="020B0604030504040204" pitchFamily="34" charset="-120"/>
                        </a:rPr>
                        <a:t>ME57</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11239">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請購單指派價格</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04464">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手動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aphicFrame>
        <p:nvGraphicFramePr>
          <p:cNvPr id="52" name="表格 30">
            <a:extLst>
              <a:ext uri="{FF2B5EF4-FFF2-40B4-BE49-F238E27FC236}">
                <a16:creationId xmlns:a16="http://schemas.microsoft.com/office/drawing/2014/main" xmlns="" id="{DB7A0832-7D21-1719-AE8D-90899BF1A64F}"/>
              </a:ext>
            </a:extLst>
          </p:cNvPr>
          <p:cNvGraphicFramePr>
            <a:graphicFrameLocks noGrp="1"/>
          </p:cNvGraphicFramePr>
          <p:nvPr/>
        </p:nvGraphicFramePr>
        <p:xfrm>
          <a:off x="3293546" y="3694445"/>
          <a:ext cx="1932996" cy="1160833"/>
        </p:xfrm>
        <a:graphic>
          <a:graphicData uri="http://schemas.openxmlformats.org/drawingml/2006/table">
            <a:tbl>
              <a:tblPr>
                <a:tableStyleId>{5940675A-B579-460E-94D1-54222C63F5DA}</a:tableStyleId>
              </a:tblPr>
              <a:tblGrid>
                <a:gridCol w="966498">
                  <a:extLst>
                    <a:ext uri="{9D8B030D-6E8A-4147-A177-3AD203B41FA5}">
                      <a16:colId xmlns:a16="http://schemas.microsoft.com/office/drawing/2014/main" xmlns="" val="3433979995"/>
                    </a:ext>
                  </a:extLst>
                </a:gridCol>
                <a:gridCol w="966498">
                  <a:extLst>
                    <a:ext uri="{9D8B030D-6E8A-4147-A177-3AD203B41FA5}">
                      <a16:colId xmlns:a16="http://schemas.microsoft.com/office/drawing/2014/main" xmlns="" val="3727974752"/>
                    </a:ext>
                  </a:extLst>
                </a:gridCol>
              </a:tblGrid>
              <a:tr h="330432">
                <a:tc gridSpan="2">
                  <a:txBody>
                    <a:bodyPr/>
                    <a:lstStyle/>
                    <a:p>
                      <a:pPr algn="ctr"/>
                      <a:r>
                        <a:rPr lang="en-GB" sz="1400" b="1" dirty="0">
                          <a:solidFill>
                            <a:schemeClr val="tx1"/>
                          </a:solidFill>
                          <a:latin typeface="微軟正黑體" panose="020B0604030504040204" pitchFamily="34" charset="-120"/>
                          <a:ea typeface="微軟正黑體" panose="020B0604030504040204" pitchFamily="34" charset="-120"/>
                        </a:rPr>
                        <a:t>ME58</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11239">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請購單轉採購單</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04464">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手動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aphicFrame>
        <p:nvGraphicFramePr>
          <p:cNvPr id="10" name="表格 9"/>
          <p:cNvGraphicFramePr>
            <a:graphicFrameLocks noGrp="1"/>
          </p:cNvGraphicFramePr>
          <p:nvPr>
            <p:extLst>
              <p:ext uri="{D42A27DB-BD31-4B8C-83A1-F6EECF244321}">
                <p14:modId xmlns:p14="http://schemas.microsoft.com/office/powerpoint/2010/main" val="708399897"/>
              </p:ext>
            </p:extLst>
          </p:nvPr>
        </p:nvGraphicFramePr>
        <p:xfrm>
          <a:off x="7100522" y="8057708"/>
          <a:ext cx="1932996" cy="1201006"/>
        </p:xfrm>
        <a:graphic>
          <a:graphicData uri="http://schemas.openxmlformats.org/drawingml/2006/table">
            <a:tbl>
              <a:tblPr>
                <a:tableStyleId>{5940675A-B579-460E-94D1-54222C63F5DA}</a:tableStyleId>
              </a:tblPr>
              <a:tblGrid>
                <a:gridCol w="966498">
                  <a:extLst>
                    <a:ext uri="{9D8B030D-6E8A-4147-A177-3AD203B41FA5}">
                      <a16:colId xmlns:a16="http://schemas.microsoft.com/office/drawing/2014/main" xmlns="" val="20000"/>
                    </a:ext>
                  </a:extLst>
                </a:gridCol>
                <a:gridCol w="966498">
                  <a:extLst>
                    <a:ext uri="{9D8B030D-6E8A-4147-A177-3AD203B41FA5}">
                      <a16:colId xmlns:a16="http://schemas.microsoft.com/office/drawing/2014/main" xmlns="" val="20001"/>
                    </a:ext>
                  </a:extLst>
                </a:gridCol>
              </a:tblGrid>
              <a:tr h="330432">
                <a:tc gridSpan="2">
                  <a:txBody>
                    <a:bodyPr/>
                    <a:lstStyle/>
                    <a:p>
                      <a:pPr algn="ctr"/>
                      <a:r>
                        <a:rPr lang="en-GB" sz="1400" b="1" dirty="0">
                          <a:solidFill>
                            <a:schemeClr val="tx1"/>
                          </a:solidFill>
                          <a:latin typeface="微軟正黑體" panose="020B0604030504040204" pitchFamily="34" charset="-120"/>
                          <a:ea typeface="微軟正黑體" panose="020B0604030504040204" pitchFamily="34" charset="-120"/>
                        </a:rPr>
                        <a:t>ZMM006</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00"/>
                  </a:ext>
                </a:extLst>
              </a:tr>
              <a:tr h="536172">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更新</a:t>
                      </a:r>
                      <a:r>
                        <a:rPr kumimoji="0" lang="en-US" altLang="zh-TW" sz="1400" dirty="0">
                          <a:latin typeface="微軟正黑體" panose="020B0604030504040204" pitchFamily="34" charset="-120"/>
                          <a:ea typeface="微軟正黑體" panose="020B0604030504040204" pitchFamily="34" charset="-120"/>
                        </a:rPr>
                        <a:t>SAP </a:t>
                      </a:r>
                      <a:r>
                        <a:rPr kumimoji="0" lang="zh-TW" altLang="en-US" sz="1400" dirty="0">
                          <a:latin typeface="微軟正黑體" panose="020B0604030504040204" pitchFamily="34" charset="-120"/>
                          <a:ea typeface="微軟正黑體" panose="020B0604030504040204" pitchFamily="34" charset="-120"/>
                        </a:rPr>
                        <a:t>採購單，刪除標記</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01"/>
                  </a:ext>
                </a:extLst>
              </a:tr>
              <a:tr h="304464">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自動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2"/>
                  </a:ext>
                </a:extLst>
              </a:tr>
            </a:tbl>
          </a:graphicData>
        </a:graphic>
      </p:graphicFrame>
      <p:graphicFrame>
        <p:nvGraphicFramePr>
          <p:cNvPr id="54" name="表格 53"/>
          <p:cNvGraphicFramePr>
            <a:graphicFrameLocks noGrp="1"/>
          </p:cNvGraphicFramePr>
          <p:nvPr>
            <p:extLst>
              <p:ext uri="{D42A27DB-BD31-4B8C-83A1-F6EECF244321}">
                <p14:modId xmlns:p14="http://schemas.microsoft.com/office/powerpoint/2010/main" val="4059077778"/>
              </p:ext>
            </p:extLst>
          </p:nvPr>
        </p:nvGraphicFramePr>
        <p:xfrm>
          <a:off x="8383437" y="5355725"/>
          <a:ext cx="1932996" cy="1201131"/>
        </p:xfrm>
        <a:graphic>
          <a:graphicData uri="http://schemas.openxmlformats.org/drawingml/2006/table">
            <a:tbl>
              <a:tblPr>
                <a:tableStyleId>{5940675A-B579-460E-94D1-54222C63F5DA}</a:tableStyleId>
              </a:tblPr>
              <a:tblGrid>
                <a:gridCol w="966498">
                  <a:extLst>
                    <a:ext uri="{9D8B030D-6E8A-4147-A177-3AD203B41FA5}">
                      <a16:colId xmlns:a16="http://schemas.microsoft.com/office/drawing/2014/main" xmlns="" val="20000"/>
                    </a:ext>
                  </a:extLst>
                </a:gridCol>
                <a:gridCol w="966498">
                  <a:extLst>
                    <a:ext uri="{9D8B030D-6E8A-4147-A177-3AD203B41FA5}">
                      <a16:colId xmlns:a16="http://schemas.microsoft.com/office/drawing/2014/main" xmlns="" val="20001"/>
                    </a:ext>
                  </a:extLst>
                </a:gridCol>
              </a:tblGrid>
              <a:tr h="353292">
                <a:tc gridSpan="2">
                  <a:txBody>
                    <a:bodyPr/>
                    <a:lstStyle/>
                    <a:p>
                      <a:pPr algn="ctr"/>
                      <a:endParaRPr lang="en-GB" sz="1500" b="1" dirty="0">
                        <a:latin typeface="微軟正黑體" panose="020B0604030504040204" pitchFamily="34" charset="-120"/>
                        <a:ea typeface="微軟正黑體" panose="020B0604030504040204" pitchFamily="34" charset="-120"/>
                      </a:endParaRPr>
                    </a:p>
                  </a:txBody>
                  <a:tcPr marL="54000" marR="54000"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00"/>
                  </a:ext>
                </a:extLst>
              </a:tr>
              <a:tr h="511239">
                <a:tc gridSpan="2">
                  <a:txBody>
                    <a:bodyPr/>
                    <a:lstStyle/>
                    <a:p>
                      <a:pPr algn="ctr"/>
                      <a:r>
                        <a:rPr lang="zh-TW" altLang="en-US" sz="1500" dirty="0">
                          <a:latin typeface="微軟正黑體" panose="020B0604030504040204" pitchFamily="34" charset="-120"/>
                          <a:ea typeface="微軟正黑體" panose="020B0604030504040204" pitchFamily="34" charset="-120"/>
                        </a:rPr>
                        <a:t>簽核採購單</a:t>
                      </a:r>
                      <a:endParaRPr lang="en-US" altLang="zh-TW" sz="1500" dirty="0">
                        <a:latin typeface="微軟正黑體" panose="020B0604030504040204" pitchFamily="34" charset="-120"/>
                        <a:ea typeface="微軟正黑體" panose="020B0604030504040204" pitchFamily="34" charset="-120"/>
                      </a:endParaRPr>
                    </a:p>
                  </a:txBody>
                  <a:tcPr marL="54000" marR="54000"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01"/>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BPM</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2"/>
                  </a:ext>
                </a:extLst>
              </a:tr>
            </a:tbl>
          </a:graphicData>
        </a:graphic>
      </p:graphicFrame>
      <p:grpSp>
        <p:nvGrpSpPr>
          <p:cNvPr id="31" name="Group 220">
            <a:extLst>
              <a:ext uri="{FF2B5EF4-FFF2-40B4-BE49-F238E27FC236}">
                <a16:creationId xmlns:a16="http://schemas.microsoft.com/office/drawing/2014/main" xmlns="" id="{A9B401BC-DE49-5FC0-6565-D216316A23DA}"/>
              </a:ext>
            </a:extLst>
          </p:cNvPr>
          <p:cNvGrpSpPr/>
          <p:nvPr/>
        </p:nvGrpSpPr>
        <p:grpSpPr>
          <a:xfrm>
            <a:off x="4993898" y="1833815"/>
            <a:ext cx="559344" cy="408542"/>
            <a:chOff x="5906472" y="1486857"/>
            <a:chExt cx="372896" cy="272361"/>
          </a:xfrm>
        </p:grpSpPr>
        <p:sp>
          <p:nvSpPr>
            <p:cNvPr id="32" name="Oval 221">
              <a:extLst>
                <a:ext uri="{FF2B5EF4-FFF2-40B4-BE49-F238E27FC236}">
                  <a16:creationId xmlns:a16="http://schemas.microsoft.com/office/drawing/2014/main" xmlns="" id="{DEBB780E-65E5-AB48-7071-2CDA63191644}"/>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33" name="TextBox 222">
              <a:extLst>
                <a:ext uri="{FF2B5EF4-FFF2-40B4-BE49-F238E27FC236}">
                  <a16:creationId xmlns:a16="http://schemas.microsoft.com/office/drawing/2014/main" xmlns="" id="{38213EC1-2A6F-CC6F-9F41-D87C1E84A2C8}"/>
                </a:ext>
              </a:extLst>
            </p:cNvPr>
            <p:cNvSpPr txBox="1"/>
            <p:nvPr/>
          </p:nvSpPr>
          <p:spPr>
            <a:xfrm>
              <a:off x="5923768" y="1498287"/>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grpSp>
        <p:nvGrpSpPr>
          <p:cNvPr id="13" name="Group 220">
            <a:extLst>
              <a:ext uri="{FF2B5EF4-FFF2-40B4-BE49-F238E27FC236}">
                <a16:creationId xmlns:a16="http://schemas.microsoft.com/office/drawing/2014/main" xmlns="" id="{8F9100A8-C49B-4A69-8C8C-1F7583CA5532}"/>
              </a:ext>
            </a:extLst>
          </p:cNvPr>
          <p:cNvGrpSpPr/>
          <p:nvPr/>
        </p:nvGrpSpPr>
        <p:grpSpPr>
          <a:xfrm>
            <a:off x="4993898" y="3480357"/>
            <a:ext cx="548048" cy="415760"/>
            <a:chOff x="5906472" y="1486857"/>
            <a:chExt cx="365365" cy="272361"/>
          </a:xfrm>
        </p:grpSpPr>
        <p:sp>
          <p:nvSpPr>
            <p:cNvPr id="17" name="Oval 221">
              <a:extLst>
                <a:ext uri="{FF2B5EF4-FFF2-40B4-BE49-F238E27FC236}">
                  <a16:creationId xmlns:a16="http://schemas.microsoft.com/office/drawing/2014/main" xmlns="" id="{563A1C4E-D680-B5D1-5A89-9099D1F33AC2}"/>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18" name="TextBox 222">
              <a:extLst>
                <a:ext uri="{FF2B5EF4-FFF2-40B4-BE49-F238E27FC236}">
                  <a16:creationId xmlns:a16="http://schemas.microsoft.com/office/drawing/2014/main" xmlns="" id="{60D91B19-79E7-F88F-B376-D3C257050AE7}"/>
                </a:ext>
              </a:extLst>
            </p:cNvPr>
            <p:cNvSpPr txBox="1"/>
            <p:nvPr/>
          </p:nvSpPr>
          <p:spPr>
            <a:xfrm>
              <a:off x="5916237" y="1503597"/>
              <a:ext cx="355600" cy="21170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grpSp>
        <p:nvGrpSpPr>
          <p:cNvPr id="244" name="Group 220">
            <a:extLst>
              <a:ext uri="{FF2B5EF4-FFF2-40B4-BE49-F238E27FC236}">
                <a16:creationId xmlns:a16="http://schemas.microsoft.com/office/drawing/2014/main" xmlns="" id="{B5FE5C15-35AB-68F5-E353-F8A18C9C555A}"/>
              </a:ext>
            </a:extLst>
          </p:cNvPr>
          <p:cNvGrpSpPr/>
          <p:nvPr/>
        </p:nvGrpSpPr>
        <p:grpSpPr>
          <a:xfrm>
            <a:off x="4969066" y="5088078"/>
            <a:ext cx="561236" cy="415760"/>
            <a:chOff x="5906472" y="1486857"/>
            <a:chExt cx="374157" cy="272361"/>
          </a:xfrm>
        </p:grpSpPr>
        <p:sp>
          <p:nvSpPr>
            <p:cNvPr id="246" name="Oval 221">
              <a:extLst>
                <a:ext uri="{FF2B5EF4-FFF2-40B4-BE49-F238E27FC236}">
                  <a16:creationId xmlns:a16="http://schemas.microsoft.com/office/drawing/2014/main" xmlns="" id="{4BDC1F77-9896-B2CA-83E6-8EC9E56DD326}"/>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47" name="TextBox 222">
              <a:extLst>
                <a:ext uri="{FF2B5EF4-FFF2-40B4-BE49-F238E27FC236}">
                  <a16:creationId xmlns:a16="http://schemas.microsoft.com/office/drawing/2014/main" xmlns="" id="{3C1970B3-7168-C4BB-89C7-ED51993BA15F}"/>
                </a:ext>
              </a:extLst>
            </p:cNvPr>
            <p:cNvSpPr txBox="1"/>
            <p:nvPr/>
          </p:nvSpPr>
          <p:spPr>
            <a:xfrm>
              <a:off x="5925029" y="1503597"/>
              <a:ext cx="355600" cy="21170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grpSp>
        <p:nvGrpSpPr>
          <p:cNvPr id="235" name="Group 220">
            <a:extLst>
              <a:ext uri="{FF2B5EF4-FFF2-40B4-BE49-F238E27FC236}">
                <a16:creationId xmlns:a16="http://schemas.microsoft.com/office/drawing/2014/main" xmlns="" id="{56A53D60-F177-B66D-1052-09F00D9EB829}"/>
              </a:ext>
            </a:extLst>
          </p:cNvPr>
          <p:cNvGrpSpPr/>
          <p:nvPr/>
        </p:nvGrpSpPr>
        <p:grpSpPr>
          <a:xfrm>
            <a:off x="10072503" y="5142910"/>
            <a:ext cx="548922" cy="408542"/>
            <a:chOff x="5906472" y="1486857"/>
            <a:chExt cx="365948" cy="272361"/>
          </a:xfrm>
        </p:grpSpPr>
        <p:sp>
          <p:nvSpPr>
            <p:cNvPr id="236" name="Oval 221">
              <a:extLst>
                <a:ext uri="{FF2B5EF4-FFF2-40B4-BE49-F238E27FC236}">
                  <a16:creationId xmlns:a16="http://schemas.microsoft.com/office/drawing/2014/main" xmlns="" id="{1026EB19-175E-BAE9-2573-E214F8CC61B8}"/>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37" name="TextBox 222">
              <a:extLst>
                <a:ext uri="{FF2B5EF4-FFF2-40B4-BE49-F238E27FC236}">
                  <a16:creationId xmlns:a16="http://schemas.microsoft.com/office/drawing/2014/main" xmlns="" id="{58D156B1-9578-40C0-E02B-A11714005BD3}"/>
                </a:ext>
              </a:extLst>
            </p:cNvPr>
            <p:cNvSpPr txBox="1"/>
            <p:nvPr/>
          </p:nvSpPr>
          <p:spPr>
            <a:xfrm>
              <a:off x="5916820" y="1493011"/>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4</a:t>
              </a:r>
              <a:endParaRPr lang="zh-TW" altLang="en-US" sz="1500" dirty="0">
                <a:latin typeface="微軟正黑體" panose="020B0604030504040204" pitchFamily="34" charset="-120"/>
                <a:ea typeface="微軟正黑體" panose="020B0604030504040204" pitchFamily="34" charset="-120"/>
              </a:endParaRPr>
            </a:p>
          </p:txBody>
        </p:sp>
      </p:grpSp>
      <p:grpSp>
        <p:nvGrpSpPr>
          <p:cNvPr id="5" name="Group 220">
            <a:extLst>
              <a:ext uri="{FF2B5EF4-FFF2-40B4-BE49-F238E27FC236}">
                <a16:creationId xmlns:a16="http://schemas.microsoft.com/office/drawing/2014/main" xmlns="" id="{95833AC4-F732-A02B-A56A-BF7FE3EEE464}"/>
              </a:ext>
            </a:extLst>
          </p:cNvPr>
          <p:cNvGrpSpPr/>
          <p:nvPr/>
        </p:nvGrpSpPr>
        <p:grpSpPr>
          <a:xfrm>
            <a:off x="8795954" y="7843865"/>
            <a:ext cx="546285" cy="408542"/>
            <a:chOff x="5906472" y="1486857"/>
            <a:chExt cx="364190" cy="272361"/>
          </a:xfrm>
        </p:grpSpPr>
        <p:sp>
          <p:nvSpPr>
            <p:cNvPr id="7" name="Oval 221">
              <a:extLst>
                <a:ext uri="{FF2B5EF4-FFF2-40B4-BE49-F238E27FC236}">
                  <a16:creationId xmlns:a16="http://schemas.microsoft.com/office/drawing/2014/main" xmlns="" id="{448FE136-D5FB-487D-FD11-3048B72422DD}"/>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9" name="TextBox 222">
              <a:extLst>
                <a:ext uri="{FF2B5EF4-FFF2-40B4-BE49-F238E27FC236}">
                  <a16:creationId xmlns:a16="http://schemas.microsoft.com/office/drawing/2014/main" xmlns="" id="{A2F176F7-1727-A72F-920F-71B8E99DAC1D}"/>
                </a:ext>
              </a:extLst>
            </p:cNvPr>
            <p:cNvSpPr txBox="1"/>
            <p:nvPr/>
          </p:nvSpPr>
          <p:spPr>
            <a:xfrm>
              <a:off x="5915062" y="1507079"/>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5</a:t>
              </a:r>
              <a:endParaRPr lang="zh-TW" altLang="en-US" sz="1500" dirty="0">
                <a:latin typeface="微軟正黑體" panose="020B0604030504040204" pitchFamily="34" charset="-120"/>
                <a:ea typeface="微軟正黑體" panose="020B0604030504040204" pitchFamily="34" charset="-120"/>
              </a:endParaRPr>
            </a:p>
          </p:txBody>
        </p:sp>
      </p:grpSp>
      <p:graphicFrame>
        <p:nvGraphicFramePr>
          <p:cNvPr id="69" name="表格 68"/>
          <p:cNvGraphicFramePr>
            <a:graphicFrameLocks noGrp="1"/>
          </p:cNvGraphicFramePr>
          <p:nvPr>
            <p:extLst>
              <p:ext uri="{D42A27DB-BD31-4B8C-83A1-F6EECF244321}">
                <p14:modId xmlns:p14="http://schemas.microsoft.com/office/powerpoint/2010/main" val="3815678069"/>
              </p:ext>
            </p:extLst>
          </p:nvPr>
        </p:nvGraphicFramePr>
        <p:xfrm>
          <a:off x="9571475" y="8048134"/>
          <a:ext cx="1932996" cy="1160833"/>
        </p:xfrm>
        <a:graphic>
          <a:graphicData uri="http://schemas.openxmlformats.org/drawingml/2006/table">
            <a:tbl>
              <a:tblPr>
                <a:tableStyleId>{5940675A-B579-460E-94D1-54222C63F5DA}</a:tableStyleId>
              </a:tblPr>
              <a:tblGrid>
                <a:gridCol w="966498">
                  <a:extLst>
                    <a:ext uri="{9D8B030D-6E8A-4147-A177-3AD203B41FA5}">
                      <a16:colId xmlns:a16="http://schemas.microsoft.com/office/drawing/2014/main" xmlns="" val="20000"/>
                    </a:ext>
                  </a:extLst>
                </a:gridCol>
                <a:gridCol w="966498">
                  <a:extLst>
                    <a:ext uri="{9D8B030D-6E8A-4147-A177-3AD203B41FA5}">
                      <a16:colId xmlns:a16="http://schemas.microsoft.com/office/drawing/2014/main" xmlns="" val="20001"/>
                    </a:ext>
                  </a:extLst>
                </a:gridCol>
              </a:tblGrid>
              <a:tr h="330432">
                <a:tc gridSpan="2">
                  <a:txBody>
                    <a:bodyPr/>
                    <a:lstStyle/>
                    <a:p>
                      <a:pPr algn="ctr"/>
                      <a:r>
                        <a:rPr lang="en-GB" sz="1400" b="1" dirty="0">
                          <a:solidFill>
                            <a:schemeClr val="tx1"/>
                          </a:solidFill>
                          <a:latin typeface="微軟正黑體" panose="020B0604030504040204" pitchFamily="34" charset="-120"/>
                          <a:ea typeface="微軟正黑體" panose="020B0604030504040204" pitchFamily="34" charset="-120"/>
                        </a:rPr>
                        <a:t>ZMM006</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00"/>
                  </a:ext>
                </a:extLst>
              </a:tr>
              <a:tr h="511239">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核發</a:t>
                      </a:r>
                      <a:r>
                        <a:rPr kumimoji="0" lang="en-US" altLang="zh-TW" sz="1400" dirty="0">
                          <a:latin typeface="微軟正黑體" panose="020B0604030504040204" pitchFamily="34" charset="-120"/>
                          <a:ea typeface="微軟正黑體" panose="020B0604030504040204" pitchFamily="34" charset="-120"/>
                        </a:rPr>
                        <a:t>SAP </a:t>
                      </a:r>
                      <a:r>
                        <a:rPr kumimoji="0" lang="zh-TW" altLang="en-US" sz="1400" dirty="0">
                          <a:latin typeface="微軟正黑體" panose="020B0604030504040204" pitchFamily="34" charset="-120"/>
                          <a:ea typeface="微軟正黑體" panose="020B0604030504040204" pitchFamily="34" charset="-120"/>
                        </a:rPr>
                        <a:t>採購單</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01"/>
                  </a:ext>
                </a:extLst>
              </a:tr>
              <a:tr h="304464">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自動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2"/>
                  </a:ext>
                </a:extLst>
              </a:tr>
            </a:tbl>
          </a:graphicData>
        </a:graphic>
      </p:graphicFrame>
      <p:grpSp>
        <p:nvGrpSpPr>
          <p:cNvPr id="71" name="Group 220">
            <a:extLst>
              <a:ext uri="{FF2B5EF4-FFF2-40B4-BE49-F238E27FC236}">
                <a16:creationId xmlns:a16="http://schemas.microsoft.com/office/drawing/2014/main" xmlns="" id="{56A53D60-F177-B66D-1052-09F00D9EB829}"/>
              </a:ext>
            </a:extLst>
          </p:cNvPr>
          <p:cNvGrpSpPr/>
          <p:nvPr/>
        </p:nvGrpSpPr>
        <p:grpSpPr>
          <a:xfrm>
            <a:off x="11255378" y="7843865"/>
            <a:ext cx="559473" cy="408542"/>
            <a:chOff x="5906472" y="1486857"/>
            <a:chExt cx="372982" cy="272361"/>
          </a:xfrm>
        </p:grpSpPr>
        <p:sp>
          <p:nvSpPr>
            <p:cNvPr id="72" name="Oval 221">
              <a:extLst>
                <a:ext uri="{FF2B5EF4-FFF2-40B4-BE49-F238E27FC236}">
                  <a16:creationId xmlns:a16="http://schemas.microsoft.com/office/drawing/2014/main" xmlns="" id="{1026EB19-175E-BAE9-2573-E214F8CC61B8}"/>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73" name="TextBox 222">
              <a:extLst>
                <a:ext uri="{FF2B5EF4-FFF2-40B4-BE49-F238E27FC236}">
                  <a16:creationId xmlns:a16="http://schemas.microsoft.com/office/drawing/2014/main" xmlns="" id="{58D156B1-9578-40C0-E02B-A11714005BD3}"/>
                </a:ext>
              </a:extLst>
            </p:cNvPr>
            <p:cNvSpPr txBox="1"/>
            <p:nvPr/>
          </p:nvSpPr>
          <p:spPr>
            <a:xfrm>
              <a:off x="5923854" y="1507079"/>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6</a:t>
              </a:r>
              <a:endParaRPr lang="zh-TW" altLang="en-US" sz="1500" dirty="0">
                <a:latin typeface="微軟正黑體" panose="020B0604030504040204" pitchFamily="34" charset="-120"/>
                <a:ea typeface="微軟正黑體" panose="020B0604030504040204" pitchFamily="34" charset="-120"/>
              </a:endParaRPr>
            </a:p>
          </p:txBody>
        </p:sp>
      </p:grpSp>
      <p:cxnSp>
        <p:nvCxnSpPr>
          <p:cNvPr id="74" name="肘形接點 68">
            <a:extLst>
              <a:ext uri="{FF2B5EF4-FFF2-40B4-BE49-F238E27FC236}">
                <a16:creationId xmlns:a16="http://schemas.microsoft.com/office/drawing/2014/main" xmlns="" id="{A1760115-079D-78EA-1EA4-A9CBDFE3271D}"/>
              </a:ext>
            </a:extLst>
          </p:cNvPr>
          <p:cNvCxnSpPr>
            <a:cxnSpLocks/>
            <a:stCxn id="69" idx="3"/>
            <a:endCxn id="6" idx="1"/>
          </p:cNvCxnSpPr>
          <p:nvPr/>
        </p:nvCxnSpPr>
        <p:spPr>
          <a:xfrm flipV="1">
            <a:off x="11504471" y="5764512"/>
            <a:ext cx="756936" cy="2864038"/>
          </a:xfrm>
          <a:prstGeom prst="bentConnector3">
            <a:avLst>
              <a:gd name="adj1" fmla="val 70664"/>
            </a:avLst>
          </a:prstGeom>
          <a:ln>
            <a:tailEnd type="triangle"/>
          </a:ln>
        </p:spPr>
        <p:style>
          <a:lnRef idx="1">
            <a:schemeClr val="dk1"/>
          </a:lnRef>
          <a:fillRef idx="0">
            <a:schemeClr val="dk1"/>
          </a:fillRef>
          <a:effectRef idx="0">
            <a:schemeClr val="dk1"/>
          </a:effectRef>
          <a:fontRef idx="minor">
            <a:schemeClr val="tx1"/>
          </a:fontRef>
        </p:style>
      </p:cxnSp>
      <p:cxnSp>
        <p:nvCxnSpPr>
          <p:cNvPr id="3" name="直線單箭頭接點 2">
            <a:extLst>
              <a:ext uri="{FF2B5EF4-FFF2-40B4-BE49-F238E27FC236}">
                <a16:creationId xmlns:a16="http://schemas.microsoft.com/office/drawing/2014/main" xmlns="" id="{23269A80-F2C1-B877-810C-A8CD91C2B0DC}"/>
              </a:ext>
            </a:extLst>
          </p:cNvPr>
          <p:cNvCxnSpPr>
            <a:cxnSpLocks/>
            <a:stCxn id="49" idx="3"/>
            <a:endCxn id="54" idx="1"/>
          </p:cNvCxnSpPr>
          <p:nvPr/>
        </p:nvCxnSpPr>
        <p:spPr>
          <a:xfrm>
            <a:off x="5224838" y="5949556"/>
            <a:ext cx="3158599" cy="67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直線單箭頭接點 18">
            <a:extLst>
              <a:ext uri="{FF2B5EF4-FFF2-40B4-BE49-F238E27FC236}">
                <a16:creationId xmlns:a16="http://schemas.microsoft.com/office/drawing/2014/main" xmlns="" id="{F3E01348-2F57-6C0E-8A2A-036769FE8FFA}"/>
              </a:ext>
            </a:extLst>
          </p:cNvPr>
          <p:cNvCxnSpPr>
            <a:cxnSpLocks/>
            <a:stCxn id="12" idx="3"/>
            <a:endCxn id="51" idx="1"/>
          </p:cNvCxnSpPr>
          <p:nvPr/>
        </p:nvCxnSpPr>
        <p:spPr>
          <a:xfrm flipV="1">
            <a:off x="1537042" y="2645047"/>
            <a:ext cx="1757492" cy="320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直線單箭頭接點 27">
            <a:extLst>
              <a:ext uri="{FF2B5EF4-FFF2-40B4-BE49-F238E27FC236}">
                <a16:creationId xmlns:a16="http://schemas.microsoft.com/office/drawing/2014/main" xmlns="" id="{2D118D1F-A9CC-0063-E64E-7AE57ADD9A37}"/>
              </a:ext>
            </a:extLst>
          </p:cNvPr>
          <p:cNvCxnSpPr>
            <a:cxnSpLocks/>
            <a:stCxn id="52" idx="2"/>
            <a:endCxn id="49" idx="0"/>
          </p:cNvCxnSpPr>
          <p:nvPr/>
        </p:nvCxnSpPr>
        <p:spPr>
          <a:xfrm flipH="1">
            <a:off x="4258340" y="4855278"/>
            <a:ext cx="1704" cy="47507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6" name="直線單箭頭接點 35">
            <a:extLst>
              <a:ext uri="{FF2B5EF4-FFF2-40B4-BE49-F238E27FC236}">
                <a16:creationId xmlns:a16="http://schemas.microsoft.com/office/drawing/2014/main" xmlns="" id="{D22EAB68-CAF5-228D-BF2C-57ABABE20F1E}"/>
              </a:ext>
            </a:extLst>
          </p:cNvPr>
          <p:cNvCxnSpPr>
            <a:cxnSpLocks/>
            <a:stCxn id="51" idx="2"/>
            <a:endCxn id="52" idx="0"/>
          </p:cNvCxnSpPr>
          <p:nvPr/>
        </p:nvCxnSpPr>
        <p:spPr>
          <a:xfrm flipH="1">
            <a:off x="4260044" y="3225464"/>
            <a:ext cx="988" cy="4689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7" name="TextBox 2">
            <a:extLst>
              <a:ext uri="{FF2B5EF4-FFF2-40B4-BE49-F238E27FC236}">
                <a16:creationId xmlns:a16="http://schemas.microsoft.com/office/drawing/2014/main" xmlns="" id="{6B09882B-C884-419E-9EB0-7F4E083F29C0}"/>
              </a:ext>
            </a:extLst>
          </p:cNvPr>
          <p:cNvSpPr txBox="1"/>
          <p:nvPr/>
        </p:nvSpPr>
        <p:spPr>
          <a:xfrm>
            <a:off x="16643413" y="697082"/>
            <a:ext cx="1464973" cy="338554"/>
          </a:xfrm>
          <a:prstGeom prst="rect">
            <a:avLst/>
          </a:prstGeom>
          <a:noFill/>
        </p:spPr>
        <p:txBody>
          <a:bodyPr wrap="square" rtlCol="0">
            <a:spAutoFit/>
          </a:bodyPr>
          <a:lstStyle/>
          <a:p>
            <a:r>
              <a:rPr lang="en-US" altLang="zh-TW" sz="1600" dirty="0">
                <a:latin typeface="微軟正黑體" panose="020B0604030504040204" pitchFamily="34" charset="-120"/>
                <a:ea typeface="微軟正黑體" panose="020B0604030504040204" pitchFamily="34" charset="-120"/>
              </a:rPr>
              <a:t>2025/07/14</a:t>
            </a:r>
            <a:endParaRPr lang="zh-TW" altLang="en-US" sz="1600" dirty="0">
              <a:latin typeface="微軟正黑體" panose="020B0604030504040204" pitchFamily="34" charset="-120"/>
              <a:ea typeface="微軟正黑體" panose="020B0604030504040204" pitchFamily="34" charset="-120"/>
            </a:endParaRPr>
          </a:p>
        </p:txBody>
      </p:sp>
      <p:sp>
        <p:nvSpPr>
          <p:cNvPr id="6" name="流程圖: 決策 50">
            <a:extLst>
              <a:ext uri="{FF2B5EF4-FFF2-40B4-BE49-F238E27FC236}">
                <a16:creationId xmlns:a16="http://schemas.microsoft.com/office/drawing/2014/main" xmlns="" id="{99B2E27C-DBC8-29CA-096A-B0E6789A5E44}"/>
              </a:ext>
            </a:extLst>
          </p:cNvPr>
          <p:cNvSpPr/>
          <p:nvPr/>
        </p:nvSpPr>
        <p:spPr bwMode="auto">
          <a:xfrm>
            <a:off x="12261407" y="5408412"/>
            <a:ext cx="1841949" cy="712200"/>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是否修改數量</a:t>
            </a:r>
            <a:endParaRPr lang="en-US" altLang="zh-TW" sz="1500" dirty="0">
              <a:latin typeface="微軟正黑體" panose="020B0604030504040204" pitchFamily="34" charset="-120"/>
              <a:ea typeface="微軟正黑體" panose="020B0604030504040204" pitchFamily="34" charset="-120"/>
            </a:endParaRPr>
          </a:p>
          <a:p>
            <a:pPr algn="ctr" eaLnBrk="0" hangingPunct="0"/>
            <a:r>
              <a:rPr lang="en-US" altLang="zh-TW" sz="1500" dirty="0">
                <a:latin typeface="微軟正黑體" panose="020B0604030504040204" pitchFamily="34" charset="-120"/>
                <a:ea typeface="微軟正黑體" panose="020B0604030504040204" pitchFamily="34" charset="-120"/>
              </a:rPr>
              <a:t>/</a:t>
            </a:r>
            <a:r>
              <a:rPr lang="zh-TW" altLang="en-US" sz="1500" dirty="0">
                <a:latin typeface="微軟正黑體" panose="020B0604030504040204" pitchFamily="34" charset="-120"/>
                <a:ea typeface="微軟正黑體" panose="020B0604030504040204" pitchFamily="34" charset="-120"/>
              </a:rPr>
              <a:t>金額</a:t>
            </a:r>
          </a:p>
        </p:txBody>
      </p:sp>
      <p:cxnSp>
        <p:nvCxnSpPr>
          <p:cNvPr id="11" name="肘形接點 68">
            <a:extLst>
              <a:ext uri="{FF2B5EF4-FFF2-40B4-BE49-F238E27FC236}">
                <a16:creationId xmlns:a16="http://schemas.microsoft.com/office/drawing/2014/main" xmlns="" id="{CA440DCE-E5F2-CACF-F528-1C87D8072AB4}"/>
              </a:ext>
            </a:extLst>
          </p:cNvPr>
          <p:cNvCxnSpPr>
            <a:cxnSpLocks/>
            <a:stCxn id="6" idx="2"/>
            <a:endCxn id="193" idx="0"/>
          </p:cNvCxnSpPr>
          <p:nvPr/>
        </p:nvCxnSpPr>
        <p:spPr>
          <a:xfrm rot="5400000">
            <a:off x="12294766" y="7007878"/>
            <a:ext cx="1774882" cy="35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20" name="肘形接點 68">
            <a:extLst>
              <a:ext uri="{FF2B5EF4-FFF2-40B4-BE49-F238E27FC236}">
                <a16:creationId xmlns:a16="http://schemas.microsoft.com/office/drawing/2014/main" xmlns="" id="{5A556399-AB80-CD55-C725-8051D9979A8B}"/>
              </a:ext>
            </a:extLst>
          </p:cNvPr>
          <p:cNvCxnSpPr>
            <a:cxnSpLocks/>
            <a:stCxn id="6" idx="0"/>
            <a:endCxn id="49" idx="0"/>
          </p:cNvCxnSpPr>
          <p:nvPr/>
        </p:nvCxnSpPr>
        <p:spPr>
          <a:xfrm rot="16200000" flipV="1">
            <a:off x="8681333" y="907363"/>
            <a:ext cx="78056" cy="8924042"/>
          </a:xfrm>
          <a:prstGeom prst="bentConnector3">
            <a:avLst>
              <a:gd name="adj1" fmla="val 392867"/>
            </a:avLst>
          </a:prstGeom>
          <a:ln>
            <a:tailEnd type="triangle"/>
          </a:ln>
        </p:spPr>
        <p:style>
          <a:lnRef idx="1">
            <a:schemeClr val="dk1"/>
          </a:lnRef>
          <a:fillRef idx="0">
            <a:schemeClr val="dk1"/>
          </a:fillRef>
          <a:effectRef idx="0">
            <a:schemeClr val="dk1"/>
          </a:effectRef>
          <a:fontRef idx="minor">
            <a:schemeClr val="tx1"/>
          </a:fontRef>
        </p:style>
      </p:cxnSp>
      <p:sp>
        <p:nvSpPr>
          <p:cNvPr id="30" name="文字方塊 29">
            <a:extLst>
              <a:ext uri="{FF2B5EF4-FFF2-40B4-BE49-F238E27FC236}">
                <a16:creationId xmlns:a16="http://schemas.microsoft.com/office/drawing/2014/main" xmlns="" id="{4D88852C-10D5-DD65-C308-4537E7324D6E}"/>
              </a:ext>
            </a:extLst>
          </p:cNvPr>
          <p:cNvSpPr txBox="1"/>
          <p:nvPr/>
        </p:nvSpPr>
        <p:spPr>
          <a:xfrm>
            <a:off x="13164398" y="6712581"/>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否</a:t>
            </a:r>
            <a:endParaRPr lang="zh-TW" altLang="en-US" sz="1350" dirty="0"/>
          </a:p>
        </p:txBody>
      </p:sp>
      <p:sp>
        <p:nvSpPr>
          <p:cNvPr id="34" name="文字方塊 33">
            <a:extLst>
              <a:ext uri="{FF2B5EF4-FFF2-40B4-BE49-F238E27FC236}">
                <a16:creationId xmlns:a16="http://schemas.microsoft.com/office/drawing/2014/main" xmlns="" id="{87E0706A-FC91-6B2A-6DA7-81E7BF255DFF}"/>
              </a:ext>
            </a:extLst>
          </p:cNvPr>
          <p:cNvSpPr txBox="1"/>
          <p:nvPr/>
        </p:nvSpPr>
        <p:spPr>
          <a:xfrm>
            <a:off x="12671174" y="4677256"/>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zh-TW" altLang="en-US" sz="1350" dirty="0"/>
          </a:p>
        </p:txBody>
      </p:sp>
      <p:grpSp>
        <p:nvGrpSpPr>
          <p:cNvPr id="35" name="Group 220">
            <a:extLst>
              <a:ext uri="{FF2B5EF4-FFF2-40B4-BE49-F238E27FC236}">
                <a16:creationId xmlns:a16="http://schemas.microsoft.com/office/drawing/2014/main" xmlns="" id="{4ABFDDEA-36D2-8862-E79A-52DD17D516D2}"/>
              </a:ext>
            </a:extLst>
          </p:cNvPr>
          <p:cNvGrpSpPr/>
          <p:nvPr/>
        </p:nvGrpSpPr>
        <p:grpSpPr>
          <a:xfrm>
            <a:off x="13337147" y="5107476"/>
            <a:ext cx="561236" cy="415760"/>
            <a:chOff x="5906472" y="1486857"/>
            <a:chExt cx="374157" cy="272361"/>
          </a:xfrm>
        </p:grpSpPr>
        <p:sp>
          <p:nvSpPr>
            <p:cNvPr id="37" name="Oval 221">
              <a:extLst>
                <a:ext uri="{FF2B5EF4-FFF2-40B4-BE49-F238E27FC236}">
                  <a16:creationId xmlns:a16="http://schemas.microsoft.com/office/drawing/2014/main" xmlns="" id="{6DA6A460-0EEE-1BDE-9433-BF847E534D2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39" name="TextBox 222">
              <a:extLst>
                <a:ext uri="{FF2B5EF4-FFF2-40B4-BE49-F238E27FC236}">
                  <a16:creationId xmlns:a16="http://schemas.microsoft.com/office/drawing/2014/main" xmlns="" id="{D2FCF0F4-B1A0-36BF-4B07-88B9B47F3A7F}"/>
                </a:ext>
              </a:extLst>
            </p:cNvPr>
            <p:cNvSpPr txBox="1"/>
            <p:nvPr/>
          </p:nvSpPr>
          <p:spPr>
            <a:xfrm>
              <a:off x="5925029" y="1503597"/>
              <a:ext cx="355600" cy="21170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7</a:t>
              </a:r>
              <a:endParaRPr lang="zh-TW" altLang="en-US" sz="1500" dirty="0">
                <a:latin typeface="微軟正黑體" panose="020B0604030504040204" pitchFamily="34" charset="-120"/>
                <a:ea typeface="微軟正黑體" panose="020B0604030504040204" pitchFamily="34" charset="-120"/>
              </a:endParaRPr>
            </a:p>
          </p:txBody>
        </p:sp>
      </p:grpSp>
    </p:spTree>
    <p:extLst>
      <p:ext uri="{BB962C8B-B14F-4D97-AF65-F5344CB8AC3E}">
        <p14:creationId xmlns:p14="http://schemas.microsoft.com/office/powerpoint/2010/main" val="18600686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1" name="流程圖: 文件 42">
            <a:extLst>
              <a:ext uri="{FF2B5EF4-FFF2-40B4-BE49-F238E27FC236}">
                <a16:creationId xmlns:a16="http://schemas.microsoft.com/office/drawing/2014/main" xmlns="" id="{580160BC-29D0-9D19-BFCE-78B7FC429FBC}"/>
              </a:ext>
            </a:extLst>
          </p:cNvPr>
          <p:cNvSpPr/>
          <p:nvPr/>
        </p:nvSpPr>
        <p:spPr bwMode="auto">
          <a:xfrm>
            <a:off x="4006774" y="3262813"/>
            <a:ext cx="1086981" cy="534714"/>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採購單</a:t>
            </a:r>
          </a:p>
        </p:txBody>
      </p:sp>
      <p:sp>
        <p:nvSpPr>
          <p:cNvPr id="4" name="文字方塊 3">
            <a:extLst>
              <a:ext uri="{FF2B5EF4-FFF2-40B4-BE49-F238E27FC236}">
                <a16:creationId xmlns:a16="http://schemas.microsoft.com/office/drawing/2014/main" xmlns="" id="{83E6F622-2FBE-CC67-50FE-4ABD7D8B9696}"/>
              </a:ext>
            </a:extLst>
          </p:cNvPr>
          <p:cNvSpPr txBox="1"/>
          <p:nvPr/>
        </p:nvSpPr>
        <p:spPr>
          <a:xfrm>
            <a:off x="2444080" y="820877"/>
            <a:ext cx="8450034" cy="461665"/>
          </a:xfrm>
          <a:prstGeom prst="rect">
            <a:avLst/>
          </a:prstGeom>
          <a:noFill/>
        </p:spPr>
        <p:txBody>
          <a:bodyPr wrap="square">
            <a:spAutoFit/>
          </a:bodyPr>
          <a:lstStyle/>
          <a:p>
            <a:pPr eaLnBrk="0" hangingPunct="0"/>
            <a:r>
              <a:rPr lang="en-US" altLang="zh-TW" sz="2400" b="1" dirty="0">
                <a:latin typeface="微軟正黑體" panose="020B0604030504040204" pitchFamily="34" charset="-120"/>
                <a:ea typeface="微軟正黑體" panose="020B0604030504040204" pitchFamily="34" charset="-120"/>
              </a:rPr>
              <a:t>MM-PU-0090-02 </a:t>
            </a:r>
            <a:r>
              <a:rPr lang="zh-TW" altLang="en-US" sz="2400" b="1" dirty="0">
                <a:latin typeface="微軟正黑體" panose="020B0604030504040204" pitchFamily="34" charset="-120"/>
                <a:ea typeface="微軟正黑體" panose="020B0604030504040204" pitchFamily="34" charset="-120"/>
              </a:rPr>
              <a:t>固定資產請採驗流程 </a:t>
            </a:r>
            <a:r>
              <a:rPr lang="en-US" altLang="zh-TW" sz="2400" b="1" dirty="0">
                <a:latin typeface="微軟正黑體" panose="020B0604030504040204" pitchFamily="34" charset="-120"/>
                <a:ea typeface="微軟正黑體" panose="020B0604030504040204" pitchFamily="34" charset="-120"/>
              </a:rPr>
              <a:t>(</a:t>
            </a:r>
            <a:r>
              <a:rPr lang="zh-TW" altLang="en-US" sz="2400" b="1" dirty="0">
                <a:latin typeface="微軟正黑體" panose="020B0604030504040204" pitchFamily="34" charset="-120"/>
                <a:ea typeface="微軟正黑體" panose="020B0604030504040204" pitchFamily="34" charset="-120"/>
              </a:rPr>
              <a:t>楦頭</a:t>
            </a:r>
            <a:r>
              <a:rPr lang="en-US" altLang="zh-TW" sz="2400" b="1" dirty="0">
                <a:latin typeface="微軟正黑體" panose="020B0604030504040204" pitchFamily="34" charset="-120"/>
                <a:ea typeface="微軟正黑體" panose="020B0604030504040204" pitchFamily="34" charset="-120"/>
              </a:rPr>
              <a:t>/</a:t>
            </a:r>
            <a:r>
              <a:rPr lang="zh-TW" altLang="en-US" sz="2400" b="1" dirty="0">
                <a:latin typeface="微軟正黑體" panose="020B0604030504040204" pitchFamily="34" charset="-120"/>
                <a:ea typeface="微軟正黑體" panose="020B0604030504040204" pitchFamily="34" charset="-120"/>
              </a:rPr>
              <a:t>模具</a:t>
            </a:r>
            <a:r>
              <a:rPr lang="en-US" altLang="zh-TW" sz="2400" b="1" dirty="0">
                <a:latin typeface="微軟正黑體" panose="020B0604030504040204" pitchFamily="34" charset="-120"/>
                <a:ea typeface="微軟正黑體" panose="020B0604030504040204" pitchFamily="34" charset="-120"/>
              </a:rPr>
              <a:t>)</a:t>
            </a:r>
            <a:endParaRPr lang="zh-TW" altLang="en-US" sz="2400" b="1" dirty="0">
              <a:latin typeface="微軟正黑體" panose="020B0604030504040204" pitchFamily="34" charset="-120"/>
              <a:ea typeface="微軟正黑體" panose="020B0604030504040204" pitchFamily="34" charset="-120"/>
            </a:endParaRPr>
          </a:p>
        </p:txBody>
      </p:sp>
      <p:sp>
        <p:nvSpPr>
          <p:cNvPr id="14" name="文字方塊 17">
            <a:extLst>
              <a:ext uri="{FF2B5EF4-FFF2-40B4-BE49-F238E27FC236}">
                <a16:creationId xmlns:a16="http://schemas.microsoft.com/office/drawing/2014/main" xmlns="" id="{E114DEFF-4464-1230-5102-DAAA05109B8A}"/>
              </a:ext>
            </a:extLst>
          </p:cNvPr>
          <p:cNvSpPr txBox="1"/>
          <p:nvPr/>
        </p:nvSpPr>
        <p:spPr>
          <a:xfrm>
            <a:off x="2444080" y="1360961"/>
            <a:ext cx="4111931" cy="352347"/>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採購</a:t>
            </a:r>
          </a:p>
        </p:txBody>
      </p:sp>
      <p:cxnSp>
        <p:nvCxnSpPr>
          <p:cNvPr id="16" name="Straight Connector 284">
            <a:extLst>
              <a:ext uri="{FF2B5EF4-FFF2-40B4-BE49-F238E27FC236}">
                <a16:creationId xmlns:a16="http://schemas.microsoft.com/office/drawing/2014/main" xmlns="" id="{3343F13F-0020-F344-5B28-F9AEB09CA3FA}"/>
              </a:ext>
            </a:extLst>
          </p:cNvPr>
          <p:cNvCxnSpPr>
            <a:cxnSpLocks/>
          </p:cNvCxnSpPr>
          <p:nvPr/>
        </p:nvCxnSpPr>
        <p:spPr>
          <a:xfrm>
            <a:off x="5680182" y="1338647"/>
            <a:ext cx="0" cy="88125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0" name="文字方塊 17">
            <a:extLst>
              <a:ext uri="{FF2B5EF4-FFF2-40B4-BE49-F238E27FC236}">
                <a16:creationId xmlns:a16="http://schemas.microsoft.com/office/drawing/2014/main" xmlns="" id="{306A0461-FB0A-6B8E-26F4-F4121B822258}"/>
              </a:ext>
            </a:extLst>
          </p:cNvPr>
          <p:cNvSpPr txBox="1"/>
          <p:nvPr/>
        </p:nvSpPr>
        <p:spPr>
          <a:xfrm>
            <a:off x="9702877" y="1353698"/>
            <a:ext cx="2157302" cy="600164"/>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開發</a:t>
            </a:r>
            <a:r>
              <a:rPr lang="en-US" altLang="zh-TW" sz="1650" dirty="0">
                <a:latin typeface="微軟正黑體" panose="020B0604030504040204" pitchFamily="34" charset="-120"/>
                <a:ea typeface="微軟正黑體" panose="020B0604030504040204" pitchFamily="34" charset="-120"/>
              </a:rPr>
              <a:t>:</a:t>
            </a:r>
            <a:r>
              <a:rPr lang="zh-TW" altLang="en-US" sz="1650" dirty="0">
                <a:latin typeface="微軟正黑體" panose="020B0604030504040204" pitchFamily="34" charset="-120"/>
                <a:ea typeface="微軟正黑體" panose="020B0604030504040204" pitchFamily="34" charset="-120"/>
              </a:rPr>
              <a:t>底部製具</a:t>
            </a:r>
            <a:endParaRPr lang="en-US" altLang="zh-TW" sz="1650" dirty="0">
              <a:latin typeface="微軟正黑體" panose="020B0604030504040204" pitchFamily="34" charset="-120"/>
              <a:ea typeface="微軟正黑體" panose="020B0604030504040204" pitchFamily="34" charset="-120"/>
            </a:endParaRPr>
          </a:p>
          <a:p>
            <a:pPr algn="ctr"/>
            <a:r>
              <a:rPr lang="en-US" altLang="zh-TW" sz="1650" dirty="0">
                <a:latin typeface="微軟正黑體" panose="020B0604030504040204" pitchFamily="34" charset="-120"/>
                <a:ea typeface="微軟正黑體" panose="020B0604030504040204" pitchFamily="34" charset="-120"/>
              </a:rPr>
              <a:t>/</a:t>
            </a:r>
            <a:r>
              <a:rPr lang="zh-TW" altLang="en-US" sz="1650" dirty="0">
                <a:latin typeface="微軟正黑體" panose="020B0604030504040204" pitchFamily="34" charset="-120"/>
                <a:ea typeface="微軟正黑體" panose="020B0604030504040204" pitchFamily="34" charset="-120"/>
              </a:rPr>
              <a:t>量產</a:t>
            </a:r>
            <a:r>
              <a:rPr lang="en-US" altLang="zh-TW" sz="1650" dirty="0">
                <a:latin typeface="微軟正黑體" panose="020B0604030504040204" pitchFamily="34" charset="-120"/>
                <a:ea typeface="微軟正黑體" panose="020B0604030504040204" pitchFamily="34" charset="-120"/>
              </a:rPr>
              <a:t>:</a:t>
            </a:r>
            <a:r>
              <a:rPr lang="zh-TW" altLang="en-US" sz="1650" dirty="0">
                <a:latin typeface="微軟正黑體" panose="020B0604030504040204" pitchFamily="34" charset="-120"/>
                <a:ea typeface="微軟正黑體" panose="020B0604030504040204" pitchFamily="34" charset="-120"/>
              </a:rPr>
              <a:t>生管</a:t>
            </a:r>
          </a:p>
        </p:txBody>
      </p:sp>
      <p:sp>
        <p:nvSpPr>
          <p:cNvPr id="61" name="TextBox 53">
            <a:extLst>
              <a:ext uri="{FF2B5EF4-FFF2-40B4-BE49-F238E27FC236}">
                <a16:creationId xmlns:a16="http://schemas.microsoft.com/office/drawing/2014/main" xmlns="" id="{2DE69ECC-E293-FAA8-6082-E6D2F887DBFF}"/>
              </a:ext>
            </a:extLst>
          </p:cNvPr>
          <p:cNvSpPr txBox="1"/>
          <p:nvPr/>
        </p:nvSpPr>
        <p:spPr>
          <a:xfrm>
            <a:off x="14380627" y="2064631"/>
            <a:ext cx="3594197" cy="369332"/>
          </a:xfrm>
          <a:prstGeom prst="rect">
            <a:avLst/>
          </a:prstGeom>
          <a:noFill/>
        </p:spPr>
        <p:txBody>
          <a:bodyPr wrap="square" rtlCol="0">
            <a:spAutoFit/>
          </a:bodyPr>
          <a:lstStyle/>
          <a:p>
            <a:endParaRPr lang="zh-TW" altLang="en-US" dirty="0"/>
          </a:p>
        </p:txBody>
      </p:sp>
      <p:sp>
        <p:nvSpPr>
          <p:cNvPr id="5" name="流程圖: 換頁接點 52">
            <a:extLst>
              <a:ext uri="{FF2B5EF4-FFF2-40B4-BE49-F238E27FC236}">
                <a16:creationId xmlns:a16="http://schemas.microsoft.com/office/drawing/2014/main" xmlns="" id="{A020D090-1F04-66A8-DDD2-0A428105439C}"/>
              </a:ext>
            </a:extLst>
          </p:cNvPr>
          <p:cNvSpPr/>
          <p:nvPr/>
        </p:nvSpPr>
        <p:spPr bwMode="auto">
          <a:xfrm>
            <a:off x="1104860" y="2528835"/>
            <a:ext cx="560627" cy="467303"/>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P5</a:t>
            </a:r>
            <a:endParaRPr lang="zh-TW" altLang="en-US" dirty="0">
              <a:latin typeface="微軟正黑體" panose="020B0604030504040204" pitchFamily="34" charset="-120"/>
              <a:ea typeface="微軟正黑體" panose="020B0604030504040204" pitchFamily="34" charset="-120"/>
            </a:endParaRPr>
          </a:p>
        </p:txBody>
      </p:sp>
      <p:sp>
        <p:nvSpPr>
          <p:cNvPr id="200" name="文字方塊 17">
            <a:extLst>
              <a:ext uri="{FF2B5EF4-FFF2-40B4-BE49-F238E27FC236}">
                <a16:creationId xmlns:a16="http://schemas.microsoft.com/office/drawing/2014/main" xmlns="" id="{46781F1A-BA99-952E-F060-2BBE7B71DFBE}"/>
              </a:ext>
            </a:extLst>
          </p:cNvPr>
          <p:cNvSpPr txBox="1"/>
          <p:nvPr/>
        </p:nvSpPr>
        <p:spPr>
          <a:xfrm>
            <a:off x="6220692" y="1360858"/>
            <a:ext cx="3131690"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生管</a:t>
            </a:r>
          </a:p>
        </p:txBody>
      </p:sp>
      <p:sp>
        <p:nvSpPr>
          <p:cNvPr id="9" name="TextBox 53">
            <a:extLst>
              <a:ext uri="{FF2B5EF4-FFF2-40B4-BE49-F238E27FC236}">
                <a16:creationId xmlns:a16="http://schemas.microsoft.com/office/drawing/2014/main" xmlns="" id="{04612EE1-7D42-C47D-2705-304DF742CE7B}"/>
              </a:ext>
            </a:extLst>
          </p:cNvPr>
          <p:cNvSpPr txBox="1"/>
          <p:nvPr/>
        </p:nvSpPr>
        <p:spPr>
          <a:xfrm>
            <a:off x="14380627" y="2064631"/>
            <a:ext cx="3594197" cy="3970318"/>
          </a:xfrm>
          <a:prstGeom prst="rect">
            <a:avLst/>
          </a:prstGeom>
          <a:noFill/>
        </p:spPr>
        <p:txBody>
          <a:bodyPr wrap="square" rtlCol="0">
            <a:spAutoFit/>
          </a:bodyPr>
          <a:lstStyle/>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於</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列印採購單交付給供應商</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廠商到貨後，進行點收，用</a:t>
            </a:r>
            <a:r>
              <a:rPr lang="en-US" altLang="zh-TW" dirty="0">
                <a:latin typeface="微軟正黑體" panose="020B0604030504040204" pitchFamily="34" charset="-120"/>
                <a:ea typeface="微軟正黑體" panose="020B0604030504040204" pitchFamily="34" charset="-120"/>
              </a:rPr>
              <a:t>MIGO </a:t>
            </a:r>
            <a:r>
              <a:rPr lang="zh-TW" altLang="en-US" dirty="0">
                <a:latin typeface="微軟正黑體" panose="020B0604030504040204" pitchFamily="34" charset="-120"/>
                <a:ea typeface="微軟正黑體" panose="020B0604030504040204" pitchFamily="34" charset="-120"/>
              </a:rPr>
              <a:t>進行收貨</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進行功能確認</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檢驗不合格進行驗收 </a:t>
            </a:r>
            <a:r>
              <a:rPr lang="en-US" altLang="zh-TW" dirty="0">
                <a:latin typeface="微軟正黑體" panose="020B0604030504040204" pitchFamily="34" charset="-120"/>
                <a:ea typeface="微軟正黑體" panose="020B0604030504040204" pitchFamily="34" charset="-120"/>
              </a:rPr>
              <a:t>MIGO </a:t>
            </a:r>
            <a:r>
              <a:rPr lang="zh-TW" altLang="en-US" dirty="0">
                <a:latin typeface="微軟正黑體" panose="020B0604030504040204" pitchFamily="34" charset="-120"/>
                <a:ea typeface="微軟正黑體" panose="020B0604030504040204" pitchFamily="34" charset="-120"/>
              </a:rPr>
              <a:t>進行</a:t>
            </a:r>
            <a:r>
              <a:rPr lang="en-US" altLang="zh-TW" dirty="0">
                <a:latin typeface="微軟正黑體" panose="020B0604030504040204" pitchFamily="34" charset="-120"/>
                <a:ea typeface="微軟正黑體" panose="020B0604030504040204" pitchFamily="34" charset="-120"/>
              </a:rPr>
              <a:t>122</a:t>
            </a:r>
            <a:r>
              <a:rPr lang="zh-TW" altLang="en-US" dirty="0">
                <a:latin typeface="微軟正黑體" panose="020B0604030504040204" pitchFamily="34" charset="-120"/>
                <a:ea typeface="微軟正黑體" panose="020B0604030504040204" pitchFamily="34" charset="-120"/>
              </a:rPr>
              <a:t>退貨作業，通知廠商收退貨重送</a:t>
            </a:r>
            <a:endParaRPr lang="en-US" altLang="zh-TW" dirty="0">
              <a:latin typeface="微軟正黑體" panose="020B0604030504040204" pitchFamily="34" charset="-120"/>
              <a:ea typeface="微軟正黑體" panose="020B0604030504040204" pitchFamily="34" charset="-120"/>
            </a:endParaRPr>
          </a:p>
          <a:p>
            <a:endParaRPr lang="en-US" altLang="zh-TW" dirty="0"/>
          </a:p>
        </p:txBody>
      </p:sp>
      <p:cxnSp>
        <p:nvCxnSpPr>
          <p:cNvPr id="21" name="肘形接點 68">
            <a:extLst>
              <a:ext uri="{FF2B5EF4-FFF2-40B4-BE49-F238E27FC236}">
                <a16:creationId xmlns:a16="http://schemas.microsoft.com/office/drawing/2014/main" xmlns="" id="{97B9A81B-FB6F-E725-53DC-5170EDD5F5EC}"/>
              </a:ext>
            </a:extLst>
          </p:cNvPr>
          <p:cNvCxnSpPr>
            <a:cxnSpLocks/>
            <a:stCxn id="104" idx="3"/>
            <a:endCxn id="81" idx="1"/>
          </p:cNvCxnSpPr>
          <p:nvPr/>
        </p:nvCxnSpPr>
        <p:spPr>
          <a:xfrm>
            <a:off x="4533323" y="2761898"/>
            <a:ext cx="2265912" cy="27188"/>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74" name="Straight Connector 284">
            <a:extLst>
              <a:ext uri="{FF2B5EF4-FFF2-40B4-BE49-F238E27FC236}">
                <a16:creationId xmlns:a16="http://schemas.microsoft.com/office/drawing/2014/main" xmlns="" id="{CCB3D035-826A-6F8E-1D15-1A3E96F62413}"/>
              </a:ext>
            </a:extLst>
          </p:cNvPr>
          <p:cNvCxnSpPr>
            <a:cxnSpLocks/>
          </p:cNvCxnSpPr>
          <p:nvPr/>
        </p:nvCxnSpPr>
        <p:spPr>
          <a:xfrm>
            <a:off x="9564669" y="1335535"/>
            <a:ext cx="0" cy="88156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3" name="Google Shape;198;p3"/>
          <p:cNvSpPr txBox="1">
            <a:spLocks/>
          </p:cNvSpPr>
          <p:nvPr/>
        </p:nvSpPr>
        <p:spPr>
          <a:xfrm>
            <a:off x="15186993" y="460701"/>
            <a:ext cx="478831" cy="228411"/>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9pPr>
          </a:lstStyle>
          <a:p>
            <a:r>
              <a:rPr lang="en-US" sz="1500" dirty="0"/>
              <a:t>6</a:t>
            </a:r>
          </a:p>
        </p:txBody>
      </p:sp>
      <p:sp>
        <p:nvSpPr>
          <p:cNvPr id="54" name="TextBox 2">
            <a:extLst>
              <a:ext uri="{FF2B5EF4-FFF2-40B4-BE49-F238E27FC236}">
                <a16:creationId xmlns:a16="http://schemas.microsoft.com/office/drawing/2014/main" xmlns="" id="{6B09882B-C884-419E-9EB0-7F4E083F29C0}"/>
              </a:ext>
            </a:extLst>
          </p:cNvPr>
          <p:cNvSpPr txBox="1"/>
          <p:nvPr/>
        </p:nvSpPr>
        <p:spPr>
          <a:xfrm>
            <a:off x="16643413" y="697082"/>
            <a:ext cx="1464973" cy="338554"/>
          </a:xfrm>
          <a:prstGeom prst="rect">
            <a:avLst/>
          </a:prstGeom>
          <a:noFill/>
        </p:spPr>
        <p:txBody>
          <a:bodyPr wrap="square" rtlCol="0">
            <a:spAutoFit/>
          </a:bodyPr>
          <a:lstStyle/>
          <a:p>
            <a:r>
              <a:rPr lang="en-US" altLang="zh-TW" sz="1600" dirty="0">
                <a:latin typeface="微軟正黑體" panose="020B0604030504040204" pitchFamily="34" charset="-120"/>
                <a:ea typeface="微軟正黑體" panose="020B0604030504040204" pitchFamily="34" charset="-120"/>
              </a:rPr>
              <a:t>2025/07/14</a:t>
            </a:r>
            <a:endParaRPr lang="zh-TW" altLang="en-US" sz="1600" dirty="0">
              <a:latin typeface="微軟正黑體" panose="020B0604030504040204" pitchFamily="34" charset="-120"/>
              <a:ea typeface="微軟正黑體" panose="020B0604030504040204" pitchFamily="34" charset="-120"/>
            </a:endParaRPr>
          </a:p>
        </p:txBody>
      </p:sp>
      <p:sp>
        <p:nvSpPr>
          <p:cNvPr id="57" name="流程圖: 結束點 8">
            <a:extLst>
              <a:ext uri="{FF2B5EF4-FFF2-40B4-BE49-F238E27FC236}">
                <a16:creationId xmlns:a16="http://schemas.microsoft.com/office/drawing/2014/main" xmlns="" id="{1FB9514E-6261-C7AC-D58E-6A5F2E6F81FD}"/>
              </a:ext>
            </a:extLst>
          </p:cNvPr>
          <p:cNvSpPr/>
          <p:nvPr/>
        </p:nvSpPr>
        <p:spPr bwMode="auto">
          <a:xfrm>
            <a:off x="12223861" y="8147071"/>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cxnSp>
        <p:nvCxnSpPr>
          <p:cNvPr id="62" name="肘形接點 68">
            <a:extLst>
              <a:ext uri="{FF2B5EF4-FFF2-40B4-BE49-F238E27FC236}">
                <a16:creationId xmlns:a16="http://schemas.microsoft.com/office/drawing/2014/main" xmlns="" id="{8DD1663D-3235-8D1E-F1BD-80C90EB0F8CB}"/>
              </a:ext>
            </a:extLst>
          </p:cNvPr>
          <p:cNvCxnSpPr>
            <a:cxnSpLocks/>
            <a:stCxn id="76" idx="3"/>
            <a:endCxn id="57" idx="1"/>
          </p:cNvCxnSpPr>
          <p:nvPr/>
        </p:nvCxnSpPr>
        <p:spPr>
          <a:xfrm flipV="1">
            <a:off x="8735220" y="8538293"/>
            <a:ext cx="3488641" cy="934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63" name="肘形接點 68">
            <a:extLst>
              <a:ext uri="{FF2B5EF4-FFF2-40B4-BE49-F238E27FC236}">
                <a16:creationId xmlns:a16="http://schemas.microsoft.com/office/drawing/2014/main" xmlns="" id="{4D315B82-E1CA-313C-D4BB-3BBD9FD7F973}"/>
              </a:ext>
            </a:extLst>
          </p:cNvPr>
          <p:cNvCxnSpPr>
            <a:cxnSpLocks/>
            <a:stCxn id="81" idx="3"/>
            <a:endCxn id="86" idx="0"/>
          </p:cNvCxnSpPr>
          <p:nvPr/>
        </p:nvCxnSpPr>
        <p:spPr>
          <a:xfrm>
            <a:off x="8610035" y="2789086"/>
            <a:ext cx="2050074" cy="1482840"/>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64" name="流程圖: 決策 50">
            <a:extLst>
              <a:ext uri="{FF2B5EF4-FFF2-40B4-BE49-F238E27FC236}">
                <a16:creationId xmlns:a16="http://schemas.microsoft.com/office/drawing/2014/main" xmlns="" id="{8037CA89-DBE3-1441-8E4C-7EA04E993D61}"/>
              </a:ext>
            </a:extLst>
          </p:cNvPr>
          <p:cNvSpPr/>
          <p:nvPr/>
        </p:nvSpPr>
        <p:spPr bwMode="auto">
          <a:xfrm>
            <a:off x="9773715" y="6276900"/>
            <a:ext cx="1841949" cy="588972"/>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符合要求</a:t>
            </a:r>
          </a:p>
        </p:txBody>
      </p:sp>
      <p:cxnSp>
        <p:nvCxnSpPr>
          <p:cNvPr id="65" name="肘形接點 68">
            <a:extLst>
              <a:ext uri="{FF2B5EF4-FFF2-40B4-BE49-F238E27FC236}">
                <a16:creationId xmlns:a16="http://schemas.microsoft.com/office/drawing/2014/main" xmlns="" id="{2AA47122-2BF1-7633-656B-9B6710026CD9}"/>
              </a:ext>
            </a:extLst>
          </p:cNvPr>
          <p:cNvCxnSpPr>
            <a:cxnSpLocks/>
            <a:endCxn id="75" idx="0"/>
          </p:cNvCxnSpPr>
          <p:nvPr/>
        </p:nvCxnSpPr>
        <p:spPr>
          <a:xfrm rot="10800000" flipV="1">
            <a:off x="7829821" y="6580413"/>
            <a:ext cx="2097951" cy="1360003"/>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66" name="文字方塊 65">
            <a:extLst>
              <a:ext uri="{FF2B5EF4-FFF2-40B4-BE49-F238E27FC236}">
                <a16:creationId xmlns:a16="http://schemas.microsoft.com/office/drawing/2014/main" xmlns="" id="{B106DB5A-3C2B-C42B-E706-9F53E0CA364F}"/>
              </a:ext>
            </a:extLst>
          </p:cNvPr>
          <p:cNvSpPr txBox="1"/>
          <p:nvPr/>
        </p:nvSpPr>
        <p:spPr>
          <a:xfrm>
            <a:off x="11335120" y="6153968"/>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zh-TW" altLang="en-US" sz="1350" dirty="0"/>
          </a:p>
        </p:txBody>
      </p:sp>
      <p:sp>
        <p:nvSpPr>
          <p:cNvPr id="67" name="文字方塊 66">
            <a:extLst>
              <a:ext uri="{FF2B5EF4-FFF2-40B4-BE49-F238E27FC236}">
                <a16:creationId xmlns:a16="http://schemas.microsoft.com/office/drawing/2014/main" xmlns="" id="{7BDD8B3B-9FC5-B431-B92A-CADEB291222C}"/>
              </a:ext>
            </a:extLst>
          </p:cNvPr>
          <p:cNvSpPr txBox="1"/>
          <p:nvPr/>
        </p:nvSpPr>
        <p:spPr>
          <a:xfrm>
            <a:off x="8776331" y="6171801"/>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否</a:t>
            </a:r>
            <a:endParaRPr lang="zh-TW" altLang="en-US" sz="1350" dirty="0"/>
          </a:p>
        </p:txBody>
      </p:sp>
      <p:cxnSp>
        <p:nvCxnSpPr>
          <p:cNvPr id="68" name="肘形接點 68">
            <a:extLst>
              <a:ext uri="{FF2B5EF4-FFF2-40B4-BE49-F238E27FC236}">
                <a16:creationId xmlns:a16="http://schemas.microsoft.com/office/drawing/2014/main" xmlns="" id="{3C63507D-83FD-0025-3EF4-B6F87A20780B}"/>
              </a:ext>
            </a:extLst>
          </p:cNvPr>
          <p:cNvCxnSpPr>
            <a:cxnSpLocks/>
            <a:stCxn id="64" idx="3"/>
            <a:endCxn id="69" idx="1"/>
          </p:cNvCxnSpPr>
          <p:nvPr/>
        </p:nvCxnSpPr>
        <p:spPr>
          <a:xfrm flipV="1">
            <a:off x="11615664" y="6566229"/>
            <a:ext cx="642649" cy="515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69" name="流程圖: 預設處理作業 21">
            <a:extLst>
              <a:ext uri="{FF2B5EF4-FFF2-40B4-BE49-F238E27FC236}">
                <a16:creationId xmlns:a16="http://schemas.microsoft.com/office/drawing/2014/main" xmlns="" id="{2857039D-4439-AE14-74EB-A5CEC0477F9A}"/>
              </a:ext>
            </a:extLst>
          </p:cNvPr>
          <p:cNvSpPr/>
          <p:nvPr/>
        </p:nvSpPr>
        <p:spPr bwMode="auto">
          <a:xfrm>
            <a:off x="12258313" y="5947029"/>
            <a:ext cx="1728927"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MM-IV-0010</a:t>
            </a:r>
          </a:p>
          <a:p>
            <a:pPr algn="ctr" eaLnBrk="0" hangingPunct="0"/>
            <a:r>
              <a:rPr lang="zh-TW" altLang="en-US" sz="1500" dirty="0">
                <a:latin typeface="微軟正黑體" panose="020B0604030504040204" pitchFamily="34" charset="-120"/>
                <a:ea typeface="微軟正黑體" panose="020B0604030504040204" pitchFamily="34" charset="-120"/>
              </a:rPr>
              <a:t>發票驗證流程</a:t>
            </a:r>
          </a:p>
          <a:p>
            <a:pPr algn="ctr" eaLnBrk="0" hangingPunct="0"/>
            <a:endParaRPr lang="zh-TW" altLang="en-US" sz="1500" dirty="0">
              <a:latin typeface="微軟正黑體" panose="020B0604030504040204" pitchFamily="34" charset="-120"/>
              <a:ea typeface="微軟正黑體" panose="020B0604030504040204" pitchFamily="34" charset="-120"/>
            </a:endParaRPr>
          </a:p>
        </p:txBody>
      </p:sp>
      <p:cxnSp>
        <p:nvCxnSpPr>
          <p:cNvPr id="70" name="直線單箭頭接點 69">
            <a:extLst>
              <a:ext uri="{FF2B5EF4-FFF2-40B4-BE49-F238E27FC236}">
                <a16:creationId xmlns:a16="http://schemas.microsoft.com/office/drawing/2014/main" xmlns="" id="{4C2B1276-06B9-E2EA-9FD1-D922936615B7}"/>
              </a:ext>
            </a:extLst>
          </p:cNvPr>
          <p:cNvCxnSpPr>
            <a:cxnSpLocks/>
            <a:endCxn id="64" idx="0"/>
          </p:cNvCxnSpPr>
          <p:nvPr/>
        </p:nvCxnSpPr>
        <p:spPr>
          <a:xfrm rot="5400000">
            <a:off x="10275210" y="5856874"/>
            <a:ext cx="839507" cy="54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1" name="直線單箭頭接點 70">
            <a:extLst>
              <a:ext uri="{FF2B5EF4-FFF2-40B4-BE49-F238E27FC236}">
                <a16:creationId xmlns:a16="http://schemas.microsoft.com/office/drawing/2014/main" xmlns="" id="{8358A9BC-99C1-0844-3360-02305B1AEB36}"/>
              </a:ext>
            </a:extLst>
          </p:cNvPr>
          <p:cNvCxnSpPr>
            <a:cxnSpLocks/>
            <a:stCxn id="69" idx="2"/>
            <a:endCxn id="57" idx="0"/>
          </p:cNvCxnSpPr>
          <p:nvPr/>
        </p:nvCxnSpPr>
        <p:spPr>
          <a:xfrm rot="5400000">
            <a:off x="12641956" y="7666250"/>
            <a:ext cx="961642" cy="15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72" name="群組 71"/>
          <p:cNvGrpSpPr/>
          <p:nvPr/>
        </p:nvGrpSpPr>
        <p:grpSpPr>
          <a:xfrm>
            <a:off x="6924420" y="7940417"/>
            <a:ext cx="1810800" cy="1217256"/>
            <a:chOff x="15073354" y="8308668"/>
            <a:chExt cx="1810800" cy="1217256"/>
          </a:xfrm>
        </p:grpSpPr>
        <p:sp>
          <p:nvSpPr>
            <p:cNvPr id="75" name="流程圖: 程序 74"/>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GB" altLang="zh-TW" sz="1500" b="1" dirty="0">
                  <a:latin typeface="微軟正黑體" panose="020B0604030504040204" pitchFamily="34" charset="-120"/>
                  <a:ea typeface="微軟正黑體" panose="020B0604030504040204" pitchFamily="34" charset="-120"/>
                </a:rPr>
                <a:t>MIGO</a:t>
              </a:r>
              <a:endParaRPr lang="en-GB" sz="1500" b="1" dirty="0">
                <a:latin typeface="微軟正黑體" panose="020B0604030504040204" pitchFamily="34" charset="-120"/>
                <a:ea typeface="微軟正黑體" panose="020B0604030504040204" pitchFamily="34" charset="-120"/>
              </a:endParaRPr>
            </a:p>
          </p:txBody>
        </p:sp>
        <p:sp>
          <p:nvSpPr>
            <p:cNvPr id="76" name="流程圖: 程序 75"/>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a:latin typeface="微軟正黑體" panose="020B0604030504040204" pitchFamily="34" charset="-120"/>
                  <a:ea typeface="微軟正黑體" panose="020B0604030504040204" pitchFamily="34" charset="-120"/>
                </a:rPr>
                <a:t>採購單退貨，</a:t>
              </a:r>
              <a:endParaRPr lang="en-US" altLang="zh-TW" sz="1500" dirty="0">
                <a:latin typeface="微軟正黑體" panose="020B0604030504040204" pitchFamily="34" charset="-120"/>
                <a:ea typeface="微軟正黑體" panose="020B0604030504040204" pitchFamily="34" charset="-120"/>
              </a:endParaRPr>
            </a:p>
            <a:p>
              <a:pPr algn="ctr"/>
              <a:r>
                <a:rPr lang="zh-TW" altLang="en-US" sz="1500" dirty="0">
                  <a:latin typeface="微軟正黑體" panose="020B0604030504040204" pitchFamily="34" charset="-120"/>
                  <a:ea typeface="微軟正黑體" panose="020B0604030504040204" pitchFamily="34" charset="-120"/>
                </a:rPr>
                <a:t>通知廠商收退重送</a:t>
              </a:r>
              <a:endParaRPr lang="en-US" altLang="zh-TW" sz="1500" dirty="0">
                <a:latin typeface="微軟正黑體" panose="020B0604030504040204" pitchFamily="34" charset="-120"/>
                <a:ea typeface="微軟正黑體" panose="020B0604030504040204" pitchFamily="34" charset="-120"/>
              </a:endParaRPr>
            </a:p>
          </p:txBody>
        </p:sp>
        <p:sp>
          <p:nvSpPr>
            <p:cNvPr id="77" name="流程圖: 程序 76"/>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78" name="流程圖: 程序 77"/>
            <p:cNvSpPr/>
            <p:nvPr/>
          </p:nvSpPr>
          <p:spPr>
            <a:xfrm>
              <a:off x="15996112"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a:solidFill>
                    <a:schemeClr val="dk1"/>
                  </a:solidFill>
                  <a:latin typeface="微軟正黑體"/>
                  <a:ea typeface="微軟正黑體"/>
                </a:rPr>
                <a:t>手動</a:t>
              </a:r>
            </a:p>
          </p:txBody>
        </p:sp>
      </p:grpSp>
      <p:grpSp>
        <p:nvGrpSpPr>
          <p:cNvPr id="79" name="群組 78"/>
          <p:cNvGrpSpPr/>
          <p:nvPr/>
        </p:nvGrpSpPr>
        <p:grpSpPr>
          <a:xfrm>
            <a:off x="6799235" y="2181863"/>
            <a:ext cx="1810800" cy="1217256"/>
            <a:chOff x="15073354" y="8308668"/>
            <a:chExt cx="1810800" cy="1217256"/>
          </a:xfrm>
        </p:grpSpPr>
        <p:sp>
          <p:nvSpPr>
            <p:cNvPr id="80" name="流程圖: 程序 79"/>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GB" altLang="zh-TW" sz="1500" b="1" dirty="0">
                  <a:latin typeface="微軟正黑體" panose="020B0604030504040204" pitchFamily="34" charset="-120"/>
                  <a:ea typeface="微軟正黑體" panose="020B0604030504040204" pitchFamily="34" charset="-120"/>
                </a:rPr>
                <a:t>MIGO</a:t>
              </a:r>
              <a:endParaRPr lang="en-GB" sz="1500" b="1" dirty="0">
                <a:latin typeface="微軟正黑體" panose="020B0604030504040204" pitchFamily="34" charset="-120"/>
                <a:ea typeface="微軟正黑體" panose="020B0604030504040204" pitchFamily="34" charset="-120"/>
              </a:endParaRPr>
            </a:p>
          </p:txBody>
        </p:sp>
        <p:sp>
          <p:nvSpPr>
            <p:cNvPr id="81" name="流程圖: 程序 80"/>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a:latin typeface="微軟正黑體" panose="020B0604030504040204" pitchFamily="34" charset="-120"/>
                  <a:ea typeface="微軟正黑體" panose="020B0604030504040204" pitchFamily="34" charset="-120"/>
                </a:rPr>
                <a:t>採購單收貨</a:t>
              </a:r>
              <a:endParaRPr lang="en-US" altLang="zh-TW" sz="1500" dirty="0">
                <a:latin typeface="微軟正黑體" panose="020B0604030504040204" pitchFamily="34" charset="-120"/>
                <a:ea typeface="微軟正黑體" panose="020B0604030504040204" pitchFamily="34" charset="-120"/>
              </a:endParaRPr>
            </a:p>
          </p:txBody>
        </p:sp>
        <p:sp>
          <p:nvSpPr>
            <p:cNvPr id="82" name="流程圖: 程序 81"/>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84" name="流程圖: 程序 83"/>
            <p:cNvSpPr/>
            <p:nvPr/>
          </p:nvSpPr>
          <p:spPr>
            <a:xfrm>
              <a:off x="15996112"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a:solidFill>
                    <a:schemeClr val="dk1"/>
                  </a:solidFill>
                  <a:latin typeface="微軟正黑體"/>
                  <a:ea typeface="微軟正黑體"/>
                </a:rPr>
                <a:t>手動</a:t>
              </a:r>
            </a:p>
          </p:txBody>
        </p:sp>
      </p:grpSp>
      <p:grpSp>
        <p:nvGrpSpPr>
          <p:cNvPr id="85" name="群組 84"/>
          <p:cNvGrpSpPr/>
          <p:nvPr/>
        </p:nvGrpSpPr>
        <p:grpSpPr>
          <a:xfrm>
            <a:off x="9754709" y="4271926"/>
            <a:ext cx="1810800" cy="1217256"/>
            <a:chOff x="15073354" y="8308668"/>
            <a:chExt cx="1810800" cy="1217256"/>
          </a:xfrm>
        </p:grpSpPr>
        <p:sp>
          <p:nvSpPr>
            <p:cNvPr id="86" name="流程圖: 程序 85"/>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endParaRPr lang="en-GB" sz="1500" b="1" dirty="0">
                <a:latin typeface="微軟正黑體" panose="020B0604030504040204" pitchFamily="34" charset="-120"/>
                <a:ea typeface="微軟正黑體" panose="020B0604030504040204" pitchFamily="34" charset="-120"/>
              </a:endParaRPr>
            </a:p>
          </p:txBody>
        </p:sp>
        <p:sp>
          <p:nvSpPr>
            <p:cNvPr id="87" name="流程圖: 程序 86"/>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a:latin typeface="微軟正黑體" panose="020B0604030504040204" pitchFamily="34" charset="-120"/>
                  <a:ea typeface="微軟正黑體" panose="020B0604030504040204" pitchFamily="34" charset="-120"/>
                </a:rPr>
                <a:t>功能確認</a:t>
              </a:r>
              <a:endParaRPr lang="en-US" altLang="zh-TW" sz="1500" dirty="0">
                <a:latin typeface="微軟正黑體" panose="020B0604030504040204" pitchFamily="34" charset="-120"/>
                <a:ea typeface="微軟正黑體" panose="020B0604030504040204" pitchFamily="34" charset="-120"/>
              </a:endParaRPr>
            </a:p>
          </p:txBody>
        </p:sp>
        <p:sp>
          <p:nvSpPr>
            <p:cNvPr id="89" name="流程圖: 程序 88"/>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endParaRPr lang="zh-TW" altLang="en-US" sz="1500" spc="-1" dirty="0">
                <a:solidFill>
                  <a:schemeClr val="dk1"/>
                </a:solidFill>
                <a:latin typeface="微軟正黑體"/>
                <a:ea typeface="微軟正黑體"/>
              </a:endParaRPr>
            </a:p>
          </p:txBody>
        </p:sp>
        <p:sp>
          <p:nvSpPr>
            <p:cNvPr id="90" name="流程圖: 程序 89"/>
            <p:cNvSpPr/>
            <p:nvPr/>
          </p:nvSpPr>
          <p:spPr>
            <a:xfrm>
              <a:off x="15996112"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a:solidFill>
                    <a:schemeClr val="dk1"/>
                  </a:solidFill>
                  <a:latin typeface="微軟正黑體"/>
                  <a:ea typeface="微軟正黑體"/>
                </a:rPr>
                <a:t>手動</a:t>
              </a:r>
            </a:p>
          </p:txBody>
        </p:sp>
      </p:grpSp>
      <p:grpSp>
        <p:nvGrpSpPr>
          <p:cNvPr id="91" name="Group 220">
            <a:extLst>
              <a:ext uri="{FF2B5EF4-FFF2-40B4-BE49-F238E27FC236}">
                <a16:creationId xmlns:a16="http://schemas.microsoft.com/office/drawing/2014/main" xmlns="" id="{13E9951B-4A3E-E489-AE09-B89089F6F4B6}"/>
              </a:ext>
            </a:extLst>
          </p:cNvPr>
          <p:cNvGrpSpPr/>
          <p:nvPr/>
        </p:nvGrpSpPr>
        <p:grpSpPr>
          <a:xfrm>
            <a:off x="11318087" y="4066679"/>
            <a:ext cx="560606" cy="415761"/>
            <a:chOff x="5906472" y="1486857"/>
            <a:chExt cx="373737" cy="272361"/>
          </a:xfrm>
        </p:grpSpPr>
        <p:sp>
          <p:nvSpPr>
            <p:cNvPr id="92" name="Oval 221">
              <a:extLst>
                <a:ext uri="{FF2B5EF4-FFF2-40B4-BE49-F238E27FC236}">
                  <a16:creationId xmlns:a16="http://schemas.microsoft.com/office/drawing/2014/main" xmlns="" id="{658E3F42-D710-EA0A-760A-56D3E70DDA80}"/>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93" name="TextBox 222">
              <a:extLst>
                <a:ext uri="{FF2B5EF4-FFF2-40B4-BE49-F238E27FC236}">
                  <a16:creationId xmlns:a16="http://schemas.microsoft.com/office/drawing/2014/main" xmlns="" id="{04B45D44-738C-9015-C58C-EA8A042CC559}"/>
                </a:ext>
              </a:extLst>
            </p:cNvPr>
            <p:cNvSpPr txBox="1"/>
            <p:nvPr/>
          </p:nvSpPr>
          <p:spPr>
            <a:xfrm>
              <a:off x="5924609" y="1507079"/>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grpSp>
        <p:nvGrpSpPr>
          <p:cNvPr id="94" name="Group 220">
            <a:extLst>
              <a:ext uri="{FF2B5EF4-FFF2-40B4-BE49-F238E27FC236}">
                <a16:creationId xmlns:a16="http://schemas.microsoft.com/office/drawing/2014/main" xmlns="" id="{A1983CA1-988B-B586-6B79-EED6E53CD361}"/>
              </a:ext>
            </a:extLst>
          </p:cNvPr>
          <p:cNvGrpSpPr/>
          <p:nvPr/>
        </p:nvGrpSpPr>
        <p:grpSpPr>
          <a:xfrm>
            <a:off x="8420280" y="1991579"/>
            <a:ext cx="572532" cy="408542"/>
            <a:chOff x="5906472" y="1486857"/>
            <a:chExt cx="381688" cy="272361"/>
          </a:xfrm>
        </p:grpSpPr>
        <p:sp>
          <p:nvSpPr>
            <p:cNvPr id="95" name="Oval 221">
              <a:extLst>
                <a:ext uri="{FF2B5EF4-FFF2-40B4-BE49-F238E27FC236}">
                  <a16:creationId xmlns:a16="http://schemas.microsoft.com/office/drawing/2014/main" xmlns="" id="{C9A8929E-42CE-DCDD-06D7-93FEB4DAB3BB}"/>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96" name="TextBox 222">
              <a:extLst>
                <a:ext uri="{FF2B5EF4-FFF2-40B4-BE49-F238E27FC236}">
                  <a16:creationId xmlns:a16="http://schemas.microsoft.com/office/drawing/2014/main" xmlns="" id="{B52B9FCC-FC80-B8A2-DA40-E3EA863599DF}"/>
                </a:ext>
              </a:extLst>
            </p:cNvPr>
            <p:cNvSpPr txBox="1"/>
            <p:nvPr/>
          </p:nvSpPr>
          <p:spPr>
            <a:xfrm>
              <a:off x="5932560" y="1507079"/>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grpSp>
        <p:nvGrpSpPr>
          <p:cNvPr id="97" name="Group 220">
            <a:extLst>
              <a:ext uri="{FF2B5EF4-FFF2-40B4-BE49-F238E27FC236}">
                <a16:creationId xmlns:a16="http://schemas.microsoft.com/office/drawing/2014/main" xmlns="" id="{ADD1546F-75A2-0E22-F66E-32DFDB0DE746}"/>
              </a:ext>
            </a:extLst>
          </p:cNvPr>
          <p:cNvGrpSpPr/>
          <p:nvPr/>
        </p:nvGrpSpPr>
        <p:grpSpPr>
          <a:xfrm>
            <a:off x="8517520" y="7714467"/>
            <a:ext cx="559344" cy="415761"/>
            <a:chOff x="5906472" y="1486857"/>
            <a:chExt cx="372896" cy="272361"/>
          </a:xfrm>
        </p:grpSpPr>
        <p:sp>
          <p:nvSpPr>
            <p:cNvPr id="98" name="Oval 221">
              <a:extLst>
                <a:ext uri="{FF2B5EF4-FFF2-40B4-BE49-F238E27FC236}">
                  <a16:creationId xmlns:a16="http://schemas.microsoft.com/office/drawing/2014/main" xmlns="" id="{E638D9BF-33CE-140D-7D4D-42C18836B305}"/>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99" name="TextBox 222">
              <a:extLst>
                <a:ext uri="{FF2B5EF4-FFF2-40B4-BE49-F238E27FC236}">
                  <a16:creationId xmlns:a16="http://schemas.microsoft.com/office/drawing/2014/main" xmlns="" id="{454E1CB9-6ED4-AD5A-39EC-6D1B324BA26E}"/>
                </a:ext>
              </a:extLst>
            </p:cNvPr>
            <p:cNvSpPr txBox="1"/>
            <p:nvPr/>
          </p:nvSpPr>
          <p:spPr>
            <a:xfrm>
              <a:off x="5923768" y="1507079"/>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4</a:t>
              </a:r>
              <a:endParaRPr lang="zh-TW" altLang="en-US" sz="1500" dirty="0">
                <a:latin typeface="微軟正黑體" panose="020B0604030504040204" pitchFamily="34" charset="-120"/>
                <a:ea typeface="微軟正黑體" panose="020B0604030504040204" pitchFamily="34" charset="-120"/>
              </a:endParaRPr>
            </a:p>
          </p:txBody>
        </p:sp>
      </p:grpSp>
      <p:grpSp>
        <p:nvGrpSpPr>
          <p:cNvPr id="102" name="群組 101"/>
          <p:cNvGrpSpPr/>
          <p:nvPr/>
        </p:nvGrpSpPr>
        <p:grpSpPr>
          <a:xfrm>
            <a:off x="2722523" y="2154675"/>
            <a:ext cx="1821087" cy="1217256"/>
            <a:chOff x="15073354" y="8308668"/>
            <a:chExt cx="1821087" cy="1217256"/>
          </a:xfrm>
        </p:grpSpPr>
        <p:sp>
          <p:nvSpPr>
            <p:cNvPr id="103" name="流程圖: 程序 102"/>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endParaRPr lang="en-GB" sz="1500" b="1" dirty="0">
                <a:latin typeface="微軟正黑體" panose="020B0604030504040204" pitchFamily="34" charset="-120"/>
                <a:ea typeface="微軟正黑體" panose="020B0604030504040204" pitchFamily="34" charset="-120"/>
              </a:endParaRPr>
            </a:p>
          </p:txBody>
        </p:sp>
        <p:sp>
          <p:nvSpPr>
            <p:cNvPr id="104" name="流程圖: 程序 103"/>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a:latin typeface="微軟正黑體" panose="020B0604030504040204" pitchFamily="34" charset="-120"/>
                  <a:ea typeface="微軟正黑體" panose="020B0604030504040204" pitchFamily="34" charset="-120"/>
                </a:rPr>
                <a:t>列印採購單</a:t>
              </a:r>
              <a:endParaRPr lang="en-US" altLang="zh-TW" sz="1500" dirty="0">
                <a:latin typeface="微軟正黑體" panose="020B0604030504040204" pitchFamily="34" charset="-120"/>
                <a:ea typeface="微軟正黑體" panose="020B0604030504040204" pitchFamily="34" charset="-120"/>
              </a:endParaRPr>
            </a:p>
          </p:txBody>
        </p:sp>
        <p:sp>
          <p:nvSpPr>
            <p:cNvPr id="105" name="流程圖: 程序 104"/>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US" sz="1500" dirty="0">
                  <a:latin typeface="微軟正黑體" panose="020B0604030504040204" pitchFamily="34" charset="-120"/>
                  <a:ea typeface="微軟正黑體" panose="020B0604030504040204" pitchFamily="34" charset="-120"/>
                </a:rPr>
                <a:t>BPM</a:t>
              </a:r>
              <a:endParaRPr lang="en-GB" sz="1500" dirty="0">
                <a:latin typeface="微軟正黑體" panose="020B0604030504040204" pitchFamily="34" charset="-120"/>
                <a:ea typeface="微軟正黑體" panose="020B0604030504040204" pitchFamily="34" charset="-120"/>
              </a:endParaRPr>
            </a:p>
          </p:txBody>
        </p:sp>
        <p:sp>
          <p:nvSpPr>
            <p:cNvPr id="106" name="流程圖: 程序 105"/>
            <p:cNvSpPr/>
            <p:nvPr/>
          </p:nvSpPr>
          <p:spPr>
            <a:xfrm>
              <a:off x="16012441"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a:solidFill>
                    <a:schemeClr val="dk1"/>
                  </a:solidFill>
                  <a:latin typeface="微軟正黑體"/>
                  <a:ea typeface="微軟正黑體"/>
                </a:rPr>
                <a:t>自動</a:t>
              </a:r>
            </a:p>
          </p:txBody>
        </p:sp>
      </p:grpSp>
      <p:grpSp>
        <p:nvGrpSpPr>
          <p:cNvPr id="31" name="Group 220">
            <a:extLst>
              <a:ext uri="{FF2B5EF4-FFF2-40B4-BE49-F238E27FC236}">
                <a16:creationId xmlns:a16="http://schemas.microsoft.com/office/drawing/2014/main" xmlns="" id="{A9B401BC-DE49-5FC0-6565-D216316A23DA}"/>
              </a:ext>
            </a:extLst>
          </p:cNvPr>
          <p:cNvGrpSpPr/>
          <p:nvPr/>
        </p:nvGrpSpPr>
        <p:grpSpPr>
          <a:xfrm>
            <a:off x="4338266" y="1894034"/>
            <a:ext cx="559344" cy="408542"/>
            <a:chOff x="5906472" y="1486857"/>
            <a:chExt cx="372896" cy="272361"/>
          </a:xfrm>
        </p:grpSpPr>
        <p:sp>
          <p:nvSpPr>
            <p:cNvPr id="32" name="Oval 221">
              <a:extLst>
                <a:ext uri="{FF2B5EF4-FFF2-40B4-BE49-F238E27FC236}">
                  <a16:creationId xmlns:a16="http://schemas.microsoft.com/office/drawing/2014/main" xmlns="" id="{DEBB780E-65E5-AB48-7071-2CDA63191644}"/>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33" name="TextBox 222">
              <a:extLst>
                <a:ext uri="{FF2B5EF4-FFF2-40B4-BE49-F238E27FC236}">
                  <a16:creationId xmlns:a16="http://schemas.microsoft.com/office/drawing/2014/main" xmlns="" id="{38213EC1-2A6F-CC6F-9F41-D87C1E84A2C8}"/>
                </a:ext>
              </a:extLst>
            </p:cNvPr>
            <p:cNvSpPr txBox="1"/>
            <p:nvPr/>
          </p:nvSpPr>
          <p:spPr>
            <a:xfrm>
              <a:off x="5923768" y="1507079"/>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cxnSp>
        <p:nvCxnSpPr>
          <p:cNvPr id="108" name="肘形接點 68">
            <a:extLst>
              <a:ext uri="{FF2B5EF4-FFF2-40B4-BE49-F238E27FC236}">
                <a16:creationId xmlns:a16="http://schemas.microsoft.com/office/drawing/2014/main" xmlns="" id="{97B9A81B-FB6F-E725-53DC-5170EDD5F5EC}"/>
              </a:ext>
            </a:extLst>
          </p:cNvPr>
          <p:cNvCxnSpPr>
            <a:cxnSpLocks/>
            <a:stCxn id="5" idx="3"/>
            <a:endCxn id="104" idx="1"/>
          </p:cNvCxnSpPr>
          <p:nvPr/>
        </p:nvCxnSpPr>
        <p:spPr>
          <a:xfrm flipV="1">
            <a:off x="1665487" y="2761898"/>
            <a:ext cx="1057036" cy="589"/>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0839744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文字方塊 3">
            <a:extLst>
              <a:ext uri="{FF2B5EF4-FFF2-40B4-BE49-F238E27FC236}">
                <a16:creationId xmlns:a16="http://schemas.microsoft.com/office/drawing/2014/main" xmlns="" id="{83E6F622-2FBE-CC67-50FE-4ABD7D8B9696}"/>
              </a:ext>
            </a:extLst>
          </p:cNvPr>
          <p:cNvSpPr txBox="1"/>
          <p:nvPr/>
        </p:nvSpPr>
        <p:spPr>
          <a:xfrm>
            <a:off x="2444079" y="820877"/>
            <a:ext cx="9463535" cy="461665"/>
          </a:xfrm>
          <a:prstGeom prst="rect">
            <a:avLst/>
          </a:prstGeom>
          <a:noFill/>
        </p:spPr>
        <p:txBody>
          <a:bodyPr wrap="square">
            <a:spAutoFit/>
          </a:bodyPr>
          <a:lstStyle/>
          <a:p>
            <a:pPr eaLnBrk="0" hangingPunct="0"/>
            <a:r>
              <a:rPr lang="en-US" altLang="zh-TW" sz="2400" b="1" dirty="0">
                <a:latin typeface="微軟正黑體" panose="020B0604030504040204" pitchFamily="34" charset="-120"/>
                <a:ea typeface="微軟正黑體" panose="020B0604030504040204" pitchFamily="34" charset="-120"/>
              </a:rPr>
              <a:t>MM-PU-0090-03 </a:t>
            </a:r>
            <a:r>
              <a:rPr lang="zh-TW" altLang="en-US" sz="2400" b="1" dirty="0">
                <a:latin typeface="微軟正黑體" panose="020B0604030504040204" pitchFamily="34" charset="-120"/>
                <a:ea typeface="微軟正黑體" panose="020B0604030504040204" pitchFamily="34" charset="-120"/>
              </a:rPr>
              <a:t>固定資產請採驗流程 </a:t>
            </a:r>
            <a:r>
              <a:rPr lang="en-US" altLang="zh-TW" sz="2400" b="1" dirty="0">
                <a:latin typeface="微軟正黑體" panose="020B0604030504040204" pitchFamily="34" charset="-120"/>
                <a:ea typeface="微軟正黑體" panose="020B0604030504040204" pitchFamily="34" charset="-120"/>
              </a:rPr>
              <a:t>(</a:t>
            </a:r>
            <a:r>
              <a:rPr lang="zh-TW" altLang="en-US" sz="2400" b="1" dirty="0">
                <a:latin typeface="微軟正黑體" panose="020B0604030504040204" pitchFamily="34" charset="-120"/>
                <a:ea typeface="微軟正黑體" panose="020B0604030504040204" pitchFamily="34" charset="-120"/>
              </a:rPr>
              <a:t>機器設備</a:t>
            </a:r>
            <a:r>
              <a:rPr lang="en-US" altLang="zh-TW" sz="2400" b="1" dirty="0">
                <a:latin typeface="微軟正黑體" panose="020B0604030504040204" pitchFamily="34" charset="-120"/>
                <a:ea typeface="微軟正黑體" panose="020B0604030504040204" pitchFamily="34" charset="-120"/>
              </a:rPr>
              <a:t>/</a:t>
            </a:r>
            <a:r>
              <a:rPr lang="zh-TW" altLang="en-US" sz="2400" b="1" dirty="0">
                <a:latin typeface="微軟正黑體" panose="020B0604030504040204" pitchFamily="34" charset="-120"/>
                <a:ea typeface="微軟正黑體" panose="020B0604030504040204" pitchFamily="34" charset="-120"/>
              </a:rPr>
              <a:t>楦頭</a:t>
            </a:r>
            <a:r>
              <a:rPr lang="en-US" altLang="zh-TW" sz="2400" b="1" dirty="0">
                <a:latin typeface="微軟正黑體" panose="020B0604030504040204" pitchFamily="34" charset="-120"/>
                <a:ea typeface="微軟正黑體" panose="020B0604030504040204" pitchFamily="34" charset="-120"/>
              </a:rPr>
              <a:t>/</a:t>
            </a:r>
            <a:r>
              <a:rPr lang="zh-TW" altLang="en-US" sz="2400" b="1" dirty="0">
                <a:latin typeface="微軟正黑體" panose="020B0604030504040204" pitchFamily="34" charset="-120"/>
                <a:ea typeface="微軟正黑體" panose="020B0604030504040204" pitchFamily="34" charset="-120"/>
              </a:rPr>
              <a:t>模具以外</a:t>
            </a:r>
            <a:r>
              <a:rPr lang="en-US" altLang="zh-TW" sz="2400" b="1" dirty="0">
                <a:latin typeface="微軟正黑體" panose="020B0604030504040204" pitchFamily="34" charset="-120"/>
                <a:ea typeface="微軟正黑體" panose="020B0604030504040204" pitchFamily="34" charset="-120"/>
              </a:rPr>
              <a:t>)</a:t>
            </a:r>
            <a:endParaRPr lang="zh-TW" altLang="en-US" sz="2400" b="1" dirty="0">
              <a:latin typeface="微軟正黑體" panose="020B0604030504040204" pitchFamily="34" charset="-120"/>
              <a:ea typeface="微軟正黑體" panose="020B0604030504040204" pitchFamily="34" charset="-120"/>
            </a:endParaRPr>
          </a:p>
        </p:txBody>
      </p:sp>
      <p:sp>
        <p:nvSpPr>
          <p:cNvPr id="14" name="文字方塊 17">
            <a:extLst>
              <a:ext uri="{FF2B5EF4-FFF2-40B4-BE49-F238E27FC236}">
                <a16:creationId xmlns:a16="http://schemas.microsoft.com/office/drawing/2014/main" xmlns="" id="{E114DEFF-4464-1230-5102-DAAA05109B8A}"/>
              </a:ext>
            </a:extLst>
          </p:cNvPr>
          <p:cNvSpPr txBox="1"/>
          <p:nvPr/>
        </p:nvSpPr>
        <p:spPr>
          <a:xfrm>
            <a:off x="2444079" y="1363612"/>
            <a:ext cx="2019377"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需求單位</a:t>
            </a:r>
          </a:p>
        </p:txBody>
      </p:sp>
      <p:graphicFrame>
        <p:nvGraphicFramePr>
          <p:cNvPr id="30" name="表格 30">
            <a:extLst>
              <a:ext uri="{FF2B5EF4-FFF2-40B4-BE49-F238E27FC236}">
                <a16:creationId xmlns:a16="http://schemas.microsoft.com/office/drawing/2014/main" xmlns="" id="{18197701-0564-3E2B-648E-413A6C8BBE0A}"/>
              </a:ext>
            </a:extLst>
          </p:cNvPr>
          <p:cNvGraphicFramePr>
            <a:graphicFrameLocks noGrp="1"/>
          </p:cNvGraphicFramePr>
          <p:nvPr/>
        </p:nvGraphicFramePr>
        <p:xfrm>
          <a:off x="2555403" y="2006500"/>
          <a:ext cx="1813110" cy="1397740"/>
        </p:xfrm>
        <a:graphic>
          <a:graphicData uri="http://schemas.openxmlformats.org/drawingml/2006/table">
            <a:tbl>
              <a:tblPr>
                <a:tableStyleId>{5940675A-B579-460E-94D1-54222C63F5DA}</a:tableStyleId>
              </a:tblPr>
              <a:tblGrid>
                <a:gridCol w="906555">
                  <a:extLst>
                    <a:ext uri="{9D8B030D-6E8A-4147-A177-3AD203B41FA5}">
                      <a16:colId xmlns:a16="http://schemas.microsoft.com/office/drawing/2014/main" xmlns="" val="3433979995"/>
                    </a:ext>
                  </a:extLst>
                </a:gridCol>
                <a:gridCol w="906555">
                  <a:extLst>
                    <a:ext uri="{9D8B030D-6E8A-4147-A177-3AD203B41FA5}">
                      <a16:colId xmlns:a16="http://schemas.microsoft.com/office/drawing/2014/main" xmlns="" val="3727974752"/>
                    </a:ext>
                  </a:extLst>
                </a:gridCol>
              </a:tblGrid>
              <a:tr h="332510">
                <a:tc gridSpan="2">
                  <a:txBody>
                    <a:bodyPr/>
                    <a:lstStyle/>
                    <a:p>
                      <a:pPr algn="ctr"/>
                      <a:r>
                        <a:rPr lang="en-GB" sz="1400" b="1" dirty="0">
                          <a:solidFill>
                            <a:schemeClr val="tx1"/>
                          </a:solidFill>
                          <a:latin typeface="微軟正黑體" panose="020B0604030504040204" pitchFamily="34" charset="-120"/>
                          <a:ea typeface="微軟正黑體" panose="020B0604030504040204" pitchFamily="34" charset="-120"/>
                        </a:rPr>
                        <a:t>ME51N</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748146">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建立資產請購申購單</a:t>
                      </a:r>
                      <a:r>
                        <a:rPr kumimoji="0" lang="en-US" altLang="zh-TW" sz="1400" dirty="0">
                          <a:latin typeface="微軟正黑體" panose="020B0604030504040204" pitchFamily="34" charset="-120"/>
                          <a:ea typeface="微軟正黑體" panose="020B0604030504040204" pitchFamily="34" charset="-120"/>
                        </a:rPr>
                        <a:t>;</a:t>
                      </a:r>
                      <a:r>
                        <a:rPr kumimoji="0" lang="zh-TW" altLang="en-US" sz="1400" dirty="0">
                          <a:latin typeface="微軟正黑體" panose="020B0604030504040204" pitchFamily="34" charset="-120"/>
                          <a:ea typeface="微軟正黑體" panose="020B0604030504040204" pitchFamily="34" charset="-120"/>
                        </a:rPr>
                        <a:t>建立資產主檔</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06000">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手動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pSp>
        <p:nvGrpSpPr>
          <p:cNvPr id="31" name="Group 220">
            <a:extLst>
              <a:ext uri="{FF2B5EF4-FFF2-40B4-BE49-F238E27FC236}">
                <a16:creationId xmlns:a16="http://schemas.microsoft.com/office/drawing/2014/main" xmlns="" id="{A9B401BC-DE49-5FC0-6565-D216316A23DA}"/>
              </a:ext>
            </a:extLst>
          </p:cNvPr>
          <p:cNvGrpSpPr/>
          <p:nvPr/>
        </p:nvGrpSpPr>
        <p:grpSpPr>
          <a:xfrm>
            <a:off x="4141103" y="1793170"/>
            <a:ext cx="545669" cy="408542"/>
            <a:chOff x="5906472" y="1486857"/>
            <a:chExt cx="363779" cy="272361"/>
          </a:xfrm>
        </p:grpSpPr>
        <p:sp>
          <p:nvSpPr>
            <p:cNvPr id="32" name="Oval 221">
              <a:extLst>
                <a:ext uri="{FF2B5EF4-FFF2-40B4-BE49-F238E27FC236}">
                  <a16:creationId xmlns:a16="http://schemas.microsoft.com/office/drawing/2014/main" xmlns="" id="{DEBB780E-65E5-AB48-7071-2CDA63191644}"/>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33" name="TextBox 222">
              <a:extLst>
                <a:ext uri="{FF2B5EF4-FFF2-40B4-BE49-F238E27FC236}">
                  <a16:creationId xmlns:a16="http://schemas.microsoft.com/office/drawing/2014/main" xmlns="" id="{38213EC1-2A6F-CC6F-9F41-D87C1E84A2C8}"/>
                </a:ext>
              </a:extLst>
            </p:cNvPr>
            <p:cNvSpPr txBox="1"/>
            <p:nvPr/>
          </p:nvSpPr>
          <p:spPr>
            <a:xfrm>
              <a:off x="5914651" y="1498612"/>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graphicFrame>
        <p:nvGraphicFramePr>
          <p:cNvPr id="15" name="表格 30">
            <a:extLst>
              <a:ext uri="{FF2B5EF4-FFF2-40B4-BE49-F238E27FC236}">
                <a16:creationId xmlns:a16="http://schemas.microsoft.com/office/drawing/2014/main" xmlns="" id="{DD4D6B14-D3B2-B7AE-AA9C-20D4B4848A80}"/>
              </a:ext>
            </a:extLst>
          </p:cNvPr>
          <p:cNvGraphicFramePr>
            <a:graphicFrameLocks noGrp="1"/>
          </p:cNvGraphicFramePr>
          <p:nvPr/>
        </p:nvGraphicFramePr>
        <p:xfrm>
          <a:off x="4643805" y="4663241"/>
          <a:ext cx="1800526" cy="1073844"/>
        </p:xfrm>
        <a:graphic>
          <a:graphicData uri="http://schemas.openxmlformats.org/drawingml/2006/table">
            <a:tbl>
              <a:tblPr>
                <a:tableStyleId>{5940675A-B579-460E-94D1-54222C63F5DA}</a:tableStyleId>
              </a:tblPr>
              <a:tblGrid>
                <a:gridCol w="900263">
                  <a:extLst>
                    <a:ext uri="{9D8B030D-6E8A-4147-A177-3AD203B41FA5}">
                      <a16:colId xmlns:a16="http://schemas.microsoft.com/office/drawing/2014/main" xmlns="" val="3433979995"/>
                    </a:ext>
                  </a:extLst>
                </a:gridCol>
                <a:gridCol w="900263">
                  <a:extLst>
                    <a:ext uri="{9D8B030D-6E8A-4147-A177-3AD203B41FA5}">
                      <a16:colId xmlns:a16="http://schemas.microsoft.com/office/drawing/2014/main" xmlns="" val="3727974752"/>
                    </a:ext>
                  </a:extLst>
                </a:gridCol>
              </a:tblGrid>
              <a:tr h="365760">
                <a:tc gridSpan="2">
                  <a:txBody>
                    <a:bodyPr/>
                    <a:lstStyle/>
                    <a:p>
                      <a:pPr algn="ctr"/>
                      <a:endParaRPr lang="en-GB" sz="1500" b="1" dirty="0">
                        <a:latin typeface="微軟正黑體" panose="020B0604030504040204" pitchFamily="34" charset="-120"/>
                        <a:ea typeface="微軟正黑體" panose="020B0604030504040204" pitchFamily="34" charset="-120"/>
                      </a:endParaRPr>
                    </a:p>
                  </a:txBody>
                  <a:tcPr marL="54000" marR="54000"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371484">
                <a:tc gridSpan="2">
                  <a:txBody>
                    <a:bodyPr/>
                    <a:lstStyle/>
                    <a:p>
                      <a:pPr algn="ctr"/>
                      <a:r>
                        <a:rPr lang="zh-TW" altLang="en-US" sz="1500" dirty="0">
                          <a:latin typeface="微軟正黑體" panose="020B0604030504040204" pitchFamily="34" charset="-120"/>
                          <a:ea typeface="微軟正黑體" panose="020B0604030504040204" pitchFamily="34" charset="-120"/>
                        </a:rPr>
                        <a:t>簽核請購單</a:t>
                      </a:r>
                      <a:endParaRPr lang="en-US" altLang="zh-TW" sz="1500" dirty="0">
                        <a:latin typeface="微軟正黑體" panose="020B0604030504040204" pitchFamily="34" charset="-120"/>
                        <a:ea typeface="微軟正黑體" panose="020B0604030504040204" pitchFamily="34" charset="-120"/>
                      </a:endParaRPr>
                    </a:p>
                  </a:txBody>
                  <a:tcPr marL="54000" marR="54000"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BPM</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sp>
        <p:nvSpPr>
          <p:cNvPr id="34" name="文字方塊 17">
            <a:extLst>
              <a:ext uri="{FF2B5EF4-FFF2-40B4-BE49-F238E27FC236}">
                <a16:creationId xmlns:a16="http://schemas.microsoft.com/office/drawing/2014/main" xmlns="" id="{DE52170D-3194-E094-D743-3842F95326FE}"/>
              </a:ext>
            </a:extLst>
          </p:cNvPr>
          <p:cNvSpPr txBox="1"/>
          <p:nvPr/>
        </p:nvSpPr>
        <p:spPr>
          <a:xfrm>
            <a:off x="7745862" y="1363756"/>
            <a:ext cx="2180955"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廠區採購</a:t>
            </a:r>
          </a:p>
        </p:txBody>
      </p:sp>
      <p:cxnSp>
        <p:nvCxnSpPr>
          <p:cNvPr id="3" name="肘形接點 68">
            <a:extLst>
              <a:ext uri="{FF2B5EF4-FFF2-40B4-BE49-F238E27FC236}">
                <a16:creationId xmlns:a16="http://schemas.microsoft.com/office/drawing/2014/main" xmlns="" id="{5D236408-3F02-99D0-9ECC-DC4D4E746909}"/>
              </a:ext>
            </a:extLst>
          </p:cNvPr>
          <p:cNvCxnSpPr>
            <a:cxnSpLocks/>
            <a:stCxn id="30" idx="2"/>
            <a:endCxn id="24" idx="0"/>
          </p:cNvCxnSpPr>
          <p:nvPr/>
        </p:nvCxnSpPr>
        <p:spPr>
          <a:xfrm rot="16200000" flipH="1">
            <a:off x="3264974" y="3601224"/>
            <a:ext cx="396711" cy="2742"/>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24" name="表格 30">
            <a:extLst>
              <a:ext uri="{FF2B5EF4-FFF2-40B4-BE49-F238E27FC236}">
                <a16:creationId xmlns:a16="http://schemas.microsoft.com/office/drawing/2014/main" xmlns="" id="{DB7A0832-7D21-1719-AE8D-90899BF1A64F}"/>
              </a:ext>
            </a:extLst>
          </p:cNvPr>
          <p:cNvGraphicFramePr>
            <a:graphicFrameLocks noGrp="1"/>
          </p:cNvGraphicFramePr>
          <p:nvPr/>
        </p:nvGraphicFramePr>
        <p:xfrm>
          <a:off x="2560887" y="3800951"/>
          <a:ext cx="1807626" cy="1184439"/>
        </p:xfrm>
        <a:graphic>
          <a:graphicData uri="http://schemas.openxmlformats.org/drawingml/2006/table">
            <a:tbl>
              <a:tblPr>
                <a:tableStyleId>{5940675A-B579-460E-94D1-54222C63F5DA}</a:tableStyleId>
              </a:tblPr>
              <a:tblGrid>
                <a:gridCol w="903813">
                  <a:extLst>
                    <a:ext uri="{9D8B030D-6E8A-4147-A177-3AD203B41FA5}">
                      <a16:colId xmlns:a16="http://schemas.microsoft.com/office/drawing/2014/main" xmlns="" val="3433979995"/>
                    </a:ext>
                  </a:extLst>
                </a:gridCol>
                <a:gridCol w="903813">
                  <a:extLst>
                    <a:ext uri="{9D8B030D-6E8A-4147-A177-3AD203B41FA5}">
                      <a16:colId xmlns:a16="http://schemas.microsoft.com/office/drawing/2014/main" xmlns=""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500" b="1" dirty="0">
                          <a:solidFill>
                            <a:schemeClr val="tx1"/>
                          </a:solidFill>
                          <a:latin typeface="微軟正黑體" panose="020B0604030504040204" pitchFamily="34" charset="-120"/>
                          <a:ea typeface="微軟正黑體" panose="020B0604030504040204" pitchFamily="34" charset="-120"/>
                        </a:rPr>
                        <a:t>ZM</a:t>
                      </a:r>
                      <a:r>
                        <a:rPr lang="en-US" altLang="zh-TW" sz="1500" b="1" dirty="0">
                          <a:solidFill>
                            <a:schemeClr val="tx1"/>
                          </a:solidFill>
                          <a:latin typeface="微軟正黑體" panose="020B0604030504040204" pitchFamily="34" charset="-120"/>
                          <a:ea typeface="微軟正黑體" panose="020B0604030504040204" pitchFamily="34" charset="-120"/>
                        </a:rPr>
                        <a:t>M017</a:t>
                      </a:r>
                      <a:endParaRPr lang="en-GB" altLang="zh-TW" sz="1500" b="1" dirty="0">
                        <a:solidFill>
                          <a:schemeClr val="tx1"/>
                        </a:solidFill>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11239">
                <a:tc gridSpan="2">
                  <a:txBody>
                    <a:bodyPr/>
                    <a:lstStyle/>
                    <a:p>
                      <a:pPr algn="ctr"/>
                      <a:r>
                        <a:rPr lang="zh-TW" altLang="en-US" sz="1500" dirty="0">
                          <a:latin typeface="微軟正黑體" panose="020B0604030504040204" pitchFamily="34" charset="-120"/>
                          <a:ea typeface="微軟正黑體" panose="020B0604030504040204" pitchFamily="34" charset="-120"/>
                        </a:rPr>
                        <a:t>發起</a:t>
                      </a:r>
                      <a:r>
                        <a:rPr lang="en-US" altLang="zh-TW" sz="1500" dirty="0">
                          <a:latin typeface="微軟正黑體" panose="020B0604030504040204" pitchFamily="34" charset="-120"/>
                          <a:ea typeface="微軟正黑體" panose="020B0604030504040204" pitchFamily="34" charset="-120"/>
                        </a:rPr>
                        <a:t>BPM</a:t>
                      </a:r>
                      <a:r>
                        <a:rPr lang="zh-TW" altLang="en-US" sz="1500" dirty="0">
                          <a:latin typeface="微軟正黑體" panose="020B0604030504040204" pitchFamily="34" charset="-120"/>
                          <a:ea typeface="微軟正黑體" panose="020B0604030504040204" pitchFamily="34" charset="-120"/>
                        </a:rPr>
                        <a:t>簽核</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cxnSp>
        <p:nvCxnSpPr>
          <p:cNvPr id="27" name="肘形接點 68">
            <a:extLst>
              <a:ext uri="{FF2B5EF4-FFF2-40B4-BE49-F238E27FC236}">
                <a16:creationId xmlns:a16="http://schemas.microsoft.com/office/drawing/2014/main" xmlns="" id="{4D315B82-E1CA-313C-D4BB-3BBD9FD7F973}"/>
              </a:ext>
            </a:extLst>
          </p:cNvPr>
          <p:cNvCxnSpPr>
            <a:cxnSpLocks/>
            <a:stCxn id="24" idx="2"/>
            <a:endCxn id="15" idx="1"/>
          </p:cNvCxnSpPr>
          <p:nvPr/>
        </p:nvCxnSpPr>
        <p:spPr>
          <a:xfrm rot="16200000" flipH="1">
            <a:off x="3946866" y="4503223"/>
            <a:ext cx="214773" cy="1179105"/>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35" name="流程圖: 決策 50">
            <a:extLst>
              <a:ext uri="{FF2B5EF4-FFF2-40B4-BE49-F238E27FC236}">
                <a16:creationId xmlns:a16="http://schemas.microsoft.com/office/drawing/2014/main" xmlns="" id="{8037CA89-DBE3-1441-8E4C-7EA04E993D61}"/>
              </a:ext>
            </a:extLst>
          </p:cNvPr>
          <p:cNvSpPr/>
          <p:nvPr/>
        </p:nvSpPr>
        <p:spPr bwMode="auto">
          <a:xfrm>
            <a:off x="4630528" y="6106205"/>
            <a:ext cx="1841949" cy="712200"/>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簽核通過</a:t>
            </a:r>
          </a:p>
        </p:txBody>
      </p:sp>
      <p:cxnSp>
        <p:nvCxnSpPr>
          <p:cNvPr id="51" name="肘形接點 68">
            <a:extLst>
              <a:ext uri="{FF2B5EF4-FFF2-40B4-BE49-F238E27FC236}">
                <a16:creationId xmlns:a16="http://schemas.microsoft.com/office/drawing/2014/main" xmlns="" id="{2AA47122-2BF1-7633-656B-9B6710026CD9}"/>
              </a:ext>
            </a:extLst>
          </p:cNvPr>
          <p:cNvCxnSpPr>
            <a:cxnSpLocks/>
            <a:stCxn id="66" idx="3"/>
            <a:endCxn id="73" idx="1"/>
          </p:cNvCxnSpPr>
          <p:nvPr/>
        </p:nvCxnSpPr>
        <p:spPr>
          <a:xfrm flipV="1">
            <a:off x="7641514" y="2502337"/>
            <a:ext cx="318512" cy="4996396"/>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210" name="文字方塊 17">
            <a:extLst>
              <a:ext uri="{FF2B5EF4-FFF2-40B4-BE49-F238E27FC236}">
                <a16:creationId xmlns:a16="http://schemas.microsoft.com/office/drawing/2014/main" xmlns="" id="{306A0461-FB0A-6B8E-26F4-F4121B822258}"/>
              </a:ext>
            </a:extLst>
          </p:cNvPr>
          <p:cNvSpPr txBox="1"/>
          <p:nvPr/>
        </p:nvSpPr>
        <p:spPr>
          <a:xfrm>
            <a:off x="4463456" y="1364108"/>
            <a:ext cx="3247983"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廠區主管</a:t>
            </a:r>
            <a:r>
              <a:rPr lang="en-US" altLang="zh-TW" sz="1650" dirty="0">
                <a:latin typeface="微軟正黑體" panose="020B0604030504040204" pitchFamily="34" charset="-120"/>
                <a:ea typeface="微軟正黑體" panose="020B0604030504040204" pitchFamily="34" charset="-120"/>
              </a:rPr>
              <a:t>/</a:t>
            </a:r>
            <a:r>
              <a:rPr lang="zh-TW" altLang="en-US" sz="1650" dirty="0">
                <a:latin typeface="微軟正黑體" panose="020B0604030504040204" pitchFamily="34" charset="-120"/>
                <a:ea typeface="微軟正黑體" panose="020B0604030504040204" pitchFamily="34" charset="-120"/>
              </a:rPr>
              <a:t>處主管</a:t>
            </a:r>
          </a:p>
        </p:txBody>
      </p:sp>
      <p:sp>
        <p:nvSpPr>
          <p:cNvPr id="7" name="流程圖: 結束點 8">
            <a:extLst>
              <a:ext uri="{FF2B5EF4-FFF2-40B4-BE49-F238E27FC236}">
                <a16:creationId xmlns:a16="http://schemas.microsoft.com/office/drawing/2014/main" xmlns="" id="{A0DBA237-CDB5-528B-0345-5BE2CBAC9775}"/>
              </a:ext>
            </a:extLst>
          </p:cNvPr>
          <p:cNvSpPr/>
          <p:nvPr/>
        </p:nvSpPr>
        <p:spPr bwMode="auto">
          <a:xfrm>
            <a:off x="303454" y="2320531"/>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開始</a:t>
            </a:r>
          </a:p>
        </p:txBody>
      </p:sp>
      <p:sp>
        <p:nvSpPr>
          <p:cNvPr id="193" name="流程圖: 換頁接點 52">
            <a:extLst>
              <a:ext uri="{FF2B5EF4-FFF2-40B4-BE49-F238E27FC236}">
                <a16:creationId xmlns:a16="http://schemas.microsoft.com/office/drawing/2014/main" xmlns="" id="{81294BE7-C300-D1CD-4376-34B54DFCC2AF}"/>
              </a:ext>
            </a:extLst>
          </p:cNvPr>
          <p:cNvSpPr/>
          <p:nvPr/>
        </p:nvSpPr>
        <p:spPr bwMode="auto">
          <a:xfrm>
            <a:off x="12903028" y="6524358"/>
            <a:ext cx="560627" cy="467303"/>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P8</a:t>
            </a:r>
            <a:endParaRPr lang="zh-TW" altLang="en-US" dirty="0">
              <a:latin typeface="微軟正黑體" panose="020B0604030504040204" pitchFamily="34" charset="-120"/>
              <a:ea typeface="微軟正黑體" panose="020B0604030504040204" pitchFamily="34" charset="-120"/>
            </a:endParaRPr>
          </a:p>
        </p:txBody>
      </p:sp>
      <p:sp>
        <p:nvSpPr>
          <p:cNvPr id="195" name="文字方塊 194">
            <a:extLst>
              <a:ext uri="{FF2B5EF4-FFF2-40B4-BE49-F238E27FC236}">
                <a16:creationId xmlns:a16="http://schemas.microsoft.com/office/drawing/2014/main" xmlns="" id="{6FB1FA4C-3B8A-FBB5-B280-85555F843464}"/>
              </a:ext>
            </a:extLst>
          </p:cNvPr>
          <p:cNvSpPr txBox="1"/>
          <p:nvPr/>
        </p:nvSpPr>
        <p:spPr>
          <a:xfrm>
            <a:off x="5223691" y="6852571"/>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否</a:t>
            </a:r>
            <a:endParaRPr lang="zh-TW" altLang="en-US" sz="1350" dirty="0"/>
          </a:p>
        </p:txBody>
      </p:sp>
      <p:sp>
        <p:nvSpPr>
          <p:cNvPr id="196" name="文字方塊 195">
            <a:extLst>
              <a:ext uri="{FF2B5EF4-FFF2-40B4-BE49-F238E27FC236}">
                <a16:creationId xmlns:a16="http://schemas.microsoft.com/office/drawing/2014/main" xmlns="" id="{29D95A87-8E81-E79E-403B-C860DCAF45F5}"/>
              </a:ext>
            </a:extLst>
          </p:cNvPr>
          <p:cNvSpPr txBox="1"/>
          <p:nvPr/>
        </p:nvSpPr>
        <p:spPr>
          <a:xfrm>
            <a:off x="11977025" y="6427987"/>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zh-TW" altLang="en-US" sz="1350" dirty="0"/>
          </a:p>
        </p:txBody>
      </p:sp>
      <p:sp>
        <p:nvSpPr>
          <p:cNvPr id="2" name="TextBox 53">
            <a:extLst>
              <a:ext uri="{FF2B5EF4-FFF2-40B4-BE49-F238E27FC236}">
                <a16:creationId xmlns:a16="http://schemas.microsoft.com/office/drawing/2014/main" xmlns="" id="{B72E3EFF-4B3C-A9C8-E3E4-F926D0F3D738}"/>
              </a:ext>
            </a:extLst>
          </p:cNvPr>
          <p:cNvSpPr txBox="1"/>
          <p:nvPr/>
        </p:nvSpPr>
        <p:spPr>
          <a:xfrm>
            <a:off x="14380627" y="2064631"/>
            <a:ext cx="3594197" cy="8679299"/>
          </a:xfrm>
          <a:prstGeom prst="rect">
            <a:avLst/>
          </a:prstGeom>
          <a:noFill/>
        </p:spPr>
        <p:txBody>
          <a:bodyPr wrap="square" rtlCol="0">
            <a:spAutoFit/>
          </a:bodyPr>
          <a:lstStyle/>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建立固定資產請購單，選擇正確的物料群組，建立資產主檔時，讓系統自動引導帶出正確的資產類型。物料群組如後一頁補充說明。</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用程式</a:t>
            </a:r>
            <a:r>
              <a:rPr lang="en-US" altLang="zh-TW" dirty="0">
                <a:latin typeface="微軟正黑體" panose="020B0604030504040204" pitchFamily="34" charset="-120"/>
                <a:ea typeface="微軟正黑體" panose="020B0604030504040204" pitchFamily="34" charset="-120"/>
              </a:rPr>
              <a:t>ZMM017</a:t>
            </a:r>
            <a:r>
              <a:rPr lang="zh-TW" altLang="en-US" dirty="0">
                <a:latin typeface="微軟正黑體" panose="020B0604030504040204" pitchFamily="34" charset="-120"/>
                <a:ea typeface="微軟正黑體" panose="020B0604030504040204" pitchFamily="34" charset="-120"/>
              </a:rPr>
              <a:t>將請購單上傳</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發起簽核流程</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簽核首關為資產組人員，檢核資產類別是否正確，再依序由主管在</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上簽核請購單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通過簽核的採購單透過程式</a:t>
            </a:r>
            <a:r>
              <a:rPr lang="en-US" altLang="zh-TW" dirty="0">
                <a:latin typeface="微軟正黑體" panose="020B0604030504040204" pitchFamily="34" charset="-120"/>
                <a:ea typeface="微軟正黑體" panose="020B0604030504040204" pitchFamily="34" charset="-120"/>
              </a:rPr>
              <a:t>ZMM018</a:t>
            </a:r>
            <a:r>
              <a:rPr lang="zh-TW" altLang="en-US" dirty="0">
                <a:latin typeface="微軟正黑體" panose="020B0604030504040204" pitchFamily="34" charset="-120"/>
                <a:ea typeface="微軟正黑體" panose="020B0604030504040204" pitchFamily="34" charset="-120"/>
              </a:rPr>
              <a:t>核發</a:t>
            </a:r>
            <a:r>
              <a:rPr lang="en-US" altLang="zh-TW" dirty="0">
                <a:latin typeface="微軟正黑體" panose="020B0604030504040204" pitchFamily="34" charset="-120"/>
                <a:ea typeface="微軟正黑體" panose="020B0604030504040204" pitchFamily="34" charset="-120"/>
              </a:rPr>
              <a:t>SAP</a:t>
            </a:r>
            <a:r>
              <a:rPr lang="zh-TW" altLang="en-US" dirty="0">
                <a:latin typeface="微軟正黑體" panose="020B0604030504040204" pitchFamily="34" charset="-120"/>
                <a:ea typeface="微軟正黑體" panose="020B0604030504040204" pitchFamily="34" charset="-120"/>
              </a:rPr>
              <a:t>請購單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簽核未通過，透過程式</a:t>
            </a:r>
            <a:r>
              <a:rPr lang="en-US" altLang="zh-TW" dirty="0">
                <a:latin typeface="微軟正黑體" panose="020B0604030504040204" pitchFamily="34" charset="-120"/>
                <a:ea typeface="微軟正黑體" panose="020B0604030504040204" pitchFamily="34" charset="-120"/>
              </a:rPr>
              <a:t>ZMM018</a:t>
            </a:r>
            <a:r>
              <a:rPr lang="zh-TW" altLang="en-US" dirty="0">
                <a:latin typeface="微軟正黑體" panose="020B0604030504040204" pitchFamily="34" charset="-120"/>
                <a:ea typeface="微軟正黑體" panose="020B0604030504040204" pitchFamily="34" charset="-120"/>
              </a:rPr>
              <a:t>將採購單標記為刪除，一並相關請購單。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廠商採購參照請購單建立採購單，進行詢價之後，手動填入單價</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透過</a:t>
            </a:r>
            <a:r>
              <a:rPr lang="en-US" altLang="zh-TW" dirty="0">
                <a:latin typeface="微軟正黑體" panose="020B0604030504040204" pitchFamily="34" charset="-120"/>
                <a:ea typeface="微軟正黑體" panose="020B0604030504040204" pitchFamily="34" charset="-120"/>
              </a:rPr>
              <a:t>ZMM019</a:t>
            </a:r>
            <a:r>
              <a:rPr lang="zh-TW" altLang="en-US" dirty="0">
                <a:latin typeface="微軟正黑體" panose="020B0604030504040204" pitchFamily="34" charset="-120"/>
                <a:ea typeface="微軟正黑體" panose="020B0604030504040204" pitchFamily="34" charset="-120"/>
              </a:rPr>
              <a:t>發起</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採購簽核流程</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主管在</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上進行簽核</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簽核未通過，透過程式</a:t>
            </a:r>
            <a:r>
              <a:rPr lang="en-US" altLang="zh-TW" dirty="0">
                <a:latin typeface="微軟正黑體" panose="020B0604030504040204" pitchFamily="34" charset="-120"/>
                <a:ea typeface="微軟正黑體" panose="020B0604030504040204" pitchFamily="34" charset="-120"/>
              </a:rPr>
              <a:t>ZMM006</a:t>
            </a:r>
            <a:r>
              <a:rPr lang="zh-TW" altLang="en-US" dirty="0">
                <a:latin typeface="微軟正黑體" panose="020B0604030504040204" pitchFamily="34" charset="-120"/>
                <a:ea typeface="微軟正黑體" panose="020B0604030504040204" pitchFamily="34" charset="-120"/>
              </a:rPr>
              <a:t>將採購單標記為刪除，一並相關請購單。</a:t>
            </a:r>
            <a:endParaRPr lang="en-US" altLang="zh-TW" dirty="0">
              <a:latin typeface="微軟正黑體" panose="020B0604030504040204" pitchFamily="34" charset="-120"/>
              <a:ea typeface="微軟正黑體" panose="020B0604030504040204" pitchFamily="34" charset="-120"/>
            </a:endParaRPr>
          </a:p>
          <a:p>
            <a:endParaRPr lang="en-US" altLang="zh-TW" dirty="0"/>
          </a:p>
          <a:p>
            <a:pPr marL="342900" indent="-342900">
              <a:buFont typeface="+mj-lt"/>
              <a:buAutoNum type="arabicPeriod"/>
            </a:pPr>
            <a:endParaRPr lang="en-US" altLang="zh-TW" dirty="0"/>
          </a:p>
          <a:p>
            <a:endParaRPr lang="en-US" altLang="zh-TW" dirty="0"/>
          </a:p>
        </p:txBody>
      </p:sp>
      <p:grpSp>
        <p:nvGrpSpPr>
          <p:cNvPr id="5" name="Group 220">
            <a:extLst>
              <a:ext uri="{FF2B5EF4-FFF2-40B4-BE49-F238E27FC236}">
                <a16:creationId xmlns:a16="http://schemas.microsoft.com/office/drawing/2014/main" xmlns="" id="{33DE9BA6-990E-DE54-C6C1-2FDFC3EF39E7}"/>
              </a:ext>
            </a:extLst>
          </p:cNvPr>
          <p:cNvGrpSpPr/>
          <p:nvPr/>
        </p:nvGrpSpPr>
        <p:grpSpPr>
          <a:xfrm>
            <a:off x="6226658" y="4435052"/>
            <a:ext cx="558369" cy="415761"/>
            <a:chOff x="5906472" y="1486857"/>
            <a:chExt cx="372246" cy="272361"/>
          </a:xfrm>
        </p:grpSpPr>
        <p:sp>
          <p:nvSpPr>
            <p:cNvPr id="9" name="Oval 221">
              <a:extLst>
                <a:ext uri="{FF2B5EF4-FFF2-40B4-BE49-F238E27FC236}">
                  <a16:creationId xmlns:a16="http://schemas.microsoft.com/office/drawing/2014/main" xmlns="" id="{F948E0C2-1964-7035-7990-D49AB0C97E5A}"/>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10" name="TextBox 222">
              <a:extLst>
                <a:ext uri="{FF2B5EF4-FFF2-40B4-BE49-F238E27FC236}">
                  <a16:creationId xmlns:a16="http://schemas.microsoft.com/office/drawing/2014/main" xmlns="" id="{C4D33436-02F5-686F-699E-8597EF0E4654}"/>
                </a:ext>
              </a:extLst>
            </p:cNvPr>
            <p:cNvSpPr txBox="1"/>
            <p:nvPr/>
          </p:nvSpPr>
          <p:spPr>
            <a:xfrm>
              <a:off x="5923118" y="1507079"/>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sp>
        <p:nvSpPr>
          <p:cNvPr id="263" name="流程圖: 結束點 8">
            <a:extLst>
              <a:ext uri="{FF2B5EF4-FFF2-40B4-BE49-F238E27FC236}">
                <a16:creationId xmlns:a16="http://schemas.microsoft.com/office/drawing/2014/main" xmlns="" id="{A8F2E797-9B58-4468-C0C3-57206032ACC8}"/>
              </a:ext>
            </a:extLst>
          </p:cNvPr>
          <p:cNvSpPr/>
          <p:nvPr/>
        </p:nvSpPr>
        <p:spPr bwMode="auto">
          <a:xfrm>
            <a:off x="12142197" y="9088157"/>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cxnSp>
        <p:nvCxnSpPr>
          <p:cNvPr id="50" name="Straight Connector 284">
            <a:extLst>
              <a:ext uri="{FF2B5EF4-FFF2-40B4-BE49-F238E27FC236}">
                <a16:creationId xmlns:a16="http://schemas.microsoft.com/office/drawing/2014/main" xmlns="" id="{CCB3D035-826A-6F8E-1D15-1A3E96F62413}"/>
              </a:ext>
            </a:extLst>
          </p:cNvPr>
          <p:cNvCxnSpPr>
            <a:cxnSpLocks/>
          </p:cNvCxnSpPr>
          <p:nvPr/>
        </p:nvCxnSpPr>
        <p:spPr>
          <a:xfrm>
            <a:off x="4463457" y="1331309"/>
            <a:ext cx="0" cy="88586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284">
            <a:extLst>
              <a:ext uri="{FF2B5EF4-FFF2-40B4-BE49-F238E27FC236}">
                <a16:creationId xmlns:a16="http://schemas.microsoft.com/office/drawing/2014/main" xmlns="" id="{CCB3D035-826A-6F8E-1D15-1A3E96F62413}"/>
              </a:ext>
            </a:extLst>
          </p:cNvPr>
          <p:cNvCxnSpPr>
            <a:cxnSpLocks/>
          </p:cNvCxnSpPr>
          <p:nvPr/>
        </p:nvCxnSpPr>
        <p:spPr>
          <a:xfrm>
            <a:off x="7745864" y="1344949"/>
            <a:ext cx="0" cy="88449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肘形接點 68">
            <a:extLst>
              <a:ext uri="{FF2B5EF4-FFF2-40B4-BE49-F238E27FC236}">
                <a16:creationId xmlns:a16="http://schemas.microsoft.com/office/drawing/2014/main" xmlns="" id="{E6DDA5A3-E6DF-5F58-0F3D-691C20C6801E}"/>
              </a:ext>
            </a:extLst>
          </p:cNvPr>
          <p:cNvCxnSpPr>
            <a:cxnSpLocks/>
            <a:stCxn id="35" idx="3"/>
            <a:endCxn id="66" idx="0"/>
          </p:cNvCxnSpPr>
          <p:nvPr/>
        </p:nvCxnSpPr>
        <p:spPr>
          <a:xfrm>
            <a:off x="6472477" y="6462305"/>
            <a:ext cx="270121" cy="531528"/>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25" name="肘形接點 68">
            <a:extLst>
              <a:ext uri="{FF2B5EF4-FFF2-40B4-BE49-F238E27FC236}">
                <a16:creationId xmlns:a16="http://schemas.microsoft.com/office/drawing/2014/main" xmlns="" id="{26EC50E8-1593-4BA5-8D8B-B98821564C46}"/>
              </a:ext>
            </a:extLst>
          </p:cNvPr>
          <p:cNvCxnSpPr>
            <a:cxnSpLocks/>
            <a:stCxn id="68" idx="3"/>
            <a:endCxn id="263" idx="1"/>
          </p:cNvCxnSpPr>
          <p:nvPr/>
        </p:nvCxnSpPr>
        <p:spPr>
          <a:xfrm>
            <a:off x="6451161" y="9037778"/>
            <a:ext cx="5691036" cy="441601"/>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64" name="Google Shape;198;p3"/>
          <p:cNvSpPr txBox="1">
            <a:spLocks/>
          </p:cNvSpPr>
          <p:nvPr/>
        </p:nvSpPr>
        <p:spPr>
          <a:xfrm>
            <a:off x="15253252" y="500460"/>
            <a:ext cx="452328" cy="201905"/>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9pPr>
          </a:lstStyle>
          <a:p>
            <a:r>
              <a:rPr lang="en-US" sz="1500" dirty="0"/>
              <a:t>7</a:t>
            </a:r>
          </a:p>
        </p:txBody>
      </p:sp>
      <p:grpSp>
        <p:nvGrpSpPr>
          <p:cNvPr id="36" name="Group 220">
            <a:extLst>
              <a:ext uri="{FF2B5EF4-FFF2-40B4-BE49-F238E27FC236}">
                <a16:creationId xmlns:a16="http://schemas.microsoft.com/office/drawing/2014/main" xmlns="" id="{49B965EA-5488-20F5-FB4A-DE694754D613}"/>
              </a:ext>
            </a:extLst>
          </p:cNvPr>
          <p:cNvGrpSpPr/>
          <p:nvPr/>
        </p:nvGrpSpPr>
        <p:grpSpPr>
          <a:xfrm>
            <a:off x="4113600" y="3576560"/>
            <a:ext cx="556821" cy="408542"/>
            <a:chOff x="5906472" y="1486857"/>
            <a:chExt cx="371214" cy="272361"/>
          </a:xfrm>
        </p:grpSpPr>
        <p:sp>
          <p:nvSpPr>
            <p:cNvPr id="37" name="Oval 221">
              <a:extLst>
                <a:ext uri="{FF2B5EF4-FFF2-40B4-BE49-F238E27FC236}">
                  <a16:creationId xmlns:a16="http://schemas.microsoft.com/office/drawing/2014/main" xmlns="" id="{D7BB0CC3-1FCC-825A-8223-1DF8E8AA32F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38" name="TextBox 222">
              <a:extLst>
                <a:ext uri="{FF2B5EF4-FFF2-40B4-BE49-F238E27FC236}">
                  <a16:creationId xmlns:a16="http://schemas.microsoft.com/office/drawing/2014/main" xmlns="" id="{AA6B41EE-F383-4448-3FC3-5177F4E9C325}"/>
                </a:ext>
              </a:extLst>
            </p:cNvPr>
            <p:cNvSpPr txBox="1"/>
            <p:nvPr/>
          </p:nvSpPr>
          <p:spPr>
            <a:xfrm>
              <a:off x="5922086" y="1507079"/>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graphicFrame>
        <p:nvGraphicFramePr>
          <p:cNvPr id="66" name="表格 30">
            <a:extLst>
              <a:ext uri="{FF2B5EF4-FFF2-40B4-BE49-F238E27FC236}">
                <a16:creationId xmlns:a16="http://schemas.microsoft.com/office/drawing/2014/main" xmlns="" id="{94474DA2-C417-6AE7-95EE-50C9649AB985}"/>
              </a:ext>
            </a:extLst>
          </p:cNvPr>
          <p:cNvGraphicFramePr>
            <a:graphicFrameLocks noGrp="1"/>
          </p:cNvGraphicFramePr>
          <p:nvPr/>
        </p:nvGraphicFramePr>
        <p:xfrm>
          <a:off x="5843682" y="6993833"/>
          <a:ext cx="1797832" cy="1009800"/>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6600">
                <a:tc gridSpan="2">
                  <a:txBody>
                    <a:bodyPr/>
                    <a:lstStyle/>
                    <a:p>
                      <a:pPr algn="ctr"/>
                      <a:r>
                        <a:rPr lang="en-GB" altLang="zh-TW" sz="1500" b="1" dirty="0">
                          <a:solidFill>
                            <a:schemeClr val="tx1"/>
                          </a:solidFill>
                          <a:latin typeface="微軟正黑體" panose="020B0604030504040204" pitchFamily="34" charset="-120"/>
                          <a:ea typeface="微軟正黑體" panose="020B0604030504040204" pitchFamily="34" charset="-120"/>
                        </a:rPr>
                        <a:t>ZMM018</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336600">
                <a:tc gridSpan="2">
                  <a:txBody>
                    <a:bodyPr/>
                    <a:lstStyle/>
                    <a:p>
                      <a:pPr algn="ctr"/>
                      <a:r>
                        <a:rPr lang="zh-TW" altLang="en-US" sz="1500" dirty="0">
                          <a:latin typeface="微軟正黑體" panose="020B0604030504040204" pitchFamily="34" charset="-120"/>
                          <a:ea typeface="微軟正黑體" panose="020B0604030504040204" pitchFamily="34" charset="-120"/>
                        </a:rPr>
                        <a:t>核發請購單</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自動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aphicFrame>
        <p:nvGraphicFramePr>
          <p:cNvPr id="68" name="表格 30">
            <a:extLst>
              <a:ext uri="{FF2B5EF4-FFF2-40B4-BE49-F238E27FC236}">
                <a16:creationId xmlns:a16="http://schemas.microsoft.com/office/drawing/2014/main" xmlns="" id="{94474DA2-C417-6AE7-95EE-50C9649AB985}"/>
              </a:ext>
            </a:extLst>
          </p:cNvPr>
          <p:cNvGraphicFramePr>
            <a:graphicFrameLocks noGrp="1"/>
          </p:cNvGraphicFramePr>
          <p:nvPr>
            <p:extLst>
              <p:ext uri="{D42A27DB-BD31-4B8C-83A1-F6EECF244321}">
                <p14:modId xmlns:p14="http://schemas.microsoft.com/office/powerpoint/2010/main" val="4070457855"/>
              </p:ext>
            </p:extLst>
          </p:nvPr>
        </p:nvGraphicFramePr>
        <p:xfrm>
          <a:off x="4653329" y="8418578"/>
          <a:ext cx="1797832" cy="1238400"/>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6600">
                <a:tc gridSpan="2">
                  <a:txBody>
                    <a:bodyPr/>
                    <a:lstStyle/>
                    <a:p>
                      <a:pPr algn="ctr"/>
                      <a:r>
                        <a:rPr lang="en-GB" altLang="zh-TW" sz="1500" b="1" dirty="0">
                          <a:solidFill>
                            <a:schemeClr val="tx1"/>
                          </a:solidFill>
                          <a:latin typeface="微軟正黑體" panose="020B0604030504040204" pitchFamily="34" charset="-120"/>
                          <a:ea typeface="微軟正黑體" panose="020B0604030504040204" pitchFamily="34" charset="-120"/>
                        </a:rPr>
                        <a:t>ZMM018</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65200">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更新</a:t>
                      </a:r>
                      <a:r>
                        <a:rPr kumimoji="0" lang="en-US" altLang="zh-TW" sz="1500" dirty="0">
                          <a:latin typeface="微軟正黑體" panose="020B0604030504040204" pitchFamily="34" charset="-120"/>
                          <a:ea typeface="微軟正黑體" panose="020B0604030504040204" pitchFamily="34" charset="-120"/>
                        </a:rPr>
                        <a:t>SAP </a:t>
                      </a:r>
                      <a:r>
                        <a:rPr kumimoji="0" lang="zh-TW" altLang="en-US" sz="1500" dirty="0">
                          <a:latin typeface="微軟正黑體" panose="020B0604030504040204" pitchFamily="34" charset="-120"/>
                          <a:ea typeface="微軟正黑體" panose="020B0604030504040204" pitchFamily="34" charset="-120"/>
                        </a:rPr>
                        <a:t>請購單，刪除標記</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自動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pSp>
        <p:nvGrpSpPr>
          <p:cNvPr id="12" name="Group 220">
            <a:extLst>
              <a:ext uri="{FF2B5EF4-FFF2-40B4-BE49-F238E27FC236}">
                <a16:creationId xmlns:a16="http://schemas.microsoft.com/office/drawing/2014/main" xmlns="" id="{9F128FF6-A533-AD66-E783-59326744DB4F}"/>
              </a:ext>
            </a:extLst>
          </p:cNvPr>
          <p:cNvGrpSpPr/>
          <p:nvPr/>
        </p:nvGrpSpPr>
        <p:grpSpPr>
          <a:xfrm>
            <a:off x="7260862" y="6773479"/>
            <a:ext cx="556821" cy="408542"/>
            <a:chOff x="5906472" y="1486857"/>
            <a:chExt cx="371214" cy="272361"/>
          </a:xfrm>
        </p:grpSpPr>
        <p:sp>
          <p:nvSpPr>
            <p:cNvPr id="13" name="Oval 221">
              <a:extLst>
                <a:ext uri="{FF2B5EF4-FFF2-40B4-BE49-F238E27FC236}">
                  <a16:creationId xmlns:a16="http://schemas.microsoft.com/office/drawing/2014/main" xmlns="" id="{80168108-106B-2C4B-41AE-D7B2634E928B}"/>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16" name="TextBox 222">
              <a:extLst>
                <a:ext uri="{FF2B5EF4-FFF2-40B4-BE49-F238E27FC236}">
                  <a16:creationId xmlns:a16="http://schemas.microsoft.com/office/drawing/2014/main" xmlns="" id="{EC906020-C32F-1BC7-D654-A9E0F12AAC24}"/>
                </a:ext>
              </a:extLst>
            </p:cNvPr>
            <p:cNvSpPr txBox="1"/>
            <p:nvPr/>
          </p:nvSpPr>
          <p:spPr>
            <a:xfrm>
              <a:off x="5922086" y="1499128"/>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4</a:t>
              </a:r>
              <a:endParaRPr lang="zh-TW" altLang="en-US" sz="1500" dirty="0">
                <a:latin typeface="微軟正黑體" panose="020B0604030504040204" pitchFamily="34" charset="-120"/>
                <a:ea typeface="微軟正黑體" panose="020B0604030504040204" pitchFamily="34" charset="-120"/>
              </a:endParaRPr>
            </a:p>
          </p:txBody>
        </p:sp>
      </p:grpSp>
      <p:grpSp>
        <p:nvGrpSpPr>
          <p:cNvPr id="29" name="Group 220">
            <a:extLst>
              <a:ext uri="{FF2B5EF4-FFF2-40B4-BE49-F238E27FC236}">
                <a16:creationId xmlns:a16="http://schemas.microsoft.com/office/drawing/2014/main" xmlns="" id="{85F6DF8D-D513-CACE-C82D-6152F1C67FAA}"/>
              </a:ext>
            </a:extLst>
          </p:cNvPr>
          <p:cNvGrpSpPr/>
          <p:nvPr/>
        </p:nvGrpSpPr>
        <p:grpSpPr>
          <a:xfrm>
            <a:off x="6186460" y="8169667"/>
            <a:ext cx="553415" cy="408542"/>
            <a:chOff x="5906472" y="1486857"/>
            <a:chExt cx="368943" cy="272361"/>
          </a:xfrm>
        </p:grpSpPr>
        <p:sp>
          <p:nvSpPr>
            <p:cNvPr id="224" name="Oval 221">
              <a:extLst>
                <a:ext uri="{FF2B5EF4-FFF2-40B4-BE49-F238E27FC236}">
                  <a16:creationId xmlns:a16="http://schemas.microsoft.com/office/drawing/2014/main" xmlns="" id="{7090D349-92C2-9A4C-0E14-34148CF8A770}"/>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225" name="TextBox 222">
              <a:extLst>
                <a:ext uri="{FF2B5EF4-FFF2-40B4-BE49-F238E27FC236}">
                  <a16:creationId xmlns:a16="http://schemas.microsoft.com/office/drawing/2014/main" xmlns="" id="{9D762527-7F41-2EE2-42B0-511681EE229D}"/>
                </a:ext>
              </a:extLst>
            </p:cNvPr>
            <p:cNvSpPr txBox="1"/>
            <p:nvPr/>
          </p:nvSpPr>
          <p:spPr>
            <a:xfrm>
              <a:off x="5919815" y="1491177"/>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5</a:t>
              </a:r>
              <a:endParaRPr lang="zh-TW" altLang="en-US" sz="1500" dirty="0">
                <a:latin typeface="微軟正黑體" panose="020B0604030504040204" pitchFamily="34" charset="-120"/>
                <a:ea typeface="微軟正黑體" panose="020B0604030504040204" pitchFamily="34" charset="-120"/>
              </a:endParaRPr>
            </a:p>
          </p:txBody>
        </p:sp>
      </p:grpSp>
      <p:graphicFrame>
        <p:nvGraphicFramePr>
          <p:cNvPr id="73" name="表格 30">
            <a:extLst>
              <a:ext uri="{FF2B5EF4-FFF2-40B4-BE49-F238E27FC236}">
                <a16:creationId xmlns:a16="http://schemas.microsoft.com/office/drawing/2014/main" xmlns="" id="{94474DA2-C417-6AE7-95EE-50C9649AB985}"/>
              </a:ext>
            </a:extLst>
          </p:cNvPr>
          <p:cNvGraphicFramePr>
            <a:graphicFrameLocks noGrp="1"/>
          </p:cNvGraphicFramePr>
          <p:nvPr/>
        </p:nvGraphicFramePr>
        <p:xfrm>
          <a:off x="7960026" y="1997437"/>
          <a:ext cx="1797832" cy="1009800"/>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6600">
                <a:tc gridSpan="2">
                  <a:txBody>
                    <a:bodyPr/>
                    <a:lstStyle/>
                    <a:p>
                      <a:pPr algn="ctr"/>
                      <a:r>
                        <a:rPr lang="en-GB" altLang="zh-TW" sz="1500" b="1" dirty="0">
                          <a:solidFill>
                            <a:schemeClr val="tx1"/>
                          </a:solidFill>
                          <a:latin typeface="微軟正黑體" panose="020B0604030504040204" pitchFamily="34" charset="-120"/>
                          <a:ea typeface="微軟正黑體" panose="020B0604030504040204" pitchFamily="34" charset="-120"/>
                        </a:rPr>
                        <a:t>ME21N</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336600">
                <a:tc gridSpan="2">
                  <a:txBody>
                    <a:bodyPr/>
                    <a:lstStyle/>
                    <a:p>
                      <a:pPr algn="ctr"/>
                      <a:r>
                        <a:rPr lang="zh-TW" altLang="en-US" sz="1500" dirty="0">
                          <a:latin typeface="微軟正黑體" panose="020B0604030504040204" pitchFamily="34" charset="-120"/>
                          <a:ea typeface="微軟正黑體" panose="020B0604030504040204" pitchFamily="34" charset="-120"/>
                        </a:rPr>
                        <a:t>建立採購單</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pSp>
        <p:nvGrpSpPr>
          <p:cNvPr id="279" name="Group 220">
            <a:extLst>
              <a:ext uri="{FF2B5EF4-FFF2-40B4-BE49-F238E27FC236}">
                <a16:creationId xmlns:a16="http://schemas.microsoft.com/office/drawing/2014/main" xmlns="" id="{754F48A4-3BB7-AF94-D223-7447C53DEFE8}"/>
              </a:ext>
            </a:extLst>
          </p:cNvPr>
          <p:cNvGrpSpPr/>
          <p:nvPr/>
        </p:nvGrpSpPr>
        <p:grpSpPr>
          <a:xfrm>
            <a:off x="9476832" y="1776872"/>
            <a:ext cx="559344" cy="415761"/>
            <a:chOff x="5906472" y="1486857"/>
            <a:chExt cx="372896" cy="272361"/>
          </a:xfrm>
        </p:grpSpPr>
        <p:sp>
          <p:nvSpPr>
            <p:cNvPr id="280" name="Oval 221">
              <a:extLst>
                <a:ext uri="{FF2B5EF4-FFF2-40B4-BE49-F238E27FC236}">
                  <a16:creationId xmlns:a16="http://schemas.microsoft.com/office/drawing/2014/main" xmlns="" id="{D37DA99F-E761-C22E-C176-1F18EB4D5C8D}"/>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81" name="TextBox 222">
              <a:extLst>
                <a:ext uri="{FF2B5EF4-FFF2-40B4-BE49-F238E27FC236}">
                  <a16:creationId xmlns:a16="http://schemas.microsoft.com/office/drawing/2014/main" xmlns="" id="{EC73F44B-BB0F-E5FE-0661-CCFF0E2F67A7}"/>
                </a:ext>
              </a:extLst>
            </p:cNvPr>
            <p:cNvSpPr txBox="1"/>
            <p:nvPr/>
          </p:nvSpPr>
          <p:spPr>
            <a:xfrm>
              <a:off x="5923768" y="1507079"/>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6</a:t>
              </a:r>
              <a:endParaRPr lang="zh-TW" altLang="en-US" sz="1500" dirty="0">
                <a:latin typeface="微軟正黑體" panose="020B0604030504040204" pitchFamily="34" charset="-120"/>
                <a:ea typeface="微軟正黑體" panose="020B0604030504040204" pitchFamily="34" charset="-120"/>
              </a:endParaRPr>
            </a:p>
          </p:txBody>
        </p:sp>
      </p:grpSp>
      <p:graphicFrame>
        <p:nvGraphicFramePr>
          <p:cNvPr id="54" name="表格 30">
            <a:extLst>
              <a:ext uri="{FF2B5EF4-FFF2-40B4-BE49-F238E27FC236}">
                <a16:creationId xmlns:a16="http://schemas.microsoft.com/office/drawing/2014/main" xmlns="" id="{DB7A0832-7D21-1719-AE8D-90899BF1A64F}"/>
              </a:ext>
            </a:extLst>
          </p:cNvPr>
          <p:cNvGraphicFramePr>
            <a:graphicFrameLocks noGrp="1"/>
          </p:cNvGraphicFramePr>
          <p:nvPr/>
        </p:nvGraphicFramePr>
        <p:xfrm>
          <a:off x="7949546" y="3618889"/>
          <a:ext cx="1813996" cy="1184439"/>
        </p:xfrm>
        <a:graphic>
          <a:graphicData uri="http://schemas.openxmlformats.org/drawingml/2006/table">
            <a:tbl>
              <a:tblPr>
                <a:tableStyleId>{5940675A-B579-460E-94D1-54222C63F5DA}</a:tableStyleId>
              </a:tblPr>
              <a:tblGrid>
                <a:gridCol w="906998">
                  <a:extLst>
                    <a:ext uri="{9D8B030D-6E8A-4147-A177-3AD203B41FA5}">
                      <a16:colId xmlns:a16="http://schemas.microsoft.com/office/drawing/2014/main" xmlns="" val="3433979995"/>
                    </a:ext>
                  </a:extLst>
                </a:gridCol>
                <a:gridCol w="906998">
                  <a:extLst>
                    <a:ext uri="{9D8B030D-6E8A-4147-A177-3AD203B41FA5}">
                      <a16:colId xmlns:a16="http://schemas.microsoft.com/office/drawing/2014/main" xmlns=""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500" b="1" dirty="0">
                          <a:solidFill>
                            <a:schemeClr val="tx1"/>
                          </a:solidFill>
                          <a:latin typeface="微軟正黑體" panose="020B0604030504040204" pitchFamily="34" charset="-120"/>
                          <a:ea typeface="微軟正黑體" panose="020B0604030504040204" pitchFamily="34" charset="-120"/>
                        </a:rPr>
                        <a:t>ZMM019</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11239">
                <a:tc gridSpan="2">
                  <a:txBody>
                    <a:bodyPr/>
                    <a:lstStyle/>
                    <a:p>
                      <a:pPr algn="ctr"/>
                      <a:r>
                        <a:rPr lang="zh-TW" altLang="en-US" sz="1500" dirty="0">
                          <a:latin typeface="微軟正黑體" panose="020B0604030504040204" pitchFamily="34" charset="-120"/>
                          <a:ea typeface="微軟正黑體" panose="020B0604030504040204" pitchFamily="34" charset="-120"/>
                        </a:rPr>
                        <a:t>採購單</a:t>
                      </a:r>
                      <a:r>
                        <a:rPr lang="en-US" altLang="zh-TW" sz="1500" dirty="0">
                          <a:latin typeface="微軟正黑體" panose="020B0604030504040204" pitchFamily="34" charset="-120"/>
                          <a:ea typeface="微軟正黑體" panose="020B0604030504040204" pitchFamily="34" charset="-120"/>
                        </a:rPr>
                        <a:t>BPM</a:t>
                      </a:r>
                      <a:r>
                        <a:rPr lang="zh-TW" altLang="en-US" sz="1500" dirty="0">
                          <a:latin typeface="微軟正黑體" panose="020B0604030504040204" pitchFamily="34" charset="-120"/>
                          <a:ea typeface="微軟正黑體" panose="020B0604030504040204" pitchFamily="34" charset="-120"/>
                        </a:rPr>
                        <a:t>簽核</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pSp>
        <p:nvGrpSpPr>
          <p:cNvPr id="55" name="Group 220">
            <a:extLst>
              <a:ext uri="{FF2B5EF4-FFF2-40B4-BE49-F238E27FC236}">
                <a16:creationId xmlns:a16="http://schemas.microsoft.com/office/drawing/2014/main" xmlns="" id="{B5FE5C15-35AB-68F5-E353-F8A18C9C555A}"/>
              </a:ext>
            </a:extLst>
          </p:cNvPr>
          <p:cNvGrpSpPr/>
          <p:nvPr/>
        </p:nvGrpSpPr>
        <p:grpSpPr>
          <a:xfrm>
            <a:off x="9414851" y="3398990"/>
            <a:ext cx="561236" cy="415760"/>
            <a:chOff x="5906472" y="1486857"/>
            <a:chExt cx="374157" cy="272361"/>
          </a:xfrm>
        </p:grpSpPr>
        <p:sp>
          <p:nvSpPr>
            <p:cNvPr id="56" name="Oval 221">
              <a:extLst>
                <a:ext uri="{FF2B5EF4-FFF2-40B4-BE49-F238E27FC236}">
                  <a16:creationId xmlns:a16="http://schemas.microsoft.com/office/drawing/2014/main" xmlns="" id="{4BDC1F77-9896-B2CA-83E6-8EC9E56DD326}"/>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58" name="TextBox 222">
              <a:extLst>
                <a:ext uri="{FF2B5EF4-FFF2-40B4-BE49-F238E27FC236}">
                  <a16:creationId xmlns:a16="http://schemas.microsoft.com/office/drawing/2014/main" xmlns="" id="{3C1970B3-7168-C4BB-89C7-ED51993BA15F}"/>
                </a:ext>
              </a:extLst>
            </p:cNvPr>
            <p:cNvSpPr txBox="1"/>
            <p:nvPr/>
          </p:nvSpPr>
          <p:spPr>
            <a:xfrm>
              <a:off x="5925029" y="1503597"/>
              <a:ext cx="355600" cy="21170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7</a:t>
              </a:r>
              <a:endParaRPr lang="zh-TW" altLang="en-US" sz="1500" dirty="0">
                <a:latin typeface="微軟正黑體" panose="020B0604030504040204" pitchFamily="34" charset="-120"/>
                <a:ea typeface="微軟正黑體" panose="020B0604030504040204" pitchFamily="34" charset="-120"/>
              </a:endParaRPr>
            </a:p>
          </p:txBody>
        </p:sp>
      </p:grpSp>
      <p:sp>
        <p:nvSpPr>
          <p:cNvPr id="59" name="流程圖: 決策 50">
            <a:extLst>
              <a:ext uri="{FF2B5EF4-FFF2-40B4-BE49-F238E27FC236}">
                <a16:creationId xmlns:a16="http://schemas.microsoft.com/office/drawing/2014/main" xmlns="" id="{8037CA89-DBE3-1441-8E4C-7EA04E993D61}"/>
              </a:ext>
            </a:extLst>
          </p:cNvPr>
          <p:cNvSpPr/>
          <p:nvPr/>
        </p:nvSpPr>
        <p:spPr bwMode="auto">
          <a:xfrm>
            <a:off x="9997743" y="6410569"/>
            <a:ext cx="1841949" cy="712200"/>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簽核通過</a:t>
            </a:r>
          </a:p>
        </p:txBody>
      </p:sp>
      <p:sp>
        <p:nvSpPr>
          <p:cNvPr id="60" name="文字方塊 59">
            <a:extLst>
              <a:ext uri="{FF2B5EF4-FFF2-40B4-BE49-F238E27FC236}">
                <a16:creationId xmlns:a16="http://schemas.microsoft.com/office/drawing/2014/main" xmlns="" id="{6FB1FA4C-3B8A-FBB5-B280-85555F843464}"/>
              </a:ext>
            </a:extLst>
          </p:cNvPr>
          <p:cNvSpPr txBox="1"/>
          <p:nvPr/>
        </p:nvSpPr>
        <p:spPr>
          <a:xfrm>
            <a:off x="10513424" y="7152547"/>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否</a:t>
            </a:r>
            <a:endParaRPr lang="zh-TW" altLang="en-US" sz="1350" dirty="0"/>
          </a:p>
        </p:txBody>
      </p:sp>
      <p:graphicFrame>
        <p:nvGraphicFramePr>
          <p:cNvPr id="74" name="表格 73"/>
          <p:cNvGraphicFramePr>
            <a:graphicFrameLocks noGrp="1"/>
          </p:cNvGraphicFramePr>
          <p:nvPr>
            <p:extLst>
              <p:ext uri="{D42A27DB-BD31-4B8C-83A1-F6EECF244321}">
                <p14:modId xmlns:p14="http://schemas.microsoft.com/office/powerpoint/2010/main" val="1538871929"/>
              </p:ext>
            </p:extLst>
          </p:nvPr>
        </p:nvGraphicFramePr>
        <p:xfrm>
          <a:off x="10003960" y="7850095"/>
          <a:ext cx="1819470" cy="1201006"/>
        </p:xfrm>
        <a:graphic>
          <a:graphicData uri="http://schemas.openxmlformats.org/drawingml/2006/table">
            <a:tbl>
              <a:tblPr>
                <a:tableStyleId>{5940675A-B579-460E-94D1-54222C63F5DA}</a:tableStyleId>
              </a:tblPr>
              <a:tblGrid>
                <a:gridCol w="909735">
                  <a:extLst>
                    <a:ext uri="{9D8B030D-6E8A-4147-A177-3AD203B41FA5}">
                      <a16:colId xmlns:a16="http://schemas.microsoft.com/office/drawing/2014/main" xmlns="" val="20000"/>
                    </a:ext>
                  </a:extLst>
                </a:gridCol>
                <a:gridCol w="909735">
                  <a:extLst>
                    <a:ext uri="{9D8B030D-6E8A-4147-A177-3AD203B41FA5}">
                      <a16:colId xmlns:a16="http://schemas.microsoft.com/office/drawing/2014/main" xmlns="" val="20001"/>
                    </a:ext>
                  </a:extLst>
                </a:gridCol>
              </a:tblGrid>
              <a:tr h="330432">
                <a:tc gridSpan="2">
                  <a:txBody>
                    <a:bodyPr/>
                    <a:lstStyle/>
                    <a:p>
                      <a:pPr algn="ctr"/>
                      <a:r>
                        <a:rPr lang="en-GB" sz="1400" b="1" dirty="0">
                          <a:solidFill>
                            <a:schemeClr val="tx1"/>
                          </a:solidFill>
                          <a:latin typeface="微軟正黑體" panose="020B0604030504040204" pitchFamily="34" charset="-120"/>
                          <a:ea typeface="微軟正黑體" panose="020B0604030504040204" pitchFamily="34" charset="-120"/>
                        </a:rPr>
                        <a:t>ZMM006</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00"/>
                  </a:ext>
                </a:extLst>
              </a:tr>
              <a:tr h="536172">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更新</a:t>
                      </a:r>
                      <a:r>
                        <a:rPr kumimoji="0" lang="en-US" altLang="zh-TW" sz="1400" dirty="0">
                          <a:latin typeface="微軟正黑體" panose="020B0604030504040204" pitchFamily="34" charset="-120"/>
                          <a:ea typeface="微軟正黑體" panose="020B0604030504040204" pitchFamily="34" charset="-120"/>
                        </a:rPr>
                        <a:t>SAP </a:t>
                      </a:r>
                      <a:r>
                        <a:rPr kumimoji="0" lang="zh-TW" altLang="en-US" sz="1400" dirty="0">
                          <a:latin typeface="微軟正黑體" panose="020B0604030504040204" pitchFamily="34" charset="-120"/>
                          <a:ea typeface="微軟正黑體" panose="020B0604030504040204" pitchFamily="34" charset="-120"/>
                        </a:rPr>
                        <a:t>採購單，刪除標記</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01"/>
                  </a:ext>
                </a:extLst>
              </a:tr>
              <a:tr h="304464">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自動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2"/>
                  </a:ext>
                </a:extLst>
              </a:tr>
            </a:tbl>
          </a:graphicData>
        </a:graphic>
      </p:graphicFrame>
      <p:cxnSp>
        <p:nvCxnSpPr>
          <p:cNvPr id="76" name="肘形接點 68">
            <a:extLst>
              <a:ext uri="{FF2B5EF4-FFF2-40B4-BE49-F238E27FC236}">
                <a16:creationId xmlns:a16="http://schemas.microsoft.com/office/drawing/2014/main" xmlns="" id="{43DC4C85-1AB2-73CA-1BEA-B222BB7D613F}"/>
              </a:ext>
            </a:extLst>
          </p:cNvPr>
          <p:cNvCxnSpPr>
            <a:cxnSpLocks/>
            <a:stCxn id="74" idx="2"/>
            <a:endCxn id="263" idx="1"/>
          </p:cNvCxnSpPr>
          <p:nvPr/>
        </p:nvCxnSpPr>
        <p:spPr>
          <a:xfrm rot="16200000" flipH="1">
            <a:off x="11313807" y="8650989"/>
            <a:ext cx="428278" cy="1228502"/>
          </a:xfrm>
          <a:prstGeom prst="bentConnector2">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77" name="表格 30">
            <a:extLst>
              <a:ext uri="{FF2B5EF4-FFF2-40B4-BE49-F238E27FC236}">
                <a16:creationId xmlns:a16="http://schemas.microsoft.com/office/drawing/2014/main" xmlns="" id="{DD4D6B14-D3B2-B7AE-AA9C-20D4B4848A80}"/>
              </a:ext>
            </a:extLst>
          </p:cNvPr>
          <p:cNvGraphicFramePr>
            <a:graphicFrameLocks noGrp="1"/>
          </p:cNvGraphicFramePr>
          <p:nvPr>
            <p:extLst>
              <p:ext uri="{D42A27DB-BD31-4B8C-83A1-F6EECF244321}">
                <p14:modId xmlns:p14="http://schemas.microsoft.com/office/powerpoint/2010/main" val="1445902244"/>
              </p:ext>
            </p:extLst>
          </p:nvPr>
        </p:nvGraphicFramePr>
        <p:xfrm>
          <a:off x="10020748" y="5070229"/>
          <a:ext cx="1800526" cy="1073844"/>
        </p:xfrm>
        <a:graphic>
          <a:graphicData uri="http://schemas.openxmlformats.org/drawingml/2006/table">
            <a:tbl>
              <a:tblPr>
                <a:tableStyleId>{5940675A-B579-460E-94D1-54222C63F5DA}</a:tableStyleId>
              </a:tblPr>
              <a:tblGrid>
                <a:gridCol w="900263">
                  <a:extLst>
                    <a:ext uri="{9D8B030D-6E8A-4147-A177-3AD203B41FA5}">
                      <a16:colId xmlns:a16="http://schemas.microsoft.com/office/drawing/2014/main" xmlns="" val="3433979995"/>
                    </a:ext>
                  </a:extLst>
                </a:gridCol>
                <a:gridCol w="900263">
                  <a:extLst>
                    <a:ext uri="{9D8B030D-6E8A-4147-A177-3AD203B41FA5}">
                      <a16:colId xmlns:a16="http://schemas.microsoft.com/office/drawing/2014/main" xmlns="" val="3727974752"/>
                    </a:ext>
                  </a:extLst>
                </a:gridCol>
              </a:tblGrid>
              <a:tr h="365760">
                <a:tc gridSpan="2">
                  <a:txBody>
                    <a:bodyPr/>
                    <a:lstStyle/>
                    <a:p>
                      <a:pPr algn="ctr"/>
                      <a:endParaRPr lang="en-GB" sz="1500" b="1" dirty="0">
                        <a:latin typeface="微軟正黑體" panose="020B0604030504040204" pitchFamily="34" charset="-120"/>
                        <a:ea typeface="微軟正黑體" panose="020B0604030504040204" pitchFamily="34" charset="-120"/>
                      </a:endParaRPr>
                    </a:p>
                  </a:txBody>
                  <a:tcPr marL="54000" marR="54000"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371484">
                <a:tc gridSpan="2">
                  <a:txBody>
                    <a:bodyPr/>
                    <a:lstStyle/>
                    <a:p>
                      <a:pPr algn="ctr"/>
                      <a:r>
                        <a:rPr lang="zh-TW" altLang="en-US" sz="1500" dirty="0">
                          <a:latin typeface="微軟正黑體" panose="020B0604030504040204" pitchFamily="34" charset="-120"/>
                          <a:ea typeface="微軟正黑體" panose="020B0604030504040204" pitchFamily="34" charset="-120"/>
                        </a:rPr>
                        <a:t>簽核採購單</a:t>
                      </a:r>
                      <a:endParaRPr lang="en-US" altLang="zh-TW" sz="1500" dirty="0">
                        <a:latin typeface="微軟正黑體" panose="020B0604030504040204" pitchFamily="34" charset="-120"/>
                        <a:ea typeface="微軟正黑體" panose="020B0604030504040204" pitchFamily="34" charset="-120"/>
                      </a:endParaRPr>
                    </a:p>
                  </a:txBody>
                  <a:tcPr marL="54000" marR="54000"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BPM</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pSp>
        <p:nvGrpSpPr>
          <p:cNvPr id="78" name="Group 220">
            <a:extLst>
              <a:ext uri="{FF2B5EF4-FFF2-40B4-BE49-F238E27FC236}">
                <a16:creationId xmlns:a16="http://schemas.microsoft.com/office/drawing/2014/main" xmlns="" id="{33DE9BA6-990E-DE54-C6C1-2FDFC3EF39E7}"/>
              </a:ext>
            </a:extLst>
          </p:cNvPr>
          <p:cNvGrpSpPr/>
          <p:nvPr/>
        </p:nvGrpSpPr>
        <p:grpSpPr>
          <a:xfrm>
            <a:off x="11430681" y="4842303"/>
            <a:ext cx="570296" cy="415760"/>
            <a:chOff x="5906472" y="1486857"/>
            <a:chExt cx="380197" cy="272361"/>
          </a:xfrm>
        </p:grpSpPr>
        <p:sp>
          <p:nvSpPr>
            <p:cNvPr id="79" name="Oval 221">
              <a:extLst>
                <a:ext uri="{FF2B5EF4-FFF2-40B4-BE49-F238E27FC236}">
                  <a16:creationId xmlns:a16="http://schemas.microsoft.com/office/drawing/2014/main" xmlns="" id="{F948E0C2-1964-7035-7990-D49AB0C97E5A}"/>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80" name="TextBox 222">
              <a:extLst>
                <a:ext uri="{FF2B5EF4-FFF2-40B4-BE49-F238E27FC236}">
                  <a16:creationId xmlns:a16="http://schemas.microsoft.com/office/drawing/2014/main" xmlns="" id="{C4D33436-02F5-686F-699E-8597EF0E4654}"/>
                </a:ext>
              </a:extLst>
            </p:cNvPr>
            <p:cNvSpPr txBox="1"/>
            <p:nvPr/>
          </p:nvSpPr>
          <p:spPr>
            <a:xfrm>
              <a:off x="5931069" y="1514892"/>
              <a:ext cx="355600" cy="21170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8</a:t>
              </a:r>
              <a:endParaRPr lang="zh-TW" altLang="en-US" sz="1500" dirty="0">
                <a:latin typeface="微軟正黑體" panose="020B0604030504040204" pitchFamily="34" charset="-120"/>
                <a:ea typeface="微軟正黑體" panose="020B0604030504040204" pitchFamily="34" charset="-120"/>
              </a:endParaRPr>
            </a:p>
          </p:txBody>
        </p:sp>
      </p:grpSp>
      <p:cxnSp>
        <p:nvCxnSpPr>
          <p:cNvPr id="81" name="肘形接點 68">
            <a:extLst>
              <a:ext uri="{FF2B5EF4-FFF2-40B4-BE49-F238E27FC236}">
                <a16:creationId xmlns:a16="http://schemas.microsoft.com/office/drawing/2014/main" xmlns="" id="{43DC4C85-1AB2-73CA-1BEA-B222BB7D613F}"/>
              </a:ext>
            </a:extLst>
          </p:cNvPr>
          <p:cNvCxnSpPr>
            <a:cxnSpLocks/>
            <a:stCxn id="54" idx="2"/>
          </p:cNvCxnSpPr>
          <p:nvPr/>
        </p:nvCxnSpPr>
        <p:spPr>
          <a:xfrm rot="16200000" flipH="1">
            <a:off x="9024144" y="4635727"/>
            <a:ext cx="803823" cy="1139023"/>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82" name="Straight Connector 284">
            <a:extLst>
              <a:ext uri="{FF2B5EF4-FFF2-40B4-BE49-F238E27FC236}">
                <a16:creationId xmlns:a16="http://schemas.microsoft.com/office/drawing/2014/main" xmlns="" id="{CCB3D035-826A-6F8E-1D15-1A3E96F62413}"/>
              </a:ext>
            </a:extLst>
          </p:cNvPr>
          <p:cNvCxnSpPr>
            <a:cxnSpLocks/>
          </p:cNvCxnSpPr>
          <p:nvPr/>
        </p:nvCxnSpPr>
        <p:spPr>
          <a:xfrm>
            <a:off x="9926817" y="1371452"/>
            <a:ext cx="0" cy="85457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3" name="Group 220">
            <a:extLst>
              <a:ext uri="{FF2B5EF4-FFF2-40B4-BE49-F238E27FC236}">
                <a16:creationId xmlns:a16="http://schemas.microsoft.com/office/drawing/2014/main" xmlns="" id="{33DE9BA6-990E-DE54-C6C1-2FDFC3EF39E7}"/>
              </a:ext>
            </a:extLst>
          </p:cNvPr>
          <p:cNvGrpSpPr/>
          <p:nvPr/>
        </p:nvGrpSpPr>
        <p:grpSpPr>
          <a:xfrm>
            <a:off x="11442608" y="7642216"/>
            <a:ext cx="558369" cy="415761"/>
            <a:chOff x="5906472" y="1486857"/>
            <a:chExt cx="372246" cy="272361"/>
          </a:xfrm>
        </p:grpSpPr>
        <p:sp>
          <p:nvSpPr>
            <p:cNvPr id="84" name="Oval 221">
              <a:extLst>
                <a:ext uri="{FF2B5EF4-FFF2-40B4-BE49-F238E27FC236}">
                  <a16:creationId xmlns:a16="http://schemas.microsoft.com/office/drawing/2014/main" xmlns="" id="{F948E0C2-1964-7035-7990-D49AB0C97E5A}"/>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85" name="TextBox 222">
              <a:extLst>
                <a:ext uri="{FF2B5EF4-FFF2-40B4-BE49-F238E27FC236}">
                  <a16:creationId xmlns:a16="http://schemas.microsoft.com/office/drawing/2014/main" xmlns="" id="{C4D33436-02F5-686F-699E-8597EF0E4654}"/>
                </a:ext>
              </a:extLst>
            </p:cNvPr>
            <p:cNvSpPr txBox="1"/>
            <p:nvPr/>
          </p:nvSpPr>
          <p:spPr>
            <a:xfrm>
              <a:off x="5923118" y="1507079"/>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9</a:t>
              </a:r>
              <a:endParaRPr lang="zh-TW" altLang="en-US" sz="1500" dirty="0">
                <a:latin typeface="微軟正黑體" panose="020B0604030504040204" pitchFamily="34" charset="-120"/>
                <a:ea typeface="微軟正黑體" panose="020B0604030504040204" pitchFamily="34" charset="-120"/>
              </a:endParaRPr>
            </a:p>
          </p:txBody>
        </p:sp>
      </p:grpSp>
      <p:sp>
        <p:nvSpPr>
          <p:cNvPr id="86" name="文字方塊 85">
            <a:extLst>
              <a:ext uri="{FF2B5EF4-FFF2-40B4-BE49-F238E27FC236}">
                <a16:creationId xmlns:a16="http://schemas.microsoft.com/office/drawing/2014/main" xmlns="" id="{29D95A87-8E81-E79E-403B-C860DCAF45F5}"/>
              </a:ext>
            </a:extLst>
          </p:cNvPr>
          <p:cNvSpPr txBox="1"/>
          <p:nvPr/>
        </p:nvSpPr>
        <p:spPr>
          <a:xfrm>
            <a:off x="6570513" y="6161683"/>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zh-TW" altLang="en-US" sz="1350" dirty="0"/>
          </a:p>
        </p:txBody>
      </p:sp>
      <p:sp>
        <p:nvSpPr>
          <p:cNvPr id="11" name="文字方塊 17">
            <a:extLst>
              <a:ext uri="{FF2B5EF4-FFF2-40B4-BE49-F238E27FC236}">
                <a16:creationId xmlns:a16="http://schemas.microsoft.com/office/drawing/2014/main" xmlns="" id="{5D39F941-5525-62D4-A386-7220FC938C72}"/>
              </a:ext>
            </a:extLst>
          </p:cNvPr>
          <p:cNvSpPr txBox="1"/>
          <p:nvPr/>
        </p:nvSpPr>
        <p:spPr>
          <a:xfrm>
            <a:off x="9937794" y="1356513"/>
            <a:ext cx="1969820" cy="353348"/>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權責主管</a:t>
            </a:r>
          </a:p>
        </p:txBody>
      </p:sp>
      <p:cxnSp>
        <p:nvCxnSpPr>
          <p:cNvPr id="40" name="直線單箭頭接點 39">
            <a:extLst>
              <a:ext uri="{FF2B5EF4-FFF2-40B4-BE49-F238E27FC236}">
                <a16:creationId xmlns:a16="http://schemas.microsoft.com/office/drawing/2014/main" xmlns="" id="{204D6521-42A1-8490-8BB0-AED0FCE4B1EA}"/>
              </a:ext>
            </a:extLst>
          </p:cNvPr>
          <p:cNvCxnSpPr>
            <a:cxnSpLocks/>
            <a:stCxn id="7" idx="3"/>
            <a:endCxn id="30" idx="1"/>
          </p:cNvCxnSpPr>
          <p:nvPr/>
        </p:nvCxnSpPr>
        <p:spPr>
          <a:xfrm flipV="1">
            <a:off x="2101285" y="2705370"/>
            <a:ext cx="454118" cy="638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4" name="直線單箭頭接點 43">
            <a:extLst>
              <a:ext uri="{FF2B5EF4-FFF2-40B4-BE49-F238E27FC236}">
                <a16:creationId xmlns:a16="http://schemas.microsoft.com/office/drawing/2014/main" xmlns="" id="{85F52DC5-E296-ADEA-11D5-E42F0C2FF4E5}"/>
              </a:ext>
            </a:extLst>
          </p:cNvPr>
          <p:cNvCxnSpPr>
            <a:cxnSpLocks/>
            <a:stCxn id="15" idx="2"/>
            <a:endCxn id="35" idx="0"/>
          </p:cNvCxnSpPr>
          <p:nvPr/>
        </p:nvCxnSpPr>
        <p:spPr>
          <a:xfrm>
            <a:off x="5544068" y="5737085"/>
            <a:ext cx="7435" cy="369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7" name="直線單箭頭接點 46">
            <a:extLst>
              <a:ext uri="{FF2B5EF4-FFF2-40B4-BE49-F238E27FC236}">
                <a16:creationId xmlns:a16="http://schemas.microsoft.com/office/drawing/2014/main" xmlns="" id="{CE32C393-DE62-5A8A-3263-E68A150E9FCD}"/>
              </a:ext>
            </a:extLst>
          </p:cNvPr>
          <p:cNvCxnSpPr>
            <a:cxnSpLocks/>
            <a:stCxn id="35" idx="2"/>
            <a:endCxn id="68" idx="0"/>
          </p:cNvCxnSpPr>
          <p:nvPr/>
        </p:nvCxnSpPr>
        <p:spPr>
          <a:xfrm>
            <a:off x="5551503" y="6818405"/>
            <a:ext cx="742" cy="160017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3" name="直線單箭頭接點 52">
            <a:extLst>
              <a:ext uri="{FF2B5EF4-FFF2-40B4-BE49-F238E27FC236}">
                <a16:creationId xmlns:a16="http://schemas.microsoft.com/office/drawing/2014/main" xmlns="" id="{DBAD6272-35C4-E863-B60E-CCB45A229432}"/>
              </a:ext>
            </a:extLst>
          </p:cNvPr>
          <p:cNvCxnSpPr>
            <a:cxnSpLocks/>
            <a:stCxn id="73" idx="2"/>
            <a:endCxn id="54" idx="0"/>
          </p:cNvCxnSpPr>
          <p:nvPr/>
        </p:nvCxnSpPr>
        <p:spPr>
          <a:xfrm flipH="1">
            <a:off x="8856544" y="3007237"/>
            <a:ext cx="2398" cy="6116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7" name="直線單箭頭接點 86">
            <a:extLst>
              <a:ext uri="{FF2B5EF4-FFF2-40B4-BE49-F238E27FC236}">
                <a16:creationId xmlns:a16="http://schemas.microsoft.com/office/drawing/2014/main" xmlns="" id="{0ABE146D-C14A-4FCD-94B9-94A148A9491A}"/>
              </a:ext>
            </a:extLst>
          </p:cNvPr>
          <p:cNvCxnSpPr>
            <a:cxnSpLocks/>
            <a:stCxn id="77" idx="2"/>
            <a:endCxn id="59" idx="0"/>
          </p:cNvCxnSpPr>
          <p:nvPr/>
        </p:nvCxnSpPr>
        <p:spPr>
          <a:xfrm flipH="1">
            <a:off x="10918718" y="6144073"/>
            <a:ext cx="2293" cy="2664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0" name="直線單箭頭接點 89">
            <a:extLst>
              <a:ext uri="{FF2B5EF4-FFF2-40B4-BE49-F238E27FC236}">
                <a16:creationId xmlns:a16="http://schemas.microsoft.com/office/drawing/2014/main" xmlns="" id="{47E2EC8D-CFBD-95DA-1E4E-5A7D7928C63B}"/>
              </a:ext>
            </a:extLst>
          </p:cNvPr>
          <p:cNvCxnSpPr>
            <a:cxnSpLocks/>
            <a:stCxn id="59" idx="2"/>
            <a:endCxn id="74" idx="0"/>
          </p:cNvCxnSpPr>
          <p:nvPr/>
        </p:nvCxnSpPr>
        <p:spPr>
          <a:xfrm flipH="1">
            <a:off x="10913695" y="7122769"/>
            <a:ext cx="5023" cy="72732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3" name="直線單箭頭接點 92">
            <a:extLst>
              <a:ext uri="{FF2B5EF4-FFF2-40B4-BE49-F238E27FC236}">
                <a16:creationId xmlns:a16="http://schemas.microsoft.com/office/drawing/2014/main" xmlns="" id="{B720127E-3C43-10C7-4E67-5B046FEB7D6F}"/>
              </a:ext>
            </a:extLst>
          </p:cNvPr>
          <p:cNvCxnSpPr>
            <a:cxnSpLocks/>
            <a:stCxn id="59" idx="3"/>
            <a:endCxn id="193" idx="1"/>
          </p:cNvCxnSpPr>
          <p:nvPr/>
        </p:nvCxnSpPr>
        <p:spPr>
          <a:xfrm flipV="1">
            <a:off x="11839692" y="6758010"/>
            <a:ext cx="1063336" cy="865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0224938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1" name="流程圖: 文件 42">
            <a:extLst>
              <a:ext uri="{FF2B5EF4-FFF2-40B4-BE49-F238E27FC236}">
                <a16:creationId xmlns:a16="http://schemas.microsoft.com/office/drawing/2014/main" xmlns="" id="{580160BC-29D0-9D19-BFCE-78B7FC429FBC}"/>
              </a:ext>
            </a:extLst>
          </p:cNvPr>
          <p:cNvSpPr/>
          <p:nvPr/>
        </p:nvSpPr>
        <p:spPr bwMode="auto">
          <a:xfrm>
            <a:off x="3886440" y="4874815"/>
            <a:ext cx="1086981" cy="534714"/>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採購單</a:t>
            </a:r>
          </a:p>
        </p:txBody>
      </p:sp>
      <p:sp>
        <p:nvSpPr>
          <p:cNvPr id="4" name="文字方塊 3">
            <a:extLst>
              <a:ext uri="{FF2B5EF4-FFF2-40B4-BE49-F238E27FC236}">
                <a16:creationId xmlns:a16="http://schemas.microsoft.com/office/drawing/2014/main" xmlns="" id="{83E6F622-2FBE-CC67-50FE-4ABD7D8B9696}"/>
              </a:ext>
            </a:extLst>
          </p:cNvPr>
          <p:cNvSpPr txBox="1"/>
          <p:nvPr/>
        </p:nvSpPr>
        <p:spPr>
          <a:xfrm>
            <a:off x="2444079" y="820877"/>
            <a:ext cx="9920197" cy="461665"/>
          </a:xfrm>
          <a:prstGeom prst="rect">
            <a:avLst/>
          </a:prstGeom>
          <a:noFill/>
        </p:spPr>
        <p:txBody>
          <a:bodyPr wrap="square">
            <a:spAutoFit/>
          </a:bodyPr>
          <a:lstStyle/>
          <a:p>
            <a:pPr eaLnBrk="0" hangingPunct="0"/>
            <a:r>
              <a:rPr lang="en-US" altLang="zh-TW" sz="2400" b="1" dirty="0">
                <a:latin typeface="微軟正黑體" panose="020B0604030504040204" pitchFamily="34" charset="-120"/>
                <a:ea typeface="微軟正黑體" panose="020B0604030504040204" pitchFamily="34" charset="-120"/>
              </a:rPr>
              <a:t>MM-PU-0090-03 </a:t>
            </a:r>
            <a:r>
              <a:rPr lang="zh-TW" altLang="en-US" sz="2400" b="1" dirty="0">
                <a:latin typeface="微軟正黑體" panose="020B0604030504040204" pitchFamily="34" charset="-120"/>
                <a:ea typeface="微軟正黑體" panose="020B0604030504040204" pitchFamily="34" charset="-120"/>
              </a:rPr>
              <a:t>固定資產請採驗流程 </a:t>
            </a:r>
            <a:r>
              <a:rPr lang="en-US" altLang="zh-TW" sz="2400" b="1" dirty="0">
                <a:latin typeface="微軟正黑體" panose="020B0604030504040204" pitchFamily="34" charset="-120"/>
                <a:ea typeface="微軟正黑體" panose="020B0604030504040204" pitchFamily="34" charset="-120"/>
              </a:rPr>
              <a:t>(</a:t>
            </a:r>
            <a:r>
              <a:rPr lang="zh-TW" altLang="en-US" sz="2400" b="1" dirty="0">
                <a:latin typeface="微軟正黑體" panose="020B0604030504040204" pitchFamily="34" charset="-120"/>
                <a:ea typeface="微軟正黑體" panose="020B0604030504040204" pitchFamily="34" charset="-120"/>
              </a:rPr>
              <a:t>機器設備</a:t>
            </a:r>
            <a:r>
              <a:rPr lang="en-US" altLang="zh-TW" sz="2400" b="1" dirty="0">
                <a:latin typeface="微軟正黑體" panose="020B0604030504040204" pitchFamily="34" charset="-120"/>
                <a:ea typeface="微軟正黑體" panose="020B0604030504040204" pitchFamily="34" charset="-120"/>
              </a:rPr>
              <a:t>/</a:t>
            </a:r>
            <a:r>
              <a:rPr lang="zh-TW" altLang="en-US" sz="2400" b="1" dirty="0">
                <a:latin typeface="微軟正黑體" panose="020B0604030504040204" pitchFamily="34" charset="-120"/>
                <a:ea typeface="微軟正黑體" panose="020B0604030504040204" pitchFamily="34" charset="-120"/>
              </a:rPr>
              <a:t>楦頭</a:t>
            </a:r>
            <a:r>
              <a:rPr lang="en-US" altLang="zh-TW" sz="2400" b="1" dirty="0">
                <a:latin typeface="微軟正黑體" panose="020B0604030504040204" pitchFamily="34" charset="-120"/>
                <a:ea typeface="微軟正黑體" panose="020B0604030504040204" pitchFamily="34" charset="-120"/>
              </a:rPr>
              <a:t>/</a:t>
            </a:r>
            <a:r>
              <a:rPr lang="zh-TW" altLang="en-US" sz="2400" b="1" dirty="0">
                <a:latin typeface="微軟正黑體" panose="020B0604030504040204" pitchFamily="34" charset="-120"/>
                <a:ea typeface="微軟正黑體" panose="020B0604030504040204" pitchFamily="34" charset="-120"/>
              </a:rPr>
              <a:t>模具以外</a:t>
            </a:r>
            <a:r>
              <a:rPr lang="en-US" altLang="zh-TW" sz="2400" b="1" dirty="0">
                <a:latin typeface="微軟正黑體" panose="020B0604030504040204" pitchFamily="34" charset="-120"/>
                <a:ea typeface="微軟正黑體" panose="020B0604030504040204" pitchFamily="34" charset="-120"/>
              </a:rPr>
              <a:t>)</a:t>
            </a:r>
            <a:endParaRPr lang="zh-TW" altLang="en-US" sz="2400" b="1" dirty="0">
              <a:latin typeface="微軟正黑體" panose="020B0604030504040204" pitchFamily="34" charset="-120"/>
              <a:ea typeface="微軟正黑體" panose="020B0604030504040204" pitchFamily="34" charset="-120"/>
            </a:endParaRPr>
          </a:p>
        </p:txBody>
      </p:sp>
      <p:sp>
        <p:nvSpPr>
          <p:cNvPr id="14" name="文字方塊 17">
            <a:extLst>
              <a:ext uri="{FF2B5EF4-FFF2-40B4-BE49-F238E27FC236}">
                <a16:creationId xmlns:a16="http://schemas.microsoft.com/office/drawing/2014/main" xmlns="" id="{E114DEFF-4464-1230-5102-DAAA05109B8A}"/>
              </a:ext>
            </a:extLst>
          </p:cNvPr>
          <p:cNvSpPr txBox="1"/>
          <p:nvPr/>
        </p:nvSpPr>
        <p:spPr>
          <a:xfrm>
            <a:off x="2444079" y="1364938"/>
            <a:ext cx="3648126"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採購</a:t>
            </a:r>
          </a:p>
        </p:txBody>
      </p:sp>
      <p:graphicFrame>
        <p:nvGraphicFramePr>
          <p:cNvPr id="30" name="表格 30">
            <a:extLst>
              <a:ext uri="{FF2B5EF4-FFF2-40B4-BE49-F238E27FC236}">
                <a16:creationId xmlns:a16="http://schemas.microsoft.com/office/drawing/2014/main" xmlns="" id="{18197701-0564-3E2B-648E-413A6C8BBE0A}"/>
              </a:ext>
            </a:extLst>
          </p:cNvPr>
          <p:cNvGraphicFramePr>
            <a:graphicFrameLocks noGrp="1"/>
          </p:cNvGraphicFramePr>
          <p:nvPr/>
        </p:nvGraphicFramePr>
        <p:xfrm>
          <a:off x="2760086" y="2076474"/>
          <a:ext cx="1797832" cy="1090108"/>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2510">
                <a:tc gridSpan="2">
                  <a:txBody>
                    <a:bodyPr/>
                    <a:lstStyle/>
                    <a:p>
                      <a:pPr algn="ctr"/>
                      <a:r>
                        <a:rPr lang="en-GB" sz="1400" b="1" dirty="0">
                          <a:solidFill>
                            <a:schemeClr val="tx1"/>
                          </a:solidFill>
                          <a:latin typeface="微軟正黑體" panose="020B0604030504040204" pitchFamily="34" charset="-120"/>
                          <a:ea typeface="微軟正黑體" panose="020B0604030504040204" pitchFamily="34" charset="-120"/>
                        </a:rPr>
                        <a:t>ZMM006</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440514">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核發</a:t>
                      </a:r>
                      <a:r>
                        <a:rPr kumimoji="0" lang="en-US" altLang="zh-TW" sz="1400" dirty="0">
                          <a:latin typeface="微軟正黑體" panose="020B0604030504040204" pitchFamily="34" charset="-120"/>
                          <a:ea typeface="微軟正黑體" panose="020B0604030504040204" pitchFamily="34" charset="-120"/>
                        </a:rPr>
                        <a:t>SAP </a:t>
                      </a:r>
                      <a:r>
                        <a:rPr kumimoji="0" lang="zh-TW" altLang="en-US" sz="1400" dirty="0">
                          <a:latin typeface="微軟正黑體" panose="020B0604030504040204" pitchFamily="34" charset="-120"/>
                          <a:ea typeface="微軟正黑體" panose="020B0604030504040204" pitchFamily="34" charset="-120"/>
                        </a:rPr>
                        <a:t>採購單</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06000">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自動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pSp>
        <p:nvGrpSpPr>
          <p:cNvPr id="31" name="Group 220">
            <a:extLst>
              <a:ext uri="{FF2B5EF4-FFF2-40B4-BE49-F238E27FC236}">
                <a16:creationId xmlns:a16="http://schemas.microsoft.com/office/drawing/2014/main" xmlns="" id="{A9B401BC-DE49-5FC0-6565-D216316A23DA}"/>
              </a:ext>
            </a:extLst>
          </p:cNvPr>
          <p:cNvGrpSpPr/>
          <p:nvPr/>
        </p:nvGrpSpPr>
        <p:grpSpPr>
          <a:xfrm>
            <a:off x="4339263" y="1842482"/>
            <a:ext cx="559344" cy="408542"/>
            <a:chOff x="5906472" y="1486857"/>
            <a:chExt cx="372896" cy="272361"/>
          </a:xfrm>
        </p:grpSpPr>
        <p:sp>
          <p:nvSpPr>
            <p:cNvPr id="32" name="Oval 221">
              <a:extLst>
                <a:ext uri="{FF2B5EF4-FFF2-40B4-BE49-F238E27FC236}">
                  <a16:creationId xmlns:a16="http://schemas.microsoft.com/office/drawing/2014/main" xmlns="" id="{DEBB780E-65E5-AB48-7071-2CDA63191644}"/>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33" name="TextBox 222">
              <a:extLst>
                <a:ext uri="{FF2B5EF4-FFF2-40B4-BE49-F238E27FC236}">
                  <a16:creationId xmlns:a16="http://schemas.microsoft.com/office/drawing/2014/main" xmlns="" id="{38213EC1-2A6F-CC6F-9F41-D87C1E84A2C8}"/>
                </a:ext>
              </a:extLst>
            </p:cNvPr>
            <p:cNvSpPr txBox="1"/>
            <p:nvPr/>
          </p:nvSpPr>
          <p:spPr>
            <a:xfrm>
              <a:off x="5923768" y="1507079"/>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graphicFrame>
        <p:nvGraphicFramePr>
          <p:cNvPr id="19" name="表格 30">
            <a:extLst>
              <a:ext uri="{FF2B5EF4-FFF2-40B4-BE49-F238E27FC236}">
                <a16:creationId xmlns:a16="http://schemas.microsoft.com/office/drawing/2014/main" xmlns="" id="{323DEA68-B2E9-C177-AF6C-305B02CA9243}"/>
              </a:ext>
            </a:extLst>
          </p:cNvPr>
          <p:cNvGraphicFramePr>
            <a:graphicFrameLocks noGrp="1"/>
          </p:cNvGraphicFramePr>
          <p:nvPr/>
        </p:nvGraphicFramePr>
        <p:xfrm>
          <a:off x="2757569" y="3694708"/>
          <a:ext cx="1797832" cy="1184439"/>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GB" altLang="zh-TW" sz="1500" b="1" dirty="0">
                        <a:solidFill>
                          <a:schemeClr val="tx1"/>
                        </a:solidFill>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11239">
                <a:tc gridSpan="2">
                  <a:txBody>
                    <a:bodyPr/>
                    <a:lstStyle/>
                    <a:p>
                      <a:pPr algn="ctr"/>
                      <a:r>
                        <a:rPr lang="zh-TW" altLang="en-US" sz="1500" dirty="0">
                          <a:latin typeface="微軟正黑體" panose="020B0604030504040204" pitchFamily="34" charset="-120"/>
                          <a:ea typeface="微軟正黑體" panose="020B0604030504040204" pitchFamily="34" charset="-120"/>
                        </a:rPr>
                        <a:t>列印採購單</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sz="1500" dirty="0">
                          <a:latin typeface="微軟正黑體" panose="020B0604030504040204" pitchFamily="34" charset="-120"/>
                          <a:ea typeface="微軟正黑體" panose="020B0604030504040204" pitchFamily="34" charset="-120"/>
                        </a:rPr>
                        <a:t>BPM</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自動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sp>
        <p:nvSpPr>
          <p:cNvPr id="210" name="文字方塊 17">
            <a:extLst>
              <a:ext uri="{FF2B5EF4-FFF2-40B4-BE49-F238E27FC236}">
                <a16:creationId xmlns:a16="http://schemas.microsoft.com/office/drawing/2014/main" xmlns="" id="{306A0461-FB0A-6B8E-26F4-F4121B822258}"/>
              </a:ext>
            </a:extLst>
          </p:cNvPr>
          <p:cNvSpPr txBox="1"/>
          <p:nvPr/>
        </p:nvSpPr>
        <p:spPr>
          <a:xfrm>
            <a:off x="9717582" y="1352457"/>
            <a:ext cx="2142598"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申請單位</a:t>
            </a:r>
          </a:p>
        </p:txBody>
      </p:sp>
      <p:sp>
        <p:nvSpPr>
          <p:cNvPr id="61" name="TextBox 53">
            <a:extLst>
              <a:ext uri="{FF2B5EF4-FFF2-40B4-BE49-F238E27FC236}">
                <a16:creationId xmlns:a16="http://schemas.microsoft.com/office/drawing/2014/main" xmlns="" id="{2DE69ECC-E293-FAA8-6082-E6D2F887DBFF}"/>
              </a:ext>
            </a:extLst>
          </p:cNvPr>
          <p:cNvSpPr txBox="1"/>
          <p:nvPr/>
        </p:nvSpPr>
        <p:spPr>
          <a:xfrm>
            <a:off x="14380627" y="2064631"/>
            <a:ext cx="3594197" cy="369332"/>
          </a:xfrm>
          <a:prstGeom prst="rect">
            <a:avLst/>
          </a:prstGeom>
          <a:noFill/>
        </p:spPr>
        <p:txBody>
          <a:bodyPr wrap="square" rtlCol="0">
            <a:spAutoFit/>
          </a:bodyPr>
          <a:lstStyle/>
          <a:p>
            <a:endParaRPr lang="zh-TW" altLang="en-US" dirty="0"/>
          </a:p>
        </p:txBody>
      </p:sp>
      <p:sp>
        <p:nvSpPr>
          <p:cNvPr id="5" name="流程圖: 換頁接點 52">
            <a:extLst>
              <a:ext uri="{FF2B5EF4-FFF2-40B4-BE49-F238E27FC236}">
                <a16:creationId xmlns:a16="http://schemas.microsoft.com/office/drawing/2014/main" xmlns="" id="{A020D090-1F04-66A8-DDD2-0A428105439C}"/>
              </a:ext>
            </a:extLst>
          </p:cNvPr>
          <p:cNvSpPr/>
          <p:nvPr/>
        </p:nvSpPr>
        <p:spPr bwMode="auto">
          <a:xfrm>
            <a:off x="1131236" y="2391873"/>
            <a:ext cx="560627" cy="467303"/>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P7</a:t>
            </a:r>
            <a:endParaRPr lang="zh-TW" altLang="en-US" dirty="0">
              <a:latin typeface="微軟正黑體" panose="020B0604030504040204" pitchFamily="34" charset="-120"/>
              <a:ea typeface="微軟正黑體" panose="020B0604030504040204" pitchFamily="34" charset="-120"/>
            </a:endParaRPr>
          </a:p>
        </p:txBody>
      </p:sp>
      <p:grpSp>
        <p:nvGrpSpPr>
          <p:cNvPr id="41" name="Group 220">
            <a:extLst>
              <a:ext uri="{FF2B5EF4-FFF2-40B4-BE49-F238E27FC236}">
                <a16:creationId xmlns:a16="http://schemas.microsoft.com/office/drawing/2014/main" xmlns="" id="{8CFE2FFC-F192-E4BE-BA08-1FF5A5D8B2F9}"/>
              </a:ext>
            </a:extLst>
          </p:cNvPr>
          <p:cNvGrpSpPr/>
          <p:nvPr/>
        </p:nvGrpSpPr>
        <p:grpSpPr>
          <a:xfrm>
            <a:off x="4352235" y="3510712"/>
            <a:ext cx="559344" cy="408542"/>
            <a:chOff x="5906472" y="1486857"/>
            <a:chExt cx="372896" cy="272361"/>
          </a:xfrm>
        </p:grpSpPr>
        <p:sp>
          <p:nvSpPr>
            <p:cNvPr id="42" name="Oval 221">
              <a:extLst>
                <a:ext uri="{FF2B5EF4-FFF2-40B4-BE49-F238E27FC236}">
                  <a16:creationId xmlns:a16="http://schemas.microsoft.com/office/drawing/2014/main" xmlns="" id="{7919AE74-A7E0-3890-38AC-DCBB5AA39E9F}"/>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43" name="TextBox 222">
              <a:extLst>
                <a:ext uri="{FF2B5EF4-FFF2-40B4-BE49-F238E27FC236}">
                  <a16:creationId xmlns:a16="http://schemas.microsoft.com/office/drawing/2014/main" xmlns="" id="{3F82B52D-D32E-9A97-A08F-EE46FBDF7380}"/>
                </a:ext>
              </a:extLst>
            </p:cNvPr>
            <p:cNvSpPr txBox="1"/>
            <p:nvPr/>
          </p:nvSpPr>
          <p:spPr>
            <a:xfrm>
              <a:off x="5923768" y="1507079"/>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sp>
        <p:nvSpPr>
          <p:cNvPr id="200" name="文字方塊 17">
            <a:extLst>
              <a:ext uri="{FF2B5EF4-FFF2-40B4-BE49-F238E27FC236}">
                <a16:creationId xmlns:a16="http://schemas.microsoft.com/office/drawing/2014/main" xmlns="" id="{46781F1A-BA99-952E-F060-2BBE7B71DFBE}"/>
              </a:ext>
            </a:extLst>
          </p:cNvPr>
          <p:cNvSpPr txBox="1"/>
          <p:nvPr/>
        </p:nvSpPr>
        <p:spPr>
          <a:xfrm>
            <a:off x="6092205" y="1379514"/>
            <a:ext cx="3648125"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廠區總務</a:t>
            </a:r>
          </a:p>
        </p:txBody>
      </p:sp>
      <p:sp>
        <p:nvSpPr>
          <p:cNvPr id="9" name="TextBox 53">
            <a:extLst>
              <a:ext uri="{FF2B5EF4-FFF2-40B4-BE49-F238E27FC236}">
                <a16:creationId xmlns:a16="http://schemas.microsoft.com/office/drawing/2014/main" xmlns="" id="{04612EE1-7D42-C47D-2705-304DF742CE7B}"/>
              </a:ext>
            </a:extLst>
          </p:cNvPr>
          <p:cNvSpPr txBox="1"/>
          <p:nvPr/>
        </p:nvSpPr>
        <p:spPr>
          <a:xfrm>
            <a:off x="14380627" y="1969219"/>
            <a:ext cx="3594197" cy="6186309"/>
          </a:xfrm>
          <a:prstGeom prst="rect">
            <a:avLst/>
          </a:prstGeom>
          <a:noFill/>
        </p:spPr>
        <p:txBody>
          <a:bodyPr wrap="square" rtlCol="0">
            <a:spAutoFit/>
          </a:bodyPr>
          <a:lstStyle/>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完成簽核</a:t>
            </a:r>
            <a:r>
              <a:rPr lang="en-US" altLang="zh-TW" dirty="0">
                <a:latin typeface="微軟正黑體" panose="020B0604030504040204" pitchFamily="34" charset="-120"/>
                <a:ea typeface="微軟正黑體" panose="020B0604030504040204" pitchFamily="34" charset="-120"/>
              </a:rPr>
              <a:t>BPM ZMM006</a:t>
            </a:r>
            <a:r>
              <a:rPr lang="zh-TW" altLang="en-US" dirty="0">
                <a:latin typeface="微軟正黑體" panose="020B0604030504040204" pitchFamily="34" charset="-120"/>
                <a:ea typeface="微軟正黑體" panose="020B0604030504040204" pitchFamily="34" charset="-120"/>
              </a:rPr>
              <a:t>自動核發採購單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於</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採購列印採購單，交付給供應商</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如果需要預付</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分期，按預付百分比例</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分期項目作收貨</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進行預付</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分期發票請款</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廠商交貨，進行點收，用</a:t>
            </a:r>
            <a:r>
              <a:rPr lang="en-US" altLang="zh-TW" dirty="0">
                <a:latin typeface="微軟正黑體" panose="020B0604030504040204" pitchFamily="34" charset="-120"/>
                <a:ea typeface="微軟正黑體" panose="020B0604030504040204" pitchFamily="34" charset="-120"/>
              </a:rPr>
              <a:t>MIGO </a:t>
            </a:r>
            <a:r>
              <a:rPr lang="zh-TW" altLang="en-US" dirty="0">
                <a:latin typeface="微軟正黑體" panose="020B0604030504040204" pitchFamily="34" charset="-120"/>
                <a:ea typeface="微軟正黑體" panose="020B0604030504040204" pitchFamily="34" charset="-120"/>
              </a:rPr>
              <a:t>進行</a:t>
            </a:r>
            <a:r>
              <a:rPr lang="en-US" altLang="zh-TW" dirty="0">
                <a:latin typeface="微軟正黑體" panose="020B0604030504040204" pitchFamily="34" charset="-120"/>
                <a:ea typeface="微軟正黑體" panose="020B0604030504040204" pitchFamily="34" charset="-120"/>
              </a:rPr>
              <a:t>101</a:t>
            </a:r>
            <a:r>
              <a:rPr lang="zh-TW" altLang="en-US" dirty="0">
                <a:latin typeface="微軟正黑體" panose="020B0604030504040204" pitchFamily="34" charset="-120"/>
                <a:ea typeface="微軟正黑體" panose="020B0604030504040204" pitchFamily="34" charset="-120"/>
              </a:rPr>
              <a:t>收貨</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設備類固定資產由申請單位進行功能確認，功能確認合格後，進行請款</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驗收不合格，則進行驗收 </a:t>
            </a:r>
            <a:r>
              <a:rPr lang="en-US" altLang="zh-TW" dirty="0">
                <a:latin typeface="微軟正黑體" panose="020B0604030504040204" pitchFamily="34" charset="-120"/>
                <a:ea typeface="微軟正黑體" panose="020B0604030504040204" pitchFamily="34" charset="-120"/>
              </a:rPr>
              <a:t>MIGO </a:t>
            </a:r>
            <a:r>
              <a:rPr lang="zh-TW" altLang="en-US" dirty="0">
                <a:latin typeface="微軟正黑體" panose="020B0604030504040204" pitchFamily="34" charset="-120"/>
                <a:ea typeface="微軟正黑體" panose="020B0604030504040204" pitchFamily="34" charset="-120"/>
              </a:rPr>
              <a:t>進行</a:t>
            </a:r>
            <a:r>
              <a:rPr lang="en-US" altLang="zh-TW" dirty="0">
                <a:latin typeface="微軟正黑體" panose="020B0604030504040204" pitchFamily="34" charset="-120"/>
                <a:ea typeface="微軟正黑體" panose="020B0604030504040204" pitchFamily="34" charset="-120"/>
              </a:rPr>
              <a:t>122</a:t>
            </a:r>
            <a:r>
              <a:rPr lang="zh-TW" altLang="en-US" dirty="0">
                <a:latin typeface="微軟正黑體" panose="020B0604030504040204" pitchFamily="34" charset="-120"/>
                <a:ea typeface="微軟正黑體" panose="020B0604030504040204" pitchFamily="34" charset="-120"/>
              </a:rPr>
              <a:t>退貨作業，通知廠商收退貨重送</a:t>
            </a:r>
            <a:endParaRPr lang="en-US" altLang="zh-TW" dirty="0">
              <a:latin typeface="微軟正黑體" panose="020B0604030504040204" pitchFamily="34" charset="-120"/>
              <a:ea typeface="微軟正黑體" panose="020B0604030504040204" pitchFamily="34" charset="-120"/>
            </a:endParaRPr>
          </a:p>
          <a:p>
            <a:endParaRPr lang="en-US" altLang="zh-TW" dirty="0"/>
          </a:p>
        </p:txBody>
      </p:sp>
      <p:sp>
        <p:nvSpPr>
          <p:cNvPr id="17" name="流程圖: 決策 50">
            <a:extLst>
              <a:ext uri="{FF2B5EF4-FFF2-40B4-BE49-F238E27FC236}">
                <a16:creationId xmlns:a16="http://schemas.microsoft.com/office/drawing/2014/main" xmlns="" id="{90AD232C-F7E6-105E-35B0-3783B1FD3A62}"/>
              </a:ext>
            </a:extLst>
          </p:cNvPr>
          <p:cNvSpPr/>
          <p:nvPr/>
        </p:nvSpPr>
        <p:spPr bwMode="auto">
          <a:xfrm>
            <a:off x="2731995" y="5770975"/>
            <a:ext cx="1841949" cy="597606"/>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需預付</a:t>
            </a:r>
            <a:r>
              <a:rPr lang="en-US" altLang="zh-TW" sz="1500" dirty="0">
                <a:latin typeface="微軟正黑體" panose="020B0604030504040204" pitchFamily="34" charset="-120"/>
                <a:ea typeface="微軟正黑體" panose="020B0604030504040204" pitchFamily="34" charset="-120"/>
              </a:rPr>
              <a:t>/</a:t>
            </a:r>
            <a:r>
              <a:rPr lang="zh-TW" altLang="en-US" sz="1500" dirty="0">
                <a:latin typeface="微軟正黑體" panose="020B0604030504040204" pitchFamily="34" charset="-120"/>
                <a:ea typeface="微軟正黑體" panose="020B0604030504040204" pitchFamily="34" charset="-120"/>
              </a:rPr>
              <a:t>分期</a:t>
            </a:r>
          </a:p>
        </p:txBody>
      </p:sp>
      <p:sp>
        <p:nvSpPr>
          <p:cNvPr id="228" name="流程圖: 預設處理作業 21">
            <a:extLst>
              <a:ext uri="{FF2B5EF4-FFF2-40B4-BE49-F238E27FC236}">
                <a16:creationId xmlns:a16="http://schemas.microsoft.com/office/drawing/2014/main" xmlns="" id="{2857039D-4439-AE14-74EB-A5CEC0477F9A}"/>
              </a:ext>
            </a:extLst>
          </p:cNvPr>
          <p:cNvSpPr/>
          <p:nvPr/>
        </p:nvSpPr>
        <p:spPr bwMode="auto">
          <a:xfrm>
            <a:off x="2780636" y="8602330"/>
            <a:ext cx="1728927"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MM-IV-0010</a:t>
            </a:r>
          </a:p>
          <a:p>
            <a:pPr algn="ctr" eaLnBrk="0" hangingPunct="0"/>
            <a:r>
              <a:rPr lang="zh-TW" altLang="en-US" sz="1500" dirty="0">
                <a:latin typeface="微軟正黑體" panose="020B0604030504040204" pitchFamily="34" charset="-120"/>
                <a:ea typeface="微軟正黑體" panose="020B0604030504040204" pitchFamily="34" charset="-120"/>
              </a:rPr>
              <a:t>發票驗證流程</a:t>
            </a:r>
          </a:p>
          <a:p>
            <a:pPr algn="ctr" eaLnBrk="0" hangingPunct="0"/>
            <a:endParaRPr lang="zh-TW" altLang="en-US" sz="1500" dirty="0">
              <a:latin typeface="微軟正黑體" panose="020B0604030504040204" pitchFamily="34" charset="-120"/>
              <a:ea typeface="微軟正黑體" panose="020B0604030504040204" pitchFamily="34" charset="-120"/>
            </a:endParaRPr>
          </a:p>
        </p:txBody>
      </p:sp>
      <p:cxnSp>
        <p:nvCxnSpPr>
          <p:cNvPr id="230" name="肘形接點 68">
            <a:extLst>
              <a:ext uri="{FF2B5EF4-FFF2-40B4-BE49-F238E27FC236}">
                <a16:creationId xmlns:a16="http://schemas.microsoft.com/office/drawing/2014/main" xmlns="" id="{7E72D76D-CF8D-5ACC-0DDF-7EAF9F64AC25}"/>
              </a:ext>
            </a:extLst>
          </p:cNvPr>
          <p:cNvCxnSpPr>
            <a:cxnSpLocks/>
            <a:stCxn id="228" idx="3"/>
            <a:endCxn id="146" idx="1"/>
          </p:cNvCxnSpPr>
          <p:nvPr/>
        </p:nvCxnSpPr>
        <p:spPr>
          <a:xfrm flipV="1">
            <a:off x="4509563" y="3131997"/>
            <a:ext cx="2452943" cy="6089533"/>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234" name="肘形接點 68">
            <a:extLst>
              <a:ext uri="{FF2B5EF4-FFF2-40B4-BE49-F238E27FC236}">
                <a16:creationId xmlns:a16="http://schemas.microsoft.com/office/drawing/2014/main" xmlns="" id="{A69FBE0A-7432-A6D7-9148-CCE6E8B4C592}"/>
              </a:ext>
            </a:extLst>
          </p:cNvPr>
          <p:cNvCxnSpPr>
            <a:cxnSpLocks/>
            <a:stCxn id="17" idx="3"/>
            <a:endCxn id="146" idx="1"/>
          </p:cNvCxnSpPr>
          <p:nvPr/>
        </p:nvCxnSpPr>
        <p:spPr>
          <a:xfrm flipV="1">
            <a:off x="4573944" y="3131997"/>
            <a:ext cx="2388562" cy="2937781"/>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pSp>
        <p:nvGrpSpPr>
          <p:cNvPr id="238" name="Group 220">
            <a:extLst>
              <a:ext uri="{FF2B5EF4-FFF2-40B4-BE49-F238E27FC236}">
                <a16:creationId xmlns:a16="http://schemas.microsoft.com/office/drawing/2014/main" xmlns="" id="{98184046-84E1-88B2-6AF0-D27D19F1759B}"/>
              </a:ext>
            </a:extLst>
          </p:cNvPr>
          <p:cNvGrpSpPr/>
          <p:nvPr/>
        </p:nvGrpSpPr>
        <p:grpSpPr>
          <a:xfrm>
            <a:off x="4286139" y="8397478"/>
            <a:ext cx="559344" cy="408542"/>
            <a:chOff x="5906472" y="1486857"/>
            <a:chExt cx="372896" cy="272361"/>
          </a:xfrm>
        </p:grpSpPr>
        <p:sp>
          <p:nvSpPr>
            <p:cNvPr id="239" name="Oval 221">
              <a:extLst>
                <a:ext uri="{FF2B5EF4-FFF2-40B4-BE49-F238E27FC236}">
                  <a16:creationId xmlns:a16="http://schemas.microsoft.com/office/drawing/2014/main" xmlns="" id="{55B9FF93-B5E1-9E9A-CBEC-A269103F4B71}"/>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40" name="TextBox 222">
              <a:extLst>
                <a:ext uri="{FF2B5EF4-FFF2-40B4-BE49-F238E27FC236}">
                  <a16:creationId xmlns:a16="http://schemas.microsoft.com/office/drawing/2014/main" xmlns="" id="{9ADE62B4-165E-B381-5172-7241F9C872D4}"/>
                </a:ext>
              </a:extLst>
            </p:cNvPr>
            <p:cNvSpPr txBox="1"/>
            <p:nvPr/>
          </p:nvSpPr>
          <p:spPr>
            <a:xfrm>
              <a:off x="5923768" y="1507079"/>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4</a:t>
              </a:r>
              <a:endParaRPr lang="zh-TW" altLang="en-US" sz="1500" dirty="0">
                <a:latin typeface="微軟正黑體" panose="020B0604030504040204" pitchFamily="34" charset="-120"/>
                <a:ea typeface="微軟正黑體" panose="020B0604030504040204" pitchFamily="34" charset="-120"/>
              </a:endParaRPr>
            </a:p>
          </p:txBody>
        </p:sp>
      </p:grpSp>
      <p:cxnSp>
        <p:nvCxnSpPr>
          <p:cNvPr id="75" name="Straight Connector 284">
            <a:extLst>
              <a:ext uri="{FF2B5EF4-FFF2-40B4-BE49-F238E27FC236}">
                <a16:creationId xmlns:a16="http://schemas.microsoft.com/office/drawing/2014/main" xmlns="" id="{CCB3D035-826A-6F8E-1D15-1A3E96F62413}"/>
              </a:ext>
            </a:extLst>
          </p:cNvPr>
          <p:cNvCxnSpPr>
            <a:cxnSpLocks/>
          </p:cNvCxnSpPr>
          <p:nvPr/>
        </p:nvCxnSpPr>
        <p:spPr>
          <a:xfrm>
            <a:off x="6092205" y="1355062"/>
            <a:ext cx="0" cy="85457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284">
            <a:extLst>
              <a:ext uri="{FF2B5EF4-FFF2-40B4-BE49-F238E27FC236}">
                <a16:creationId xmlns:a16="http://schemas.microsoft.com/office/drawing/2014/main" xmlns="" id="{CCB3D035-826A-6F8E-1D15-1A3E96F62413}"/>
              </a:ext>
            </a:extLst>
          </p:cNvPr>
          <p:cNvCxnSpPr>
            <a:cxnSpLocks/>
          </p:cNvCxnSpPr>
          <p:nvPr/>
        </p:nvCxnSpPr>
        <p:spPr>
          <a:xfrm>
            <a:off x="9417708" y="1344964"/>
            <a:ext cx="0" cy="85457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文字方塊 15">
            <a:extLst>
              <a:ext uri="{FF2B5EF4-FFF2-40B4-BE49-F238E27FC236}">
                <a16:creationId xmlns:a16="http://schemas.microsoft.com/office/drawing/2014/main" xmlns="" id="{1FF3F166-78C2-469B-04E2-59F70F345ADB}"/>
              </a:ext>
            </a:extLst>
          </p:cNvPr>
          <p:cNvSpPr txBox="1"/>
          <p:nvPr/>
        </p:nvSpPr>
        <p:spPr>
          <a:xfrm>
            <a:off x="3675865" y="6444804"/>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zh-TW" altLang="en-US" sz="1350" dirty="0"/>
          </a:p>
        </p:txBody>
      </p:sp>
      <p:sp>
        <p:nvSpPr>
          <p:cNvPr id="26" name="文字方塊 25">
            <a:extLst>
              <a:ext uri="{FF2B5EF4-FFF2-40B4-BE49-F238E27FC236}">
                <a16:creationId xmlns:a16="http://schemas.microsoft.com/office/drawing/2014/main" xmlns="" id="{77419519-709D-F221-F31E-BD5D89B4A461}"/>
              </a:ext>
            </a:extLst>
          </p:cNvPr>
          <p:cNvSpPr txBox="1"/>
          <p:nvPr/>
        </p:nvSpPr>
        <p:spPr>
          <a:xfrm>
            <a:off x="4649918" y="5782891"/>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否</a:t>
            </a:r>
            <a:endParaRPr lang="zh-TW" altLang="en-US" sz="1350" dirty="0"/>
          </a:p>
        </p:txBody>
      </p:sp>
      <p:graphicFrame>
        <p:nvGraphicFramePr>
          <p:cNvPr id="233" name="表格 30">
            <a:extLst>
              <a:ext uri="{FF2B5EF4-FFF2-40B4-BE49-F238E27FC236}">
                <a16:creationId xmlns:a16="http://schemas.microsoft.com/office/drawing/2014/main" xmlns="" id="{EE4D7AF3-C0E3-AC0D-8B46-7916F4CB28DF}"/>
              </a:ext>
            </a:extLst>
          </p:cNvPr>
          <p:cNvGraphicFramePr>
            <a:graphicFrameLocks noGrp="1"/>
          </p:cNvGraphicFramePr>
          <p:nvPr>
            <p:extLst>
              <p:ext uri="{D42A27DB-BD31-4B8C-83A1-F6EECF244321}">
                <p14:modId xmlns:p14="http://schemas.microsoft.com/office/powerpoint/2010/main" val="561986639"/>
              </p:ext>
            </p:extLst>
          </p:nvPr>
        </p:nvGraphicFramePr>
        <p:xfrm>
          <a:off x="2754538" y="6951608"/>
          <a:ext cx="1797832" cy="1238400"/>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500" b="1" dirty="0">
                          <a:solidFill>
                            <a:schemeClr val="tx1"/>
                          </a:solidFill>
                          <a:latin typeface="微軟正黑體" panose="020B0604030504040204" pitchFamily="34" charset="-120"/>
                          <a:ea typeface="微軟正黑體" panose="020B0604030504040204" pitchFamily="34" charset="-120"/>
                        </a:rPr>
                        <a:t>MIGO</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65200">
                <a:tc gridSpan="2">
                  <a:txBody>
                    <a:bodyPr/>
                    <a:lstStyle/>
                    <a:p>
                      <a:pPr algn="ctr"/>
                      <a:r>
                        <a:rPr lang="zh-TW" altLang="en-US" sz="1500" dirty="0">
                          <a:latin typeface="微軟正黑體" panose="020B0604030504040204" pitchFamily="34" charset="-120"/>
                          <a:ea typeface="微軟正黑體" panose="020B0604030504040204" pitchFamily="34" charset="-120"/>
                        </a:rPr>
                        <a:t>按預付百份比或分期項目收貨</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sp>
        <p:nvSpPr>
          <p:cNvPr id="73" name="Google Shape;198;p3"/>
          <p:cNvSpPr txBox="1">
            <a:spLocks/>
          </p:cNvSpPr>
          <p:nvPr/>
        </p:nvSpPr>
        <p:spPr>
          <a:xfrm>
            <a:off x="15399026" y="500459"/>
            <a:ext cx="293301" cy="201905"/>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9pPr>
          </a:lstStyle>
          <a:p>
            <a:r>
              <a:rPr lang="en-US" sz="1500" dirty="0"/>
              <a:t>8</a:t>
            </a:r>
          </a:p>
        </p:txBody>
      </p:sp>
      <p:grpSp>
        <p:nvGrpSpPr>
          <p:cNvPr id="219" name="Group 220">
            <a:extLst>
              <a:ext uri="{FF2B5EF4-FFF2-40B4-BE49-F238E27FC236}">
                <a16:creationId xmlns:a16="http://schemas.microsoft.com/office/drawing/2014/main" xmlns="" id="{52B0433D-9B75-3C72-E260-A94168985ECD}"/>
              </a:ext>
            </a:extLst>
          </p:cNvPr>
          <p:cNvGrpSpPr/>
          <p:nvPr/>
        </p:nvGrpSpPr>
        <p:grpSpPr>
          <a:xfrm>
            <a:off x="4282841" y="6746747"/>
            <a:ext cx="559344" cy="415761"/>
            <a:chOff x="5906472" y="1486857"/>
            <a:chExt cx="372896" cy="272361"/>
          </a:xfrm>
        </p:grpSpPr>
        <p:sp>
          <p:nvSpPr>
            <p:cNvPr id="220" name="Oval 221">
              <a:extLst>
                <a:ext uri="{FF2B5EF4-FFF2-40B4-BE49-F238E27FC236}">
                  <a16:creationId xmlns:a16="http://schemas.microsoft.com/office/drawing/2014/main" xmlns="" id="{82502817-9A10-B369-0278-8E3FD83C06C5}"/>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21" name="TextBox 222">
              <a:extLst>
                <a:ext uri="{FF2B5EF4-FFF2-40B4-BE49-F238E27FC236}">
                  <a16:creationId xmlns:a16="http://schemas.microsoft.com/office/drawing/2014/main" xmlns="" id="{1F11146B-09DF-2934-D6B3-1E55A404FEA4}"/>
                </a:ext>
              </a:extLst>
            </p:cNvPr>
            <p:cNvSpPr txBox="1"/>
            <p:nvPr/>
          </p:nvSpPr>
          <p:spPr>
            <a:xfrm>
              <a:off x="5923768" y="1507079"/>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cxnSp>
        <p:nvCxnSpPr>
          <p:cNvPr id="12" name="直線單箭頭接點 11">
            <a:extLst>
              <a:ext uri="{FF2B5EF4-FFF2-40B4-BE49-F238E27FC236}">
                <a16:creationId xmlns:a16="http://schemas.microsoft.com/office/drawing/2014/main" xmlns="" id="{8B172082-D236-B947-D81C-8F5C1FC6D3AC}"/>
              </a:ext>
            </a:extLst>
          </p:cNvPr>
          <p:cNvCxnSpPr>
            <a:cxnSpLocks/>
            <a:stCxn id="5" idx="3"/>
            <a:endCxn id="30" idx="1"/>
          </p:cNvCxnSpPr>
          <p:nvPr/>
        </p:nvCxnSpPr>
        <p:spPr>
          <a:xfrm flipV="1">
            <a:off x="1691863" y="2621528"/>
            <a:ext cx="1068223" cy="39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直線單箭頭接點 33">
            <a:extLst>
              <a:ext uri="{FF2B5EF4-FFF2-40B4-BE49-F238E27FC236}">
                <a16:creationId xmlns:a16="http://schemas.microsoft.com/office/drawing/2014/main" xmlns="" id="{2F33F67B-F3E7-73F1-C9A9-1E8C8B5D2B57}"/>
              </a:ext>
            </a:extLst>
          </p:cNvPr>
          <p:cNvCxnSpPr>
            <a:cxnSpLocks/>
            <a:stCxn id="30" idx="2"/>
            <a:endCxn id="19" idx="0"/>
          </p:cNvCxnSpPr>
          <p:nvPr/>
        </p:nvCxnSpPr>
        <p:spPr>
          <a:xfrm flipH="1">
            <a:off x="3656485" y="3166582"/>
            <a:ext cx="2517" cy="52812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直線單箭頭接點 37">
            <a:extLst>
              <a:ext uri="{FF2B5EF4-FFF2-40B4-BE49-F238E27FC236}">
                <a16:creationId xmlns:a16="http://schemas.microsoft.com/office/drawing/2014/main" xmlns="" id="{125DD20B-3BA2-4D0B-4D03-9EC9D5DCDEFD}"/>
              </a:ext>
            </a:extLst>
          </p:cNvPr>
          <p:cNvCxnSpPr>
            <a:cxnSpLocks/>
            <a:stCxn id="19" idx="2"/>
            <a:endCxn id="17" idx="0"/>
          </p:cNvCxnSpPr>
          <p:nvPr/>
        </p:nvCxnSpPr>
        <p:spPr>
          <a:xfrm flipH="1">
            <a:off x="3652970" y="4879147"/>
            <a:ext cx="3515" cy="89182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4" name="直線單箭頭接點 43">
            <a:extLst>
              <a:ext uri="{FF2B5EF4-FFF2-40B4-BE49-F238E27FC236}">
                <a16:creationId xmlns:a16="http://schemas.microsoft.com/office/drawing/2014/main" xmlns="" id="{E65BF181-C733-3BC0-9131-E85343F8E114}"/>
              </a:ext>
            </a:extLst>
          </p:cNvPr>
          <p:cNvCxnSpPr>
            <a:cxnSpLocks/>
            <a:stCxn id="17" idx="2"/>
            <a:endCxn id="233" idx="0"/>
          </p:cNvCxnSpPr>
          <p:nvPr/>
        </p:nvCxnSpPr>
        <p:spPr>
          <a:xfrm>
            <a:off x="3652970" y="6368581"/>
            <a:ext cx="484" cy="5830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4" name="直線單箭頭接點 53">
            <a:extLst>
              <a:ext uri="{FF2B5EF4-FFF2-40B4-BE49-F238E27FC236}">
                <a16:creationId xmlns:a16="http://schemas.microsoft.com/office/drawing/2014/main" xmlns="" id="{9A96EA05-7DC5-994A-922F-7EEFBDE5C634}"/>
              </a:ext>
            </a:extLst>
          </p:cNvPr>
          <p:cNvCxnSpPr>
            <a:cxnSpLocks/>
            <a:stCxn id="233" idx="2"/>
            <a:endCxn id="228" idx="0"/>
          </p:cNvCxnSpPr>
          <p:nvPr/>
        </p:nvCxnSpPr>
        <p:spPr>
          <a:xfrm flipH="1">
            <a:off x="3645100" y="8190008"/>
            <a:ext cx="8354" cy="41232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8" name="流程圖: 結束點 8">
            <a:extLst>
              <a:ext uri="{FF2B5EF4-FFF2-40B4-BE49-F238E27FC236}">
                <a16:creationId xmlns:a16="http://schemas.microsoft.com/office/drawing/2014/main" xmlns="" id="{1FB9514E-6261-C7AC-D58E-6A5F2E6F81FD}"/>
              </a:ext>
            </a:extLst>
          </p:cNvPr>
          <p:cNvSpPr/>
          <p:nvPr/>
        </p:nvSpPr>
        <p:spPr bwMode="auto">
          <a:xfrm>
            <a:off x="12142197" y="8718588"/>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cxnSp>
        <p:nvCxnSpPr>
          <p:cNvPr id="129" name="肘形接點 68">
            <a:extLst>
              <a:ext uri="{FF2B5EF4-FFF2-40B4-BE49-F238E27FC236}">
                <a16:creationId xmlns:a16="http://schemas.microsoft.com/office/drawing/2014/main" xmlns="" id="{8DD1663D-3235-8D1E-F1BD-80C90EB0F8CB}"/>
              </a:ext>
            </a:extLst>
          </p:cNvPr>
          <p:cNvCxnSpPr>
            <a:cxnSpLocks/>
            <a:stCxn id="141" idx="3"/>
            <a:endCxn id="128" idx="1"/>
          </p:cNvCxnSpPr>
          <p:nvPr/>
        </p:nvCxnSpPr>
        <p:spPr>
          <a:xfrm>
            <a:off x="8963807" y="9102828"/>
            <a:ext cx="3178390" cy="6982"/>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130" name="肘形接點 68">
            <a:extLst>
              <a:ext uri="{FF2B5EF4-FFF2-40B4-BE49-F238E27FC236}">
                <a16:creationId xmlns:a16="http://schemas.microsoft.com/office/drawing/2014/main" xmlns="" id="{4D315B82-E1CA-313C-D4BB-3BBD9FD7F973}"/>
              </a:ext>
            </a:extLst>
          </p:cNvPr>
          <p:cNvCxnSpPr>
            <a:cxnSpLocks/>
            <a:stCxn id="167" idx="3"/>
            <a:endCxn id="151" idx="1"/>
          </p:cNvCxnSpPr>
          <p:nvPr/>
        </p:nvCxnSpPr>
        <p:spPr>
          <a:xfrm>
            <a:off x="8835986" y="4750134"/>
            <a:ext cx="837059" cy="14714"/>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131" name="流程圖: 決策 50">
            <a:extLst>
              <a:ext uri="{FF2B5EF4-FFF2-40B4-BE49-F238E27FC236}">
                <a16:creationId xmlns:a16="http://schemas.microsoft.com/office/drawing/2014/main" xmlns="" id="{8037CA89-DBE3-1441-8E4C-7EA04E993D61}"/>
              </a:ext>
            </a:extLst>
          </p:cNvPr>
          <p:cNvSpPr/>
          <p:nvPr/>
        </p:nvSpPr>
        <p:spPr bwMode="auto">
          <a:xfrm>
            <a:off x="9692051" y="6227915"/>
            <a:ext cx="1841949" cy="588972"/>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符合要求</a:t>
            </a:r>
          </a:p>
        </p:txBody>
      </p:sp>
      <p:cxnSp>
        <p:nvCxnSpPr>
          <p:cNvPr id="132" name="肘形接點 68">
            <a:extLst>
              <a:ext uri="{FF2B5EF4-FFF2-40B4-BE49-F238E27FC236}">
                <a16:creationId xmlns:a16="http://schemas.microsoft.com/office/drawing/2014/main" xmlns="" id="{2AA47122-2BF1-7633-656B-9B6710026CD9}"/>
              </a:ext>
            </a:extLst>
          </p:cNvPr>
          <p:cNvCxnSpPr>
            <a:cxnSpLocks/>
            <a:stCxn id="131" idx="1"/>
            <a:endCxn id="140" idx="0"/>
          </p:cNvCxnSpPr>
          <p:nvPr/>
        </p:nvCxnSpPr>
        <p:spPr>
          <a:xfrm rot="10800000" flipV="1">
            <a:off x="8058407" y="6522401"/>
            <a:ext cx="1633644" cy="1973204"/>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133" name="文字方塊 132">
            <a:extLst>
              <a:ext uri="{FF2B5EF4-FFF2-40B4-BE49-F238E27FC236}">
                <a16:creationId xmlns:a16="http://schemas.microsoft.com/office/drawing/2014/main" xmlns="" id="{B106DB5A-3C2B-C42B-E706-9F53E0CA364F}"/>
              </a:ext>
            </a:extLst>
          </p:cNvPr>
          <p:cNvSpPr txBox="1"/>
          <p:nvPr/>
        </p:nvSpPr>
        <p:spPr>
          <a:xfrm>
            <a:off x="11433071" y="6121311"/>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zh-TW" altLang="en-US" sz="1350" dirty="0"/>
          </a:p>
        </p:txBody>
      </p:sp>
      <p:sp>
        <p:nvSpPr>
          <p:cNvPr id="134" name="文字方塊 133">
            <a:extLst>
              <a:ext uri="{FF2B5EF4-FFF2-40B4-BE49-F238E27FC236}">
                <a16:creationId xmlns:a16="http://schemas.microsoft.com/office/drawing/2014/main" xmlns="" id="{7BDD8B3B-9FC5-B431-B92A-CADEB291222C}"/>
              </a:ext>
            </a:extLst>
          </p:cNvPr>
          <p:cNvSpPr txBox="1"/>
          <p:nvPr/>
        </p:nvSpPr>
        <p:spPr>
          <a:xfrm>
            <a:off x="8727324" y="6155473"/>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否</a:t>
            </a:r>
            <a:endParaRPr lang="zh-TW" altLang="en-US" sz="1350" dirty="0"/>
          </a:p>
        </p:txBody>
      </p:sp>
      <p:cxnSp>
        <p:nvCxnSpPr>
          <p:cNvPr id="135" name="肘形接點 68">
            <a:extLst>
              <a:ext uri="{FF2B5EF4-FFF2-40B4-BE49-F238E27FC236}">
                <a16:creationId xmlns:a16="http://schemas.microsoft.com/office/drawing/2014/main" xmlns="" id="{3C63507D-83FD-0025-3EF4-B6F87A20780B}"/>
              </a:ext>
            </a:extLst>
          </p:cNvPr>
          <p:cNvCxnSpPr>
            <a:cxnSpLocks/>
            <a:stCxn id="131" idx="3"/>
            <a:endCxn id="136" idx="1"/>
          </p:cNvCxnSpPr>
          <p:nvPr/>
        </p:nvCxnSpPr>
        <p:spPr>
          <a:xfrm flipV="1">
            <a:off x="11534000" y="6517244"/>
            <a:ext cx="642649" cy="515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136" name="流程圖: 預設處理作業 21">
            <a:extLst>
              <a:ext uri="{FF2B5EF4-FFF2-40B4-BE49-F238E27FC236}">
                <a16:creationId xmlns:a16="http://schemas.microsoft.com/office/drawing/2014/main" xmlns="" id="{2857039D-4439-AE14-74EB-A5CEC0477F9A}"/>
              </a:ext>
            </a:extLst>
          </p:cNvPr>
          <p:cNvSpPr/>
          <p:nvPr/>
        </p:nvSpPr>
        <p:spPr bwMode="auto">
          <a:xfrm>
            <a:off x="12176649" y="5898044"/>
            <a:ext cx="1728927"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MM-IV-0010</a:t>
            </a:r>
          </a:p>
          <a:p>
            <a:pPr algn="ctr" eaLnBrk="0" hangingPunct="0"/>
            <a:r>
              <a:rPr lang="zh-TW" altLang="en-US" sz="1500" dirty="0">
                <a:latin typeface="微軟正黑體" panose="020B0604030504040204" pitchFamily="34" charset="-120"/>
                <a:ea typeface="微軟正黑體" panose="020B0604030504040204" pitchFamily="34" charset="-120"/>
              </a:rPr>
              <a:t>發票驗證流程</a:t>
            </a:r>
          </a:p>
          <a:p>
            <a:pPr algn="ctr" eaLnBrk="0" hangingPunct="0"/>
            <a:endParaRPr lang="zh-TW" altLang="en-US" sz="1500" dirty="0">
              <a:latin typeface="微軟正黑體" panose="020B0604030504040204" pitchFamily="34" charset="-120"/>
              <a:ea typeface="微軟正黑體" panose="020B0604030504040204" pitchFamily="34" charset="-120"/>
            </a:endParaRPr>
          </a:p>
        </p:txBody>
      </p:sp>
      <p:cxnSp>
        <p:nvCxnSpPr>
          <p:cNvPr id="137" name="直線單箭頭接點 136">
            <a:extLst>
              <a:ext uri="{FF2B5EF4-FFF2-40B4-BE49-F238E27FC236}">
                <a16:creationId xmlns:a16="http://schemas.microsoft.com/office/drawing/2014/main" xmlns="" id="{4C2B1276-06B9-E2EA-9FD1-D922936615B7}"/>
              </a:ext>
            </a:extLst>
          </p:cNvPr>
          <p:cNvCxnSpPr>
            <a:cxnSpLocks/>
            <a:endCxn id="131" idx="0"/>
          </p:cNvCxnSpPr>
          <p:nvPr/>
        </p:nvCxnSpPr>
        <p:spPr>
          <a:xfrm rot="5400000">
            <a:off x="10079244" y="5693585"/>
            <a:ext cx="1068113" cy="54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8" name="直線單箭頭接點 137">
            <a:extLst>
              <a:ext uri="{FF2B5EF4-FFF2-40B4-BE49-F238E27FC236}">
                <a16:creationId xmlns:a16="http://schemas.microsoft.com/office/drawing/2014/main" xmlns="" id="{8358A9BC-99C1-0844-3360-02305B1AEB36}"/>
              </a:ext>
            </a:extLst>
          </p:cNvPr>
          <p:cNvCxnSpPr>
            <a:cxnSpLocks/>
            <a:stCxn id="136" idx="2"/>
            <a:endCxn id="128" idx="0"/>
          </p:cNvCxnSpPr>
          <p:nvPr/>
        </p:nvCxnSpPr>
        <p:spPr>
          <a:xfrm rot="5400000">
            <a:off x="12250041" y="7927516"/>
            <a:ext cx="1582144" cy="15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139" name="群組 138"/>
          <p:cNvGrpSpPr/>
          <p:nvPr/>
        </p:nvGrpSpPr>
        <p:grpSpPr>
          <a:xfrm>
            <a:off x="7153007" y="8495605"/>
            <a:ext cx="1810800" cy="1217256"/>
            <a:chOff x="15073354" y="8308668"/>
            <a:chExt cx="1810800" cy="1217256"/>
          </a:xfrm>
        </p:grpSpPr>
        <p:sp>
          <p:nvSpPr>
            <p:cNvPr id="140" name="流程圖: 程序 139"/>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GB" altLang="zh-TW" sz="1500" b="1" dirty="0">
                  <a:latin typeface="微軟正黑體" panose="020B0604030504040204" pitchFamily="34" charset="-120"/>
                  <a:ea typeface="微軟正黑體" panose="020B0604030504040204" pitchFamily="34" charset="-120"/>
                </a:rPr>
                <a:t>MIGO</a:t>
              </a:r>
              <a:endParaRPr lang="en-GB" sz="1500" b="1" dirty="0">
                <a:latin typeface="微軟正黑體" panose="020B0604030504040204" pitchFamily="34" charset="-120"/>
                <a:ea typeface="微軟正黑體" panose="020B0604030504040204" pitchFamily="34" charset="-120"/>
              </a:endParaRPr>
            </a:p>
          </p:txBody>
        </p:sp>
        <p:sp>
          <p:nvSpPr>
            <p:cNvPr id="141" name="流程圖: 程序 140"/>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a:latin typeface="微軟正黑體" panose="020B0604030504040204" pitchFamily="34" charset="-120"/>
                  <a:ea typeface="微軟正黑體" panose="020B0604030504040204" pitchFamily="34" charset="-120"/>
                </a:rPr>
                <a:t>採購單退貨，</a:t>
              </a:r>
              <a:endParaRPr lang="en-US" altLang="zh-TW" sz="1500" dirty="0">
                <a:latin typeface="微軟正黑體" panose="020B0604030504040204" pitchFamily="34" charset="-120"/>
                <a:ea typeface="微軟正黑體" panose="020B0604030504040204" pitchFamily="34" charset="-120"/>
              </a:endParaRPr>
            </a:p>
            <a:p>
              <a:pPr algn="ctr"/>
              <a:r>
                <a:rPr lang="zh-TW" altLang="en-US" sz="1500" dirty="0">
                  <a:latin typeface="微軟正黑體" panose="020B0604030504040204" pitchFamily="34" charset="-120"/>
                  <a:ea typeface="微軟正黑體" panose="020B0604030504040204" pitchFamily="34" charset="-120"/>
                </a:rPr>
                <a:t>通知廠收退重送</a:t>
              </a:r>
              <a:endParaRPr lang="en-US" altLang="zh-TW" sz="1500" dirty="0">
                <a:latin typeface="微軟正黑體" panose="020B0604030504040204" pitchFamily="34" charset="-120"/>
                <a:ea typeface="微軟正黑體" panose="020B0604030504040204" pitchFamily="34" charset="-120"/>
              </a:endParaRPr>
            </a:p>
          </p:txBody>
        </p:sp>
        <p:sp>
          <p:nvSpPr>
            <p:cNvPr id="142" name="流程圖: 程序 141"/>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143" name="流程圖: 程序 142"/>
            <p:cNvSpPr/>
            <p:nvPr/>
          </p:nvSpPr>
          <p:spPr>
            <a:xfrm>
              <a:off x="15996112"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a:solidFill>
                    <a:schemeClr val="dk1"/>
                  </a:solidFill>
                  <a:latin typeface="微軟正黑體"/>
                  <a:ea typeface="微軟正黑體"/>
                </a:rPr>
                <a:t>手動</a:t>
              </a:r>
            </a:p>
          </p:txBody>
        </p:sp>
      </p:grpSp>
      <p:grpSp>
        <p:nvGrpSpPr>
          <p:cNvPr id="144" name="群組 143"/>
          <p:cNvGrpSpPr/>
          <p:nvPr/>
        </p:nvGrpSpPr>
        <p:grpSpPr>
          <a:xfrm>
            <a:off x="6962506" y="2524774"/>
            <a:ext cx="1810800" cy="1217256"/>
            <a:chOff x="15073354" y="8308668"/>
            <a:chExt cx="1810800" cy="1217256"/>
          </a:xfrm>
        </p:grpSpPr>
        <p:sp>
          <p:nvSpPr>
            <p:cNvPr id="145" name="流程圖: 程序 144"/>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GB" altLang="zh-TW" sz="1500" b="1" dirty="0">
                  <a:latin typeface="微軟正黑體" panose="020B0604030504040204" pitchFamily="34" charset="-120"/>
                  <a:ea typeface="微軟正黑體" panose="020B0604030504040204" pitchFamily="34" charset="-120"/>
                </a:rPr>
                <a:t>MIGO</a:t>
              </a:r>
              <a:endParaRPr lang="en-GB" sz="1500" b="1" dirty="0">
                <a:latin typeface="微軟正黑體" panose="020B0604030504040204" pitchFamily="34" charset="-120"/>
                <a:ea typeface="微軟正黑體" panose="020B0604030504040204" pitchFamily="34" charset="-120"/>
              </a:endParaRPr>
            </a:p>
          </p:txBody>
        </p:sp>
        <p:sp>
          <p:nvSpPr>
            <p:cNvPr id="146" name="流程圖: 程序 145"/>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a:latin typeface="微軟正黑體" panose="020B0604030504040204" pitchFamily="34" charset="-120"/>
                  <a:ea typeface="微軟正黑體" panose="020B0604030504040204" pitchFamily="34" charset="-120"/>
                </a:rPr>
                <a:t>採購單收貨</a:t>
              </a:r>
              <a:endParaRPr lang="en-US" altLang="zh-TW" sz="1500" dirty="0">
                <a:latin typeface="微軟正黑體" panose="020B0604030504040204" pitchFamily="34" charset="-120"/>
                <a:ea typeface="微軟正黑體" panose="020B0604030504040204" pitchFamily="34" charset="-120"/>
              </a:endParaRPr>
            </a:p>
          </p:txBody>
        </p:sp>
        <p:sp>
          <p:nvSpPr>
            <p:cNvPr id="147" name="流程圖: 程序 146"/>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148" name="流程圖: 程序 147"/>
            <p:cNvSpPr/>
            <p:nvPr/>
          </p:nvSpPr>
          <p:spPr>
            <a:xfrm>
              <a:off x="15996112"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a:solidFill>
                    <a:schemeClr val="dk1"/>
                  </a:solidFill>
                  <a:latin typeface="微軟正黑體"/>
                  <a:ea typeface="微軟正黑體"/>
                </a:rPr>
                <a:t>手動</a:t>
              </a:r>
            </a:p>
          </p:txBody>
        </p:sp>
      </p:grpSp>
      <p:grpSp>
        <p:nvGrpSpPr>
          <p:cNvPr id="149" name="群組 148"/>
          <p:cNvGrpSpPr/>
          <p:nvPr/>
        </p:nvGrpSpPr>
        <p:grpSpPr>
          <a:xfrm>
            <a:off x="9673045" y="4157625"/>
            <a:ext cx="1810800" cy="1217256"/>
            <a:chOff x="15073354" y="8308668"/>
            <a:chExt cx="1810800" cy="1217256"/>
          </a:xfrm>
        </p:grpSpPr>
        <p:sp>
          <p:nvSpPr>
            <p:cNvPr id="150" name="流程圖: 程序 149"/>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endParaRPr lang="en-GB" sz="1500" b="1" dirty="0">
                <a:latin typeface="微軟正黑體" panose="020B0604030504040204" pitchFamily="34" charset="-120"/>
                <a:ea typeface="微軟正黑體" panose="020B0604030504040204" pitchFamily="34" charset="-120"/>
              </a:endParaRPr>
            </a:p>
          </p:txBody>
        </p:sp>
        <p:sp>
          <p:nvSpPr>
            <p:cNvPr id="151" name="流程圖: 程序 150"/>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a:latin typeface="微軟正黑體" panose="020B0604030504040204" pitchFamily="34" charset="-120"/>
                  <a:ea typeface="微軟正黑體" panose="020B0604030504040204" pitchFamily="34" charset="-120"/>
                </a:rPr>
                <a:t>功能確認</a:t>
              </a:r>
              <a:endParaRPr lang="en-US" altLang="zh-TW" sz="1500" dirty="0">
                <a:latin typeface="微軟正黑體" panose="020B0604030504040204" pitchFamily="34" charset="-120"/>
                <a:ea typeface="微軟正黑體" panose="020B0604030504040204" pitchFamily="34" charset="-120"/>
              </a:endParaRPr>
            </a:p>
          </p:txBody>
        </p:sp>
        <p:sp>
          <p:nvSpPr>
            <p:cNvPr id="152" name="流程圖: 程序 151"/>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endParaRPr lang="zh-TW" altLang="en-US" sz="1500" spc="-1" dirty="0">
                <a:solidFill>
                  <a:schemeClr val="dk1"/>
                </a:solidFill>
                <a:latin typeface="微軟正黑體"/>
                <a:ea typeface="微軟正黑體"/>
              </a:endParaRPr>
            </a:p>
          </p:txBody>
        </p:sp>
        <p:sp>
          <p:nvSpPr>
            <p:cNvPr id="153" name="流程圖: 程序 152"/>
            <p:cNvSpPr/>
            <p:nvPr/>
          </p:nvSpPr>
          <p:spPr>
            <a:xfrm>
              <a:off x="15996112"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a:solidFill>
                    <a:schemeClr val="dk1"/>
                  </a:solidFill>
                  <a:latin typeface="微軟正黑體"/>
                  <a:ea typeface="微軟正黑體"/>
                </a:rPr>
                <a:t>手動</a:t>
              </a:r>
            </a:p>
          </p:txBody>
        </p:sp>
      </p:grpSp>
      <p:grpSp>
        <p:nvGrpSpPr>
          <p:cNvPr id="154" name="Group 220">
            <a:extLst>
              <a:ext uri="{FF2B5EF4-FFF2-40B4-BE49-F238E27FC236}">
                <a16:creationId xmlns:a16="http://schemas.microsoft.com/office/drawing/2014/main" xmlns="" id="{13E9951B-4A3E-E489-AE09-B89089F6F4B6}"/>
              </a:ext>
            </a:extLst>
          </p:cNvPr>
          <p:cNvGrpSpPr/>
          <p:nvPr/>
        </p:nvGrpSpPr>
        <p:grpSpPr>
          <a:xfrm>
            <a:off x="11220094" y="3854407"/>
            <a:ext cx="560606" cy="415761"/>
            <a:chOff x="5906472" y="1486857"/>
            <a:chExt cx="373737" cy="272361"/>
          </a:xfrm>
        </p:grpSpPr>
        <p:sp>
          <p:nvSpPr>
            <p:cNvPr id="155" name="Oval 221">
              <a:extLst>
                <a:ext uri="{FF2B5EF4-FFF2-40B4-BE49-F238E27FC236}">
                  <a16:creationId xmlns:a16="http://schemas.microsoft.com/office/drawing/2014/main" xmlns="" id="{658E3F42-D710-EA0A-760A-56D3E70DDA80}"/>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156" name="TextBox 222">
              <a:extLst>
                <a:ext uri="{FF2B5EF4-FFF2-40B4-BE49-F238E27FC236}">
                  <a16:creationId xmlns:a16="http://schemas.microsoft.com/office/drawing/2014/main" xmlns="" id="{04B45D44-738C-9015-C58C-EA8A042CC559}"/>
                </a:ext>
              </a:extLst>
            </p:cNvPr>
            <p:cNvSpPr txBox="1"/>
            <p:nvPr/>
          </p:nvSpPr>
          <p:spPr>
            <a:xfrm>
              <a:off x="5924609" y="1507079"/>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6</a:t>
              </a:r>
              <a:endParaRPr lang="zh-TW" altLang="en-US" sz="1500" dirty="0">
                <a:latin typeface="微軟正黑體" panose="020B0604030504040204" pitchFamily="34" charset="-120"/>
                <a:ea typeface="微軟正黑體" panose="020B0604030504040204" pitchFamily="34" charset="-120"/>
              </a:endParaRPr>
            </a:p>
          </p:txBody>
        </p:sp>
      </p:grpSp>
      <p:grpSp>
        <p:nvGrpSpPr>
          <p:cNvPr id="157" name="Group 220">
            <a:extLst>
              <a:ext uri="{FF2B5EF4-FFF2-40B4-BE49-F238E27FC236}">
                <a16:creationId xmlns:a16="http://schemas.microsoft.com/office/drawing/2014/main" xmlns="" id="{A1983CA1-988B-B586-6B79-EED6E53CD361}"/>
              </a:ext>
            </a:extLst>
          </p:cNvPr>
          <p:cNvGrpSpPr/>
          <p:nvPr/>
        </p:nvGrpSpPr>
        <p:grpSpPr>
          <a:xfrm>
            <a:off x="8518239" y="2301859"/>
            <a:ext cx="572532" cy="408542"/>
            <a:chOff x="5906472" y="1486857"/>
            <a:chExt cx="381688" cy="272361"/>
          </a:xfrm>
        </p:grpSpPr>
        <p:sp>
          <p:nvSpPr>
            <p:cNvPr id="158" name="Oval 221">
              <a:extLst>
                <a:ext uri="{FF2B5EF4-FFF2-40B4-BE49-F238E27FC236}">
                  <a16:creationId xmlns:a16="http://schemas.microsoft.com/office/drawing/2014/main" xmlns="" id="{C9A8929E-42CE-DCDD-06D7-93FEB4DAB3BB}"/>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159" name="TextBox 222">
              <a:extLst>
                <a:ext uri="{FF2B5EF4-FFF2-40B4-BE49-F238E27FC236}">
                  <a16:creationId xmlns:a16="http://schemas.microsoft.com/office/drawing/2014/main" xmlns="" id="{B52B9FCC-FC80-B8A2-DA40-E3EA863599DF}"/>
                </a:ext>
              </a:extLst>
            </p:cNvPr>
            <p:cNvSpPr txBox="1"/>
            <p:nvPr/>
          </p:nvSpPr>
          <p:spPr>
            <a:xfrm>
              <a:off x="5932560" y="1507079"/>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5</a:t>
              </a:r>
              <a:endParaRPr lang="zh-TW" altLang="en-US" sz="1500" dirty="0">
                <a:latin typeface="微軟正黑體" panose="020B0604030504040204" pitchFamily="34" charset="-120"/>
                <a:ea typeface="微軟正黑體" panose="020B0604030504040204" pitchFamily="34" charset="-120"/>
              </a:endParaRPr>
            </a:p>
          </p:txBody>
        </p:sp>
      </p:grpSp>
      <p:grpSp>
        <p:nvGrpSpPr>
          <p:cNvPr id="160" name="Group 220">
            <a:extLst>
              <a:ext uri="{FF2B5EF4-FFF2-40B4-BE49-F238E27FC236}">
                <a16:creationId xmlns:a16="http://schemas.microsoft.com/office/drawing/2014/main" xmlns="" id="{ADD1546F-75A2-0E22-F66E-32DFDB0DE746}"/>
              </a:ext>
            </a:extLst>
          </p:cNvPr>
          <p:cNvGrpSpPr/>
          <p:nvPr/>
        </p:nvGrpSpPr>
        <p:grpSpPr>
          <a:xfrm>
            <a:off x="8746107" y="8253326"/>
            <a:ext cx="559344" cy="415761"/>
            <a:chOff x="5906472" y="1486857"/>
            <a:chExt cx="372896" cy="272361"/>
          </a:xfrm>
        </p:grpSpPr>
        <p:sp>
          <p:nvSpPr>
            <p:cNvPr id="161" name="Oval 221">
              <a:extLst>
                <a:ext uri="{FF2B5EF4-FFF2-40B4-BE49-F238E27FC236}">
                  <a16:creationId xmlns:a16="http://schemas.microsoft.com/office/drawing/2014/main" xmlns="" id="{E638D9BF-33CE-140D-7D4D-42C18836B305}"/>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162" name="TextBox 222">
              <a:extLst>
                <a:ext uri="{FF2B5EF4-FFF2-40B4-BE49-F238E27FC236}">
                  <a16:creationId xmlns:a16="http://schemas.microsoft.com/office/drawing/2014/main" xmlns="" id="{454E1CB9-6ED4-AD5A-39EC-6D1B324BA26E}"/>
                </a:ext>
              </a:extLst>
            </p:cNvPr>
            <p:cNvSpPr txBox="1"/>
            <p:nvPr/>
          </p:nvSpPr>
          <p:spPr>
            <a:xfrm>
              <a:off x="5923768" y="1507079"/>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7</a:t>
              </a:r>
              <a:endParaRPr lang="zh-TW" altLang="en-US" sz="1500" dirty="0">
                <a:latin typeface="微軟正黑體" panose="020B0604030504040204" pitchFamily="34" charset="-120"/>
                <a:ea typeface="微軟正黑體" panose="020B0604030504040204" pitchFamily="34" charset="-120"/>
              </a:endParaRPr>
            </a:p>
          </p:txBody>
        </p:sp>
      </p:grpSp>
      <p:sp>
        <p:nvSpPr>
          <p:cNvPr id="166" name="文字方塊 17">
            <a:extLst>
              <a:ext uri="{FF2B5EF4-FFF2-40B4-BE49-F238E27FC236}">
                <a16:creationId xmlns:a16="http://schemas.microsoft.com/office/drawing/2014/main" xmlns="" id="{306A0461-FB0A-6B8E-26F4-F4121B822258}"/>
              </a:ext>
            </a:extLst>
          </p:cNvPr>
          <p:cNvSpPr txBox="1"/>
          <p:nvPr/>
        </p:nvSpPr>
        <p:spPr>
          <a:xfrm>
            <a:off x="9717582" y="1352457"/>
            <a:ext cx="2142598"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申請單位</a:t>
            </a:r>
          </a:p>
        </p:txBody>
      </p:sp>
      <p:sp>
        <p:nvSpPr>
          <p:cNvPr id="167" name="流程圖: 決策 50">
            <a:extLst>
              <a:ext uri="{FF2B5EF4-FFF2-40B4-BE49-F238E27FC236}">
                <a16:creationId xmlns:a16="http://schemas.microsoft.com/office/drawing/2014/main" xmlns="" id="{90AD232C-F7E6-105E-35B0-3783B1FD3A62}"/>
              </a:ext>
            </a:extLst>
          </p:cNvPr>
          <p:cNvSpPr/>
          <p:nvPr/>
        </p:nvSpPr>
        <p:spPr bwMode="auto">
          <a:xfrm>
            <a:off x="6994037" y="4451331"/>
            <a:ext cx="1841949" cy="597606"/>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設備類</a:t>
            </a:r>
          </a:p>
        </p:txBody>
      </p:sp>
      <p:sp>
        <p:nvSpPr>
          <p:cNvPr id="168" name="文字方塊 167">
            <a:extLst>
              <a:ext uri="{FF2B5EF4-FFF2-40B4-BE49-F238E27FC236}">
                <a16:creationId xmlns:a16="http://schemas.microsoft.com/office/drawing/2014/main" xmlns="" id="{1FF3F166-78C2-469B-04E2-59F70F345ADB}"/>
              </a:ext>
            </a:extLst>
          </p:cNvPr>
          <p:cNvSpPr txBox="1"/>
          <p:nvPr/>
        </p:nvSpPr>
        <p:spPr>
          <a:xfrm>
            <a:off x="8972018" y="4416328"/>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zh-TW" altLang="en-US" sz="1350" dirty="0"/>
          </a:p>
        </p:txBody>
      </p:sp>
      <p:cxnSp>
        <p:nvCxnSpPr>
          <p:cNvPr id="169" name="肘形接點 68">
            <a:extLst>
              <a:ext uri="{FF2B5EF4-FFF2-40B4-BE49-F238E27FC236}">
                <a16:creationId xmlns:a16="http://schemas.microsoft.com/office/drawing/2014/main" xmlns="" id="{A69FBE0A-7432-A6D7-9148-CCE6E8B4C592}"/>
              </a:ext>
            </a:extLst>
          </p:cNvPr>
          <p:cNvCxnSpPr>
            <a:cxnSpLocks/>
            <a:stCxn id="167" idx="2"/>
            <a:endCxn id="179" idx="0"/>
          </p:cNvCxnSpPr>
          <p:nvPr/>
        </p:nvCxnSpPr>
        <p:spPr>
          <a:xfrm rot="16200000" flipH="1">
            <a:off x="7616886" y="5347063"/>
            <a:ext cx="641841" cy="45588"/>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170" name="文字方塊 169">
            <a:extLst>
              <a:ext uri="{FF2B5EF4-FFF2-40B4-BE49-F238E27FC236}">
                <a16:creationId xmlns:a16="http://schemas.microsoft.com/office/drawing/2014/main" xmlns="" id="{1FF3F166-78C2-469B-04E2-59F70F345ADB}"/>
              </a:ext>
            </a:extLst>
          </p:cNvPr>
          <p:cNvSpPr txBox="1"/>
          <p:nvPr/>
        </p:nvSpPr>
        <p:spPr>
          <a:xfrm>
            <a:off x="7991318" y="5357548"/>
            <a:ext cx="788670" cy="300082"/>
          </a:xfrm>
          <a:prstGeom prst="rect">
            <a:avLst/>
          </a:prstGeom>
          <a:noFill/>
        </p:spPr>
        <p:txBody>
          <a:bodyPr wrap="square">
            <a:spAutoFit/>
          </a:bodyPr>
          <a:lstStyle/>
          <a:p>
            <a:r>
              <a:rPr lang="zh-TW" altLang="en-US" sz="1350" dirty="0"/>
              <a:t>否</a:t>
            </a:r>
          </a:p>
        </p:txBody>
      </p:sp>
      <p:cxnSp>
        <p:nvCxnSpPr>
          <p:cNvPr id="173" name="肘形接點 68">
            <a:extLst>
              <a:ext uri="{FF2B5EF4-FFF2-40B4-BE49-F238E27FC236}">
                <a16:creationId xmlns:a16="http://schemas.microsoft.com/office/drawing/2014/main" xmlns="" id="{A69FBE0A-7432-A6D7-9148-CCE6E8B4C592}"/>
              </a:ext>
            </a:extLst>
          </p:cNvPr>
          <p:cNvCxnSpPr>
            <a:cxnSpLocks/>
            <a:endCxn id="167" idx="0"/>
          </p:cNvCxnSpPr>
          <p:nvPr/>
        </p:nvCxnSpPr>
        <p:spPr>
          <a:xfrm rot="16200000" flipH="1">
            <a:off x="7561142" y="4097460"/>
            <a:ext cx="695757" cy="11983"/>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179" name="流程圖: 接點 51">
            <a:extLst>
              <a:ext uri="{FF2B5EF4-FFF2-40B4-BE49-F238E27FC236}">
                <a16:creationId xmlns:a16="http://schemas.microsoft.com/office/drawing/2014/main" xmlns="" id="{944BACEF-BBED-71A3-8511-08A8418C3665}"/>
              </a:ext>
            </a:extLst>
          </p:cNvPr>
          <p:cNvSpPr/>
          <p:nvPr/>
        </p:nvSpPr>
        <p:spPr bwMode="auto">
          <a:xfrm>
            <a:off x="7687927" y="5690778"/>
            <a:ext cx="545345"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B</a:t>
            </a:r>
            <a:endParaRPr lang="zh-TW" altLang="en-US" dirty="0">
              <a:latin typeface="微軟正黑體" panose="020B0604030504040204" pitchFamily="34" charset="-120"/>
              <a:ea typeface="微軟正黑體" panose="020B0604030504040204" pitchFamily="34" charset="-120"/>
            </a:endParaRPr>
          </a:p>
        </p:txBody>
      </p:sp>
      <p:sp>
        <p:nvSpPr>
          <p:cNvPr id="182" name="流程圖: 接點 51">
            <a:extLst>
              <a:ext uri="{FF2B5EF4-FFF2-40B4-BE49-F238E27FC236}">
                <a16:creationId xmlns:a16="http://schemas.microsoft.com/office/drawing/2014/main" xmlns="" id="{944BACEF-BBED-71A3-8511-08A8418C3665}"/>
              </a:ext>
            </a:extLst>
          </p:cNvPr>
          <p:cNvSpPr/>
          <p:nvPr/>
        </p:nvSpPr>
        <p:spPr bwMode="auto">
          <a:xfrm>
            <a:off x="12771555" y="5075741"/>
            <a:ext cx="545345"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B</a:t>
            </a:r>
            <a:endParaRPr lang="zh-TW" altLang="en-US" dirty="0">
              <a:latin typeface="微軟正黑體" panose="020B0604030504040204" pitchFamily="34" charset="-120"/>
              <a:ea typeface="微軟正黑體" panose="020B0604030504040204" pitchFamily="34" charset="-120"/>
            </a:endParaRPr>
          </a:p>
        </p:txBody>
      </p:sp>
      <p:cxnSp>
        <p:nvCxnSpPr>
          <p:cNvPr id="183" name="肘形接點 68">
            <a:extLst>
              <a:ext uri="{FF2B5EF4-FFF2-40B4-BE49-F238E27FC236}">
                <a16:creationId xmlns:a16="http://schemas.microsoft.com/office/drawing/2014/main" xmlns="" id="{A69FBE0A-7432-A6D7-9148-CCE6E8B4C592}"/>
              </a:ext>
            </a:extLst>
          </p:cNvPr>
          <p:cNvCxnSpPr>
            <a:cxnSpLocks/>
            <a:stCxn id="182" idx="4"/>
            <a:endCxn id="136" idx="0"/>
          </p:cNvCxnSpPr>
          <p:nvPr/>
        </p:nvCxnSpPr>
        <p:spPr>
          <a:xfrm rot="5400000">
            <a:off x="12865171" y="5718987"/>
            <a:ext cx="355000" cy="3115"/>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522869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4" name="Google Shape;204;p4"/>
          <p:cNvSpPr/>
          <p:nvPr/>
        </p:nvSpPr>
        <p:spPr>
          <a:xfrm>
            <a:off x="197114" y="1595423"/>
            <a:ext cx="17911883" cy="8399412"/>
          </a:xfrm>
          <a:prstGeom prst="rect">
            <a:avLst/>
          </a:prstGeom>
          <a:noFill/>
          <a:ln w="19050" cap="flat" cmpd="sng">
            <a:solidFill>
              <a:schemeClr val="dk1"/>
            </a:solidFill>
            <a:prstDash val="solid"/>
            <a:round/>
            <a:headEnd type="none" w="sm" len="sm"/>
            <a:tailEnd type="none" w="sm" len="sm"/>
          </a:ln>
        </p:spPr>
        <p:txBody>
          <a:bodyPr spcFirstLastPara="1" wrap="square" lIns="137138" tIns="68550" rIns="137138" bIns="68550" anchor="t" anchorCtr="0">
            <a:noAutofit/>
          </a:bodyPr>
          <a:lstStyle/>
          <a:p>
            <a:r>
              <a:rPr lang="en-US" sz="2400" dirty="0" err="1">
                <a:solidFill>
                  <a:schemeClr val="dk1"/>
                </a:solidFill>
                <a:latin typeface="Arial"/>
                <a:ea typeface="Arial"/>
                <a:cs typeface="Arial"/>
                <a:sym typeface="Arial"/>
              </a:rPr>
              <a:t>流程補充說明</a:t>
            </a:r>
            <a:r>
              <a:rPr lang="en-US" sz="2400" dirty="0">
                <a:solidFill>
                  <a:schemeClr val="dk1"/>
                </a:solidFill>
                <a:latin typeface="Arial"/>
                <a:ea typeface="Arial"/>
                <a:cs typeface="Arial"/>
                <a:sym typeface="Arial"/>
              </a:rPr>
              <a:t>: </a:t>
            </a:r>
            <a:endParaRPr sz="2700" dirty="0"/>
          </a:p>
          <a:p>
            <a:endParaRPr dirty="0">
              <a:solidFill>
                <a:schemeClr val="dk1"/>
              </a:solidFill>
              <a:latin typeface="Arial"/>
              <a:ea typeface="Arial"/>
              <a:cs typeface="Arial"/>
              <a:sym typeface="Arial"/>
            </a:endParaRPr>
          </a:p>
        </p:txBody>
      </p:sp>
      <p:sp>
        <p:nvSpPr>
          <p:cNvPr id="4" name="TextBox 53">
            <a:extLst>
              <a:ext uri="{FF2B5EF4-FFF2-40B4-BE49-F238E27FC236}">
                <a16:creationId xmlns:a16="http://schemas.microsoft.com/office/drawing/2014/main" xmlns="" id="{DF940026-96D7-3867-6425-C228DF3D29BF}"/>
              </a:ext>
            </a:extLst>
          </p:cNvPr>
          <p:cNvSpPr txBox="1"/>
          <p:nvPr/>
        </p:nvSpPr>
        <p:spPr>
          <a:xfrm>
            <a:off x="353408" y="2031265"/>
            <a:ext cx="17378475" cy="1200329"/>
          </a:xfrm>
          <a:prstGeom prst="rect">
            <a:avLst/>
          </a:prstGeom>
          <a:noFill/>
        </p:spPr>
        <p:txBody>
          <a:bodyPr wrap="square" rtlCol="0">
            <a:spAutoFit/>
          </a:bodyPr>
          <a:lstStyle/>
          <a:p>
            <a:r>
              <a:rPr lang="en-US" altLang="zh-TW" dirty="0">
                <a:latin typeface="微軟正黑體" panose="020B0604030504040204" pitchFamily="34" charset="-120"/>
                <a:ea typeface="微軟正黑體" panose="020B0604030504040204" pitchFamily="34" charset="-120"/>
              </a:rPr>
              <a:t>1</a:t>
            </a:r>
            <a:r>
              <a:rPr lang="zh-TW" altLang="en-US" dirty="0">
                <a:latin typeface="微軟正黑體" panose="020B0604030504040204" pitchFamily="34" charset="-120"/>
                <a:ea typeface="微軟正黑體" panose="020B0604030504040204" pitchFamily="34" charset="-120"/>
              </a:rPr>
              <a:t>、固定資產請購時，需要填內部訂單號碼作預算管理。</a:t>
            </a:r>
            <a:endParaRPr lang="en-US" altLang="zh-TW" dirty="0">
              <a:latin typeface="微軟正黑體" panose="020B0604030504040204" pitchFamily="34" charset="-120"/>
              <a:ea typeface="微軟正黑體" panose="020B0604030504040204" pitchFamily="34" charset="-120"/>
            </a:endParaRPr>
          </a:p>
          <a:p>
            <a:r>
              <a:rPr lang="en-US" altLang="zh-TW" dirty="0">
                <a:latin typeface="微軟正黑體" panose="020B0604030504040204" pitchFamily="34" charset="-120"/>
                <a:ea typeface="微軟正黑體" panose="020B0604030504040204" pitchFamily="34" charset="-120"/>
              </a:rPr>
              <a:t>2</a:t>
            </a:r>
            <a:r>
              <a:rPr lang="zh-TW" altLang="en-US" dirty="0">
                <a:latin typeface="微軟正黑體" panose="020B0604030504040204" pitchFamily="34" charset="-120"/>
                <a:ea typeface="微軟正黑體" panose="020B0604030504040204" pitchFamily="34" charset="-120"/>
              </a:rPr>
              <a:t>、機器設備</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楦頭 以外的固定資產不需要建料號</a:t>
            </a:r>
            <a:endParaRPr lang="en-US" altLang="zh-TW" dirty="0">
              <a:latin typeface="微軟正黑體" panose="020B0604030504040204" pitchFamily="34" charset="-120"/>
              <a:ea typeface="微軟正黑體" panose="020B0604030504040204" pitchFamily="34" charset="-120"/>
            </a:endParaRPr>
          </a:p>
          <a:p>
            <a:r>
              <a:rPr lang="en-US" altLang="zh-TW" dirty="0">
                <a:latin typeface="微軟正黑體" panose="020B0604030504040204" pitchFamily="34" charset="-120"/>
                <a:ea typeface="微軟正黑體" panose="020B0604030504040204" pitchFamily="34" charset="-120"/>
              </a:rPr>
              <a:t>3</a:t>
            </a:r>
            <a:r>
              <a:rPr lang="zh-TW" altLang="en-US" dirty="0">
                <a:latin typeface="微軟正黑體" panose="020B0604030504040204" pitchFamily="34" charset="-120"/>
                <a:ea typeface="微軟正黑體" panose="020B0604030504040204" pitchFamily="34" charset="-120"/>
              </a:rPr>
              <a:t>、物料群組自動帶出資產類型如下</a:t>
            </a:r>
            <a:r>
              <a:rPr lang="en-US" altLang="zh-TW" dirty="0">
                <a:latin typeface="微軟正黑體" panose="020B0604030504040204" pitchFamily="34" charset="-120"/>
                <a:ea typeface="微軟正黑體" panose="020B0604030504040204" pitchFamily="34" charset="-120"/>
              </a:rPr>
              <a:t>:</a:t>
            </a:r>
          </a:p>
          <a:p>
            <a:endParaRPr lang="en-US" altLang="zh-TW" dirty="0">
              <a:latin typeface="微軟正黑體" panose="020B0604030504040204" pitchFamily="34" charset="-120"/>
              <a:ea typeface="微軟正黑體" panose="020B0604030504040204" pitchFamily="34" charset="-120"/>
            </a:endParaRPr>
          </a:p>
        </p:txBody>
      </p:sp>
      <p:sp>
        <p:nvSpPr>
          <p:cNvPr id="5" name="Google Shape;198;p3"/>
          <p:cNvSpPr txBox="1">
            <a:spLocks/>
          </p:cNvSpPr>
          <p:nvPr/>
        </p:nvSpPr>
        <p:spPr>
          <a:xfrm>
            <a:off x="15372522" y="483437"/>
            <a:ext cx="308925" cy="218927"/>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9pPr>
          </a:lstStyle>
          <a:p>
            <a:r>
              <a:rPr lang="en-US" sz="1500" dirty="0"/>
              <a:t>9</a:t>
            </a:r>
          </a:p>
        </p:txBody>
      </p:sp>
      <p:graphicFrame>
        <p:nvGraphicFramePr>
          <p:cNvPr id="2" name="表格 1"/>
          <p:cNvGraphicFramePr>
            <a:graphicFrameLocks noGrp="1"/>
          </p:cNvGraphicFramePr>
          <p:nvPr>
            <p:extLst>
              <p:ext uri="{D42A27DB-BD31-4B8C-83A1-F6EECF244321}">
                <p14:modId xmlns:p14="http://schemas.microsoft.com/office/powerpoint/2010/main" val="3051913814"/>
              </p:ext>
            </p:extLst>
          </p:nvPr>
        </p:nvGraphicFramePr>
        <p:xfrm>
          <a:off x="923454" y="3012506"/>
          <a:ext cx="6960265" cy="6567656"/>
        </p:xfrm>
        <a:graphic>
          <a:graphicData uri="http://schemas.openxmlformats.org/drawingml/2006/table">
            <a:tbl>
              <a:tblPr/>
              <a:tblGrid>
                <a:gridCol w="1257300">
                  <a:extLst>
                    <a:ext uri="{9D8B030D-6E8A-4147-A177-3AD203B41FA5}">
                      <a16:colId xmlns:a16="http://schemas.microsoft.com/office/drawing/2014/main" xmlns="" val="20000"/>
                    </a:ext>
                  </a:extLst>
                </a:gridCol>
                <a:gridCol w="3162300">
                  <a:extLst>
                    <a:ext uri="{9D8B030D-6E8A-4147-A177-3AD203B41FA5}">
                      <a16:colId xmlns:a16="http://schemas.microsoft.com/office/drawing/2014/main" xmlns="" val="20001"/>
                    </a:ext>
                  </a:extLst>
                </a:gridCol>
                <a:gridCol w="1025942">
                  <a:extLst>
                    <a:ext uri="{9D8B030D-6E8A-4147-A177-3AD203B41FA5}">
                      <a16:colId xmlns:a16="http://schemas.microsoft.com/office/drawing/2014/main" xmlns="" val="20002"/>
                    </a:ext>
                  </a:extLst>
                </a:gridCol>
                <a:gridCol w="1514723">
                  <a:extLst>
                    <a:ext uri="{9D8B030D-6E8A-4147-A177-3AD203B41FA5}">
                      <a16:colId xmlns:a16="http://schemas.microsoft.com/office/drawing/2014/main" xmlns="" val="20003"/>
                    </a:ext>
                  </a:extLst>
                </a:gridCol>
              </a:tblGrid>
              <a:tr h="345926">
                <a:tc>
                  <a:txBody>
                    <a:bodyPr/>
                    <a:lstStyle/>
                    <a:p>
                      <a:pPr algn="ctr" fontAlgn="ctr"/>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物料群組</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說明</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t"/>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資產類型</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t"/>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分期資產類型</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xmlns="" val="10000"/>
                  </a:ext>
                </a:extLst>
              </a:tr>
              <a:tr h="371475">
                <a:tc>
                  <a:txBody>
                    <a:bodyPr/>
                    <a:lstStyle/>
                    <a:p>
                      <a:pPr algn="ctr" fontAlgn="b"/>
                      <a:r>
                        <a:rPr lang="en-US" sz="2100" b="0" i="0" u="none" strike="noStrike" dirty="0">
                          <a:solidFill>
                            <a:srgbClr val="000000"/>
                          </a:solidFill>
                          <a:effectLst/>
                          <a:latin typeface="微軟正黑體" panose="020B0604030504040204" pitchFamily="34" charset="-120"/>
                          <a:ea typeface="微軟正黑體" panose="020B0604030504040204" pitchFamily="34" charset="-120"/>
                        </a:rPr>
                        <a:t>AA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TW" altLang="en-US" sz="2100" b="0" i="0" u="none" strike="noStrike" dirty="0">
                          <a:solidFill>
                            <a:srgbClr val="000000"/>
                          </a:solidFill>
                          <a:effectLst/>
                          <a:latin typeface="微軟正黑體" panose="020B0604030504040204" pitchFamily="34" charset="-120"/>
                          <a:ea typeface="微軟正黑體" panose="020B0604030504040204" pitchFamily="34" charset="-120"/>
                        </a:rPr>
                        <a:t>土地</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371475">
                <a:tc>
                  <a:txBody>
                    <a:bodyPr/>
                    <a:lstStyle/>
                    <a:p>
                      <a:pPr algn="ctr" fontAlgn="b"/>
                      <a:r>
                        <a:rPr lang="en-US" sz="2100" b="0" i="0" u="none" strike="noStrike" dirty="0">
                          <a:solidFill>
                            <a:srgbClr val="000000"/>
                          </a:solidFill>
                          <a:effectLst/>
                          <a:latin typeface="微軟正黑體" panose="020B0604030504040204" pitchFamily="34" charset="-120"/>
                          <a:ea typeface="微軟正黑體" panose="020B0604030504040204" pitchFamily="34" charset="-120"/>
                        </a:rPr>
                        <a:t>AB</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TW" altLang="en-US" sz="2100" b="0" i="0" u="none" strike="noStrike" dirty="0">
                          <a:solidFill>
                            <a:srgbClr val="000000"/>
                          </a:solidFill>
                          <a:effectLst/>
                          <a:latin typeface="微軟正黑體" panose="020B0604030504040204" pitchFamily="34" charset="-120"/>
                          <a:ea typeface="微軟正黑體" panose="020B0604030504040204" pitchFamily="34" charset="-120"/>
                        </a:rPr>
                        <a:t>房屋及建築</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r h="371475">
                <a:tc>
                  <a:txBody>
                    <a:bodyPr/>
                    <a:lstStyle/>
                    <a:p>
                      <a:pPr algn="ctr" fontAlgn="b"/>
                      <a:r>
                        <a:rPr lang="en-US" sz="2100" b="0" i="0" u="none" strike="noStrike" dirty="0">
                          <a:solidFill>
                            <a:srgbClr val="000000"/>
                          </a:solidFill>
                          <a:effectLst/>
                          <a:latin typeface="微軟正黑體" panose="020B0604030504040204" pitchFamily="34" charset="-120"/>
                          <a:ea typeface="微軟正黑體" panose="020B0604030504040204" pitchFamily="34" charset="-120"/>
                        </a:rPr>
                        <a:t>AD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TW" altLang="en-US" sz="2100" b="0" i="0" u="none" strike="noStrike" dirty="0">
                          <a:solidFill>
                            <a:srgbClr val="000000"/>
                          </a:solidFill>
                          <a:effectLst/>
                          <a:latin typeface="微軟正黑體" panose="020B0604030504040204" pitchFamily="34" charset="-120"/>
                          <a:ea typeface="微軟正黑體" panose="020B0604030504040204" pitchFamily="34" charset="-120"/>
                        </a:rPr>
                        <a:t>運輸設備</a:t>
                      </a:r>
                      <a:r>
                        <a:rPr lang="en-US" altLang="zh-TW" sz="21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2100" b="0" i="0" u="none" strike="noStrike" dirty="0">
                          <a:solidFill>
                            <a:srgbClr val="000000"/>
                          </a:solidFill>
                          <a:effectLst/>
                          <a:latin typeface="微軟正黑體" panose="020B0604030504040204" pitchFamily="34" charset="-120"/>
                          <a:ea typeface="微軟正黑體" panose="020B0604030504040204" pitchFamily="34" charset="-120"/>
                        </a:rPr>
                        <a:t>交通設備</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r h="371475">
                <a:tc>
                  <a:txBody>
                    <a:bodyPr/>
                    <a:lstStyle/>
                    <a:p>
                      <a:pPr algn="ctr" fontAlgn="b"/>
                      <a:r>
                        <a:rPr lang="en-US" sz="2100" b="0" i="0" u="none" strike="noStrike" dirty="0">
                          <a:solidFill>
                            <a:srgbClr val="000000"/>
                          </a:solidFill>
                          <a:effectLst/>
                          <a:latin typeface="微軟正黑體" panose="020B0604030504040204" pitchFamily="34" charset="-120"/>
                          <a:ea typeface="微軟正黑體" panose="020B0604030504040204" pitchFamily="34" charset="-120"/>
                        </a:rPr>
                        <a:t>AE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TW" altLang="en-US" sz="2100" b="0" i="0" u="none" strike="noStrike" dirty="0">
                          <a:solidFill>
                            <a:srgbClr val="000000"/>
                          </a:solidFill>
                          <a:effectLst/>
                          <a:latin typeface="微軟正黑體" panose="020B0604030504040204" pitchFamily="34" charset="-120"/>
                          <a:ea typeface="微軟正黑體" panose="020B0604030504040204" pitchFamily="34" charset="-120"/>
                        </a:rPr>
                        <a:t>電器設備</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4"/>
                  </a:ext>
                </a:extLst>
              </a:tr>
              <a:tr h="371475">
                <a:tc>
                  <a:txBody>
                    <a:bodyPr/>
                    <a:lstStyle/>
                    <a:p>
                      <a:pPr algn="ctr" fontAlgn="b"/>
                      <a:r>
                        <a:rPr lang="en-US" sz="2100" b="0" i="0" u="none" strike="noStrike" dirty="0">
                          <a:solidFill>
                            <a:srgbClr val="000000"/>
                          </a:solidFill>
                          <a:effectLst/>
                          <a:latin typeface="微軟正黑體" panose="020B0604030504040204" pitchFamily="34" charset="-120"/>
                          <a:ea typeface="微軟正黑體" panose="020B0604030504040204" pitchFamily="34" charset="-120"/>
                        </a:rPr>
                        <a:t>AF</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TW" altLang="en-US" sz="2100" b="0" i="0" u="none" strike="noStrike" dirty="0">
                          <a:solidFill>
                            <a:srgbClr val="000000"/>
                          </a:solidFill>
                          <a:effectLst/>
                          <a:latin typeface="微軟正黑體" panose="020B0604030504040204" pitchFamily="34" charset="-120"/>
                          <a:ea typeface="微軟正黑體" panose="020B0604030504040204" pitchFamily="34" charset="-120"/>
                        </a:rPr>
                        <a:t>生財設備</a:t>
                      </a:r>
                      <a:r>
                        <a:rPr lang="en-US" altLang="zh-TW" sz="21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2100" b="0" i="0" u="none" strike="noStrike" dirty="0">
                          <a:solidFill>
                            <a:srgbClr val="000000"/>
                          </a:solidFill>
                          <a:effectLst/>
                          <a:latin typeface="微軟正黑體" panose="020B0604030504040204" pitchFamily="34" charset="-120"/>
                          <a:ea typeface="微軟正黑體" panose="020B0604030504040204" pitchFamily="34" charset="-120"/>
                        </a:rPr>
                        <a:t>辦公設備</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F</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5"/>
                  </a:ext>
                </a:extLst>
              </a:tr>
              <a:tr h="371475">
                <a:tc>
                  <a:txBody>
                    <a:bodyPr/>
                    <a:lstStyle/>
                    <a:p>
                      <a:pPr algn="ctr" fontAlgn="b"/>
                      <a:r>
                        <a:rPr lang="en-US" sz="2100" b="0" i="0" u="none" strike="noStrike" dirty="0">
                          <a:solidFill>
                            <a:srgbClr val="000000"/>
                          </a:solidFill>
                          <a:effectLst/>
                          <a:latin typeface="微軟正黑體" panose="020B0604030504040204" pitchFamily="34" charset="-120"/>
                          <a:ea typeface="微軟正黑體" panose="020B0604030504040204" pitchFamily="34" charset="-120"/>
                        </a:rPr>
                        <a:t>AG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TW" altLang="en-US" sz="2100" b="0" i="0" u="none" strike="noStrike" dirty="0">
                          <a:solidFill>
                            <a:srgbClr val="000000"/>
                          </a:solidFill>
                          <a:effectLst/>
                          <a:latin typeface="微軟正黑體" panose="020B0604030504040204" pitchFamily="34" charset="-120"/>
                          <a:ea typeface="微軟正黑體" panose="020B0604030504040204" pitchFamily="34" charset="-120"/>
                        </a:rPr>
                        <a:t>其他設備</a:t>
                      </a:r>
                      <a:r>
                        <a:rPr lang="en-US" altLang="zh-TW" sz="21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2100" b="0" i="0" u="none" strike="noStrike" dirty="0">
                          <a:solidFill>
                            <a:srgbClr val="000000"/>
                          </a:solidFill>
                          <a:effectLst/>
                          <a:latin typeface="微軟正黑體" panose="020B0604030504040204" pitchFamily="34" charset="-120"/>
                          <a:ea typeface="微軟正黑體" panose="020B0604030504040204" pitchFamily="34" charset="-120"/>
                        </a:rPr>
                        <a:t>雜項</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6"/>
                  </a:ext>
                </a:extLst>
              </a:tr>
              <a:tr h="371475">
                <a:tc>
                  <a:txBody>
                    <a:bodyPr/>
                    <a:lstStyle/>
                    <a:p>
                      <a:pPr algn="ctr" fontAlgn="b"/>
                      <a:r>
                        <a:rPr lang="en-US" sz="2100" b="0" i="0" u="none" strike="noStrike" dirty="0">
                          <a:solidFill>
                            <a:srgbClr val="000000"/>
                          </a:solidFill>
                          <a:effectLst/>
                          <a:latin typeface="微軟正黑體" panose="020B0604030504040204" pitchFamily="34" charset="-120"/>
                          <a:ea typeface="微軟正黑體" panose="020B0604030504040204" pitchFamily="34" charset="-120"/>
                        </a:rPr>
                        <a:t>AH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TW" altLang="en-US" sz="2100" b="0" i="0" u="none" strike="noStrike" dirty="0">
                          <a:solidFill>
                            <a:srgbClr val="000000"/>
                          </a:solidFill>
                          <a:effectLst/>
                          <a:latin typeface="微軟正黑體" panose="020B0604030504040204" pitchFamily="34" charset="-120"/>
                          <a:ea typeface="微軟正黑體" panose="020B0604030504040204" pitchFamily="34" charset="-120"/>
                        </a:rPr>
                        <a:t>電腦設備</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H</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7"/>
                  </a:ext>
                </a:extLst>
              </a:tr>
              <a:tr h="371475">
                <a:tc>
                  <a:txBody>
                    <a:bodyPr/>
                    <a:lstStyle/>
                    <a:p>
                      <a:pPr algn="ctr" fontAlgn="b"/>
                      <a:r>
                        <a:rPr lang="en-US" sz="2100" b="0" i="0" u="none" strike="noStrike" dirty="0">
                          <a:solidFill>
                            <a:srgbClr val="000000"/>
                          </a:solidFill>
                          <a:effectLst/>
                          <a:latin typeface="微軟正黑體" panose="020B0604030504040204" pitchFamily="34" charset="-120"/>
                          <a:ea typeface="微軟正黑體" panose="020B0604030504040204" pitchFamily="34" charset="-120"/>
                        </a:rPr>
                        <a:t>AI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TW" altLang="en-US" sz="2100" b="0" i="0" u="none" strike="noStrike" dirty="0">
                          <a:solidFill>
                            <a:srgbClr val="FF0000"/>
                          </a:solidFill>
                          <a:effectLst/>
                          <a:latin typeface="微軟正黑體" panose="020B0604030504040204" pitchFamily="34" charset="-120"/>
                          <a:ea typeface="微軟正黑體" panose="020B0604030504040204" pitchFamily="34" charset="-120"/>
                        </a:rPr>
                        <a:t>雜項設備</a:t>
                      </a:r>
                      <a:r>
                        <a:rPr lang="en-US" altLang="zh-TW" sz="2100" b="0" i="0" u="none" strike="noStrike" dirty="0">
                          <a:solidFill>
                            <a:srgbClr val="FF0000"/>
                          </a:solidFill>
                          <a:effectLst/>
                          <a:latin typeface="微軟正黑體" panose="020B0604030504040204" pitchFamily="34" charset="-120"/>
                          <a:ea typeface="微軟正黑體" panose="020B0604030504040204" pitchFamily="34" charset="-120"/>
                        </a:rPr>
                        <a:t>(</a:t>
                      </a:r>
                      <a:r>
                        <a:rPr lang="en-US" sz="2100" b="0" i="0" u="none" strike="noStrike" dirty="0">
                          <a:solidFill>
                            <a:srgbClr val="FF0000"/>
                          </a:solidFill>
                          <a:effectLst/>
                          <a:latin typeface="微軟正黑體" panose="020B0604030504040204" pitchFamily="34" charset="-120"/>
                          <a:ea typeface="微軟正黑體" panose="020B0604030504040204" pitchFamily="34" charset="-120"/>
                        </a:rPr>
                        <a:t>VN)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I</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8"/>
                  </a:ext>
                </a:extLst>
              </a:tr>
              <a:tr h="371475">
                <a:tc>
                  <a:txBody>
                    <a:bodyPr/>
                    <a:lstStyle/>
                    <a:p>
                      <a:pPr algn="ctr" fontAlgn="b"/>
                      <a:r>
                        <a:rPr lang="en-US" sz="2100" b="0" i="0" u="none" strike="noStrike" dirty="0">
                          <a:solidFill>
                            <a:srgbClr val="000000"/>
                          </a:solidFill>
                          <a:effectLst/>
                          <a:latin typeface="微軟正黑體" panose="020B0604030504040204" pitchFamily="34" charset="-120"/>
                          <a:ea typeface="微軟正黑體" panose="020B0604030504040204" pitchFamily="34" charset="-120"/>
                        </a:rPr>
                        <a:t>AK</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TW" altLang="en-US" sz="2100" b="0" i="0" u="none" strike="noStrike" dirty="0">
                          <a:solidFill>
                            <a:srgbClr val="000000"/>
                          </a:solidFill>
                          <a:effectLst/>
                          <a:latin typeface="微軟正黑體" panose="020B0604030504040204" pitchFamily="34" charset="-120"/>
                          <a:ea typeface="微軟正黑體" panose="020B0604030504040204" pitchFamily="34" charset="-120"/>
                        </a:rPr>
                        <a:t>無形資產</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9"/>
                  </a:ext>
                </a:extLst>
              </a:tr>
              <a:tr h="371475">
                <a:tc>
                  <a:txBody>
                    <a:bodyPr/>
                    <a:lstStyle/>
                    <a:p>
                      <a:pPr algn="ctr" fontAlgn="b"/>
                      <a:r>
                        <a:rPr lang="en-US" sz="2100" b="0" i="0" u="none" strike="noStrike" dirty="0">
                          <a:solidFill>
                            <a:srgbClr val="000000"/>
                          </a:solidFill>
                          <a:effectLst/>
                          <a:latin typeface="微軟正黑體" panose="020B0604030504040204" pitchFamily="34" charset="-120"/>
                          <a:ea typeface="微軟正黑體" panose="020B0604030504040204" pitchFamily="34" charset="-120"/>
                        </a:rPr>
                        <a:t>AL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TW" altLang="en-US" sz="2100" b="0" i="0" u="none" strike="noStrike" dirty="0">
                          <a:solidFill>
                            <a:srgbClr val="000000"/>
                          </a:solidFill>
                          <a:effectLst/>
                          <a:latin typeface="微軟正黑體" panose="020B0604030504040204" pitchFamily="34" charset="-120"/>
                          <a:ea typeface="微軟正黑體" panose="020B0604030504040204" pitchFamily="34" charset="-120"/>
                        </a:rPr>
                        <a:t>未攤銷費用</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10"/>
                  </a:ext>
                </a:extLst>
              </a:tr>
              <a:tr h="371475">
                <a:tc>
                  <a:txBody>
                    <a:bodyPr/>
                    <a:lstStyle/>
                    <a:p>
                      <a:pPr algn="ctr" fontAlgn="b"/>
                      <a:r>
                        <a:rPr lang="en-US" sz="2100" b="0" i="0" u="none" strike="noStrike" dirty="0">
                          <a:solidFill>
                            <a:srgbClr val="000000"/>
                          </a:solidFill>
                          <a:effectLst/>
                          <a:latin typeface="微軟正黑體" panose="020B0604030504040204" pitchFamily="34" charset="-120"/>
                          <a:ea typeface="微軟正黑體" panose="020B0604030504040204" pitchFamily="34" charset="-120"/>
                        </a:rPr>
                        <a:t>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TW" altLang="en-US" sz="2100" b="0" i="0" u="none" strike="noStrike" dirty="0">
                          <a:solidFill>
                            <a:srgbClr val="000000"/>
                          </a:solidFill>
                          <a:effectLst/>
                          <a:latin typeface="微軟正黑體" panose="020B0604030504040204" pitchFamily="34" charset="-120"/>
                          <a:ea typeface="微軟正黑體" panose="020B0604030504040204" pitchFamily="34" charset="-120"/>
                        </a:rPr>
                        <a:t>預付設備款</a:t>
                      </a:r>
                      <a:r>
                        <a:rPr lang="en-US" altLang="zh-TW" sz="21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2100" b="0" i="0" u="none" strike="noStrike" dirty="0">
                          <a:solidFill>
                            <a:srgbClr val="000000"/>
                          </a:solidFill>
                          <a:effectLst/>
                          <a:latin typeface="微軟正黑體" panose="020B0604030504040204" pitchFamily="34" charset="-120"/>
                          <a:ea typeface="微軟正黑體" panose="020B0604030504040204" pitchFamily="34" charset="-120"/>
                        </a:rPr>
                        <a:t>有分期機器</a:t>
                      </a:r>
                      <a:r>
                        <a:rPr lang="en-US" altLang="zh-TW" sz="2100" b="0" i="0" u="none" strike="noStrike" dirty="0">
                          <a:solidFill>
                            <a:srgbClr val="000000"/>
                          </a:solidFill>
                          <a:effectLst/>
                          <a:latin typeface="微軟正黑體" panose="020B0604030504040204" pitchFamily="34" charset="-120"/>
                          <a:ea typeface="微軟正黑體" panose="020B0604030504040204" pitchFamily="34" charset="-120"/>
                        </a:rPr>
                        <a: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11"/>
                  </a:ext>
                </a:extLst>
              </a:tr>
              <a:tr h="371475">
                <a:tc>
                  <a:txBody>
                    <a:bodyPr/>
                    <a:lstStyle/>
                    <a:p>
                      <a:pPr algn="ctr" fontAlgn="b"/>
                      <a:r>
                        <a:rPr lang="en-US" sz="2100" b="0" i="0" u="none" strike="noStrike" dirty="0">
                          <a:solidFill>
                            <a:srgbClr val="000000"/>
                          </a:solidFill>
                          <a:effectLst/>
                          <a:latin typeface="微軟正黑體" panose="020B0604030504040204" pitchFamily="34" charset="-120"/>
                          <a:ea typeface="微軟正黑體" panose="020B0604030504040204" pitchFamily="34" charset="-120"/>
                        </a:rPr>
                        <a:t>AN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TW" altLang="en-US" sz="2100" b="0" i="0" u="none" strike="noStrike" dirty="0">
                          <a:solidFill>
                            <a:srgbClr val="000000"/>
                          </a:solidFill>
                          <a:effectLst/>
                          <a:latin typeface="微軟正黑體" panose="020B0604030504040204" pitchFamily="34" charset="-120"/>
                          <a:ea typeface="微軟正黑體" panose="020B0604030504040204" pitchFamily="34" charset="-120"/>
                        </a:rPr>
                        <a:t>預付土地款</a:t>
                      </a:r>
                      <a:r>
                        <a:rPr lang="en-US" altLang="zh-TW" sz="21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2100" b="0" i="0" u="none" strike="noStrike" dirty="0">
                          <a:solidFill>
                            <a:srgbClr val="000000"/>
                          </a:solidFill>
                          <a:effectLst/>
                          <a:latin typeface="微軟正黑體" panose="020B0604030504040204" pitchFamily="34" charset="-120"/>
                          <a:ea typeface="微軟正黑體" panose="020B0604030504040204" pitchFamily="34" charset="-120"/>
                        </a:rPr>
                        <a:t>有分期土地</a:t>
                      </a:r>
                      <a:r>
                        <a:rPr lang="en-US" altLang="zh-TW" sz="2100" b="0" i="0" u="none" strike="noStrike" dirty="0">
                          <a:solidFill>
                            <a:srgbClr val="000000"/>
                          </a:solidFill>
                          <a:effectLst/>
                          <a:latin typeface="微軟正黑體" panose="020B0604030504040204" pitchFamily="34" charset="-120"/>
                          <a:ea typeface="微軟正黑體" panose="020B0604030504040204" pitchFamily="34" charset="-120"/>
                        </a:rPr>
                        <a: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12"/>
                  </a:ext>
                </a:extLst>
              </a:tr>
              <a:tr h="649605">
                <a:tc>
                  <a:txBody>
                    <a:bodyPr/>
                    <a:lstStyle/>
                    <a:p>
                      <a:pPr algn="ctr" fontAlgn="b"/>
                      <a:r>
                        <a:rPr lang="en-US" sz="2100" b="0" i="0" u="none" strike="noStrike" dirty="0">
                          <a:solidFill>
                            <a:srgbClr val="000000"/>
                          </a:solidFill>
                          <a:effectLst/>
                          <a:latin typeface="微軟正黑體" panose="020B0604030504040204" pitchFamily="34" charset="-120"/>
                          <a:ea typeface="微軟正黑體" panose="020B0604030504040204" pitchFamily="34" charset="-120"/>
                        </a:rPr>
                        <a:t>AO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TW" altLang="en-US" sz="2100" b="0" i="0" u="none" strike="noStrike" dirty="0">
                          <a:solidFill>
                            <a:srgbClr val="000000"/>
                          </a:solidFill>
                          <a:effectLst/>
                          <a:latin typeface="微軟正黑體" panose="020B0604030504040204" pitchFamily="34" charset="-120"/>
                          <a:ea typeface="微軟正黑體" panose="020B0604030504040204" pitchFamily="34" charset="-120"/>
                        </a:rPr>
                        <a:t>未完成工程</a:t>
                      </a:r>
                      <a:r>
                        <a:rPr lang="en-US" altLang="zh-TW" sz="21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2100" b="0" i="0" u="none" strike="noStrike" dirty="0">
                          <a:solidFill>
                            <a:srgbClr val="000000"/>
                          </a:solidFill>
                          <a:effectLst/>
                          <a:latin typeface="微軟正黑體" panose="020B0604030504040204" pitchFamily="34" charset="-120"/>
                          <a:ea typeface="微軟正黑體" panose="020B0604030504040204" pitchFamily="34" charset="-120"/>
                        </a:rPr>
                        <a:t>有分期房屋及建築</a:t>
                      </a:r>
                      <a:r>
                        <a:rPr lang="en-US" altLang="zh-TW" sz="2100" b="0" i="0" u="none" strike="noStrike" dirty="0">
                          <a:solidFill>
                            <a:srgbClr val="000000"/>
                          </a:solidFill>
                          <a:effectLst/>
                          <a:latin typeface="微軟正黑體" panose="020B0604030504040204" pitchFamily="34" charset="-120"/>
                          <a:ea typeface="微軟正黑體" panose="020B0604030504040204" pitchFamily="34" charset="-120"/>
                        </a:rPr>
                        <a: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13"/>
                  </a:ext>
                </a:extLst>
              </a:tr>
              <a:tr h="371475">
                <a:tc>
                  <a:txBody>
                    <a:bodyPr/>
                    <a:lstStyle/>
                    <a:p>
                      <a:pPr algn="ctr" fontAlgn="b"/>
                      <a:r>
                        <a:rPr lang="en-US" sz="2100" b="0" i="0" u="none" strike="noStrike" dirty="0">
                          <a:solidFill>
                            <a:srgbClr val="000000"/>
                          </a:solidFill>
                          <a:effectLst/>
                          <a:latin typeface="微軟正黑體" panose="020B0604030504040204" pitchFamily="34" charset="-120"/>
                          <a:ea typeface="微軟正黑體" panose="020B0604030504040204" pitchFamily="34" charset="-120"/>
                        </a:rPr>
                        <a:t>AC</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TW" altLang="en-US" sz="2100" b="0" i="0" u="none" strike="noStrike" dirty="0">
                          <a:solidFill>
                            <a:srgbClr val="000000"/>
                          </a:solidFill>
                          <a:effectLst/>
                          <a:latin typeface="微軟正黑體" panose="020B0604030504040204" pitchFamily="34" charset="-120"/>
                          <a:ea typeface="微軟正黑體" panose="020B0604030504040204" pitchFamily="34" charset="-120"/>
                        </a:rPr>
                        <a:t>機器設備</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14"/>
                  </a:ext>
                </a:extLst>
              </a:tr>
              <a:tr h="371475">
                <a:tc>
                  <a:txBody>
                    <a:bodyPr/>
                    <a:lstStyle/>
                    <a:p>
                      <a:pPr algn="ctr" fontAlgn="b"/>
                      <a:r>
                        <a:rPr lang="en-US" sz="2100" b="0" i="0" u="none" strike="noStrike" dirty="0">
                          <a:solidFill>
                            <a:srgbClr val="000000"/>
                          </a:solidFill>
                          <a:effectLst/>
                          <a:latin typeface="微軟正黑體" panose="020B0604030504040204" pitchFamily="34" charset="-120"/>
                          <a:ea typeface="微軟正黑體" panose="020B0604030504040204" pitchFamily="34" charset="-120"/>
                        </a:rPr>
                        <a:t>TL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TW" altLang="en-US" sz="2100" b="0" i="0" u="none" strike="noStrike" dirty="0">
                          <a:solidFill>
                            <a:srgbClr val="000000"/>
                          </a:solidFill>
                          <a:effectLst/>
                          <a:latin typeface="微軟正黑體" panose="020B0604030504040204" pitchFamily="34" charset="-120"/>
                          <a:ea typeface="微軟正黑體" panose="020B0604030504040204" pitchFamily="34" charset="-120"/>
                        </a:rPr>
                        <a:t>楦頭</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不分期</a:t>
                      </a:r>
                      <a:endParaRPr lang="en-US" sz="18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15"/>
                  </a:ext>
                </a:extLst>
              </a:tr>
              <a:tr h="371475">
                <a:tc>
                  <a:txBody>
                    <a:bodyPr/>
                    <a:lstStyle/>
                    <a:p>
                      <a:pPr algn="ctr" fontAlgn="b"/>
                      <a:r>
                        <a:rPr lang="en-US" sz="2100" b="0" i="0" u="none" strike="noStrike" dirty="0">
                          <a:solidFill>
                            <a:srgbClr val="000000"/>
                          </a:solidFill>
                          <a:effectLst/>
                          <a:latin typeface="微軟正黑體" panose="020B0604030504040204" pitchFamily="34" charset="-120"/>
                          <a:ea typeface="微軟正黑體" panose="020B0604030504040204" pitchFamily="34" charset="-120"/>
                        </a:rPr>
                        <a:t>TM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zh-TW" altLang="en-US" sz="2100" b="0" i="0" u="none" strike="noStrike" dirty="0">
                          <a:solidFill>
                            <a:srgbClr val="000000"/>
                          </a:solidFill>
                          <a:effectLst/>
                          <a:latin typeface="微軟正黑體" panose="020B0604030504040204" pitchFamily="34" charset="-120"/>
                          <a:ea typeface="微軟正黑體" panose="020B0604030504040204" pitchFamily="34" charset="-120"/>
                        </a:rPr>
                        <a:t>底模</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8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16"/>
                  </a:ext>
                </a:extLst>
              </a:tr>
            </a:tbl>
          </a:graphicData>
        </a:graphic>
      </p:graphicFrame>
      <p:sp>
        <p:nvSpPr>
          <p:cNvPr id="3" name="文字方塊 2">
            <a:extLst>
              <a:ext uri="{FF2B5EF4-FFF2-40B4-BE49-F238E27FC236}">
                <a16:creationId xmlns:a16="http://schemas.microsoft.com/office/drawing/2014/main" xmlns="" id="{0298F9C4-F6CC-7E4E-147B-014500C15840}"/>
              </a:ext>
            </a:extLst>
          </p:cNvPr>
          <p:cNvSpPr txBox="1"/>
          <p:nvPr/>
        </p:nvSpPr>
        <p:spPr>
          <a:xfrm>
            <a:off x="2444079" y="820877"/>
            <a:ext cx="9920197" cy="461665"/>
          </a:xfrm>
          <a:prstGeom prst="rect">
            <a:avLst/>
          </a:prstGeom>
          <a:noFill/>
        </p:spPr>
        <p:txBody>
          <a:bodyPr wrap="square">
            <a:spAutoFit/>
          </a:bodyPr>
          <a:lstStyle/>
          <a:p>
            <a:pPr eaLnBrk="0" hangingPunct="0"/>
            <a:r>
              <a:rPr lang="en-US" altLang="zh-TW" sz="2400" b="1" dirty="0">
                <a:latin typeface="微軟正黑體" panose="020B0604030504040204" pitchFamily="34" charset="-120"/>
                <a:ea typeface="微軟正黑體" panose="020B0604030504040204" pitchFamily="34" charset="-120"/>
              </a:rPr>
              <a:t>MM-PU-0090 </a:t>
            </a:r>
            <a:r>
              <a:rPr lang="zh-TW" altLang="en-US" sz="2400" b="1" dirty="0">
                <a:latin typeface="微軟正黑體" panose="020B0604030504040204" pitchFamily="34" charset="-120"/>
                <a:ea typeface="微軟正黑體" panose="020B0604030504040204" pitchFamily="34" charset="-120"/>
              </a:rPr>
              <a:t>固定資產請採驗流程</a:t>
            </a:r>
          </a:p>
        </p:txBody>
      </p:sp>
      <p:sp>
        <p:nvSpPr>
          <p:cNvPr id="7" name="矩形 6"/>
          <p:cNvSpPr/>
          <p:nvPr/>
        </p:nvSpPr>
        <p:spPr>
          <a:xfrm>
            <a:off x="422274" y="9645135"/>
            <a:ext cx="6880410" cy="369332"/>
          </a:xfrm>
          <a:prstGeom prst="rect">
            <a:avLst/>
          </a:prstGeom>
        </p:spPr>
        <p:txBody>
          <a:bodyPr wrap="none">
            <a:spAutoFit/>
          </a:bodyPr>
          <a:lstStyle/>
          <a:p>
            <a:r>
              <a:rPr lang="en-US" altLang="zh-TW" dirty="0">
                <a:latin typeface="微軟正黑體" panose="020B0604030504040204" pitchFamily="34" charset="-120"/>
                <a:ea typeface="微軟正黑體" panose="020B0604030504040204" pitchFamily="34" charset="-120"/>
              </a:rPr>
              <a:t>4</a:t>
            </a:r>
            <a:r>
              <a:rPr lang="zh-TW" altLang="en-US"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 M</a:t>
            </a:r>
            <a:r>
              <a:rPr lang="zh-TW" altLang="en-US" dirty="0">
                <a:latin typeface="微軟正黑體" panose="020B0604030504040204" pitchFamily="34" charset="-120"/>
                <a:ea typeface="微軟正黑體" panose="020B0604030504040204" pitchFamily="34" charset="-120"/>
              </a:rPr>
              <a:t>開頭的物料群組都屬於機器設備，它們資產類型都預設為  </a:t>
            </a:r>
            <a:r>
              <a:rPr lang="en-US" altLang="zh-TW" dirty="0">
                <a:solidFill>
                  <a:srgbClr val="FF0000"/>
                </a:solidFill>
                <a:latin typeface="微軟正黑體" panose="020B0604030504040204" pitchFamily="34" charset="-120"/>
                <a:ea typeface="微軟正黑體" panose="020B0604030504040204" pitchFamily="34" charset="-120"/>
              </a:rPr>
              <a:t>M</a:t>
            </a:r>
            <a:endParaRPr lang="zh-TW" altLang="en-US" dirty="0">
              <a:solidFill>
                <a:srgbClr val="FF0000"/>
              </a:solidFill>
            </a:endParaRPr>
          </a:p>
        </p:txBody>
      </p:sp>
      <p:sp>
        <p:nvSpPr>
          <p:cNvPr id="8" name="TextBox 2">
            <a:extLst>
              <a:ext uri="{FF2B5EF4-FFF2-40B4-BE49-F238E27FC236}">
                <a16:creationId xmlns:a16="http://schemas.microsoft.com/office/drawing/2014/main" xmlns="" id="{6B09882B-C884-419E-9EB0-7F4E083F29C0}"/>
              </a:ext>
            </a:extLst>
          </p:cNvPr>
          <p:cNvSpPr txBox="1"/>
          <p:nvPr/>
        </p:nvSpPr>
        <p:spPr>
          <a:xfrm>
            <a:off x="16643413" y="697082"/>
            <a:ext cx="1464973" cy="338554"/>
          </a:xfrm>
          <a:prstGeom prst="rect">
            <a:avLst/>
          </a:prstGeom>
          <a:noFill/>
        </p:spPr>
        <p:txBody>
          <a:bodyPr wrap="square" rtlCol="0">
            <a:spAutoFit/>
          </a:bodyPr>
          <a:lstStyle/>
          <a:p>
            <a:r>
              <a:rPr lang="en-US" altLang="zh-TW" sz="1600" dirty="0">
                <a:latin typeface="微軟正黑體" panose="020B0604030504040204" pitchFamily="34" charset="-120"/>
                <a:ea typeface="微軟正黑體" panose="020B0604030504040204" pitchFamily="34" charset="-120"/>
              </a:rPr>
              <a:t>2025/07/14</a:t>
            </a:r>
            <a:endParaRPr lang="zh-TW" altLang="en-US" sz="16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4326997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30180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2" name="流程圖: 結束點 8">
            <a:extLst>
              <a:ext uri="{FF2B5EF4-FFF2-40B4-BE49-F238E27FC236}">
                <a16:creationId xmlns:a16="http://schemas.microsoft.com/office/drawing/2014/main" xmlns="" id="{6FA1EB1C-0C56-468D-DD3A-1AFF772D5B49}"/>
              </a:ext>
            </a:extLst>
          </p:cNvPr>
          <p:cNvSpPr/>
          <p:nvPr/>
        </p:nvSpPr>
        <p:spPr bwMode="auto">
          <a:xfrm>
            <a:off x="3242505" y="2150354"/>
            <a:ext cx="1797831" cy="519585"/>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a:latin typeface="微軟正黑體" panose="020B0604030504040204" pitchFamily="34" charset="-120"/>
                <a:ea typeface="微軟正黑體" panose="020B0604030504040204" pitchFamily="34" charset="-120"/>
              </a:rPr>
              <a:t>流程</a:t>
            </a:r>
          </a:p>
          <a:p>
            <a:pPr algn="ctr" eaLnBrk="0" hangingPunct="0"/>
            <a:r>
              <a:rPr lang="zh-TW" altLang="en-US" sz="1500">
                <a:latin typeface="微軟正黑體" panose="020B0604030504040204" pitchFamily="34" charset="-120"/>
                <a:ea typeface="微軟正黑體" panose="020B0604030504040204" pitchFamily="34" charset="-120"/>
              </a:rPr>
              <a:t>開始或結束點</a:t>
            </a:r>
          </a:p>
        </p:txBody>
      </p:sp>
      <p:sp>
        <p:nvSpPr>
          <p:cNvPr id="3" name="文字方塊 12">
            <a:extLst>
              <a:ext uri="{FF2B5EF4-FFF2-40B4-BE49-F238E27FC236}">
                <a16:creationId xmlns:a16="http://schemas.microsoft.com/office/drawing/2014/main" xmlns="" id="{C3ACBE9D-2638-0AA4-2866-6D3A3BDB15CB}"/>
              </a:ext>
            </a:extLst>
          </p:cNvPr>
          <p:cNvSpPr txBox="1"/>
          <p:nvPr/>
        </p:nvSpPr>
        <p:spPr>
          <a:xfrm>
            <a:off x="5511013" y="2833662"/>
            <a:ext cx="6013292" cy="1661993"/>
          </a:xfrm>
          <a:prstGeom prst="rect">
            <a:avLst/>
          </a:prstGeom>
          <a:noFill/>
          <a:ln>
            <a:noFill/>
          </a:ln>
        </p:spPr>
        <p:txBody>
          <a:bodyPr wrap="square" lIns="0" tIns="0" rIns="0" bIns="0" rtlCol="0">
            <a:spAutoFit/>
          </a:bodyPr>
          <a:lstStyle/>
          <a:p>
            <a:pPr marL="257202" indent="-257202">
              <a:buFont typeface="Arial" panose="020B0604020202020204" pitchFamily="34" charset="0"/>
              <a:buChar char="•"/>
            </a:pPr>
            <a:r>
              <a:rPr lang="zh-TW" altLang="en-US" sz="1800" b="1">
                <a:solidFill>
                  <a:srgbClr val="C00000"/>
                </a:solidFill>
                <a:latin typeface="微軟正黑體" panose="020B0604030504040204" pitchFamily="34" charset="-120"/>
                <a:ea typeface="微軟正黑體" panose="020B0604030504040204" pitchFamily="34" charset="-120"/>
              </a:rPr>
              <a:t>上方</a:t>
            </a:r>
            <a:r>
              <a:rPr lang="en-US" altLang="zh-TW" sz="1800" b="1">
                <a:solidFill>
                  <a:srgbClr val="C00000"/>
                </a:solidFill>
                <a:latin typeface="微軟正黑體" panose="020B0604030504040204" pitchFamily="34" charset="-120"/>
                <a:ea typeface="微軟正黑體" panose="020B0604030504040204" pitchFamily="34" charset="-120"/>
              </a:rPr>
              <a:t>:</a:t>
            </a:r>
            <a:r>
              <a:rPr lang="zh-TW" altLang="en-US" sz="1800" b="1">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若本作業為系統交易請輸入該系統的交易代碼</a:t>
            </a:r>
            <a:endParaRPr lang="en-US" altLang="zh-TW" sz="1800">
              <a:solidFill>
                <a:srgbClr val="C00000"/>
              </a:solidFill>
              <a:latin typeface="微軟正黑體" panose="020B0604030504040204" pitchFamily="34" charset="-120"/>
              <a:ea typeface="微軟正黑體" panose="020B0604030504040204" pitchFamily="34" charset="-120"/>
            </a:endParaRPr>
          </a:p>
          <a:p>
            <a:pPr marL="257202" indent="-257202">
              <a:buFont typeface="Arial" panose="020B0604020202020204" pitchFamily="34" charset="0"/>
              <a:buChar char="•"/>
            </a:pPr>
            <a:r>
              <a:rPr lang="zh-TW" altLang="en-US" sz="1800" b="1">
                <a:solidFill>
                  <a:srgbClr val="C00000"/>
                </a:solidFill>
                <a:latin typeface="微軟正黑體" panose="020B0604030504040204" pitchFamily="34" charset="-120"/>
                <a:ea typeface="微軟正黑體" panose="020B0604030504040204" pitchFamily="34" charset="-120"/>
              </a:rPr>
              <a:t>中間區塊</a:t>
            </a:r>
            <a:r>
              <a:rPr lang="en-US" altLang="zh-TW" sz="1800" b="1">
                <a:solidFill>
                  <a:srgbClr val="C00000"/>
                </a:solidFill>
                <a:latin typeface="微軟正黑體" panose="020B0604030504040204" pitchFamily="34" charset="-120"/>
                <a:ea typeface="微軟正黑體" panose="020B0604030504040204" pitchFamily="34" charset="-120"/>
              </a:rPr>
              <a:t>:</a:t>
            </a:r>
            <a:r>
              <a:rPr lang="zh-TW" altLang="en-US" sz="1800" b="1">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動作</a:t>
            </a:r>
            <a:r>
              <a:rPr lang="en-US" altLang="zh-TW" sz="1800">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作業</a:t>
            </a:r>
            <a:r>
              <a:rPr lang="en-US" altLang="zh-TW" sz="1800">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系統交易 的名稱</a:t>
            </a:r>
          </a:p>
          <a:p>
            <a:pPr marL="257202" indent="-257202">
              <a:buFont typeface="Arial" panose="020B0604020202020204" pitchFamily="34" charset="0"/>
              <a:buChar char="•"/>
            </a:pPr>
            <a:r>
              <a:rPr lang="zh-TW" altLang="en-US" sz="1800" b="1">
                <a:solidFill>
                  <a:srgbClr val="C00000"/>
                </a:solidFill>
                <a:latin typeface="微軟正黑體" panose="020B0604030504040204" pitchFamily="34" charset="-120"/>
                <a:ea typeface="微軟正黑體" panose="020B0604030504040204" pitchFamily="34" charset="-120"/>
              </a:rPr>
              <a:t>左下方</a:t>
            </a:r>
            <a:r>
              <a:rPr lang="en-US" altLang="zh-TW" sz="1800" b="1">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 若本作業為系統交易</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此處請輸入系統名稱</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若非系統交易</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請留空白</a:t>
            </a:r>
          </a:p>
          <a:p>
            <a:pPr marL="257202" indent="-257202">
              <a:buFont typeface="Arial" panose="020B0604020202020204" pitchFamily="34" charset="0"/>
              <a:buChar char="•"/>
            </a:pPr>
            <a:r>
              <a:rPr lang="zh-TW" altLang="en-US" sz="1800" b="1">
                <a:solidFill>
                  <a:srgbClr val="C00000"/>
                </a:solidFill>
                <a:latin typeface="微軟正黑體" panose="020B0604030504040204" pitchFamily="34" charset="-120"/>
                <a:ea typeface="微軟正黑體" panose="020B0604030504040204" pitchFamily="34" charset="-120"/>
              </a:rPr>
              <a:t>右下方</a:t>
            </a:r>
            <a:r>
              <a:rPr lang="en-US" altLang="zh-TW" sz="1800" b="1">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 若本作業為系統交易</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有自動化程序</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請輸入自動</a:t>
            </a:r>
          </a:p>
          <a:p>
            <a:pPr marL="257202" indent="-257202">
              <a:buFont typeface="Arial" panose="020B0604020202020204" pitchFamily="34" charset="0"/>
              <a:buChar char="•"/>
            </a:pPr>
            <a:endParaRPr lang="zh-TW" altLang="en-US" sz="1800">
              <a:solidFill>
                <a:srgbClr val="C00000"/>
              </a:solidFill>
              <a:latin typeface="微軟正黑體" panose="020B0604030504040204" pitchFamily="34" charset="-120"/>
              <a:ea typeface="微軟正黑體" panose="020B0604030504040204" pitchFamily="34" charset="-120"/>
            </a:endParaRPr>
          </a:p>
        </p:txBody>
      </p:sp>
      <p:sp>
        <p:nvSpPr>
          <p:cNvPr id="4" name="文字方塊 15">
            <a:extLst>
              <a:ext uri="{FF2B5EF4-FFF2-40B4-BE49-F238E27FC236}">
                <a16:creationId xmlns:a16="http://schemas.microsoft.com/office/drawing/2014/main" xmlns="" id="{F1992E37-FBF2-71FC-3355-A44CD54F666E}"/>
              </a:ext>
            </a:extLst>
          </p:cNvPr>
          <p:cNvSpPr txBox="1"/>
          <p:nvPr/>
        </p:nvSpPr>
        <p:spPr>
          <a:xfrm>
            <a:off x="5511009" y="2296591"/>
            <a:ext cx="3389910"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流程起始點或結束點</a:t>
            </a:r>
          </a:p>
        </p:txBody>
      </p:sp>
      <p:sp>
        <p:nvSpPr>
          <p:cNvPr id="7" name="文字方塊 24">
            <a:extLst>
              <a:ext uri="{FF2B5EF4-FFF2-40B4-BE49-F238E27FC236}">
                <a16:creationId xmlns:a16="http://schemas.microsoft.com/office/drawing/2014/main" xmlns="" id="{D18486DA-E03C-9AF3-9A27-7A647D6A1B82}"/>
              </a:ext>
            </a:extLst>
          </p:cNvPr>
          <p:cNvSpPr txBox="1"/>
          <p:nvPr/>
        </p:nvSpPr>
        <p:spPr>
          <a:xfrm>
            <a:off x="2548723" y="1451160"/>
            <a:ext cx="5505642" cy="507831"/>
          </a:xfrm>
          <a:prstGeom prst="rect">
            <a:avLst/>
          </a:prstGeom>
          <a:solidFill>
            <a:srgbClr val="FFC000"/>
          </a:solidFill>
          <a:ln>
            <a:noFill/>
          </a:ln>
        </p:spPr>
        <p:txBody>
          <a:bodyPr wrap="square" lIns="0" tIns="0" rIns="0" bIns="0" rtlCol="0">
            <a:spAutoFit/>
          </a:bodyPr>
          <a:lstStyle/>
          <a:p>
            <a:r>
              <a:rPr lang="zh-TW" altLang="en-US" sz="1600">
                <a:latin typeface="微軟正黑體" panose="020B0604030504040204" pitchFamily="34" charset="-120"/>
                <a:ea typeface="微軟正黑體" panose="020B0604030504040204" pitchFamily="34" charset="-120"/>
              </a:rPr>
              <a:t>本區域請輸入部門或是工作職掌</a:t>
            </a:r>
            <a:r>
              <a:rPr lang="en-US" altLang="zh-TW" sz="1600">
                <a:latin typeface="微軟正黑體" panose="020B0604030504040204" pitchFamily="34" charset="-120"/>
                <a:ea typeface="微軟正黑體" panose="020B0604030504040204" pitchFamily="34" charset="-120"/>
              </a:rPr>
              <a:t>. </a:t>
            </a:r>
          </a:p>
          <a:p>
            <a:r>
              <a:rPr lang="zh-TW" altLang="en-US" sz="1600">
                <a:latin typeface="微軟正黑體" panose="020B0604030504040204" pitchFamily="34" charset="-120"/>
                <a:ea typeface="微軟正黑體" panose="020B0604030504040204" pitchFamily="34" charset="-120"/>
              </a:rPr>
              <a:t>例如</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業務處 或 業務處</a:t>
            </a:r>
            <a:r>
              <a:rPr lang="en-US" altLang="zh-TW" sz="1600">
                <a:latin typeface="微軟正黑體" panose="020B0604030504040204" pitchFamily="34" charset="-120"/>
                <a:ea typeface="微軟正黑體" panose="020B0604030504040204" pitchFamily="34" charset="-120"/>
              </a:rPr>
              <a:t>/</a:t>
            </a:r>
            <a:r>
              <a:rPr lang="zh-TW" altLang="en-US" sz="1600">
                <a:latin typeface="微軟正黑體" panose="020B0604030504040204" pitchFamily="34" charset="-120"/>
                <a:ea typeface="微軟正黑體" panose="020B0604030504040204" pitchFamily="34" charset="-120"/>
              </a:rPr>
              <a:t>業務經理 或 業務人員</a:t>
            </a:r>
          </a:p>
        </p:txBody>
      </p:sp>
      <p:sp>
        <p:nvSpPr>
          <p:cNvPr id="8" name="文字方塊 25">
            <a:extLst>
              <a:ext uri="{FF2B5EF4-FFF2-40B4-BE49-F238E27FC236}">
                <a16:creationId xmlns:a16="http://schemas.microsoft.com/office/drawing/2014/main" xmlns="" id="{3582A9EB-A5A2-F0E1-F6A8-1152902964CF}"/>
              </a:ext>
            </a:extLst>
          </p:cNvPr>
          <p:cNvSpPr txBox="1"/>
          <p:nvPr/>
        </p:nvSpPr>
        <p:spPr>
          <a:xfrm>
            <a:off x="240594" y="1840650"/>
            <a:ext cx="2069194" cy="984885"/>
          </a:xfrm>
          <a:prstGeom prst="rect">
            <a:avLst/>
          </a:prstGeom>
          <a:solidFill>
            <a:srgbClr val="FFC000"/>
          </a:solidFill>
          <a:ln>
            <a:noFill/>
          </a:ln>
        </p:spPr>
        <p:txBody>
          <a:bodyPr wrap="square" lIns="0" tIns="0" rIns="0" bIns="0" rtlCol="0">
            <a:spAutoFit/>
          </a:bodyPr>
          <a:lstStyle/>
          <a:p>
            <a:r>
              <a:rPr lang="zh-TW" altLang="en-US" sz="1600">
                <a:latin typeface="微軟正黑體" panose="020B0604030504040204" pitchFamily="34" charset="-120"/>
                <a:ea typeface="微軟正黑體" panose="020B0604030504040204" pitchFamily="34" charset="-120"/>
              </a:rPr>
              <a:t>本區塊用來說明本流程動作所需要的資料來源</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包含前置作業流程</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文件等</a:t>
            </a:r>
          </a:p>
        </p:txBody>
      </p:sp>
      <p:sp>
        <p:nvSpPr>
          <p:cNvPr id="9" name="文字方塊 26">
            <a:extLst>
              <a:ext uri="{FF2B5EF4-FFF2-40B4-BE49-F238E27FC236}">
                <a16:creationId xmlns:a16="http://schemas.microsoft.com/office/drawing/2014/main" xmlns="" id="{56CB2E28-F31D-1D89-A5FB-F878E9724B60}"/>
              </a:ext>
            </a:extLst>
          </p:cNvPr>
          <p:cNvSpPr txBox="1"/>
          <p:nvPr/>
        </p:nvSpPr>
        <p:spPr>
          <a:xfrm>
            <a:off x="12055646" y="1856148"/>
            <a:ext cx="2086520" cy="984885"/>
          </a:xfrm>
          <a:prstGeom prst="rect">
            <a:avLst/>
          </a:prstGeom>
          <a:solidFill>
            <a:srgbClr val="FFC000"/>
          </a:solidFill>
          <a:ln>
            <a:noFill/>
          </a:ln>
        </p:spPr>
        <p:txBody>
          <a:bodyPr wrap="square" lIns="0" tIns="0" rIns="0" bIns="0" rtlCol="0">
            <a:spAutoFit/>
          </a:bodyPr>
          <a:lstStyle/>
          <a:p>
            <a:r>
              <a:rPr lang="zh-TW" altLang="en-US" sz="1600">
                <a:latin typeface="微軟正黑體" panose="020B0604030504040204" pitchFamily="34" charset="-120"/>
                <a:ea typeface="微軟正黑體" panose="020B0604030504040204" pitchFamily="34" charset="-120"/>
              </a:rPr>
              <a:t>本區塊用來說明本流程動作所會產出的結果</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包含後續作業流程</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文件等</a:t>
            </a:r>
          </a:p>
        </p:txBody>
      </p:sp>
      <p:graphicFrame>
        <p:nvGraphicFramePr>
          <p:cNvPr id="10" name="表格 30">
            <a:extLst>
              <a:ext uri="{FF2B5EF4-FFF2-40B4-BE49-F238E27FC236}">
                <a16:creationId xmlns:a16="http://schemas.microsoft.com/office/drawing/2014/main" xmlns="" id="{94474DA2-C417-6AE7-95EE-50C9649AB985}"/>
              </a:ext>
            </a:extLst>
          </p:cNvPr>
          <p:cNvGraphicFramePr>
            <a:graphicFrameLocks noGrp="1"/>
          </p:cNvGraphicFramePr>
          <p:nvPr/>
        </p:nvGraphicFramePr>
        <p:xfrm>
          <a:off x="3242505" y="3002420"/>
          <a:ext cx="1797832" cy="1238400"/>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6600">
                <a:tc gridSpan="2">
                  <a:txBody>
                    <a:bodyPr/>
                    <a:lstStyle/>
                    <a:p>
                      <a:pPr algn="ctr"/>
                      <a:r>
                        <a:rPr lang="en-US" altLang="zh-TW" sz="1500"/>
                        <a:t>BP</a:t>
                      </a:r>
                      <a:endParaRPr lang="en-GB" sz="1500" b="1">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a16="http://schemas.microsoft.com/office/drawing/2014/main" xmlns="" val="3125084632"/>
                  </a:ext>
                </a:extLst>
              </a:tr>
              <a:tr h="565200">
                <a:tc gridSpan="2">
                  <a:txBody>
                    <a:bodyPr/>
                    <a:lstStyle/>
                    <a:p>
                      <a:pPr algn="ctr"/>
                      <a:r>
                        <a:rPr lang="zh-TW" altLang="en-US" sz="1500"/>
                        <a:t>交易名稱</a:t>
                      </a:r>
                      <a:endParaRPr lang="en-US" altLang="zh-TW" sz="1500"/>
                    </a:p>
                    <a:p>
                      <a:pPr algn="ctr"/>
                      <a:r>
                        <a:rPr lang="zh-TW" altLang="en-US" sz="1500"/>
                        <a:t>作業</a:t>
                      </a:r>
                      <a:r>
                        <a:rPr lang="en-US" altLang="zh-TW" sz="1500"/>
                        <a:t>/</a:t>
                      </a:r>
                      <a:r>
                        <a:rPr lang="zh-TW" altLang="en-US" sz="1500"/>
                        <a:t>動作</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a16="http://schemas.microsoft.com/office/drawing/2014/main" xmlns="" val="1006350340"/>
                  </a:ext>
                </a:extLst>
              </a:tr>
              <a:tr h="336600">
                <a:tc>
                  <a:txBody>
                    <a:bodyPr/>
                    <a:lstStyle/>
                    <a:p>
                      <a:pPr algn="ctr"/>
                      <a:r>
                        <a:rPr lang="en-US" sz="1500"/>
                        <a:t>SAP</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a:t>自動</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sp>
        <p:nvSpPr>
          <p:cNvPr id="11" name="流程圖: 預設處理作業 21">
            <a:extLst>
              <a:ext uri="{FF2B5EF4-FFF2-40B4-BE49-F238E27FC236}">
                <a16:creationId xmlns:a16="http://schemas.microsoft.com/office/drawing/2014/main" xmlns="" id="{6AB8729A-A396-2BA6-E6B9-1B2A79082818}"/>
              </a:ext>
            </a:extLst>
          </p:cNvPr>
          <p:cNvSpPr/>
          <p:nvPr/>
        </p:nvSpPr>
        <p:spPr bwMode="auto">
          <a:xfrm>
            <a:off x="3242509" y="4808819"/>
            <a:ext cx="1813112"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a:latin typeface="微軟正黑體" panose="020B0604030504040204" pitchFamily="34" charset="-120"/>
                <a:ea typeface="微軟正黑體" panose="020B0604030504040204" pitchFamily="34" charset="-120"/>
              </a:rPr>
              <a:t>XXX-001-02</a:t>
            </a:r>
          </a:p>
          <a:p>
            <a:pPr algn="ctr" eaLnBrk="0" hangingPunct="0"/>
            <a:r>
              <a:rPr lang="en-US" altLang="zh-TW" sz="1500">
                <a:latin typeface="微軟正黑體" panose="020B0604030504040204" pitchFamily="34" charset="-120"/>
                <a:ea typeface="微軟正黑體" panose="020B0604030504040204" pitchFamily="34" charset="-120"/>
              </a:rPr>
              <a:t>XXX</a:t>
            </a:r>
            <a:r>
              <a:rPr lang="zh-TW" altLang="en-US" sz="1500">
                <a:latin typeface="微軟正黑體" panose="020B0604030504040204" pitchFamily="34" charset="-120"/>
                <a:ea typeface="微軟正黑體" panose="020B0604030504040204" pitchFamily="34" charset="-120"/>
              </a:rPr>
              <a:t>作業流程</a:t>
            </a:r>
          </a:p>
        </p:txBody>
      </p:sp>
      <p:sp>
        <p:nvSpPr>
          <p:cNvPr id="12" name="流程圖: 文件 42">
            <a:extLst>
              <a:ext uri="{FF2B5EF4-FFF2-40B4-BE49-F238E27FC236}">
                <a16:creationId xmlns:a16="http://schemas.microsoft.com/office/drawing/2014/main" xmlns="" id="{91F9B27C-7F80-2BDA-7707-DDBD4E112805}"/>
              </a:ext>
            </a:extLst>
          </p:cNvPr>
          <p:cNvSpPr/>
          <p:nvPr/>
        </p:nvSpPr>
        <p:spPr bwMode="auto">
          <a:xfrm>
            <a:off x="3242505" y="6336001"/>
            <a:ext cx="1841949" cy="1238400"/>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a:latin typeface="微軟正黑體" panose="020B0604030504040204" pitchFamily="34" charset="-120"/>
                <a:ea typeface="微軟正黑體" panose="020B0604030504040204" pitchFamily="34" charset="-120"/>
              </a:rPr>
              <a:t>產出或投入</a:t>
            </a:r>
          </a:p>
          <a:p>
            <a:pPr algn="ctr" eaLnBrk="0" hangingPunct="0"/>
            <a:r>
              <a:rPr lang="zh-TW" altLang="en-US" sz="1500">
                <a:latin typeface="微軟正黑體" panose="020B0604030504040204" pitchFamily="34" charset="-120"/>
                <a:ea typeface="微軟正黑體" panose="020B0604030504040204" pitchFamily="34" charset="-120"/>
              </a:rPr>
              <a:t>文件</a:t>
            </a:r>
            <a:r>
              <a:rPr lang="en-US" altLang="zh-TW" sz="1500">
                <a:latin typeface="微軟正黑體" panose="020B0604030504040204" pitchFamily="34" charset="-120"/>
                <a:ea typeface="微軟正黑體" panose="020B0604030504040204" pitchFamily="34" charset="-120"/>
              </a:rPr>
              <a:t>/</a:t>
            </a:r>
            <a:r>
              <a:rPr lang="zh-TW" altLang="en-US" sz="1500">
                <a:latin typeface="微軟正黑體" panose="020B0604030504040204" pitchFamily="34" charset="-120"/>
                <a:ea typeface="微軟正黑體" panose="020B0604030504040204" pitchFamily="34" charset="-120"/>
              </a:rPr>
              <a:t>報表</a:t>
            </a:r>
            <a:r>
              <a:rPr lang="en-US" altLang="zh-TW" sz="1500">
                <a:latin typeface="微軟正黑體" panose="020B0604030504040204" pitchFamily="34" charset="-120"/>
                <a:ea typeface="微軟正黑體" panose="020B0604030504040204" pitchFamily="34" charset="-120"/>
              </a:rPr>
              <a:t>/</a:t>
            </a:r>
            <a:r>
              <a:rPr lang="zh-TW" altLang="en-US" sz="1500">
                <a:latin typeface="微軟正黑體" panose="020B0604030504040204" pitchFamily="34" charset="-120"/>
                <a:ea typeface="微軟正黑體" panose="020B0604030504040204" pitchFamily="34" charset="-120"/>
              </a:rPr>
              <a:t>表單</a:t>
            </a:r>
          </a:p>
        </p:txBody>
      </p:sp>
      <p:sp>
        <p:nvSpPr>
          <p:cNvPr id="13" name="文字方塊 46">
            <a:extLst>
              <a:ext uri="{FF2B5EF4-FFF2-40B4-BE49-F238E27FC236}">
                <a16:creationId xmlns:a16="http://schemas.microsoft.com/office/drawing/2014/main" xmlns="" id="{8E21E1D9-DCFA-D067-33E8-546CC2C7A8A1}"/>
              </a:ext>
            </a:extLst>
          </p:cNvPr>
          <p:cNvSpPr txBox="1"/>
          <p:nvPr/>
        </p:nvSpPr>
        <p:spPr>
          <a:xfrm>
            <a:off x="5568741" y="5289520"/>
            <a:ext cx="4104456"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於本流程中有關聯的流程編號與名稱</a:t>
            </a:r>
          </a:p>
        </p:txBody>
      </p:sp>
      <p:sp>
        <p:nvSpPr>
          <p:cNvPr id="14" name="文字方塊 47">
            <a:extLst>
              <a:ext uri="{FF2B5EF4-FFF2-40B4-BE49-F238E27FC236}">
                <a16:creationId xmlns:a16="http://schemas.microsoft.com/office/drawing/2014/main" xmlns="" id="{5B7CE1DA-2D6E-F4C0-11C8-08795CA4563E}"/>
              </a:ext>
            </a:extLst>
          </p:cNvPr>
          <p:cNvSpPr txBox="1"/>
          <p:nvPr/>
        </p:nvSpPr>
        <p:spPr>
          <a:xfrm>
            <a:off x="5568743" y="6418310"/>
            <a:ext cx="5313821"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於本流程中投入或是產出的文件</a:t>
            </a:r>
            <a:r>
              <a:rPr lang="en-US" altLang="zh-TW" sz="1800">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報表</a:t>
            </a:r>
            <a:r>
              <a:rPr lang="en-US" altLang="zh-TW" sz="1800">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表單名稱</a:t>
            </a:r>
          </a:p>
        </p:txBody>
      </p:sp>
      <p:sp>
        <p:nvSpPr>
          <p:cNvPr id="15" name="流程圖: 決策 50">
            <a:extLst>
              <a:ext uri="{FF2B5EF4-FFF2-40B4-BE49-F238E27FC236}">
                <a16:creationId xmlns:a16="http://schemas.microsoft.com/office/drawing/2014/main" xmlns="" id="{845AA0C2-CB36-2792-A054-5B69382FBD2D}"/>
              </a:ext>
            </a:extLst>
          </p:cNvPr>
          <p:cNvSpPr/>
          <p:nvPr/>
        </p:nvSpPr>
        <p:spPr bwMode="auto">
          <a:xfrm>
            <a:off x="7393953" y="7226480"/>
            <a:ext cx="1841949" cy="1177944"/>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a:latin typeface="微軟正黑體" panose="020B0604030504040204" pitchFamily="34" charset="-120"/>
                <a:ea typeface="微軟正黑體" panose="020B0604030504040204" pitchFamily="34" charset="-120"/>
              </a:rPr>
              <a:t>決策或判斷點</a:t>
            </a:r>
          </a:p>
        </p:txBody>
      </p:sp>
      <p:sp>
        <p:nvSpPr>
          <p:cNvPr id="16" name="流程圖: 接點 51">
            <a:extLst>
              <a:ext uri="{FF2B5EF4-FFF2-40B4-BE49-F238E27FC236}">
                <a16:creationId xmlns:a16="http://schemas.microsoft.com/office/drawing/2014/main" xmlns="" id="{1E4DE6F3-3BB0-2B05-BD87-45921D4C3C01}"/>
              </a:ext>
            </a:extLst>
          </p:cNvPr>
          <p:cNvSpPr/>
          <p:nvPr/>
        </p:nvSpPr>
        <p:spPr bwMode="auto">
          <a:xfrm>
            <a:off x="7989971" y="8646043"/>
            <a:ext cx="545345"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sz="1800">
                <a:latin typeface="微軟正黑體" panose="020B0604030504040204" pitchFamily="34" charset="-120"/>
                <a:ea typeface="微軟正黑體" panose="020B0604030504040204" pitchFamily="34" charset="-120"/>
              </a:rPr>
              <a:t>A</a:t>
            </a:r>
            <a:endParaRPr lang="zh-TW" altLang="en-US" sz="1800">
              <a:latin typeface="微軟正黑體" panose="020B0604030504040204" pitchFamily="34" charset="-120"/>
              <a:ea typeface="微軟正黑體" panose="020B0604030504040204" pitchFamily="34" charset="-120"/>
            </a:endParaRPr>
          </a:p>
        </p:txBody>
      </p:sp>
      <p:sp>
        <p:nvSpPr>
          <p:cNvPr id="17" name="流程圖: 換頁接點 52">
            <a:extLst>
              <a:ext uri="{FF2B5EF4-FFF2-40B4-BE49-F238E27FC236}">
                <a16:creationId xmlns:a16="http://schemas.microsoft.com/office/drawing/2014/main" xmlns="" id="{AC58EE03-29AB-852C-B954-3F203C7F24CB}"/>
              </a:ext>
            </a:extLst>
          </p:cNvPr>
          <p:cNvSpPr/>
          <p:nvPr/>
        </p:nvSpPr>
        <p:spPr bwMode="auto">
          <a:xfrm>
            <a:off x="8002556" y="9410574"/>
            <a:ext cx="560627" cy="467303"/>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sz="1800">
                <a:latin typeface="微軟正黑體" panose="020B0604030504040204" pitchFamily="34" charset="-120"/>
                <a:ea typeface="微軟正黑體" panose="020B0604030504040204" pitchFamily="34" charset="-120"/>
              </a:rPr>
              <a:t>P2</a:t>
            </a:r>
            <a:endParaRPr lang="zh-TW" altLang="en-US" sz="1800">
              <a:latin typeface="微軟正黑體" panose="020B0604030504040204" pitchFamily="34" charset="-120"/>
              <a:ea typeface="微軟正黑體" panose="020B0604030504040204" pitchFamily="34" charset="-120"/>
            </a:endParaRPr>
          </a:p>
        </p:txBody>
      </p:sp>
      <p:sp>
        <p:nvSpPr>
          <p:cNvPr id="18" name="文字方塊 53">
            <a:extLst>
              <a:ext uri="{FF2B5EF4-FFF2-40B4-BE49-F238E27FC236}">
                <a16:creationId xmlns:a16="http://schemas.microsoft.com/office/drawing/2014/main" xmlns="" id="{3456038A-55BE-0A34-609A-F6B4AC23D1F1}"/>
              </a:ext>
            </a:extLst>
          </p:cNvPr>
          <p:cNvSpPr txBox="1"/>
          <p:nvPr/>
        </p:nvSpPr>
        <p:spPr>
          <a:xfrm>
            <a:off x="9526622" y="7716344"/>
            <a:ext cx="1856630"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決策或是判斷點</a:t>
            </a:r>
          </a:p>
        </p:txBody>
      </p:sp>
      <p:sp>
        <p:nvSpPr>
          <p:cNvPr id="19" name="文字方塊 54">
            <a:extLst>
              <a:ext uri="{FF2B5EF4-FFF2-40B4-BE49-F238E27FC236}">
                <a16:creationId xmlns:a16="http://schemas.microsoft.com/office/drawing/2014/main" xmlns="" id="{517E2A64-47A3-A953-7789-D0C0B645C2F1}"/>
              </a:ext>
            </a:extLst>
          </p:cNvPr>
          <p:cNvSpPr txBox="1"/>
          <p:nvPr/>
        </p:nvSpPr>
        <p:spPr>
          <a:xfrm>
            <a:off x="9571162" y="8696687"/>
            <a:ext cx="2068019"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同一頁面上的連結點</a:t>
            </a:r>
          </a:p>
        </p:txBody>
      </p:sp>
      <p:sp>
        <p:nvSpPr>
          <p:cNvPr id="20" name="文字方塊 55">
            <a:extLst>
              <a:ext uri="{FF2B5EF4-FFF2-40B4-BE49-F238E27FC236}">
                <a16:creationId xmlns:a16="http://schemas.microsoft.com/office/drawing/2014/main" xmlns="" id="{938B72A0-C4AB-D17D-D8C7-F599440CF29D}"/>
              </a:ext>
            </a:extLst>
          </p:cNvPr>
          <p:cNvSpPr txBox="1"/>
          <p:nvPr/>
        </p:nvSpPr>
        <p:spPr>
          <a:xfrm>
            <a:off x="9571162" y="9410572"/>
            <a:ext cx="2068019"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換頁之連接點</a:t>
            </a:r>
          </a:p>
        </p:txBody>
      </p:sp>
      <p:sp>
        <p:nvSpPr>
          <p:cNvPr id="21" name="文字方塊 21">
            <a:extLst>
              <a:ext uri="{FF2B5EF4-FFF2-40B4-BE49-F238E27FC236}">
                <a16:creationId xmlns:a16="http://schemas.microsoft.com/office/drawing/2014/main" xmlns="" id="{1F153670-BE85-306D-6126-9994ACD9935F}"/>
              </a:ext>
            </a:extLst>
          </p:cNvPr>
          <p:cNvSpPr txBox="1"/>
          <p:nvPr/>
        </p:nvSpPr>
        <p:spPr>
          <a:xfrm>
            <a:off x="16660678" y="226579"/>
            <a:ext cx="1392048" cy="984885"/>
          </a:xfrm>
          <a:prstGeom prst="rect">
            <a:avLst/>
          </a:prstGeom>
          <a:solidFill>
            <a:srgbClr val="FFC000"/>
          </a:solidFill>
          <a:ln>
            <a:noFill/>
          </a:ln>
        </p:spPr>
        <p:txBody>
          <a:bodyPr wrap="square" lIns="0" tIns="0" rIns="0" bIns="0" rtlCol="0">
            <a:spAutoFit/>
          </a:bodyPr>
          <a:lstStyle/>
          <a:p>
            <a:r>
              <a:rPr lang="zh-TW" altLang="en-US" sz="1600">
                <a:latin typeface="微軟正黑體" panose="020B0604030504040204" pitchFamily="34" charset="-120"/>
                <a:ea typeface="微軟正黑體" panose="020B0604030504040204" pitchFamily="34" charset="-120"/>
              </a:rPr>
              <a:t>本區塊之頁次</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日期會自動更新</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日期為最後一次更新日</a:t>
            </a:r>
          </a:p>
        </p:txBody>
      </p:sp>
      <p:sp>
        <p:nvSpPr>
          <p:cNvPr id="30" name="文字方塊 53">
            <a:extLst>
              <a:ext uri="{FF2B5EF4-FFF2-40B4-BE49-F238E27FC236}">
                <a16:creationId xmlns:a16="http://schemas.microsoft.com/office/drawing/2014/main" xmlns="" id="{7EE68195-4036-2753-C702-EBF7E6CFA458}"/>
              </a:ext>
            </a:extLst>
          </p:cNvPr>
          <p:cNvSpPr txBox="1"/>
          <p:nvPr/>
        </p:nvSpPr>
        <p:spPr>
          <a:xfrm>
            <a:off x="5545788" y="8023216"/>
            <a:ext cx="1557447" cy="553998"/>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說明號碼，位於右上角</a:t>
            </a:r>
          </a:p>
        </p:txBody>
      </p:sp>
      <p:graphicFrame>
        <p:nvGraphicFramePr>
          <p:cNvPr id="31" name="表格 30">
            <a:extLst>
              <a:ext uri="{FF2B5EF4-FFF2-40B4-BE49-F238E27FC236}">
                <a16:creationId xmlns:a16="http://schemas.microsoft.com/office/drawing/2014/main" xmlns="" id="{22A069D3-CB36-DA21-0023-3C294211F2A1}"/>
              </a:ext>
            </a:extLst>
          </p:cNvPr>
          <p:cNvGraphicFramePr>
            <a:graphicFrameLocks noGrp="1"/>
          </p:cNvGraphicFramePr>
          <p:nvPr/>
        </p:nvGraphicFramePr>
        <p:xfrm>
          <a:off x="3242505" y="8119564"/>
          <a:ext cx="1797832" cy="1238400"/>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6600">
                <a:tc gridSpan="2">
                  <a:txBody>
                    <a:bodyPr/>
                    <a:lstStyle/>
                    <a:p>
                      <a:pPr algn="ctr"/>
                      <a:r>
                        <a:rPr lang="en-US" altLang="zh-TW" sz="1500"/>
                        <a:t>BP</a:t>
                      </a:r>
                      <a:endParaRPr lang="en-GB" sz="1500" b="1">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a16="http://schemas.microsoft.com/office/drawing/2014/main" xmlns="" val="3125084632"/>
                  </a:ext>
                </a:extLst>
              </a:tr>
              <a:tr h="565200">
                <a:tc gridSpan="2">
                  <a:txBody>
                    <a:bodyPr/>
                    <a:lstStyle/>
                    <a:p>
                      <a:pPr algn="ctr"/>
                      <a:r>
                        <a:rPr lang="zh-TW" altLang="en-US" sz="1500"/>
                        <a:t>交易名稱</a:t>
                      </a:r>
                      <a:endParaRPr lang="en-US" altLang="zh-TW" sz="1500"/>
                    </a:p>
                    <a:p>
                      <a:pPr algn="ctr"/>
                      <a:r>
                        <a:rPr lang="zh-TW" altLang="en-US" sz="1500"/>
                        <a:t>作業</a:t>
                      </a:r>
                      <a:r>
                        <a:rPr lang="en-US" altLang="zh-TW" sz="1500"/>
                        <a:t>/</a:t>
                      </a:r>
                      <a:r>
                        <a:rPr lang="zh-TW" altLang="en-US" sz="1500"/>
                        <a:t>動作</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a16="http://schemas.microsoft.com/office/drawing/2014/main" xmlns="" val="1006350340"/>
                  </a:ext>
                </a:extLst>
              </a:tr>
              <a:tr h="336600">
                <a:tc>
                  <a:txBody>
                    <a:bodyPr/>
                    <a:lstStyle/>
                    <a:p>
                      <a:pPr algn="ctr"/>
                      <a:r>
                        <a:rPr lang="en-US" sz="1500"/>
                        <a:t>SAP</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a:t>自動</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pSp>
        <p:nvGrpSpPr>
          <p:cNvPr id="27" name="Group 232">
            <a:extLst>
              <a:ext uri="{FF2B5EF4-FFF2-40B4-BE49-F238E27FC236}">
                <a16:creationId xmlns:a16="http://schemas.microsoft.com/office/drawing/2014/main" xmlns="" id="{34DCA6AC-E460-4F91-E17A-E4D1D9383A32}"/>
              </a:ext>
            </a:extLst>
          </p:cNvPr>
          <p:cNvGrpSpPr/>
          <p:nvPr/>
        </p:nvGrpSpPr>
        <p:grpSpPr>
          <a:xfrm>
            <a:off x="4888172" y="7911842"/>
            <a:ext cx="557700" cy="408542"/>
            <a:chOff x="5906472" y="1486857"/>
            <a:chExt cx="371800" cy="272361"/>
          </a:xfrm>
        </p:grpSpPr>
        <p:sp>
          <p:nvSpPr>
            <p:cNvPr id="28" name="Oval 233">
              <a:extLst>
                <a:ext uri="{FF2B5EF4-FFF2-40B4-BE49-F238E27FC236}">
                  <a16:creationId xmlns:a16="http://schemas.microsoft.com/office/drawing/2014/main" xmlns="" id="{1D00AAC5-112F-5543-0045-71081BC3968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4050"/>
            </a:p>
          </p:txBody>
        </p:sp>
        <p:sp>
          <p:nvSpPr>
            <p:cNvPr id="29" name="TextBox 234">
              <a:extLst>
                <a:ext uri="{FF2B5EF4-FFF2-40B4-BE49-F238E27FC236}">
                  <a16:creationId xmlns:a16="http://schemas.microsoft.com/office/drawing/2014/main" xmlns="" id="{DBDC368A-8CA7-E876-12C5-B3B6A71623C0}"/>
                </a:ext>
              </a:extLst>
            </p:cNvPr>
            <p:cNvSpPr txBox="1"/>
            <p:nvPr/>
          </p:nvSpPr>
          <p:spPr>
            <a:xfrm>
              <a:off x="5922672" y="1499926"/>
              <a:ext cx="355600" cy="215443"/>
            </a:xfrm>
            <a:prstGeom prst="rect">
              <a:avLst/>
            </a:prstGeom>
            <a:noFill/>
          </p:spPr>
          <p:txBody>
            <a:bodyPr wrap="square" rtlCol="0">
              <a:spAutoFit/>
            </a:bodyPr>
            <a:lstStyle/>
            <a:p>
              <a:r>
                <a:rPr lang="en-US" altLang="zh-TW" sz="1500">
                  <a:latin typeface="微軟正黑體" panose="020B0604030504040204" pitchFamily="34" charset="-120"/>
                  <a:ea typeface="微軟正黑體" panose="020B0604030504040204" pitchFamily="34" charset="-120"/>
                </a:rPr>
                <a:t>1</a:t>
              </a:r>
              <a:endParaRPr lang="zh-TW" altLang="en-US" sz="1500">
                <a:latin typeface="微軟正黑體" panose="020B0604030504040204" pitchFamily="34" charset="-120"/>
                <a:ea typeface="微軟正黑體" panose="020B0604030504040204" pitchFamily="34" charset="-120"/>
              </a:endParaRPr>
            </a:p>
          </p:txBody>
        </p:sp>
      </p:grpSp>
      <p:grpSp>
        <p:nvGrpSpPr>
          <p:cNvPr id="5" name="Group 4">
            <a:extLst>
              <a:ext uri="{FF2B5EF4-FFF2-40B4-BE49-F238E27FC236}">
                <a16:creationId xmlns:a16="http://schemas.microsoft.com/office/drawing/2014/main" xmlns="" id="{C1E1D283-1843-CF62-4209-C268980982AA}"/>
              </a:ext>
            </a:extLst>
          </p:cNvPr>
          <p:cNvGrpSpPr/>
          <p:nvPr/>
        </p:nvGrpSpPr>
        <p:grpSpPr>
          <a:xfrm>
            <a:off x="10685297" y="835773"/>
            <a:ext cx="3401998" cy="423412"/>
            <a:chOff x="10685297" y="851013"/>
            <a:chExt cx="3401998" cy="423412"/>
          </a:xfrm>
        </p:grpSpPr>
        <p:grpSp>
          <p:nvGrpSpPr>
            <p:cNvPr id="25" name="Group 24">
              <a:extLst>
                <a:ext uri="{FF2B5EF4-FFF2-40B4-BE49-F238E27FC236}">
                  <a16:creationId xmlns:a16="http://schemas.microsoft.com/office/drawing/2014/main" xmlns="" id="{5A9886C6-C17B-051D-323D-045D45D51D03}"/>
                </a:ext>
              </a:extLst>
            </p:cNvPr>
            <p:cNvGrpSpPr/>
            <p:nvPr/>
          </p:nvGrpSpPr>
          <p:grpSpPr>
            <a:xfrm>
              <a:off x="10685297" y="851013"/>
              <a:ext cx="1291656" cy="423194"/>
              <a:chOff x="7091257" y="609842"/>
              <a:chExt cx="861104" cy="282129"/>
            </a:xfrm>
          </p:grpSpPr>
          <p:sp>
            <p:nvSpPr>
              <p:cNvPr id="35" name="文字方塊 21">
                <a:extLst>
                  <a:ext uri="{FF2B5EF4-FFF2-40B4-BE49-F238E27FC236}">
                    <a16:creationId xmlns:a16="http://schemas.microsoft.com/office/drawing/2014/main" xmlns="" id="{432DD89F-2DAD-3A56-1346-B1AF7181E7DD}"/>
                  </a:ext>
                </a:extLst>
              </p:cNvPr>
              <p:cNvSpPr txBox="1"/>
              <p:nvPr/>
            </p:nvSpPr>
            <p:spPr>
              <a:xfrm>
                <a:off x="7091257" y="609842"/>
                <a:ext cx="283411" cy="276998"/>
              </a:xfrm>
              <a:prstGeom prst="rect">
                <a:avLst/>
              </a:prstGeom>
              <a:noFill/>
            </p:spPr>
            <p:txBody>
              <a:bodyPr wrap="none" rtlCol="0">
                <a:spAutoFit/>
              </a:bodyPr>
              <a:lstStyle/>
              <a:p>
                <a:r>
                  <a:rPr lang="zh-TW" altLang="en-US" sz="2100">
                    <a:latin typeface="Microsoft JhengHei" panose="020B0604030504040204" pitchFamily="34" charset="-120"/>
                    <a:ea typeface="Microsoft JhengHei" panose="020B0604030504040204" pitchFamily="34" charset="-120"/>
                    <a:sym typeface="Wingdings" panose="05000000000000000000" pitchFamily="2" charset="2"/>
                  </a:rPr>
                  <a:t></a:t>
                </a:r>
                <a:endParaRPr lang="zh-TW" altLang="en-US" sz="2100">
                  <a:latin typeface="Microsoft JhengHei" panose="020B0604030504040204" pitchFamily="34" charset="-120"/>
                  <a:ea typeface="Microsoft JhengHei" panose="020B0604030504040204" pitchFamily="34" charset="-120"/>
                </a:endParaRPr>
              </a:p>
            </p:txBody>
          </p:sp>
          <p:sp>
            <p:nvSpPr>
              <p:cNvPr id="36" name="文字方塊 22">
                <a:extLst>
                  <a:ext uri="{FF2B5EF4-FFF2-40B4-BE49-F238E27FC236}">
                    <a16:creationId xmlns:a16="http://schemas.microsoft.com/office/drawing/2014/main" xmlns="" id="{C6804075-CD1F-688A-16E7-A5FA26AA9965}"/>
                  </a:ext>
                </a:extLst>
              </p:cNvPr>
              <p:cNvSpPr txBox="1"/>
              <p:nvPr/>
            </p:nvSpPr>
            <p:spPr>
              <a:xfrm>
                <a:off x="7316290" y="625231"/>
                <a:ext cx="636071" cy="266740"/>
              </a:xfrm>
              <a:prstGeom prst="rect">
                <a:avLst/>
              </a:prstGeom>
              <a:noFill/>
            </p:spPr>
            <p:txBody>
              <a:bodyPr wrap="none" rtlCol="0">
                <a:spAutoFit/>
              </a:bodyPr>
              <a:lstStyle/>
              <a:p>
                <a:r>
                  <a:rPr lang="zh-TW" altLang="en-US" sz="2000">
                    <a:latin typeface="Microsoft JhengHei" panose="020B0604030504040204" pitchFamily="34" charset="-120"/>
                    <a:ea typeface="Microsoft JhengHei" panose="020B0604030504040204" pitchFamily="34" charset="-120"/>
                  </a:rPr>
                  <a:t>新流程</a:t>
                </a:r>
              </a:p>
            </p:txBody>
          </p:sp>
        </p:grpSp>
        <p:grpSp>
          <p:nvGrpSpPr>
            <p:cNvPr id="32" name="Group 31">
              <a:extLst>
                <a:ext uri="{FF2B5EF4-FFF2-40B4-BE49-F238E27FC236}">
                  <a16:creationId xmlns:a16="http://schemas.microsoft.com/office/drawing/2014/main" xmlns="" id="{9C909DE7-364E-C051-81B7-A9B0395CA373}"/>
                </a:ext>
              </a:extLst>
            </p:cNvPr>
            <p:cNvGrpSpPr/>
            <p:nvPr/>
          </p:nvGrpSpPr>
          <p:grpSpPr>
            <a:xfrm>
              <a:off x="11993820" y="858926"/>
              <a:ext cx="2093475" cy="415499"/>
              <a:chOff x="8168002" y="615119"/>
              <a:chExt cx="1395650" cy="276999"/>
            </a:xfrm>
          </p:grpSpPr>
          <p:sp>
            <p:nvSpPr>
              <p:cNvPr id="33" name="文字方塊 23">
                <a:extLst>
                  <a:ext uri="{FF2B5EF4-FFF2-40B4-BE49-F238E27FC236}">
                    <a16:creationId xmlns:a16="http://schemas.microsoft.com/office/drawing/2014/main" xmlns="" id="{B4233160-88DF-D04A-FED9-08D0065AAB4F}"/>
                  </a:ext>
                </a:extLst>
              </p:cNvPr>
              <p:cNvSpPr txBox="1"/>
              <p:nvPr/>
            </p:nvSpPr>
            <p:spPr>
              <a:xfrm>
                <a:off x="8414619" y="625231"/>
                <a:ext cx="1149033" cy="266740"/>
              </a:xfrm>
              <a:prstGeom prst="rect">
                <a:avLst/>
              </a:prstGeom>
              <a:noFill/>
            </p:spPr>
            <p:txBody>
              <a:bodyPr wrap="none" rtlCol="0">
                <a:spAutoFit/>
              </a:bodyPr>
              <a:lstStyle/>
              <a:p>
                <a:r>
                  <a:rPr lang="zh-TW" altLang="en-US" sz="2000">
                    <a:latin typeface="Microsoft JhengHei" panose="020B0604030504040204" pitchFamily="34" charset="-120"/>
                    <a:ea typeface="Microsoft JhengHei" panose="020B0604030504040204" pitchFamily="34" charset="-120"/>
                  </a:rPr>
                  <a:t>權責單位改變</a:t>
                </a:r>
              </a:p>
            </p:txBody>
          </p:sp>
          <p:sp>
            <p:nvSpPr>
              <p:cNvPr id="34" name="文字方塊 21">
                <a:extLst>
                  <a:ext uri="{FF2B5EF4-FFF2-40B4-BE49-F238E27FC236}">
                    <a16:creationId xmlns:a16="http://schemas.microsoft.com/office/drawing/2014/main" xmlns="" id="{2E1125B2-CD41-1A49-12C1-2EB4AF0DAA7F}"/>
                  </a:ext>
                </a:extLst>
              </p:cNvPr>
              <p:cNvSpPr txBox="1"/>
              <p:nvPr/>
            </p:nvSpPr>
            <p:spPr>
              <a:xfrm>
                <a:off x="8168002" y="615119"/>
                <a:ext cx="283411" cy="276999"/>
              </a:xfrm>
              <a:prstGeom prst="rect">
                <a:avLst/>
              </a:prstGeom>
              <a:noFill/>
            </p:spPr>
            <p:txBody>
              <a:bodyPr wrap="none" rtlCol="0">
                <a:spAutoFit/>
              </a:bodyPr>
              <a:lstStyle/>
              <a:p>
                <a:r>
                  <a:rPr lang="zh-TW" altLang="en-US" sz="2100">
                    <a:latin typeface="Microsoft JhengHei" panose="020B0604030504040204" pitchFamily="34" charset="-120"/>
                    <a:ea typeface="Microsoft JhengHei" panose="020B0604030504040204" pitchFamily="34" charset="-120"/>
                    <a:sym typeface="Wingdings" panose="05000000000000000000" pitchFamily="2" charset="2"/>
                  </a:rPr>
                  <a:t></a:t>
                </a:r>
                <a:endParaRPr lang="zh-TW" altLang="en-US" sz="2100">
                  <a:latin typeface="Microsoft JhengHei" panose="020B0604030504040204" pitchFamily="34" charset="-120"/>
                  <a:ea typeface="Microsoft JhengHei" panose="020B0604030504040204" pitchFamily="34" charset="-120"/>
                </a:endParaRPr>
              </a:p>
            </p:txBody>
          </p:sp>
        </p:grpSp>
      </p:grpSp>
      <p:sp>
        <p:nvSpPr>
          <p:cNvPr id="37" name="TextBox 36">
            <a:extLst>
              <a:ext uri="{FF2B5EF4-FFF2-40B4-BE49-F238E27FC236}">
                <a16:creationId xmlns:a16="http://schemas.microsoft.com/office/drawing/2014/main" xmlns="" id="{D272B6E5-7242-B301-AF12-5963B687CE8C}"/>
              </a:ext>
            </a:extLst>
          </p:cNvPr>
          <p:cNvSpPr txBox="1"/>
          <p:nvPr/>
        </p:nvSpPr>
        <p:spPr>
          <a:xfrm>
            <a:off x="2521976" y="811465"/>
            <a:ext cx="8244896" cy="461665"/>
          </a:xfrm>
          <a:prstGeom prst="rect">
            <a:avLst/>
          </a:prstGeom>
          <a:solidFill>
            <a:srgbClr val="FFC000"/>
          </a:solidFill>
        </p:spPr>
        <p:txBody>
          <a:bodyPr wrap="square" rtlCol="0">
            <a:spAutoFit/>
          </a:bodyPr>
          <a:lstStyle/>
          <a:p>
            <a:r>
              <a:rPr lang="zh-TW" altLang="en-US" sz="2400" b="1" dirty="0">
                <a:latin typeface="Microsoft JhengHei" panose="020B0604030504040204" pitchFamily="34" charset="-120"/>
                <a:ea typeface="Microsoft JhengHei" panose="020B0604030504040204" pitchFamily="34" charset="-120"/>
              </a:rPr>
              <a:t>本區域請輸入”流程編碼”與 “流程名稱”</a:t>
            </a:r>
          </a:p>
        </p:txBody>
      </p:sp>
    </p:spTree>
    <p:extLst>
      <p:ext uri="{BB962C8B-B14F-4D97-AF65-F5344CB8AC3E}">
        <p14:creationId xmlns:p14="http://schemas.microsoft.com/office/powerpoint/2010/main" val="1727134277"/>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16373</TotalTime>
  <Words>3288</Words>
  <Application>Microsoft Office PowerPoint</Application>
  <PresentationFormat>自訂</PresentationFormat>
  <Paragraphs>668</Paragraphs>
  <Slides>14</Slides>
  <Notes>12</Notes>
  <HiddenSlides>0</HiddenSlides>
  <MMClips>0</MMClips>
  <ScaleCrop>false</ScaleCrop>
  <HeadingPairs>
    <vt:vector size="4" baseType="variant">
      <vt:variant>
        <vt:lpstr>佈景主題</vt:lpstr>
      </vt:variant>
      <vt:variant>
        <vt:i4>1</vt:i4>
      </vt:variant>
      <vt:variant>
        <vt:lpstr>投影片標題</vt:lpstr>
      </vt:variant>
      <vt:variant>
        <vt:i4>14</vt:i4>
      </vt:variant>
    </vt:vector>
  </HeadingPairs>
  <TitlesOfParts>
    <vt:vector size="15" baseType="lpstr">
      <vt:lpstr>Office 2013 - 2022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joy.huang</dc:creator>
  <cp:lastModifiedBy>dell</cp:lastModifiedBy>
  <cp:revision>233</cp:revision>
  <dcterms:created xsi:type="dcterms:W3CDTF">2023-05-31T01:27:04Z</dcterms:created>
  <dcterms:modified xsi:type="dcterms:W3CDTF">2025-09-12T06:54:20Z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IPGFID">
    <vt:lpwstr>[DocID]=94C585B9-ECB6-4578-A910-6B8E38712317</vt:lpwstr>
  </property>
  <property fmtid="{D5CDD505-2E9C-101B-9397-08002B2CF9AE}" pid="3" name="_IPGFLOW_P-DAED_E-0_CV-88520CEC_CN-DFA24F97">
    <vt:lpwstr>DPFPMK|3|50|1|0</vt:lpwstr>
  </property>
  <property fmtid="{D5CDD505-2E9C-101B-9397-08002B2CF9AE}" pid="4" name="_IPGFLOW_P-DAED_E-1_FP-1_SP-1_CV-53B624F2_CN-C8C2A49C">
    <vt:lpwstr>twZVKWH7FlLO2R/LzU/EctkXD2KgYgXdlK9MSnZ8u83T4dm4AHmaWfMeM5jgIq0Lb6c0fBzTKrqoVPKFOcTn1+Op0RW6TKMtXEKyXtVUYkPJ3bek+xPGVag4YbwbTLzMUUehCmicvK2lZi1MRS5hOr+nh7zUVlQSJ2B7g6TbRjo9EMsiiud8W/ozwcZ9pEl5dChLgy/r0HipgVMtK+fM6DiRhE52/RtqrGjoxkQ7rlUv799B6fRLB0MQ/DQ58Yc</vt:lpwstr>
  </property>
  <property fmtid="{D5CDD505-2E9C-101B-9397-08002B2CF9AE}" pid="5" name="_IPGFLOW_P-DAED_E-1_FP-1_SP-2_CV-8CE628BE_CN-BC77E5EF">
    <vt:lpwstr>EsIh+XrUv8TNZlsrGeVK1Y72tUeE1HFVG2Bz+/pO8UzFjBjyImST5y4IRaG+ftZek56P0BSqGOHhQabo46qIH2/XS5m5QfI1PmHFr/ZJqzSNjZwrNyd99CGf3Z+134hUB</vt:lpwstr>
  </property>
  <property fmtid="{D5CDD505-2E9C-101B-9397-08002B2CF9AE}" pid="6" name="_IPGFLOW_P-DAED_E-0_FP-1_CV-1748F583_CN-8CA36F19">
    <vt:lpwstr>DPSPMK|3|384|2|0</vt:lpwstr>
  </property>
</Properties>
</file>