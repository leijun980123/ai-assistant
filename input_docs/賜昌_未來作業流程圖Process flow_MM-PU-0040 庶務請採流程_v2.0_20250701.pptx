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17"/>
  </p:notesMasterIdLst>
  <p:sldIdLst>
    <p:sldId id="261" r:id="rId2"/>
    <p:sldId id="2147472997" r:id="rId3"/>
    <p:sldId id="257" r:id="rId4"/>
    <p:sldId id="2147375392" r:id="rId5"/>
    <p:sldId id="2147375391" r:id="rId6"/>
    <p:sldId id="2147375406" r:id="rId7"/>
    <p:sldId id="2147375407" r:id="rId8"/>
    <p:sldId id="2147375408" r:id="rId9"/>
    <p:sldId id="2147375409" r:id="rId10"/>
    <p:sldId id="2147375398" r:id="rId11"/>
    <p:sldId id="2147375413" r:id="rId12"/>
    <p:sldId id="2147375412" r:id="rId13"/>
    <p:sldId id="2147375405" r:id="rId14"/>
    <p:sldId id="2147473000" r:id="rId15"/>
    <p:sldId id="2147375389" r:id="rId16"/>
  </p:sldIdLst>
  <p:sldSz cx="18288000" cy="10288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8D7CC"/>
    <a:srgbClr val="F1CB78"/>
    <a:srgbClr val="A82415"/>
    <a:srgbClr val="BE5107"/>
    <a:srgbClr val="FFA92A"/>
    <a:srgbClr val="4472C4"/>
    <a:srgbClr val="70170F"/>
    <a:srgbClr val="FF9300"/>
    <a:srgbClr val="ED8278"/>
    <a:srgbClr val="C40A1A"/>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629" autoAdjust="0"/>
    <p:restoredTop sz="94142"/>
  </p:normalViewPr>
  <p:slideViewPr>
    <p:cSldViewPr snapToGrid="0">
      <p:cViewPr>
        <p:scale>
          <a:sx n="48" d="100"/>
          <a:sy n="48" d="100"/>
        </p:scale>
        <p:origin x="-384" y="204"/>
      </p:cViewPr>
      <p:guideLst>
        <p:guide orient="horz" pos="3240"/>
        <p:guide pos="576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05686-526E-EA47-AD21-0320394F441D}" type="datetimeFigureOut">
              <a:rPr kumimoji="1" lang="zh-TW" altLang="en-US" smtClean="0"/>
              <a:pPr/>
              <a:t>2025/7/15</a:t>
            </a:fld>
            <a:endParaRPr kumimoji="1"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zh-TW"/>
              <a:t>Click to edit Master text styles</a:t>
            </a:r>
          </a:p>
          <a:p>
            <a:pPr lvl="1"/>
            <a:r>
              <a:rPr kumimoji="1" lang="en-US" altLang="zh-TW"/>
              <a:t>Second level</a:t>
            </a:r>
          </a:p>
          <a:p>
            <a:pPr lvl="2"/>
            <a:r>
              <a:rPr kumimoji="1" lang="en-US" altLang="zh-TW"/>
              <a:t>Third level</a:t>
            </a:r>
          </a:p>
          <a:p>
            <a:pPr lvl="3"/>
            <a:r>
              <a:rPr kumimoji="1" lang="en-US" altLang="zh-TW"/>
              <a:t>Fourth level</a:t>
            </a:r>
          </a:p>
          <a:p>
            <a:pPr lvl="4"/>
            <a:r>
              <a:rPr kumimoji="1" lang="en-US" altLang="zh-TW"/>
              <a:t>Fifth level</a:t>
            </a:r>
            <a:endParaRPr kumimoji="1"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98844B-D7EC-8749-B720-E795CFF10818}" type="slidenum">
              <a:rPr kumimoji="1" lang="zh-TW" altLang="en-US" smtClean="0"/>
              <a:pPr/>
              <a:t>‹#›</a:t>
            </a:fld>
            <a:endParaRPr kumimoji="1" lang="zh-TW" altLang="en-US"/>
          </a:p>
        </p:txBody>
      </p:sp>
    </p:spTree>
    <p:extLst>
      <p:ext uri="{BB962C8B-B14F-4D97-AF65-F5344CB8AC3E}">
        <p14:creationId xmlns="" xmlns:p14="http://schemas.microsoft.com/office/powerpoint/2010/main" val="3481488999"/>
      </p:ext>
    </p:extLst>
  </p:cSld>
  <p:clrMap bg1="lt1" tx1="dk1" bg2="lt2" tx2="dk2" accent1="accent1" accent2="accent2" accent3="accent3" accent4="accent4" accent5="accent5" accent6="accent6" hlink="hlink" folHlink="folHlink"/>
  <p:notesStyle>
    <a:lvl1pPr marL="0" algn="l" defTabSz="1371327" rtl="0" eaLnBrk="1" latinLnBrk="0" hangingPunct="1">
      <a:defRPr sz="1800" kern="1200">
        <a:solidFill>
          <a:schemeClr val="tx1"/>
        </a:solidFill>
        <a:latin typeface="+mn-lt"/>
        <a:ea typeface="+mn-ea"/>
        <a:cs typeface="+mn-cs"/>
      </a:defRPr>
    </a:lvl1pPr>
    <a:lvl2pPr marL="685662" algn="l" defTabSz="1371327" rtl="0" eaLnBrk="1" latinLnBrk="0" hangingPunct="1">
      <a:defRPr sz="1800" kern="1200">
        <a:solidFill>
          <a:schemeClr val="tx1"/>
        </a:solidFill>
        <a:latin typeface="+mn-lt"/>
        <a:ea typeface="+mn-ea"/>
        <a:cs typeface="+mn-cs"/>
      </a:defRPr>
    </a:lvl2pPr>
    <a:lvl3pPr marL="1371327" algn="l" defTabSz="1371327" rtl="0" eaLnBrk="1" latinLnBrk="0" hangingPunct="1">
      <a:defRPr sz="1800" kern="1200">
        <a:solidFill>
          <a:schemeClr val="tx1"/>
        </a:solidFill>
        <a:latin typeface="+mn-lt"/>
        <a:ea typeface="+mn-ea"/>
        <a:cs typeface="+mn-cs"/>
      </a:defRPr>
    </a:lvl3pPr>
    <a:lvl4pPr marL="2056989" algn="l" defTabSz="1371327" rtl="0" eaLnBrk="1" latinLnBrk="0" hangingPunct="1">
      <a:defRPr sz="1800" kern="1200">
        <a:solidFill>
          <a:schemeClr val="tx1"/>
        </a:solidFill>
        <a:latin typeface="+mn-lt"/>
        <a:ea typeface="+mn-ea"/>
        <a:cs typeface="+mn-cs"/>
      </a:defRPr>
    </a:lvl4pPr>
    <a:lvl5pPr marL="2742651" algn="l" defTabSz="1371327" rtl="0" eaLnBrk="1" latinLnBrk="0" hangingPunct="1">
      <a:defRPr sz="1800" kern="1200">
        <a:solidFill>
          <a:schemeClr val="tx1"/>
        </a:solidFill>
        <a:latin typeface="+mn-lt"/>
        <a:ea typeface="+mn-ea"/>
        <a:cs typeface="+mn-cs"/>
      </a:defRPr>
    </a:lvl5pPr>
    <a:lvl6pPr marL="3428315" algn="l" defTabSz="1371327" rtl="0" eaLnBrk="1" latinLnBrk="0" hangingPunct="1">
      <a:defRPr sz="1800" kern="1200">
        <a:solidFill>
          <a:schemeClr val="tx1"/>
        </a:solidFill>
        <a:latin typeface="+mn-lt"/>
        <a:ea typeface="+mn-ea"/>
        <a:cs typeface="+mn-cs"/>
      </a:defRPr>
    </a:lvl6pPr>
    <a:lvl7pPr marL="4113978" algn="l" defTabSz="1371327" rtl="0" eaLnBrk="1" latinLnBrk="0" hangingPunct="1">
      <a:defRPr sz="1800" kern="1200">
        <a:solidFill>
          <a:schemeClr val="tx1"/>
        </a:solidFill>
        <a:latin typeface="+mn-lt"/>
        <a:ea typeface="+mn-ea"/>
        <a:cs typeface="+mn-cs"/>
      </a:defRPr>
    </a:lvl7pPr>
    <a:lvl8pPr marL="4799640" algn="l" defTabSz="1371327" rtl="0" eaLnBrk="1" latinLnBrk="0" hangingPunct="1">
      <a:defRPr sz="1800" kern="1200">
        <a:solidFill>
          <a:schemeClr val="tx1"/>
        </a:solidFill>
        <a:latin typeface="+mn-lt"/>
        <a:ea typeface="+mn-ea"/>
        <a:cs typeface="+mn-cs"/>
      </a:defRPr>
    </a:lvl8pPr>
    <a:lvl9pPr marL="5485302" algn="l" defTabSz="1371327"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TW" altLang="en-US" dirty="0"/>
          </a:p>
        </p:txBody>
      </p:sp>
      <p:sp>
        <p:nvSpPr>
          <p:cNvPr id="4" name="Slide Number Placeholder 3"/>
          <p:cNvSpPr>
            <a:spLocks noGrp="1"/>
          </p:cNvSpPr>
          <p:nvPr>
            <p:ph type="sldNum" sz="quarter" idx="5"/>
          </p:nvPr>
        </p:nvSpPr>
        <p:spPr/>
        <p:txBody>
          <a:bodyPr/>
          <a:lstStyle/>
          <a:p>
            <a:fld id="{4598844B-D7EC-8749-B720-E795CFF10818}" type="slidenum">
              <a:rPr kumimoji="1" lang="zh-TW" altLang="en-US" smtClean="0"/>
              <a:pPr/>
              <a:t>1</a:t>
            </a:fld>
            <a:endParaRPr kumimoji="1" lang="zh-TW" altLang="en-US"/>
          </a:p>
        </p:txBody>
      </p:sp>
    </p:spTree>
    <p:extLst>
      <p:ext uri="{BB962C8B-B14F-4D97-AF65-F5344CB8AC3E}">
        <p14:creationId xmlns="" xmlns:p14="http://schemas.microsoft.com/office/powerpoint/2010/main" val="709080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4029112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902090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402911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902090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402911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902090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2163287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271384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804"/>
            <a:ext cx="13716000" cy="3581953"/>
          </a:xfrm>
        </p:spPr>
        <p:txBody>
          <a:bodyPr anchor="b"/>
          <a:lstStyle>
            <a:lvl1pPr algn="ctr">
              <a:defRPr sz="9000"/>
            </a:lvl1pPr>
          </a:lstStyle>
          <a:p>
            <a:r>
              <a:rPr lang="en-US" altLang="zh-TW" dirty="0"/>
              <a:t>Click to edit Master title style</a:t>
            </a:r>
            <a:endParaRPr lang="en-US" dirty="0"/>
          </a:p>
        </p:txBody>
      </p:sp>
      <p:sp>
        <p:nvSpPr>
          <p:cNvPr id="3" name="Subtitle 2"/>
          <p:cNvSpPr>
            <a:spLocks noGrp="1"/>
          </p:cNvSpPr>
          <p:nvPr>
            <p:ph type="subTitle" idx="1"/>
          </p:nvPr>
        </p:nvSpPr>
        <p:spPr>
          <a:xfrm>
            <a:off x="2286000" y="5403891"/>
            <a:ext cx="13716000" cy="2484026"/>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ltLang="zh-TW" dirty="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4688877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idx="1"/>
          </p:nvPr>
        </p:nvSpPr>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72288323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5004"/>
            <a:ext cx="15773400" cy="4279766"/>
          </a:xfrm>
        </p:spPr>
        <p:txBody>
          <a:bodyPr anchor="b"/>
          <a:lstStyle>
            <a:lvl1pPr>
              <a:defRPr sz="9000"/>
            </a:lvl1pPr>
          </a:lstStyle>
          <a:p>
            <a:r>
              <a:rPr lang="en-US" altLang="zh-TW" dirty="0"/>
              <a:t>Click to edit Master title style</a:t>
            </a:r>
            <a:endParaRPr lang="en-US" dirty="0"/>
          </a:p>
        </p:txBody>
      </p:sp>
      <p:sp>
        <p:nvSpPr>
          <p:cNvPr id="3" name="Text Placeholder 2"/>
          <p:cNvSpPr>
            <a:spLocks noGrp="1"/>
          </p:cNvSpPr>
          <p:nvPr>
            <p:ph type="body" idx="1"/>
          </p:nvPr>
        </p:nvSpPr>
        <p:spPr>
          <a:xfrm>
            <a:off x="1247775" y="6885258"/>
            <a:ext cx="15773400" cy="2250628"/>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ltLang="zh-TW"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75249958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sz="half" idx="1"/>
          </p:nvPr>
        </p:nvSpPr>
        <p:spPr>
          <a:xfrm>
            <a:off x="1257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Content Placeholder 3"/>
          <p:cNvSpPr>
            <a:spLocks noGrp="1"/>
          </p:cNvSpPr>
          <p:nvPr>
            <p:ph sz="half" idx="2"/>
          </p:nvPr>
        </p:nvSpPr>
        <p:spPr>
          <a:xfrm>
            <a:off x="9258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10683040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773"/>
            <a:ext cx="15773400" cy="1988651"/>
          </a:xfrm>
        </p:spPr>
        <p:txBody>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9683" y="2522134"/>
            <a:ext cx="7736681"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4" name="Content Placeholder 3"/>
          <p:cNvSpPr>
            <a:spLocks noGrp="1"/>
          </p:cNvSpPr>
          <p:nvPr>
            <p:ph sz="half" idx="2"/>
          </p:nvPr>
        </p:nvSpPr>
        <p:spPr>
          <a:xfrm>
            <a:off x="1259683" y="3758193"/>
            <a:ext cx="7736681"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Text Placeholder 4"/>
          <p:cNvSpPr>
            <a:spLocks noGrp="1"/>
          </p:cNvSpPr>
          <p:nvPr>
            <p:ph type="body" sz="quarter" idx="3"/>
          </p:nvPr>
        </p:nvSpPr>
        <p:spPr>
          <a:xfrm>
            <a:off x="9258300" y="2522134"/>
            <a:ext cx="7774782"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6" name="Content Placeholder 5"/>
          <p:cNvSpPr>
            <a:spLocks noGrp="1"/>
          </p:cNvSpPr>
          <p:nvPr>
            <p:ph sz="quarter" idx="4"/>
          </p:nvPr>
        </p:nvSpPr>
        <p:spPr>
          <a:xfrm>
            <a:off x="9258300" y="3758193"/>
            <a:ext cx="7774782"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6319273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834744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3018706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Content Placeholder 2"/>
          <p:cNvSpPr>
            <a:spLocks noGrp="1"/>
          </p:cNvSpPr>
          <p:nvPr>
            <p:ph idx="1"/>
          </p:nvPr>
        </p:nvSpPr>
        <p:spPr>
          <a:xfrm>
            <a:off x="7774782" y="1481367"/>
            <a:ext cx="9258300" cy="7311566"/>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353915219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Picture Placeholder 2"/>
          <p:cNvSpPr>
            <a:spLocks noGrp="1" noChangeAspect="1"/>
          </p:cNvSpPr>
          <p:nvPr>
            <p:ph type="pic" idx="1"/>
          </p:nvPr>
        </p:nvSpPr>
        <p:spPr>
          <a:xfrm>
            <a:off x="7774782" y="1481367"/>
            <a:ext cx="9258300" cy="7311566"/>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zh-TW" dirty="0"/>
              <a:t>Click icon to add picture</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5874769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21438517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772"/>
            <a:ext cx="3943350" cy="8719103"/>
          </a:xfrm>
        </p:spPr>
        <p:txBody>
          <a:bodyPr vert="eaVert"/>
          <a:lstStyle/>
          <a:p>
            <a:r>
              <a:rPr lang="en-US" altLang="zh-TW" dirty="0"/>
              <a:t>Click to edit Master title style</a:t>
            </a:r>
            <a:endParaRPr lang="en-US" dirty="0"/>
          </a:p>
        </p:txBody>
      </p:sp>
      <p:sp>
        <p:nvSpPr>
          <p:cNvPr id="3" name="Vertical Text Placeholder 2"/>
          <p:cNvSpPr>
            <a:spLocks noGrp="1"/>
          </p:cNvSpPr>
          <p:nvPr>
            <p:ph type="body" orient="vert" idx="1"/>
          </p:nvPr>
        </p:nvSpPr>
        <p:spPr>
          <a:xfrm>
            <a:off x="1257300" y="547772"/>
            <a:ext cx="11601450" cy="8719103"/>
          </a:xfrm>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11470180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訂版面配置">
    <p:spTree>
      <p:nvGrpSpPr>
        <p:cNvPr id="1" name=""/>
        <p:cNvGrpSpPr/>
        <p:nvPr/>
      </p:nvGrpSpPr>
      <p:grpSpPr>
        <a:xfrm>
          <a:off x="0" y="0"/>
          <a:ext cx="0" cy="0"/>
          <a:chOff x="0" y="0"/>
          <a:chExt cx="0" cy="0"/>
        </a:xfrm>
      </p:grpSpPr>
      <p:pic>
        <p:nvPicPr>
          <p:cNvPr id="9" name="圖片 8">
            <a:extLst>
              <a:ext uri="{FF2B5EF4-FFF2-40B4-BE49-F238E27FC236}">
                <a16:creationId xmlns="" xmlns:a16="http://schemas.microsoft.com/office/drawing/2014/main" id="{E25844F4-1900-BFFB-A55D-854D27EE700E}"/>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 xmlns:p14="http://schemas.microsoft.com/office/powerpoint/2010/main" val="83353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自訂版面配置">
    <p:spTree>
      <p:nvGrpSpPr>
        <p:cNvPr id="1" name=""/>
        <p:cNvGrpSpPr/>
        <p:nvPr/>
      </p:nvGrpSpPr>
      <p:grpSpPr>
        <a:xfrm>
          <a:off x="0" y="0"/>
          <a:ext cx="0" cy="0"/>
          <a:chOff x="0" y="0"/>
          <a:chExt cx="0" cy="0"/>
        </a:xfrm>
      </p:grpSpPr>
      <p:pic>
        <p:nvPicPr>
          <p:cNvPr id="7" name="圖片 6">
            <a:extLst>
              <a:ext uri="{FF2B5EF4-FFF2-40B4-BE49-F238E27FC236}">
                <a16:creationId xmlns="" xmlns:a16="http://schemas.microsoft.com/office/drawing/2014/main" id="{1089C009-AC07-C46C-AE77-052C754A5BCD}"/>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3" y="2575"/>
            <a:ext cx="18287997" cy="10286015"/>
          </a:xfrm>
          <a:prstGeom prst="rect">
            <a:avLst/>
          </a:prstGeom>
        </p:spPr>
      </p:pic>
    </p:spTree>
    <p:extLst>
      <p:ext uri="{BB962C8B-B14F-4D97-AF65-F5344CB8AC3E}">
        <p14:creationId xmlns="" xmlns:p14="http://schemas.microsoft.com/office/powerpoint/2010/main" val="956458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自訂版面配置">
    <p:spTree>
      <p:nvGrpSpPr>
        <p:cNvPr id="1" name=""/>
        <p:cNvGrpSpPr/>
        <p:nvPr/>
      </p:nvGrpSpPr>
      <p:grpSpPr>
        <a:xfrm>
          <a:off x="0" y="0"/>
          <a:ext cx="0" cy="0"/>
          <a:chOff x="0" y="0"/>
          <a:chExt cx="0" cy="0"/>
        </a:xfrm>
      </p:grpSpPr>
      <p:pic>
        <p:nvPicPr>
          <p:cNvPr id="3" name="圖片 2">
            <a:extLst>
              <a:ext uri="{FF2B5EF4-FFF2-40B4-BE49-F238E27FC236}">
                <a16:creationId xmlns=""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1290"/>
            <a:ext cx="18288000" cy="10286015"/>
          </a:xfrm>
          <a:prstGeom prst="rect">
            <a:avLst/>
          </a:prstGeom>
        </p:spPr>
      </p:pic>
      <p:sp>
        <p:nvSpPr>
          <p:cNvPr id="2" name="TextBox 1">
            <a:extLst>
              <a:ext uri="{FF2B5EF4-FFF2-40B4-BE49-F238E27FC236}">
                <a16:creationId xmlns="" xmlns:a16="http://schemas.microsoft.com/office/drawing/2014/main" id="{3C3275E5-3531-FFFA-3798-282621745510}"/>
              </a:ext>
            </a:extLst>
          </p:cNvPr>
          <p:cNvSpPr txBox="1"/>
          <p:nvPr userDrawn="1"/>
        </p:nvSpPr>
        <p:spPr>
          <a:xfrm>
            <a:off x="644238" y="600812"/>
            <a:ext cx="3262432" cy="1015663"/>
          </a:xfrm>
          <a:prstGeom prst="rect">
            <a:avLst/>
          </a:prstGeom>
          <a:noFill/>
        </p:spPr>
        <p:txBody>
          <a:bodyPr wrap="none" rtlCol="0">
            <a:spAutoFit/>
          </a:bodyPr>
          <a:lstStyle/>
          <a:p>
            <a:r>
              <a:rPr kumimoji="1" lang="zh-TW" altLang="en-US" sz="6000" b="1">
                <a:latin typeface="Microsoft JhengHei" panose="020B0604030504040204" pitchFamily="34" charset="-120"/>
                <a:ea typeface="Microsoft JhengHei" panose="020B0604030504040204" pitchFamily="34" charset="-120"/>
              </a:rPr>
              <a:t>重要聲明</a:t>
            </a:r>
          </a:p>
        </p:txBody>
      </p:sp>
      <p:sp>
        <p:nvSpPr>
          <p:cNvPr id="4" name="TextBox 3">
            <a:extLst>
              <a:ext uri="{FF2B5EF4-FFF2-40B4-BE49-F238E27FC236}">
                <a16:creationId xmlns="" xmlns:a16="http://schemas.microsoft.com/office/drawing/2014/main" id="{D3BA386D-4EF9-4F60-02E3-7C1A898CF24E}"/>
              </a:ext>
            </a:extLst>
          </p:cNvPr>
          <p:cNvSpPr txBox="1"/>
          <p:nvPr userDrawn="1"/>
        </p:nvSpPr>
        <p:spPr>
          <a:xfrm>
            <a:off x="561111" y="3205004"/>
            <a:ext cx="17165778" cy="3416320"/>
          </a:xfrm>
          <a:prstGeom prst="rect">
            <a:avLst/>
          </a:prstGeom>
          <a:noFill/>
        </p:spPr>
        <p:txBody>
          <a:bodyPr wrap="square" rtlCol="0">
            <a:spAutoFit/>
          </a:bodyPr>
          <a:lstStyle/>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本簡報依據</a:t>
            </a:r>
            <a:r>
              <a:rPr lang="zh-TW" altLang="en-US" sz="2400" b="1" dirty="0">
                <a:latin typeface="微軟正黑體" panose="020B0604030504040204" pitchFamily="34" charset="-120"/>
                <a:ea typeface="微軟正黑體" panose="020B0604030504040204" pitchFamily="34" charset="-120"/>
              </a:rPr>
              <a:t>裕榮昌科技股份有限公司台中分公司</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之需求所編製。</a:t>
            </a: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buClr>
                <a:srgbClr val="000000"/>
              </a:buClr>
            </a:pP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lgn="just" fontAlgn="base"/>
            <a:r>
              <a:rPr lang="zh-TW" altLang="en-US" sz="2400" b="1" dirty="0">
                <a:latin typeface="微軟正黑體" panose="020B0604030504040204" pitchFamily="34" charset="-120"/>
                <a:ea typeface="微軟正黑體" panose="020B0604030504040204" pitchFamily="34" charset="-120"/>
              </a:rPr>
              <a:t>本份簡報係於</a:t>
            </a:r>
            <a:r>
              <a:rPr lang="en-US" altLang="zh-TW" sz="2400" b="1" dirty="0">
                <a:latin typeface="微軟正黑體" panose="020B0604030504040204" pitchFamily="34" charset="-120"/>
                <a:ea typeface="微軟正黑體" panose="020B0604030504040204" pitchFamily="34" charset="-120"/>
              </a:rPr>
              <a:t>2025</a:t>
            </a:r>
            <a:r>
              <a:rPr lang="zh-TW" altLang="en-US" sz="2400" b="1" dirty="0">
                <a:latin typeface="微軟正黑體" panose="020B0604030504040204" pitchFamily="34" charset="-120"/>
                <a:ea typeface="微軟正黑體" panose="020B0604030504040204" pitchFamily="34" charset="-120"/>
              </a:rPr>
              <a:t>年</a:t>
            </a:r>
            <a:r>
              <a:rPr lang="en-US" altLang="zh-TW" sz="2400" b="1" dirty="0">
                <a:latin typeface="微軟正黑體" panose="020B0604030504040204" pitchFamily="34" charset="-120"/>
                <a:ea typeface="微軟正黑體" panose="020B0604030504040204" pitchFamily="34" charset="-120"/>
              </a:rPr>
              <a:t>4</a:t>
            </a:r>
            <a:r>
              <a:rPr lang="zh-TW" altLang="en-US" sz="2400" b="1" dirty="0">
                <a:latin typeface="微軟正黑體" panose="020B0604030504040204" pitchFamily="34" charset="-120"/>
                <a:ea typeface="微軟正黑體" panose="020B0604030504040204" pitchFamily="34" charset="-120"/>
              </a:rPr>
              <a:t>月</a:t>
            </a:r>
            <a:r>
              <a:rPr lang="en-US" altLang="zh-TW" sz="2400" b="1" dirty="0">
                <a:latin typeface="微軟正黑體" panose="020B0604030504040204" pitchFamily="34" charset="-120"/>
                <a:ea typeface="微軟正黑體" panose="020B0604030504040204" pitchFamily="34" charset="-120"/>
              </a:rPr>
              <a:t>1</a:t>
            </a:r>
            <a:r>
              <a:rPr lang="zh-TW" altLang="en-US" sz="2400" b="1" dirty="0">
                <a:latin typeface="微軟正黑體" panose="020B0604030504040204" pitchFamily="34" charset="-120"/>
                <a:ea typeface="微軟正黑體" panose="020B0604030504040204" pitchFamily="34" charset="-120"/>
              </a:rPr>
              <a:t>日簽訂之服務委任合約製作完成，僅提供賜昌集團內部參考使用。</a:t>
            </a:r>
          </a:p>
          <a:p>
            <a:pPr algn="just" fontAlgn="base"/>
            <a:endParaRPr lang="en-US" altLang="zh-TW" sz="2400" b="1" dirty="0">
              <a:latin typeface="微軟正黑體" panose="020B0604030504040204" pitchFamily="34" charset="-120"/>
              <a:ea typeface="微軟正黑體" panose="020B0604030504040204" pitchFamily="34" charset="-120"/>
            </a:endParaRPr>
          </a:p>
          <a:p>
            <a:pPr algn="just" fontAlgn="base"/>
            <a:r>
              <a:rPr lang="zh-TW" altLang="en-US" sz="2400" b="1" dirty="0">
                <a:latin typeface="微軟正黑體" panose="020B0604030504040204" pitchFamily="34" charset="-120"/>
                <a:ea typeface="微軟正黑體" panose="020B0604030504040204" pitchFamily="34" charset="-120"/>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p>
          <a:p>
            <a:endParaRPr lang="zh-TW" altLang="en-US" sz="2400" b="1" dirty="0">
              <a:latin typeface="微軟正黑體" panose="020B0604030504040204" pitchFamily="34" charset="-120"/>
              <a:ea typeface="微軟正黑體" panose="020B0604030504040204" pitchFamily="34" charset="-120"/>
            </a:endParaRPr>
          </a:p>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未經本公司書面同意，  貴公司以及專案所有成員不得將本簡報之全部或部分提供予任何第三人或使第三人得知其內容。</a:t>
            </a:r>
          </a:p>
        </p:txBody>
      </p:sp>
    </p:spTree>
    <p:extLst>
      <p:ext uri="{BB962C8B-B14F-4D97-AF65-F5344CB8AC3E}">
        <p14:creationId xmlns="" xmlns:p14="http://schemas.microsoft.com/office/powerpoint/2010/main" val="194200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訂版面配置">
    <p:spTree>
      <p:nvGrpSpPr>
        <p:cNvPr id="1" name=""/>
        <p:cNvGrpSpPr/>
        <p:nvPr/>
      </p:nvGrpSpPr>
      <p:grpSpPr>
        <a:xfrm>
          <a:off x="0" y="0"/>
          <a:ext cx="0" cy="0"/>
          <a:chOff x="0" y="0"/>
          <a:chExt cx="0" cy="0"/>
        </a:xfrm>
      </p:grpSpPr>
      <p:pic>
        <p:nvPicPr>
          <p:cNvPr id="3" name="圖片 2">
            <a:extLst>
              <a:ext uri="{FF2B5EF4-FFF2-40B4-BE49-F238E27FC236}">
                <a16:creationId xmlns=""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1290"/>
            <a:ext cx="18288000" cy="10286015"/>
          </a:xfrm>
          <a:prstGeom prst="rect">
            <a:avLst/>
          </a:prstGeom>
        </p:spPr>
      </p:pic>
    </p:spTree>
    <p:extLst>
      <p:ext uri="{BB962C8B-B14F-4D97-AF65-F5344CB8AC3E}">
        <p14:creationId xmlns="" xmlns:p14="http://schemas.microsoft.com/office/powerpoint/2010/main" val="275478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Full Content - Subtitle" preserve="1">
  <p:cSld name="2_Title and Full Content - Subtitle">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8"/>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lang="en-US"/>
          </a:p>
        </p:txBody>
      </p:sp>
      <p:sp>
        <p:nvSpPr>
          <p:cNvPr id="28" name="Google Shape;28;p8"/>
          <p:cNvSpPr txBox="1">
            <a:spLocks noGrp="1"/>
          </p:cNvSpPr>
          <p:nvPr>
            <p:ph type="subTitle" idx="1"/>
          </p:nvPr>
        </p:nvSpPr>
        <p:spPr>
          <a:xfrm>
            <a:off x="664368" y="1674730"/>
            <a:ext cx="16959264" cy="1212484"/>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accent4"/>
              </a:buClr>
              <a:buSzPts val="2000"/>
              <a:buNone/>
              <a:defRPr sz="3000" b="1">
                <a:solidFill>
                  <a:schemeClr val="accent4"/>
                </a:solidFill>
                <a:latin typeface="Microsoft JhengHei"/>
                <a:ea typeface="Microsoft JhengHei"/>
                <a:cs typeface="Microsoft JhengHei"/>
                <a:sym typeface="Microsoft JhengHei"/>
              </a:defRPr>
            </a:lvl1pPr>
            <a:lvl2pPr lvl="1" algn="l">
              <a:lnSpc>
                <a:spcPct val="85000"/>
              </a:lnSpc>
              <a:spcBef>
                <a:spcPts val="0"/>
              </a:spcBef>
              <a:spcAft>
                <a:spcPts val="0"/>
              </a:spcAft>
              <a:buClr>
                <a:schemeClr val="dk1"/>
              </a:buClr>
              <a:buSzPts val="2400"/>
              <a:buNone/>
              <a:defRPr sz="3600"/>
            </a:lvl2pPr>
            <a:lvl3pPr lvl="2" algn="l">
              <a:lnSpc>
                <a:spcPct val="85000"/>
              </a:lnSpc>
              <a:spcBef>
                <a:spcPts val="0"/>
              </a:spcBef>
              <a:spcAft>
                <a:spcPts val="0"/>
              </a:spcAft>
              <a:buClr>
                <a:schemeClr val="dk1"/>
              </a:buClr>
              <a:buSzPts val="2400"/>
              <a:buNone/>
              <a:defRPr sz="3600"/>
            </a:lvl3pPr>
            <a:lvl4pPr lvl="3" algn="l">
              <a:lnSpc>
                <a:spcPct val="85000"/>
              </a:lnSpc>
              <a:spcBef>
                <a:spcPts val="0"/>
              </a:spcBef>
              <a:spcAft>
                <a:spcPts val="0"/>
              </a:spcAft>
              <a:buClr>
                <a:schemeClr val="dk1"/>
              </a:buClr>
              <a:buSzPts val="2400"/>
              <a:buNone/>
              <a:defRPr sz="3600"/>
            </a:lvl4pPr>
            <a:lvl5pPr lvl="4" algn="l">
              <a:lnSpc>
                <a:spcPct val="85000"/>
              </a:lnSpc>
              <a:spcBef>
                <a:spcPts val="0"/>
              </a:spcBef>
              <a:spcAft>
                <a:spcPts val="0"/>
              </a:spcAft>
              <a:buClr>
                <a:schemeClr val="dk1"/>
              </a:buClr>
              <a:buSzPts val="2400"/>
              <a:buNone/>
              <a:defRPr sz="3600"/>
            </a:lvl5pPr>
            <a:lvl6pPr lvl="5" algn="l">
              <a:lnSpc>
                <a:spcPct val="85000"/>
              </a:lnSpc>
              <a:spcBef>
                <a:spcPts val="0"/>
              </a:spcBef>
              <a:spcAft>
                <a:spcPts val="0"/>
              </a:spcAft>
              <a:buClr>
                <a:schemeClr val="dk1"/>
              </a:buClr>
              <a:buSzPts val="2400"/>
              <a:buNone/>
              <a:defRPr sz="3600"/>
            </a:lvl6pPr>
            <a:lvl7pPr lvl="6" algn="l">
              <a:lnSpc>
                <a:spcPct val="85000"/>
              </a:lnSpc>
              <a:spcBef>
                <a:spcPts val="0"/>
              </a:spcBef>
              <a:spcAft>
                <a:spcPts val="0"/>
              </a:spcAft>
              <a:buClr>
                <a:schemeClr val="dk1"/>
              </a:buClr>
              <a:buSzPts val="2400"/>
              <a:buNone/>
              <a:defRPr sz="3600"/>
            </a:lvl7pPr>
            <a:lvl8pPr lvl="7" algn="l">
              <a:lnSpc>
                <a:spcPct val="85000"/>
              </a:lnSpc>
              <a:spcBef>
                <a:spcPts val="0"/>
              </a:spcBef>
              <a:spcAft>
                <a:spcPts val="0"/>
              </a:spcAft>
              <a:buClr>
                <a:schemeClr val="dk1"/>
              </a:buClr>
              <a:buSzPts val="2400"/>
              <a:buNone/>
              <a:defRPr sz="3600"/>
            </a:lvl8pPr>
            <a:lvl9pPr lvl="8" algn="l">
              <a:lnSpc>
                <a:spcPct val="85000"/>
              </a:lnSpc>
              <a:spcBef>
                <a:spcPts val="0"/>
              </a:spcBef>
              <a:spcAft>
                <a:spcPts val="0"/>
              </a:spcAft>
              <a:buClr>
                <a:schemeClr val="dk1"/>
              </a:buClr>
              <a:buSzPts val="2400"/>
              <a:buNone/>
              <a:defRPr sz="3600"/>
            </a:lvl9pPr>
          </a:lstStyle>
          <a:p>
            <a:endParaRPr/>
          </a:p>
        </p:txBody>
      </p:sp>
      <p:cxnSp>
        <p:nvCxnSpPr>
          <p:cNvPr id="2" name="Google Shape;26;p8">
            <a:extLst>
              <a:ext uri="{FF2B5EF4-FFF2-40B4-BE49-F238E27FC236}">
                <a16:creationId xmlns="" xmlns:a16="http://schemas.microsoft.com/office/drawing/2014/main" id="{3C44852E-2A4F-C390-0531-598DA50C7D0D}"/>
              </a:ext>
            </a:extLst>
          </p:cNvPr>
          <p:cNvCxnSpPr>
            <a:cxnSpLocks/>
          </p:cNvCxnSpPr>
          <p:nvPr userDrawn="1"/>
        </p:nvCxnSpPr>
        <p:spPr>
          <a:xfrm>
            <a:off x="609166" y="1512141"/>
            <a:ext cx="17014463" cy="0"/>
          </a:xfrm>
          <a:prstGeom prst="straightConnector1">
            <a:avLst/>
          </a:prstGeom>
          <a:noFill/>
          <a:ln w="38100" cap="sq" cmpd="sng">
            <a:solidFill>
              <a:srgbClr val="A82415"/>
            </a:solidFill>
            <a:prstDash val="solid"/>
            <a:round/>
            <a:headEnd type="none" w="sm" len="sm"/>
            <a:tailEnd type="none" w="sm" len="sm"/>
          </a:ln>
        </p:spPr>
      </p:cxnSp>
      <p:pic>
        <p:nvPicPr>
          <p:cNvPr id="3" name="Google Shape;27;p8" descr="A red and black logo&#10;&#10;Description automatically generated">
            <a:extLst>
              <a:ext uri="{FF2B5EF4-FFF2-40B4-BE49-F238E27FC236}">
                <a16:creationId xmlns="" xmlns:a16="http://schemas.microsoft.com/office/drawing/2014/main" id="{7203C895-E48E-5654-59B4-87C538B70FA1}"/>
              </a:ext>
            </a:extLst>
          </p:cNvPr>
          <p:cNvPicPr preferRelativeResize="0"/>
          <p:nvPr userDrawn="1"/>
        </p:nvPicPr>
        <p:blipFill rotWithShape="1">
          <a:blip r:embed="rId2">
            <a:alphaModFix/>
          </a:blip>
          <a:srcRect/>
          <a:stretch/>
        </p:blipFill>
        <p:spPr>
          <a:xfrm>
            <a:off x="16791708" y="695699"/>
            <a:ext cx="831921" cy="724961"/>
          </a:xfrm>
          <a:prstGeom prst="rect">
            <a:avLst/>
          </a:prstGeom>
          <a:noFill/>
          <a:ln>
            <a:noFill/>
          </a:ln>
        </p:spPr>
      </p:pic>
    </p:spTree>
    <p:extLst>
      <p:ext uri="{BB962C8B-B14F-4D97-AF65-F5344CB8AC3E}">
        <p14:creationId xmlns="" xmlns:p14="http://schemas.microsoft.com/office/powerpoint/2010/main" val="1804427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2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 xmlns:a16="http://schemas.microsoft.com/office/drawing/2014/main" id="{DDE4C3EC-89CD-BB54-5F4C-D558F5C045CB}"/>
              </a:ext>
            </a:extLst>
          </p:cNvPr>
          <p:cNvGraphicFramePr/>
          <p:nvPr userDrawn="1">
            <p:extLst>
              <p:ext uri="{D42A27DB-BD31-4B8C-83A1-F6EECF244321}">
                <p14:modId xmlns="" xmlns:p14="http://schemas.microsoft.com/office/powerpoint/2010/main" val="3675913295"/>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 xmlns:a16="http://schemas.microsoft.com/office/drawing/2014/main" val="20000"/>
                    </a:ext>
                  </a:extLst>
                </a:gridCol>
                <a:gridCol w="11889371">
                  <a:extLst>
                    <a:ext uri="{9D8B030D-6E8A-4147-A177-3AD203B41FA5}">
                      <a16:colId xmlns="" xmlns:a16="http://schemas.microsoft.com/office/drawing/2014/main" val="20001"/>
                    </a:ext>
                  </a:extLst>
                </a:gridCol>
                <a:gridCol w="3819371">
                  <a:extLst>
                    <a:ext uri="{9D8B030D-6E8A-4147-A177-3AD203B41FA5}">
                      <a16:colId xmlns=""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r h="8799383">
                <a:tc gridSpan="3">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pPr marL="0" marR="0" lvl="0" indent="0" algn="ctr" rtl="0">
                        <a:lnSpc>
                          <a:spcPct val="100000"/>
                        </a:lnSpc>
                        <a:spcBef>
                          <a:spcPts val="0"/>
                        </a:spcBef>
                        <a:spcAft>
                          <a:spcPts val="0"/>
                        </a:spcAft>
                        <a:buClr>
                          <a:schemeClr val="dk1"/>
                        </a:buClr>
                        <a:buSzPts val="1000"/>
                        <a:buFont typeface="Arial"/>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438868285"/>
                  </a:ext>
                </a:extLst>
              </a:tr>
            </a:tbl>
          </a:graphicData>
        </a:graphic>
      </p:graphicFrame>
      <p:pic>
        <p:nvPicPr>
          <p:cNvPr id="3" name="Google Shape;37;p9" descr="A red and black logo&#10;&#10;Description automatically generated">
            <a:extLst>
              <a:ext uri="{FF2B5EF4-FFF2-40B4-BE49-F238E27FC236}">
                <a16:creationId xmlns=""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4" name="Google Shape;24;p8">
            <a:extLst>
              <a:ext uri="{FF2B5EF4-FFF2-40B4-BE49-F238E27FC236}">
                <a16:creationId xmlns="" xmlns:a16="http://schemas.microsoft.com/office/drawing/2014/main" id="{10ED93F3-E6DB-99ED-6C71-93C2253FB3D7}"/>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 xmlns:p14="http://schemas.microsoft.com/office/powerpoint/2010/main" val="1975337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and Full Content - Subtitle" userDrawn="1">
  <p:cSld name="1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 xmlns:a16="http://schemas.microsoft.com/office/drawing/2014/main" id="{DDE4C3EC-89CD-BB54-5F4C-D558F5C045CB}"/>
              </a:ext>
            </a:extLst>
          </p:cNvPr>
          <p:cNvGraphicFramePr/>
          <p:nvPr userDrawn="1">
            <p:extLst>
              <p:ext uri="{D42A27DB-BD31-4B8C-83A1-F6EECF244321}">
                <p14:modId xmlns="" xmlns:p14="http://schemas.microsoft.com/office/powerpoint/2010/main" val="642626727"/>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 xmlns:a16="http://schemas.microsoft.com/office/drawing/2014/main" val="20000"/>
                    </a:ext>
                  </a:extLst>
                </a:gridCol>
                <a:gridCol w="9468940">
                  <a:extLst>
                    <a:ext uri="{9D8B030D-6E8A-4147-A177-3AD203B41FA5}">
                      <a16:colId xmlns="" xmlns:a16="http://schemas.microsoft.com/office/drawing/2014/main" val="20001"/>
                    </a:ext>
                  </a:extLst>
                </a:gridCol>
                <a:gridCol w="2420431">
                  <a:extLst>
                    <a:ext uri="{9D8B030D-6E8A-4147-A177-3AD203B41FA5}">
                      <a16:colId xmlns="" xmlns:a16="http://schemas.microsoft.com/office/drawing/2014/main" val="697488759"/>
                    </a:ext>
                  </a:extLst>
                </a:gridCol>
                <a:gridCol w="3819371">
                  <a:extLst>
                    <a:ext uri="{9D8B030D-6E8A-4147-A177-3AD203B41FA5}">
                      <a16:colId xmlns=""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gridSpan="2">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endParaRPr lang="zh-TW" altLang="en-US"/>
                    </a:p>
                  </a:txBody>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gridSpan="2">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endParaRPr lang="zh-TW" altLang="en-US"/>
                    </a:p>
                  </a:txBody>
                  <a:tcPr/>
                </a:tc>
                <a:tc vMerge="1">
                  <a:txBody>
                    <a:bodyPr/>
                    <a:lstStyle/>
                    <a:p>
                      <a:endParaRPr lang="en-US"/>
                    </a:p>
                  </a:txBody>
                  <a:tcPr/>
                </a:tc>
                <a:extLst>
                  <a:ext uri="{0D108BD9-81ED-4DB2-BD59-A6C34878D82A}">
                    <a16:rowId xmlns="" xmlns:a16="http://schemas.microsoft.com/office/drawing/2014/main" val="10001"/>
                  </a:ext>
                </a:extLst>
              </a:tr>
              <a:tr h="37022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Input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Output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lnSpc>
                          <a:spcPct val="100000"/>
                        </a:lnSpc>
                        <a:spcBef>
                          <a:spcPts val="0"/>
                        </a:spcBef>
                        <a:spcAft>
                          <a:spcPts val="0"/>
                        </a:spcAft>
                        <a:buClr>
                          <a:schemeClr val="dk1"/>
                        </a:buClr>
                        <a:buSzPts val="1000"/>
                        <a:buFont typeface="Arial"/>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Activities</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438868285"/>
                  </a:ext>
                </a:extLst>
              </a:tr>
              <a:tr h="8429160">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lnSpc>
                          <a:spcPct val="100000"/>
                        </a:lnSpc>
                        <a:spcBef>
                          <a:spcPts val="0"/>
                        </a:spcBef>
                        <a:spcAft>
                          <a:spcPts val="0"/>
                        </a:spcAft>
                        <a:buClr>
                          <a:schemeClr val="dk1"/>
                        </a:buClr>
                        <a:buSzPts val="1000"/>
                        <a:buFont typeface="Arial"/>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3940032794"/>
                  </a:ext>
                </a:extLst>
              </a:tr>
            </a:tbl>
          </a:graphicData>
        </a:graphic>
      </p:graphicFrame>
      <p:pic>
        <p:nvPicPr>
          <p:cNvPr id="3" name="Google Shape;37;p9" descr="A red and black logo&#10;&#10;Description automatically generated">
            <a:extLst>
              <a:ext uri="{FF2B5EF4-FFF2-40B4-BE49-F238E27FC236}">
                <a16:creationId xmlns=""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10" name="Google Shape;24;p8">
            <a:extLst>
              <a:ext uri="{FF2B5EF4-FFF2-40B4-BE49-F238E27FC236}">
                <a16:creationId xmlns="" xmlns:a16="http://schemas.microsoft.com/office/drawing/2014/main" id="{0448B46C-C68B-BB74-204F-0F458130E386}"/>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 xmlns:p14="http://schemas.microsoft.com/office/powerpoint/2010/main" val="3416224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自訂版面配置">
    <p:spTree>
      <p:nvGrpSpPr>
        <p:cNvPr id="1" name=""/>
        <p:cNvGrpSpPr/>
        <p:nvPr/>
      </p:nvGrpSpPr>
      <p:grpSpPr>
        <a:xfrm>
          <a:off x="0" y="0"/>
          <a:ext cx="0" cy="0"/>
          <a:chOff x="0" y="0"/>
          <a:chExt cx="0" cy="0"/>
        </a:xfrm>
      </p:grpSpPr>
      <p:pic>
        <p:nvPicPr>
          <p:cNvPr id="5" name="圖片 4">
            <a:extLst>
              <a:ext uri="{FF2B5EF4-FFF2-40B4-BE49-F238E27FC236}">
                <a16:creationId xmlns="" xmlns:a16="http://schemas.microsoft.com/office/drawing/2014/main" id="{0B02BF32-51F7-DDF0-4455-62412D8BC839}"/>
              </a:ext>
            </a:extLst>
          </p:cNvPr>
          <p:cNvPicPr>
            <a:picLocks noChangeAspect="1"/>
          </p:cNvPicPr>
          <p:nvPr userDrawn="1"/>
        </p:nvPicPr>
        <p:blipFill>
          <a:blip r:embed="rId2" cstate="screen">
            <a:extLst>
              <a:ext uri="{28A0092B-C50C-407E-A947-70E740481C1C}">
                <a14:useLocalDpi xmlns=""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 xmlns:p14="http://schemas.microsoft.com/office/powerpoint/2010/main" val="4204613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773"/>
            <a:ext cx="15773400" cy="1988651"/>
          </a:xfrm>
          <a:prstGeom prst="rect">
            <a:avLst/>
          </a:prstGeom>
        </p:spPr>
        <p:txBody>
          <a:bodyPr vert="horz" lIns="91440" tIns="45720" rIns="91440" bIns="45720" rtlCol="0" anchor="ctr">
            <a:normAutofit/>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7300" y="2738860"/>
            <a:ext cx="15773400" cy="6528015"/>
          </a:xfrm>
          <a:prstGeom prst="rect">
            <a:avLst/>
          </a:prstGeom>
        </p:spPr>
        <p:txBody>
          <a:bodyPr vert="horz" lIns="91440" tIns="45720" rIns="91440" bIns="45720" rtlCol="0">
            <a:normAutofit/>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2"/>
          </p:nvPr>
        </p:nvSpPr>
        <p:spPr>
          <a:xfrm>
            <a:off x="1257300" y="9535998"/>
            <a:ext cx="4114800" cy="547772"/>
          </a:xfrm>
          <a:prstGeom prst="rect">
            <a:avLst/>
          </a:prstGeom>
        </p:spPr>
        <p:txBody>
          <a:bodyPr vert="horz" lIns="91440" tIns="45720" rIns="91440" bIns="45720" rtlCol="0" anchor="ctr"/>
          <a:lstStyle>
            <a:lvl1pPr algn="l">
              <a:defRPr sz="1800">
                <a:solidFill>
                  <a:schemeClr val="tx1">
                    <a:tint val="75000"/>
                  </a:schemeClr>
                </a:solidFill>
              </a:defRPr>
            </a:lvl1pPr>
          </a:lstStyle>
          <a:p>
            <a:fld id="{C764DE79-268F-4C1A-8933-263129D2AF90}" type="datetimeFigureOut">
              <a:rPr lang="en-US" dirty="0"/>
              <a:pPr/>
              <a:t>7/15/2025</a:t>
            </a:fld>
            <a:endParaRPr lang="en-US" dirty="0"/>
          </a:p>
        </p:txBody>
      </p:sp>
      <p:sp>
        <p:nvSpPr>
          <p:cNvPr id="5" name="Footer Placeholder 4"/>
          <p:cNvSpPr>
            <a:spLocks noGrp="1"/>
          </p:cNvSpPr>
          <p:nvPr>
            <p:ph type="ftr" sz="quarter" idx="3"/>
          </p:nvPr>
        </p:nvSpPr>
        <p:spPr>
          <a:xfrm>
            <a:off x="6057900" y="9535998"/>
            <a:ext cx="6172200" cy="547772"/>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2915900" y="9535998"/>
            <a:ext cx="4114800" cy="547772"/>
          </a:xfrm>
          <a:prstGeom prst="rect">
            <a:avLst/>
          </a:prstGeom>
        </p:spPr>
        <p:txBody>
          <a:bodyPr vert="horz" lIns="91440" tIns="45720" rIns="91440" bIns="45720" rtlCol="0" anchor="ctr"/>
          <a:lstStyle>
            <a:lvl1pPr algn="r">
              <a:defRPr sz="1800">
                <a:solidFill>
                  <a:schemeClr val="tx1">
                    <a:tint val="75000"/>
                  </a:schemeClr>
                </a:solidFill>
              </a:defRPr>
            </a:lvl1pPr>
          </a:lstStyle>
          <a:p>
            <a:fld id="{48F63A3B-78C7-47BE-AE5E-E10140E04643}" type="slidenum">
              <a:rPr lang="en-US" dirty="0"/>
              <a:pPr/>
              <a:t>‹#›</a:t>
            </a:fld>
            <a:endParaRPr lang="en-US" dirty="0"/>
          </a:p>
        </p:txBody>
      </p:sp>
    </p:spTree>
    <p:extLst>
      <p:ext uri="{BB962C8B-B14F-4D97-AF65-F5344CB8AC3E}">
        <p14:creationId xmlns="" xmlns:p14="http://schemas.microsoft.com/office/powerpoint/2010/main" val="319702633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65" r:id="rId13"/>
    <p:sldLayoutId id="2147483668" r:id="rId14"/>
    <p:sldLayoutId id="2147483664" r:id="rId15"/>
    <p:sldLayoutId id="2147483683" r:id="rId16"/>
    <p:sldLayoutId id="2147483684" r:id="rId17"/>
    <p:sldLayoutId id="2147483682" r:id="rId18"/>
    <p:sldLayoutId id="2147483663" r:id="rId19"/>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 xmlns:a16="http://schemas.microsoft.com/office/drawing/2014/main" id="{7F582E9E-3697-760D-DA26-BA27025404FB}"/>
              </a:ext>
            </a:extLst>
          </p:cNvPr>
          <p:cNvSpPr>
            <a:spLocks noChangeArrowheads="1"/>
          </p:cNvSpPr>
          <p:nvPr/>
        </p:nvSpPr>
        <p:spPr bwMode="auto">
          <a:xfrm>
            <a:off x="843405" y="5144294"/>
            <a:ext cx="6537111"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4800" dirty="0">
                <a:latin typeface="Microsoft JhengHei" panose="020B0604030504040204" pitchFamily="34" charset="-120"/>
                <a:ea typeface="Microsoft JhengHei" panose="020B0604030504040204" pitchFamily="34" charset="-120"/>
              </a:rPr>
              <a:t>賜昌集團 </a:t>
            </a:r>
            <a:r>
              <a:rPr lang="en-US" altLang="zh-TW" sz="4800" dirty="0">
                <a:latin typeface="Microsoft JhengHei" panose="020B0604030504040204" pitchFamily="34" charset="-120"/>
                <a:ea typeface="Microsoft JhengHei" panose="020B0604030504040204" pitchFamily="34" charset="-120"/>
              </a:rPr>
              <a:t>SAP</a:t>
            </a:r>
            <a:r>
              <a:rPr lang="zh-TW" altLang="en-US" sz="4800" dirty="0">
                <a:latin typeface="Microsoft JhengHei" panose="020B0604030504040204" pitchFamily="34" charset="-120"/>
                <a:ea typeface="Microsoft JhengHei" panose="020B0604030504040204" pitchFamily="34" charset="-120"/>
              </a:rPr>
              <a:t>推進中心</a:t>
            </a:r>
          </a:p>
        </p:txBody>
      </p:sp>
      <p:sp>
        <p:nvSpPr>
          <p:cNvPr id="3" name="TextBox 2">
            <a:extLst>
              <a:ext uri="{FF2B5EF4-FFF2-40B4-BE49-F238E27FC236}">
                <a16:creationId xmlns="" xmlns:a16="http://schemas.microsoft.com/office/drawing/2014/main" id="{8859345E-AB13-0337-28A8-72F68FB71A83}"/>
              </a:ext>
            </a:extLst>
          </p:cNvPr>
          <p:cNvSpPr txBox="1"/>
          <p:nvPr/>
        </p:nvSpPr>
        <p:spPr>
          <a:xfrm>
            <a:off x="843407" y="7871570"/>
            <a:ext cx="2833853" cy="738664"/>
          </a:xfrm>
          <a:prstGeom prst="rect">
            <a:avLst/>
          </a:prstGeom>
          <a:noFill/>
        </p:spPr>
        <p:txBody>
          <a:bodyPr wrap="none" rtlCol="0">
            <a:spAutoFit/>
          </a:bodyPr>
          <a:lstStyle/>
          <a:p>
            <a:r>
              <a:rPr kumimoji="1" lang="en-US" altLang="zh-TW" sz="2100" dirty="0">
                <a:latin typeface="Microsoft JhengHei" panose="020B0604030504040204" pitchFamily="34" charset="-120"/>
                <a:ea typeface="Microsoft JhengHei" panose="020B0604030504040204" pitchFamily="34" charset="-120"/>
              </a:rPr>
              <a:t>Presentation by </a:t>
            </a:r>
            <a:r>
              <a:rPr kumimoji="1" lang="en-US" altLang="zh-TW" sz="2100" b="1" dirty="0">
                <a:latin typeface="Microsoft JhengHei" panose="020B0604030504040204" pitchFamily="34" charset="-120"/>
                <a:ea typeface="Microsoft JhengHei" panose="020B0604030504040204" pitchFamily="34" charset="-120"/>
              </a:rPr>
              <a:t>DSIT</a:t>
            </a:r>
          </a:p>
          <a:p>
            <a:r>
              <a:rPr kumimoji="1" lang="en-US" altLang="zh-TW" sz="2100" dirty="0" smtClean="0">
                <a:latin typeface="Microsoft JhengHei" panose="020B0604030504040204" pitchFamily="34" charset="-120"/>
                <a:ea typeface="Microsoft JhengHei" panose="020B0604030504040204" pitchFamily="34" charset="-120"/>
              </a:rPr>
              <a:t>2025/07/01</a:t>
            </a:r>
            <a:endParaRPr kumimoji="1" lang="zh-TW" altLang="en-US" sz="2100" dirty="0">
              <a:latin typeface="Microsoft JhengHei" panose="020B0604030504040204" pitchFamily="34" charset="-120"/>
              <a:ea typeface="Microsoft JhengHei" panose="020B0604030504040204" pitchFamily="34" charset="-120"/>
            </a:endParaRPr>
          </a:p>
        </p:txBody>
      </p:sp>
      <p:sp>
        <p:nvSpPr>
          <p:cNvPr id="4" name="矩形 1">
            <a:extLst>
              <a:ext uri="{FF2B5EF4-FFF2-40B4-BE49-F238E27FC236}">
                <a16:creationId xmlns="" xmlns:a16="http://schemas.microsoft.com/office/drawing/2014/main" id="{B99C6C67-25AF-0B71-AD21-378FF0D6B16C}"/>
              </a:ext>
            </a:extLst>
          </p:cNvPr>
          <p:cNvSpPr>
            <a:spLocks noChangeArrowheads="1"/>
          </p:cNvSpPr>
          <p:nvPr/>
        </p:nvSpPr>
        <p:spPr bwMode="auto">
          <a:xfrm>
            <a:off x="843405" y="6523311"/>
            <a:ext cx="6537111"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en-US" altLang="zh-TW" sz="3600" b="0" strike="noStrike" spc="-1" dirty="0">
                <a:solidFill>
                  <a:schemeClr val="dk1"/>
                </a:solidFill>
                <a:latin typeface="Microsoft JhengHei"/>
                <a:ea typeface="Microsoft JhengHei"/>
              </a:rPr>
              <a:t>MM-</a:t>
            </a:r>
            <a:r>
              <a:rPr lang="en-US" altLang="zh-TW" sz="3600" b="0" spc="-1" dirty="0">
                <a:solidFill>
                  <a:schemeClr val="dk1"/>
                </a:solidFill>
                <a:latin typeface="Microsoft JhengHei"/>
                <a:ea typeface="Microsoft JhengHei"/>
              </a:rPr>
              <a:t>PU</a:t>
            </a:r>
            <a:r>
              <a:rPr lang="en-US" altLang="zh-TW" sz="3600" b="0" strike="noStrike" spc="-1" dirty="0">
                <a:solidFill>
                  <a:schemeClr val="dk1"/>
                </a:solidFill>
                <a:latin typeface="Microsoft JhengHei"/>
                <a:ea typeface="Microsoft JhengHei"/>
              </a:rPr>
              <a:t>-0040</a:t>
            </a:r>
            <a:endParaRPr lang="zh-TW" altLang="en-US" sz="3600" b="0" dirty="0">
              <a:ea typeface="新細明體" panose="02020500000000000000" pitchFamily="18" charset="-120"/>
            </a:endParaRPr>
          </a:p>
        </p:txBody>
      </p:sp>
      <p:sp>
        <p:nvSpPr>
          <p:cNvPr id="5" name="矩形 1">
            <a:extLst>
              <a:ext uri="{FF2B5EF4-FFF2-40B4-BE49-F238E27FC236}">
                <a16:creationId xmlns="" xmlns:a16="http://schemas.microsoft.com/office/drawing/2014/main" id="{E1637891-39B6-9F83-1E67-17C75D44F0A1}"/>
              </a:ext>
            </a:extLst>
          </p:cNvPr>
          <p:cNvSpPr>
            <a:spLocks noChangeArrowheads="1"/>
          </p:cNvSpPr>
          <p:nvPr/>
        </p:nvSpPr>
        <p:spPr bwMode="auto">
          <a:xfrm>
            <a:off x="843405" y="7179076"/>
            <a:ext cx="6537111"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3600" b="0" spc="-1" dirty="0">
                <a:solidFill>
                  <a:schemeClr val="dk1"/>
                </a:solidFill>
                <a:latin typeface="Microsoft JhengHei"/>
                <a:ea typeface="Microsoft JhengHei"/>
              </a:rPr>
              <a:t>庶務請採流程</a:t>
            </a:r>
            <a:endParaRPr lang="zh-TW" altLang="en-US" sz="3600" b="0" dirty="0">
              <a:ea typeface="新細明體" panose="02020500000000000000" pitchFamily="18" charset="-120"/>
            </a:endParaRPr>
          </a:p>
        </p:txBody>
      </p:sp>
    </p:spTree>
    <p:extLst>
      <p:ext uri="{BB962C8B-B14F-4D97-AF65-F5344CB8AC3E}">
        <p14:creationId xmlns="" xmlns:p14="http://schemas.microsoft.com/office/powerpoint/2010/main" val="428307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103097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190" name="Google Shape;190;p2"/>
          <p:cNvGraphicFramePr/>
          <p:nvPr>
            <p:extLst>
              <p:ext uri="{D42A27DB-BD31-4B8C-83A1-F6EECF244321}">
                <p14:modId xmlns="" xmlns:p14="http://schemas.microsoft.com/office/powerpoint/2010/main" val="2505803211"/>
              </p:ext>
            </p:extLst>
          </p:nvPr>
        </p:nvGraphicFramePr>
        <p:xfrm>
          <a:off x="366269" y="1567509"/>
          <a:ext cx="17518777" cy="1512000"/>
        </p:xfrm>
        <a:graphic>
          <a:graphicData uri="http://schemas.openxmlformats.org/drawingml/2006/table">
            <a:tbl>
              <a:tblPr>
                <a:noFill/>
              </a:tblPr>
              <a:tblGrid>
                <a:gridCol w="2061420">
                  <a:extLst>
                    <a:ext uri="{9D8B030D-6E8A-4147-A177-3AD203B41FA5}">
                      <a16:colId xmlns="" xmlns:a16="http://schemas.microsoft.com/office/drawing/2014/main" val="1034483988"/>
                    </a:ext>
                  </a:extLst>
                </a:gridCol>
                <a:gridCol w="2061420">
                  <a:extLst>
                    <a:ext uri="{9D8B030D-6E8A-4147-A177-3AD203B41FA5}">
                      <a16:colId xmlns="" xmlns:a16="http://schemas.microsoft.com/office/drawing/2014/main" val="20000"/>
                    </a:ext>
                  </a:extLst>
                </a:gridCol>
                <a:gridCol w="8327926">
                  <a:extLst>
                    <a:ext uri="{9D8B030D-6E8A-4147-A177-3AD203B41FA5}">
                      <a16:colId xmlns="" xmlns:a16="http://schemas.microsoft.com/office/drawing/2014/main" val="20001"/>
                    </a:ext>
                  </a:extLst>
                </a:gridCol>
                <a:gridCol w="1423236">
                  <a:extLst>
                    <a:ext uri="{9D8B030D-6E8A-4147-A177-3AD203B41FA5}">
                      <a16:colId xmlns="" xmlns:a16="http://schemas.microsoft.com/office/drawing/2014/main" val="20002"/>
                    </a:ext>
                  </a:extLst>
                </a:gridCol>
                <a:gridCol w="634687">
                  <a:extLst>
                    <a:ext uri="{9D8B030D-6E8A-4147-A177-3AD203B41FA5}">
                      <a16:colId xmlns="" xmlns:a16="http://schemas.microsoft.com/office/drawing/2014/main" val="20003"/>
                    </a:ext>
                  </a:extLst>
                </a:gridCol>
                <a:gridCol w="1192442">
                  <a:extLst>
                    <a:ext uri="{9D8B030D-6E8A-4147-A177-3AD203B41FA5}">
                      <a16:colId xmlns="" xmlns:a16="http://schemas.microsoft.com/office/drawing/2014/main" val="2445255174"/>
                    </a:ext>
                  </a:extLst>
                </a:gridCol>
                <a:gridCol w="576988">
                  <a:extLst>
                    <a:ext uri="{9D8B030D-6E8A-4147-A177-3AD203B41FA5}">
                      <a16:colId xmlns="" xmlns:a16="http://schemas.microsoft.com/office/drawing/2014/main" val="3610384773"/>
                    </a:ext>
                  </a:extLst>
                </a:gridCol>
                <a:gridCol w="1240658">
                  <a:extLst>
                    <a:ext uri="{9D8B030D-6E8A-4147-A177-3AD203B41FA5}">
                      <a16:colId xmlns="" xmlns:a16="http://schemas.microsoft.com/office/drawing/2014/main" val="4169125416"/>
                    </a:ext>
                  </a:extLst>
                </a:gridCol>
              </a:tblGrid>
              <a:tr h="504000">
                <a:tc rowSpan="3">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文件基本訊息</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文件主題</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 To be_Business Process</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創建日期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gridSpan="4">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r>
                        <a:rPr lang="en-US" sz="1800" b="1" u="none" strike="noStrike" cap="none" dirty="0" smtClean="0">
                          <a:solidFill>
                            <a:schemeClr val="lt1"/>
                          </a:solidFill>
                          <a:latin typeface="Microsoft JhengHei"/>
                          <a:ea typeface="Microsoft JhengHei"/>
                          <a:cs typeface="Microsoft JhengHei"/>
                          <a:sym typeface="Microsoft JhengHei"/>
                        </a:rPr>
                        <a:t>2025/07/01</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 xmlns:a16="http://schemas.microsoft.com/office/drawing/2014/main" val="10000"/>
                  </a:ext>
                </a:extLst>
              </a:tr>
              <a:tr h="504000">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err="1">
                          <a:solidFill>
                            <a:schemeClr val="lt1"/>
                          </a:solidFill>
                          <a:latin typeface="Microsoft JhengHei"/>
                          <a:ea typeface="Microsoft JhengHei"/>
                          <a:cs typeface="Microsoft JhengHei"/>
                          <a:sym typeface="Microsoft JhengHei"/>
                        </a:rPr>
                        <a:t>作者</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altLang="zh-TW" sz="1800" b="1" u="none" strike="noStrike" cap="none" dirty="0">
                          <a:solidFill>
                            <a:schemeClr val="dk1"/>
                          </a:solidFill>
                          <a:latin typeface="Microsoft JhengHei"/>
                          <a:ea typeface="Microsoft JhengHei"/>
                          <a:cs typeface="Microsoft JhengHei"/>
                          <a:sym typeface="Microsoft JhengHei"/>
                        </a:rPr>
                        <a:t>DSIT</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文件狀態</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Clr>
                          <a:schemeClr val="dk1"/>
                        </a:buClr>
                        <a:buSzPts val="1200"/>
                        <a:buFont typeface="Arimo"/>
                        <a:buNone/>
                      </a:pPr>
                      <a:r>
                        <a:rPr lang="en-US" sz="1800" b="1" u="none" strike="noStrike" cap="none" dirty="0" err="1">
                          <a:solidFill>
                            <a:schemeClr val="dk1"/>
                          </a:solidFill>
                          <a:latin typeface="Microsoft JhengHei"/>
                          <a:ea typeface="Microsoft JhengHei"/>
                          <a:cs typeface="Microsoft JhengHei"/>
                          <a:sym typeface="Microsoft JhengHei"/>
                        </a:rPr>
                        <a:t>草稿版</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r>
                        <a:rPr lang="x-none" sz="1800" b="1" u="none" strike="noStrike" cap="none" dirty="0">
                          <a:solidFill>
                            <a:schemeClr val="dk1"/>
                          </a:solidFill>
                          <a:latin typeface="Microsoft JhengHei"/>
                          <a:ea typeface="Microsoft JhengHei"/>
                          <a:cs typeface="Microsoft JhengHei"/>
                          <a:sym typeface="Microsoft JhengHei"/>
                        </a:rPr>
                        <a:t>V</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l" defTabSz="1371600" rtl="0" eaLnBrk="1" fontAlgn="auto" latinLnBrk="0" hangingPunct="1">
                        <a:lnSpc>
                          <a:spcPct val="166666"/>
                        </a:lnSpc>
                        <a:spcBef>
                          <a:spcPts val="0"/>
                        </a:spcBef>
                        <a:spcAft>
                          <a:spcPts val="0"/>
                        </a:spcAft>
                        <a:buClr>
                          <a:schemeClr val="dk1"/>
                        </a:buClr>
                        <a:buSzPts val="1200"/>
                        <a:buFont typeface="Arimo"/>
                        <a:buNone/>
                        <a:tabLst/>
                        <a:defRPr/>
                      </a:pPr>
                      <a:r>
                        <a:rPr lang="zh-TW" altLang="en-US" sz="1800" b="1" u="none" strike="noStrike" cap="none" dirty="0">
                          <a:solidFill>
                            <a:schemeClr val="dk1"/>
                          </a:solidFill>
                          <a:latin typeface="Microsoft JhengHei"/>
                          <a:ea typeface="Microsoft JhengHei"/>
                          <a:cs typeface="Microsoft JhengHei"/>
                          <a:sym typeface="Microsoft JhengHei"/>
                        </a:rPr>
                        <a:t>確認版</a:t>
                      </a: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04000">
                <a:tc vMerge="1">
                  <a:txBody>
                    <a:bodyPr/>
                    <a:lstStyle/>
                    <a:p>
                      <a:pPr marL="0" marR="0" lvl="0" indent="0" algn="l" rtl="0">
                        <a:lnSpc>
                          <a:spcPct val="166666"/>
                        </a:lnSpc>
                        <a:spcBef>
                          <a:spcPts val="0"/>
                        </a:spcBef>
                        <a:spcAft>
                          <a:spcPts val="0"/>
                        </a:spcAft>
                        <a:buNone/>
                      </a:pPr>
                      <a:endParaRPr sz="4100"/>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dirty="0"/>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endParaRPr lang="zh-TW" altLang="en-US" sz="1800" b="1"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版本</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gridSpan="4">
                  <a:txBody>
                    <a:bodyPr/>
                    <a:lstStyle/>
                    <a:p>
                      <a:pPr marL="0" marR="0" lvl="0" indent="0" algn="l" rtl="0">
                        <a:lnSpc>
                          <a:spcPct val="166666"/>
                        </a:lnSpc>
                        <a:spcBef>
                          <a:spcPts val="0"/>
                        </a:spcBef>
                        <a:spcAft>
                          <a:spcPts val="0"/>
                        </a:spcAft>
                        <a:buNone/>
                      </a:pPr>
                      <a:r>
                        <a:rPr lang="en-US" sz="1800" b="1" u="none" strike="noStrike" cap="none" dirty="0">
                          <a:solidFill>
                            <a:schemeClr val="dk1"/>
                          </a:solidFill>
                          <a:latin typeface="Microsoft JhengHei"/>
                          <a:ea typeface="Microsoft JhengHei"/>
                          <a:cs typeface="Microsoft JhengHei"/>
                          <a:sym typeface="Microsoft JhengHei"/>
                        </a:rPr>
                        <a:t> v2.0</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 xmlns:a16="http://schemas.microsoft.com/office/drawing/2014/main" val="10002"/>
                  </a:ext>
                </a:extLst>
              </a:tr>
            </a:tbl>
          </a:graphicData>
        </a:graphic>
      </p:graphicFrame>
      <p:graphicFrame>
        <p:nvGraphicFramePr>
          <p:cNvPr id="191" name="Google Shape;191;p2"/>
          <p:cNvGraphicFramePr/>
          <p:nvPr>
            <p:extLst>
              <p:ext uri="{D42A27DB-BD31-4B8C-83A1-F6EECF244321}">
                <p14:modId xmlns="" xmlns:p14="http://schemas.microsoft.com/office/powerpoint/2010/main" val="3644532040"/>
              </p:ext>
            </p:extLst>
          </p:nvPr>
        </p:nvGraphicFramePr>
        <p:xfrm>
          <a:off x="366270" y="3155451"/>
          <a:ext cx="17518775" cy="3149589"/>
        </p:xfrm>
        <a:graphic>
          <a:graphicData uri="http://schemas.openxmlformats.org/drawingml/2006/table">
            <a:tbl>
              <a:tblPr>
                <a:noFill/>
              </a:tblPr>
              <a:tblGrid>
                <a:gridCol w="2061420">
                  <a:extLst>
                    <a:ext uri="{9D8B030D-6E8A-4147-A177-3AD203B41FA5}">
                      <a16:colId xmlns="" xmlns:a16="http://schemas.microsoft.com/office/drawing/2014/main" val="2419195791"/>
                    </a:ext>
                  </a:extLst>
                </a:gridCol>
                <a:gridCol w="2061420">
                  <a:extLst>
                    <a:ext uri="{9D8B030D-6E8A-4147-A177-3AD203B41FA5}">
                      <a16:colId xmlns="" xmlns:a16="http://schemas.microsoft.com/office/drawing/2014/main" val="20000"/>
                    </a:ext>
                  </a:extLst>
                </a:gridCol>
                <a:gridCol w="8327988">
                  <a:extLst>
                    <a:ext uri="{9D8B030D-6E8A-4147-A177-3AD203B41FA5}">
                      <a16:colId xmlns="" xmlns:a16="http://schemas.microsoft.com/office/drawing/2014/main" val="20001"/>
                    </a:ext>
                  </a:extLst>
                </a:gridCol>
                <a:gridCol w="3270143">
                  <a:extLst>
                    <a:ext uri="{9D8B030D-6E8A-4147-A177-3AD203B41FA5}">
                      <a16:colId xmlns="" xmlns:a16="http://schemas.microsoft.com/office/drawing/2014/main" val="20002"/>
                    </a:ext>
                  </a:extLst>
                </a:gridCol>
                <a:gridCol w="1797804">
                  <a:extLst>
                    <a:ext uri="{9D8B030D-6E8A-4147-A177-3AD203B41FA5}">
                      <a16:colId xmlns="" xmlns:a16="http://schemas.microsoft.com/office/drawing/2014/main" val="20003"/>
                    </a:ext>
                  </a:extLst>
                </a:gridCol>
              </a:tblGrid>
              <a:tr h="428821">
                <a:tc rowSpan="6">
                  <a:txBody>
                    <a:bodyPr/>
                    <a:lstStyle/>
                    <a:p>
                      <a:pPr marL="0" marR="0" lvl="0" indent="0" algn="l" rtl="0">
                        <a:lnSpc>
                          <a:spcPct val="166666"/>
                        </a:lnSpc>
                        <a:spcBef>
                          <a:spcPts val="0"/>
                        </a:spcBef>
                        <a:spcAft>
                          <a:spcPts val="0"/>
                        </a:spcAft>
                        <a:buNone/>
                      </a:pPr>
                      <a:r>
                        <a:rPr lang="x-none"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文件版本</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版本號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變更說明(修改內容說明)</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修改人</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日期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extLst>
                  <a:ext uri="{0D108BD9-81ED-4DB2-BD59-A6C34878D82A}">
                    <a16:rowId xmlns="" xmlns:a16="http://schemas.microsoft.com/office/drawing/2014/main" val="10000"/>
                  </a:ext>
                </a:extLst>
              </a:tr>
              <a:tr h="590284">
                <a:tc vMerge="1">
                  <a:txBody>
                    <a:bodyPr/>
                    <a:lstStyle/>
                    <a:p>
                      <a:pPr marL="0" marR="0" lvl="0" indent="0" algn="l" rtl="0">
                        <a:lnSpc>
                          <a:spcPct val="166666"/>
                        </a:lnSpc>
                        <a:spcBef>
                          <a:spcPts val="0"/>
                        </a:spcBef>
                        <a:spcAft>
                          <a:spcPts val="0"/>
                        </a:spcAft>
                        <a:buNone/>
                      </a:pPr>
                      <a:endParaRPr sz="1800"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defTabSz="1371600" rtl="0" eaLnBrk="1" fontAlgn="auto" latinLnBrk="0" hangingPunct="1">
                        <a:lnSpc>
                          <a:spcPct val="166000"/>
                        </a:lnSpc>
                        <a:spcBef>
                          <a:spcPts val="0"/>
                        </a:spcBef>
                        <a:spcAft>
                          <a:spcPts val="0"/>
                        </a:spcAft>
                        <a:buClrTx/>
                        <a:buSzTx/>
                        <a:buFontTx/>
                        <a:buNone/>
                        <a:tabLst>
                          <a:tab pos="0" algn="l"/>
                        </a:tabLst>
                        <a:defRPr/>
                      </a:pPr>
                      <a:endParaRPr lang="en-US" altLang="zh-TW" sz="1800" b="0" strike="noStrike" spc="-1" dirty="0">
                        <a:solidFill>
                          <a:schemeClr val="dk1"/>
                        </a:solidFill>
                        <a:latin typeface="Microsoft JhengHei"/>
                        <a:ea typeface="Microsoft JhengHei"/>
                      </a:endParaRPr>
                    </a:p>
                  </a:txBody>
                  <a:tcP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24626">
                <a:tc vMerge="1">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2"/>
                  </a:ext>
                </a:extLst>
              </a:tr>
              <a:tr h="524626">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3"/>
                  </a:ext>
                </a:extLst>
              </a:tr>
              <a:tr h="526822">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4"/>
                  </a:ext>
                </a:extLst>
              </a:tr>
              <a:tr h="428821">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endParaRPr sz="1800" b="1"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rtl="0">
                        <a:spcBef>
                          <a:spcPts val="0"/>
                        </a:spcBef>
                        <a:spcAft>
                          <a:spcPts val="0"/>
                        </a:spcAft>
                        <a:buNone/>
                      </a:pPr>
                      <a:endParaRPr sz="1800" b="1" i="0" u="none" strike="noStrike" cap="none" dirty="0">
                        <a:solidFill>
                          <a:srgbClr val="000000"/>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extLst>
                  <a:ext uri="{0D108BD9-81ED-4DB2-BD59-A6C34878D82A}">
                    <a16:rowId xmlns="" xmlns:a16="http://schemas.microsoft.com/office/drawing/2014/main" val="1342071289"/>
                  </a:ext>
                </a:extLst>
              </a:tr>
            </a:tbl>
          </a:graphicData>
        </a:graphic>
      </p:graphicFrame>
      <p:graphicFrame>
        <p:nvGraphicFramePr>
          <p:cNvPr id="192" name="Google Shape;192;p2"/>
          <p:cNvGraphicFramePr/>
          <p:nvPr>
            <p:extLst>
              <p:ext uri="{D42A27DB-BD31-4B8C-83A1-F6EECF244321}">
                <p14:modId xmlns="" xmlns:p14="http://schemas.microsoft.com/office/powerpoint/2010/main" val="2853513147"/>
              </p:ext>
            </p:extLst>
          </p:nvPr>
        </p:nvGraphicFramePr>
        <p:xfrm>
          <a:off x="366269" y="6255393"/>
          <a:ext cx="17518780" cy="504000"/>
        </p:xfrm>
        <a:graphic>
          <a:graphicData uri="http://schemas.openxmlformats.org/drawingml/2006/table">
            <a:tbl>
              <a:tblPr>
                <a:noFill/>
              </a:tblPr>
              <a:tblGrid>
                <a:gridCol w="2061420">
                  <a:extLst>
                    <a:ext uri="{9D8B030D-6E8A-4147-A177-3AD203B41FA5}">
                      <a16:colId xmlns="" xmlns:a16="http://schemas.microsoft.com/office/drawing/2014/main" val="2993713426"/>
                    </a:ext>
                  </a:extLst>
                </a:gridCol>
                <a:gridCol w="2066819">
                  <a:extLst>
                    <a:ext uri="{9D8B030D-6E8A-4147-A177-3AD203B41FA5}">
                      <a16:colId xmlns="" xmlns:a16="http://schemas.microsoft.com/office/drawing/2014/main" val="20000"/>
                    </a:ext>
                  </a:extLst>
                </a:gridCol>
                <a:gridCol w="1797521">
                  <a:extLst>
                    <a:ext uri="{9D8B030D-6E8A-4147-A177-3AD203B41FA5}">
                      <a16:colId xmlns="" xmlns:a16="http://schemas.microsoft.com/office/drawing/2014/main" val="20001"/>
                    </a:ext>
                  </a:extLst>
                </a:gridCol>
                <a:gridCol w="1932170">
                  <a:extLst>
                    <a:ext uri="{9D8B030D-6E8A-4147-A177-3AD203B41FA5}">
                      <a16:colId xmlns="" xmlns:a16="http://schemas.microsoft.com/office/drawing/2014/main" val="20002"/>
                    </a:ext>
                  </a:extLst>
                </a:gridCol>
                <a:gridCol w="1932170">
                  <a:extLst>
                    <a:ext uri="{9D8B030D-6E8A-4147-A177-3AD203B41FA5}">
                      <a16:colId xmlns="" xmlns:a16="http://schemas.microsoft.com/office/drawing/2014/main" val="20003"/>
                    </a:ext>
                  </a:extLst>
                </a:gridCol>
                <a:gridCol w="1932170">
                  <a:extLst>
                    <a:ext uri="{9D8B030D-6E8A-4147-A177-3AD203B41FA5}">
                      <a16:colId xmlns="" xmlns:a16="http://schemas.microsoft.com/office/drawing/2014/main" val="20004"/>
                    </a:ext>
                  </a:extLst>
                </a:gridCol>
                <a:gridCol w="1932170">
                  <a:extLst>
                    <a:ext uri="{9D8B030D-6E8A-4147-A177-3AD203B41FA5}">
                      <a16:colId xmlns="" xmlns:a16="http://schemas.microsoft.com/office/drawing/2014/main" val="20005"/>
                    </a:ext>
                  </a:extLst>
                </a:gridCol>
                <a:gridCol w="1932170">
                  <a:extLst>
                    <a:ext uri="{9D8B030D-6E8A-4147-A177-3AD203B41FA5}">
                      <a16:colId xmlns="" xmlns:a16="http://schemas.microsoft.com/office/drawing/2014/main" val="20006"/>
                    </a:ext>
                  </a:extLst>
                </a:gridCol>
                <a:gridCol w="1932170">
                  <a:extLst>
                    <a:ext uri="{9D8B030D-6E8A-4147-A177-3AD203B41FA5}">
                      <a16:colId xmlns="" xmlns:a16="http://schemas.microsoft.com/office/drawing/2014/main" val="20007"/>
                    </a:ext>
                  </a:extLst>
                </a:gridCol>
              </a:tblGrid>
              <a:tr h="504000">
                <a:tc>
                  <a:txBody>
                    <a:bodyPr/>
                    <a:lstStyle/>
                    <a:p>
                      <a:pPr marL="0" marR="0" lvl="0" indent="0" algn="l" rtl="0">
                        <a:lnSpc>
                          <a:spcPct val="150000"/>
                        </a:lnSpc>
                        <a:spcBef>
                          <a:spcPts val="0"/>
                        </a:spcBef>
                        <a:spcAft>
                          <a:spcPts val="0"/>
                        </a:spcAft>
                        <a:buNone/>
                      </a:pPr>
                      <a:r>
                        <a:rPr lang="x-none" sz="1800" b="1" u="none" strike="noStrike" cap="none">
                          <a:solidFill>
                            <a:schemeClr val="lt1"/>
                          </a:solidFill>
                          <a:latin typeface="Microsoft JhengHei"/>
                          <a:ea typeface="Microsoft JhengHei"/>
                          <a:cs typeface="Microsoft JhengHei"/>
                          <a:sym typeface="Microsoft JhengHei"/>
                        </a:rPr>
                        <a:t>機密等級</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極機密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內部使用</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V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一般</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extLst>
                  <a:ext uri="{0D108BD9-81ED-4DB2-BD59-A6C34878D82A}">
                    <a16:rowId xmlns="" xmlns:a16="http://schemas.microsoft.com/office/drawing/2014/main" val="10000"/>
                  </a:ext>
                </a:extLst>
              </a:tr>
            </a:tbl>
          </a:graphicData>
        </a:graphic>
      </p:graphicFrame>
      <p:graphicFrame>
        <p:nvGraphicFramePr>
          <p:cNvPr id="193" name="Google Shape;193;p2"/>
          <p:cNvGraphicFramePr/>
          <p:nvPr>
            <p:extLst>
              <p:ext uri="{D42A27DB-BD31-4B8C-83A1-F6EECF244321}">
                <p14:modId xmlns="" xmlns:p14="http://schemas.microsoft.com/office/powerpoint/2010/main" val="2533766799"/>
              </p:ext>
            </p:extLst>
          </p:nvPr>
        </p:nvGraphicFramePr>
        <p:xfrm>
          <a:off x="366270" y="6835335"/>
          <a:ext cx="17518773" cy="3195196"/>
        </p:xfrm>
        <a:graphic>
          <a:graphicData uri="http://schemas.openxmlformats.org/drawingml/2006/table">
            <a:tbl>
              <a:tblPr>
                <a:noFill/>
              </a:tblPr>
              <a:tblGrid>
                <a:gridCol w="2045751">
                  <a:extLst>
                    <a:ext uri="{9D8B030D-6E8A-4147-A177-3AD203B41FA5}">
                      <a16:colId xmlns="" xmlns:a16="http://schemas.microsoft.com/office/drawing/2014/main" val="1293584311"/>
                    </a:ext>
                  </a:extLst>
                </a:gridCol>
                <a:gridCol w="2066989">
                  <a:extLst>
                    <a:ext uri="{9D8B030D-6E8A-4147-A177-3AD203B41FA5}">
                      <a16:colId xmlns="" xmlns:a16="http://schemas.microsoft.com/office/drawing/2014/main" val="20000"/>
                    </a:ext>
                  </a:extLst>
                </a:gridCol>
                <a:gridCol w="8024943">
                  <a:extLst>
                    <a:ext uri="{9D8B030D-6E8A-4147-A177-3AD203B41FA5}">
                      <a16:colId xmlns="" xmlns:a16="http://schemas.microsoft.com/office/drawing/2014/main" val="20001"/>
                    </a:ext>
                  </a:extLst>
                </a:gridCol>
                <a:gridCol w="2861625">
                  <a:extLst>
                    <a:ext uri="{9D8B030D-6E8A-4147-A177-3AD203B41FA5}">
                      <a16:colId xmlns="" xmlns:a16="http://schemas.microsoft.com/office/drawing/2014/main" val="20002"/>
                    </a:ext>
                  </a:extLst>
                </a:gridCol>
                <a:gridCol w="2519465">
                  <a:extLst>
                    <a:ext uri="{9D8B030D-6E8A-4147-A177-3AD203B41FA5}">
                      <a16:colId xmlns="" xmlns:a16="http://schemas.microsoft.com/office/drawing/2014/main" val="20003"/>
                    </a:ext>
                  </a:extLst>
                </a:gridCol>
              </a:tblGrid>
              <a:tr h="504000">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審批</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角色</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姓名 與 職稱</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簽名</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extLst>
                  <a:ext uri="{0D108BD9-81ED-4DB2-BD59-A6C34878D82A}">
                    <a16:rowId xmlns="" xmlns:a16="http://schemas.microsoft.com/office/drawing/2014/main" val="10000"/>
                  </a:ext>
                </a:extLst>
              </a:tr>
              <a:tr h="504000">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專案顧問</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chemeClr val="bg1"/>
                      </a:solidFill>
                      <a:prstDash val="solid"/>
                      <a:round/>
                      <a:headEnd type="none" w="med" len="med"/>
                      <a:tailEnd type="none" w="med" len="me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1"/>
                  </a:ext>
                </a:extLst>
              </a:tr>
              <a:tr h="504000">
                <a:tc vMerge="1">
                  <a:txBody>
                    <a:bodyPr/>
                    <a:lstStyle/>
                    <a:p>
                      <a:endParaRPr lang="zh-TW" altLang="en-US"/>
                    </a:p>
                  </a:txBody>
                  <a:tcPr>
                    <a:lnT w="12700" cap="flat" cmpd="sng" algn="ctr">
                      <a:solidFill>
                        <a:srgbClr val="FFFFFF"/>
                      </a:solidFill>
                      <a:prstDash val="solid"/>
                      <a:round/>
                      <a:headEnd type="none" w="sm" len="sm"/>
                      <a:tailEnd type="none" w="sm" len="sm"/>
                    </a:lnT>
                  </a:tcPr>
                </a:tc>
                <a:tc>
                  <a:txBody>
                    <a:bodyPr/>
                    <a:lstStyle/>
                    <a:p>
                      <a:pPr marL="0" marR="0" lvl="0" indent="0" algn="ctr" rtl="0">
                        <a:lnSpc>
                          <a:spcPct val="100000"/>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關鍵使用者</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D7D31"/>
                    </a:solidFill>
                  </a:tcPr>
                </a:tc>
                <a:tc>
                  <a:txBody>
                    <a:bodyPr/>
                    <a:lstStyle/>
                    <a:p>
                      <a:endParaRPr lang="en-US" sz="1800" b="1" strike="noStrike" spc="-1" dirty="0">
                        <a:solidFill>
                          <a:schemeClr val="dk1"/>
                        </a:solidFill>
                        <a:latin typeface="Microsoft JhengHei"/>
                        <a:ea typeface="Microsoft JhengHei"/>
                      </a:endParaRPr>
                    </a:p>
                  </a:txBody>
                  <a:tcPr marL="102600" marR="102600">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2466057711"/>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流程負責人</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chemeClr val="bg1"/>
                      </a:solidFill>
                      <a:prstDash val="solid"/>
                      <a:round/>
                      <a:headEnd type="none" w="med" len="med"/>
                      <a:tailEnd type="none" w="med" len="med"/>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3"/>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資訊單位</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extLst>
                  <a:ext uri="{0D108BD9-81ED-4DB2-BD59-A6C34878D82A}">
                    <a16:rowId xmlns="" xmlns:a16="http://schemas.microsoft.com/office/drawing/2014/main" val="10004"/>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專案經理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a:latin typeface="Microsoft JhengHei"/>
                          <a:ea typeface="Microsoft JhengHei"/>
                          <a:cs typeface="Microsoft JhengHei"/>
                          <a:sym typeface="Microsoft JhengHei"/>
                        </a:rPr>
                        <a:t> </a:t>
                      </a: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 xmlns:a16="http://schemas.microsoft.com/office/drawing/2014/main" val="10005"/>
                  </a:ext>
                </a:extLst>
              </a:tr>
            </a:tbl>
          </a:graphicData>
        </a:graphic>
      </p:graphicFrame>
      <p:sp>
        <p:nvSpPr>
          <p:cNvPr id="2" name="TextBox 1">
            <a:extLst>
              <a:ext uri="{FF2B5EF4-FFF2-40B4-BE49-F238E27FC236}">
                <a16:creationId xmlns="" xmlns:a16="http://schemas.microsoft.com/office/drawing/2014/main" id="{632BD657-D42C-B5C5-74AF-5218C346A770}"/>
              </a:ext>
            </a:extLst>
          </p:cNvPr>
          <p:cNvSpPr txBox="1"/>
          <p:nvPr/>
        </p:nvSpPr>
        <p:spPr>
          <a:xfrm>
            <a:off x="2456660" y="643210"/>
            <a:ext cx="8244896" cy="625620"/>
          </a:xfrm>
          <a:prstGeom prst="rect">
            <a:avLst/>
          </a:prstGeom>
          <a:noFill/>
        </p:spPr>
        <p:txBody>
          <a:bodyPr wrap="square" rtlCol="0">
            <a:spAutoFit/>
          </a:bodyPr>
          <a:lstStyle>
            <a:defPPr>
              <a:defRPr lang="en-US"/>
            </a:defPPr>
            <a:lvl1pPr>
              <a:lnSpc>
                <a:spcPct val="166666"/>
              </a:lnSpc>
              <a:defRPr sz="2000" b="1">
                <a:solidFill>
                  <a:schemeClr val="dk1"/>
                </a:solidFill>
                <a:latin typeface="Microsoft JhengHei"/>
                <a:ea typeface="Microsoft JhengHei"/>
                <a:cs typeface="Microsoft JhengHei"/>
              </a:defRPr>
            </a:lvl1pPr>
          </a:lstStyle>
          <a:p>
            <a:r>
              <a:rPr lang="en-US" altLang="zh-TW" sz="2400" dirty="0"/>
              <a:t>MM-PU-0040 </a:t>
            </a:r>
            <a:r>
              <a:rPr lang="zh-TW" altLang="en-US" sz="2400" dirty="0"/>
              <a:t>庶務請採購驗流程</a:t>
            </a:r>
            <a:endParaRPr lang="zh-TW" altLang="en-US" dirty="0"/>
          </a:p>
        </p:txBody>
      </p:sp>
      <p:sp>
        <p:nvSpPr>
          <p:cNvPr id="3" name="TextBox 2">
            <a:extLst>
              <a:ext uri="{FF2B5EF4-FFF2-40B4-BE49-F238E27FC236}">
                <a16:creationId xmlns="" xmlns:a16="http://schemas.microsoft.com/office/drawing/2014/main" id="{6B09882B-C884-419E-9EB0-7F4E083F29C0}"/>
              </a:ext>
            </a:extLst>
          </p:cNvPr>
          <p:cNvSpPr txBox="1"/>
          <p:nvPr/>
        </p:nvSpPr>
        <p:spPr>
          <a:xfrm>
            <a:off x="15598384" y="419496"/>
            <a:ext cx="551112" cy="346249"/>
          </a:xfrm>
          <a:prstGeom prst="rect">
            <a:avLst/>
          </a:prstGeom>
          <a:noFill/>
        </p:spPr>
        <p:txBody>
          <a:bodyPr wrap="square" rtlCol="0">
            <a:spAutoFit/>
          </a:bodyPr>
          <a:lstStyle/>
          <a:p>
            <a:r>
              <a:rPr lang="en-US" altLang="zh-TW" sz="1600" dirty="0">
                <a:latin typeface="微軟正黑體" panose="020B0604030504040204" pitchFamily="34" charset="-120"/>
                <a:ea typeface="微軟正黑體" panose="020B0604030504040204" pitchFamily="34" charset="-120"/>
              </a:rPr>
              <a:t>0</a:t>
            </a:r>
            <a:endParaRPr lang="zh-TW" altLang="en-US" sz="1600" dirty="0">
              <a:latin typeface="微軟正黑體" panose="020B0604030504040204" pitchFamily="34" charset="-120"/>
              <a:ea typeface="微軟正黑體" panose="020B0604030504040204" pitchFamily="34" charset="-12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 xmlns:a16="http://schemas.microsoft.com/office/drawing/2014/main" id="{83E6F622-2FBE-CC67-50FE-4ABD7D8B9696}"/>
              </a:ext>
            </a:extLst>
          </p:cNvPr>
          <p:cNvSpPr txBox="1"/>
          <p:nvPr/>
        </p:nvSpPr>
        <p:spPr>
          <a:xfrm>
            <a:off x="2431326" y="786587"/>
            <a:ext cx="8273209"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MM-PU-0040-01 </a:t>
            </a:r>
            <a:r>
              <a:rPr lang="zh-TW" altLang="en-US" sz="2400" b="1" dirty="0">
                <a:latin typeface="微軟正黑體" panose="020B0604030504040204" pitchFamily="34" charset="-120"/>
                <a:ea typeface="微軟正黑體" panose="020B0604030504040204" pitchFamily="34" charset="-120"/>
              </a:rPr>
              <a:t>庶務請採購驗流程</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庶務庫存類</a:t>
            </a:r>
          </a:p>
        </p:txBody>
      </p:sp>
      <p:sp>
        <p:nvSpPr>
          <p:cNvPr id="14" name="文字方塊 17">
            <a:extLst>
              <a:ext uri="{FF2B5EF4-FFF2-40B4-BE49-F238E27FC236}">
                <a16:creationId xmlns="" xmlns:a16="http://schemas.microsoft.com/office/drawing/2014/main" id="{E114DEFF-4464-1230-5102-DAAA05109B8A}"/>
              </a:ext>
            </a:extLst>
          </p:cNvPr>
          <p:cNvSpPr txBox="1"/>
          <p:nvPr/>
        </p:nvSpPr>
        <p:spPr>
          <a:xfrm>
            <a:off x="2507268" y="1359356"/>
            <a:ext cx="2020344"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各廠區申請人</a:t>
            </a:r>
          </a:p>
        </p:txBody>
      </p:sp>
      <p:sp>
        <p:nvSpPr>
          <p:cNvPr id="25" name="流程圖: 結束點 8">
            <a:extLst>
              <a:ext uri="{FF2B5EF4-FFF2-40B4-BE49-F238E27FC236}">
                <a16:creationId xmlns="" xmlns:a16="http://schemas.microsoft.com/office/drawing/2014/main" id="{1FB9514E-6261-C7AC-D58E-6A5F2E6F81FD}"/>
              </a:ext>
            </a:extLst>
          </p:cNvPr>
          <p:cNvSpPr/>
          <p:nvPr/>
        </p:nvSpPr>
        <p:spPr bwMode="auto">
          <a:xfrm>
            <a:off x="12232881" y="8828481"/>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graphicFrame>
        <p:nvGraphicFramePr>
          <p:cNvPr id="30" name="表格 30">
            <a:extLst>
              <a:ext uri="{FF2B5EF4-FFF2-40B4-BE49-F238E27FC236}">
                <a16:creationId xmlns="" xmlns:a16="http://schemas.microsoft.com/office/drawing/2014/main" id="{18197701-0564-3E2B-648E-413A6C8BBE0A}"/>
              </a:ext>
            </a:extLst>
          </p:cNvPr>
          <p:cNvGraphicFramePr>
            <a:graphicFrameLocks noGrp="1"/>
          </p:cNvGraphicFramePr>
          <p:nvPr/>
        </p:nvGraphicFramePr>
        <p:xfrm>
          <a:off x="2624027" y="1977859"/>
          <a:ext cx="1809828" cy="1222084"/>
        </p:xfrm>
        <a:graphic>
          <a:graphicData uri="http://schemas.openxmlformats.org/drawingml/2006/table">
            <a:tbl>
              <a:tblPr>
                <a:tableStyleId>{5940675A-B579-460E-94D1-54222C63F5DA}</a:tableStyleId>
              </a:tblPr>
              <a:tblGrid>
                <a:gridCol w="904914">
                  <a:extLst>
                    <a:ext uri="{9D8B030D-6E8A-4147-A177-3AD203B41FA5}">
                      <a16:colId xmlns="" xmlns:a16="http://schemas.microsoft.com/office/drawing/2014/main" val="3433979995"/>
                    </a:ext>
                  </a:extLst>
                </a:gridCol>
                <a:gridCol w="904914">
                  <a:extLst>
                    <a:ext uri="{9D8B030D-6E8A-4147-A177-3AD203B41FA5}">
                      <a16:colId xmlns="" xmlns:a16="http://schemas.microsoft.com/office/drawing/2014/main" val="3727974752"/>
                    </a:ext>
                  </a:extLst>
                </a:gridCol>
              </a:tblGrid>
              <a:tr h="330432">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sz="1400" b="1" dirty="0">
                        <a:solidFill>
                          <a:schemeClr val="tx1"/>
                        </a:solidFill>
                        <a:latin typeface="微軟正黑體" panose="020B0604030504040204" pitchFamily="34" charset="-120"/>
                        <a:ea typeface="微軟正黑體" panose="020B0604030504040204" pitchFamily="34" charset="-120"/>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72490">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建立請購單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3921">
                <a:tc>
                  <a:txBody>
                    <a:bodyPr/>
                    <a:lstStyle/>
                    <a:p>
                      <a:pPr algn="ctr"/>
                      <a:r>
                        <a:rPr lang="en-US" sz="1400" dirty="0">
                          <a:latin typeface="微軟正黑體" panose="020B0604030504040204" pitchFamily="34" charset="-120"/>
                          <a:ea typeface="微軟正黑體" panose="020B0604030504040204" pitchFamily="34" charset="-120"/>
                        </a:rPr>
                        <a:t>BPM</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16" name="Straight Connector 284">
            <a:extLst>
              <a:ext uri="{FF2B5EF4-FFF2-40B4-BE49-F238E27FC236}">
                <a16:creationId xmlns="" xmlns:a16="http://schemas.microsoft.com/office/drawing/2014/main" id="{3343F13F-0020-F344-5B28-F9AEB09CA3FA}"/>
              </a:ext>
            </a:extLst>
          </p:cNvPr>
          <p:cNvCxnSpPr>
            <a:cxnSpLocks/>
          </p:cNvCxnSpPr>
          <p:nvPr/>
        </p:nvCxnSpPr>
        <p:spPr>
          <a:xfrm>
            <a:off x="6930604" y="1374709"/>
            <a:ext cx="0" cy="87478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肘形接點 68">
            <a:extLst>
              <a:ext uri="{FF2B5EF4-FFF2-40B4-BE49-F238E27FC236}">
                <a16:creationId xmlns="" xmlns:a16="http://schemas.microsoft.com/office/drawing/2014/main" id="{8E184E7B-49D4-0B0F-DFF1-32CCB2A9AB0C}"/>
              </a:ext>
            </a:extLst>
          </p:cNvPr>
          <p:cNvCxnSpPr>
            <a:cxnSpLocks/>
            <a:stCxn id="132" idx="2"/>
            <a:endCxn id="35" idx="0"/>
          </p:cNvCxnSpPr>
          <p:nvPr/>
        </p:nvCxnSpPr>
        <p:spPr>
          <a:xfrm rot="5400000">
            <a:off x="5068432" y="5537643"/>
            <a:ext cx="1427055" cy="723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 name="肘形接點 68">
            <a:extLst>
              <a:ext uri="{FF2B5EF4-FFF2-40B4-BE49-F238E27FC236}">
                <a16:creationId xmlns="" xmlns:a16="http://schemas.microsoft.com/office/drawing/2014/main" id="{70F961FE-0AA7-D2B8-F257-ECB0C3D45D2D}"/>
              </a:ext>
            </a:extLst>
          </p:cNvPr>
          <p:cNvCxnSpPr>
            <a:cxnSpLocks/>
            <a:stCxn id="7" idx="3"/>
            <a:endCxn id="30" idx="1"/>
          </p:cNvCxnSpPr>
          <p:nvPr/>
        </p:nvCxnSpPr>
        <p:spPr>
          <a:xfrm>
            <a:off x="2077242" y="2576986"/>
            <a:ext cx="546785" cy="1191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3" name="肘形接點 68">
            <a:extLst>
              <a:ext uri="{FF2B5EF4-FFF2-40B4-BE49-F238E27FC236}">
                <a16:creationId xmlns="" xmlns:a16="http://schemas.microsoft.com/office/drawing/2014/main" id="{5D236408-3F02-99D0-9ECC-DC4D4E746909}"/>
              </a:ext>
            </a:extLst>
          </p:cNvPr>
          <p:cNvCxnSpPr>
            <a:cxnSpLocks/>
            <a:stCxn id="30" idx="2"/>
            <a:endCxn id="132" idx="1"/>
          </p:cNvCxnSpPr>
          <p:nvPr/>
        </p:nvCxnSpPr>
        <p:spPr>
          <a:xfrm rot="16200000" flipH="1">
            <a:off x="3660212" y="3068672"/>
            <a:ext cx="1095178" cy="135772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5" name="流程圖: 決策 50">
            <a:extLst>
              <a:ext uri="{FF2B5EF4-FFF2-40B4-BE49-F238E27FC236}">
                <a16:creationId xmlns="" xmlns:a16="http://schemas.microsoft.com/office/drawing/2014/main" id="{8037CA89-DBE3-1441-8E4C-7EA04E993D61}"/>
              </a:ext>
            </a:extLst>
          </p:cNvPr>
          <p:cNvSpPr/>
          <p:nvPr/>
        </p:nvSpPr>
        <p:spPr bwMode="auto">
          <a:xfrm>
            <a:off x="4857366" y="6254789"/>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cxnSp>
        <p:nvCxnSpPr>
          <p:cNvPr id="51" name="肘形接點 68">
            <a:extLst>
              <a:ext uri="{FF2B5EF4-FFF2-40B4-BE49-F238E27FC236}">
                <a16:creationId xmlns="" xmlns:a16="http://schemas.microsoft.com/office/drawing/2014/main" id="{2AA47122-2BF1-7633-656B-9B6710026CD9}"/>
              </a:ext>
            </a:extLst>
          </p:cNvPr>
          <p:cNvCxnSpPr>
            <a:cxnSpLocks/>
            <a:stCxn id="35" idx="1"/>
            <a:endCxn id="231" idx="3"/>
          </p:cNvCxnSpPr>
          <p:nvPr/>
        </p:nvCxnSpPr>
        <p:spPr>
          <a:xfrm rot="10800000" flipV="1">
            <a:off x="4634440" y="6610888"/>
            <a:ext cx="222927" cy="225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09" name="Straight Connector 284">
            <a:extLst>
              <a:ext uri="{FF2B5EF4-FFF2-40B4-BE49-F238E27FC236}">
                <a16:creationId xmlns="" xmlns:a16="http://schemas.microsoft.com/office/drawing/2014/main" id="{CCB3D035-826A-6F8E-1D15-1A3E96F62413}"/>
              </a:ext>
            </a:extLst>
          </p:cNvPr>
          <p:cNvCxnSpPr>
            <a:cxnSpLocks/>
          </p:cNvCxnSpPr>
          <p:nvPr/>
        </p:nvCxnSpPr>
        <p:spPr>
          <a:xfrm>
            <a:off x="4682786" y="1374709"/>
            <a:ext cx="0" cy="87478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0" name="文字方塊 17">
            <a:extLst>
              <a:ext uri="{FF2B5EF4-FFF2-40B4-BE49-F238E27FC236}">
                <a16:creationId xmlns="" xmlns:a16="http://schemas.microsoft.com/office/drawing/2014/main" id="{306A0461-FB0A-6B8E-26F4-F4121B822258}"/>
              </a:ext>
            </a:extLst>
          </p:cNvPr>
          <p:cNvSpPr txBox="1"/>
          <p:nvPr/>
        </p:nvSpPr>
        <p:spPr>
          <a:xfrm>
            <a:off x="4682621" y="1393324"/>
            <a:ext cx="2247983"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處主管</a:t>
            </a:r>
          </a:p>
        </p:txBody>
      </p:sp>
      <p:cxnSp>
        <p:nvCxnSpPr>
          <p:cNvPr id="217" name="肘形接點 68">
            <a:extLst>
              <a:ext uri="{FF2B5EF4-FFF2-40B4-BE49-F238E27FC236}">
                <a16:creationId xmlns="" xmlns:a16="http://schemas.microsoft.com/office/drawing/2014/main" id="{3C63507D-83FD-0025-3EF4-B6F87A20780B}"/>
              </a:ext>
            </a:extLst>
          </p:cNvPr>
          <p:cNvCxnSpPr>
            <a:cxnSpLocks/>
            <a:stCxn id="35" idx="2"/>
            <a:endCxn id="25" idx="1"/>
          </p:cNvCxnSpPr>
          <p:nvPr/>
        </p:nvCxnSpPr>
        <p:spPr>
          <a:xfrm rot="16200000" flipH="1">
            <a:off x="7879255" y="4866075"/>
            <a:ext cx="2252714" cy="645454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27" name="TextBox 53">
            <a:extLst>
              <a:ext uri="{FF2B5EF4-FFF2-40B4-BE49-F238E27FC236}">
                <a16:creationId xmlns="" xmlns:a16="http://schemas.microsoft.com/office/drawing/2014/main" id="{DF940026-96D7-3867-6425-C228DF3D29BF}"/>
              </a:ext>
            </a:extLst>
          </p:cNvPr>
          <p:cNvSpPr txBox="1"/>
          <p:nvPr/>
        </p:nvSpPr>
        <p:spPr>
          <a:xfrm>
            <a:off x="14380627" y="2064631"/>
            <a:ext cx="3594197" cy="6186309"/>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各廠區申請人在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表單</a:t>
            </a:r>
            <a:r>
              <a:rPr lang="en-US" altLang="zh-TW" dirty="0">
                <a:latin typeface="微軟正黑體" panose="020B0604030504040204" pitchFamily="34" charset="-120"/>
                <a:ea typeface="微軟正黑體" panose="020B0604030504040204" pitchFamily="34" charset="-120"/>
              </a:rPr>
              <a:t>ZMMT079</a:t>
            </a:r>
            <a:r>
              <a:rPr lang="zh-TW" altLang="en-US" dirty="0">
                <a:latin typeface="微軟正黑體" panose="020B0604030504040204" pitchFamily="34" charset="-120"/>
                <a:ea typeface="微軟正黑體" panose="020B0604030504040204" pitchFamily="34" charset="-120"/>
              </a:rPr>
              <a:t>作請購申請 ，進行簽核流程。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上簽核請購申請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核准後的申請單，透過程式產生</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請購單進行貨源指派，檢查是否有系統有存在價格主檔</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針對沒有合適價格主檔的請購，進行庶務用品詢報價，建立價格主檔</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有價格主檔的請購單可以建立採購單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採購單資料利用</a:t>
            </a:r>
            <a:r>
              <a:rPr lang="en-US" altLang="zh-TW" dirty="0">
                <a:latin typeface="微軟正黑體" panose="020B0604030504040204" pitchFamily="34" charset="-120"/>
                <a:ea typeface="微軟正黑體" panose="020B0604030504040204" pitchFamily="34" charset="-120"/>
              </a:rPr>
              <a:t>ZMM019</a:t>
            </a:r>
            <a:r>
              <a:rPr lang="zh-TW" altLang="en-US" dirty="0">
                <a:latin typeface="微軟正黑體" panose="020B0604030504040204" pitchFamily="34" charset="-120"/>
                <a:ea typeface="微軟正黑體" panose="020B0604030504040204" pitchFamily="34" charset="-120"/>
              </a:rPr>
              <a:t>匯入</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發起採購單</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簽核</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p:txBody>
      </p:sp>
      <p:sp>
        <p:nvSpPr>
          <p:cNvPr id="7" name="流程圖: 結束點 8">
            <a:extLst>
              <a:ext uri="{FF2B5EF4-FFF2-40B4-BE49-F238E27FC236}">
                <a16:creationId xmlns="" xmlns:a16="http://schemas.microsoft.com/office/drawing/2014/main" id="{A0DBA237-CDB5-528B-0345-5BE2CBAC9775}"/>
              </a:ext>
            </a:extLst>
          </p:cNvPr>
          <p:cNvSpPr/>
          <p:nvPr/>
        </p:nvSpPr>
        <p:spPr bwMode="auto">
          <a:xfrm>
            <a:off x="279411" y="2185764"/>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graphicFrame>
        <p:nvGraphicFramePr>
          <p:cNvPr id="231" name="表格 30">
            <a:extLst>
              <a:ext uri="{FF2B5EF4-FFF2-40B4-BE49-F238E27FC236}">
                <a16:creationId xmlns="" xmlns:a16="http://schemas.microsoft.com/office/drawing/2014/main" id="{E2D1DE07-F765-0D8A-0A3C-D52A5A690ECB}"/>
              </a:ext>
            </a:extLst>
          </p:cNvPr>
          <p:cNvGraphicFramePr>
            <a:graphicFrameLocks noGrp="1"/>
          </p:cNvGraphicFramePr>
          <p:nvPr/>
        </p:nvGraphicFramePr>
        <p:xfrm>
          <a:off x="2573609" y="5884862"/>
          <a:ext cx="2060830" cy="1456572"/>
        </p:xfrm>
        <a:graphic>
          <a:graphicData uri="http://schemas.openxmlformats.org/drawingml/2006/table">
            <a:tbl>
              <a:tblPr>
                <a:tableStyleId>{5940675A-B579-460E-94D1-54222C63F5DA}</a:tableStyleId>
              </a:tblPr>
              <a:tblGrid>
                <a:gridCol w="1030415">
                  <a:extLst>
                    <a:ext uri="{9D8B030D-6E8A-4147-A177-3AD203B41FA5}">
                      <a16:colId xmlns="" xmlns:a16="http://schemas.microsoft.com/office/drawing/2014/main" val="3433979995"/>
                    </a:ext>
                  </a:extLst>
                </a:gridCol>
                <a:gridCol w="1030415">
                  <a:extLst>
                    <a:ext uri="{9D8B030D-6E8A-4147-A177-3AD203B41FA5}">
                      <a16:colId xmlns="" xmlns:a16="http://schemas.microsoft.com/office/drawing/2014/main" val="3727974752"/>
                    </a:ext>
                  </a:extLst>
                </a:gridCol>
              </a:tblGrid>
              <a:tr h="349275">
                <a:tc gridSpan="2">
                  <a:txBody>
                    <a:bodyPr/>
                    <a:lstStyle/>
                    <a:p>
                      <a:pPr algn="ctr"/>
                      <a:r>
                        <a:rPr lang="en-US" altLang="zh-TW" sz="1400" b="1" dirty="0">
                          <a:solidFill>
                            <a:schemeClr val="tx1"/>
                          </a:solidFill>
                          <a:latin typeface="微軟正黑體" panose="020B0604030504040204" pitchFamily="34" charset="-120"/>
                          <a:ea typeface="微軟正黑體" panose="020B0604030504040204" pitchFamily="34" charset="-120"/>
                        </a:rPr>
                        <a:t>INTERFACE_ZMM079</a:t>
                      </a:r>
                      <a:endParaRPr lang="en-GB" sz="1400" b="1" dirty="0">
                        <a:solidFill>
                          <a:schemeClr val="tx1"/>
                        </a:solidFill>
                        <a:latin typeface="微軟正黑體" panose="020B0604030504040204" pitchFamily="34" charset="-120"/>
                        <a:ea typeface="微軟正黑體" panose="020B0604030504040204" pitchFamily="34" charset="-120"/>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785868">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建立請購單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21429">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39" name="肘形接點 68">
            <a:extLst>
              <a:ext uri="{FF2B5EF4-FFF2-40B4-BE49-F238E27FC236}">
                <a16:creationId xmlns="" xmlns:a16="http://schemas.microsoft.com/office/drawing/2014/main" id="{6710C215-D2A9-AE8A-C825-CAB394FDF69B}"/>
              </a:ext>
            </a:extLst>
          </p:cNvPr>
          <p:cNvCxnSpPr>
            <a:cxnSpLocks/>
            <a:stCxn id="231" idx="2"/>
            <a:endCxn id="82" idx="0"/>
          </p:cNvCxnSpPr>
          <p:nvPr/>
        </p:nvCxnSpPr>
        <p:spPr>
          <a:xfrm rot="5400000">
            <a:off x="3187012" y="7750432"/>
            <a:ext cx="826010" cy="801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40" name="表格 30">
            <a:extLst>
              <a:ext uri="{FF2B5EF4-FFF2-40B4-BE49-F238E27FC236}">
                <a16:creationId xmlns="" xmlns:a16="http://schemas.microsoft.com/office/drawing/2014/main" id="{D50514A0-AA46-1916-EFBB-5F1C0FA347E6}"/>
              </a:ext>
            </a:extLst>
          </p:cNvPr>
          <p:cNvGraphicFramePr>
            <a:graphicFrameLocks noGrp="1"/>
          </p:cNvGraphicFramePr>
          <p:nvPr/>
        </p:nvGraphicFramePr>
        <p:xfrm>
          <a:off x="9054753" y="6431569"/>
          <a:ext cx="1774440" cy="1200236"/>
        </p:xfrm>
        <a:graphic>
          <a:graphicData uri="http://schemas.openxmlformats.org/drawingml/2006/table">
            <a:tbl>
              <a:tblPr>
                <a:tableStyleId>{5940675A-B579-460E-94D1-54222C63F5DA}</a:tableStyleId>
              </a:tblPr>
              <a:tblGrid>
                <a:gridCol w="887220">
                  <a:extLst>
                    <a:ext uri="{9D8B030D-6E8A-4147-A177-3AD203B41FA5}">
                      <a16:colId xmlns="" xmlns:a16="http://schemas.microsoft.com/office/drawing/2014/main" val="3433979995"/>
                    </a:ext>
                  </a:extLst>
                </a:gridCol>
                <a:gridCol w="887220">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ZMM019</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27036">
                <a:tc gridSpan="2">
                  <a:txBody>
                    <a:bodyPr/>
                    <a:lstStyle/>
                    <a:p>
                      <a:pPr algn="ctr"/>
                      <a:r>
                        <a:rPr lang="zh-TW" altLang="en-US" sz="1500" dirty="0">
                          <a:latin typeface="微軟正黑體" panose="020B0604030504040204" pitchFamily="34" charset="-120"/>
                          <a:ea typeface="微軟正黑體" panose="020B0604030504040204" pitchFamily="34" charset="-120"/>
                        </a:rPr>
                        <a:t>發起</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193" name="流程圖: 換頁接點 52">
            <a:extLst>
              <a:ext uri="{FF2B5EF4-FFF2-40B4-BE49-F238E27FC236}">
                <a16:creationId xmlns="" xmlns:a16="http://schemas.microsoft.com/office/drawing/2014/main" id="{81294BE7-C300-D1CD-4376-34B54DFCC2AF}"/>
              </a:ext>
            </a:extLst>
          </p:cNvPr>
          <p:cNvSpPr/>
          <p:nvPr/>
        </p:nvSpPr>
        <p:spPr bwMode="auto">
          <a:xfrm>
            <a:off x="13072045" y="793379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P2</a:t>
            </a:r>
            <a:endParaRPr lang="zh-TW" altLang="en-US" dirty="0">
              <a:latin typeface="微軟正黑體" panose="020B0604030504040204" pitchFamily="34" charset="-120"/>
              <a:ea typeface="微軟正黑體" panose="020B0604030504040204" pitchFamily="34" charset="-120"/>
            </a:endParaRPr>
          </a:p>
        </p:txBody>
      </p:sp>
      <p:sp>
        <p:nvSpPr>
          <p:cNvPr id="195" name="文字方塊 194">
            <a:extLst>
              <a:ext uri="{FF2B5EF4-FFF2-40B4-BE49-F238E27FC236}">
                <a16:creationId xmlns="" xmlns:a16="http://schemas.microsoft.com/office/drawing/2014/main" id="{6FB1FA4C-3B8A-FBB5-B280-85555F843464}"/>
              </a:ext>
            </a:extLst>
          </p:cNvPr>
          <p:cNvSpPr txBox="1"/>
          <p:nvPr/>
        </p:nvSpPr>
        <p:spPr>
          <a:xfrm>
            <a:off x="5785578" y="7197749"/>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196" name="文字方塊 195">
            <a:extLst>
              <a:ext uri="{FF2B5EF4-FFF2-40B4-BE49-F238E27FC236}">
                <a16:creationId xmlns="" xmlns:a16="http://schemas.microsoft.com/office/drawing/2014/main" id="{29D95A87-8E81-E79E-403B-C860DCAF45F5}"/>
              </a:ext>
            </a:extLst>
          </p:cNvPr>
          <p:cNvSpPr txBox="1"/>
          <p:nvPr/>
        </p:nvSpPr>
        <p:spPr>
          <a:xfrm>
            <a:off x="4638120" y="6304019"/>
            <a:ext cx="53340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10" name="流程圖: 預設處理作業 21">
            <a:extLst>
              <a:ext uri="{FF2B5EF4-FFF2-40B4-BE49-F238E27FC236}">
                <a16:creationId xmlns="" xmlns:a16="http://schemas.microsoft.com/office/drawing/2014/main" id="{1AA0433C-2A92-491C-25AD-DB00171DEB4F}"/>
              </a:ext>
            </a:extLst>
          </p:cNvPr>
          <p:cNvSpPr/>
          <p:nvPr/>
        </p:nvSpPr>
        <p:spPr bwMode="auto">
          <a:xfrm>
            <a:off x="12077410" y="5523215"/>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MM-PU-0010</a:t>
            </a:r>
          </a:p>
          <a:p>
            <a:pPr algn="ctr" eaLnBrk="0" hangingPunct="0"/>
            <a:r>
              <a:rPr lang="zh-TW" altLang="en-US" sz="1500" dirty="0">
                <a:latin typeface="微軟正黑體" panose="020B0604030504040204" pitchFamily="34" charset="-120"/>
                <a:ea typeface="微軟正黑體" panose="020B0604030504040204" pitchFamily="34" charset="-120"/>
              </a:rPr>
              <a:t>詢報價更新價格主檔</a:t>
            </a:r>
          </a:p>
        </p:txBody>
      </p:sp>
      <p:graphicFrame>
        <p:nvGraphicFramePr>
          <p:cNvPr id="12" name="表格 30">
            <a:extLst>
              <a:ext uri="{FF2B5EF4-FFF2-40B4-BE49-F238E27FC236}">
                <a16:creationId xmlns="" xmlns:a16="http://schemas.microsoft.com/office/drawing/2014/main" id="{8FFD2A81-4A9E-74F7-E48F-FEBE8A7AB464}"/>
              </a:ext>
            </a:extLst>
          </p:cNvPr>
          <p:cNvGraphicFramePr>
            <a:graphicFrameLocks noGrp="1"/>
          </p:cNvGraphicFramePr>
          <p:nvPr/>
        </p:nvGraphicFramePr>
        <p:xfrm>
          <a:off x="9038657" y="2895518"/>
          <a:ext cx="1818966" cy="1238400"/>
        </p:xfrm>
        <a:graphic>
          <a:graphicData uri="http://schemas.openxmlformats.org/drawingml/2006/table">
            <a:tbl>
              <a:tblPr>
                <a:tableStyleId>{5940675A-B579-460E-94D1-54222C63F5DA}</a:tableStyleId>
              </a:tblPr>
              <a:tblGrid>
                <a:gridCol w="909483">
                  <a:extLst>
                    <a:ext uri="{9D8B030D-6E8A-4147-A177-3AD203B41FA5}">
                      <a16:colId xmlns="" xmlns:a16="http://schemas.microsoft.com/office/drawing/2014/main" val="3433979995"/>
                    </a:ext>
                  </a:extLst>
                </a:gridCol>
                <a:gridCol w="909483">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ME57</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請購指派</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19" name="肘形接點 68">
            <a:extLst>
              <a:ext uri="{FF2B5EF4-FFF2-40B4-BE49-F238E27FC236}">
                <a16:creationId xmlns="" xmlns:a16="http://schemas.microsoft.com/office/drawing/2014/main" id="{3DF02015-D2E3-2703-4867-50B03711C09D}"/>
              </a:ext>
            </a:extLst>
          </p:cNvPr>
          <p:cNvCxnSpPr>
            <a:cxnSpLocks/>
            <a:stCxn id="10" idx="2"/>
            <a:endCxn id="85" idx="6"/>
          </p:cNvCxnSpPr>
          <p:nvPr/>
        </p:nvCxnSpPr>
        <p:spPr>
          <a:xfrm rot="5400000">
            <a:off x="12540451" y="6794923"/>
            <a:ext cx="476825" cy="41020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pSp>
        <p:nvGrpSpPr>
          <p:cNvPr id="224" name="Group 220">
            <a:extLst>
              <a:ext uri="{FF2B5EF4-FFF2-40B4-BE49-F238E27FC236}">
                <a16:creationId xmlns="" xmlns:a16="http://schemas.microsoft.com/office/drawing/2014/main" id="{1DA8A9FC-C6EC-B5AA-E4E1-6D9683B0DBE4}"/>
              </a:ext>
            </a:extLst>
          </p:cNvPr>
          <p:cNvGrpSpPr/>
          <p:nvPr/>
        </p:nvGrpSpPr>
        <p:grpSpPr>
          <a:xfrm>
            <a:off x="13633629" y="5271496"/>
            <a:ext cx="546285" cy="408542"/>
            <a:chOff x="5906472" y="1486857"/>
            <a:chExt cx="364190" cy="272361"/>
          </a:xfrm>
        </p:grpSpPr>
        <p:sp>
          <p:nvSpPr>
            <p:cNvPr id="225" name="Oval 221">
              <a:extLst>
                <a:ext uri="{FF2B5EF4-FFF2-40B4-BE49-F238E27FC236}">
                  <a16:creationId xmlns="" xmlns:a16="http://schemas.microsoft.com/office/drawing/2014/main" id="{71140AA2-AB08-A07A-5E36-4C9DDFCA92F9}"/>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26" name="TextBox 222">
              <a:extLst>
                <a:ext uri="{FF2B5EF4-FFF2-40B4-BE49-F238E27FC236}">
                  <a16:creationId xmlns="" xmlns:a16="http://schemas.microsoft.com/office/drawing/2014/main" id="{8D7036B0-3C75-DF11-0AED-8317A08C452D}"/>
                </a:ext>
              </a:extLst>
            </p:cNvPr>
            <p:cNvSpPr txBox="1"/>
            <p:nvPr/>
          </p:nvSpPr>
          <p:spPr>
            <a:xfrm>
              <a:off x="5915062"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nvGrpSpPr>
          <p:cNvPr id="228" name="Group 220">
            <a:extLst>
              <a:ext uri="{FF2B5EF4-FFF2-40B4-BE49-F238E27FC236}">
                <a16:creationId xmlns="" xmlns:a16="http://schemas.microsoft.com/office/drawing/2014/main" id="{A996302A-92F3-7B59-12E7-0AC211B790E7}"/>
              </a:ext>
            </a:extLst>
          </p:cNvPr>
          <p:cNvGrpSpPr/>
          <p:nvPr/>
        </p:nvGrpSpPr>
        <p:grpSpPr>
          <a:xfrm>
            <a:off x="10584480" y="2733782"/>
            <a:ext cx="546285" cy="408542"/>
            <a:chOff x="5906472" y="1486857"/>
            <a:chExt cx="364190" cy="272361"/>
          </a:xfrm>
        </p:grpSpPr>
        <p:sp>
          <p:nvSpPr>
            <p:cNvPr id="229" name="Oval 221">
              <a:extLst>
                <a:ext uri="{FF2B5EF4-FFF2-40B4-BE49-F238E27FC236}">
                  <a16:creationId xmlns="" xmlns:a16="http://schemas.microsoft.com/office/drawing/2014/main" id="{B4CE644E-2B3A-3599-38B4-4C91E6C4B30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30" name="TextBox 222">
              <a:extLst>
                <a:ext uri="{FF2B5EF4-FFF2-40B4-BE49-F238E27FC236}">
                  <a16:creationId xmlns="" xmlns:a16="http://schemas.microsoft.com/office/drawing/2014/main" id="{39CA8549-2829-36F3-30B6-26DDDD879D6F}"/>
                </a:ext>
              </a:extLst>
            </p:cNvPr>
            <p:cNvSpPr txBox="1"/>
            <p:nvPr/>
          </p:nvSpPr>
          <p:spPr>
            <a:xfrm>
              <a:off x="5915062"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sp>
        <p:nvSpPr>
          <p:cNvPr id="59" name="文字方塊 17">
            <a:extLst>
              <a:ext uri="{FF2B5EF4-FFF2-40B4-BE49-F238E27FC236}">
                <a16:creationId xmlns="" xmlns:a16="http://schemas.microsoft.com/office/drawing/2014/main" id="{74230685-A68A-FF25-7F32-00D3D357308E}"/>
              </a:ext>
            </a:extLst>
          </p:cNvPr>
          <p:cNvSpPr txBox="1"/>
          <p:nvPr/>
        </p:nvSpPr>
        <p:spPr>
          <a:xfrm>
            <a:off x="7284712" y="1342625"/>
            <a:ext cx="4361855"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廠區管理部</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庶務採購</a:t>
            </a:r>
          </a:p>
        </p:txBody>
      </p:sp>
      <p:cxnSp>
        <p:nvCxnSpPr>
          <p:cNvPr id="207" name="肘形接點 68">
            <a:extLst>
              <a:ext uri="{FF2B5EF4-FFF2-40B4-BE49-F238E27FC236}">
                <a16:creationId xmlns="" xmlns:a16="http://schemas.microsoft.com/office/drawing/2014/main" id="{448AD0D0-260C-EB70-0D8F-37D06631CF68}"/>
              </a:ext>
            </a:extLst>
          </p:cNvPr>
          <p:cNvCxnSpPr>
            <a:cxnSpLocks/>
            <a:stCxn id="240" idx="2"/>
            <a:endCxn id="193" idx="1"/>
          </p:cNvCxnSpPr>
          <p:nvPr/>
        </p:nvCxnSpPr>
        <p:spPr>
          <a:xfrm rot="16200000" flipH="1">
            <a:off x="11239188" y="6334589"/>
            <a:ext cx="535641" cy="313007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 name="矩形 1"/>
          <p:cNvSpPr/>
          <p:nvPr/>
        </p:nvSpPr>
        <p:spPr>
          <a:xfrm>
            <a:off x="15541479" y="417498"/>
            <a:ext cx="344966" cy="323165"/>
          </a:xfrm>
          <a:prstGeom prst="rect">
            <a:avLst/>
          </a:prstGeom>
        </p:spPr>
        <p:txBody>
          <a:bodyPr wrap="none">
            <a:spAutoFit/>
          </a:bodyPr>
          <a:lstStyle/>
          <a:p>
            <a:r>
              <a:rPr lang="en-US" altLang="zh-TW" sz="1500" dirty="0">
                <a:latin typeface="微軟正黑體" panose="020B0604030504040204" pitchFamily="34" charset="-120"/>
                <a:ea typeface="微軟正黑體" panose="020B0604030504040204" pitchFamily="34" charset="-120"/>
              </a:rPr>
              <a:t>1 </a:t>
            </a:r>
            <a:endParaRPr lang="zh-TW" altLang="en-US" sz="1500" dirty="0"/>
          </a:p>
        </p:txBody>
      </p:sp>
      <p:grpSp>
        <p:nvGrpSpPr>
          <p:cNvPr id="96" name="Group 232">
            <a:extLst>
              <a:ext uri="{FF2B5EF4-FFF2-40B4-BE49-F238E27FC236}">
                <a16:creationId xmlns="" xmlns:a16="http://schemas.microsoft.com/office/drawing/2014/main" id="{34DCA6AC-E460-4F91-E17A-E4D1D9383A32}"/>
              </a:ext>
            </a:extLst>
          </p:cNvPr>
          <p:cNvGrpSpPr/>
          <p:nvPr/>
        </p:nvGrpSpPr>
        <p:grpSpPr>
          <a:xfrm>
            <a:off x="4230625" y="1816774"/>
            <a:ext cx="557700" cy="408542"/>
            <a:chOff x="5906472" y="1486857"/>
            <a:chExt cx="371800" cy="272361"/>
          </a:xfrm>
        </p:grpSpPr>
        <p:sp>
          <p:nvSpPr>
            <p:cNvPr id="97"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98"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nvGrpSpPr>
          <p:cNvPr id="235" name="Group 220">
            <a:extLst>
              <a:ext uri="{FF2B5EF4-FFF2-40B4-BE49-F238E27FC236}">
                <a16:creationId xmlns="" xmlns:a16="http://schemas.microsoft.com/office/drawing/2014/main" id="{56A53D60-F177-B66D-1052-09F00D9EB829}"/>
              </a:ext>
            </a:extLst>
          </p:cNvPr>
          <p:cNvGrpSpPr/>
          <p:nvPr/>
        </p:nvGrpSpPr>
        <p:grpSpPr>
          <a:xfrm>
            <a:off x="10598060" y="6212237"/>
            <a:ext cx="559865" cy="408542"/>
            <a:chOff x="5906472" y="1486857"/>
            <a:chExt cx="373243" cy="272361"/>
          </a:xfrm>
        </p:grpSpPr>
        <p:sp>
          <p:nvSpPr>
            <p:cNvPr id="236" name="Oval 221">
              <a:extLst>
                <a:ext uri="{FF2B5EF4-FFF2-40B4-BE49-F238E27FC236}">
                  <a16:creationId xmlns="" xmlns:a16="http://schemas.microsoft.com/office/drawing/2014/main" id="{1026EB19-175E-BAE9-2573-E214F8CC61B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37" name="TextBox 222">
              <a:extLst>
                <a:ext uri="{FF2B5EF4-FFF2-40B4-BE49-F238E27FC236}">
                  <a16:creationId xmlns="" xmlns:a16="http://schemas.microsoft.com/office/drawing/2014/main" id="{58D156B1-9578-40C0-E02B-A11714005BD3}"/>
                </a:ext>
              </a:extLst>
            </p:cNvPr>
            <p:cNvSpPr txBox="1"/>
            <p:nvPr/>
          </p:nvSpPr>
          <p:spPr>
            <a:xfrm>
              <a:off x="5924115" y="14980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132"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4886661" y="3762508"/>
          <a:ext cx="1797832" cy="106522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79967">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48659">
                <a:tc gridSpan="2">
                  <a:txBody>
                    <a:bodyPr/>
                    <a:lstStyle/>
                    <a:p>
                      <a:pPr algn="ctr"/>
                      <a:r>
                        <a:rPr lang="zh-TW" altLang="en-US" sz="1500" dirty="0">
                          <a:latin typeface="微軟正黑體" panose="020B0604030504040204" pitchFamily="34" charset="-120"/>
                          <a:ea typeface="微軟正黑體" panose="020B0604030504040204" pitchFamily="34" charset="-120"/>
                        </a:rPr>
                        <a:t>簽核請購單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20" name="Group 220">
            <a:extLst>
              <a:ext uri="{FF2B5EF4-FFF2-40B4-BE49-F238E27FC236}">
                <a16:creationId xmlns="" xmlns:a16="http://schemas.microsoft.com/office/drawing/2014/main" id="{0B79EBBA-F242-48C7-ECC3-55BEDF3FDDA8}"/>
              </a:ext>
            </a:extLst>
          </p:cNvPr>
          <p:cNvGrpSpPr/>
          <p:nvPr/>
        </p:nvGrpSpPr>
        <p:grpSpPr>
          <a:xfrm>
            <a:off x="4224396" y="5493795"/>
            <a:ext cx="559863" cy="415762"/>
            <a:chOff x="5906472" y="1486857"/>
            <a:chExt cx="373242" cy="272361"/>
          </a:xfrm>
        </p:grpSpPr>
        <p:sp>
          <p:nvSpPr>
            <p:cNvPr id="21" name="Oval 221">
              <a:extLst>
                <a:ext uri="{FF2B5EF4-FFF2-40B4-BE49-F238E27FC236}">
                  <a16:creationId xmlns="" xmlns:a16="http://schemas.microsoft.com/office/drawing/2014/main" id="{43FEF97A-51DF-308E-5C1C-DC15C2D5D5F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2" name="TextBox 222">
              <a:extLst>
                <a:ext uri="{FF2B5EF4-FFF2-40B4-BE49-F238E27FC236}">
                  <a16:creationId xmlns="" xmlns:a16="http://schemas.microsoft.com/office/drawing/2014/main" id="{7751ACA8-5935-4AA1-4521-923760069DB5}"/>
                </a:ext>
              </a:extLst>
            </p:cNvPr>
            <p:cNvSpPr txBox="1"/>
            <p:nvPr/>
          </p:nvSpPr>
          <p:spPr>
            <a:xfrm>
              <a:off x="5924114" y="150673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60" name="流程圖: 決策 50">
            <a:extLst>
              <a:ext uri="{FF2B5EF4-FFF2-40B4-BE49-F238E27FC236}">
                <a16:creationId xmlns="" xmlns:a16="http://schemas.microsoft.com/office/drawing/2014/main" id="{8037CA89-DBE3-1441-8E4C-7EA04E993D61}"/>
              </a:ext>
            </a:extLst>
          </p:cNvPr>
          <p:cNvSpPr/>
          <p:nvPr/>
        </p:nvSpPr>
        <p:spPr bwMode="auto">
          <a:xfrm>
            <a:off x="12173372" y="3159013"/>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有適合價格主檔</a:t>
            </a:r>
          </a:p>
        </p:txBody>
      </p:sp>
      <p:cxnSp>
        <p:nvCxnSpPr>
          <p:cNvPr id="61" name="肘形接點 68">
            <a:extLst>
              <a:ext uri="{FF2B5EF4-FFF2-40B4-BE49-F238E27FC236}">
                <a16:creationId xmlns="" xmlns:a16="http://schemas.microsoft.com/office/drawing/2014/main" id="{2AA47122-2BF1-7633-656B-9B6710026CD9}"/>
              </a:ext>
            </a:extLst>
          </p:cNvPr>
          <p:cNvCxnSpPr>
            <a:cxnSpLocks/>
            <a:stCxn id="60" idx="3"/>
            <a:endCxn id="10" idx="3"/>
          </p:cNvCxnSpPr>
          <p:nvPr/>
        </p:nvCxnSpPr>
        <p:spPr>
          <a:xfrm flipH="1">
            <a:off x="13890521" y="3515113"/>
            <a:ext cx="124800" cy="2627303"/>
          </a:xfrm>
          <a:prstGeom prst="bentConnector3">
            <a:avLst>
              <a:gd name="adj1" fmla="val -146538"/>
            </a:avLst>
          </a:prstGeom>
          <a:ln>
            <a:tailEnd type="triangle"/>
          </a:ln>
        </p:spPr>
        <p:style>
          <a:lnRef idx="1">
            <a:schemeClr val="dk1"/>
          </a:lnRef>
          <a:fillRef idx="0">
            <a:schemeClr val="dk1"/>
          </a:fillRef>
          <a:effectRef idx="0">
            <a:schemeClr val="dk1"/>
          </a:effectRef>
          <a:fontRef idx="minor">
            <a:schemeClr val="tx1"/>
          </a:fontRef>
        </p:style>
      </p:cxnSp>
      <p:sp>
        <p:nvSpPr>
          <p:cNvPr id="62" name="文字方塊 61">
            <a:extLst>
              <a:ext uri="{FF2B5EF4-FFF2-40B4-BE49-F238E27FC236}">
                <a16:creationId xmlns="" xmlns:a16="http://schemas.microsoft.com/office/drawing/2014/main" id="{6FB1FA4C-3B8A-FBB5-B280-85555F843464}"/>
              </a:ext>
            </a:extLst>
          </p:cNvPr>
          <p:cNvSpPr txBox="1"/>
          <p:nvPr/>
        </p:nvSpPr>
        <p:spPr>
          <a:xfrm>
            <a:off x="13823012" y="4121996"/>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63" name="文字方塊 62">
            <a:extLst>
              <a:ext uri="{FF2B5EF4-FFF2-40B4-BE49-F238E27FC236}">
                <a16:creationId xmlns="" xmlns:a16="http://schemas.microsoft.com/office/drawing/2014/main" id="{29D95A87-8E81-E79E-403B-C860DCAF45F5}"/>
              </a:ext>
            </a:extLst>
          </p:cNvPr>
          <p:cNvSpPr txBox="1"/>
          <p:nvPr/>
        </p:nvSpPr>
        <p:spPr>
          <a:xfrm>
            <a:off x="12589629" y="4058960"/>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cxnSp>
        <p:nvCxnSpPr>
          <p:cNvPr id="64" name="肘形接點 68">
            <a:extLst>
              <a:ext uri="{FF2B5EF4-FFF2-40B4-BE49-F238E27FC236}">
                <a16:creationId xmlns="" xmlns:a16="http://schemas.microsoft.com/office/drawing/2014/main" id="{448AD0D0-260C-EB70-0D8F-37D06631CF68}"/>
              </a:ext>
            </a:extLst>
          </p:cNvPr>
          <p:cNvCxnSpPr>
            <a:cxnSpLocks/>
            <a:stCxn id="12" idx="3"/>
            <a:endCxn id="60" idx="1"/>
          </p:cNvCxnSpPr>
          <p:nvPr/>
        </p:nvCxnSpPr>
        <p:spPr>
          <a:xfrm>
            <a:off x="10857623" y="3514719"/>
            <a:ext cx="1315749" cy="39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2" name="肘形接點 68">
            <a:extLst>
              <a:ext uri="{FF2B5EF4-FFF2-40B4-BE49-F238E27FC236}">
                <a16:creationId xmlns="" xmlns:a16="http://schemas.microsoft.com/office/drawing/2014/main" id="{448AD0D0-260C-EB70-0D8F-37D06631CF68}"/>
              </a:ext>
            </a:extLst>
          </p:cNvPr>
          <p:cNvCxnSpPr>
            <a:cxnSpLocks/>
            <a:stCxn id="60" idx="2"/>
            <a:endCxn id="78" idx="3"/>
          </p:cNvCxnSpPr>
          <p:nvPr/>
        </p:nvCxnSpPr>
        <p:spPr>
          <a:xfrm rot="5400000">
            <a:off x="11332683" y="3394150"/>
            <a:ext cx="1284600" cy="223872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78" name="表格 30">
            <a:extLst>
              <a:ext uri="{FF2B5EF4-FFF2-40B4-BE49-F238E27FC236}">
                <a16:creationId xmlns="" xmlns:a16="http://schemas.microsoft.com/office/drawing/2014/main" id="{8FFD2A81-4A9E-74F7-E48F-FEBE8A7AB464}"/>
              </a:ext>
            </a:extLst>
          </p:cNvPr>
          <p:cNvGraphicFramePr>
            <a:graphicFrameLocks noGrp="1"/>
          </p:cNvGraphicFramePr>
          <p:nvPr/>
        </p:nvGraphicFramePr>
        <p:xfrm>
          <a:off x="9036654" y="4536613"/>
          <a:ext cx="1818966" cy="1238400"/>
        </p:xfrm>
        <a:graphic>
          <a:graphicData uri="http://schemas.openxmlformats.org/drawingml/2006/table">
            <a:tbl>
              <a:tblPr>
                <a:tableStyleId>{5940675A-B579-460E-94D1-54222C63F5DA}</a:tableStyleId>
              </a:tblPr>
              <a:tblGrid>
                <a:gridCol w="909483">
                  <a:extLst>
                    <a:ext uri="{9D8B030D-6E8A-4147-A177-3AD203B41FA5}">
                      <a16:colId xmlns="" xmlns:a16="http://schemas.microsoft.com/office/drawing/2014/main" val="3433979995"/>
                    </a:ext>
                  </a:extLst>
                </a:gridCol>
                <a:gridCol w="909483">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ME58N</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轉採購單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79" name="Group 220">
            <a:extLst>
              <a:ext uri="{FF2B5EF4-FFF2-40B4-BE49-F238E27FC236}">
                <a16:creationId xmlns="" xmlns:a16="http://schemas.microsoft.com/office/drawing/2014/main" id="{A996302A-92F3-7B59-12E7-0AC211B790E7}"/>
              </a:ext>
            </a:extLst>
          </p:cNvPr>
          <p:cNvGrpSpPr/>
          <p:nvPr/>
        </p:nvGrpSpPr>
        <p:grpSpPr>
          <a:xfrm>
            <a:off x="10582478" y="4374877"/>
            <a:ext cx="546285" cy="408542"/>
            <a:chOff x="5906472" y="1486857"/>
            <a:chExt cx="364190" cy="272361"/>
          </a:xfrm>
        </p:grpSpPr>
        <p:sp>
          <p:nvSpPr>
            <p:cNvPr id="80" name="Oval 221">
              <a:extLst>
                <a:ext uri="{FF2B5EF4-FFF2-40B4-BE49-F238E27FC236}">
                  <a16:creationId xmlns="" xmlns:a16="http://schemas.microsoft.com/office/drawing/2014/main" id="{B4CE644E-2B3A-3599-38B4-4C91E6C4B30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81" name="TextBox 222">
              <a:extLst>
                <a:ext uri="{FF2B5EF4-FFF2-40B4-BE49-F238E27FC236}">
                  <a16:creationId xmlns="" xmlns:a16="http://schemas.microsoft.com/office/drawing/2014/main" id="{39CA8549-2829-36F3-30B6-26DDDD879D6F}"/>
                </a:ext>
              </a:extLst>
            </p:cNvPr>
            <p:cNvSpPr txBox="1"/>
            <p:nvPr/>
          </p:nvSpPr>
          <p:spPr>
            <a:xfrm>
              <a:off x="5915062"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sp>
        <p:nvSpPr>
          <p:cNvPr id="85" name="流程圖: 接點 51">
            <a:extLst>
              <a:ext uri="{FF2B5EF4-FFF2-40B4-BE49-F238E27FC236}">
                <a16:creationId xmlns="" xmlns:a16="http://schemas.microsoft.com/office/drawing/2014/main" id="{1E4DE6F3-3BB0-2B05-BD87-45921D4C3C01}"/>
              </a:ext>
            </a:extLst>
          </p:cNvPr>
          <p:cNvSpPr/>
          <p:nvPr/>
        </p:nvSpPr>
        <p:spPr bwMode="auto">
          <a:xfrm>
            <a:off x="12028414" y="7004788"/>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sp>
        <p:nvSpPr>
          <p:cNvPr id="87" name="流程圖: 接點 51">
            <a:extLst>
              <a:ext uri="{FF2B5EF4-FFF2-40B4-BE49-F238E27FC236}">
                <a16:creationId xmlns="" xmlns:a16="http://schemas.microsoft.com/office/drawing/2014/main" id="{1E4DE6F3-3BB0-2B05-BD87-45921D4C3C01}"/>
              </a:ext>
            </a:extLst>
          </p:cNvPr>
          <p:cNvSpPr/>
          <p:nvPr/>
        </p:nvSpPr>
        <p:spPr bwMode="auto">
          <a:xfrm>
            <a:off x="9671884" y="2050120"/>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cxnSp>
        <p:nvCxnSpPr>
          <p:cNvPr id="88" name="肘形接點 68">
            <a:extLst>
              <a:ext uri="{FF2B5EF4-FFF2-40B4-BE49-F238E27FC236}">
                <a16:creationId xmlns="" xmlns:a16="http://schemas.microsoft.com/office/drawing/2014/main" id="{3DF02015-D2E3-2703-4867-50B03711C09D}"/>
              </a:ext>
            </a:extLst>
          </p:cNvPr>
          <p:cNvCxnSpPr>
            <a:cxnSpLocks/>
            <a:stCxn id="87" idx="4"/>
            <a:endCxn id="12" idx="0"/>
          </p:cNvCxnSpPr>
          <p:nvPr/>
        </p:nvCxnSpPr>
        <p:spPr>
          <a:xfrm rot="16200000" flipH="1">
            <a:off x="9757299" y="2704678"/>
            <a:ext cx="378096" cy="358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91" name="肘形接點 68">
            <a:extLst>
              <a:ext uri="{FF2B5EF4-FFF2-40B4-BE49-F238E27FC236}">
                <a16:creationId xmlns="" xmlns:a16="http://schemas.microsoft.com/office/drawing/2014/main" id="{3DF02015-D2E3-2703-4867-50B03711C09D}"/>
              </a:ext>
            </a:extLst>
          </p:cNvPr>
          <p:cNvCxnSpPr>
            <a:cxnSpLocks/>
            <a:stCxn id="78" idx="2"/>
            <a:endCxn id="240" idx="0"/>
          </p:cNvCxnSpPr>
          <p:nvPr/>
        </p:nvCxnSpPr>
        <p:spPr>
          <a:xfrm rot="5400000">
            <a:off x="9615777" y="6101209"/>
            <a:ext cx="656556" cy="416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82" name="流程圖: 接點 51">
            <a:extLst>
              <a:ext uri="{FF2B5EF4-FFF2-40B4-BE49-F238E27FC236}">
                <a16:creationId xmlns="" xmlns:a16="http://schemas.microsoft.com/office/drawing/2014/main" id="{1E4DE6F3-3BB0-2B05-BD87-45921D4C3C01}"/>
              </a:ext>
            </a:extLst>
          </p:cNvPr>
          <p:cNvSpPr/>
          <p:nvPr/>
        </p:nvSpPr>
        <p:spPr bwMode="auto">
          <a:xfrm>
            <a:off x="3323336" y="8167444"/>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grpSp>
        <p:nvGrpSpPr>
          <p:cNvPr id="93" name="Group 232">
            <a:extLst>
              <a:ext uri="{FF2B5EF4-FFF2-40B4-BE49-F238E27FC236}">
                <a16:creationId xmlns="" xmlns:a16="http://schemas.microsoft.com/office/drawing/2014/main" id="{34DCA6AC-E460-4F91-E17A-E4D1D9383A32}"/>
              </a:ext>
            </a:extLst>
          </p:cNvPr>
          <p:cNvGrpSpPr/>
          <p:nvPr/>
        </p:nvGrpSpPr>
        <p:grpSpPr>
          <a:xfrm>
            <a:off x="6497510" y="3515116"/>
            <a:ext cx="557700" cy="408542"/>
            <a:chOff x="5906472" y="1486857"/>
            <a:chExt cx="371800" cy="272361"/>
          </a:xfrm>
        </p:grpSpPr>
        <p:sp>
          <p:nvSpPr>
            <p:cNvPr id="94"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95"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 xmlns:p14="http://schemas.microsoft.com/office/powerpoint/2010/main" val="8020639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1" name="流程圖: 文件 42">
            <a:extLst>
              <a:ext uri="{FF2B5EF4-FFF2-40B4-BE49-F238E27FC236}">
                <a16:creationId xmlns="" xmlns:a16="http://schemas.microsoft.com/office/drawing/2014/main" id="{580160BC-29D0-9D19-BFCE-78B7FC429FBC}"/>
              </a:ext>
            </a:extLst>
          </p:cNvPr>
          <p:cNvSpPr/>
          <p:nvPr/>
        </p:nvSpPr>
        <p:spPr bwMode="auto">
          <a:xfrm>
            <a:off x="6078194" y="4757597"/>
            <a:ext cx="1086981" cy="534714"/>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採購單</a:t>
            </a:r>
          </a:p>
        </p:txBody>
      </p:sp>
      <p:sp>
        <p:nvSpPr>
          <p:cNvPr id="4" name="文字方塊 3">
            <a:extLst>
              <a:ext uri="{FF2B5EF4-FFF2-40B4-BE49-F238E27FC236}">
                <a16:creationId xmlns="" xmlns:a16="http://schemas.microsoft.com/office/drawing/2014/main" id="{83E6F622-2FBE-CC67-50FE-4ABD7D8B9696}"/>
              </a:ext>
            </a:extLst>
          </p:cNvPr>
          <p:cNvSpPr txBox="1"/>
          <p:nvPr/>
        </p:nvSpPr>
        <p:spPr>
          <a:xfrm>
            <a:off x="2417576" y="820877"/>
            <a:ext cx="8450034"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MM-PU-0040-01 </a:t>
            </a:r>
            <a:r>
              <a:rPr lang="zh-TW" altLang="en-US" sz="2400" b="1" dirty="0">
                <a:latin typeface="微軟正黑體" panose="020B0604030504040204" pitchFamily="34" charset="-120"/>
                <a:ea typeface="微軟正黑體" panose="020B0604030504040204" pitchFamily="34" charset="-120"/>
              </a:rPr>
              <a:t>庶務請採購驗流程</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庶務庫存類</a:t>
            </a:r>
          </a:p>
        </p:txBody>
      </p:sp>
      <p:sp>
        <p:nvSpPr>
          <p:cNvPr id="14" name="文字方塊 17">
            <a:extLst>
              <a:ext uri="{FF2B5EF4-FFF2-40B4-BE49-F238E27FC236}">
                <a16:creationId xmlns="" xmlns:a16="http://schemas.microsoft.com/office/drawing/2014/main" id="{E114DEFF-4464-1230-5102-DAAA05109B8A}"/>
              </a:ext>
            </a:extLst>
          </p:cNvPr>
          <p:cNvSpPr txBox="1"/>
          <p:nvPr/>
        </p:nvSpPr>
        <p:spPr>
          <a:xfrm>
            <a:off x="2493951" y="1359356"/>
            <a:ext cx="2166825"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權責主管</a:t>
            </a:r>
          </a:p>
        </p:txBody>
      </p:sp>
      <p:cxnSp>
        <p:nvCxnSpPr>
          <p:cNvPr id="12" name="肘形接點 68">
            <a:extLst>
              <a:ext uri="{FF2B5EF4-FFF2-40B4-BE49-F238E27FC236}">
                <a16:creationId xmlns="" xmlns:a16="http://schemas.microsoft.com/office/drawing/2014/main" id="{FBF11958-7A91-079F-32FB-0858325AE319}"/>
              </a:ext>
            </a:extLst>
          </p:cNvPr>
          <p:cNvCxnSpPr>
            <a:cxnSpLocks/>
            <a:stCxn id="23" idx="3"/>
            <a:endCxn id="8" idx="1"/>
          </p:cNvCxnSpPr>
          <p:nvPr/>
        </p:nvCxnSpPr>
        <p:spPr>
          <a:xfrm>
            <a:off x="9203520" y="3263312"/>
            <a:ext cx="561299" cy="636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5" name="流程圖: 結束點 8">
            <a:extLst>
              <a:ext uri="{FF2B5EF4-FFF2-40B4-BE49-F238E27FC236}">
                <a16:creationId xmlns="" xmlns:a16="http://schemas.microsoft.com/office/drawing/2014/main" id="{1FB9514E-6261-C7AC-D58E-6A5F2E6F81FD}"/>
              </a:ext>
            </a:extLst>
          </p:cNvPr>
          <p:cNvSpPr/>
          <p:nvPr/>
        </p:nvSpPr>
        <p:spPr bwMode="auto">
          <a:xfrm>
            <a:off x="12177977" y="9086491"/>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graphicFrame>
        <p:nvGraphicFramePr>
          <p:cNvPr id="30" name="表格 30">
            <a:extLst>
              <a:ext uri="{FF2B5EF4-FFF2-40B4-BE49-F238E27FC236}">
                <a16:creationId xmlns="" xmlns:a16="http://schemas.microsoft.com/office/drawing/2014/main" id="{18197701-0564-3E2B-648E-413A6C8BBE0A}"/>
              </a:ext>
            </a:extLst>
          </p:cNvPr>
          <p:cNvGraphicFramePr>
            <a:graphicFrameLocks noGrp="1"/>
          </p:cNvGraphicFramePr>
          <p:nvPr>
            <p:extLst>
              <p:ext uri="{D42A27DB-BD31-4B8C-83A1-F6EECF244321}">
                <p14:modId xmlns="" xmlns:p14="http://schemas.microsoft.com/office/powerpoint/2010/main" val="1908760281"/>
              </p:ext>
            </p:extLst>
          </p:nvPr>
        </p:nvGraphicFramePr>
        <p:xfrm>
          <a:off x="5032187" y="2120968"/>
          <a:ext cx="1797832" cy="1095154"/>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445560">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核發</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49" name="肘形接點 68">
            <a:extLst>
              <a:ext uri="{FF2B5EF4-FFF2-40B4-BE49-F238E27FC236}">
                <a16:creationId xmlns="" xmlns:a16="http://schemas.microsoft.com/office/drawing/2014/main" id="{8DD1663D-3235-8D1E-F1BD-80C90EB0F8CB}"/>
              </a:ext>
            </a:extLst>
          </p:cNvPr>
          <p:cNvCxnSpPr>
            <a:cxnSpLocks/>
            <a:stCxn id="216" idx="2"/>
            <a:endCxn id="15" idx="0"/>
          </p:cNvCxnSpPr>
          <p:nvPr/>
        </p:nvCxnSpPr>
        <p:spPr>
          <a:xfrm rot="16200000" flipH="1">
            <a:off x="5323180" y="8190554"/>
            <a:ext cx="1275443" cy="41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Connector 284">
            <a:extLst>
              <a:ext uri="{FF2B5EF4-FFF2-40B4-BE49-F238E27FC236}">
                <a16:creationId xmlns="" xmlns:a16="http://schemas.microsoft.com/office/drawing/2014/main" id="{3343F13F-0020-F344-5B28-F9AEB09CA3FA}"/>
              </a:ext>
            </a:extLst>
          </p:cNvPr>
          <p:cNvCxnSpPr>
            <a:cxnSpLocks/>
          </p:cNvCxnSpPr>
          <p:nvPr/>
        </p:nvCxnSpPr>
        <p:spPr>
          <a:xfrm>
            <a:off x="9260426" y="1328708"/>
            <a:ext cx="0" cy="8825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字方塊 17">
            <a:extLst>
              <a:ext uri="{FF2B5EF4-FFF2-40B4-BE49-F238E27FC236}">
                <a16:creationId xmlns="" xmlns:a16="http://schemas.microsoft.com/office/drawing/2014/main" id="{DE52170D-3194-E094-D743-3842F95326FE}"/>
              </a:ext>
            </a:extLst>
          </p:cNvPr>
          <p:cNvSpPr txBox="1"/>
          <p:nvPr/>
        </p:nvSpPr>
        <p:spPr>
          <a:xfrm>
            <a:off x="7797772" y="1369483"/>
            <a:ext cx="1197377"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廠商</a:t>
            </a:r>
          </a:p>
        </p:txBody>
      </p:sp>
      <p:cxnSp>
        <p:nvCxnSpPr>
          <p:cNvPr id="6" name="肘形接點 68">
            <a:extLst>
              <a:ext uri="{FF2B5EF4-FFF2-40B4-BE49-F238E27FC236}">
                <a16:creationId xmlns="" xmlns:a16="http://schemas.microsoft.com/office/drawing/2014/main" id="{70F961FE-0AA7-D2B8-F257-ECB0C3D45D2D}"/>
              </a:ext>
            </a:extLst>
          </p:cNvPr>
          <p:cNvCxnSpPr>
            <a:cxnSpLocks/>
            <a:stCxn id="5" idx="3"/>
            <a:endCxn id="70" idx="1"/>
          </p:cNvCxnSpPr>
          <p:nvPr/>
        </p:nvCxnSpPr>
        <p:spPr>
          <a:xfrm>
            <a:off x="1691863" y="2712106"/>
            <a:ext cx="986585" cy="88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3" name="表格 30">
            <a:extLst>
              <a:ext uri="{FF2B5EF4-FFF2-40B4-BE49-F238E27FC236}">
                <a16:creationId xmlns="" xmlns:a16="http://schemas.microsoft.com/office/drawing/2014/main" id="{36F45BC6-97E0-5DAF-4CDF-28F120688387}"/>
              </a:ext>
            </a:extLst>
          </p:cNvPr>
          <p:cNvGraphicFramePr>
            <a:graphicFrameLocks noGrp="1"/>
          </p:cNvGraphicFramePr>
          <p:nvPr/>
        </p:nvGraphicFramePr>
        <p:xfrm>
          <a:off x="7405688" y="2644112"/>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endParaRPr lang="en-GB" sz="1500" b="1" dirty="0">
                        <a:solidFill>
                          <a:srgbClr val="FF0000"/>
                        </a:solidFill>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dirty="0">
                          <a:latin typeface="微軟正黑體" panose="020B0604030504040204" pitchFamily="34" charset="-120"/>
                          <a:ea typeface="微軟正黑體" panose="020B0604030504040204" pitchFamily="34" charset="-120"/>
                        </a:rPr>
                        <a:t> 廠商按照採購單內容交貨</a:t>
                      </a: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 </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40" name="肘形接點 68">
            <a:extLst>
              <a:ext uri="{FF2B5EF4-FFF2-40B4-BE49-F238E27FC236}">
                <a16:creationId xmlns="" xmlns:a16="http://schemas.microsoft.com/office/drawing/2014/main" id="{1DF5F1F4-D706-20CD-2C91-619F7E00C1C5}"/>
              </a:ext>
            </a:extLst>
          </p:cNvPr>
          <p:cNvCxnSpPr>
            <a:cxnSpLocks/>
            <a:stCxn id="19" idx="3"/>
            <a:endCxn id="23" idx="1"/>
          </p:cNvCxnSpPr>
          <p:nvPr/>
        </p:nvCxnSpPr>
        <p:spPr>
          <a:xfrm flipV="1">
            <a:off x="6831286" y="3263312"/>
            <a:ext cx="574402" cy="100096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9" name="表格 30">
            <a:extLst>
              <a:ext uri="{FF2B5EF4-FFF2-40B4-BE49-F238E27FC236}">
                <a16:creationId xmlns="" xmlns:a16="http://schemas.microsoft.com/office/drawing/2014/main" id="{323DEA68-B2E9-C177-AF6C-305B02CA9243}"/>
              </a:ext>
            </a:extLst>
          </p:cNvPr>
          <p:cNvGraphicFramePr>
            <a:graphicFrameLocks noGrp="1"/>
          </p:cNvGraphicFramePr>
          <p:nvPr>
            <p:extLst>
              <p:ext uri="{D42A27DB-BD31-4B8C-83A1-F6EECF244321}">
                <p14:modId xmlns="" xmlns:p14="http://schemas.microsoft.com/office/powerpoint/2010/main" val="4065702781"/>
              </p:ext>
            </p:extLst>
          </p:nvPr>
        </p:nvGraphicFramePr>
        <p:xfrm>
          <a:off x="5033454" y="3730487"/>
          <a:ext cx="1797832" cy="1067589"/>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ZMM013</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94389">
                <a:tc gridSpan="2">
                  <a:txBody>
                    <a:bodyPr/>
                    <a:lstStyle/>
                    <a:p>
                      <a:pPr algn="ctr"/>
                      <a:r>
                        <a:rPr lang="zh-TW" altLang="en-US" sz="1500" dirty="0">
                          <a:latin typeface="微軟正黑體" panose="020B0604030504040204" pitchFamily="34" charset="-120"/>
                          <a:ea typeface="微軟正黑體" panose="020B0604030504040204" pitchFamily="34" charset="-120"/>
                        </a:rPr>
                        <a:t>列印採購單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51" name="肘形接點 68">
            <a:extLst>
              <a:ext uri="{FF2B5EF4-FFF2-40B4-BE49-F238E27FC236}">
                <a16:creationId xmlns="" xmlns:a16="http://schemas.microsoft.com/office/drawing/2014/main" id="{2AA47122-2BF1-7633-656B-9B6710026CD9}"/>
              </a:ext>
            </a:extLst>
          </p:cNvPr>
          <p:cNvCxnSpPr>
            <a:cxnSpLocks/>
            <a:stCxn id="18" idx="1"/>
            <a:endCxn id="216" idx="3"/>
          </p:cNvCxnSpPr>
          <p:nvPr/>
        </p:nvCxnSpPr>
        <p:spPr>
          <a:xfrm rot="10800000" flipV="1">
            <a:off x="6859612" y="4757672"/>
            <a:ext cx="2887960" cy="217616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55" name="文字方塊 54">
            <a:extLst>
              <a:ext uri="{FF2B5EF4-FFF2-40B4-BE49-F238E27FC236}">
                <a16:creationId xmlns="" xmlns:a16="http://schemas.microsoft.com/office/drawing/2014/main" id="{B106DB5A-3C2B-C42B-E706-9F53E0CA364F}"/>
              </a:ext>
            </a:extLst>
          </p:cNvPr>
          <p:cNvSpPr txBox="1"/>
          <p:nvPr/>
        </p:nvSpPr>
        <p:spPr>
          <a:xfrm>
            <a:off x="10841633" y="5193260"/>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cxnSp>
        <p:nvCxnSpPr>
          <p:cNvPr id="209" name="Straight Connector 284">
            <a:extLst>
              <a:ext uri="{FF2B5EF4-FFF2-40B4-BE49-F238E27FC236}">
                <a16:creationId xmlns="" xmlns:a16="http://schemas.microsoft.com/office/drawing/2014/main" id="{CCB3D035-826A-6F8E-1D15-1A3E96F62413}"/>
              </a:ext>
            </a:extLst>
          </p:cNvPr>
          <p:cNvCxnSpPr>
            <a:cxnSpLocks/>
          </p:cNvCxnSpPr>
          <p:nvPr/>
        </p:nvCxnSpPr>
        <p:spPr>
          <a:xfrm>
            <a:off x="7248843" y="1359356"/>
            <a:ext cx="0" cy="87952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53">
            <a:extLst>
              <a:ext uri="{FF2B5EF4-FFF2-40B4-BE49-F238E27FC236}">
                <a16:creationId xmlns="" xmlns:a16="http://schemas.microsoft.com/office/drawing/2014/main" id="{2DE69ECC-E293-FAA8-6082-E6D2F887DBFF}"/>
              </a:ext>
            </a:extLst>
          </p:cNvPr>
          <p:cNvSpPr txBox="1"/>
          <p:nvPr/>
        </p:nvSpPr>
        <p:spPr>
          <a:xfrm>
            <a:off x="14380627" y="2064631"/>
            <a:ext cx="3594197" cy="5909310"/>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由權責主管在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上進行採購單簽核</a:t>
            </a: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簽核未通過，透過程式將採購單標記為刪除，以及刪除對應請購單</a:t>
            </a: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通過簽核的採購單透過</a:t>
            </a:r>
            <a:r>
              <a:rPr lang="en-US" altLang="zh-TW" dirty="0">
                <a:latin typeface="微軟正黑體" panose="020B0604030504040204" pitchFamily="34" charset="-120"/>
                <a:ea typeface="微軟正黑體" panose="020B0604030504040204" pitchFamily="34" charset="-120"/>
              </a:rPr>
              <a:t>ZMM006</a:t>
            </a:r>
            <a:r>
              <a:rPr lang="zh-TW" altLang="en-US" dirty="0">
                <a:latin typeface="微軟正黑體" panose="020B0604030504040204" pitchFamily="34" charset="-120"/>
                <a:ea typeface="微軟正黑體" panose="020B0604030504040204" pitchFamily="34" charset="-120"/>
              </a:rPr>
              <a:t>核發</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進行採購單列印</a:t>
            </a:r>
            <a:r>
              <a:rPr lang="en-US" altLang="zh-TW" dirty="0">
                <a:latin typeface="微軟正黑體" panose="020B0604030504040204" pitchFamily="34" charset="-120"/>
                <a:ea typeface="微軟正黑體" panose="020B0604030504040204" pitchFamily="34" charset="-120"/>
              </a:rPr>
              <a:t>ZMM013</a:t>
            </a:r>
            <a:r>
              <a:rPr lang="zh-TW" altLang="en-US" dirty="0">
                <a:latin typeface="微軟正黑體" panose="020B0604030504040204" pitchFamily="34" charset="-120"/>
                <a:ea typeface="微軟正黑體" panose="020B0604030504040204" pitchFamily="34" charset="-120"/>
              </a:rPr>
              <a:t>交予供應商</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管理部進行點驗收</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品質</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數量符合要求則進行</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系統採購驗收作業。</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品質</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數量不符則由採購通知廠商退貨或補送。</a:t>
            </a:r>
            <a:endParaRPr lang="en-US" altLang="zh-TW" dirty="0">
              <a:latin typeface="微軟正黑體" panose="020B0604030504040204" pitchFamily="34" charset="-120"/>
              <a:ea typeface="微軟正黑體" panose="020B0604030504040204" pitchFamily="34" charset="-120"/>
            </a:endParaRPr>
          </a:p>
          <a:p>
            <a:endParaRPr lang="zh-TW" altLang="en-US" dirty="0"/>
          </a:p>
        </p:txBody>
      </p:sp>
      <p:sp>
        <p:nvSpPr>
          <p:cNvPr id="5" name="流程圖: 換頁接點 52">
            <a:extLst>
              <a:ext uri="{FF2B5EF4-FFF2-40B4-BE49-F238E27FC236}">
                <a16:creationId xmlns="" xmlns:a16="http://schemas.microsoft.com/office/drawing/2014/main" id="{A020D090-1F04-66A8-DDD2-0A428105439C}"/>
              </a:ext>
            </a:extLst>
          </p:cNvPr>
          <p:cNvSpPr/>
          <p:nvPr/>
        </p:nvSpPr>
        <p:spPr bwMode="auto">
          <a:xfrm>
            <a:off x="1131236" y="247845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P1</a:t>
            </a:r>
            <a:endParaRPr lang="zh-TW" altLang="en-US" dirty="0">
              <a:latin typeface="微軟正黑體" panose="020B0604030504040204" pitchFamily="34" charset="-120"/>
              <a:ea typeface="微軟正黑體" panose="020B0604030504040204" pitchFamily="34" charset="-120"/>
            </a:endParaRPr>
          </a:p>
        </p:txBody>
      </p:sp>
      <p:cxnSp>
        <p:nvCxnSpPr>
          <p:cNvPr id="10" name="肘形接點 68">
            <a:extLst>
              <a:ext uri="{FF2B5EF4-FFF2-40B4-BE49-F238E27FC236}">
                <a16:creationId xmlns="" xmlns:a16="http://schemas.microsoft.com/office/drawing/2014/main" id="{88423D2F-5852-EF3C-C85E-11AFB02032A8}"/>
              </a:ext>
            </a:extLst>
          </p:cNvPr>
          <p:cNvCxnSpPr>
            <a:cxnSpLocks/>
            <a:stCxn id="30" idx="2"/>
            <a:endCxn id="19" idx="0"/>
          </p:cNvCxnSpPr>
          <p:nvPr/>
        </p:nvCxnSpPr>
        <p:spPr>
          <a:xfrm rot="16200000" flipH="1">
            <a:off x="5674554" y="3472670"/>
            <a:ext cx="514365" cy="126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00" name="文字方塊 17">
            <a:extLst>
              <a:ext uri="{FF2B5EF4-FFF2-40B4-BE49-F238E27FC236}">
                <a16:creationId xmlns="" xmlns:a16="http://schemas.microsoft.com/office/drawing/2014/main" id="{46781F1A-BA99-952E-F060-2BBE7B71DFBE}"/>
              </a:ext>
            </a:extLst>
          </p:cNvPr>
          <p:cNvSpPr txBox="1"/>
          <p:nvPr/>
        </p:nvSpPr>
        <p:spPr>
          <a:xfrm>
            <a:off x="9544523" y="1370834"/>
            <a:ext cx="2438547"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管理部</a:t>
            </a:r>
          </a:p>
        </p:txBody>
      </p:sp>
      <p:graphicFrame>
        <p:nvGraphicFramePr>
          <p:cNvPr id="211" name="表格 30">
            <a:extLst>
              <a:ext uri="{FF2B5EF4-FFF2-40B4-BE49-F238E27FC236}">
                <a16:creationId xmlns="" xmlns:a16="http://schemas.microsoft.com/office/drawing/2014/main" id="{7C9AEEC6-5A2A-D9F0-2273-1A417DB56F19}"/>
              </a:ext>
            </a:extLst>
          </p:cNvPr>
          <p:cNvGraphicFramePr>
            <a:graphicFrameLocks noGrp="1"/>
          </p:cNvGraphicFramePr>
          <p:nvPr/>
        </p:nvGraphicFramePr>
        <p:xfrm>
          <a:off x="9736122" y="5659909"/>
          <a:ext cx="1864309" cy="1184439"/>
        </p:xfrm>
        <a:graphic>
          <a:graphicData uri="http://schemas.openxmlformats.org/drawingml/2006/table">
            <a:tbl>
              <a:tblPr>
                <a:tableStyleId>{5940675A-B579-460E-94D1-54222C63F5DA}</a:tableStyleId>
              </a:tblPr>
              <a:tblGrid>
                <a:gridCol w="938504">
                  <a:extLst>
                    <a:ext uri="{9D8B030D-6E8A-4147-A177-3AD203B41FA5}">
                      <a16:colId xmlns="" xmlns:a16="http://schemas.microsoft.com/office/drawing/2014/main" val="3433979995"/>
                    </a:ext>
                  </a:extLst>
                </a:gridCol>
                <a:gridCol w="925805">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MIGO</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採購單驗收</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216" name="表格 30">
            <a:extLst>
              <a:ext uri="{FF2B5EF4-FFF2-40B4-BE49-F238E27FC236}">
                <a16:creationId xmlns="" xmlns:a16="http://schemas.microsoft.com/office/drawing/2014/main" id="{8964F375-68D2-CB08-85C1-496EBD1EEBD8}"/>
              </a:ext>
            </a:extLst>
          </p:cNvPr>
          <p:cNvGraphicFramePr>
            <a:graphicFrameLocks noGrp="1"/>
          </p:cNvGraphicFramePr>
          <p:nvPr/>
        </p:nvGraphicFramePr>
        <p:xfrm>
          <a:off x="5061780" y="6314638"/>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solidFill>
                          <a:srgbClr val="FF0000"/>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採購單退貨，通知廠商收退</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補送</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26" name="肘形接點 68">
            <a:extLst>
              <a:ext uri="{FF2B5EF4-FFF2-40B4-BE49-F238E27FC236}">
                <a16:creationId xmlns="" xmlns:a16="http://schemas.microsoft.com/office/drawing/2014/main" id="{125A8A52-5CEB-3185-4F86-EE30C2E88477}"/>
              </a:ext>
            </a:extLst>
          </p:cNvPr>
          <p:cNvCxnSpPr>
            <a:cxnSpLocks/>
            <a:stCxn id="2" idx="3"/>
            <a:endCxn id="229" idx="1"/>
          </p:cNvCxnSpPr>
          <p:nvPr/>
        </p:nvCxnSpPr>
        <p:spPr>
          <a:xfrm>
            <a:off x="11627062" y="7891207"/>
            <a:ext cx="549278" cy="193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29" name="流程圖: 預設處理作業 21">
            <a:extLst>
              <a:ext uri="{FF2B5EF4-FFF2-40B4-BE49-F238E27FC236}">
                <a16:creationId xmlns="" xmlns:a16="http://schemas.microsoft.com/office/drawing/2014/main" id="{8D89DE13-51D6-E651-0AFF-2DA7C6AADABA}"/>
              </a:ext>
            </a:extLst>
          </p:cNvPr>
          <p:cNvSpPr/>
          <p:nvPr/>
        </p:nvSpPr>
        <p:spPr bwMode="auto">
          <a:xfrm>
            <a:off x="12176339" y="7273943"/>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MM-IV-0010</a:t>
            </a:r>
          </a:p>
          <a:p>
            <a:pPr algn="ctr" eaLnBrk="0" hangingPunct="0"/>
            <a:r>
              <a:rPr lang="zh-TW" altLang="en-US" sz="1500" dirty="0">
                <a:latin typeface="微軟正黑體" panose="020B0604030504040204" pitchFamily="34" charset="-120"/>
                <a:ea typeface="微軟正黑體" panose="020B0604030504040204" pitchFamily="34" charset="-120"/>
              </a:rPr>
              <a:t>發票請款</a:t>
            </a:r>
          </a:p>
        </p:txBody>
      </p:sp>
      <p:sp>
        <p:nvSpPr>
          <p:cNvPr id="18" name="流程圖: 決策 50">
            <a:extLst>
              <a:ext uri="{FF2B5EF4-FFF2-40B4-BE49-F238E27FC236}">
                <a16:creationId xmlns="" xmlns:a16="http://schemas.microsoft.com/office/drawing/2014/main" id="{523F3E97-4D4D-40CF-A7CC-E7AD5E31A7F2}"/>
              </a:ext>
            </a:extLst>
          </p:cNvPr>
          <p:cNvSpPr/>
          <p:nvPr/>
        </p:nvSpPr>
        <p:spPr bwMode="auto">
          <a:xfrm>
            <a:off x="9747572" y="4463186"/>
            <a:ext cx="1841949" cy="588972"/>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符合要求</a:t>
            </a:r>
          </a:p>
        </p:txBody>
      </p:sp>
      <p:cxnSp>
        <p:nvCxnSpPr>
          <p:cNvPr id="22" name="肘形接點 68">
            <a:extLst>
              <a:ext uri="{FF2B5EF4-FFF2-40B4-BE49-F238E27FC236}">
                <a16:creationId xmlns="" xmlns:a16="http://schemas.microsoft.com/office/drawing/2014/main" id="{08C4A7ED-A3C2-39C7-6C98-4C2A2BE7668C}"/>
              </a:ext>
            </a:extLst>
          </p:cNvPr>
          <p:cNvCxnSpPr>
            <a:cxnSpLocks/>
            <a:stCxn id="18" idx="2"/>
            <a:endCxn id="211" idx="0"/>
          </p:cNvCxnSpPr>
          <p:nvPr/>
        </p:nvCxnSpPr>
        <p:spPr>
          <a:xfrm rot="5400000">
            <a:off x="10364537" y="5355898"/>
            <a:ext cx="607751" cy="27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24" name="文字方塊 223">
            <a:extLst>
              <a:ext uri="{FF2B5EF4-FFF2-40B4-BE49-F238E27FC236}">
                <a16:creationId xmlns="" xmlns:a16="http://schemas.microsoft.com/office/drawing/2014/main" id="{5B29E6B0-847D-D73B-DD4A-9A49F2737E45}"/>
              </a:ext>
            </a:extLst>
          </p:cNvPr>
          <p:cNvSpPr txBox="1"/>
          <p:nvPr/>
        </p:nvSpPr>
        <p:spPr>
          <a:xfrm>
            <a:off x="9353846" y="4478638"/>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graphicFrame>
        <p:nvGraphicFramePr>
          <p:cNvPr id="8" name="表格 30">
            <a:extLst>
              <a:ext uri="{FF2B5EF4-FFF2-40B4-BE49-F238E27FC236}">
                <a16:creationId xmlns="" xmlns:a16="http://schemas.microsoft.com/office/drawing/2014/main" id="{159DB09F-A2E3-03AA-1181-22E73C42C722}"/>
              </a:ext>
            </a:extLst>
          </p:cNvPr>
          <p:cNvGraphicFramePr>
            <a:graphicFrameLocks noGrp="1"/>
          </p:cNvGraphicFramePr>
          <p:nvPr/>
        </p:nvGraphicFramePr>
        <p:xfrm>
          <a:off x="9764819" y="2764780"/>
          <a:ext cx="1797832" cy="10098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endParaRPr lang="en-GB" sz="1500" b="1" dirty="0">
                        <a:solidFill>
                          <a:srgbClr val="FF0000"/>
                        </a:solidFill>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00">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dirty="0">
                          <a:latin typeface="微軟正黑體" panose="020B0604030504040204" pitchFamily="34" charset="-120"/>
                          <a:ea typeface="微軟正黑體" panose="020B0604030504040204" pitchFamily="34" charset="-120"/>
                        </a:rPr>
                        <a:t>進行點驗收</a:t>
                      </a: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 </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13" name="肘形接點 68">
            <a:extLst>
              <a:ext uri="{FF2B5EF4-FFF2-40B4-BE49-F238E27FC236}">
                <a16:creationId xmlns="" xmlns:a16="http://schemas.microsoft.com/office/drawing/2014/main" id="{2BFBE3D3-39F7-9A8B-28AB-4DB99E07566E}"/>
              </a:ext>
            </a:extLst>
          </p:cNvPr>
          <p:cNvCxnSpPr>
            <a:cxnSpLocks/>
            <a:stCxn id="8" idx="2"/>
            <a:endCxn id="18" idx="0"/>
          </p:cNvCxnSpPr>
          <p:nvPr/>
        </p:nvCxnSpPr>
        <p:spPr>
          <a:xfrm rot="16200000" flipH="1">
            <a:off x="10321838" y="4116477"/>
            <a:ext cx="688606" cy="481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 name="表格 30">
            <a:extLst>
              <a:ext uri="{FF2B5EF4-FFF2-40B4-BE49-F238E27FC236}">
                <a16:creationId xmlns="" xmlns:a16="http://schemas.microsoft.com/office/drawing/2014/main" id="{D3D9AB5D-7E8D-B9BA-E750-1B70BA2AED1D}"/>
              </a:ext>
            </a:extLst>
          </p:cNvPr>
          <p:cNvGraphicFramePr>
            <a:graphicFrameLocks noGrp="1"/>
          </p:cNvGraphicFramePr>
          <p:nvPr>
            <p:extLst>
              <p:ext uri="{D42A27DB-BD31-4B8C-83A1-F6EECF244321}">
                <p14:modId xmlns="" xmlns:p14="http://schemas.microsoft.com/office/powerpoint/2010/main" val="1010941166"/>
              </p:ext>
            </p:extLst>
          </p:nvPr>
        </p:nvGraphicFramePr>
        <p:xfrm>
          <a:off x="9696171" y="7386307"/>
          <a:ext cx="1930890" cy="1009800"/>
        </p:xfrm>
        <a:graphic>
          <a:graphicData uri="http://schemas.openxmlformats.org/drawingml/2006/table">
            <a:tbl>
              <a:tblPr>
                <a:tableStyleId>{5940675A-B579-460E-94D1-54222C63F5DA}</a:tableStyleId>
              </a:tblPr>
              <a:tblGrid>
                <a:gridCol w="965445">
                  <a:extLst>
                    <a:ext uri="{9D8B030D-6E8A-4147-A177-3AD203B41FA5}">
                      <a16:colId xmlns="" xmlns:a16="http://schemas.microsoft.com/office/drawing/2014/main" val="3433979995"/>
                    </a:ext>
                  </a:extLst>
                </a:gridCol>
                <a:gridCol w="965445">
                  <a:extLst>
                    <a:ext uri="{9D8B030D-6E8A-4147-A177-3AD203B41FA5}">
                      <a16:colId xmlns="" xmlns:a16="http://schemas.microsoft.com/office/drawing/2014/main" val="3727974752"/>
                    </a:ext>
                  </a:extLst>
                </a:gridCol>
              </a:tblGrid>
              <a:tr h="336600">
                <a:tc gridSpan="2">
                  <a:txBody>
                    <a:bodyPr/>
                    <a:lstStyle/>
                    <a:p>
                      <a:pPr algn="ctr"/>
                      <a:r>
                        <a:rPr lang="en-US" altLang="zh-TW" sz="1500" b="1" dirty="0">
                          <a:solidFill>
                            <a:schemeClr val="tx1"/>
                          </a:solidFill>
                          <a:latin typeface="微軟正黑體" panose="020B0604030504040204" pitchFamily="34" charset="-120"/>
                          <a:ea typeface="微軟正黑體" panose="020B0604030504040204" pitchFamily="34" charset="-120"/>
                        </a:rPr>
                        <a:t>ZMM016</a:t>
                      </a: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00">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列印收貨驗收單</a:t>
                      </a: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7" name="肘形接點 68">
            <a:extLst>
              <a:ext uri="{FF2B5EF4-FFF2-40B4-BE49-F238E27FC236}">
                <a16:creationId xmlns="" xmlns:a16="http://schemas.microsoft.com/office/drawing/2014/main" id="{DE7163D5-9E14-E44D-C880-5F40B54FA0B5}"/>
              </a:ext>
            </a:extLst>
          </p:cNvPr>
          <p:cNvCxnSpPr>
            <a:cxnSpLocks/>
            <a:stCxn id="211" idx="2"/>
            <a:endCxn id="2" idx="0"/>
          </p:cNvCxnSpPr>
          <p:nvPr/>
        </p:nvCxnSpPr>
        <p:spPr>
          <a:xfrm rot="5400000">
            <a:off x="10393967" y="7111997"/>
            <a:ext cx="541959" cy="666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9" name="流程圖: 接點 51">
            <a:extLst>
              <a:ext uri="{FF2B5EF4-FFF2-40B4-BE49-F238E27FC236}">
                <a16:creationId xmlns="" xmlns:a16="http://schemas.microsoft.com/office/drawing/2014/main" id="{5CE09BE5-1C91-0733-D4FA-FF68A44DB945}"/>
              </a:ext>
            </a:extLst>
          </p:cNvPr>
          <p:cNvSpPr/>
          <p:nvPr/>
        </p:nvSpPr>
        <p:spPr bwMode="auto">
          <a:xfrm>
            <a:off x="8020004" y="1827988"/>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sp>
        <p:nvSpPr>
          <p:cNvPr id="15" name="流程圖: 接點 51">
            <a:extLst>
              <a:ext uri="{FF2B5EF4-FFF2-40B4-BE49-F238E27FC236}">
                <a16:creationId xmlns="" xmlns:a16="http://schemas.microsoft.com/office/drawing/2014/main" id="{AC20B4C4-BFBC-7794-5F72-8FEC733B624F}"/>
              </a:ext>
            </a:extLst>
          </p:cNvPr>
          <p:cNvSpPr/>
          <p:nvPr/>
        </p:nvSpPr>
        <p:spPr bwMode="auto">
          <a:xfrm>
            <a:off x="5688433" y="8828481"/>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cxnSp>
        <p:nvCxnSpPr>
          <p:cNvPr id="29" name="肘形接點 68">
            <a:extLst>
              <a:ext uri="{FF2B5EF4-FFF2-40B4-BE49-F238E27FC236}">
                <a16:creationId xmlns="" xmlns:a16="http://schemas.microsoft.com/office/drawing/2014/main" id="{17044F62-6BF1-2DA6-8FA5-84AB1AA77F10}"/>
              </a:ext>
            </a:extLst>
          </p:cNvPr>
          <p:cNvCxnSpPr>
            <a:cxnSpLocks/>
            <a:stCxn id="9" idx="4"/>
            <a:endCxn id="23" idx="0"/>
          </p:cNvCxnSpPr>
          <p:nvPr/>
        </p:nvCxnSpPr>
        <p:spPr>
          <a:xfrm rot="16200000" flipH="1">
            <a:off x="8124230" y="2463737"/>
            <a:ext cx="348821" cy="1192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34" name="肘形接點 68">
            <a:extLst>
              <a:ext uri="{FF2B5EF4-FFF2-40B4-BE49-F238E27FC236}">
                <a16:creationId xmlns="" xmlns:a16="http://schemas.microsoft.com/office/drawing/2014/main" id="{2888F5BD-8725-778F-DC22-CD7174C031E2}"/>
              </a:ext>
            </a:extLst>
          </p:cNvPr>
          <p:cNvCxnSpPr>
            <a:cxnSpLocks/>
            <a:stCxn id="229" idx="2"/>
            <a:endCxn id="25" idx="0"/>
          </p:cNvCxnSpPr>
          <p:nvPr/>
        </p:nvCxnSpPr>
        <p:spPr>
          <a:xfrm rot="5400000">
            <a:off x="12792821" y="8796415"/>
            <a:ext cx="574148" cy="600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2" name="矩形 61"/>
          <p:cNvSpPr/>
          <p:nvPr/>
        </p:nvSpPr>
        <p:spPr>
          <a:xfrm>
            <a:off x="15482672" y="424952"/>
            <a:ext cx="344966" cy="323165"/>
          </a:xfrm>
          <a:prstGeom prst="rect">
            <a:avLst/>
          </a:prstGeom>
        </p:spPr>
        <p:txBody>
          <a:bodyPr wrap="none">
            <a:spAutoFit/>
          </a:bodyPr>
          <a:lstStyle/>
          <a:p>
            <a:r>
              <a:rPr lang="en-US" altLang="zh-TW" sz="1500" dirty="0">
                <a:latin typeface="微軟正黑體" panose="020B0604030504040204" pitchFamily="34" charset="-120"/>
                <a:ea typeface="微軟正黑體" panose="020B0604030504040204" pitchFamily="34" charset="-120"/>
              </a:rPr>
              <a:t>2 </a:t>
            </a:r>
            <a:endParaRPr lang="zh-TW" altLang="en-US" sz="1500" dirty="0"/>
          </a:p>
        </p:txBody>
      </p:sp>
      <p:sp>
        <p:nvSpPr>
          <p:cNvPr id="67" name="文字方塊 66">
            <a:extLst>
              <a:ext uri="{FF2B5EF4-FFF2-40B4-BE49-F238E27FC236}">
                <a16:creationId xmlns="" xmlns:a16="http://schemas.microsoft.com/office/drawing/2014/main" id="{B106DB5A-3C2B-C42B-E706-9F53E0CA364F}"/>
              </a:ext>
            </a:extLst>
          </p:cNvPr>
          <p:cNvSpPr txBox="1"/>
          <p:nvPr/>
        </p:nvSpPr>
        <p:spPr>
          <a:xfrm>
            <a:off x="4326075" y="5274290"/>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cxnSp>
        <p:nvCxnSpPr>
          <p:cNvPr id="68" name="肘形接點 68">
            <a:extLst>
              <a:ext uri="{FF2B5EF4-FFF2-40B4-BE49-F238E27FC236}">
                <a16:creationId xmlns="" xmlns:a16="http://schemas.microsoft.com/office/drawing/2014/main" id="{A46CDCFE-67EF-4E51-A944-F4A0C09EC5BD}"/>
              </a:ext>
            </a:extLst>
          </p:cNvPr>
          <p:cNvCxnSpPr>
            <a:cxnSpLocks/>
            <a:stCxn id="69" idx="3"/>
            <a:endCxn id="30" idx="1"/>
          </p:cNvCxnSpPr>
          <p:nvPr/>
        </p:nvCxnSpPr>
        <p:spPr>
          <a:xfrm flipV="1">
            <a:off x="4502538" y="2668545"/>
            <a:ext cx="529649" cy="2880815"/>
          </a:xfrm>
          <a:prstGeom prst="bentConnector3">
            <a:avLst>
              <a:gd name="adj1" fmla="val 57506"/>
            </a:avLst>
          </a:prstGeom>
          <a:ln>
            <a:tailEnd type="triangle"/>
          </a:ln>
        </p:spPr>
        <p:style>
          <a:lnRef idx="1">
            <a:schemeClr val="dk1"/>
          </a:lnRef>
          <a:fillRef idx="0">
            <a:schemeClr val="dk1"/>
          </a:fillRef>
          <a:effectRef idx="0">
            <a:schemeClr val="dk1"/>
          </a:effectRef>
          <a:fontRef idx="minor">
            <a:schemeClr val="tx1"/>
          </a:fontRef>
        </p:style>
      </p:cxnSp>
      <p:sp>
        <p:nvSpPr>
          <p:cNvPr id="69" name="流程圖: 決策 50">
            <a:extLst>
              <a:ext uri="{FF2B5EF4-FFF2-40B4-BE49-F238E27FC236}">
                <a16:creationId xmlns="" xmlns:a16="http://schemas.microsoft.com/office/drawing/2014/main" id="{57572B2C-CFB9-0AC3-6713-A859559C555F}"/>
              </a:ext>
            </a:extLst>
          </p:cNvPr>
          <p:cNvSpPr/>
          <p:nvPr/>
        </p:nvSpPr>
        <p:spPr bwMode="auto">
          <a:xfrm>
            <a:off x="2660589" y="5193260"/>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graphicFrame>
        <p:nvGraphicFramePr>
          <p:cNvPr id="70" name="表格 30">
            <a:extLst>
              <a:ext uri="{FF2B5EF4-FFF2-40B4-BE49-F238E27FC236}">
                <a16:creationId xmlns="" xmlns:a16="http://schemas.microsoft.com/office/drawing/2014/main" id="{30D28B56-DFCB-AFD8-59FC-A2A377096849}"/>
              </a:ext>
            </a:extLst>
          </p:cNvPr>
          <p:cNvGraphicFramePr>
            <a:graphicFrameLocks noGrp="1"/>
          </p:cNvGraphicFramePr>
          <p:nvPr/>
        </p:nvGraphicFramePr>
        <p:xfrm>
          <a:off x="2678448" y="2064631"/>
          <a:ext cx="1797832" cy="129672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6576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94360">
                <a:tc gridSpan="2">
                  <a:txBody>
                    <a:bodyPr/>
                    <a:lstStyle/>
                    <a:p>
                      <a:pPr algn="ctr"/>
                      <a:r>
                        <a:rPr lang="zh-TW" altLang="en-US" sz="1500" dirty="0">
                          <a:latin typeface="微軟正黑體" panose="020B0604030504040204" pitchFamily="34" charset="-120"/>
                          <a:ea typeface="微軟正黑體" panose="020B0604030504040204" pitchFamily="34" charset="-120"/>
                        </a:rPr>
                        <a:t>簽核採購單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71" name="肘形接點 68">
            <a:extLst>
              <a:ext uri="{FF2B5EF4-FFF2-40B4-BE49-F238E27FC236}">
                <a16:creationId xmlns="" xmlns:a16="http://schemas.microsoft.com/office/drawing/2014/main" id="{E1704031-6ABC-E835-30F7-9FDE80DC71C9}"/>
              </a:ext>
            </a:extLst>
          </p:cNvPr>
          <p:cNvCxnSpPr>
            <a:cxnSpLocks/>
            <a:stCxn id="69" idx="2"/>
            <a:endCxn id="73" idx="0"/>
          </p:cNvCxnSpPr>
          <p:nvPr/>
        </p:nvCxnSpPr>
        <p:spPr>
          <a:xfrm rot="16200000" flipH="1">
            <a:off x="3211038" y="6275986"/>
            <a:ext cx="742319" cy="126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2" name="肘形接點 68">
            <a:extLst>
              <a:ext uri="{FF2B5EF4-FFF2-40B4-BE49-F238E27FC236}">
                <a16:creationId xmlns="" xmlns:a16="http://schemas.microsoft.com/office/drawing/2014/main" id="{072E999A-419C-E794-B1C6-424EAB34EFD6}"/>
              </a:ext>
            </a:extLst>
          </p:cNvPr>
          <p:cNvCxnSpPr>
            <a:cxnSpLocks/>
            <a:stCxn id="70" idx="2"/>
            <a:endCxn id="69" idx="0"/>
          </p:cNvCxnSpPr>
          <p:nvPr/>
        </p:nvCxnSpPr>
        <p:spPr>
          <a:xfrm rot="16200000" flipH="1">
            <a:off x="2663510" y="4275205"/>
            <a:ext cx="1831909" cy="420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73" name="表格 30">
            <a:extLst>
              <a:ext uri="{FF2B5EF4-FFF2-40B4-BE49-F238E27FC236}">
                <a16:creationId xmlns="" xmlns:a16="http://schemas.microsoft.com/office/drawing/2014/main" id="{652C407C-677D-0613-296A-3D52732E8BE7}"/>
              </a:ext>
            </a:extLst>
          </p:cNvPr>
          <p:cNvGraphicFramePr>
            <a:graphicFrameLocks noGrp="1"/>
          </p:cNvGraphicFramePr>
          <p:nvPr/>
        </p:nvGraphicFramePr>
        <p:xfrm>
          <a:off x="2683914" y="6647779"/>
          <a:ext cx="1797832" cy="1244992"/>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95398">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更新</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採購單，刪除標記</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80" name="文字方塊 17">
            <a:extLst>
              <a:ext uri="{FF2B5EF4-FFF2-40B4-BE49-F238E27FC236}">
                <a16:creationId xmlns="" xmlns:a16="http://schemas.microsoft.com/office/drawing/2014/main" id="{E114DEFF-4464-1230-5102-DAAA05109B8A}"/>
              </a:ext>
            </a:extLst>
          </p:cNvPr>
          <p:cNvSpPr txBox="1"/>
          <p:nvPr/>
        </p:nvSpPr>
        <p:spPr>
          <a:xfrm>
            <a:off x="4865766" y="1371338"/>
            <a:ext cx="2166825"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庶務採購</a:t>
            </a:r>
          </a:p>
        </p:txBody>
      </p:sp>
      <p:grpSp>
        <p:nvGrpSpPr>
          <p:cNvPr id="88" name="Group 232">
            <a:extLst>
              <a:ext uri="{FF2B5EF4-FFF2-40B4-BE49-F238E27FC236}">
                <a16:creationId xmlns="" xmlns:a16="http://schemas.microsoft.com/office/drawing/2014/main" id="{34DCA6AC-E460-4F91-E17A-E4D1D9383A32}"/>
              </a:ext>
            </a:extLst>
          </p:cNvPr>
          <p:cNvGrpSpPr/>
          <p:nvPr/>
        </p:nvGrpSpPr>
        <p:grpSpPr>
          <a:xfrm>
            <a:off x="11257151" y="2573629"/>
            <a:ext cx="557700" cy="408542"/>
            <a:chOff x="5906472" y="1486857"/>
            <a:chExt cx="371800" cy="272361"/>
          </a:xfrm>
        </p:grpSpPr>
        <p:sp>
          <p:nvSpPr>
            <p:cNvPr id="89"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90"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nvGrpSpPr>
          <p:cNvPr id="94" name="Group 232">
            <a:extLst>
              <a:ext uri="{FF2B5EF4-FFF2-40B4-BE49-F238E27FC236}">
                <a16:creationId xmlns="" xmlns:a16="http://schemas.microsoft.com/office/drawing/2014/main" id="{34DCA6AC-E460-4F91-E17A-E4D1D9383A32}"/>
              </a:ext>
            </a:extLst>
          </p:cNvPr>
          <p:cNvGrpSpPr/>
          <p:nvPr/>
        </p:nvGrpSpPr>
        <p:grpSpPr>
          <a:xfrm>
            <a:off x="11293377" y="5484994"/>
            <a:ext cx="557700" cy="408542"/>
            <a:chOff x="5906472" y="1486857"/>
            <a:chExt cx="371800" cy="272361"/>
          </a:xfrm>
        </p:grpSpPr>
        <p:sp>
          <p:nvSpPr>
            <p:cNvPr id="95"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96"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grpSp>
        <p:nvGrpSpPr>
          <p:cNvPr id="97" name="Group 232">
            <a:extLst>
              <a:ext uri="{FF2B5EF4-FFF2-40B4-BE49-F238E27FC236}">
                <a16:creationId xmlns="" xmlns:a16="http://schemas.microsoft.com/office/drawing/2014/main" id="{34DCA6AC-E460-4F91-E17A-E4D1D9383A32}"/>
              </a:ext>
            </a:extLst>
          </p:cNvPr>
          <p:cNvGrpSpPr/>
          <p:nvPr/>
        </p:nvGrpSpPr>
        <p:grpSpPr>
          <a:xfrm>
            <a:off x="6496760" y="3517681"/>
            <a:ext cx="557700" cy="408542"/>
            <a:chOff x="5906472" y="1486857"/>
            <a:chExt cx="371800" cy="272361"/>
          </a:xfrm>
        </p:grpSpPr>
        <p:sp>
          <p:nvSpPr>
            <p:cNvPr id="98"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99"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100" name="Group 232">
            <a:extLst>
              <a:ext uri="{FF2B5EF4-FFF2-40B4-BE49-F238E27FC236}">
                <a16:creationId xmlns="" xmlns:a16="http://schemas.microsoft.com/office/drawing/2014/main" id="{34DCA6AC-E460-4F91-E17A-E4D1D9383A32}"/>
              </a:ext>
            </a:extLst>
          </p:cNvPr>
          <p:cNvGrpSpPr/>
          <p:nvPr/>
        </p:nvGrpSpPr>
        <p:grpSpPr>
          <a:xfrm>
            <a:off x="4244735" y="6405602"/>
            <a:ext cx="557700" cy="408542"/>
            <a:chOff x="5906472" y="1486857"/>
            <a:chExt cx="371800" cy="272361"/>
          </a:xfrm>
        </p:grpSpPr>
        <p:sp>
          <p:nvSpPr>
            <p:cNvPr id="101"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02"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103" name="Group 232">
            <a:extLst>
              <a:ext uri="{FF2B5EF4-FFF2-40B4-BE49-F238E27FC236}">
                <a16:creationId xmlns="" xmlns:a16="http://schemas.microsoft.com/office/drawing/2014/main" id="{34DCA6AC-E460-4F91-E17A-E4D1D9383A32}"/>
              </a:ext>
            </a:extLst>
          </p:cNvPr>
          <p:cNvGrpSpPr/>
          <p:nvPr/>
        </p:nvGrpSpPr>
        <p:grpSpPr>
          <a:xfrm>
            <a:off x="4159967" y="1839569"/>
            <a:ext cx="557700" cy="408542"/>
            <a:chOff x="5906472" y="1486857"/>
            <a:chExt cx="371800" cy="272361"/>
          </a:xfrm>
        </p:grpSpPr>
        <p:sp>
          <p:nvSpPr>
            <p:cNvPr id="104"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05"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nvGrpSpPr>
          <p:cNvPr id="106" name="Group 232">
            <a:extLst>
              <a:ext uri="{FF2B5EF4-FFF2-40B4-BE49-F238E27FC236}">
                <a16:creationId xmlns="" xmlns:a16="http://schemas.microsoft.com/office/drawing/2014/main" id="{34DCA6AC-E460-4F91-E17A-E4D1D9383A32}"/>
              </a:ext>
            </a:extLst>
          </p:cNvPr>
          <p:cNvGrpSpPr/>
          <p:nvPr/>
        </p:nvGrpSpPr>
        <p:grpSpPr>
          <a:xfrm>
            <a:off x="6604785" y="1932736"/>
            <a:ext cx="557700" cy="408542"/>
            <a:chOff x="5906472" y="1486857"/>
            <a:chExt cx="371800" cy="272361"/>
          </a:xfrm>
        </p:grpSpPr>
        <p:sp>
          <p:nvSpPr>
            <p:cNvPr id="107"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08"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nvGrpSpPr>
          <p:cNvPr id="109" name="Group 232">
            <a:extLst>
              <a:ext uri="{FF2B5EF4-FFF2-40B4-BE49-F238E27FC236}">
                <a16:creationId xmlns="" xmlns:a16="http://schemas.microsoft.com/office/drawing/2014/main" id="{34DCA6AC-E460-4F91-E17A-E4D1D9383A32}"/>
              </a:ext>
            </a:extLst>
          </p:cNvPr>
          <p:cNvGrpSpPr/>
          <p:nvPr/>
        </p:nvGrpSpPr>
        <p:grpSpPr>
          <a:xfrm>
            <a:off x="6621684" y="6035932"/>
            <a:ext cx="557700" cy="408542"/>
            <a:chOff x="5906472" y="1486857"/>
            <a:chExt cx="371800" cy="272361"/>
          </a:xfrm>
        </p:grpSpPr>
        <p:sp>
          <p:nvSpPr>
            <p:cNvPr id="110"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11"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cxnSp>
        <p:nvCxnSpPr>
          <p:cNvPr id="116" name="Straight Connector 284">
            <a:extLst>
              <a:ext uri="{FF2B5EF4-FFF2-40B4-BE49-F238E27FC236}">
                <a16:creationId xmlns="" xmlns:a16="http://schemas.microsoft.com/office/drawing/2014/main" id="{CCB3D035-826A-6F8E-1D15-1A3E96F62413}"/>
              </a:ext>
            </a:extLst>
          </p:cNvPr>
          <p:cNvCxnSpPr>
            <a:cxnSpLocks/>
          </p:cNvCxnSpPr>
          <p:nvPr/>
        </p:nvCxnSpPr>
        <p:spPr>
          <a:xfrm>
            <a:off x="4656215" y="1328708"/>
            <a:ext cx="0" cy="8825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文字方塊 73">
            <a:extLst>
              <a:ext uri="{FF2B5EF4-FFF2-40B4-BE49-F238E27FC236}">
                <a16:creationId xmlns="" xmlns:a16="http://schemas.microsoft.com/office/drawing/2014/main" id="{5B29E6B0-847D-D73B-DD4A-9A49F2737E45}"/>
              </a:ext>
            </a:extLst>
          </p:cNvPr>
          <p:cNvSpPr txBox="1"/>
          <p:nvPr/>
        </p:nvSpPr>
        <p:spPr>
          <a:xfrm>
            <a:off x="3605127" y="6094190"/>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Tree>
    <p:extLst>
      <p:ext uri="{BB962C8B-B14F-4D97-AF65-F5344CB8AC3E}">
        <p14:creationId xmlns="" xmlns:p14="http://schemas.microsoft.com/office/powerpoint/2010/main" val="42840725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 xmlns:a16="http://schemas.microsoft.com/office/drawing/2014/main" id="{83E6F622-2FBE-CC67-50FE-4ABD7D8B9696}"/>
              </a:ext>
            </a:extLst>
          </p:cNvPr>
          <p:cNvSpPr txBox="1"/>
          <p:nvPr/>
        </p:nvSpPr>
        <p:spPr>
          <a:xfrm>
            <a:off x="2444079" y="794373"/>
            <a:ext cx="9881566"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MM-PU-0040-02 </a:t>
            </a:r>
            <a:r>
              <a:rPr lang="zh-TW" altLang="en-US" sz="2400" b="1" dirty="0">
                <a:latin typeface="微軟正黑體" panose="020B0604030504040204" pitchFamily="34" charset="-120"/>
                <a:ea typeface="微軟正黑體" panose="020B0604030504040204" pitchFamily="34" charset="-120"/>
              </a:rPr>
              <a:t>庶務請採購驗流程</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庶務費用類</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勞務服務</a:t>
            </a:r>
            <a:r>
              <a:rPr lang="en-US" altLang="zh-TW" sz="2400" b="1" dirty="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 xmlns:a16="http://schemas.microsoft.com/office/drawing/2014/main" id="{E114DEFF-4464-1230-5102-DAAA05109B8A}"/>
              </a:ext>
            </a:extLst>
          </p:cNvPr>
          <p:cNvSpPr txBox="1"/>
          <p:nvPr/>
        </p:nvSpPr>
        <p:spPr>
          <a:xfrm>
            <a:off x="2507267" y="1364936"/>
            <a:ext cx="2208833"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各廠區申請人</a:t>
            </a:r>
          </a:p>
        </p:txBody>
      </p:sp>
      <p:sp>
        <p:nvSpPr>
          <p:cNvPr id="25" name="流程圖: 結束點 8">
            <a:extLst>
              <a:ext uri="{FF2B5EF4-FFF2-40B4-BE49-F238E27FC236}">
                <a16:creationId xmlns="" xmlns:a16="http://schemas.microsoft.com/office/drawing/2014/main" id="{1FB9514E-6261-C7AC-D58E-6A5F2E6F81FD}"/>
              </a:ext>
            </a:extLst>
          </p:cNvPr>
          <p:cNvSpPr/>
          <p:nvPr/>
        </p:nvSpPr>
        <p:spPr bwMode="auto">
          <a:xfrm>
            <a:off x="12232881" y="8828481"/>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16" name="Straight Connector 284">
            <a:extLst>
              <a:ext uri="{FF2B5EF4-FFF2-40B4-BE49-F238E27FC236}">
                <a16:creationId xmlns="" xmlns:a16="http://schemas.microsoft.com/office/drawing/2014/main" id="{3343F13F-0020-F344-5B28-F9AEB09CA3FA}"/>
              </a:ext>
            </a:extLst>
          </p:cNvPr>
          <p:cNvCxnSpPr>
            <a:cxnSpLocks/>
          </p:cNvCxnSpPr>
          <p:nvPr/>
        </p:nvCxnSpPr>
        <p:spPr>
          <a:xfrm>
            <a:off x="6929480" y="1328708"/>
            <a:ext cx="25327" cy="88357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字方塊 17">
            <a:extLst>
              <a:ext uri="{FF2B5EF4-FFF2-40B4-BE49-F238E27FC236}">
                <a16:creationId xmlns="" xmlns:a16="http://schemas.microsoft.com/office/drawing/2014/main" id="{DE52170D-3194-E094-D743-3842F95326FE}"/>
              </a:ext>
            </a:extLst>
          </p:cNvPr>
          <p:cNvSpPr txBox="1"/>
          <p:nvPr/>
        </p:nvSpPr>
        <p:spPr>
          <a:xfrm>
            <a:off x="6954807" y="1362247"/>
            <a:ext cx="2507768" cy="344365"/>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廠區管理部</a:t>
            </a:r>
          </a:p>
        </p:txBody>
      </p:sp>
      <p:cxnSp>
        <p:nvCxnSpPr>
          <p:cNvPr id="209" name="Straight Connector 284">
            <a:extLst>
              <a:ext uri="{FF2B5EF4-FFF2-40B4-BE49-F238E27FC236}">
                <a16:creationId xmlns="" xmlns:a16="http://schemas.microsoft.com/office/drawing/2014/main" id="{CCB3D035-826A-6F8E-1D15-1A3E96F62413}"/>
              </a:ext>
            </a:extLst>
          </p:cNvPr>
          <p:cNvCxnSpPr>
            <a:cxnSpLocks/>
          </p:cNvCxnSpPr>
          <p:nvPr/>
        </p:nvCxnSpPr>
        <p:spPr>
          <a:xfrm flipH="1">
            <a:off x="4682786" y="1315456"/>
            <a:ext cx="33315" cy="87509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0" name="文字方塊 17">
            <a:extLst>
              <a:ext uri="{FF2B5EF4-FFF2-40B4-BE49-F238E27FC236}">
                <a16:creationId xmlns="" xmlns:a16="http://schemas.microsoft.com/office/drawing/2014/main" id="{306A0461-FB0A-6B8E-26F4-F4121B822258}"/>
              </a:ext>
            </a:extLst>
          </p:cNvPr>
          <p:cNvSpPr txBox="1"/>
          <p:nvPr/>
        </p:nvSpPr>
        <p:spPr>
          <a:xfrm>
            <a:off x="4742296" y="1366820"/>
            <a:ext cx="2188308" cy="344365"/>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處主管</a:t>
            </a:r>
          </a:p>
        </p:txBody>
      </p:sp>
      <p:cxnSp>
        <p:nvCxnSpPr>
          <p:cNvPr id="217" name="肘形接點 68">
            <a:extLst>
              <a:ext uri="{FF2B5EF4-FFF2-40B4-BE49-F238E27FC236}">
                <a16:creationId xmlns="" xmlns:a16="http://schemas.microsoft.com/office/drawing/2014/main" id="{3C63507D-83FD-0025-3EF4-B6F87A20780B}"/>
              </a:ext>
            </a:extLst>
          </p:cNvPr>
          <p:cNvCxnSpPr>
            <a:cxnSpLocks/>
            <a:stCxn id="61" idx="2"/>
            <a:endCxn id="25" idx="1"/>
          </p:cNvCxnSpPr>
          <p:nvPr/>
        </p:nvCxnSpPr>
        <p:spPr>
          <a:xfrm rot="16200000" flipH="1">
            <a:off x="7932262" y="4919084"/>
            <a:ext cx="2146698" cy="645454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27" name="TextBox 53">
            <a:extLst>
              <a:ext uri="{FF2B5EF4-FFF2-40B4-BE49-F238E27FC236}">
                <a16:creationId xmlns="" xmlns:a16="http://schemas.microsoft.com/office/drawing/2014/main" id="{DF940026-96D7-3867-6425-C228DF3D29BF}"/>
              </a:ext>
            </a:extLst>
          </p:cNvPr>
          <p:cNvSpPr txBox="1"/>
          <p:nvPr/>
        </p:nvSpPr>
        <p:spPr>
          <a:xfrm>
            <a:off x="14380627" y="2064631"/>
            <a:ext cx="3594197" cy="4801314"/>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各廠區申請人在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表單</a:t>
            </a:r>
            <a:r>
              <a:rPr lang="en-US" altLang="zh-TW" dirty="0">
                <a:latin typeface="微軟正黑體" panose="020B0604030504040204" pitchFamily="34" charset="-120"/>
                <a:ea typeface="微軟正黑體" panose="020B0604030504040204" pitchFamily="34" charset="-120"/>
              </a:rPr>
              <a:t>ZMMT079</a:t>
            </a:r>
            <a:r>
              <a:rPr lang="zh-TW" altLang="en-US" dirty="0">
                <a:latin typeface="微軟正黑體" panose="020B0604030504040204" pitchFamily="34" charset="-120"/>
                <a:ea typeface="微軟正黑體" panose="020B0604030504040204" pitchFamily="34" charset="-120"/>
              </a:rPr>
              <a:t>作請購申請 ，進行簽核流程。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上簽核請購申請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核准後的申請單，透過程式</a:t>
            </a:r>
            <a:r>
              <a:rPr lang="en-US" altLang="zh-TW" dirty="0">
                <a:latin typeface="微軟正黑體" panose="020B0604030504040204" pitchFamily="34" charset="-120"/>
                <a:ea typeface="微軟正黑體" panose="020B0604030504040204" pitchFamily="34" charset="-120"/>
              </a:rPr>
              <a:t>ZMM079</a:t>
            </a:r>
            <a:r>
              <a:rPr lang="zh-TW" altLang="en-US" dirty="0">
                <a:latin typeface="微軟正黑體" panose="020B0604030504040204" pitchFamily="34" charset="-120"/>
                <a:ea typeface="微軟正黑體" panose="020B0604030504040204" pitchFamily="34" charset="-120"/>
              </a:rPr>
              <a:t>產生</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採購將請購單轉採購單，必要時進行詢價，或直接在採購單上填入單價。</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透過</a:t>
            </a:r>
            <a:r>
              <a:rPr lang="en-US" altLang="zh-TW" dirty="0">
                <a:latin typeface="微軟正黑體" panose="020B0604030504040204" pitchFamily="34" charset="-120"/>
                <a:ea typeface="微軟正黑體" panose="020B0604030504040204" pitchFamily="34" charset="-120"/>
              </a:rPr>
              <a:t>ZMM019</a:t>
            </a:r>
            <a:r>
              <a:rPr lang="zh-TW" altLang="en-US" dirty="0">
                <a:latin typeface="微軟正黑體" panose="020B0604030504040204" pitchFamily="34" charset="-120"/>
                <a:ea typeface="微軟正黑體" panose="020B0604030504040204" pitchFamily="34" charset="-120"/>
              </a:rPr>
              <a:t>程式把資料匯入</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發起採購單</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簽核</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p:txBody>
      </p:sp>
      <p:sp>
        <p:nvSpPr>
          <p:cNvPr id="7" name="流程圖: 結束點 8">
            <a:extLst>
              <a:ext uri="{FF2B5EF4-FFF2-40B4-BE49-F238E27FC236}">
                <a16:creationId xmlns="" xmlns:a16="http://schemas.microsoft.com/office/drawing/2014/main" id="{A0DBA237-CDB5-528B-0345-5BE2CBAC9775}"/>
              </a:ext>
            </a:extLst>
          </p:cNvPr>
          <p:cNvSpPr/>
          <p:nvPr/>
        </p:nvSpPr>
        <p:spPr bwMode="auto">
          <a:xfrm>
            <a:off x="279411" y="2335138"/>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graphicFrame>
        <p:nvGraphicFramePr>
          <p:cNvPr id="240" name="表格 30">
            <a:extLst>
              <a:ext uri="{FF2B5EF4-FFF2-40B4-BE49-F238E27FC236}">
                <a16:creationId xmlns="" xmlns:a16="http://schemas.microsoft.com/office/drawing/2014/main" id="{D50514A0-AA46-1916-EFBB-5F1C0FA347E6}"/>
              </a:ext>
            </a:extLst>
          </p:cNvPr>
          <p:cNvGraphicFramePr>
            <a:graphicFrameLocks noGrp="1"/>
          </p:cNvGraphicFramePr>
          <p:nvPr/>
        </p:nvGraphicFramePr>
        <p:xfrm>
          <a:off x="9880857" y="5277311"/>
          <a:ext cx="1774440" cy="1238400"/>
        </p:xfrm>
        <a:graphic>
          <a:graphicData uri="http://schemas.openxmlformats.org/drawingml/2006/table">
            <a:tbl>
              <a:tblPr>
                <a:tableStyleId>{5940675A-B579-460E-94D1-54222C63F5DA}</a:tableStyleId>
              </a:tblPr>
              <a:tblGrid>
                <a:gridCol w="887220">
                  <a:extLst>
                    <a:ext uri="{9D8B030D-6E8A-4147-A177-3AD203B41FA5}">
                      <a16:colId xmlns="" xmlns:a16="http://schemas.microsoft.com/office/drawing/2014/main" val="3433979995"/>
                    </a:ext>
                  </a:extLst>
                </a:gridCol>
                <a:gridCol w="887220">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ZMM019</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採購單發起</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42" name="Straight Connector 284">
            <a:extLst>
              <a:ext uri="{FF2B5EF4-FFF2-40B4-BE49-F238E27FC236}">
                <a16:creationId xmlns="" xmlns:a16="http://schemas.microsoft.com/office/drawing/2014/main" id="{3E7471C9-C79F-A59B-27B9-5790F81098EC}"/>
              </a:ext>
            </a:extLst>
          </p:cNvPr>
          <p:cNvCxnSpPr>
            <a:cxnSpLocks/>
          </p:cNvCxnSpPr>
          <p:nvPr/>
        </p:nvCxnSpPr>
        <p:spPr>
          <a:xfrm>
            <a:off x="9462575" y="1341960"/>
            <a:ext cx="0" cy="88224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3" name="流程圖: 換頁接點 52">
            <a:extLst>
              <a:ext uri="{FF2B5EF4-FFF2-40B4-BE49-F238E27FC236}">
                <a16:creationId xmlns="" xmlns:a16="http://schemas.microsoft.com/office/drawing/2014/main" id="{81294BE7-C300-D1CD-4376-34B54DFCC2AF}"/>
              </a:ext>
            </a:extLst>
          </p:cNvPr>
          <p:cNvSpPr/>
          <p:nvPr/>
        </p:nvSpPr>
        <p:spPr bwMode="auto">
          <a:xfrm>
            <a:off x="13072045" y="7295557"/>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P4</a:t>
            </a:r>
            <a:endParaRPr lang="zh-TW" altLang="en-US" dirty="0">
              <a:latin typeface="微軟正黑體" panose="020B0604030504040204" pitchFamily="34" charset="-120"/>
              <a:ea typeface="微軟正黑體" panose="020B0604030504040204" pitchFamily="34" charset="-120"/>
            </a:endParaRPr>
          </a:p>
        </p:txBody>
      </p:sp>
      <p:graphicFrame>
        <p:nvGraphicFramePr>
          <p:cNvPr id="12" name="表格 30">
            <a:extLst>
              <a:ext uri="{FF2B5EF4-FFF2-40B4-BE49-F238E27FC236}">
                <a16:creationId xmlns="" xmlns:a16="http://schemas.microsoft.com/office/drawing/2014/main" id="{8FFD2A81-4A9E-74F7-E48F-FEBE8A7AB464}"/>
              </a:ext>
            </a:extLst>
          </p:cNvPr>
          <p:cNvGraphicFramePr>
            <a:graphicFrameLocks noGrp="1"/>
          </p:cNvGraphicFramePr>
          <p:nvPr/>
        </p:nvGraphicFramePr>
        <p:xfrm>
          <a:off x="9864761" y="3601652"/>
          <a:ext cx="1818966" cy="1238400"/>
        </p:xfrm>
        <a:graphic>
          <a:graphicData uri="http://schemas.openxmlformats.org/drawingml/2006/table">
            <a:tbl>
              <a:tblPr>
                <a:tableStyleId>{5940675A-B579-460E-94D1-54222C63F5DA}</a:tableStyleId>
              </a:tblPr>
              <a:tblGrid>
                <a:gridCol w="909483">
                  <a:extLst>
                    <a:ext uri="{9D8B030D-6E8A-4147-A177-3AD203B41FA5}">
                      <a16:colId xmlns="" xmlns:a16="http://schemas.microsoft.com/office/drawing/2014/main" val="3433979995"/>
                    </a:ext>
                  </a:extLst>
                </a:gridCol>
                <a:gridCol w="909483">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ME21N</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請購轉採購單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228" name="Group 220">
            <a:extLst>
              <a:ext uri="{FF2B5EF4-FFF2-40B4-BE49-F238E27FC236}">
                <a16:creationId xmlns="" xmlns:a16="http://schemas.microsoft.com/office/drawing/2014/main" id="{A996302A-92F3-7B59-12E7-0AC211B790E7}"/>
              </a:ext>
            </a:extLst>
          </p:cNvPr>
          <p:cNvGrpSpPr/>
          <p:nvPr/>
        </p:nvGrpSpPr>
        <p:grpSpPr>
          <a:xfrm>
            <a:off x="11394845" y="3439916"/>
            <a:ext cx="533400" cy="408542"/>
            <a:chOff x="5895979" y="1486857"/>
            <a:chExt cx="355600" cy="272361"/>
          </a:xfrm>
        </p:grpSpPr>
        <p:sp>
          <p:nvSpPr>
            <p:cNvPr id="229" name="Oval 221">
              <a:extLst>
                <a:ext uri="{FF2B5EF4-FFF2-40B4-BE49-F238E27FC236}">
                  <a16:creationId xmlns="" xmlns:a16="http://schemas.microsoft.com/office/drawing/2014/main" id="{B4CE644E-2B3A-3599-38B4-4C91E6C4B30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30" name="TextBox 222">
              <a:extLst>
                <a:ext uri="{FF2B5EF4-FFF2-40B4-BE49-F238E27FC236}">
                  <a16:creationId xmlns="" xmlns:a16="http://schemas.microsoft.com/office/drawing/2014/main" id="{39CA8549-2829-36F3-30B6-26DDDD879D6F}"/>
                </a:ext>
              </a:extLst>
            </p:cNvPr>
            <p:cNvSpPr txBox="1"/>
            <p:nvPr/>
          </p:nvSpPr>
          <p:spPr>
            <a:xfrm>
              <a:off x="5895979" y="1507079"/>
              <a:ext cx="355600" cy="215443"/>
            </a:xfrm>
            <a:prstGeom prst="rect">
              <a:avLst/>
            </a:prstGeom>
            <a:noFill/>
          </p:spPr>
          <p:txBody>
            <a:bodyPr wrap="square" rtlCol="0">
              <a:spAutoFit/>
            </a:bodyPr>
            <a:lstStyle/>
            <a:p>
              <a:r>
                <a:rPr lang="zh-TW" altLang="en-US" sz="1500" dirty="0">
                  <a:latin typeface="微軟正黑體" panose="020B0604030504040204" pitchFamily="34" charset="-120"/>
                  <a:ea typeface="微軟正黑體" panose="020B0604030504040204" pitchFamily="34" charset="-120"/>
                </a:rPr>
                <a:t>４</a:t>
              </a:r>
            </a:p>
          </p:txBody>
        </p:sp>
      </p:grpSp>
      <p:cxnSp>
        <p:nvCxnSpPr>
          <p:cNvPr id="232" name="肘形接點 68">
            <a:extLst>
              <a:ext uri="{FF2B5EF4-FFF2-40B4-BE49-F238E27FC236}">
                <a16:creationId xmlns="" xmlns:a16="http://schemas.microsoft.com/office/drawing/2014/main" id="{54940F5E-4C2F-3950-FC71-216A17BBB629}"/>
              </a:ext>
            </a:extLst>
          </p:cNvPr>
          <p:cNvCxnSpPr>
            <a:cxnSpLocks/>
            <a:stCxn id="12" idx="2"/>
            <a:endCxn id="240" idx="0"/>
          </p:cNvCxnSpPr>
          <p:nvPr/>
        </p:nvCxnSpPr>
        <p:spPr>
          <a:xfrm rot="5400000">
            <a:off x="10552532" y="5055600"/>
            <a:ext cx="437259" cy="616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59" name="文字方塊 17">
            <a:extLst>
              <a:ext uri="{FF2B5EF4-FFF2-40B4-BE49-F238E27FC236}">
                <a16:creationId xmlns="" xmlns:a16="http://schemas.microsoft.com/office/drawing/2014/main" id="{74230685-A68A-FF25-7F32-00D3D357308E}"/>
              </a:ext>
            </a:extLst>
          </p:cNvPr>
          <p:cNvSpPr txBox="1"/>
          <p:nvPr/>
        </p:nvSpPr>
        <p:spPr>
          <a:xfrm>
            <a:off x="9407945" y="1397413"/>
            <a:ext cx="2188308"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庶務採購</a:t>
            </a:r>
          </a:p>
        </p:txBody>
      </p:sp>
      <p:cxnSp>
        <p:nvCxnSpPr>
          <p:cNvPr id="207" name="肘形接點 68">
            <a:extLst>
              <a:ext uri="{FF2B5EF4-FFF2-40B4-BE49-F238E27FC236}">
                <a16:creationId xmlns="" xmlns:a16="http://schemas.microsoft.com/office/drawing/2014/main" id="{448AD0D0-260C-EB70-0D8F-37D06631CF68}"/>
              </a:ext>
            </a:extLst>
          </p:cNvPr>
          <p:cNvCxnSpPr>
            <a:cxnSpLocks/>
            <a:stCxn id="240" idx="2"/>
            <a:endCxn id="193" idx="1"/>
          </p:cNvCxnSpPr>
          <p:nvPr/>
        </p:nvCxnSpPr>
        <p:spPr>
          <a:xfrm rot="16200000" flipH="1">
            <a:off x="11413313" y="5870476"/>
            <a:ext cx="1013498" cy="230396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 name="矩形 1"/>
          <p:cNvSpPr/>
          <p:nvPr/>
        </p:nvSpPr>
        <p:spPr>
          <a:xfrm>
            <a:off x="15469420" y="444704"/>
            <a:ext cx="296876" cy="323165"/>
          </a:xfrm>
          <a:prstGeom prst="rect">
            <a:avLst/>
          </a:prstGeom>
        </p:spPr>
        <p:txBody>
          <a:bodyPr wrap="none">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p>
        </p:txBody>
      </p:sp>
      <p:grpSp>
        <p:nvGrpSpPr>
          <p:cNvPr id="235" name="Group 220">
            <a:extLst>
              <a:ext uri="{FF2B5EF4-FFF2-40B4-BE49-F238E27FC236}">
                <a16:creationId xmlns="" xmlns:a16="http://schemas.microsoft.com/office/drawing/2014/main" id="{56A53D60-F177-B66D-1052-09F00D9EB829}"/>
              </a:ext>
            </a:extLst>
          </p:cNvPr>
          <p:cNvGrpSpPr/>
          <p:nvPr/>
        </p:nvGrpSpPr>
        <p:grpSpPr>
          <a:xfrm>
            <a:off x="11402367" y="5071558"/>
            <a:ext cx="533400" cy="408542"/>
            <a:chOff x="5900994" y="1486857"/>
            <a:chExt cx="355600" cy="272361"/>
          </a:xfrm>
        </p:grpSpPr>
        <p:sp>
          <p:nvSpPr>
            <p:cNvPr id="236" name="Oval 221">
              <a:extLst>
                <a:ext uri="{FF2B5EF4-FFF2-40B4-BE49-F238E27FC236}">
                  <a16:creationId xmlns="" xmlns:a16="http://schemas.microsoft.com/office/drawing/2014/main" id="{1026EB19-175E-BAE9-2573-E214F8CC61B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37" name="TextBox 222">
              <a:extLst>
                <a:ext uri="{FF2B5EF4-FFF2-40B4-BE49-F238E27FC236}">
                  <a16:creationId xmlns="" xmlns:a16="http://schemas.microsoft.com/office/drawing/2014/main" id="{58D156B1-9578-40C0-E02B-A11714005BD3}"/>
                </a:ext>
              </a:extLst>
            </p:cNvPr>
            <p:cNvSpPr txBox="1"/>
            <p:nvPr/>
          </p:nvSpPr>
          <p:spPr>
            <a:xfrm>
              <a:off x="5900994" y="1507079"/>
              <a:ext cx="355600" cy="215443"/>
            </a:xfrm>
            <a:prstGeom prst="rect">
              <a:avLst/>
            </a:prstGeom>
            <a:noFill/>
          </p:spPr>
          <p:txBody>
            <a:bodyPr wrap="square" rtlCol="0">
              <a:spAutoFit/>
            </a:bodyPr>
            <a:lstStyle/>
            <a:p>
              <a:r>
                <a:rPr lang="zh-TW" altLang="en-US" sz="1500" dirty="0">
                  <a:latin typeface="微軟正黑體" panose="020B0604030504040204" pitchFamily="34" charset="-120"/>
                  <a:ea typeface="微軟正黑體" panose="020B0604030504040204" pitchFamily="34" charset="-120"/>
                </a:rPr>
                <a:t>５</a:t>
              </a:r>
            </a:p>
          </p:txBody>
        </p:sp>
      </p:grpSp>
      <p:graphicFrame>
        <p:nvGraphicFramePr>
          <p:cNvPr id="55" name="表格 30">
            <a:extLst>
              <a:ext uri="{FF2B5EF4-FFF2-40B4-BE49-F238E27FC236}">
                <a16:creationId xmlns="" xmlns:a16="http://schemas.microsoft.com/office/drawing/2014/main" id="{18197701-0564-3E2B-648E-413A6C8BBE0A}"/>
              </a:ext>
            </a:extLst>
          </p:cNvPr>
          <p:cNvGraphicFramePr>
            <a:graphicFrameLocks noGrp="1"/>
          </p:cNvGraphicFramePr>
          <p:nvPr/>
        </p:nvGraphicFramePr>
        <p:xfrm>
          <a:off x="2624027" y="1977859"/>
          <a:ext cx="1809828" cy="1222084"/>
        </p:xfrm>
        <a:graphic>
          <a:graphicData uri="http://schemas.openxmlformats.org/drawingml/2006/table">
            <a:tbl>
              <a:tblPr>
                <a:tableStyleId>{5940675A-B579-460E-94D1-54222C63F5DA}</a:tableStyleId>
              </a:tblPr>
              <a:tblGrid>
                <a:gridCol w="904914">
                  <a:extLst>
                    <a:ext uri="{9D8B030D-6E8A-4147-A177-3AD203B41FA5}">
                      <a16:colId xmlns="" xmlns:a16="http://schemas.microsoft.com/office/drawing/2014/main" val="3433979995"/>
                    </a:ext>
                  </a:extLst>
                </a:gridCol>
                <a:gridCol w="904914">
                  <a:extLst>
                    <a:ext uri="{9D8B030D-6E8A-4147-A177-3AD203B41FA5}">
                      <a16:colId xmlns="" xmlns:a16="http://schemas.microsoft.com/office/drawing/2014/main" val="3727974752"/>
                    </a:ext>
                  </a:extLst>
                </a:gridCol>
              </a:tblGrid>
              <a:tr h="330432">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sz="1400" b="1" dirty="0">
                        <a:solidFill>
                          <a:schemeClr val="tx1"/>
                        </a:solidFill>
                        <a:latin typeface="微軟正黑體" panose="020B0604030504040204" pitchFamily="34" charset="-120"/>
                        <a:ea typeface="微軟正黑體" panose="020B0604030504040204" pitchFamily="34" charset="-120"/>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72490">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建立請購單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3921">
                <a:tc>
                  <a:txBody>
                    <a:bodyPr/>
                    <a:lstStyle/>
                    <a:p>
                      <a:pPr algn="ctr"/>
                      <a:r>
                        <a:rPr lang="en-US" sz="1400" dirty="0">
                          <a:latin typeface="微軟正黑體" panose="020B0604030504040204" pitchFamily="34" charset="-120"/>
                          <a:ea typeface="微軟正黑體" panose="020B0604030504040204" pitchFamily="34" charset="-120"/>
                        </a:rPr>
                        <a:t>BPM</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56" name="肘形接點 68">
            <a:extLst>
              <a:ext uri="{FF2B5EF4-FFF2-40B4-BE49-F238E27FC236}">
                <a16:creationId xmlns="" xmlns:a16="http://schemas.microsoft.com/office/drawing/2014/main" id="{8E184E7B-49D4-0B0F-DFF1-32CCB2A9AB0C}"/>
              </a:ext>
            </a:extLst>
          </p:cNvPr>
          <p:cNvCxnSpPr>
            <a:cxnSpLocks/>
            <a:stCxn id="70" idx="2"/>
            <a:endCxn id="61" idx="0"/>
          </p:cNvCxnSpPr>
          <p:nvPr/>
        </p:nvCxnSpPr>
        <p:spPr>
          <a:xfrm rot="5400000">
            <a:off x="5015424" y="5590651"/>
            <a:ext cx="1533071" cy="723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8" name="肘形接點 68">
            <a:extLst>
              <a:ext uri="{FF2B5EF4-FFF2-40B4-BE49-F238E27FC236}">
                <a16:creationId xmlns="" xmlns:a16="http://schemas.microsoft.com/office/drawing/2014/main" id="{70F961FE-0AA7-D2B8-F257-ECB0C3D45D2D}"/>
              </a:ext>
            </a:extLst>
          </p:cNvPr>
          <p:cNvCxnSpPr>
            <a:cxnSpLocks/>
            <a:endCxn id="55" idx="1"/>
          </p:cNvCxnSpPr>
          <p:nvPr/>
        </p:nvCxnSpPr>
        <p:spPr>
          <a:xfrm>
            <a:off x="2077243" y="2576986"/>
            <a:ext cx="546784" cy="1191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0" name="肘形接點 68">
            <a:extLst>
              <a:ext uri="{FF2B5EF4-FFF2-40B4-BE49-F238E27FC236}">
                <a16:creationId xmlns="" xmlns:a16="http://schemas.microsoft.com/office/drawing/2014/main" id="{5D236408-3F02-99D0-9ECC-DC4D4E746909}"/>
              </a:ext>
            </a:extLst>
          </p:cNvPr>
          <p:cNvCxnSpPr>
            <a:cxnSpLocks/>
            <a:stCxn id="55" idx="2"/>
            <a:endCxn id="70" idx="1"/>
          </p:cNvCxnSpPr>
          <p:nvPr/>
        </p:nvCxnSpPr>
        <p:spPr>
          <a:xfrm rot="16200000" flipH="1">
            <a:off x="3660212" y="3068672"/>
            <a:ext cx="1095178" cy="135772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1" name="流程圖: 決策 50">
            <a:extLst>
              <a:ext uri="{FF2B5EF4-FFF2-40B4-BE49-F238E27FC236}">
                <a16:creationId xmlns="" xmlns:a16="http://schemas.microsoft.com/office/drawing/2014/main" id="{8037CA89-DBE3-1441-8E4C-7EA04E993D61}"/>
              </a:ext>
            </a:extLst>
          </p:cNvPr>
          <p:cNvSpPr/>
          <p:nvPr/>
        </p:nvSpPr>
        <p:spPr bwMode="auto">
          <a:xfrm>
            <a:off x="4857366" y="6360805"/>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cxnSp>
        <p:nvCxnSpPr>
          <p:cNvPr id="62" name="肘形接點 68">
            <a:extLst>
              <a:ext uri="{FF2B5EF4-FFF2-40B4-BE49-F238E27FC236}">
                <a16:creationId xmlns="" xmlns:a16="http://schemas.microsoft.com/office/drawing/2014/main" id="{2AA47122-2BF1-7633-656B-9B6710026CD9}"/>
              </a:ext>
            </a:extLst>
          </p:cNvPr>
          <p:cNvCxnSpPr>
            <a:cxnSpLocks/>
            <a:stCxn id="61" idx="1"/>
            <a:endCxn id="63" idx="3"/>
          </p:cNvCxnSpPr>
          <p:nvPr/>
        </p:nvCxnSpPr>
        <p:spPr>
          <a:xfrm rot="10800000">
            <a:off x="4421712" y="6714217"/>
            <a:ext cx="435654" cy="268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63" name="表格 30">
            <a:extLst>
              <a:ext uri="{FF2B5EF4-FFF2-40B4-BE49-F238E27FC236}">
                <a16:creationId xmlns="" xmlns:a16="http://schemas.microsoft.com/office/drawing/2014/main" id="{E2D1DE07-F765-0D8A-0A3C-D52A5A690ECB}"/>
              </a:ext>
            </a:extLst>
          </p:cNvPr>
          <p:cNvGraphicFramePr>
            <a:graphicFrameLocks noGrp="1"/>
          </p:cNvGraphicFramePr>
          <p:nvPr>
            <p:extLst>
              <p:ext uri="{D42A27DB-BD31-4B8C-83A1-F6EECF244321}">
                <p14:modId xmlns="" xmlns:p14="http://schemas.microsoft.com/office/powerpoint/2010/main" val="3638753501"/>
              </p:ext>
            </p:extLst>
          </p:nvPr>
        </p:nvGraphicFramePr>
        <p:xfrm>
          <a:off x="2624026" y="5884862"/>
          <a:ext cx="1797686" cy="1658709"/>
        </p:xfrm>
        <a:graphic>
          <a:graphicData uri="http://schemas.openxmlformats.org/drawingml/2006/table">
            <a:tbl>
              <a:tblPr>
                <a:tableStyleId>{5940675A-B579-460E-94D1-54222C63F5DA}</a:tableStyleId>
              </a:tblPr>
              <a:tblGrid>
                <a:gridCol w="898843">
                  <a:extLst>
                    <a:ext uri="{9D8B030D-6E8A-4147-A177-3AD203B41FA5}">
                      <a16:colId xmlns="" xmlns:a16="http://schemas.microsoft.com/office/drawing/2014/main" val="3433979995"/>
                    </a:ext>
                  </a:extLst>
                </a:gridCol>
                <a:gridCol w="898843">
                  <a:extLst>
                    <a:ext uri="{9D8B030D-6E8A-4147-A177-3AD203B41FA5}">
                      <a16:colId xmlns="" xmlns:a16="http://schemas.microsoft.com/office/drawing/2014/main" val="3727974752"/>
                    </a:ext>
                  </a:extLst>
                </a:gridCol>
              </a:tblGrid>
              <a:tr h="349275">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dirty="0">
                          <a:solidFill>
                            <a:schemeClr val="tx1"/>
                          </a:solidFill>
                          <a:latin typeface="微軟正黑體" panose="020B0604030504040204" pitchFamily="34" charset="-120"/>
                          <a:ea typeface="微軟正黑體" panose="020B0604030504040204" pitchFamily="34" charset="-120"/>
                        </a:rPr>
                        <a:t>INTERFACE_</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dirty="0">
                          <a:solidFill>
                            <a:schemeClr val="tx1"/>
                          </a:solidFill>
                          <a:latin typeface="微軟正黑體" panose="020B0604030504040204" pitchFamily="34" charset="-120"/>
                          <a:ea typeface="微軟正黑體" panose="020B0604030504040204" pitchFamily="34" charset="-120"/>
                        </a:rPr>
                        <a:t>ZMM079</a:t>
                      </a:r>
                      <a:endParaRPr lang="en-GB" altLang="zh-TW" sz="1400" b="1" dirty="0">
                        <a:solidFill>
                          <a:schemeClr val="tx1"/>
                        </a:solidFill>
                        <a:latin typeface="微軟正黑體" panose="020B0604030504040204" pitchFamily="34" charset="-120"/>
                        <a:ea typeface="微軟正黑體" panose="020B0604030504040204" pitchFamily="34" charset="-120"/>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785868">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建立請購單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21429">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64" name="肘形接點 68">
            <a:extLst>
              <a:ext uri="{FF2B5EF4-FFF2-40B4-BE49-F238E27FC236}">
                <a16:creationId xmlns="" xmlns:a16="http://schemas.microsoft.com/office/drawing/2014/main" id="{6710C215-D2A9-AE8A-C825-CAB394FDF69B}"/>
              </a:ext>
            </a:extLst>
          </p:cNvPr>
          <p:cNvCxnSpPr>
            <a:cxnSpLocks/>
            <a:stCxn id="63" idx="2"/>
            <a:endCxn id="78" idx="0"/>
          </p:cNvCxnSpPr>
          <p:nvPr/>
        </p:nvCxnSpPr>
        <p:spPr>
          <a:xfrm rot="5400000">
            <a:off x="3208217" y="7852791"/>
            <a:ext cx="623873" cy="543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5" name="文字方塊 64">
            <a:extLst>
              <a:ext uri="{FF2B5EF4-FFF2-40B4-BE49-F238E27FC236}">
                <a16:creationId xmlns="" xmlns:a16="http://schemas.microsoft.com/office/drawing/2014/main" id="{6FB1FA4C-3B8A-FBB5-B280-85555F843464}"/>
              </a:ext>
            </a:extLst>
          </p:cNvPr>
          <p:cNvSpPr txBox="1"/>
          <p:nvPr/>
        </p:nvSpPr>
        <p:spPr>
          <a:xfrm>
            <a:off x="5785578" y="7197749"/>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66" name="文字方塊 65">
            <a:extLst>
              <a:ext uri="{FF2B5EF4-FFF2-40B4-BE49-F238E27FC236}">
                <a16:creationId xmlns="" xmlns:a16="http://schemas.microsoft.com/office/drawing/2014/main" id="{29D95A87-8E81-E79E-403B-C860DCAF45F5}"/>
              </a:ext>
            </a:extLst>
          </p:cNvPr>
          <p:cNvSpPr txBox="1"/>
          <p:nvPr/>
        </p:nvSpPr>
        <p:spPr>
          <a:xfrm>
            <a:off x="4382609" y="6403984"/>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grpSp>
        <p:nvGrpSpPr>
          <p:cNvPr id="67" name="Group 232">
            <a:extLst>
              <a:ext uri="{FF2B5EF4-FFF2-40B4-BE49-F238E27FC236}">
                <a16:creationId xmlns="" xmlns:a16="http://schemas.microsoft.com/office/drawing/2014/main" id="{34DCA6AC-E460-4F91-E17A-E4D1D9383A32}"/>
              </a:ext>
            </a:extLst>
          </p:cNvPr>
          <p:cNvGrpSpPr/>
          <p:nvPr/>
        </p:nvGrpSpPr>
        <p:grpSpPr>
          <a:xfrm>
            <a:off x="4264417" y="1816774"/>
            <a:ext cx="557700" cy="408542"/>
            <a:chOff x="5906472" y="1486857"/>
            <a:chExt cx="371800" cy="272361"/>
          </a:xfrm>
        </p:grpSpPr>
        <p:sp>
          <p:nvSpPr>
            <p:cNvPr id="68"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69"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70"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4886661" y="3762508"/>
          <a:ext cx="1797832" cy="106522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79967">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48659">
                <a:tc gridSpan="2">
                  <a:txBody>
                    <a:bodyPr/>
                    <a:lstStyle/>
                    <a:p>
                      <a:pPr algn="ctr"/>
                      <a:r>
                        <a:rPr lang="zh-TW" altLang="en-US" sz="1500" dirty="0">
                          <a:latin typeface="微軟正黑體" panose="020B0604030504040204" pitchFamily="34" charset="-120"/>
                          <a:ea typeface="微軟正黑體" panose="020B0604030504040204" pitchFamily="34" charset="-120"/>
                        </a:rPr>
                        <a:t>簽核請購單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71" name="Group 220">
            <a:extLst>
              <a:ext uri="{FF2B5EF4-FFF2-40B4-BE49-F238E27FC236}">
                <a16:creationId xmlns="" xmlns:a16="http://schemas.microsoft.com/office/drawing/2014/main" id="{0B79EBBA-F242-48C7-ECC3-55BEDF3FDDA8}"/>
              </a:ext>
            </a:extLst>
          </p:cNvPr>
          <p:cNvGrpSpPr/>
          <p:nvPr/>
        </p:nvGrpSpPr>
        <p:grpSpPr>
          <a:xfrm>
            <a:off x="4291595" y="5542421"/>
            <a:ext cx="559863" cy="415762"/>
            <a:chOff x="5906472" y="1486857"/>
            <a:chExt cx="373242" cy="272361"/>
          </a:xfrm>
        </p:grpSpPr>
        <p:sp>
          <p:nvSpPr>
            <p:cNvPr id="72" name="Oval 221">
              <a:extLst>
                <a:ext uri="{FF2B5EF4-FFF2-40B4-BE49-F238E27FC236}">
                  <a16:creationId xmlns="" xmlns:a16="http://schemas.microsoft.com/office/drawing/2014/main" id="{43FEF97A-51DF-308E-5C1C-DC15C2D5D5F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73" name="TextBox 222">
              <a:extLst>
                <a:ext uri="{FF2B5EF4-FFF2-40B4-BE49-F238E27FC236}">
                  <a16:creationId xmlns="" xmlns:a16="http://schemas.microsoft.com/office/drawing/2014/main" id="{7751ACA8-5935-4AA1-4521-923760069DB5}"/>
                </a:ext>
              </a:extLst>
            </p:cNvPr>
            <p:cNvSpPr txBox="1"/>
            <p:nvPr/>
          </p:nvSpPr>
          <p:spPr>
            <a:xfrm>
              <a:off x="5924114" y="150673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78" name="流程圖: 接點 51">
            <a:extLst>
              <a:ext uri="{FF2B5EF4-FFF2-40B4-BE49-F238E27FC236}">
                <a16:creationId xmlns="" xmlns:a16="http://schemas.microsoft.com/office/drawing/2014/main" id="{1E4DE6F3-3BB0-2B05-BD87-45921D4C3C01}"/>
              </a:ext>
            </a:extLst>
          </p:cNvPr>
          <p:cNvSpPr/>
          <p:nvPr/>
        </p:nvSpPr>
        <p:spPr bwMode="auto">
          <a:xfrm>
            <a:off x="3244763" y="8167444"/>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grpSp>
        <p:nvGrpSpPr>
          <p:cNvPr id="79" name="Group 232">
            <a:extLst>
              <a:ext uri="{FF2B5EF4-FFF2-40B4-BE49-F238E27FC236}">
                <a16:creationId xmlns="" xmlns:a16="http://schemas.microsoft.com/office/drawing/2014/main" id="{34DCA6AC-E460-4F91-E17A-E4D1D9383A32}"/>
              </a:ext>
            </a:extLst>
          </p:cNvPr>
          <p:cNvGrpSpPr/>
          <p:nvPr/>
        </p:nvGrpSpPr>
        <p:grpSpPr>
          <a:xfrm>
            <a:off x="6451292" y="3475360"/>
            <a:ext cx="557700" cy="408542"/>
            <a:chOff x="5906472" y="1486857"/>
            <a:chExt cx="371800" cy="272361"/>
          </a:xfrm>
        </p:grpSpPr>
        <p:sp>
          <p:nvSpPr>
            <p:cNvPr id="80"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81"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52" name="流程圖: 接點 51">
            <a:extLst>
              <a:ext uri="{FF2B5EF4-FFF2-40B4-BE49-F238E27FC236}">
                <a16:creationId xmlns="" xmlns:a16="http://schemas.microsoft.com/office/drawing/2014/main" id="{1E4DE6F3-3BB0-2B05-BD87-45921D4C3C01}"/>
              </a:ext>
            </a:extLst>
          </p:cNvPr>
          <p:cNvSpPr/>
          <p:nvPr/>
        </p:nvSpPr>
        <p:spPr bwMode="auto">
          <a:xfrm>
            <a:off x="10495405" y="2726359"/>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cxnSp>
        <p:nvCxnSpPr>
          <p:cNvPr id="53" name="肘形接點 68">
            <a:extLst>
              <a:ext uri="{FF2B5EF4-FFF2-40B4-BE49-F238E27FC236}">
                <a16:creationId xmlns="" xmlns:a16="http://schemas.microsoft.com/office/drawing/2014/main" id="{3DF02015-D2E3-2703-4867-50B03711C09D}"/>
              </a:ext>
            </a:extLst>
          </p:cNvPr>
          <p:cNvCxnSpPr>
            <a:cxnSpLocks/>
            <a:stCxn id="52" idx="4"/>
            <a:endCxn id="12" idx="0"/>
          </p:cNvCxnSpPr>
          <p:nvPr/>
        </p:nvCxnSpPr>
        <p:spPr>
          <a:xfrm rot="16200000" flipH="1">
            <a:off x="10567164" y="3394573"/>
            <a:ext cx="407991" cy="616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 xmlns:p14="http://schemas.microsoft.com/office/powerpoint/2010/main" val="779121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1" name="流程圖: 文件 42">
            <a:extLst>
              <a:ext uri="{FF2B5EF4-FFF2-40B4-BE49-F238E27FC236}">
                <a16:creationId xmlns="" xmlns:a16="http://schemas.microsoft.com/office/drawing/2014/main" id="{580160BC-29D0-9D19-BFCE-78B7FC429FBC}"/>
              </a:ext>
            </a:extLst>
          </p:cNvPr>
          <p:cNvSpPr/>
          <p:nvPr/>
        </p:nvSpPr>
        <p:spPr bwMode="auto">
          <a:xfrm>
            <a:off x="6078194" y="4757597"/>
            <a:ext cx="1086981" cy="534714"/>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採購單</a:t>
            </a:r>
          </a:p>
        </p:txBody>
      </p:sp>
      <p:sp>
        <p:nvSpPr>
          <p:cNvPr id="4" name="文字方塊 3">
            <a:extLst>
              <a:ext uri="{FF2B5EF4-FFF2-40B4-BE49-F238E27FC236}">
                <a16:creationId xmlns="" xmlns:a16="http://schemas.microsoft.com/office/drawing/2014/main" id="{83E6F622-2FBE-CC67-50FE-4ABD7D8B9696}"/>
              </a:ext>
            </a:extLst>
          </p:cNvPr>
          <p:cNvSpPr txBox="1"/>
          <p:nvPr/>
        </p:nvSpPr>
        <p:spPr>
          <a:xfrm>
            <a:off x="2444079" y="794373"/>
            <a:ext cx="9578999"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MM-PU-0040-02 </a:t>
            </a:r>
            <a:r>
              <a:rPr lang="zh-TW" altLang="en-US" sz="2400" b="1" dirty="0">
                <a:latin typeface="微軟正黑體" panose="020B0604030504040204" pitchFamily="34" charset="-120"/>
                <a:ea typeface="微軟正黑體" panose="020B0604030504040204" pitchFamily="34" charset="-120"/>
              </a:rPr>
              <a:t>庶務請採購驗流程</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庶務費用類</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勞務服務</a:t>
            </a:r>
            <a:r>
              <a:rPr lang="en-US" altLang="zh-TW" sz="2400" b="1" dirty="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 xmlns:a16="http://schemas.microsoft.com/office/drawing/2014/main" id="{E114DEFF-4464-1230-5102-DAAA05109B8A}"/>
              </a:ext>
            </a:extLst>
          </p:cNvPr>
          <p:cNvSpPr txBox="1"/>
          <p:nvPr/>
        </p:nvSpPr>
        <p:spPr>
          <a:xfrm>
            <a:off x="2493951" y="1364936"/>
            <a:ext cx="2166825"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權責主管</a:t>
            </a:r>
          </a:p>
        </p:txBody>
      </p:sp>
      <p:cxnSp>
        <p:nvCxnSpPr>
          <p:cNvPr id="12" name="肘形接點 68">
            <a:extLst>
              <a:ext uri="{FF2B5EF4-FFF2-40B4-BE49-F238E27FC236}">
                <a16:creationId xmlns="" xmlns:a16="http://schemas.microsoft.com/office/drawing/2014/main" id="{FBF11958-7A91-079F-32FB-0858325AE319}"/>
              </a:ext>
            </a:extLst>
          </p:cNvPr>
          <p:cNvCxnSpPr>
            <a:cxnSpLocks/>
            <a:stCxn id="23" idx="3"/>
            <a:endCxn id="8" idx="1"/>
          </p:cNvCxnSpPr>
          <p:nvPr/>
        </p:nvCxnSpPr>
        <p:spPr>
          <a:xfrm flipV="1">
            <a:off x="9203520" y="3147464"/>
            <a:ext cx="561299" cy="154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5" name="流程圖: 結束點 8">
            <a:extLst>
              <a:ext uri="{FF2B5EF4-FFF2-40B4-BE49-F238E27FC236}">
                <a16:creationId xmlns="" xmlns:a16="http://schemas.microsoft.com/office/drawing/2014/main" id="{1FB9514E-6261-C7AC-D58E-6A5F2E6F81FD}"/>
              </a:ext>
            </a:extLst>
          </p:cNvPr>
          <p:cNvSpPr/>
          <p:nvPr/>
        </p:nvSpPr>
        <p:spPr bwMode="auto">
          <a:xfrm>
            <a:off x="12177977" y="8828481"/>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graphicFrame>
        <p:nvGraphicFramePr>
          <p:cNvPr id="30" name="表格 30">
            <a:extLst>
              <a:ext uri="{FF2B5EF4-FFF2-40B4-BE49-F238E27FC236}">
                <a16:creationId xmlns="" xmlns:a16="http://schemas.microsoft.com/office/drawing/2014/main" id="{18197701-0564-3E2B-648E-413A6C8BBE0A}"/>
              </a:ext>
            </a:extLst>
          </p:cNvPr>
          <p:cNvGraphicFramePr>
            <a:graphicFrameLocks noGrp="1"/>
          </p:cNvGraphicFramePr>
          <p:nvPr/>
        </p:nvGraphicFramePr>
        <p:xfrm>
          <a:off x="4932797" y="2120968"/>
          <a:ext cx="1797832" cy="1095154"/>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445560">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核發</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49" name="肘形接點 68">
            <a:extLst>
              <a:ext uri="{FF2B5EF4-FFF2-40B4-BE49-F238E27FC236}">
                <a16:creationId xmlns="" xmlns:a16="http://schemas.microsoft.com/office/drawing/2014/main" id="{8DD1663D-3235-8D1E-F1BD-80C90EB0F8CB}"/>
              </a:ext>
            </a:extLst>
          </p:cNvPr>
          <p:cNvCxnSpPr>
            <a:cxnSpLocks/>
            <a:stCxn id="216" idx="2"/>
            <a:endCxn id="15" idx="0"/>
          </p:cNvCxnSpPr>
          <p:nvPr/>
        </p:nvCxnSpPr>
        <p:spPr>
          <a:xfrm rot="16200000" flipH="1">
            <a:off x="5296199" y="8163574"/>
            <a:ext cx="1329404" cy="41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Connector 284">
            <a:extLst>
              <a:ext uri="{FF2B5EF4-FFF2-40B4-BE49-F238E27FC236}">
                <a16:creationId xmlns="" xmlns:a16="http://schemas.microsoft.com/office/drawing/2014/main" id="{3343F13F-0020-F344-5B28-F9AEB09CA3FA}"/>
              </a:ext>
            </a:extLst>
          </p:cNvPr>
          <p:cNvCxnSpPr>
            <a:cxnSpLocks/>
          </p:cNvCxnSpPr>
          <p:nvPr/>
        </p:nvCxnSpPr>
        <p:spPr>
          <a:xfrm>
            <a:off x="9260426" y="1340175"/>
            <a:ext cx="0" cy="88109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字方塊 17">
            <a:extLst>
              <a:ext uri="{FF2B5EF4-FFF2-40B4-BE49-F238E27FC236}">
                <a16:creationId xmlns="" xmlns:a16="http://schemas.microsoft.com/office/drawing/2014/main" id="{DE52170D-3194-E094-D743-3842F95326FE}"/>
              </a:ext>
            </a:extLst>
          </p:cNvPr>
          <p:cNvSpPr txBox="1"/>
          <p:nvPr/>
        </p:nvSpPr>
        <p:spPr>
          <a:xfrm>
            <a:off x="7237580" y="1361813"/>
            <a:ext cx="2022846"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廠商</a:t>
            </a:r>
          </a:p>
        </p:txBody>
      </p:sp>
      <p:cxnSp>
        <p:nvCxnSpPr>
          <p:cNvPr id="6" name="肘形接點 68">
            <a:extLst>
              <a:ext uri="{FF2B5EF4-FFF2-40B4-BE49-F238E27FC236}">
                <a16:creationId xmlns="" xmlns:a16="http://schemas.microsoft.com/office/drawing/2014/main" id="{70F961FE-0AA7-D2B8-F257-ECB0C3D45D2D}"/>
              </a:ext>
            </a:extLst>
          </p:cNvPr>
          <p:cNvCxnSpPr>
            <a:cxnSpLocks/>
            <a:stCxn id="5" idx="3"/>
            <a:endCxn id="70" idx="1"/>
          </p:cNvCxnSpPr>
          <p:nvPr/>
        </p:nvCxnSpPr>
        <p:spPr>
          <a:xfrm>
            <a:off x="1691863" y="2997276"/>
            <a:ext cx="986585" cy="859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3" name="表格 30">
            <a:extLst>
              <a:ext uri="{FF2B5EF4-FFF2-40B4-BE49-F238E27FC236}">
                <a16:creationId xmlns="" xmlns:a16="http://schemas.microsoft.com/office/drawing/2014/main" id="{36F45BC6-97E0-5DAF-4CDF-28F120688387}"/>
              </a:ext>
            </a:extLst>
          </p:cNvPr>
          <p:cNvGraphicFramePr>
            <a:graphicFrameLocks noGrp="1"/>
          </p:cNvGraphicFramePr>
          <p:nvPr/>
        </p:nvGraphicFramePr>
        <p:xfrm>
          <a:off x="7405688" y="2644112"/>
          <a:ext cx="1797832" cy="10098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endParaRPr lang="en-GB" sz="1500" b="1" dirty="0">
                        <a:solidFill>
                          <a:srgbClr val="FF0000"/>
                        </a:solidFill>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00">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dirty="0">
                          <a:latin typeface="微軟正黑體" panose="020B0604030504040204" pitchFamily="34" charset="-120"/>
                          <a:ea typeface="微軟正黑體" panose="020B0604030504040204" pitchFamily="34" charset="-120"/>
                        </a:rPr>
                        <a:t>進行勞務服務</a:t>
                      </a: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 </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40" name="肘形接點 68">
            <a:extLst>
              <a:ext uri="{FF2B5EF4-FFF2-40B4-BE49-F238E27FC236}">
                <a16:creationId xmlns="" xmlns:a16="http://schemas.microsoft.com/office/drawing/2014/main" id="{1DF5F1F4-D706-20CD-2C91-619F7E00C1C5}"/>
              </a:ext>
            </a:extLst>
          </p:cNvPr>
          <p:cNvCxnSpPr>
            <a:cxnSpLocks/>
            <a:stCxn id="19" idx="3"/>
            <a:endCxn id="23" idx="1"/>
          </p:cNvCxnSpPr>
          <p:nvPr/>
        </p:nvCxnSpPr>
        <p:spPr>
          <a:xfrm flipV="1">
            <a:off x="6731896" y="3149012"/>
            <a:ext cx="673792" cy="111526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9" name="表格 30">
            <a:extLst>
              <a:ext uri="{FF2B5EF4-FFF2-40B4-BE49-F238E27FC236}">
                <a16:creationId xmlns="" xmlns:a16="http://schemas.microsoft.com/office/drawing/2014/main" id="{323DEA68-B2E9-C177-AF6C-305B02CA9243}"/>
              </a:ext>
            </a:extLst>
          </p:cNvPr>
          <p:cNvGraphicFramePr>
            <a:graphicFrameLocks noGrp="1"/>
          </p:cNvGraphicFramePr>
          <p:nvPr/>
        </p:nvGraphicFramePr>
        <p:xfrm>
          <a:off x="4934064" y="3730487"/>
          <a:ext cx="1797832" cy="1067589"/>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94389">
                <a:tc gridSpan="2">
                  <a:txBody>
                    <a:bodyPr/>
                    <a:lstStyle/>
                    <a:p>
                      <a:pPr algn="ctr"/>
                      <a:r>
                        <a:rPr lang="zh-TW" altLang="en-US" sz="1500" dirty="0">
                          <a:latin typeface="微軟正黑體" panose="020B0604030504040204" pitchFamily="34" charset="-120"/>
                          <a:ea typeface="微軟正黑體" panose="020B0604030504040204" pitchFamily="34" charset="-120"/>
                        </a:rPr>
                        <a:t>列印採購單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51" name="肘形接點 68">
            <a:extLst>
              <a:ext uri="{FF2B5EF4-FFF2-40B4-BE49-F238E27FC236}">
                <a16:creationId xmlns="" xmlns:a16="http://schemas.microsoft.com/office/drawing/2014/main" id="{2AA47122-2BF1-7633-656B-9B6710026CD9}"/>
              </a:ext>
            </a:extLst>
          </p:cNvPr>
          <p:cNvCxnSpPr>
            <a:cxnSpLocks/>
            <a:stCxn id="18" idx="1"/>
            <a:endCxn id="216" idx="3"/>
          </p:cNvCxnSpPr>
          <p:nvPr/>
        </p:nvCxnSpPr>
        <p:spPr>
          <a:xfrm rot="10800000" flipV="1">
            <a:off x="6859612" y="4757671"/>
            <a:ext cx="2887960" cy="214918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55" name="文字方塊 54">
            <a:extLst>
              <a:ext uri="{FF2B5EF4-FFF2-40B4-BE49-F238E27FC236}">
                <a16:creationId xmlns="" xmlns:a16="http://schemas.microsoft.com/office/drawing/2014/main" id="{B106DB5A-3C2B-C42B-E706-9F53E0CA364F}"/>
              </a:ext>
            </a:extLst>
          </p:cNvPr>
          <p:cNvSpPr txBox="1"/>
          <p:nvPr/>
        </p:nvSpPr>
        <p:spPr>
          <a:xfrm>
            <a:off x="10841633" y="5193260"/>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cxnSp>
        <p:nvCxnSpPr>
          <p:cNvPr id="209" name="Straight Connector 284">
            <a:extLst>
              <a:ext uri="{FF2B5EF4-FFF2-40B4-BE49-F238E27FC236}">
                <a16:creationId xmlns="" xmlns:a16="http://schemas.microsoft.com/office/drawing/2014/main" id="{CCB3D035-826A-6F8E-1D15-1A3E96F62413}"/>
              </a:ext>
            </a:extLst>
          </p:cNvPr>
          <p:cNvCxnSpPr>
            <a:cxnSpLocks/>
          </p:cNvCxnSpPr>
          <p:nvPr/>
        </p:nvCxnSpPr>
        <p:spPr>
          <a:xfrm>
            <a:off x="7248843" y="1335733"/>
            <a:ext cx="0" cy="88154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53">
            <a:extLst>
              <a:ext uri="{FF2B5EF4-FFF2-40B4-BE49-F238E27FC236}">
                <a16:creationId xmlns="" xmlns:a16="http://schemas.microsoft.com/office/drawing/2014/main" id="{2DE69ECC-E293-FAA8-6082-E6D2F887DBFF}"/>
              </a:ext>
            </a:extLst>
          </p:cNvPr>
          <p:cNvSpPr txBox="1"/>
          <p:nvPr/>
        </p:nvSpPr>
        <p:spPr>
          <a:xfrm>
            <a:off x="14380627" y="2064631"/>
            <a:ext cx="3594197" cy="7848302"/>
          </a:xfrm>
          <a:prstGeom prst="rect">
            <a:avLst/>
          </a:prstGeom>
          <a:noFill/>
        </p:spPr>
        <p:txBody>
          <a:bodyPr wrap="square" rtlCol="0">
            <a:spAutoFit/>
          </a:bodyPr>
          <a:lstStyle/>
          <a:p>
            <a:pPr marL="342900" indent="-342900">
              <a:buFont typeface="+mj-lt"/>
              <a:buAutoNum type="arabicPeriod"/>
            </a:pPr>
            <a:r>
              <a:rPr lang="zh-TW" altLang="en-US" dirty="0"/>
              <a:t>由權責主管在</a:t>
            </a:r>
            <a:r>
              <a:rPr lang="en-US" altLang="zh-TW" dirty="0"/>
              <a:t>BPM</a:t>
            </a:r>
            <a:r>
              <a:rPr lang="zh-TW" altLang="en-US" dirty="0"/>
              <a:t>上進行簽核採購單</a:t>
            </a:r>
          </a:p>
          <a:p>
            <a:pPr marL="342900" indent="-342900">
              <a:buFont typeface="+mj-lt"/>
              <a:buAutoNum type="arabicPeriod"/>
            </a:pPr>
            <a:endParaRPr lang="en-US" altLang="zh-TW" dirty="0"/>
          </a:p>
          <a:p>
            <a:pPr marL="342900" indent="-342900">
              <a:buFont typeface="+mj-lt"/>
              <a:buAutoNum type="arabicPeriod"/>
            </a:pPr>
            <a:r>
              <a:rPr lang="zh-TW" altLang="en-US" dirty="0"/>
              <a:t>簽核未通過，透過程式</a:t>
            </a:r>
            <a:r>
              <a:rPr lang="en-US" altLang="zh-TW" dirty="0"/>
              <a:t>ZMM006 </a:t>
            </a:r>
            <a:r>
              <a:rPr lang="zh-TW" altLang="en-US" dirty="0"/>
              <a:t>將採購單標記為刪除，以及刪除對應請購單</a:t>
            </a:r>
          </a:p>
          <a:p>
            <a:pPr marL="342900" indent="-342900">
              <a:buFont typeface="+mj-lt"/>
              <a:buAutoNum type="arabicPeriod"/>
            </a:pPr>
            <a:endParaRPr lang="en-US" altLang="zh-TW" dirty="0"/>
          </a:p>
          <a:p>
            <a:pPr marL="342900" indent="-342900">
              <a:buFont typeface="+mj-lt"/>
              <a:buAutoNum type="arabicPeriod"/>
            </a:pPr>
            <a:r>
              <a:rPr lang="zh-TW" altLang="en-US" dirty="0"/>
              <a:t>通過簽核的採購單透過程式</a:t>
            </a:r>
            <a:r>
              <a:rPr lang="en-US" altLang="zh-TW" dirty="0"/>
              <a:t>ZMM006 </a:t>
            </a:r>
            <a:r>
              <a:rPr lang="zh-TW" altLang="en-US" dirty="0"/>
              <a:t>核發</a:t>
            </a:r>
            <a:r>
              <a:rPr lang="en-US" altLang="zh-TW" dirty="0"/>
              <a:t>SAP</a:t>
            </a:r>
            <a:r>
              <a:rPr lang="zh-TW" altLang="en-US" dirty="0"/>
              <a:t>採購單</a:t>
            </a: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BPM</a:t>
            </a:r>
            <a:r>
              <a:rPr lang="zh-TW" altLang="en-US" dirty="0"/>
              <a:t>列印採購單交予供應商</a:t>
            </a:r>
            <a:endParaRPr lang="en-US" altLang="zh-TW" dirty="0"/>
          </a:p>
          <a:p>
            <a:pPr marL="342900" indent="-342900">
              <a:buFont typeface="+mj-lt"/>
              <a:buAutoNum type="arabicPeriod"/>
            </a:pPr>
            <a:endParaRPr lang="en-US" altLang="zh-TW" dirty="0"/>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廠商進行勞務服務</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申請人進行服務確認，填寫確認單，可由廠商提供此項文件。</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服務成果符合要求則進行</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系統採購驗收作業。</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列印驗收單，連同服務確認單作為請款附件</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如果服務成果符合不符合要求，通知廠商重作</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重工，完成後再次驗收</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endParaRPr lang="zh-TW" altLang="en-US" dirty="0"/>
          </a:p>
        </p:txBody>
      </p:sp>
      <p:sp>
        <p:nvSpPr>
          <p:cNvPr id="5" name="流程圖: 換頁接點 52">
            <a:extLst>
              <a:ext uri="{FF2B5EF4-FFF2-40B4-BE49-F238E27FC236}">
                <a16:creationId xmlns="" xmlns:a16="http://schemas.microsoft.com/office/drawing/2014/main" id="{A020D090-1F04-66A8-DDD2-0A428105439C}"/>
              </a:ext>
            </a:extLst>
          </p:cNvPr>
          <p:cNvSpPr/>
          <p:nvPr/>
        </p:nvSpPr>
        <p:spPr bwMode="auto">
          <a:xfrm>
            <a:off x="1131236" y="276362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P3</a:t>
            </a:r>
            <a:endParaRPr lang="zh-TW" altLang="en-US" dirty="0">
              <a:latin typeface="微軟正黑體" panose="020B0604030504040204" pitchFamily="34" charset="-120"/>
              <a:ea typeface="微軟正黑體" panose="020B0604030504040204" pitchFamily="34" charset="-120"/>
            </a:endParaRPr>
          </a:p>
        </p:txBody>
      </p:sp>
      <p:cxnSp>
        <p:nvCxnSpPr>
          <p:cNvPr id="10" name="肘形接點 68">
            <a:extLst>
              <a:ext uri="{FF2B5EF4-FFF2-40B4-BE49-F238E27FC236}">
                <a16:creationId xmlns="" xmlns:a16="http://schemas.microsoft.com/office/drawing/2014/main" id="{88423D2F-5852-EF3C-C85E-11AFB02032A8}"/>
              </a:ext>
            </a:extLst>
          </p:cNvPr>
          <p:cNvCxnSpPr>
            <a:cxnSpLocks/>
            <a:stCxn id="30" idx="2"/>
            <a:endCxn id="19" idx="0"/>
          </p:cNvCxnSpPr>
          <p:nvPr/>
        </p:nvCxnSpPr>
        <p:spPr>
          <a:xfrm rot="16200000" flipH="1">
            <a:off x="5575164" y="3472670"/>
            <a:ext cx="514365" cy="126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00" name="文字方塊 17">
            <a:extLst>
              <a:ext uri="{FF2B5EF4-FFF2-40B4-BE49-F238E27FC236}">
                <a16:creationId xmlns="" xmlns:a16="http://schemas.microsoft.com/office/drawing/2014/main" id="{46781F1A-BA99-952E-F060-2BBE7B71DFBE}"/>
              </a:ext>
            </a:extLst>
          </p:cNvPr>
          <p:cNvSpPr txBox="1"/>
          <p:nvPr/>
        </p:nvSpPr>
        <p:spPr>
          <a:xfrm>
            <a:off x="9260426" y="1376414"/>
            <a:ext cx="2645485"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申請人</a:t>
            </a:r>
          </a:p>
        </p:txBody>
      </p:sp>
      <p:graphicFrame>
        <p:nvGraphicFramePr>
          <p:cNvPr id="211" name="表格 30">
            <a:extLst>
              <a:ext uri="{FF2B5EF4-FFF2-40B4-BE49-F238E27FC236}">
                <a16:creationId xmlns="" xmlns:a16="http://schemas.microsoft.com/office/drawing/2014/main" id="{7C9AEEC6-5A2A-D9F0-2273-1A417DB56F19}"/>
              </a:ext>
            </a:extLst>
          </p:cNvPr>
          <p:cNvGraphicFramePr>
            <a:graphicFrameLocks noGrp="1"/>
          </p:cNvGraphicFramePr>
          <p:nvPr/>
        </p:nvGraphicFramePr>
        <p:xfrm>
          <a:off x="9736122" y="5659909"/>
          <a:ext cx="1864309" cy="1184439"/>
        </p:xfrm>
        <a:graphic>
          <a:graphicData uri="http://schemas.openxmlformats.org/drawingml/2006/table">
            <a:tbl>
              <a:tblPr>
                <a:tableStyleId>{5940675A-B579-460E-94D1-54222C63F5DA}</a:tableStyleId>
              </a:tblPr>
              <a:tblGrid>
                <a:gridCol w="938504">
                  <a:extLst>
                    <a:ext uri="{9D8B030D-6E8A-4147-A177-3AD203B41FA5}">
                      <a16:colId xmlns="" xmlns:a16="http://schemas.microsoft.com/office/drawing/2014/main" val="3433979995"/>
                    </a:ext>
                  </a:extLst>
                </a:gridCol>
                <a:gridCol w="925805">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MIGO</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採購單驗收</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216" name="表格 30">
            <a:extLst>
              <a:ext uri="{FF2B5EF4-FFF2-40B4-BE49-F238E27FC236}">
                <a16:creationId xmlns="" xmlns:a16="http://schemas.microsoft.com/office/drawing/2014/main" id="{8964F375-68D2-CB08-85C1-496EBD1EEBD8}"/>
              </a:ext>
            </a:extLst>
          </p:cNvPr>
          <p:cNvGraphicFramePr>
            <a:graphicFrameLocks noGrp="1"/>
          </p:cNvGraphicFramePr>
          <p:nvPr/>
        </p:nvGraphicFramePr>
        <p:xfrm>
          <a:off x="5061780" y="6314638"/>
          <a:ext cx="1797832" cy="1184439"/>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solidFill>
                          <a:srgbClr val="FF0000"/>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通知廠商重作</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重工</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26" name="肘形接點 68">
            <a:extLst>
              <a:ext uri="{FF2B5EF4-FFF2-40B4-BE49-F238E27FC236}">
                <a16:creationId xmlns="" xmlns:a16="http://schemas.microsoft.com/office/drawing/2014/main" id="{125A8A52-5CEB-3185-4F86-EE30C2E88477}"/>
              </a:ext>
            </a:extLst>
          </p:cNvPr>
          <p:cNvCxnSpPr>
            <a:cxnSpLocks/>
            <a:stCxn id="2" idx="3"/>
            <a:endCxn id="229" idx="1"/>
          </p:cNvCxnSpPr>
          <p:nvPr/>
        </p:nvCxnSpPr>
        <p:spPr>
          <a:xfrm flipV="1">
            <a:off x="11627062" y="7635133"/>
            <a:ext cx="549278" cy="66345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29" name="流程圖: 預設處理作業 21">
            <a:extLst>
              <a:ext uri="{FF2B5EF4-FFF2-40B4-BE49-F238E27FC236}">
                <a16:creationId xmlns="" xmlns:a16="http://schemas.microsoft.com/office/drawing/2014/main" id="{8D89DE13-51D6-E651-0AFF-2DA7C6AADABA}"/>
              </a:ext>
            </a:extLst>
          </p:cNvPr>
          <p:cNvSpPr/>
          <p:nvPr/>
        </p:nvSpPr>
        <p:spPr bwMode="auto">
          <a:xfrm>
            <a:off x="12176339" y="7015933"/>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MM-IV-0010</a:t>
            </a:r>
          </a:p>
          <a:p>
            <a:pPr algn="ctr" eaLnBrk="0" hangingPunct="0"/>
            <a:r>
              <a:rPr lang="zh-TW" altLang="en-US" sz="1500" dirty="0">
                <a:latin typeface="微軟正黑體" panose="020B0604030504040204" pitchFamily="34" charset="-120"/>
                <a:ea typeface="微軟正黑體" panose="020B0604030504040204" pitchFamily="34" charset="-120"/>
              </a:rPr>
              <a:t>發票請款</a:t>
            </a:r>
          </a:p>
        </p:txBody>
      </p:sp>
      <p:sp>
        <p:nvSpPr>
          <p:cNvPr id="18" name="流程圖: 決策 50">
            <a:extLst>
              <a:ext uri="{FF2B5EF4-FFF2-40B4-BE49-F238E27FC236}">
                <a16:creationId xmlns="" xmlns:a16="http://schemas.microsoft.com/office/drawing/2014/main" id="{523F3E97-4D4D-40CF-A7CC-E7AD5E31A7F2}"/>
              </a:ext>
            </a:extLst>
          </p:cNvPr>
          <p:cNvSpPr/>
          <p:nvPr/>
        </p:nvSpPr>
        <p:spPr bwMode="auto">
          <a:xfrm>
            <a:off x="9747572" y="4463186"/>
            <a:ext cx="1841949" cy="588972"/>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符合要求</a:t>
            </a:r>
          </a:p>
        </p:txBody>
      </p:sp>
      <p:cxnSp>
        <p:nvCxnSpPr>
          <p:cNvPr id="22" name="肘形接點 68">
            <a:extLst>
              <a:ext uri="{FF2B5EF4-FFF2-40B4-BE49-F238E27FC236}">
                <a16:creationId xmlns="" xmlns:a16="http://schemas.microsoft.com/office/drawing/2014/main" id="{08C4A7ED-A3C2-39C7-6C98-4C2A2BE7668C}"/>
              </a:ext>
            </a:extLst>
          </p:cNvPr>
          <p:cNvCxnSpPr>
            <a:cxnSpLocks/>
            <a:stCxn id="18" idx="2"/>
            <a:endCxn id="211" idx="0"/>
          </p:cNvCxnSpPr>
          <p:nvPr/>
        </p:nvCxnSpPr>
        <p:spPr>
          <a:xfrm rot="5400000">
            <a:off x="10364537" y="5355898"/>
            <a:ext cx="607751" cy="27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24" name="文字方塊 223">
            <a:extLst>
              <a:ext uri="{FF2B5EF4-FFF2-40B4-BE49-F238E27FC236}">
                <a16:creationId xmlns="" xmlns:a16="http://schemas.microsoft.com/office/drawing/2014/main" id="{5B29E6B0-847D-D73B-DD4A-9A49F2737E45}"/>
              </a:ext>
            </a:extLst>
          </p:cNvPr>
          <p:cNvSpPr txBox="1"/>
          <p:nvPr/>
        </p:nvSpPr>
        <p:spPr>
          <a:xfrm>
            <a:off x="9088034" y="4410500"/>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graphicFrame>
        <p:nvGraphicFramePr>
          <p:cNvPr id="8" name="表格 30">
            <a:extLst>
              <a:ext uri="{FF2B5EF4-FFF2-40B4-BE49-F238E27FC236}">
                <a16:creationId xmlns="" xmlns:a16="http://schemas.microsoft.com/office/drawing/2014/main" id="{159DB09F-A2E3-03AA-1181-22E73C42C722}"/>
              </a:ext>
            </a:extLst>
          </p:cNvPr>
          <p:cNvGraphicFramePr>
            <a:graphicFrameLocks noGrp="1"/>
          </p:cNvGraphicFramePr>
          <p:nvPr/>
        </p:nvGraphicFramePr>
        <p:xfrm>
          <a:off x="9764819" y="2642564"/>
          <a:ext cx="1797832" cy="10098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endParaRPr lang="en-GB" sz="1500" b="1" dirty="0">
                        <a:solidFill>
                          <a:srgbClr val="FF0000"/>
                        </a:solidFill>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00">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dirty="0">
                          <a:latin typeface="微軟正黑體" panose="020B0604030504040204" pitchFamily="34" charset="-120"/>
                          <a:ea typeface="微軟正黑體" panose="020B0604030504040204" pitchFamily="34" charset="-120"/>
                        </a:rPr>
                        <a:t>填寫服務確認單</a:t>
                      </a: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 </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13" name="肘形接點 68">
            <a:extLst>
              <a:ext uri="{FF2B5EF4-FFF2-40B4-BE49-F238E27FC236}">
                <a16:creationId xmlns="" xmlns:a16="http://schemas.microsoft.com/office/drawing/2014/main" id="{2BFBE3D3-39F7-9A8B-28AB-4DB99E07566E}"/>
              </a:ext>
            </a:extLst>
          </p:cNvPr>
          <p:cNvCxnSpPr>
            <a:cxnSpLocks/>
            <a:stCxn id="8" idx="2"/>
            <a:endCxn id="18" idx="0"/>
          </p:cNvCxnSpPr>
          <p:nvPr/>
        </p:nvCxnSpPr>
        <p:spPr>
          <a:xfrm rot="16200000" flipH="1">
            <a:off x="10260730" y="4055369"/>
            <a:ext cx="810822" cy="481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 name="表格 30">
            <a:extLst>
              <a:ext uri="{FF2B5EF4-FFF2-40B4-BE49-F238E27FC236}">
                <a16:creationId xmlns="" xmlns:a16="http://schemas.microsoft.com/office/drawing/2014/main" id="{D3D9AB5D-7E8D-B9BA-E750-1B70BA2AED1D}"/>
              </a:ext>
            </a:extLst>
          </p:cNvPr>
          <p:cNvGraphicFramePr>
            <a:graphicFrameLocks noGrp="1"/>
          </p:cNvGraphicFramePr>
          <p:nvPr>
            <p:extLst>
              <p:ext uri="{D42A27DB-BD31-4B8C-83A1-F6EECF244321}">
                <p14:modId xmlns="" xmlns:p14="http://schemas.microsoft.com/office/powerpoint/2010/main" val="2415393573"/>
              </p:ext>
            </p:extLst>
          </p:nvPr>
        </p:nvGraphicFramePr>
        <p:xfrm>
          <a:off x="9696171" y="7793692"/>
          <a:ext cx="1930890" cy="1009800"/>
        </p:xfrm>
        <a:graphic>
          <a:graphicData uri="http://schemas.openxmlformats.org/drawingml/2006/table">
            <a:tbl>
              <a:tblPr>
                <a:tableStyleId>{5940675A-B579-460E-94D1-54222C63F5DA}</a:tableStyleId>
              </a:tblPr>
              <a:tblGrid>
                <a:gridCol w="965445">
                  <a:extLst>
                    <a:ext uri="{9D8B030D-6E8A-4147-A177-3AD203B41FA5}">
                      <a16:colId xmlns="" xmlns:a16="http://schemas.microsoft.com/office/drawing/2014/main" val="3433979995"/>
                    </a:ext>
                  </a:extLst>
                </a:gridCol>
                <a:gridCol w="965445">
                  <a:extLst>
                    <a:ext uri="{9D8B030D-6E8A-4147-A177-3AD203B41FA5}">
                      <a16:colId xmlns="" xmlns:a16="http://schemas.microsoft.com/office/drawing/2014/main" val="3727974752"/>
                    </a:ext>
                  </a:extLst>
                </a:gridCol>
              </a:tblGrid>
              <a:tr h="336600">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ZMM016</a:t>
                      </a: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00">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列印收貨驗收單</a:t>
                      </a: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7" name="肘形接點 68">
            <a:extLst>
              <a:ext uri="{FF2B5EF4-FFF2-40B4-BE49-F238E27FC236}">
                <a16:creationId xmlns="" xmlns:a16="http://schemas.microsoft.com/office/drawing/2014/main" id="{DE7163D5-9E14-E44D-C880-5F40B54FA0B5}"/>
              </a:ext>
            </a:extLst>
          </p:cNvPr>
          <p:cNvCxnSpPr>
            <a:cxnSpLocks/>
            <a:stCxn id="211" idx="2"/>
            <a:endCxn id="2" idx="0"/>
          </p:cNvCxnSpPr>
          <p:nvPr/>
        </p:nvCxnSpPr>
        <p:spPr>
          <a:xfrm rot="5400000">
            <a:off x="10190274" y="7315690"/>
            <a:ext cx="949344" cy="666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9" name="流程圖: 接點 51">
            <a:extLst>
              <a:ext uri="{FF2B5EF4-FFF2-40B4-BE49-F238E27FC236}">
                <a16:creationId xmlns="" xmlns:a16="http://schemas.microsoft.com/office/drawing/2014/main" id="{5CE09BE5-1C91-0733-D4FA-FF68A44DB945}"/>
              </a:ext>
            </a:extLst>
          </p:cNvPr>
          <p:cNvSpPr/>
          <p:nvPr/>
        </p:nvSpPr>
        <p:spPr bwMode="auto">
          <a:xfrm>
            <a:off x="8020004" y="1827988"/>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sp>
        <p:nvSpPr>
          <p:cNvPr id="15" name="流程圖: 接點 51">
            <a:extLst>
              <a:ext uri="{FF2B5EF4-FFF2-40B4-BE49-F238E27FC236}">
                <a16:creationId xmlns="" xmlns:a16="http://schemas.microsoft.com/office/drawing/2014/main" id="{AC20B4C4-BFBC-7794-5F72-8FEC733B624F}"/>
              </a:ext>
            </a:extLst>
          </p:cNvPr>
          <p:cNvSpPr/>
          <p:nvPr/>
        </p:nvSpPr>
        <p:spPr bwMode="auto">
          <a:xfrm>
            <a:off x="5688433" y="8828481"/>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cxnSp>
        <p:nvCxnSpPr>
          <p:cNvPr id="29" name="肘形接點 68">
            <a:extLst>
              <a:ext uri="{FF2B5EF4-FFF2-40B4-BE49-F238E27FC236}">
                <a16:creationId xmlns="" xmlns:a16="http://schemas.microsoft.com/office/drawing/2014/main" id="{17044F62-6BF1-2DA6-8FA5-84AB1AA77F10}"/>
              </a:ext>
            </a:extLst>
          </p:cNvPr>
          <p:cNvCxnSpPr>
            <a:cxnSpLocks/>
            <a:stCxn id="9" idx="4"/>
            <a:endCxn id="23" idx="0"/>
          </p:cNvCxnSpPr>
          <p:nvPr/>
        </p:nvCxnSpPr>
        <p:spPr>
          <a:xfrm rot="16200000" flipH="1">
            <a:off x="8124230" y="2463737"/>
            <a:ext cx="348821" cy="1192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34" name="肘形接點 68">
            <a:extLst>
              <a:ext uri="{FF2B5EF4-FFF2-40B4-BE49-F238E27FC236}">
                <a16:creationId xmlns="" xmlns:a16="http://schemas.microsoft.com/office/drawing/2014/main" id="{2888F5BD-8725-778F-DC22-CD7174C031E2}"/>
              </a:ext>
            </a:extLst>
          </p:cNvPr>
          <p:cNvCxnSpPr>
            <a:cxnSpLocks/>
            <a:stCxn id="229" idx="2"/>
            <a:endCxn id="25" idx="0"/>
          </p:cNvCxnSpPr>
          <p:nvPr/>
        </p:nvCxnSpPr>
        <p:spPr>
          <a:xfrm rot="5400000">
            <a:off x="12792821" y="8538404"/>
            <a:ext cx="574148" cy="600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2" name="矩形 61"/>
          <p:cNvSpPr/>
          <p:nvPr/>
        </p:nvSpPr>
        <p:spPr>
          <a:xfrm>
            <a:off x="15507289" y="443233"/>
            <a:ext cx="296876" cy="323165"/>
          </a:xfrm>
          <a:prstGeom prst="rect">
            <a:avLst/>
          </a:prstGeom>
        </p:spPr>
        <p:txBody>
          <a:bodyPr wrap="none">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p>
        </p:txBody>
      </p:sp>
      <p:sp>
        <p:nvSpPr>
          <p:cNvPr id="67" name="文字方塊 66">
            <a:extLst>
              <a:ext uri="{FF2B5EF4-FFF2-40B4-BE49-F238E27FC236}">
                <a16:creationId xmlns="" xmlns:a16="http://schemas.microsoft.com/office/drawing/2014/main" id="{B106DB5A-3C2B-C42B-E706-9F53E0CA364F}"/>
              </a:ext>
            </a:extLst>
          </p:cNvPr>
          <p:cNvSpPr txBox="1"/>
          <p:nvPr/>
        </p:nvSpPr>
        <p:spPr>
          <a:xfrm>
            <a:off x="4358925" y="5242867"/>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cxnSp>
        <p:nvCxnSpPr>
          <p:cNvPr id="68" name="肘形接點 68">
            <a:extLst>
              <a:ext uri="{FF2B5EF4-FFF2-40B4-BE49-F238E27FC236}">
                <a16:creationId xmlns="" xmlns:a16="http://schemas.microsoft.com/office/drawing/2014/main" id="{A46CDCFE-67EF-4E51-A944-F4A0C09EC5BD}"/>
              </a:ext>
            </a:extLst>
          </p:cNvPr>
          <p:cNvCxnSpPr>
            <a:cxnSpLocks/>
            <a:stCxn id="69" idx="3"/>
            <a:endCxn id="30" idx="1"/>
          </p:cNvCxnSpPr>
          <p:nvPr/>
        </p:nvCxnSpPr>
        <p:spPr>
          <a:xfrm flipV="1">
            <a:off x="4502538" y="2668545"/>
            <a:ext cx="430259" cy="2880815"/>
          </a:xfrm>
          <a:prstGeom prst="bentConnector3">
            <a:avLst>
              <a:gd name="adj1" fmla="val 62320"/>
            </a:avLst>
          </a:prstGeom>
          <a:ln>
            <a:tailEnd type="triangle"/>
          </a:ln>
        </p:spPr>
        <p:style>
          <a:lnRef idx="1">
            <a:schemeClr val="dk1"/>
          </a:lnRef>
          <a:fillRef idx="0">
            <a:schemeClr val="dk1"/>
          </a:fillRef>
          <a:effectRef idx="0">
            <a:schemeClr val="dk1"/>
          </a:effectRef>
          <a:fontRef idx="minor">
            <a:schemeClr val="tx1"/>
          </a:fontRef>
        </p:style>
      </p:cxnSp>
      <p:sp>
        <p:nvSpPr>
          <p:cNvPr id="69" name="流程圖: 決策 50">
            <a:extLst>
              <a:ext uri="{FF2B5EF4-FFF2-40B4-BE49-F238E27FC236}">
                <a16:creationId xmlns="" xmlns:a16="http://schemas.microsoft.com/office/drawing/2014/main" id="{57572B2C-CFB9-0AC3-6713-A859559C555F}"/>
              </a:ext>
            </a:extLst>
          </p:cNvPr>
          <p:cNvSpPr/>
          <p:nvPr/>
        </p:nvSpPr>
        <p:spPr bwMode="auto">
          <a:xfrm>
            <a:off x="2660589" y="5193260"/>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graphicFrame>
        <p:nvGraphicFramePr>
          <p:cNvPr id="70" name="表格 30">
            <a:extLst>
              <a:ext uri="{FF2B5EF4-FFF2-40B4-BE49-F238E27FC236}">
                <a16:creationId xmlns="" xmlns:a16="http://schemas.microsoft.com/office/drawing/2014/main" id="{30D28B56-DFCB-AFD8-59FC-A2A377096849}"/>
              </a:ext>
            </a:extLst>
          </p:cNvPr>
          <p:cNvGraphicFramePr>
            <a:graphicFrameLocks noGrp="1"/>
          </p:cNvGraphicFramePr>
          <p:nvPr>
            <p:extLst>
              <p:ext uri="{D42A27DB-BD31-4B8C-83A1-F6EECF244321}">
                <p14:modId xmlns="" xmlns:p14="http://schemas.microsoft.com/office/powerpoint/2010/main" val="2923150642"/>
              </p:ext>
            </p:extLst>
          </p:nvPr>
        </p:nvGraphicFramePr>
        <p:xfrm>
          <a:off x="2678448" y="2363747"/>
          <a:ext cx="1797832" cy="1284252"/>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53292">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94360">
                <a:tc gridSpan="2">
                  <a:txBody>
                    <a:bodyPr/>
                    <a:lstStyle/>
                    <a:p>
                      <a:pPr algn="ctr"/>
                      <a:r>
                        <a:rPr lang="zh-TW" altLang="en-US" sz="1500" dirty="0">
                          <a:latin typeface="微軟正黑體" panose="020B0604030504040204" pitchFamily="34" charset="-120"/>
                          <a:ea typeface="微軟正黑體" panose="020B0604030504040204" pitchFamily="34" charset="-120"/>
                        </a:rPr>
                        <a:t>簽核採購單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71" name="肘形接點 68">
            <a:extLst>
              <a:ext uri="{FF2B5EF4-FFF2-40B4-BE49-F238E27FC236}">
                <a16:creationId xmlns="" xmlns:a16="http://schemas.microsoft.com/office/drawing/2014/main" id="{E1704031-6ABC-E835-30F7-9FDE80DC71C9}"/>
              </a:ext>
            </a:extLst>
          </p:cNvPr>
          <p:cNvCxnSpPr>
            <a:cxnSpLocks/>
            <a:stCxn id="69" idx="2"/>
            <a:endCxn id="73" idx="0"/>
          </p:cNvCxnSpPr>
          <p:nvPr/>
        </p:nvCxnSpPr>
        <p:spPr>
          <a:xfrm rot="16200000" flipH="1">
            <a:off x="3247456" y="6239568"/>
            <a:ext cx="669482" cy="126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2" name="肘形接點 68">
            <a:extLst>
              <a:ext uri="{FF2B5EF4-FFF2-40B4-BE49-F238E27FC236}">
                <a16:creationId xmlns="" xmlns:a16="http://schemas.microsoft.com/office/drawing/2014/main" id="{072E999A-419C-E794-B1C6-424EAB34EFD6}"/>
              </a:ext>
            </a:extLst>
          </p:cNvPr>
          <p:cNvCxnSpPr>
            <a:cxnSpLocks/>
            <a:stCxn id="70" idx="2"/>
            <a:endCxn id="69" idx="0"/>
          </p:cNvCxnSpPr>
          <p:nvPr/>
        </p:nvCxnSpPr>
        <p:spPr>
          <a:xfrm rot="16200000" flipH="1">
            <a:off x="2806834" y="4418529"/>
            <a:ext cx="1545261" cy="420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73" name="表格 30">
            <a:extLst>
              <a:ext uri="{FF2B5EF4-FFF2-40B4-BE49-F238E27FC236}">
                <a16:creationId xmlns="" xmlns:a16="http://schemas.microsoft.com/office/drawing/2014/main" id="{652C407C-677D-0613-296A-3D52732E8BE7}"/>
              </a:ext>
            </a:extLst>
          </p:cNvPr>
          <p:cNvGraphicFramePr>
            <a:graphicFrameLocks noGrp="1"/>
          </p:cNvGraphicFramePr>
          <p:nvPr/>
        </p:nvGraphicFramePr>
        <p:xfrm>
          <a:off x="2683914" y="6574942"/>
          <a:ext cx="1797832" cy="1244992"/>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95398">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更新</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採購單，刪除標記</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80" name="文字方塊 17">
            <a:extLst>
              <a:ext uri="{FF2B5EF4-FFF2-40B4-BE49-F238E27FC236}">
                <a16:creationId xmlns="" xmlns:a16="http://schemas.microsoft.com/office/drawing/2014/main" id="{E114DEFF-4464-1230-5102-DAAA05109B8A}"/>
              </a:ext>
            </a:extLst>
          </p:cNvPr>
          <p:cNvSpPr txBox="1"/>
          <p:nvPr/>
        </p:nvSpPr>
        <p:spPr>
          <a:xfrm>
            <a:off x="4672039" y="1363666"/>
            <a:ext cx="2565537" cy="359627"/>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庶務採購</a:t>
            </a:r>
          </a:p>
        </p:txBody>
      </p:sp>
      <p:grpSp>
        <p:nvGrpSpPr>
          <p:cNvPr id="85" name="Group 232">
            <a:extLst>
              <a:ext uri="{FF2B5EF4-FFF2-40B4-BE49-F238E27FC236}">
                <a16:creationId xmlns="" xmlns:a16="http://schemas.microsoft.com/office/drawing/2014/main" id="{34DCA6AC-E460-4F91-E17A-E4D1D9383A32}"/>
              </a:ext>
            </a:extLst>
          </p:cNvPr>
          <p:cNvGrpSpPr/>
          <p:nvPr/>
        </p:nvGrpSpPr>
        <p:grpSpPr>
          <a:xfrm>
            <a:off x="11348211" y="7597799"/>
            <a:ext cx="557700" cy="408542"/>
            <a:chOff x="5906472" y="1486857"/>
            <a:chExt cx="371800" cy="272361"/>
          </a:xfrm>
        </p:grpSpPr>
        <p:sp>
          <p:nvSpPr>
            <p:cNvPr id="86"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87"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8</a:t>
              </a:r>
              <a:endParaRPr lang="zh-TW" altLang="en-US" sz="1500" dirty="0">
                <a:latin typeface="微軟正黑體" panose="020B0604030504040204" pitchFamily="34" charset="-120"/>
                <a:ea typeface="微軟正黑體" panose="020B0604030504040204" pitchFamily="34" charset="-120"/>
              </a:endParaRPr>
            </a:p>
          </p:txBody>
        </p:sp>
      </p:grpSp>
      <p:grpSp>
        <p:nvGrpSpPr>
          <p:cNvPr id="88" name="Group 232">
            <a:extLst>
              <a:ext uri="{FF2B5EF4-FFF2-40B4-BE49-F238E27FC236}">
                <a16:creationId xmlns="" xmlns:a16="http://schemas.microsoft.com/office/drawing/2014/main" id="{34DCA6AC-E460-4F91-E17A-E4D1D9383A32}"/>
              </a:ext>
            </a:extLst>
          </p:cNvPr>
          <p:cNvGrpSpPr/>
          <p:nvPr/>
        </p:nvGrpSpPr>
        <p:grpSpPr>
          <a:xfrm>
            <a:off x="11257151" y="2478572"/>
            <a:ext cx="557700" cy="408542"/>
            <a:chOff x="5906472" y="1486857"/>
            <a:chExt cx="371800" cy="272361"/>
          </a:xfrm>
        </p:grpSpPr>
        <p:sp>
          <p:nvSpPr>
            <p:cNvPr id="89"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90"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grpSp>
        <p:nvGrpSpPr>
          <p:cNvPr id="91" name="Group 232">
            <a:extLst>
              <a:ext uri="{FF2B5EF4-FFF2-40B4-BE49-F238E27FC236}">
                <a16:creationId xmlns="" xmlns:a16="http://schemas.microsoft.com/office/drawing/2014/main" id="{34DCA6AC-E460-4F91-E17A-E4D1D9383A32}"/>
              </a:ext>
            </a:extLst>
          </p:cNvPr>
          <p:cNvGrpSpPr/>
          <p:nvPr/>
        </p:nvGrpSpPr>
        <p:grpSpPr>
          <a:xfrm>
            <a:off x="8924669" y="2460254"/>
            <a:ext cx="557700" cy="408542"/>
            <a:chOff x="5906472" y="1486857"/>
            <a:chExt cx="371800" cy="272361"/>
          </a:xfrm>
        </p:grpSpPr>
        <p:sp>
          <p:nvSpPr>
            <p:cNvPr id="92"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93"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nvGrpSpPr>
          <p:cNvPr id="94" name="Group 232">
            <a:extLst>
              <a:ext uri="{FF2B5EF4-FFF2-40B4-BE49-F238E27FC236}">
                <a16:creationId xmlns="" xmlns:a16="http://schemas.microsoft.com/office/drawing/2014/main" id="{34DCA6AC-E460-4F91-E17A-E4D1D9383A32}"/>
              </a:ext>
            </a:extLst>
          </p:cNvPr>
          <p:cNvGrpSpPr/>
          <p:nvPr/>
        </p:nvGrpSpPr>
        <p:grpSpPr>
          <a:xfrm>
            <a:off x="11293377" y="5484994"/>
            <a:ext cx="557700" cy="408542"/>
            <a:chOff x="5906472" y="1486857"/>
            <a:chExt cx="371800" cy="272361"/>
          </a:xfrm>
        </p:grpSpPr>
        <p:sp>
          <p:nvSpPr>
            <p:cNvPr id="95"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96"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grpSp>
        <p:nvGrpSpPr>
          <p:cNvPr id="97" name="Group 232">
            <a:extLst>
              <a:ext uri="{FF2B5EF4-FFF2-40B4-BE49-F238E27FC236}">
                <a16:creationId xmlns="" xmlns:a16="http://schemas.microsoft.com/office/drawing/2014/main" id="{34DCA6AC-E460-4F91-E17A-E4D1D9383A32}"/>
              </a:ext>
            </a:extLst>
          </p:cNvPr>
          <p:cNvGrpSpPr/>
          <p:nvPr/>
        </p:nvGrpSpPr>
        <p:grpSpPr>
          <a:xfrm>
            <a:off x="6457004" y="3362413"/>
            <a:ext cx="557700" cy="408542"/>
            <a:chOff x="5906472" y="1486857"/>
            <a:chExt cx="371800" cy="272361"/>
          </a:xfrm>
        </p:grpSpPr>
        <p:sp>
          <p:nvSpPr>
            <p:cNvPr id="98"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99"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100" name="Group 232">
            <a:extLst>
              <a:ext uri="{FF2B5EF4-FFF2-40B4-BE49-F238E27FC236}">
                <a16:creationId xmlns="" xmlns:a16="http://schemas.microsoft.com/office/drawing/2014/main" id="{34DCA6AC-E460-4F91-E17A-E4D1D9383A32}"/>
              </a:ext>
            </a:extLst>
          </p:cNvPr>
          <p:cNvGrpSpPr/>
          <p:nvPr/>
        </p:nvGrpSpPr>
        <p:grpSpPr>
          <a:xfrm>
            <a:off x="4244735" y="6405602"/>
            <a:ext cx="557700" cy="408542"/>
            <a:chOff x="5906472" y="1486857"/>
            <a:chExt cx="371800" cy="272361"/>
          </a:xfrm>
        </p:grpSpPr>
        <p:sp>
          <p:nvSpPr>
            <p:cNvPr id="101"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02"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103" name="Group 232">
            <a:extLst>
              <a:ext uri="{FF2B5EF4-FFF2-40B4-BE49-F238E27FC236}">
                <a16:creationId xmlns="" xmlns:a16="http://schemas.microsoft.com/office/drawing/2014/main" id="{34DCA6AC-E460-4F91-E17A-E4D1D9383A32}"/>
              </a:ext>
            </a:extLst>
          </p:cNvPr>
          <p:cNvGrpSpPr/>
          <p:nvPr/>
        </p:nvGrpSpPr>
        <p:grpSpPr>
          <a:xfrm>
            <a:off x="4214285" y="2059789"/>
            <a:ext cx="557700" cy="408542"/>
            <a:chOff x="5906472" y="1486857"/>
            <a:chExt cx="371800" cy="272361"/>
          </a:xfrm>
        </p:grpSpPr>
        <p:sp>
          <p:nvSpPr>
            <p:cNvPr id="104"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05"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nvGrpSpPr>
          <p:cNvPr id="106" name="Group 232">
            <a:extLst>
              <a:ext uri="{FF2B5EF4-FFF2-40B4-BE49-F238E27FC236}">
                <a16:creationId xmlns="" xmlns:a16="http://schemas.microsoft.com/office/drawing/2014/main" id="{34DCA6AC-E460-4F91-E17A-E4D1D9383A32}"/>
              </a:ext>
            </a:extLst>
          </p:cNvPr>
          <p:cNvGrpSpPr/>
          <p:nvPr/>
        </p:nvGrpSpPr>
        <p:grpSpPr>
          <a:xfrm>
            <a:off x="6415944" y="1982431"/>
            <a:ext cx="557700" cy="408542"/>
            <a:chOff x="5906472" y="1486857"/>
            <a:chExt cx="371800" cy="272361"/>
          </a:xfrm>
        </p:grpSpPr>
        <p:sp>
          <p:nvSpPr>
            <p:cNvPr id="107"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latin typeface="微軟正黑體" panose="020B0604030504040204" pitchFamily="34" charset="-120"/>
                <a:ea typeface="微軟正黑體" panose="020B0604030504040204" pitchFamily="34" charset="-120"/>
              </a:endParaRPr>
            </a:p>
          </p:txBody>
        </p:sp>
        <p:sp>
          <p:nvSpPr>
            <p:cNvPr id="108"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nvGrpSpPr>
          <p:cNvPr id="109" name="Group 232">
            <a:extLst>
              <a:ext uri="{FF2B5EF4-FFF2-40B4-BE49-F238E27FC236}">
                <a16:creationId xmlns="" xmlns:a16="http://schemas.microsoft.com/office/drawing/2014/main" id="{34DCA6AC-E460-4F91-E17A-E4D1D9383A32}"/>
              </a:ext>
            </a:extLst>
          </p:cNvPr>
          <p:cNvGrpSpPr/>
          <p:nvPr/>
        </p:nvGrpSpPr>
        <p:grpSpPr>
          <a:xfrm>
            <a:off x="6621684" y="6035932"/>
            <a:ext cx="557700" cy="408542"/>
            <a:chOff x="5906472" y="1486857"/>
            <a:chExt cx="371800" cy="272361"/>
          </a:xfrm>
        </p:grpSpPr>
        <p:sp>
          <p:nvSpPr>
            <p:cNvPr id="110"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11"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9</a:t>
              </a:r>
              <a:endParaRPr lang="zh-TW" altLang="en-US" sz="1500" dirty="0">
                <a:latin typeface="微軟正黑體" panose="020B0604030504040204" pitchFamily="34" charset="-120"/>
                <a:ea typeface="微軟正黑體" panose="020B0604030504040204" pitchFamily="34" charset="-120"/>
              </a:endParaRPr>
            </a:p>
          </p:txBody>
        </p:sp>
      </p:grpSp>
      <p:cxnSp>
        <p:nvCxnSpPr>
          <p:cNvPr id="116" name="Straight Connector 284">
            <a:extLst>
              <a:ext uri="{FF2B5EF4-FFF2-40B4-BE49-F238E27FC236}">
                <a16:creationId xmlns="" xmlns:a16="http://schemas.microsoft.com/office/drawing/2014/main" id="{CCB3D035-826A-6F8E-1D15-1A3E96F62413}"/>
              </a:ext>
            </a:extLst>
          </p:cNvPr>
          <p:cNvCxnSpPr>
            <a:cxnSpLocks/>
          </p:cNvCxnSpPr>
          <p:nvPr/>
        </p:nvCxnSpPr>
        <p:spPr>
          <a:xfrm>
            <a:off x="4660776" y="1347833"/>
            <a:ext cx="0" cy="88033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文字方塊 77">
            <a:extLst>
              <a:ext uri="{FF2B5EF4-FFF2-40B4-BE49-F238E27FC236}">
                <a16:creationId xmlns="" xmlns:a16="http://schemas.microsoft.com/office/drawing/2014/main" id="{5B29E6B0-847D-D73B-DD4A-9A49F2737E45}"/>
              </a:ext>
            </a:extLst>
          </p:cNvPr>
          <p:cNvSpPr txBox="1"/>
          <p:nvPr/>
        </p:nvSpPr>
        <p:spPr>
          <a:xfrm>
            <a:off x="2988261" y="6078616"/>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Tree>
    <p:extLst>
      <p:ext uri="{BB962C8B-B14F-4D97-AF65-F5344CB8AC3E}">
        <p14:creationId xmlns="" xmlns:p14="http://schemas.microsoft.com/office/powerpoint/2010/main" val="5199157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 xmlns:a16="http://schemas.microsoft.com/office/drawing/2014/main" id="{83E6F622-2FBE-CC67-50FE-4ABD7D8B9696}"/>
              </a:ext>
            </a:extLst>
          </p:cNvPr>
          <p:cNvSpPr txBox="1"/>
          <p:nvPr/>
        </p:nvSpPr>
        <p:spPr>
          <a:xfrm>
            <a:off x="2444079" y="781121"/>
            <a:ext cx="9881566"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MM-PU-0040-03 </a:t>
            </a:r>
            <a:r>
              <a:rPr lang="zh-TW" altLang="en-US" sz="2400" b="1" dirty="0">
                <a:latin typeface="微軟正黑體" panose="020B0604030504040204" pitchFamily="34" charset="-120"/>
                <a:ea typeface="微軟正黑體" panose="020B0604030504040204" pitchFamily="34" charset="-120"/>
              </a:rPr>
              <a:t>庶務請採購驗流程</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庶務費用類</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需點收項目</a:t>
            </a:r>
            <a:r>
              <a:rPr lang="en-US" altLang="zh-TW" sz="2400" b="1" dirty="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 xmlns:a16="http://schemas.microsoft.com/office/drawing/2014/main" id="{E114DEFF-4464-1230-5102-DAAA05109B8A}"/>
              </a:ext>
            </a:extLst>
          </p:cNvPr>
          <p:cNvSpPr txBox="1"/>
          <p:nvPr/>
        </p:nvSpPr>
        <p:spPr>
          <a:xfrm>
            <a:off x="2507268" y="1391440"/>
            <a:ext cx="2020344" cy="346249"/>
          </a:xfrm>
          <a:prstGeom prst="rect">
            <a:avLst/>
          </a:prstGeom>
          <a:noFill/>
        </p:spPr>
        <p:txBody>
          <a:bodyPr wrap="square" rtlCol="0">
            <a:spAutoFit/>
          </a:bodyPr>
          <a:lstStyle/>
          <a:p>
            <a:pPr algn="ctr"/>
            <a:r>
              <a:rPr lang="zh-TW" altLang="en-US" sz="1650" dirty="0"/>
              <a:t>各廠區申請人</a:t>
            </a:r>
          </a:p>
        </p:txBody>
      </p:sp>
      <p:cxnSp>
        <p:nvCxnSpPr>
          <p:cNvPr id="16" name="Straight Connector 284">
            <a:extLst>
              <a:ext uri="{FF2B5EF4-FFF2-40B4-BE49-F238E27FC236}">
                <a16:creationId xmlns="" xmlns:a16="http://schemas.microsoft.com/office/drawing/2014/main" id="{3343F13F-0020-F344-5B28-F9AEB09CA3FA}"/>
              </a:ext>
            </a:extLst>
          </p:cNvPr>
          <p:cNvCxnSpPr>
            <a:cxnSpLocks/>
          </p:cNvCxnSpPr>
          <p:nvPr/>
        </p:nvCxnSpPr>
        <p:spPr>
          <a:xfrm>
            <a:off x="6929480" y="1342766"/>
            <a:ext cx="0" cy="88083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字方塊 17">
            <a:extLst>
              <a:ext uri="{FF2B5EF4-FFF2-40B4-BE49-F238E27FC236}">
                <a16:creationId xmlns="" xmlns:a16="http://schemas.microsoft.com/office/drawing/2014/main" id="{DE52170D-3194-E094-D743-3842F95326FE}"/>
              </a:ext>
            </a:extLst>
          </p:cNvPr>
          <p:cNvSpPr txBox="1"/>
          <p:nvPr/>
        </p:nvSpPr>
        <p:spPr>
          <a:xfrm>
            <a:off x="6555407" y="1379658"/>
            <a:ext cx="2751068" cy="346249"/>
          </a:xfrm>
          <a:prstGeom prst="rect">
            <a:avLst/>
          </a:prstGeom>
          <a:noFill/>
        </p:spPr>
        <p:txBody>
          <a:bodyPr wrap="square" rtlCol="0">
            <a:spAutoFit/>
          </a:bodyPr>
          <a:lstStyle/>
          <a:p>
            <a:pPr algn="ctr"/>
            <a:r>
              <a:rPr lang="zh-TW" altLang="en-US" sz="1650" dirty="0"/>
              <a:t>廠區管理部</a:t>
            </a:r>
          </a:p>
        </p:txBody>
      </p:sp>
      <p:cxnSp>
        <p:nvCxnSpPr>
          <p:cNvPr id="209" name="Straight Connector 284">
            <a:extLst>
              <a:ext uri="{FF2B5EF4-FFF2-40B4-BE49-F238E27FC236}">
                <a16:creationId xmlns="" xmlns:a16="http://schemas.microsoft.com/office/drawing/2014/main" id="{CCB3D035-826A-6F8E-1D15-1A3E96F62413}"/>
              </a:ext>
            </a:extLst>
          </p:cNvPr>
          <p:cNvCxnSpPr>
            <a:cxnSpLocks/>
          </p:cNvCxnSpPr>
          <p:nvPr/>
        </p:nvCxnSpPr>
        <p:spPr>
          <a:xfrm flipH="1">
            <a:off x="4682621" y="1345029"/>
            <a:ext cx="165" cy="8806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0" name="文字方塊 17">
            <a:extLst>
              <a:ext uri="{FF2B5EF4-FFF2-40B4-BE49-F238E27FC236}">
                <a16:creationId xmlns="" xmlns:a16="http://schemas.microsoft.com/office/drawing/2014/main" id="{306A0461-FB0A-6B8E-26F4-F4121B822258}"/>
              </a:ext>
            </a:extLst>
          </p:cNvPr>
          <p:cNvSpPr txBox="1"/>
          <p:nvPr/>
        </p:nvSpPr>
        <p:spPr>
          <a:xfrm>
            <a:off x="4682621" y="1393324"/>
            <a:ext cx="2247983" cy="346249"/>
          </a:xfrm>
          <a:prstGeom prst="rect">
            <a:avLst/>
          </a:prstGeom>
          <a:noFill/>
        </p:spPr>
        <p:txBody>
          <a:bodyPr wrap="square" rtlCol="0">
            <a:spAutoFit/>
          </a:bodyPr>
          <a:lstStyle/>
          <a:p>
            <a:pPr algn="ctr"/>
            <a:r>
              <a:rPr lang="zh-TW" altLang="en-US" sz="1650" dirty="0"/>
              <a:t>處主管</a:t>
            </a:r>
          </a:p>
        </p:txBody>
      </p:sp>
      <p:sp>
        <p:nvSpPr>
          <p:cNvPr id="227" name="TextBox 53">
            <a:extLst>
              <a:ext uri="{FF2B5EF4-FFF2-40B4-BE49-F238E27FC236}">
                <a16:creationId xmlns="" xmlns:a16="http://schemas.microsoft.com/office/drawing/2014/main" id="{DF940026-96D7-3867-6425-C228DF3D29BF}"/>
              </a:ext>
            </a:extLst>
          </p:cNvPr>
          <p:cNvSpPr txBox="1"/>
          <p:nvPr/>
        </p:nvSpPr>
        <p:spPr>
          <a:xfrm>
            <a:off x="14380627" y="2064631"/>
            <a:ext cx="3594197" cy="4801314"/>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各廠區申請人</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表單</a:t>
            </a:r>
            <a:r>
              <a:rPr lang="en-US" altLang="zh-TW" dirty="0">
                <a:latin typeface="微軟正黑體" panose="020B0604030504040204" pitchFamily="34" charset="-120"/>
                <a:ea typeface="微軟正黑體" panose="020B0604030504040204" pitchFamily="34" charset="-120"/>
              </a:rPr>
              <a:t>ZMMT079</a:t>
            </a:r>
            <a:r>
              <a:rPr lang="zh-TW" altLang="en-US" dirty="0">
                <a:latin typeface="微軟正黑體" panose="020B0604030504040204" pitchFamily="34" charset="-120"/>
                <a:ea typeface="微軟正黑體" panose="020B0604030504040204" pitchFamily="34" charset="-120"/>
              </a:rPr>
              <a:t>作請購申請 ，進行簽核流程。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上簽核請購申請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核准後的申請單，透過程式產生</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採購將請購單轉採購單，必要時進行詢價，或直接在採購單上填入單價。</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透過程式</a:t>
            </a:r>
            <a:r>
              <a:rPr lang="en-US" altLang="zh-TW" dirty="0">
                <a:latin typeface="微軟正黑體" panose="020B0604030504040204" pitchFamily="34" charset="-120"/>
                <a:ea typeface="微軟正黑體" panose="020B0604030504040204" pitchFamily="34" charset="-120"/>
              </a:rPr>
              <a:t>ZMM019</a:t>
            </a:r>
            <a:r>
              <a:rPr lang="zh-TW" altLang="en-US" dirty="0">
                <a:latin typeface="微軟正黑體" panose="020B0604030504040204" pitchFamily="34" charset="-120"/>
                <a:ea typeface="微軟正黑體" panose="020B0604030504040204" pitchFamily="34" charset="-120"/>
              </a:rPr>
              <a:t>把資料匯入</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發起採購單</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簽核</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p:txBody>
      </p:sp>
      <p:sp>
        <p:nvSpPr>
          <p:cNvPr id="7" name="流程圖: 結束點 8">
            <a:extLst>
              <a:ext uri="{FF2B5EF4-FFF2-40B4-BE49-F238E27FC236}">
                <a16:creationId xmlns="" xmlns:a16="http://schemas.microsoft.com/office/drawing/2014/main" id="{A0DBA237-CDB5-528B-0345-5BE2CBAC9775}"/>
              </a:ext>
            </a:extLst>
          </p:cNvPr>
          <p:cNvSpPr/>
          <p:nvPr/>
        </p:nvSpPr>
        <p:spPr bwMode="auto">
          <a:xfrm>
            <a:off x="279411" y="2294400"/>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cxnSp>
        <p:nvCxnSpPr>
          <p:cNvPr id="42" name="Straight Connector 284">
            <a:extLst>
              <a:ext uri="{FF2B5EF4-FFF2-40B4-BE49-F238E27FC236}">
                <a16:creationId xmlns="" xmlns:a16="http://schemas.microsoft.com/office/drawing/2014/main" id="{3E7471C9-C79F-A59B-27B9-5790F81098EC}"/>
              </a:ext>
            </a:extLst>
          </p:cNvPr>
          <p:cNvCxnSpPr>
            <a:cxnSpLocks/>
          </p:cNvCxnSpPr>
          <p:nvPr/>
        </p:nvCxnSpPr>
        <p:spPr>
          <a:xfrm>
            <a:off x="9462575" y="1351847"/>
            <a:ext cx="0" cy="87993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文字方塊 17">
            <a:extLst>
              <a:ext uri="{FF2B5EF4-FFF2-40B4-BE49-F238E27FC236}">
                <a16:creationId xmlns="" xmlns:a16="http://schemas.microsoft.com/office/drawing/2014/main" id="{74230685-A68A-FF25-7F32-00D3D357308E}"/>
              </a:ext>
            </a:extLst>
          </p:cNvPr>
          <p:cNvSpPr txBox="1"/>
          <p:nvPr/>
        </p:nvSpPr>
        <p:spPr>
          <a:xfrm>
            <a:off x="9407945" y="1397413"/>
            <a:ext cx="2188308" cy="346249"/>
          </a:xfrm>
          <a:prstGeom prst="rect">
            <a:avLst/>
          </a:prstGeom>
          <a:noFill/>
        </p:spPr>
        <p:txBody>
          <a:bodyPr wrap="square" rtlCol="0">
            <a:spAutoFit/>
          </a:bodyPr>
          <a:lstStyle/>
          <a:p>
            <a:pPr algn="ctr"/>
            <a:r>
              <a:rPr lang="zh-TW" altLang="en-US" sz="1650" dirty="0"/>
              <a:t>庶務採購</a:t>
            </a:r>
          </a:p>
        </p:txBody>
      </p:sp>
      <p:sp>
        <p:nvSpPr>
          <p:cNvPr id="2" name="矩形 1"/>
          <p:cNvSpPr/>
          <p:nvPr/>
        </p:nvSpPr>
        <p:spPr>
          <a:xfrm>
            <a:off x="15467533" y="444704"/>
            <a:ext cx="296876" cy="323165"/>
          </a:xfrm>
          <a:prstGeom prst="rect">
            <a:avLst/>
          </a:prstGeom>
        </p:spPr>
        <p:txBody>
          <a:bodyPr wrap="none">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p>
        </p:txBody>
      </p:sp>
      <p:sp>
        <p:nvSpPr>
          <p:cNvPr id="55" name="流程圖: 結束點 8">
            <a:extLst>
              <a:ext uri="{FF2B5EF4-FFF2-40B4-BE49-F238E27FC236}">
                <a16:creationId xmlns="" xmlns:a16="http://schemas.microsoft.com/office/drawing/2014/main" id="{1FB9514E-6261-C7AC-D58E-6A5F2E6F81FD}"/>
              </a:ext>
            </a:extLst>
          </p:cNvPr>
          <p:cNvSpPr/>
          <p:nvPr/>
        </p:nvSpPr>
        <p:spPr bwMode="auto">
          <a:xfrm>
            <a:off x="12232881" y="8828481"/>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56" name="肘形接點 68">
            <a:extLst>
              <a:ext uri="{FF2B5EF4-FFF2-40B4-BE49-F238E27FC236}">
                <a16:creationId xmlns="" xmlns:a16="http://schemas.microsoft.com/office/drawing/2014/main" id="{3C63507D-83FD-0025-3EF4-B6F87A20780B}"/>
              </a:ext>
            </a:extLst>
          </p:cNvPr>
          <p:cNvCxnSpPr>
            <a:cxnSpLocks/>
            <a:stCxn id="79" idx="2"/>
            <a:endCxn id="55" idx="1"/>
          </p:cNvCxnSpPr>
          <p:nvPr/>
        </p:nvCxnSpPr>
        <p:spPr>
          <a:xfrm rot="16200000" flipH="1">
            <a:off x="7925636" y="4912458"/>
            <a:ext cx="2159950" cy="645454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60" name="表格 30">
            <a:extLst>
              <a:ext uri="{FF2B5EF4-FFF2-40B4-BE49-F238E27FC236}">
                <a16:creationId xmlns="" xmlns:a16="http://schemas.microsoft.com/office/drawing/2014/main" id="{D50514A0-AA46-1916-EFBB-5F1C0FA347E6}"/>
              </a:ext>
            </a:extLst>
          </p:cNvPr>
          <p:cNvGraphicFramePr>
            <a:graphicFrameLocks noGrp="1"/>
          </p:cNvGraphicFramePr>
          <p:nvPr/>
        </p:nvGraphicFramePr>
        <p:xfrm>
          <a:off x="9880857" y="5277311"/>
          <a:ext cx="1774440" cy="1238400"/>
        </p:xfrm>
        <a:graphic>
          <a:graphicData uri="http://schemas.openxmlformats.org/drawingml/2006/table">
            <a:tbl>
              <a:tblPr>
                <a:tableStyleId>{5940675A-B579-460E-94D1-54222C63F5DA}</a:tableStyleId>
              </a:tblPr>
              <a:tblGrid>
                <a:gridCol w="887220">
                  <a:extLst>
                    <a:ext uri="{9D8B030D-6E8A-4147-A177-3AD203B41FA5}">
                      <a16:colId xmlns="" xmlns:a16="http://schemas.microsoft.com/office/drawing/2014/main" val="3433979995"/>
                    </a:ext>
                  </a:extLst>
                </a:gridCol>
                <a:gridCol w="887220">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a:t>
                      </a:r>
                      <a:r>
                        <a:rPr lang="en-US" altLang="zh-TW" sz="1500" b="1" dirty="0">
                          <a:solidFill>
                            <a:schemeClr val="tx1"/>
                          </a:solidFill>
                          <a:latin typeface="微軟正黑體" panose="020B0604030504040204" pitchFamily="34" charset="-120"/>
                          <a:ea typeface="微軟正黑體" panose="020B0604030504040204" pitchFamily="34" charset="-120"/>
                        </a:rPr>
                        <a:t>MM019</a:t>
                      </a: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採購單發起</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61" name="流程圖: 換頁接點 52">
            <a:extLst>
              <a:ext uri="{FF2B5EF4-FFF2-40B4-BE49-F238E27FC236}">
                <a16:creationId xmlns="" xmlns:a16="http://schemas.microsoft.com/office/drawing/2014/main" id="{81294BE7-C300-D1CD-4376-34B54DFCC2AF}"/>
              </a:ext>
            </a:extLst>
          </p:cNvPr>
          <p:cNvSpPr/>
          <p:nvPr/>
        </p:nvSpPr>
        <p:spPr bwMode="auto">
          <a:xfrm>
            <a:off x="13072045" y="7295557"/>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P4</a:t>
            </a:r>
            <a:endParaRPr lang="zh-TW" altLang="en-US" dirty="0">
              <a:latin typeface="微軟正黑體" panose="020B0604030504040204" pitchFamily="34" charset="-120"/>
              <a:ea typeface="微軟正黑體" panose="020B0604030504040204" pitchFamily="34" charset="-120"/>
            </a:endParaRPr>
          </a:p>
        </p:txBody>
      </p:sp>
      <p:graphicFrame>
        <p:nvGraphicFramePr>
          <p:cNvPr id="62" name="表格 30">
            <a:extLst>
              <a:ext uri="{FF2B5EF4-FFF2-40B4-BE49-F238E27FC236}">
                <a16:creationId xmlns="" xmlns:a16="http://schemas.microsoft.com/office/drawing/2014/main" id="{8FFD2A81-4A9E-74F7-E48F-FEBE8A7AB464}"/>
              </a:ext>
            </a:extLst>
          </p:cNvPr>
          <p:cNvGraphicFramePr>
            <a:graphicFrameLocks noGrp="1"/>
          </p:cNvGraphicFramePr>
          <p:nvPr/>
        </p:nvGraphicFramePr>
        <p:xfrm>
          <a:off x="9864761" y="3601652"/>
          <a:ext cx="1818966" cy="1238400"/>
        </p:xfrm>
        <a:graphic>
          <a:graphicData uri="http://schemas.openxmlformats.org/drawingml/2006/table">
            <a:tbl>
              <a:tblPr>
                <a:tableStyleId>{5940675A-B579-460E-94D1-54222C63F5DA}</a:tableStyleId>
              </a:tblPr>
              <a:tblGrid>
                <a:gridCol w="909483">
                  <a:extLst>
                    <a:ext uri="{9D8B030D-6E8A-4147-A177-3AD203B41FA5}">
                      <a16:colId xmlns="" xmlns:a16="http://schemas.microsoft.com/office/drawing/2014/main" val="3433979995"/>
                    </a:ext>
                  </a:extLst>
                </a:gridCol>
                <a:gridCol w="909483">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ME21N</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請購轉採購單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63" name="Group 220">
            <a:extLst>
              <a:ext uri="{FF2B5EF4-FFF2-40B4-BE49-F238E27FC236}">
                <a16:creationId xmlns="" xmlns:a16="http://schemas.microsoft.com/office/drawing/2014/main" id="{A996302A-92F3-7B59-12E7-0AC211B790E7}"/>
              </a:ext>
            </a:extLst>
          </p:cNvPr>
          <p:cNvGrpSpPr/>
          <p:nvPr/>
        </p:nvGrpSpPr>
        <p:grpSpPr>
          <a:xfrm>
            <a:off x="11394845" y="3439916"/>
            <a:ext cx="533400" cy="408542"/>
            <a:chOff x="5895979" y="1486857"/>
            <a:chExt cx="355600" cy="272361"/>
          </a:xfrm>
        </p:grpSpPr>
        <p:sp>
          <p:nvSpPr>
            <p:cNvPr id="64" name="Oval 221">
              <a:extLst>
                <a:ext uri="{FF2B5EF4-FFF2-40B4-BE49-F238E27FC236}">
                  <a16:creationId xmlns="" xmlns:a16="http://schemas.microsoft.com/office/drawing/2014/main" id="{B4CE644E-2B3A-3599-38B4-4C91E6C4B30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65" name="TextBox 222">
              <a:extLst>
                <a:ext uri="{FF2B5EF4-FFF2-40B4-BE49-F238E27FC236}">
                  <a16:creationId xmlns="" xmlns:a16="http://schemas.microsoft.com/office/drawing/2014/main" id="{39CA8549-2829-36F3-30B6-26DDDD879D6F}"/>
                </a:ext>
              </a:extLst>
            </p:cNvPr>
            <p:cNvSpPr txBox="1"/>
            <p:nvPr/>
          </p:nvSpPr>
          <p:spPr>
            <a:xfrm>
              <a:off x="5895979" y="1507079"/>
              <a:ext cx="355600" cy="215443"/>
            </a:xfrm>
            <a:prstGeom prst="rect">
              <a:avLst/>
            </a:prstGeom>
            <a:noFill/>
          </p:spPr>
          <p:txBody>
            <a:bodyPr wrap="square" rtlCol="0">
              <a:spAutoFit/>
            </a:bodyPr>
            <a:lstStyle/>
            <a:p>
              <a:r>
                <a:rPr lang="zh-TW" altLang="en-US" sz="1500" dirty="0">
                  <a:latin typeface="微軟正黑體" panose="020B0604030504040204" pitchFamily="34" charset="-120"/>
                  <a:ea typeface="微軟正黑體" panose="020B0604030504040204" pitchFamily="34" charset="-120"/>
                </a:rPr>
                <a:t>４</a:t>
              </a:r>
            </a:p>
          </p:txBody>
        </p:sp>
      </p:grpSp>
      <p:cxnSp>
        <p:nvCxnSpPr>
          <p:cNvPr id="66" name="肘形接點 68">
            <a:extLst>
              <a:ext uri="{FF2B5EF4-FFF2-40B4-BE49-F238E27FC236}">
                <a16:creationId xmlns="" xmlns:a16="http://schemas.microsoft.com/office/drawing/2014/main" id="{54940F5E-4C2F-3950-FC71-216A17BBB629}"/>
              </a:ext>
            </a:extLst>
          </p:cNvPr>
          <p:cNvCxnSpPr>
            <a:cxnSpLocks/>
            <a:stCxn id="62" idx="2"/>
            <a:endCxn id="60" idx="0"/>
          </p:cNvCxnSpPr>
          <p:nvPr/>
        </p:nvCxnSpPr>
        <p:spPr>
          <a:xfrm rot="5400000">
            <a:off x="10552532" y="5055600"/>
            <a:ext cx="437259" cy="616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7" name="肘形接點 68">
            <a:extLst>
              <a:ext uri="{FF2B5EF4-FFF2-40B4-BE49-F238E27FC236}">
                <a16:creationId xmlns="" xmlns:a16="http://schemas.microsoft.com/office/drawing/2014/main" id="{448AD0D0-260C-EB70-0D8F-37D06631CF68}"/>
              </a:ext>
            </a:extLst>
          </p:cNvPr>
          <p:cNvCxnSpPr>
            <a:cxnSpLocks/>
            <a:stCxn id="60" idx="2"/>
            <a:endCxn id="61" idx="1"/>
          </p:cNvCxnSpPr>
          <p:nvPr/>
        </p:nvCxnSpPr>
        <p:spPr>
          <a:xfrm rot="16200000" flipH="1">
            <a:off x="11413313" y="5870476"/>
            <a:ext cx="1013498" cy="230396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pSp>
        <p:nvGrpSpPr>
          <p:cNvPr id="68" name="Group 220">
            <a:extLst>
              <a:ext uri="{FF2B5EF4-FFF2-40B4-BE49-F238E27FC236}">
                <a16:creationId xmlns="" xmlns:a16="http://schemas.microsoft.com/office/drawing/2014/main" id="{56A53D60-F177-B66D-1052-09F00D9EB829}"/>
              </a:ext>
            </a:extLst>
          </p:cNvPr>
          <p:cNvGrpSpPr/>
          <p:nvPr/>
        </p:nvGrpSpPr>
        <p:grpSpPr>
          <a:xfrm>
            <a:off x="11402367" y="5071558"/>
            <a:ext cx="533400" cy="408542"/>
            <a:chOff x="5900994" y="1486857"/>
            <a:chExt cx="355600" cy="272361"/>
          </a:xfrm>
        </p:grpSpPr>
        <p:sp>
          <p:nvSpPr>
            <p:cNvPr id="69" name="Oval 221">
              <a:extLst>
                <a:ext uri="{FF2B5EF4-FFF2-40B4-BE49-F238E27FC236}">
                  <a16:creationId xmlns="" xmlns:a16="http://schemas.microsoft.com/office/drawing/2014/main" id="{1026EB19-175E-BAE9-2573-E214F8CC61B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70" name="TextBox 222">
              <a:extLst>
                <a:ext uri="{FF2B5EF4-FFF2-40B4-BE49-F238E27FC236}">
                  <a16:creationId xmlns="" xmlns:a16="http://schemas.microsoft.com/office/drawing/2014/main" id="{58D156B1-9578-40C0-E02B-A11714005BD3}"/>
                </a:ext>
              </a:extLst>
            </p:cNvPr>
            <p:cNvSpPr txBox="1"/>
            <p:nvPr/>
          </p:nvSpPr>
          <p:spPr>
            <a:xfrm>
              <a:off x="5900994" y="1507079"/>
              <a:ext cx="355600" cy="215443"/>
            </a:xfrm>
            <a:prstGeom prst="rect">
              <a:avLst/>
            </a:prstGeom>
            <a:noFill/>
          </p:spPr>
          <p:txBody>
            <a:bodyPr wrap="square" rtlCol="0">
              <a:spAutoFit/>
            </a:bodyPr>
            <a:lstStyle/>
            <a:p>
              <a:r>
                <a:rPr lang="zh-TW" altLang="en-US" sz="1500" dirty="0">
                  <a:latin typeface="微軟正黑體" panose="020B0604030504040204" pitchFamily="34" charset="-120"/>
                  <a:ea typeface="微軟正黑體" panose="020B0604030504040204" pitchFamily="34" charset="-120"/>
                </a:rPr>
                <a:t>５</a:t>
              </a:r>
            </a:p>
          </p:txBody>
        </p:sp>
      </p:grpSp>
      <p:graphicFrame>
        <p:nvGraphicFramePr>
          <p:cNvPr id="71" name="表格 30">
            <a:extLst>
              <a:ext uri="{FF2B5EF4-FFF2-40B4-BE49-F238E27FC236}">
                <a16:creationId xmlns="" xmlns:a16="http://schemas.microsoft.com/office/drawing/2014/main" id="{18197701-0564-3E2B-648E-413A6C8BBE0A}"/>
              </a:ext>
            </a:extLst>
          </p:cNvPr>
          <p:cNvGraphicFramePr>
            <a:graphicFrameLocks noGrp="1"/>
          </p:cNvGraphicFramePr>
          <p:nvPr/>
        </p:nvGraphicFramePr>
        <p:xfrm>
          <a:off x="2624027" y="1977859"/>
          <a:ext cx="1809828" cy="1222084"/>
        </p:xfrm>
        <a:graphic>
          <a:graphicData uri="http://schemas.openxmlformats.org/drawingml/2006/table">
            <a:tbl>
              <a:tblPr>
                <a:tableStyleId>{5940675A-B579-460E-94D1-54222C63F5DA}</a:tableStyleId>
              </a:tblPr>
              <a:tblGrid>
                <a:gridCol w="904914">
                  <a:extLst>
                    <a:ext uri="{9D8B030D-6E8A-4147-A177-3AD203B41FA5}">
                      <a16:colId xmlns="" xmlns:a16="http://schemas.microsoft.com/office/drawing/2014/main" val="3433979995"/>
                    </a:ext>
                  </a:extLst>
                </a:gridCol>
                <a:gridCol w="904914">
                  <a:extLst>
                    <a:ext uri="{9D8B030D-6E8A-4147-A177-3AD203B41FA5}">
                      <a16:colId xmlns="" xmlns:a16="http://schemas.microsoft.com/office/drawing/2014/main" val="3727974752"/>
                    </a:ext>
                  </a:extLst>
                </a:gridCol>
              </a:tblGrid>
              <a:tr h="330432">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sz="1400" b="1" dirty="0">
                        <a:solidFill>
                          <a:schemeClr val="tx1"/>
                        </a:solidFill>
                        <a:latin typeface="微軟正黑體" panose="020B0604030504040204" pitchFamily="34" charset="-120"/>
                        <a:ea typeface="微軟正黑體" panose="020B0604030504040204" pitchFamily="34" charset="-120"/>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72490">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建立請購單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3921">
                <a:tc>
                  <a:txBody>
                    <a:bodyPr/>
                    <a:lstStyle/>
                    <a:p>
                      <a:pPr algn="ctr"/>
                      <a:r>
                        <a:rPr lang="en-US" sz="1400" dirty="0">
                          <a:latin typeface="微軟正黑體" panose="020B0604030504040204" pitchFamily="34" charset="-120"/>
                          <a:ea typeface="微軟正黑體" panose="020B0604030504040204" pitchFamily="34" charset="-120"/>
                        </a:rPr>
                        <a:t>BPM</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72" name="肘形接點 68">
            <a:extLst>
              <a:ext uri="{FF2B5EF4-FFF2-40B4-BE49-F238E27FC236}">
                <a16:creationId xmlns="" xmlns:a16="http://schemas.microsoft.com/office/drawing/2014/main" id="{8E184E7B-49D4-0B0F-DFF1-32CCB2A9AB0C}"/>
              </a:ext>
            </a:extLst>
          </p:cNvPr>
          <p:cNvCxnSpPr>
            <a:cxnSpLocks/>
            <a:stCxn id="88" idx="2"/>
            <a:endCxn id="79" idx="0"/>
          </p:cNvCxnSpPr>
          <p:nvPr/>
        </p:nvCxnSpPr>
        <p:spPr>
          <a:xfrm rot="5400000">
            <a:off x="5022050" y="5584025"/>
            <a:ext cx="1519819" cy="723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3" name="肘形接點 68">
            <a:extLst>
              <a:ext uri="{FF2B5EF4-FFF2-40B4-BE49-F238E27FC236}">
                <a16:creationId xmlns="" xmlns:a16="http://schemas.microsoft.com/office/drawing/2014/main" id="{70F961FE-0AA7-D2B8-F257-ECB0C3D45D2D}"/>
              </a:ext>
            </a:extLst>
          </p:cNvPr>
          <p:cNvCxnSpPr>
            <a:cxnSpLocks/>
            <a:endCxn id="71" idx="1"/>
          </p:cNvCxnSpPr>
          <p:nvPr/>
        </p:nvCxnSpPr>
        <p:spPr>
          <a:xfrm>
            <a:off x="2077243" y="2576986"/>
            <a:ext cx="546784" cy="1191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8" name="肘形接點 68">
            <a:extLst>
              <a:ext uri="{FF2B5EF4-FFF2-40B4-BE49-F238E27FC236}">
                <a16:creationId xmlns="" xmlns:a16="http://schemas.microsoft.com/office/drawing/2014/main" id="{5D236408-3F02-99D0-9ECC-DC4D4E746909}"/>
              </a:ext>
            </a:extLst>
          </p:cNvPr>
          <p:cNvCxnSpPr>
            <a:cxnSpLocks/>
            <a:stCxn id="71" idx="2"/>
            <a:endCxn id="88" idx="1"/>
          </p:cNvCxnSpPr>
          <p:nvPr/>
        </p:nvCxnSpPr>
        <p:spPr>
          <a:xfrm rot="16200000" flipH="1">
            <a:off x="3660212" y="3068672"/>
            <a:ext cx="1095178" cy="135772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9" name="流程圖: 決策 50">
            <a:extLst>
              <a:ext uri="{FF2B5EF4-FFF2-40B4-BE49-F238E27FC236}">
                <a16:creationId xmlns="" xmlns:a16="http://schemas.microsoft.com/office/drawing/2014/main" id="{8037CA89-DBE3-1441-8E4C-7EA04E993D61}"/>
              </a:ext>
            </a:extLst>
          </p:cNvPr>
          <p:cNvSpPr/>
          <p:nvPr/>
        </p:nvSpPr>
        <p:spPr bwMode="auto">
          <a:xfrm>
            <a:off x="4857366" y="6347553"/>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cxnSp>
        <p:nvCxnSpPr>
          <p:cNvPr id="80" name="肘形接點 68">
            <a:extLst>
              <a:ext uri="{FF2B5EF4-FFF2-40B4-BE49-F238E27FC236}">
                <a16:creationId xmlns="" xmlns:a16="http://schemas.microsoft.com/office/drawing/2014/main" id="{2AA47122-2BF1-7633-656B-9B6710026CD9}"/>
              </a:ext>
            </a:extLst>
          </p:cNvPr>
          <p:cNvCxnSpPr>
            <a:cxnSpLocks/>
            <a:stCxn id="79" idx="1"/>
            <a:endCxn id="81" idx="3"/>
          </p:cNvCxnSpPr>
          <p:nvPr/>
        </p:nvCxnSpPr>
        <p:spPr>
          <a:xfrm rot="10800000">
            <a:off x="4426166" y="6700965"/>
            <a:ext cx="431200" cy="268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81" name="表格 30">
            <a:extLst>
              <a:ext uri="{FF2B5EF4-FFF2-40B4-BE49-F238E27FC236}">
                <a16:creationId xmlns="" xmlns:a16="http://schemas.microsoft.com/office/drawing/2014/main" id="{E2D1DE07-F765-0D8A-0A3C-D52A5A690ECB}"/>
              </a:ext>
            </a:extLst>
          </p:cNvPr>
          <p:cNvGraphicFramePr>
            <a:graphicFrameLocks noGrp="1"/>
          </p:cNvGraphicFramePr>
          <p:nvPr>
            <p:extLst>
              <p:ext uri="{D42A27DB-BD31-4B8C-83A1-F6EECF244321}">
                <p14:modId xmlns="" xmlns:p14="http://schemas.microsoft.com/office/powerpoint/2010/main" val="490920710"/>
              </p:ext>
            </p:extLst>
          </p:nvPr>
        </p:nvGraphicFramePr>
        <p:xfrm>
          <a:off x="2624026" y="5871610"/>
          <a:ext cx="1802140" cy="1658709"/>
        </p:xfrm>
        <a:graphic>
          <a:graphicData uri="http://schemas.openxmlformats.org/drawingml/2006/table">
            <a:tbl>
              <a:tblPr>
                <a:tableStyleId>{5940675A-B579-460E-94D1-54222C63F5DA}</a:tableStyleId>
              </a:tblPr>
              <a:tblGrid>
                <a:gridCol w="901070">
                  <a:extLst>
                    <a:ext uri="{9D8B030D-6E8A-4147-A177-3AD203B41FA5}">
                      <a16:colId xmlns="" xmlns:a16="http://schemas.microsoft.com/office/drawing/2014/main" val="3433979995"/>
                    </a:ext>
                  </a:extLst>
                </a:gridCol>
                <a:gridCol w="901070">
                  <a:extLst>
                    <a:ext uri="{9D8B030D-6E8A-4147-A177-3AD203B41FA5}">
                      <a16:colId xmlns="" xmlns:a16="http://schemas.microsoft.com/office/drawing/2014/main" val="3727974752"/>
                    </a:ext>
                  </a:extLst>
                </a:gridCol>
              </a:tblGrid>
              <a:tr h="349275">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dirty="0">
                          <a:solidFill>
                            <a:schemeClr val="tx1"/>
                          </a:solidFill>
                          <a:latin typeface="微軟正黑體" panose="020B0604030504040204" pitchFamily="34" charset="-120"/>
                          <a:ea typeface="微軟正黑體" panose="020B0604030504040204" pitchFamily="34" charset="-120"/>
                        </a:rPr>
                        <a:t>INTERFACE_</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1" dirty="0">
                          <a:solidFill>
                            <a:schemeClr val="tx1"/>
                          </a:solidFill>
                          <a:latin typeface="微軟正黑體" panose="020B0604030504040204" pitchFamily="34" charset="-120"/>
                          <a:ea typeface="微軟正黑體" panose="020B0604030504040204" pitchFamily="34" charset="-120"/>
                        </a:rPr>
                        <a:t>ZMM079</a:t>
                      </a:r>
                      <a:endParaRPr lang="en-GB" altLang="zh-TW" sz="1400" b="1" dirty="0">
                        <a:solidFill>
                          <a:schemeClr val="tx1"/>
                        </a:solidFill>
                        <a:latin typeface="微軟正黑體" panose="020B0604030504040204" pitchFamily="34" charset="-120"/>
                        <a:ea typeface="微軟正黑體" panose="020B0604030504040204" pitchFamily="34" charset="-120"/>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785868">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建立請購單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21429">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82" name="肘形接點 68">
            <a:extLst>
              <a:ext uri="{FF2B5EF4-FFF2-40B4-BE49-F238E27FC236}">
                <a16:creationId xmlns="" xmlns:a16="http://schemas.microsoft.com/office/drawing/2014/main" id="{6710C215-D2A9-AE8A-C825-CAB394FDF69B}"/>
              </a:ext>
            </a:extLst>
          </p:cNvPr>
          <p:cNvCxnSpPr>
            <a:cxnSpLocks/>
            <a:stCxn id="81" idx="2"/>
            <a:endCxn id="92" idx="0"/>
          </p:cNvCxnSpPr>
          <p:nvPr/>
        </p:nvCxnSpPr>
        <p:spPr>
          <a:xfrm rot="5400000">
            <a:off x="3202704" y="7845051"/>
            <a:ext cx="637125" cy="766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83" name="文字方塊 82">
            <a:extLst>
              <a:ext uri="{FF2B5EF4-FFF2-40B4-BE49-F238E27FC236}">
                <a16:creationId xmlns="" xmlns:a16="http://schemas.microsoft.com/office/drawing/2014/main" id="{6FB1FA4C-3B8A-FBB5-B280-85555F843464}"/>
              </a:ext>
            </a:extLst>
          </p:cNvPr>
          <p:cNvSpPr txBox="1"/>
          <p:nvPr/>
        </p:nvSpPr>
        <p:spPr>
          <a:xfrm>
            <a:off x="5785578" y="7197749"/>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84" name="文字方塊 83">
            <a:extLst>
              <a:ext uri="{FF2B5EF4-FFF2-40B4-BE49-F238E27FC236}">
                <a16:creationId xmlns="" xmlns:a16="http://schemas.microsoft.com/office/drawing/2014/main" id="{29D95A87-8E81-E79E-403B-C860DCAF45F5}"/>
              </a:ext>
            </a:extLst>
          </p:cNvPr>
          <p:cNvSpPr txBox="1"/>
          <p:nvPr/>
        </p:nvSpPr>
        <p:spPr>
          <a:xfrm>
            <a:off x="4671153" y="6347475"/>
            <a:ext cx="806119"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grpSp>
        <p:nvGrpSpPr>
          <p:cNvPr id="85" name="Group 232">
            <a:extLst>
              <a:ext uri="{FF2B5EF4-FFF2-40B4-BE49-F238E27FC236}">
                <a16:creationId xmlns="" xmlns:a16="http://schemas.microsoft.com/office/drawing/2014/main" id="{34DCA6AC-E460-4F91-E17A-E4D1D9383A32}"/>
              </a:ext>
            </a:extLst>
          </p:cNvPr>
          <p:cNvGrpSpPr/>
          <p:nvPr/>
        </p:nvGrpSpPr>
        <p:grpSpPr>
          <a:xfrm>
            <a:off x="4224661" y="1790270"/>
            <a:ext cx="557700" cy="408542"/>
            <a:chOff x="5906472" y="1486857"/>
            <a:chExt cx="371800" cy="272361"/>
          </a:xfrm>
        </p:grpSpPr>
        <p:sp>
          <p:nvSpPr>
            <p:cNvPr id="86"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87"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88"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4886661" y="3762508"/>
          <a:ext cx="1797832" cy="106522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79967">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48659">
                <a:tc gridSpan="2">
                  <a:txBody>
                    <a:bodyPr/>
                    <a:lstStyle/>
                    <a:p>
                      <a:pPr algn="ctr"/>
                      <a:r>
                        <a:rPr lang="zh-TW" altLang="en-US" sz="1500" dirty="0">
                          <a:latin typeface="微軟正黑體" panose="020B0604030504040204" pitchFamily="34" charset="-120"/>
                          <a:ea typeface="微軟正黑體" panose="020B0604030504040204" pitchFamily="34" charset="-120"/>
                        </a:rPr>
                        <a:t>簽核請購單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89" name="Group 220">
            <a:extLst>
              <a:ext uri="{FF2B5EF4-FFF2-40B4-BE49-F238E27FC236}">
                <a16:creationId xmlns="" xmlns:a16="http://schemas.microsoft.com/office/drawing/2014/main" id="{0B79EBBA-F242-48C7-ECC3-55BEDF3FDDA8}"/>
              </a:ext>
            </a:extLst>
          </p:cNvPr>
          <p:cNvGrpSpPr/>
          <p:nvPr/>
        </p:nvGrpSpPr>
        <p:grpSpPr>
          <a:xfrm>
            <a:off x="4185579" y="5674941"/>
            <a:ext cx="559863" cy="415762"/>
            <a:chOff x="5906472" y="1486857"/>
            <a:chExt cx="373242" cy="272361"/>
          </a:xfrm>
        </p:grpSpPr>
        <p:sp>
          <p:nvSpPr>
            <p:cNvPr id="90" name="Oval 221">
              <a:extLst>
                <a:ext uri="{FF2B5EF4-FFF2-40B4-BE49-F238E27FC236}">
                  <a16:creationId xmlns="" xmlns:a16="http://schemas.microsoft.com/office/drawing/2014/main" id="{43FEF97A-51DF-308E-5C1C-DC15C2D5D5F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91" name="TextBox 222">
              <a:extLst>
                <a:ext uri="{FF2B5EF4-FFF2-40B4-BE49-F238E27FC236}">
                  <a16:creationId xmlns="" xmlns:a16="http://schemas.microsoft.com/office/drawing/2014/main" id="{7751ACA8-5935-4AA1-4521-923760069DB5}"/>
                </a:ext>
              </a:extLst>
            </p:cNvPr>
            <p:cNvSpPr txBox="1"/>
            <p:nvPr/>
          </p:nvSpPr>
          <p:spPr>
            <a:xfrm>
              <a:off x="5924114" y="150673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92" name="流程圖: 接點 51">
            <a:extLst>
              <a:ext uri="{FF2B5EF4-FFF2-40B4-BE49-F238E27FC236}">
                <a16:creationId xmlns="" xmlns:a16="http://schemas.microsoft.com/office/drawing/2014/main" id="{1E4DE6F3-3BB0-2B05-BD87-45921D4C3C01}"/>
              </a:ext>
            </a:extLst>
          </p:cNvPr>
          <p:cNvSpPr/>
          <p:nvPr/>
        </p:nvSpPr>
        <p:spPr bwMode="auto">
          <a:xfrm>
            <a:off x="3244763" y="8167444"/>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grpSp>
        <p:nvGrpSpPr>
          <p:cNvPr id="102" name="Group 232">
            <a:extLst>
              <a:ext uri="{FF2B5EF4-FFF2-40B4-BE49-F238E27FC236}">
                <a16:creationId xmlns="" xmlns:a16="http://schemas.microsoft.com/office/drawing/2014/main" id="{34DCA6AC-E460-4F91-E17A-E4D1D9383A32}"/>
              </a:ext>
            </a:extLst>
          </p:cNvPr>
          <p:cNvGrpSpPr/>
          <p:nvPr/>
        </p:nvGrpSpPr>
        <p:grpSpPr>
          <a:xfrm>
            <a:off x="6491048" y="3515116"/>
            <a:ext cx="557700" cy="408542"/>
            <a:chOff x="5906472" y="1486857"/>
            <a:chExt cx="371800" cy="272361"/>
          </a:xfrm>
        </p:grpSpPr>
        <p:sp>
          <p:nvSpPr>
            <p:cNvPr id="103"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04"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cxnSp>
        <p:nvCxnSpPr>
          <p:cNvPr id="52" name="肘形接點 68">
            <a:extLst>
              <a:ext uri="{FF2B5EF4-FFF2-40B4-BE49-F238E27FC236}">
                <a16:creationId xmlns="" xmlns:a16="http://schemas.microsoft.com/office/drawing/2014/main" id="{6710C215-D2A9-AE8A-C825-CAB394FDF69B}"/>
              </a:ext>
            </a:extLst>
          </p:cNvPr>
          <p:cNvCxnSpPr>
            <a:cxnSpLocks/>
            <a:stCxn id="53" idx="4"/>
            <a:endCxn id="62" idx="0"/>
          </p:cNvCxnSpPr>
          <p:nvPr/>
        </p:nvCxnSpPr>
        <p:spPr>
          <a:xfrm rot="5400000">
            <a:off x="10525114" y="3346760"/>
            <a:ext cx="504023" cy="576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53" name="流程圖: 接點 51">
            <a:extLst>
              <a:ext uri="{FF2B5EF4-FFF2-40B4-BE49-F238E27FC236}">
                <a16:creationId xmlns="" xmlns:a16="http://schemas.microsoft.com/office/drawing/2014/main" id="{1E4DE6F3-3BB0-2B05-BD87-45921D4C3C01}"/>
              </a:ext>
            </a:extLst>
          </p:cNvPr>
          <p:cNvSpPr/>
          <p:nvPr/>
        </p:nvSpPr>
        <p:spPr bwMode="auto">
          <a:xfrm>
            <a:off x="10507331" y="2630328"/>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 xmlns:p14="http://schemas.microsoft.com/office/powerpoint/2010/main" val="1470550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1" name="流程圖: 文件 42">
            <a:extLst>
              <a:ext uri="{FF2B5EF4-FFF2-40B4-BE49-F238E27FC236}">
                <a16:creationId xmlns="" xmlns:a16="http://schemas.microsoft.com/office/drawing/2014/main" id="{580160BC-29D0-9D19-BFCE-78B7FC429FBC}"/>
              </a:ext>
            </a:extLst>
          </p:cNvPr>
          <p:cNvSpPr/>
          <p:nvPr/>
        </p:nvSpPr>
        <p:spPr bwMode="auto">
          <a:xfrm>
            <a:off x="6078194" y="4757597"/>
            <a:ext cx="1086981" cy="534714"/>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採購單</a:t>
            </a:r>
          </a:p>
        </p:txBody>
      </p:sp>
      <p:sp>
        <p:nvSpPr>
          <p:cNvPr id="4" name="文字方塊 3">
            <a:extLst>
              <a:ext uri="{FF2B5EF4-FFF2-40B4-BE49-F238E27FC236}">
                <a16:creationId xmlns="" xmlns:a16="http://schemas.microsoft.com/office/drawing/2014/main" id="{83E6F622-2FBE-CC67-50FE-4ABD7D8B9696}"/>
              </a:ext>
            </a:extLst>
          </p:cNvPr>
          <p:cNvSpPr txBox="1"/>
          <p:nvPr/>
        </p:nvSpPr>
        <p:spPr>
          <a:xfrm>
            <a:off x="2444079" y="794373"/>
            <a:ext cx="9946701"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MM-PU-0040-03 </a:t>
            </a:r>
            <a:r>
              <a:rPr lang="zh-TW" altLang="en-US" sz="2400" b="1" dirty="0">
                <a:latin typeface="微軟正黑體" panose="020B0604030504040204" pitchFamily="34" charset="-120"/>
                <a:ea typeface="微軟正黑體" panose="020B0604030504040204" pitchFamily="34" charset="-120"/>
              </a:rPr>
              <a:t>庶務請採購驗流程</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庶務費用類</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需點收項目</a:t>
            </a:r>
            <a:r>
              <a:rPr lang="en-US" altLang="zh-TW" sz="2400" b="1" dirty="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 xmlns:a16="http://schemas.microsoft.com/office/drawing/2014/main" id="{E114DEFF-4464-1230-5102-DAAA05109B8A}"/>
              </a:ext>
            </a:extLst>
          </p:cNvPr>
          <p:cNvSpPr txBox="1"/>
          <p:nvPr/>
        </p:nvSpPr>
        <p:spPr>
          <a:xfrm>
            <a:off x="2444079" y="1391441"/>
            <a:ext cx="2216697"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權責主管</a:t>
            </a:r>
          </a:p>
        </p:txBody>
      </p:sp>
      <p:sp>
        <p:nvSpPr>
          <p:cNvPr id="25" name="流程圖: 結束點 8">
            <a:extLst>
              <a:ext uri="{FF2B5EF4-FFF2-40B4-BE49-F238E27FC236}">
                <a16:creationId xmlns="" xmlns:a16="http://schemas.microsoft.com/office/drawing/2014/main" id="{1FB9514E-6261-C7AC-D58E-6A5F2E6F81FD}"/>
              </a:ext>
            </a:extLst>
          </p:cNvPr>
          <p:cNvSpPr/>
          <p:nvPr/>
        </p:nvSpPr>
        <p:spPr bwMode="auto">
          <a:xfrm>
            <a:off x="12177977" y="8828481"/>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graphicFrame>
        <p:nvGraphicFramePr>
          <p:cNvPr id="30" name="表格 30">
            <a:extLst>
              <a:ext uri="{FF2B5EF4-FFF2-40B4-BE49-F238E27FC236}">
                <a16:creationId xmlns="" xmlns:a16="http://schemas.microsoft.com/office/drawing/2014/main" id="{18197701-0564-3E2B-648E-413A6C8BBE0A}"/>
              </a:ext>
            </a:extLst>
          </p:cNvPr>
          <p:cNvGraphicFramePr>
            <a:graphicFrameLocks noGrp="1"/>
          </p:cNvGraphicFramePr>
          <p:nvPr>
            <p:extLst>
              <p:ext uri="{D42A27DB-BD31-4B8C-83A1-F6EECF244321}">
                <p14:modId xmlns="" xmlns:p14="http://schemas.microsoft.com/office/powerpoint/2010/main" val="4264184629"/>
              </p:ext>
            </p:extLst>
          </p:nvPr>
        </p:nvGraphicFramePr>
        <p:xfrm>
          <a:off x="5052065" y="2120968"/>
          <a:ext cx="1797832" cy="1095154"/>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445560">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核發</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16" name="Straight Connector 284">
            <a:extLst>
              <a:ext uri="{FF2B5EF4-FFF2-40B4-BE49-F238E27FC236}">
                <a16:creationId xmlns="" xmlns:a16="http://schemas.microsoft.com/office/drawing/2014/main" id="{3343F13F-0020-F344-5B28-F9AEB09CA3FA}"/>
              </a:ext>
            </a:extLst>
          </p:cNvPr>
          <p:cNvCxnSpPr>
            <a:cxnSpLocks/>
          </p:cNvCxnSpPr>
          <p:nvPr/>
        </p:nvCxnSpPr>
        <p:spPr>
          <a:xfrm>
            <a:off x="9260426" y="1340175"/>
            <a:ext cx="0" cy="8575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字方塊 17">
            <a:extLst>
              <a:ext uri="{FF2B5EF4-FFF2-40B4-BE49-F238E27FC236}">
                <a16:creationId xmlns="" xmlns:a16="http://schemas.microsoft.com/office/drawing/2014/main" id="{DE52170D-3194-E094-D743-3842F95326FE}"/>
              </a:ext>
            </a:extLst>
          </p:cNvPr>
          <p:cNvSpPr txBox="1"/>
          <p:nvPr/>
        </p:nvSpPr>
        <p:spPr>
          <a:xfrm>
            <a:off x="7248840" y="1361813"/>
            <a:ext cx="2011580" cy="344576"/>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廠商</a:t>
            </a:r>
          </a:p>
        </p:txBody>
      </p:sp>
      <p:cxnSp>
        <p:nvCxnSpPr>
          <p:cNvPr id="6" name="肘形接點 68">
            <a:extLst>
              <a:ext uri="{FF2B5EF4-FFF2-40B4-BE49-F238E27FC236}">
                <a16:creationId xmlns="" xmlns:a16="http://schemas.microsoft.com/office/drawing/2014/main" id="{70F961FE-0AA7-D2B8-F257-ECB0C3D45D2D}"/>
              </a:ext>
            </a:extLst>
          </p:cNvPr>
          <p:cNvCxnSpPr>
            <a:cxnSpLocks/>
            <a:stCxn id="5" idx="3"/>
            <a:endCxn id="70" idx="1"/>
          </p:cNvCxnSpPr>
          <p:nvPr/>
        </p:nvCxnSpPr>
        <p:spPr>
          <a:xfrm>
            <a:off x="1691863" y="2712106"/>
            <a:ext cx="986585" cy="88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0" name="肘形接點 68">
            <a:extLst>
              <a:ext uri="{FF2B5EF4-FFF2-40B4-BE49-F238E27FC236}">
                <a16:creationId xmlns="" xmlns:a16="http://schemas.microsoft.com/office/drawing/2014/main" id="{1DF5F1F4-D706-20CD-2C91-619F7E00C1C5}"/>
              </a:ext>
            </a:extLst>
          </p:cNvPr>
          <p:cNvCxnSpPr>
            <a:cxnSpLocks/>
            <a:stCxn id="19" idx="3"/>
            <a:endCxn id="211" idx="1"/>
          </p:cNvCxnSpPr>
          <p:nvPr/>
        </p:nvCxnSpPr>
        <p:spPr>
          <a:xfrm>
            <a:off x="6851164" y="4264281"/>
            <a:ext cx="2884958" cy="198784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9" name="表格 30">
            <a:extLst>
              <a:ext uri="{FF2B5EF4-FFF2-40B4-BE49-F238E27FC236}">
                <a16:creationId xmlns="" xmlns:a16="http://schemas.microsoft.com/office/drawing/2014/main" id="{323DEA68-B2E9-C177-AF6C-305B02CA9243}"/>
              </a:ext>
            </a:extLst>
          </p:cNvPr>
          <p:cNvGraphicFramePr>
            <a:graphicFrameLocks noGrp="1"/>
          </p:cNvGraphicFramePr>
          <p:nvPr>
            <p:extLst>
              <p:ext uri="{D42A27DB-BD31-4B8C-83A1-F6EECF244321}">
                <p14:modId xmlns="" xmlns:p14="http://schemas.microsoft.com/office/powerpoint/2010/main" val="3008644478"/>
              </p:ext>
            </p:extLst>
          </p:nvPr>
        </p:nvGraphicFramePr>
        <p:xfrm>
          <a:off x="5053332" y="3730487"/>
          <a:ext cx="1797832" cy="1067589"/>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94389">
                <a:tc gridSpan="2">
                  <a:txBody>
                    <a:bodyPr/>
                    <a:lstStyle/>
                    <a:p>
                      <a:pPr algn="ctr"/>
                      <a:r>
                        <a:rPr lang="zh-TW" altLang="en-US" sz="1500" dirty="0">
                          <a:latin typeface="微軟正黑體" panose="020B0604030504040204" pitchFamily="34" charset="-120"/>
                          <a:ea typeface="微軟正黑體" panose="020B0604030504040204" pitchFamily="34" charset="-120"/>
                        </a:rPr>
                        <a:t>列印採購單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09" name="Straight Connector 284">
            <a:extLst>
              <a:ext uri="{FF2B5EF4-FFF2-40B4-BE49-F238E27FC236}">
                <a16:creationId xmlns="" xmlns:a16="http://schemas.microsoft.com/office/drawing/2014/main" id="{CCB3D035-826A-6F8E-1D15-1A3E96F62413}"/>
              </a:ext>
            </a:extLst>
          </p:cNvPr>
          <p:cNvCxnSpPr>
            <a:cxnSpLocks/>
          </p:cNvCxnSpPr>
          <p:nvPr/>
        </p:nvCxnSpPr>
        <p:spPr>
          <a:xfrm>
            <a:off x="7248843" y="1338432"/>
            <a:ext cx="0" cy="87050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53">
            <a:extLst>
              <a:ext uri="{FF2B5EF4-FFF2-40B4-BE49-F238E27FC236}">
                <a16:creationId xmlns="" xmlns:a16="http://schemas.microsoft.com/office/drawing/2014/main" id="{2DE69ECC-E293-FAA8-6082-E6D2F887DBFF}"/>
              </a:ext>
            </a:extLst>
          </p:cNvPr>
          <p:cNvSpPr txBox="1"/>
          <p:nvPr/>
        </p:nvSpPr>
        <p:spPr>
          <a:xfrm>
            <a:off x="14380627" y="2064631"/>
            <a:ext cx="3594197" cy="5078313"/>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由權責主管在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上進行簽核採購單</a:t>
            </a: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簽核未通過，透過程式</a:t>
            </a:r>
            <a:r>
              <a:rPr lang="en-US" altLang="zh-TW" dirty="0">
                <a:latin typeface="微軟正黑體" panose="020B0604030504040204" pitchFamily="34" charset="-120"/>
                <a:ea typeface="微軟正黑體" panose="020B0604030504040204" pitchFamily="34" charset="-120"/>
              </a:rPr>
              <a:t>ZMM006</a:t>
            </a:r>
            <a:r>
              <a:rPr lang="zh-TW" altLang="en-US" dirty="0">
                <a:latin typeface="微軟正黑體" panose="020B0604030504040204" pitchFamily="34" charset="-120"/>
                <a:ea typeface="微軟正黑體" panose="020B0604030504040204" pitchFamily="34" charset="-120"/>
              </a:rPr>
              <a:t>將採購單標記為刪除，以及刪除對應請購單</a:t>
            </a: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通過簽核的採購單透過程式</a:t>
            </a:r>
            <a:r>
              <a:rPr lang="en-US" altLang="zh-TW" dirty="0">
                <a:latin typeface="微軟正黑體" panose="020B0604030504040204" pitchFamily="34" charset="-120"/>
                <a:ea typeface="微軟正黑體" panose="020B0604030504040204" pitchFamily="34" charset="-120"/>
              </a:rPr>
              <a:t>ZMM006</a:t>
            </a:r>
            <a:r>
              <a:rPr lang="zh-TW" altLang="en-US" dirty="0">
                <a:latin typeface="微軟正黑體" panose="020B0604030504040204" pitchFamily="34" charset="-120"/>
                <a:ea typeface="微軟正黑體" panose="020B0604030504040204" pitchFamily="34" charset="-120"/>
              </a:rPr>
              <a:t>核發</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列印採購單交予供應商</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管理部進行點驗收</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列印驗收單作為請款附件</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endParaRPr lang="zh-TW" altLang="en-US" dirty="0"/>
          </a:p>
        </p:txBody>
      </p:sp>
      <p:sp>
        <p:nvSpPr>
          <p:cNvPr id="5" name="流程圖: 換頁接點 52">
            <a:extLst>
              <a:ext uri="{FF2B5EF4-FFF2-40B4-BE49-F238E27FC236}">
                <a16:creationId xmlns="" xmlns:a16="http://schemas.microsoft.com/office/drawing/2014/main" id="{A020D090-1F04-66A8-DDD2-0A428105439C}"/>
              </a:ext>
            </a:extLst>
          </p:cNvPr>
          <p:cNvSpPr/>
          <p:nvPr/>
        </p:nvSpPr>
        <p:spPr bwMode="auto">
          <a:xfrm>
            <a:off x="1131236" y="247845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P5</a:t>
            </a:r>
            <a:endParaRPr lang="zh-TW" altLang="en-US" dirty="0">
              <a:latin typeface="微軟正黑體" panose="020B0604030504040204" pitchFamily="34" charset="-120"/>
              <a:ea typeface="微軟正黑體" panose="020B0604030504040204" pitchFamily="34" charset="-120"/>
            </a:endParaRPr>
          </a:p>
        </p:txBody>
      </p:sp>
      <p:cxnSp>
        <p:nvCxnSpPr>
          <p:cNvPr id="10" name="肘形接點 68">
            <a:extLst>
              <a:ext uri="{FF2B5EF4-FFF2-40B4-BE49-F238E27FC236}">
                <a16:creationId xmlns="" xmlns:a16="http://schemas.microsoft.com/office/drawing/2014/main" id="{88423D2F-5852-EF3C-C85E-11AFB02032A8}"/>
              </a:ext>
            </a:extLst>
          </p:cNvPr>
          <p:cNvCxnSpPr>
            <a:cxnSpLocks/>
            <a:stCxn id="30" idx="2"/>
            <a:endCxn id="19" idx="0"/>
          </p:cNvCxnSpPr>
          <p:nvPr/>
        </p:nvCxnSpPr>
        <p:spPr>
          <a:xfrm rot="16200000" flipH="1">
            <a:off x="5694432" y="3472670"/>
            <a:ext cx="514365" cy="126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00" name="文字方塊 17">
            <a:extLst>
              <a:ext uri="{FF2B5EF4-FFF2-40B4-BE49-F238E27FC236}">
                <a16:creationId xmlns="" xmlns:a16="http://schemas.microsoft.com/office/drawing/2014/main" id="{46781F1A-BA99-952E-F060-2BBE7B71DFBE}"/>
              </a:ext>
            </a:extLst>
          </p:cNvPr>
          <p:cNvSpPr txBox="1"/>
          <p:nvPr/>
        </p:nvSpPr>
        <p:spPr>
          <a:xfrm>
            <a:off x="9260420" y="1363162"/>
            <a:ext cx="2648793"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管理部</a:t>
            </a:r>
          </a:p>
        </p:txBody>
      </p:sp>
      <p:graphicFrame>
        <p:nvGraphicFramePr>
          <p:cNvPr id="211" name="表格 30">
            <a:extLst>
              <a:ext uri="{FF2B5EF4-FFF2-40B4-BE49-F238E27FC236}">
                <a16:creationId xmlns="" xmlns:a16="http://schemas.microsoft.com/office/drawing/2014/main" id="{7C9AEEC6-5A2A-D9F0-2273-1A417DB56F19}"/>
              </a:ext>
            </a:extLst>
          </p:cNvPr>
          <p:cNvGraphicFramePr>
            <a:graphicFrameLocks noGrp="1"/>
          </p:cNvGraphicFramePr>
          <p:nvPr/>
        </p:nvGraphicFramePr>
        <p:xfrm>
          <a:off x="9736122" y="5659909"/>
          <a:ext cx="1864309" cy="1184439"/>
        </p:xfrm>
        <a:graphic>
          <a:graphicData uri="http://schemas.openxmlformats.org/drawingml/2006/table">
            <a:tbl>
              <a:tblPr>
                <a:tableStyleId>{5940675A-B579-460E-94D1-54222C63F5DA}</a:tableStyleId>
              </a:tblPr>
              <a:tblGrid>
                <a:gridCol w="938504">
                  <a:extLst>
                    <a:ext uri="{9D8B030D-6E8A-4147-A177-3AD203B41FA5}">
                      <a16:colId xmlns="" xmlns:a16="http://schemas.microsoft.com/office/drawing/2014/main" val="3433979995"/>
                    </a:ext>
                  </a:extLst>
                </a:gridCol>
                <a:gridCol w="925805">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MIGO</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採購單驗收</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26" name="肘形接點 68">
            <a:extLst>
              <a:ext uri="{FF2B5EF4-FFF2-40B4-BE49-F238E27FC236}">
                <a16:creationId xmlns="" xmlns:a16="http://schemas.microsoft.com/office/drawing/2014/main" id="{125A8A52-5CEB-3185-4F86-EE30C2E88477}"/>
              </a:ext>
            </a:extLst>
          </p:cNvPr>
          <p:cNvCxnSpPr>
            <a:cxnSpLocks/>
            <a:stCxn id="2" idx="3"/>
            <a:endCxn id="229" idx="1"/>
          </p:cNvCxnSpPr>
          <p:nvPr/>
        </p:nvCxnSpPr>
        <p:spPr>
          <a:xfrm flipV="1">
            <a:off x="11627062" y="7635133"/>
            <a:ext cx="549278" cy="663459"/>
          </a:xfrm>
          <a:prstGeom prst="bentConnector3">
            <a:avLst>
              <a:gd name="adj1" fmla="val 71714"/>
            </a:avLst>
          </a:prstGeom>
          <a:ln>
            <a:tailEnd type="triangle"/>
          </a:ln>
        </p:spPr>
        <p:style>
          <a:lnRef idx="1">
            <a:schemeClr val="dk1"/>
          </a:lnRef>
          <a:fillRef idx="0">
            <a:schemeClr val="dk1"/>
          </a:fillRef>
          <a:effectRef idx="0">
            <a:schemeClr val="dk1"/>
          </a:effectRef>
          <a:fontRef idx="minor">
            <a:schemeClr val="tx1"/>
          </a:fontRef>
        </p:style>
      </p:cxnSp>
      <p:sp>
        <p:nvSpPr>
          <p:cNvPr id="229" name="流程圖: 預設處理作業 21">
            <a:extLst>
              <a:ext uri="{FF2B5EF4-FFF2-40B4-BE49-F238E27FC236}">
                <a16:creationId xmlns="" xmlns:a16="http://schemas.microsoft.com/office/drawing/2014/main" id="{8D89DE13-51D6-E651-0AFF-2DA7C6AADABA}"/>
              </a:ext>
            </a:extLst>
          </p:cNvPr>
          <p:cNvSpPr/>
          <p:nvPr/>
        </p:nvSpPr>
        <p:spPr bwMode="auto">
          <a:xfrm>
            <a:off x="12176339" y="7015933"/>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MM-IV-0010</a:t>
            </a:r>
          </a:p>
          <a:p>
            <a:pPr algn="ctr" eaLnBrk="0" hangingPunct="0"/>
            <a:r>
              <a:rPr lang="zh-TW" altLang="en-US" sz="1500" dirty="0">
                <a:latin typeface="微軟正黑體" panose="020B0604030504040204" pitchFamily="34" charset="-120"/>
                <a:ea typeface="微軟正黑體" panose="020B0604030504040204" pitchFamily="34" charset="-120"/>
              </a:rPr>
              <a:t>發票請款</a:t>
            </a:r>
          </a:p>
        </p:txBody>
      </p:sp>
      <p:graphicFrame>
        <p:nvGraphicFramePr>
          <p:cNvPr id="2" name="表格 30">
            <a:extLst>
              <a:ext uri="{FF2B5EF4-FFF2-40B4-BE49-F238E27FC236}">
                <a16:creationId xmlns="" xmlns:a16="http://schemas.microsoft.com/office/drawing/2014/main" id="{D3D9AB5D-7E8D-B9BA-E750-1B70BA2AED1D}"/>
              </a:ext>
            </a:extLst>
          </p:cNvPr>
          <p:cNvGraphicFramePr>
            <a:graphicFrameLocks noGrp="1"/>
          </p:cNvGraphicFramePr>
          <p:nvPr>
            <p:extLst>
              <p:ext uri="{D42A27DB-BD31-4B8C-83A1-F6EECF244321}">
                <p14:modId xmlns="" xmlns:p14="http://schemas.microsoft.com/office/powerpoint/2010/main" val="3621352879"/>
              </p:ext>
            </p:extLst>
          </p:nvPr>
        </p:nvGraphicFramePr>
        <p:xfrm>
          <a:off x="9696171" y="7793692"/>
          <a:ext cx="1930890" cy="1009800"/>
        </p:xfrm>
        <a:graphic>
          <a:graphicData uri="http://schemas.openxmlformats.org/drawingml/2006/table">
            <a:tbl>
              <a:tblPr>
                <a:tableStyleId>{5940675A-B579-460E-94D1-54222C63F5DA}</a:tableStyleId>
              </a:tblPr>
              <a:tblGrid>
                <a:gridCol w="965445">
                  <a:extLst>
                    <a:ext uri="{9D8B030D-6E8A-4147-A177-3AD203B41FA5}">
                      <a16:colId xmlns="" xmlns:a16="http://schemas.microsoft.com/office/drawing/2014/main" val="3433979995"/>
                    </a:ext>
                  </a:extLst>
                </a:gridCol>
                <a:gridCol w="965445">
                  <a:extLst>
                    <a:ext uri="{9D8B030D-6E8A-4147-A177-3AD203B41FA5}">
                      <a16:colId xmlns="" xmlns:a16="http://schemas.microsoft.com/office/drawing/2014/main" val="3727974752"/>
                    </a:ext>
                  </a:extLst>
                </a:gridCol>
              </a:tblGrid>
              <a:tr h="336600">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ZMM016</a:t>
                      </a: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00">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列印收貨驗收單</a:t>
                      </a: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7" name="肘形接點 68">
            <a:extLst>
              <a:ext uri="{FF2B5EF4-FFF2-40B4-BE49-F238E27FC236}">
                <a16:creationId xmlns="" xmlns:a16="http://schemas.microsoft.com/office/drawing/2014/main" id="{DE7163D5-9E14-E44D-C880-5F40B54FA0B5}"/>
              </a:ext>
            </a:extLst>
          </p:cNvPr>
          <p:cNvCxnSpPr>
            <a:cxnSpLocks/>
            <a:stCxn id="211" idx="2"/>
            <a:endCxn id="2" idx="0"/>
          </p:cNvCxnSpPr>
          <p:nvPr/>
        </p:nvCxnSpPr>
        <p:spPr>
          <a:xfrm rot="5400000">
            <a:off x="10190274" y="7315690"/>
            <a:ext cx="949344" cy="666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34" name="肘形接點 68">
            <a:extLst>
              <a:ext uri="{FF2B5EF4-FFF2-40B4-BE49-F238E27FC236}">
                <a16:creationId xmlns="" xmlns:a16="http://schemas.microsoft.com/office/drawing/2014/main" id="{2888F5BD-8725-778F-DC22-CD7174C031E2}"/>
              </a:ext>
            </a:extLst>
          </p:cNvPr>
          <p:cNvCxnSpPr>
            <a:cxnSpLocks/>
            <a:stCxn id="229" idx="2"/>
            <a:endCxn id="25" idx="0"/>
          </p:cNvCxnSpPr>
          <p:nvPr/>
        </p:nvCxnSpPr>
        <p:spPr>
          <a:xfrm rot="5400000">
            <a:off x="12792821" y="8538404"/>
            <a:ext cx="574148" cy="600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2" name="矩形 61"/>
          <p:cNvSpPr/>
          <p:nvPr/>
        </p:nvSpPr>
        <p:spPr>
          <a:xfrm>
            <a:off x="15456167" y="444704"/>
            <a:ext cx="296876" cy="323165"/>
          </a:xfrm>
          <a:prstGeom prst="rect">
            <a:avLst/>
          </a:prstGeom>
        </p:spPr>
        <p:txBody>
          <a:bodyPr wrap="none">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p>
        </p:txBody>
      </p:sp>
      <p:sp>
        <p:nvSpPr>
          <p:cNvPr id="67" name="文字方塊 66">
            <a:extLst>
              <a:ext uri="{FF2B5EF4-FFF2-40B4-BE49-F238E27FC236}">
                <a16:creationId xmlns="" xmlns:a16="http://schemas.microsoft.com/office/drawing/2014/main" id="{B106DB5A-3C2B-C42B-E706-9F53E0CA364F}"/>
              </a:ext>
            </a:extLst>
          </p:cNvPr>
          <p:cNvSpPr txBox="1"/>
          <p:nvPr/>
        </p:nvSpPr>
        <p:spPr>
          <a:xfrm>
            <a:off x="4408100" y="5174948"/>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cxnSp>
        <p:nvCxnSpPr>
          <p:cNvPr id="68" name="肘形接點 68">
            <a:extLst>
              <a:ext uri="{FF2B5EF4-FFF2-40B4-BE49-F238E27FC236}">
                <a16:creationId xmlns="" xmlns:a16="http://schemas.microsoft.com/office/drawing/2014/main" id="{A46CDCFE-67EF-4E51-A944-F4A0C09EC5BD}"/>
              </a:ext>
            </a:extLst>
          </p:cNvPr>
          <p:cNvCxnSpPr>
            <a:cxnSpLocks/>
            <a:stCxn id="69" idx="3"/>
            <a:endCxn id="30" idx="1"/>
          </p:cNvCxnSpPr>
          <p:nvPr/>
        </p:nvCxnSpPr>
        <p:spPr>
          <a:xfrm flipV="1">
            <a:off x="4502538" y="2668545"/>
            <a:ext cx="549527" cy="2880815"/>
          </a:xfrm>
          <a:prstGeom prst="bentConnector3">
            <a:avLst>
              <a:gd name="adj1" fmla="val 57235"/>
            </a:avLst>
          </a:prstGeom>
          <a:ln>
            <a:tailEnd type="triangle"/>
          </a:ln>
        </p:spPr>
        <p:style>
          <a:lnRef idx="1">
            <a:schemeClr val="dk1"/>
          </a:lnRef>
          <a:fillRef idx="0">
            <a:schemeClr val="dk1"/>
          </a:fillRef>
          <a:effectRef idx="0">
            <a:schemeClr val="dk1"/>
          </a:effectRef>
          <a:fontRef idx="minor">
            <a:schemeClr val="tx1"/>
          </a:fontRef>
        </p:style>
      </p:cxnSp>
      <p:sp>
        <p:nvSpPr>
          <p:cNvPr id="69" name="流程圖: 決策 50">
            <a:extLst>
              <a:ext uri="{FF2B5EF4-FFF2-40B4-BE49-F238E27FC236}">
                <a16:creationId xmlns="" xmlns:a16="http://schemas.microsoft.com/office/drawing/2014/main" id="{57572B2C-CFB9-0AC3-6713-A859559C555F}"/>
              </a:ext>
            </a:extLst>
          </p:cNvPr>
          <p:cNvSpPr/>
          <p:nvPr/>
        </p:nvSpPr>
        <p:spPr bwMode="auto">
          <a:xfrm>
            <a:off x="2660589" y="5193260"/>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graphicFrame>
        <p:nvGraphicFramePr>
          <p:cNvPr id="70" name="表格 30">
            <a:extLst>
              <a:ext uri="{FF2B5EF4-FFF2-40B4-BE49-F238E27FC236}">
                <a16:creationId xmlns="" xmlns:a16="http://schemas.microsoft.com/office/drawing/2014/main" id="{30D28B56-DFCB-AFD8-59FC-A2A377096849}"/>
              </a:ext>
            </a:extLst>
          </p:cNvPr>
          <p:cNvGraphicFramePr>
            <a:graphicFrameLocks noGrp="1"/>
          </p:cNvGraphicFramePr>
          <p:nvPr/>
        </p:nvGraphicFramePr>
        <p:xfrm>
          <a:off x="2678448" y="2064631"/>
          <a:ext cx="1797832" cy="129672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6576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94360">
                <a:tc gridSpan="2">
                  <a:txBody>
                    <a:bodyPr/>
                    <a:lstStyle/>
                    <a:p>
                      <a:pPr algn="ctr"/>
                      <a:r>
                        <a:rPr lang="zh-TW" altLang="en-US" sz="1500" dirty="0">
                          <a:latin typeface="微軟正黑體" panose="020B0604030504040204" pitchFamily="34" charset="-120"/>
                          <a:ea typeface="微軟正黑體" panose="020B0604030504040204" pitchFamily="34" charset="-120"/>
                        </a:rPr>
                        <a:t>簽核採購單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71" name="肘形接點 68">
            <a:extLst>
              <a:ext uri="{FF2B5EF4-FFF2-40B4-BE49-F238E27FC236}">
                <a16:creationId xmlns="" xmlns:a16="http://schemas.microsoft.com/office/drawing/2014/main" id="{E1704031-6ABC-E835-30F7-9FDE80DC71C9}"/>
              </a:ext>
            </a:extLst>
          </p:cNvPr>
          <p:cNvCxnSpPr>
            <a:cxnSpLocks/>
            <a:stCxn id="69" idx="2"/>
            <a:endCxn id="73" idx="0"/>
          </p:cNvCxnSpPr>
          <p:nvPr/>
        </p:nvCxnSpPr>
        <p:spPr>
          <a:xfrm rot="16200000" flipH="1">
            <a:off x="3247456" y="6239568"/>
            <a:ext cx="669482" cy="126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2" name="肘形接點 68">
            <a:extLst>
              <a:ext uri="{FF2B5EF4-FFF2-40B4-BE49-F238E27FC236}">
                <a16:creationId xmlns="" xmlns:a16="http://schemas.microsoft.com/office/drawing/2014/main" id="{072E999A-419C-E794-B1C6-424EAB34EFD6}"/>
              </a:ext>
            </a:extLst>
          </p:cNvPr>
          <p:cNvCxnSpPr>
            <a:cxnSpLocks/>
            <a:stCxn id="70" idx="2"/>
            <a:endCxn id="69" idx="0"/>
          </p:cNvCxnSpPr>
          <p:nvPr/>
        </p:nvCxnSpPr>
        <p:spPr>
          <a:xfrm rot="16200000" flipH="1">
            <a:off x="2663510" y="4275205"/>
            <a:ext cx="1831909" cy="420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73" name="表格 30">
            <a:extLst>
              <a:ext uri="{FF2B5EF4-FFF2-40B4-BE49-F238E27FC236}">
                <a16:creationId xmlns="" xmlns:a16="http://schemas.microsoft.com/office/drawing/2014/main" id="{652C407C-677D-0613-296A-3D52732E8BE7}"/>
              </a:ext>
            </a:extLst>
          </p:cNvPr>
          <p:cNvGraphicFramePr>
            <a:graphicFrameLocks noGrp="1"/>
          </p:cNvGraphicFramePr>
          <p:nvPr/>
        </p:nvGraphicFramePr>
        <p:xfrm>
          <a:off x="2683914" y="6574942"/>
          <a:ext cx="1797832" cy="1244992"/>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95398">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更新</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採購單，刪除標記</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80" name="文字方塊 17">
            <a:extLst>
              <a:ext uri="{FF2B5EF4-FFF2-40B4-BE49-F238E27FC236}">
                <a16:creationId xmlns="" xmlns:a16="http://schemas.microsoft.com/office/drawing/2014/main" id="{E114DEFF-4464-1230-5102-DAAA05109B8A}"/>
              </a:ext>
            </a:extLst>
          </p:cNvPr>
          <p:cNvSpPr txBox="1"/>
          <p:nvPr/>
        </p:nvSpPr>
        <p:spPr>
          <a:xfrm>
            <a:off x="4665338" y="1363667"/>
            <a:ext cx="2583502"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庶務採購</a:t>
            </a:r>
          </a:p>
        </p:txBody>
      </p:sp>
      <p:grpSp>
        <p:nvGrpSpPr>
          <p:cNvPr id="85" name="Group 232">
            <a:extLst>
              <a:ext uri="{FF2B5EF4-FFF2-40B4-BE49-F238E27FC236}">
                <a16:creationId xmlns="" xmlns:a16="http://schemas.microsoft.com/office/drawing/2014/main" id="{34DCA6AC-E460-4F91-E17A-E4D1D9383A32}"/>
              </a:ext>
            </a:extLst>
          </p:cNvPr>
          <p:cNvGrpSpPr/>
          <p:nvPr/>
        </p:nvGrpSpPr>
        <p:grpSpPr>
          <a:xfrm>
            <a:off x="11348211" y="7597799"/>
            <a:ext cx="557700" cy="408542"/>
            <a:chOff x="5906472" y="1486857"/>
            <a:chExt cx="371800" cy="272361"/>
          </a:xfrm>
        </p:grpSpPr>
        <p:sp>
          <p:nvSpPr>
            <p:cNvPr id="86"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87"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grpSp>
        <p:nvGrpSpPr>
          <p:cNvPr id="94" name="Group 232">
            <a:extLst>
              <a:ext uri="{FF2B5EF4-FFF2-40B4-BE49-F238E27FC236}">
                <a16:creationId xmlns="" xmlns:a16="http://schemas.microsoft.com/office/drawing/2014/main" id="{34DCA6AC-E460-4F91-E17A-E4D1D9383A32}"/>
              </a:ext>
            </a:extLst>
          </p:cNvPr>
          <p:cNvGrpSpPr/>
          <p:nvPr/>
        </p:nvGrpSpPr>
        <p:grpSpPr>
          <a:xfrm>
            <a:off x="11293377" y="5484994"/>
            <a:ext cx="557700" cy="408542"/>
            <a:chOff x="5906472" y="1486857"/>
            <a:chExt cx="371800" cy="272361"/>
          </a:xfrm>
        </p:grpSpPr>
        <p:sp>
          <p:nvSpPr>
            <p:cNvPr id="95"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96"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nvGrpSpPr>
          <p:cNvPr id="97" name="Group 232">
            <a:extLst>
              <a:ext uri="{FF2B5EF4-FFF2-40B4-BE49-F238E27FC236}">
                <a16:creationId xmlns="" xmlns:a16="http://schemas.microsoft.com/office/drawing/2014/main" id="{34DCA6AC-E460-4F91-E17A-E4D1D9383A32}"/>
              </a:ext>
            </a:extLst>
          </p:cNvPr>
          <p:cNvGrpSpPr/>
          <p:nvPr/>
        </p:nvGrpSpPr>
        <p:grpSpPr>
          <a:xfrm>
            <a:off x="6708796" y="3517681"/>
            <a:ext cx="557700" cy="408542"/>
            <a:chOff x="5906472" y="1486857"/>
            <a:chExt cx="371800" cy="272361"/>
          </a:xfrm>
        </p:grpSpPr>
        <p:sp>
          <p:nvSpPr>
            <p:cNvPr id="98"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99"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100" name="Group 232">
            <a:extLst>
              <a:ext uri="{FF2B5EF4-FFF2-40B4-BE49-F238E27FC236}">
                <a16:creationId xmlns="" xmlns:a16="http://schemas.microsoft.com/office/drawing/2014/main" id="{34DCA6AC-E460-4F91-E17A-E4D1D9383A32}"/>
              </a:ext>
            </a:extLst>
          </p:cNvPr>
          <p:cNvGrpSpPr/>
          <p:nvPr/>
        </p:nvGrpSpPr>
        <p:grpSpPr>
          <a:xfrm>
            <a:off x="4244735" y="6405602"/>
            <a:ext cx="557700" cy="408542"/>
            <a:chOff x="5906472" y="1486857"/>
            <a:chExt cx="371800" cy="272361"/>
          </a:xfrm>
        </p:grpSpPr>
        <p:sp>
          <p:nvSpPr>
            <p:cNvPr id="101"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02"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103" name="Group 232">
            <a:extLst>
              <a:ext uri="{FF2B5EF4-FFF2-40B4-BE49-F238E27FC236}">
                <a16:creationId xmlns="" xmlns:a16="http://schemas.microsoft.com/office/drawing/2014/main" id="{34DCA6AC-E460-4F91-E17A-E4D1D9383A32}"/>
              </a:ext>
            </a:extLst>
          </p:cNvPr>
          <p:cNvGrpSpPr/>
          <p:nvPr/>
        </p:nvGrpSpPr>
        <p:grpSpPr>
          <a:xfrm>
            <a:off x="4265983" y="1839569"/>
            <a:ext cx="557700" cy="408542"/>
            <a:chOff x="5906472" y="1486857"/>
            <a:chExt cx="371800" cy="272361"/>
          </a:xfrm>
        </p:grpSpPr>
        <p:sp>
          <p:nvSpPr>
            <p:cNvPr id="104"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05"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nvGrpSpPr>
          <p:cNvPr id="106" name="Group 232">
            <a:extLst>
              <a:ext uri="{FF2B5EF4-FFF2-40B4-BE49-F238E27FC236}">
                <a16:creationId xmlns="" xmlns:a16="http://schemas.microsoft.com/office/drawing/2014/main" id="{34DCA6AC-E460-4F91-E17A-E4D1D9383A32}"/>
              </a:ext>
            </a:extLst>
          </p:cNvPr>
          <p:cNvGrpSpPr/>
          <p:nvPr/>
        </p:nvGrpSpPr>
        <p:grpSpPr>
          <a:xfrm>
            <a:off x="6667736" y="1982431"/>
            <a:ext cx="557700" cy="408542"/>
            <a:chOff x="5906472" y="1486857"/>
            <a:chExt cx="371800" cy="272361"/>
          </a:xfrm>
        </p:grpSpPr>
        <p:sp>
          <p:nvSpPr>
            <p:cNvPr id="107"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08"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cxnSp>
        <p:nvCxnSpPr>
          <p:cNvPr id="116" name="Straight Connector 284">
            <a:extLst>
              <a:ext uri="{FF2B5EF4-FFF2-40B4-BE49-F238E27FC236}">
                <a16:creationId xmlns="" xmlns:a16="http://schemas.microsoft.com/office/drawing/2014/main" id="{CCB3D035-826A-6F8E-1D15-1A3E96F62413}"/>
              </a:ext>
            </a:extLst>
          </p:cNvPr>
          <p:cNvCxnSpPr>
            <a:cxnSpLocks/>
          </p:cNvCxnSpPr>
          <p:nvPr/>
        </p:nvCxnSpPr>
        <p:spPr>
          <a:xfrm>
            <a:off x="4660776" y="1338432"/>
            <a:ext cx="0" cy="8650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文字方塊 54">
            <a:extLst>
              <a:ext uri="{FF2B5EF4-FFF2-40B4-BE49-F238E27FC236}">
                <a16:creationId xmlns="" xmlns:a16="http://schemas.microsoft.com/office/drawing/2014/main" id="{B106DB5A-3C2B-C42B-E706-9F53E0CA364F}"/>
              </a:ext>
            </a:extLst>
          </p:cNvPr>
          <p:cNvSpPr txBox="1"/>
          <p:nvPr/>
        </p:nvSpPr>
        <p:spPr>
          <a:xfrm>
            <a:off x="3662297" y="6059351"/>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Tree>
    <p:extLst>
      <p:ext uri="{BB962C8B-B14F-4D97-AF65-F5344CB8AC3E}">
        <p14:creationId xmlns="" xmlns:p14="http://schemas.microsoft.com/office/powerpoint/2010/main" val="10422682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 xmlns:a16="http://schemas.microsoft.com/office/drawing/2014/main" id="{83E6F622-2FBE-CC67-50FE-4ABD7D8B9696}"/>
              </a:ext>
            </a:extLst>
          </p:cNvPr>
          <p:cNvSpPr txBox="1"/>
          <p:nvPr/>
        </p:nvSpPr>
        <p:spPr>
          <a:xfrm>
            <a:off x="2444081" y="794373"/>
            <a:ext cx="9463534"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MM-PU-0040-04 </a:t>
            </a:r>
            <a:r>
              <a:rPr lang="zh-TW" altLang="en-US" sz="2400" b="1" dirty="0">
                <a:latin typeface="微軟正黑體" panose="020B0604030504040204" pitchFamily="34" charset="-120"/>
                <a:ea typeface="微軟正黑體" panose="020B0604030504040204" pitchFamily="34" charset="-120"/>
              </a:rPr>
              <a:t>庶務請採購驗流程</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生質燃料</a:t>
            </a:r>
          </a:p>
        </p:txBody>
      </p:sp>
      <p:sp>
        <p:nvSpPr>
          <p:cNvPr id="25" name="流程圖: 結束點 8">
            <a:extLst>
              <a:ext uri="{FF2B5EF4-FFF2-40B4-BE49-F238E27FC236}">
                <a16:creationId xmlns="" xmlns:a16="http://schemas.microsoft.com/office/drawing/2014/main" id="{1FB9514E-6261-C7AC-D58E-6A5F2E6F81FD}"/>
              </a:ext>
            </a:extLst>
          </p:cNvPr>
          <p:cNvSpPr/>
          <p:nvPr/>
        </p:nvSpPr>
        <p:spPr bwMode="auto">
          <a:xfrm>
            <a:off x="12301995" y="5499612"/>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sp>
        <p:nvSpPr>
          <p:cNvPr id="34" name="文字方塊 17">
            <a:extLst>
              <a:ext uri="{FF2B5EF4-FFF2-40B4-BE49-F238E27FC236}">
                <a16:creationId xmlns="" xmlns:a16="http://schemas.microsoft.com/office/drawing/2014/main" id="{DE52170D-3194-E094-D743-3842F95326FE}"/>
              </a:ext>
            </a:extLst>
          </p:cNvPr>
          <p:cNvSpPr txBox="1"/>
          <p:nvPr/>
        </p:nvSpPr>
        <p:spPr>
          <a:xfrm>
            <a:off x="2444080" y="1353283"/>
            <a:ext cx="3387855"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庶務採購</a:t>
            </a:r>
          </a:p>
        </p:txBody>
      </p:sp>
      <p:sp>
        <p:nvSpPr>
          <p:cNvPr id="55" name="文字方塊 54">
            <a:extLst>
              <a:ext uri="{FF2B5EF4-FFF2-40B4-BE49-F238E27FC236}">
                <a16:creationId xmlns="" xmlns:a16="http://schemas.microsoft.com/office/drawing/2014/main" id="{B106DB5A-3C2B-C42B-E706-9F53E0CA364F}"/>
              </a:ext>
            </a:extLst>
          </p:cNvPr>
          <p:cNvSpPr txBox="1"/>
          <p:nvPr/>
        </p:nvSpPr>
        <p:spPr>
          <a:xfrm>
            <a:off x="7018040" y="5206163"/>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cxnSp>
        <p:nvCxnSpPr>
          <p:cNvPr id="217" name="肘形接點 68">
            <a:extLst>
              <a:ext uri="{FF2B5EF4-FFF2-40B4-BE49-F238E27FC236}">
                <a16:creationId xmlns="" xmlns:a16="http://schemas.microsoft.com/office/drawing/2014/main" id="{3C63507D-83FD-0025-3EF4-B6F87A20780B}"/>
              </a:ext>
            </a:extLst>
          </p:cNvPr>
          <p:cNvCxnSpPr>
            <a:cxnSpLocks/>
            <a:stCxn id="71" idx="2"/>
            <a:endCxn id="72" idx="0"/>
          </p:cNvCxnSpPr>
          <p:nvPr/>
        </p:nvCxnSpPr>
        <p:spPr>
          <a:xfrm rot="16200000" flipH="1">
            <a:off x="3840707" y="8397109"/>
            <a:ext cx="614201" cy="199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27" name="TextBox 53">
            <a:extLst>
              <a:ext uri="{FF2B5EF4-FFF2-40B4-BE49-F238E27FC236}">
                <a16:creationId xmlns="" xmlns:a16="http://schemas.microsoft.com/office/drawing/2014/main" id="{DF940026-96D7-3867-6425-C228DF3D29BF}"/>
              </a:ext>
            </a:extLst>
          </p:cNvPr>
          <p:cNvSpPr txBox="1"/>
          <p:nvPr/>
        </p:nvSpPr>
        <p:spPr>
          <a:xfrm>
            <a:off x="14380627" y="2064631"/>
            <a:ext cx="3594197" cy="5909310"/>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各廠區庶務採購人員按定期需求量建立生質燃料採購單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將採購單匯入</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發起採購簽核流程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核準後的採購單，透過程式核發</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列印採購單交予供應商</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廠商進行交貨、廠區管理人員進行點驗收</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輸入報關單號。以過磅數作驗收數量，也是後續的請款數量。</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簽核未通過，透過程式將採購單標記為</a:t>
            </a:r>
            <a:r>
              <a:rPr lang="zh-TW" altLang="en-US" dirty="0" smtClean="0">
                <a:latin typeface="微軟正黑體" panose="020B0604030504040204" pitchFamily="34" charset="-120"/>
                <a:ea typeface="微軟正黑體" panose="020B0604030504040204" pitchFamily="34" charset="-120"/>
              </a:rPr>
              <a:t>刪除</a:t>
            </a:r>
            <a:endParaRPr lang="zh-TW" altLang="en-US"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p:txBody>
      </p:sp>
      <p:cxnSp>
        <p:nvCxnSpPr>
          <p:cNvPr id="241" name="肘形接點 68">
            <a:extLst>
              <a:ext uri="{FF2B5EF4-FFF2-40B4-BE49-F238E27FC236}">
                <a16:creationId xmlns="" xmlns:a16="http://schemas.microsoft.com/office/drawing/2014/main" id="{A46CDCFE-67EF-4E51-A944-F4A0C09EC5BD}"/>
              </a:ext>
            </a:extLst>
          </p:cNvPr>
          <p:cNvCxnSpPr>
            <a:cxnSpLocks/>
            <a:stCxn id="194" idx="3"/>
            <a:endCxn id="3" idx="0"/>
          </p:cNvCxnSpPr>
          <p:nvPr/>
        </p:nvCxnSpPr>
        <p:spPr>
          <a:xfrm>
            <a:off x="8430590" y="4693928"/>
            <a:ext cx="1207781" cy="55341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Connector 284">
            <a:extLst>
              <a:ext uri="{FF2B5EF4-FFF2-40B4-BE49-F238E27FC236}">
                <a16:creationId xmlns="" xmlns:a16="http://schemas.microsoft.com/office/drawing/2014/main" id="{3E7471C9-C79F-A59B-27B9-5790F81098EC}"/>
              </a:ext>
            </a:extLst>
          </p:cNvPr>
          <p:cNvCxnSpPr>
            <a:cxnSpLocks/>
          </p:cNvCxnSpPr>
          <p:nvPr/>
        </p:nvCxnSpPr>
        <p:spPr>
          <a:xfrm>
            <a:off x="5831943" y="1334125"/>
            <a:ext cx="0" cy="88170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文字方塊 17">
            <a:extLst>
              <a:ext uri="{FF2B5EF4-FFF2-40B4-BE49-F238E27FC236}">
                <a16:creationId xmlns="" xmlns:a16="http://schemas.microsoft.com/office/drawing/2014/main" id="{3D057DA7-2F78-0AFE-89C1-8611B25E2735}"/>
              </a:ext>
            </a:extLst>
          </p:cNvPr>
          <p:cNvSpPr txBox="1"/>
          <p:nvPr/>
        </p:nvSpPr>
        <p:spPr>
          <a:xfrm>
            <a:off x="5831935" y="1342186"/>
            <a:ext cx="6075671"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權責主管</a:t>
            </a:r>
          </a:p>
        </p:txBody>
      </p:sp>
      <p:sp>
        <p:nvSpPr>
          <p:cNvPr id="10" name="流程圖: 預設處理作業 21">
            <a:extLst>
              <a:ext uri="{FF2B5EF4-FFF2-40B4-BE49-F238E27FC236}">
                <a16:creationId xmlns="" xmlns:a16="http://schemas.microsoft.com/office/drawing/2014/main" id="{1AA0433C-2A92-491C-25AD-DB00171DEB4F}"/>
              </a:ext>
            </a:extLst>
          </p:cNvPr>
          <p:cNvSpPr/>
          <p:nvPr/>
        </p:nvSpPr>
        <p:spPr bwMode="auto">
          <a:xfrm>
            <a:off x="392071" y="2018318"/>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MM-PU-0010</a:t>
            </a:r>
          </a:p>
          <a:p>
            <a:pPr algn="ctr" eaLnBrk="0" hangingPunct="0"/>
            <a:r>
              <a:rPr lang="zh-TW" altLang="en-US" sz="1500" dirty="0">
                <a:latin typeface="微軟正黑體" panose="020B0604030504040204" pitchFamily="34" charset="-120"/>
                <a:ea typeface="微軟正黑體" panose="020B0604030504040204" pitchFamily="34" charset="-120"/>
              </a:rPr>
              <a:t>詢報價更新</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zh-TW" altLang="en-US" sz="1500" dirty="0">
                <a:latin typeface="微軟正黑體" panose="020B0604030504040204" pitchFamily="34" charset="-120"/>
                <a:ea typeface="微軟正黑體" panose="020B0604030504040204" pitchFamily="34" charset="-120"/>
              </a:rPr>
              <a:t>價格主檔</a:t>
            </a:r>
          </a:p>
        </p:txBody>
      </p:sp>
      <p:cxnSp>
        <p:nvCxnSpPr>
          <p:cNvPr id="232" name="肘形接點 68">
            <a:extLst>
              <a:ext uri="{FF2B5EF4-FFF2-40B4-BE49-F238E27FC236}">
                <a16:creationId xmlns="" xmlns:a16="http://schemas.microsoft.com/office/drawing/2014/main" id="{54940F5E-4C2F-3950-FC71-216A17BBB629}"/>
              </a:ext>
            </a:extLst>
          </p:cNvPr>
          <p:cNvCxnSpPr>
            <a:cxnSpLocks/>
            <a:stCxn id="62" idx="2"/>
            <a:endCxn id="64" idx="0"/>
          </p:cNvCxnSpPr>
          <p:nvPr/>
        </p:nvCxnSpPr>
        <p:spPr>
          <a:xfrm rot="5400000">
            <a:off x="3891270" y="3432350"/>
            <a:ext cx="569761" cy="279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94" name="流程圖: 決策 50">
            <a:extLst>
              <a:ext uri="{FF2B5EF4-FFF2-40B4-BE49-F238E27FC236}">
                <a16:creationId xmlns="" xmlns:a16="http://schemas.microsoft.com/office/drawing/2014/main" id="{57572B2C-CFB9-0AC3-6713-A859559C555F}"/>
              </a:ext>
            </a:extLst>
          </p:cNvPr>
          <p:cNvSpPr/>
          <p:nvPr/>
        </p:nvSpPr>
        <p:spPr bwMode="auto">
          <a:xfrm>
            <a:off x="6588641" y="4337828"/>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cxnSp>
        <p:nvCxnSpPr>
          <p:cNvPr id="201" name="肘形接點 68">
            <a:extLst>
              <a:ext uri="{FF2B5EF4-FFF2-40B4-BE49-F238E27FC236}">
                <a16:creationId xmlns="" xmlns:a16="http://schemas.microsoft.com/office/drawing/2014/main" id="{E1704031-6ABC-E835-30F7-9FDE80DC71C9}"/>
              </a:ext>
            </a:extLst>
          </p:cNvPr>
          <p:cNvCxnSpPr>
            <a:cxnSpLocks/>
            <a:stCxn id="194" idx="2"/>
          </p:cNvCxnSpPr>
          <p:nvPr/>
        </p:nvCxnSpPr>
        <p:spPr>
          <a:xfrm rot="5400000">
            <a:off x="5735426" y="4283974"/>
            <a:ext cx="1008135" cy="254024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04" name="肘形接點 68">
            <a:extLst>
              <a:ext uri="{FF2B5EF4-FFF2-40B4-BE49-F238E27FC236}">
                <a16:creationId xmlns="" xmlns:a16="http://schemas.microsoft.com/office/drawing/2014/main" id="{072E999A-419C-E794-B1C6-424EAB34EFD6}"/>
              </a:ext>
            </a:extLst>
          </p:cNvPr>
          <p:cNvCxnSpPr>
            <a:cxnSpLocks/>
            <a:stCxn id="78" idx="2"/>
            <a:endCxn id="194" idx="0"/>
          </p:cNvCxnSpPr>
          <p:nvPr/>
        </p:nvCxnSpPr>
        <p:spPr>
          <a:xfrm rot="5400000">
            <a:off x="7201704" y="4026541"/>
            <a:ext cx="619200" cy="337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07" name="肘形接點 68">
            <a:extLst>
              <a:ext uri="{FF2B5EF4-FFF2-40B4-BE49-F238E27FC236}">
                <a16:creationId xmlns="" xmlns:a16="http://schemas.microsoft.com/office/drawing/2014/main" id="{448AD0D0-260C-EB70-0D8F-37D06631CF68}"/>
              </a:ext>
            </a:extLst>
          </p:cNvPr>
          <p:cNvCxnSpPr>
            <a:cxnSpLocks/>
            <a:stCxn id="64" idx="3"/>
            <a:endCxn id="78" idx="1"/>
          </p:cNvCxnSpPr>
          <p:nvPr/>
        </p:nvCxnSpPr>
        <p:spPr>
          <a:xfrm flipV="1">
            <a:off x="5073669" y="3082736"/>
            <a:ext cx="1540406" cy="1255092"/>
          </a:xfrm>
          <a:prstGeom prst="bentConnector3">
            <a:avLst>
              <a:gd name="adj1" fmla="val 66346"/>
            </a:avLst>
          </a:prstGeom>
          <a:ln>
            <a:tailEnd type="triangle"/>
          </a:ln>
        </p:spPr>
        <p:style>
          <a:lnRef idx="1">
            <a:schemeClr val="dk1"/>
          </a:lnRef>
          <a:fillRef idx="0">
            <a:schemeClr val="dk1"/>
          </a:fillRef>
          <a:effectRef idx="0">
            <a:schemeClr val="dk1"/>
          </a:effectRef>
          <a:fontRef idx="minor">
            <a:schemeClr val="tx1"/>
          </a:fontRef>
        </p:style>
      </p:cxnSp>
      <p:sp>
        <p:nvSpPr>
          <p:cNvPr id="212" name="文字方塊 211">
            <a:extLst>
              <a:ext uri="{FF2B5EF4-FFF2-40B4-BE49-F238E27FC236}">
                <a16:creationId xmlns="" xmlns:a16="http://schemas.microsoft.com/office/drawing/2014/main" id="{77B4B55F-0F2C-F9C9-DC70-3DF8E10A4C67}"/>
              </a:ext>
            </a:extLst>
          </p:cNvPr>
          <p:cNvSpPr txBox="1"/>
          <p:nvPr/>
        </p:nvSpPr>
        <p:spPr>
          <a:xfrm>
            <a:off x="8370305" y="4387382"/>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cxnSp>
        <p:nvCxnSpPr>
          <p:cNvPr id="43" name="肘形接點 68">
            <a:extLst>
              <a:ext uri="{FF2B5EF4-FFF2-40B4-BE49-F238E27FC236}">
                <a16:creationId xmlns="" xmlns:a16="http://schemas.microsoft.com/office/drawing/2014/main" id="{657A7C92-360E-1F64-D136-D2C581978931}"/>
              </a:ext>
            </a:extLst>
          </p:cNvPr>
          <p:cNvCxnSpPr>
            <a:cxnSpLocks/>
            <a:stCxn id="18" idx="2"/>
            <a:endCxn id="71" idx="0"/>
          </p:cNvCxnSpPr>
          <p:nvPr/>
        </p:nvCxnSpPr>
        <p:spPr>
          <a:xfrm rot="16200000" flipH="1">
            <a:off x="3886417" y="6820816"/>
            <a:ext cx="518788" cy="199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19" name="肘形接點 68">
            <a:extLst>
              <a:ext uri="{FF2B5EF4-FFF2-40B4-BE49-F238E27FC236}">
                <a16:creationId xmlns="" xmlns:a16="http://schemas.microsoft.com/office/drawing/2014/main" id="{5DDBD375-176F-BBDB-9F04-260A537900F0}"/>
              </a:ext>
            </a:extLst>
          </p:cNvPr>
          <p:cNvCxnSpPr>
            <a:cxnSpLocks/>
            <a:stCxn id="72" idx="3"/>
            <a:endCxn id="257" idx="1"/>
          </p:cNvCxnSpPr>
          <p:nvPr/>
        </p:nvCxnSpPr>
        <p:spPr>
          <a:xfrm flipV="1">
            <a:off x="5047722" y="9206471"/>
            <a:ext cx="4491937" cy="363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57" name="流程圖: 預設處理作業 21">
            <a:extLst>
              <a:ext uri="{FF2B5EF4-FFF2-40B4-BE49-F238E27FC236}">
                <a16:creationId xmlns="" xmlns:a16="http://schemas.microsoft.com/office/drawing/2014/main" id="{6F2F206E-1EFE-7AC7-1BBC-875DB4634978}"/>
              </a:ext>
            </a:extLst>
          </p:cNvPr>
          <p:cNvSpPr/>
          <p:nvPr/>
        </p:nvSpPr>
        <p:spPr bwMode="auto">
          <a:xfrm>
            <a:off x="9539659" y="8587271"/>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MM-IV-0010</a:t>
            </a:r>
          </a:p>
          <a:p>
            <a:pPr algn="ctr" eaLnBrk="0" hangingPunct="0"/>
            <a:r>
              <a:rPr lang="zh-TW" altLang="en-US" sz="1500" dirty="0">
                <a:latin typeface="微軟正黑體" panose="020B0604030504040204" pitchFamily="34" charset="-120"/>
                <a:ea typeface="微軟正黑體" panose="020B0604030504040204" pitchFamily="34" charset="-120"/>
              </a:rPr>
              <a:t>發票請款</a:t>
            </a:r>
          </a:p>
        </p:txBody>
      </p:sp>
      <p:graphicFrame>
        <p:nvGraphicFramePr>
          <p:cNvPr id="3" name="表格 30">
            <a:extLst>
              <a:ext uri="{FF2B5EF4-FFF2-40B4-BE49-F238E27FC236}">
                <a16:creationId xmlns="" xmlns:a16="http://schemas.microsoft.com/office/drawing/2014/main" id="{19AF2C99-FF7D-8830-E601-D92E4B6B1EF3}"/>
              </a:ext>
            </a:extLst>
          </p:cNvPr>
          <p:cNvGraphicFramePr>
            <a:graphicFrameLocks noGrp="1"/>
          </p:cNvGraphicFramePr>
          <p:nvPr/>
        </p:nvGraphicFramePr>
        <p:xfrm>
          <a:off x="8739455" y="5247344"/>
          <a:ext cx="1797832" cy="127668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2510">
                <a:tc gridSpan="2">
                  <a:txBody>
                    <a:bodyPr/>
                    <a:lstStyle/>
                    <a:p>
                      <a:pPr algn="ctr"/>
                      <a:r>
                        <a:rPr lang="en-GB" altLang="zh-TW" sz="1400" b="1" dirty="0">
                          <a:solidFill>
                            <a:schemeClr val="tx1"/>
                          </a:solidFill>
                          <a:latin typeface="微軟正黑體" panose="020B0604030504040204" pitchFamily="34" charset="-120"/>
                          <a:ea typeface="微軟正黑體" panose="020B0604030504040204" pitchFamily="34" charset="-120"/>
                        </a:rPr>
                        <a:t>ZMM006</a:t>
                      </a:r>
                      <a:endParaRPr lang="en-GB" sz="1400" b="1" dirty="0">
                        <a:solidFill>
                          <a:schemeClr val="tx1"/>
                        </a:solidFill>
                        <a:latin typeface="微軟正黑體" panose="020B0604030504040204" pitchFamily="34" charset="-120"/>
                        <a:ea typeface="微軟正黑體" panose="020B0604030504040204" pitchFamily="34" charset="-120"/>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627092">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更新</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採購單，刪除標記</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9" name="肘形接點 68">
            <a:extLst>
              <a:ext uri="{FF2B5EF4-FFF2-40B4-BE49-F238E27FC236}">
                <a16:creationId xmlns="" xmlns:a16="http://schemas.microsoft.com/office/drawing/2014/main" id="{8EAE7589-01E3-4BEF-9A83-989F55F98E85}"/>
              </a:ext>
            </a:extLst>
          </p:cNvPr>
          <p:cNvCxnSpPr>
            <a:cxnSpLocks/>
            <a:stCxn id="257" idx="3"/>
            <a:endCxn id="25" idx="2"/>
          </p:cNvCxnSpPr>
          <p:nvPr/>
        </p:nvCxnSpPr>
        <p:spPr>
          <a:xfrm flipV="1">
            <a:off x="11352771" y="6282056"/>
            <a:ext cx="1848140" cy="292441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56" name="矩形 55"/>
          <p:cNvSpPr/>
          <p:nvPr/>
        </p:nvSpPr>
        <p:spPr>
          <a:xfrm>
            <a:off x="15445945" y="424952"/>
            <a:ext cx="344966" cy="323165"/>
          </a:xfrm>
          <a:prstGeom prst="rect">
            <a:avLst/>
          </a:prstGeom>
        </p:spPr>
        <p:txBody>
          <a:bodyPr wrap="none">
            <a:spAutoFit/>
          </a:bodyPr>
          <a:lstStyle/>
          <a:p>
            <a:r>
              <a:rPr lang="en-US" altLang="zh-TW" sz="1500" dirty="0">
                <a:latin typeface="微軟正黑體" panose="020B0604030504040204" pitchFamily="34" charset="-120"/>
                <a:ea typeface="微軟正黑體" panose="020B0604030504040204" pitchFamily="34" charset="-120"/>
              </a:rPr>
              <a:t>7 </a:t>
            </a:r>
            <a:endParaRPr lang="zh-TW" altLang="en-US" sz="1500" dirty="0"/>
          </a:p>
        </p:txBody>
      </p:sp>
      <p:graphicFrame>
        <p:nvGraphicFramePr>
          <p:cNvPr id="62"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3278631" y="2139067"/>
          <a:ext cx="1797832" cy="10098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500" b="1" dirty="0">
                          <a:solidFill>
                            <a:schemeClr val="tx1"/>
                          </a:solidFill>
                          <a:latin typeface="微軟正黑體" panose="020B0604030504040204" pitchFamily="34" charset="-120"/>
                          <a:ea typeface="微軟正黑體" panose="020B0604030504040204" pitchFamily="34" charset="-120"/>
                        </a:rPr>
                        <a:t>ME21N</a:t>
                      </a: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建立採購單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64"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3275837" y="3718628"/>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ZMM019</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將採購單發起</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18" name="表格 17"/>
          <p:cNvGraphicFramePr>
            <a:graphicFrameLocks noGrp="1"/>
          </p:cNvGraphicFramePr>
          <p:nvPr/>
        </p:nvGraphicFramePr>
        <p:xfrm>
          <a:off x="3245897" y="5552620"/>
          <a:ext cx="1797832" cy="10098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20000"/>
                    </a:ext>
                  </a:extLst>
                </a:gridCol>
                <a:gridCol w="898916">
                  <a:extLst>
                    <a:ext uri="{9D8B030D-6E8A-4147-A177-3AD203B41FA5}">
                      <a16:colId xmlns="" xmlns:a16="http://schemas.microsoft.com/office/drawing/2014/main" val="20001"/>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ZMM006</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00"/>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核發採購單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01"/>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graphicFrame>
        <p:nvGraphicFramePr>
          <p:cNvPr id="71" name="表格 70"/>
          <p:cNvGraphicFramePr>
            <a:graphicFrameLocks noGrp="1"/>
          </p:cNvGraphicFramePr>
          <p:nvPr/>
        </p:nvGraphicFramePr>
        <p:xfrm>
          <a:off x="3247893" y="7081208"/>
          <a:ext cx="1797832" cy="10098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20000"/>
                    </a:ext>
                  </a:extLst>
                </a:gridCol>
                <a:gridCol w="898916">
                  <a:extLst>
                    <a:ext uri="{9D8B030D-6E8A-4147-A177-3AD203B41FA5}">
                      <a16:colId xmlns="" xmlns:a16="http://schemas.microsoft.com/office/drawing/2014/main" val="20001"/>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00"/>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列印採購單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01"/>
                  </a:ext>
                </a:extLst>
              </a:tr>
              <a:tr h="336600">
                <a:tc>
                  <a:txBody>
                    <a:bodyPr/>
                    <a:lstStyle/>
                    <a:p>
                      <a:pPr algn="ctr"/>
                      <a:r>
                        <a:rPr lang="en-US"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graphicFrame>
        <p:nvGraphicFramePr>
          <p:cNvPr id="72" name="表格 71"/>
          <p:cNvGraphicFramePr>
            <a:graphicFrameLocks noGrp="1"/>
          </p:cNvGraphicFramePr>
          <p:nvPr/>
        </p:nvGraphicFramePr>
        <p:xfrm>
          <a:off x="3249890" y="8705209"/>
          <a:ext cx="1797832" cy="10098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20000"/>
                    </a:ext>
                  </a:extLst>
                </a:gridCol>
                <a:gridCol w="898916">
                  <a:extLst>
                    <a:ext uri="{9D8B030D-6E8A-4147-A177-3AD203B41FA5}">
                      <a16:colId xmlns="" xmlns:a16="http://schemas.microsoft.com/office/drawing/2014/main" val="20001"/>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MIGO</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00"/>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採購單驗收</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01"/>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graphicFrame>
        <p:nvGraphicFramePr>
          <p:cNvPr id="78" name="表格 30">
            <a:extLst>
              <a:ext uri="{FF2B5EF4-FFF2-40B4-BE49-F238E27FC236}">
                <a16:creationId xmlns="" xmlns:a16="http://schemas.microsoft.com/office/drawing/2014/main" id="{94474DA2-C417-6AE7-95EE-50C9649AB985}"/>
              </a:ext>
            </a:extLst>
          </p:cNvPr>
          <p:cNvGraphicFramePr>
            <a:graphicFrameLocks noGrp="1"/>
          </p:cNvGraphicFramePr>
          <p:nvPr>
            <p:extLst>
              <p:ext uri="{D42A27DB-BD31-4B8C-83A1-F6EECF244321}">
                <p14:modId xmlns="" xmlns:p14="http://schemas.microsoft.com/office/powerpoint/2010/main" val="1440281776"/>
              </p:ext>
            </p:extLst>
          </p:nvPr>
        </p:nvGraphicFramePr>
        <p:xfrm>
          <a:off x="6614075" y="2446844"/>
          <a:ext cx="1797832" cy="1271784"/>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53292">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81892">
                <a:tc gridSpan="2">
                  <a:txBody>
                    <a:bodyPr/>
                    <a:lstStyle/>
                    <a:p>
                      <a:pPr algn="ctr"/>
                      <a:r>
                        <a:rPr lang="zh-TW" altLang="en-US" sz="1500" dirty="0">
                          <a:latin typeface="微軟正黑體" panose="020B0604030504040204" pitchFamily="34" charset="-120"/>
                          <a:ea typeface="微軟正黑體" panose="020B0604030504040204" pitchFamily="34" charset="-120"/>
                        </a:rPr>
                        <a:t>在</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上簽核</a:t>
                      </a:r>
                      <a:endParaRPr lang="en-US" altLang="zh-TW" sz="1500" dirty="0">
                        <a:latin typeface="微軟正黑體" panose="020B0604030504040204" pitchFamily="34" charset="-120"/>
                        <a:ea typeface="微軟正黑體" panose="020B0604030504040204" pitchFamily="34" charset="-120"/>
                      </a:endParaRPr>
                    </a:p>
                    <a:p>
                      <a:pPr algn="ctr"/>
                      <a:r>
                        <a:rPr lang="zh-TW" altLang="en-US" sz="1500" dirty="0">
                          <a:latin typeface="微軟正黑體" panose="020B0604030504040204" pitchFamily="34" charset="-120"/>
                          <a:ea typeface="微軟正黑體" panose="020B0604030504040204" pitchFamily="34" charset="-120"/>
                        </a:rPr>
                        <a:t>採購單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228" name="Group 220">
            <a:extLst>
              <a:ext uri="{FF2B5EF4-FFF2-40B4-BE49-F238E27FC236}">
                <a16:creationId xmlns="" xmlns:a16="http://schemas.microsoft.com/office/drawing/2014/main" id="{A996302A-92F3-7B59-12E7-0AC211B790E7}"/>
              </a:ext>
            </a:extLst>
          </p:cNvPr>
          <p:cNvGrpSpPr/>
          <p:nvPr/>
        </p:nvGrpSpPr>
        <p:grpSpPr>
          <a:xfrm>
            <a:off x="4899641" y="3479284"/>
            <a:ext cx="522432" cy="408542"/>
            <a:chOff x="5906472" y="1486857"/>
            <a:chExt cx="348288" cy="272361"/>
          </a:xfrm>
        </p:grpSpPr>
        <p:sp>
          <p:nvSpPr>
            <p:cNvPr id="229" name="Oval 221">
              <a:extLst>
                <a:ext uri="{FF2B5EF4-FFF2-40B4-BE49-F238E27FC236}">
                  <a16:creationId xmlns="" xmlns:a16="http://schemas.microsoft.com/office/drawing/2014/main" id="{B4CE644E-2B3A-3599-38B4-4C91E6C4B30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30" name="TextBox 222">
              <a:extLst>
                <a:ext uri="{FF2B5EF4-FFF2-40B4-BE49-F238E27FC236}">
                  <a16:creationId xmlns="" xmlns:a16="http://schemas.microsoft.com/office/drawing/2014/main" id="{39CA8549-2829-36F3-30B6-26DDDD879D6F}"/>
                </a:ext>
              </a:extLst>
            </p:cNvPr>
            <p:cNvSpPr txBox="1"/>
            <p:nvPr/>
          </p:nvSpPr>
          <p:spPr>
            <a:xfrm>
              <a:off x="5921465" y="1507079"/>
              <a:ext cx="333295"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20" name="Group 220">
            <a:extLst>
              <a:ext uri="{FF2B5EF4-FFF2-40B4-BE49-F238E27FC236}">
                <a16:creationId xmlns="" xmlns:a16="http://schemas.microsoft.com/office/drawing/2014/main" id="{0B79EBBA-F242-48C7-ECC3-55BEDF3FDDA8}"/>
              </a:ext>
            </a:extLst>
          </p:cNvPr>
          <p:cNvGrpSpPr/>
          <p:nvPr/>
        </p:nvGrpSpPr>
        <p:grpSpPr>
          <a:xfrm>
            <a:off x="4866780" y="1920878"/>
            <a:ext cx="558210" cy="415761"/>
            <a:chOff x="5906472" y="1486857"/>
            <a:chExt cx="372140" cy="272361"/>
          </a:xfrm>
        </p:grpSpPr>
        <p:sp>
          <p:nvSpPr>
            <p:cNvPr id="21" name="Oval 221">
              <a:extLst>
                <a:ext uri="{FF2B5EF4-FFF2-40B4-BE49-F238E27FC236}">
                  <a16:creationId xmlns="" xmlns:a16="http://schemas.microsoft.com/office/drawing/2014/main" id="{43FEF97A-51DF-308E-5C1C-DC15C2D5D5F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2" name="TextBox 222">
              <a:extLst>
                <a:ext uri="{FF2B5EF4-FFF2-40B4-BE49-F238E27FC236}">
                  <a16:creationId xmlns="" xmlns:a16="http://schemas.microsoft.com/office/drawing/2014/main" id="{7751ACA8-5935-4AA1-4521-923760069DB5}"/>
                </a:ext>
              </a:extLst>
            </p:cNvPr>
            <p:cNvSpPr txBox="1"/>
            <p:nvPr/>
          </p:nvSpPr>
          <p:spPr>
            <a:xfrm>
              <a:off x="5923012" y="1493275"/>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nvGrpSpPr>
          <p:cNvPr id="52" name="Group 220">
            <a:extLst>
              <a:ext uri="{FF2B5EF4-FFF2-40B4-BE49-F238E27FC236}">
                <a16:creationId xmlns="" xmlns:a16="http://schemas.microsoft.com/office/drawing/2014/main" id="{F81D34BE-59A8-72F2-3ACF-DF9450694007}"/>
              </a:ext>
            </a:extLst>
          </p:cNvPr>
          <p:cNvGrpSpPr/>
          <p:nvPr/>
        </p:nvGrpSpPr>
        <p:grpSpPr>
          <a:xfrm>
            <a:off x="4832510" y="5358308"/>
            <a:ext cx="546548" cy="408542"/>
            <a:chOff x="5906472" y="1486857"/>
            <a:chExt cx="364365" cy="272361"/>
          </a:xfrm>
        </p:grpSpPr>
        <p:sp>
          <p:nvSpPr>
            <p:cNvPr id="53" name="Oval 221">
              <a:extLst>
                <a:ext uri="{FF2B5EF4-FFF2-40B4-BE49-F238E27FC236}">
                  <a16:creationId xmlns="" xmlns:a16="http://schemas.microsoft.com/office/drawing/2014/main" id="{3EB6E656-DD2D-C745-B1D3-96C712D587B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54" name="TextBox 222">
              <a:extLst>
                <a:ext uri="{FF2B5EF4-FFF2-40B4-BE49-F238E27FC236}">
                  <a16:creationId xmlns="" xmlns:a16="http://schemas.microsoft.com/office/drawing/2014/main" id="{BD56CC1B-4EE4-2F41-815F-DBCC593FFC5D}"/>
                </a:ext>
              </a:extLst>
            </p:cNvPr>
            <p:cNvSpPr txBox="1"/>
            <p:nvPr/>
          </p:nvSpPr>
          <p:spPr>
            <a:xfrm>
              <a:off x="5915237"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235" name="Group 220">
            <a:extLst>
              <a:ext uri="{FF2B5EF4-FFF2-40B4-BE49-F238E27FC236}">
                <a16:creationId xmlns="" xmlns:a16="http://schemas.microsoft.com/office/drawing/2014/main" id="{56A53D60-F177-B66D-1052-09F00D9EB829}"/>
              </a:ext>
            </a:extLst>
          </p:cNvPr>
          <p:cNvGrpSpPr/>
          <p:nvPr/>
        </p:nvGrpSpPr>
        <p:grpSpPr>
          <a:xfrm>
            <a:off x="4892643" y="6866420"/>
            <a:ext cx="546285" cy="408542"/>
            <a:chOff x="5906472" y="1486857"/>
            <a:chExt cx="364190" cy="272361"/>
          </a:xfrm>
        </p:grpSpPr>
        <p:sp>
          <p:nvSpPr>
            <p:cNvPr id="236" name="Oval 221">
              <a:extLst>
                <a:ext uri="{FF2B5EF4-FFF2-40B4-BE49-F238E27FC236}">
                  <a16:creationId xmlns="" xmlns:a16="http://schemas.microsoft.com/office/drawing/2014/main" id="{1026EB19-175E-BAE9-2573-E214F8CC61B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37" name="TextBox 222">
              <a:extLst>
                <a:ext uri="{FF2B5EF4-FFF2-40B4-BE49-F238E27FC236}">
                  <a16:creationId xmlns="" xmlns:a16="http://schemas.microsoft.com/office/drawing/2014/main" id="{58D156B1-9578-40C0-E02B-A11714005BD3}"/>
                </a:ext>
              </a:extLst>
            </p:cNvPr>
            <p:cNvSpPr txBox="1"/>
            <p:nvPr/>
          </p:nvSpPr>
          <p:spPr>
            <a:xfrm>
              <a:off x="5915062"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nvGrpSpPr>
          <p:cNvPr id="192" name="Group 220">
            <a:extLst>
              <a:ext uri="{FF2B5EF4-FFF2-40B4-BE49-F238E27FC236}">
                <a16:creationId xmlns="" xmlns:a16="http://schemas.microsoft.com/office/drawing/2014/main" id="{77E3C75E-7CEF-E281-350B-08E85417CFF9}"/>
              </a:ext>
            </a:extLst>
          </p:cNvPr>
          <p:cNvGrpSpPr/>
          <p:nvPr/>
        </p:nvGrpSpPr>
        <p:grpSpPr>
          <a:xfrm>
            <a:off x="4821212" y="8500807"/>
            <a:ext cx="560127" cy="415761"/>
            <a:chOff x="5906472" y="1486857"/>
            <a:chExt cx="373418" cy="272361"/>
          </a:xfrm>
        </p:grpSpPr>
        <p:sp>
          <p:nvSpPr>
            <p:cNvPr id="199" name="Oval 221">
              <a:extLst>
                <a:ext uri="{FF2B5EF4-FFF2-40B4-BE49-F238E27FC236}">
                  <a16:creationId xmlns="" xmlns:a16="http://schemas.microsoft.com/office/drawing/2014/main" id="{2DACA02A-DFED-41C2-730C-A21AA0AD6EC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00" name="TextBox 222">
              <a:extLst>
                <a:ext uri="{FF2B5EF4-FFF2-40B4-BE49-F238E27FC236}">
                  <a16:creationId xmlns="" xmlns:a16="http://schemas.microsoft.com/office/drawing/2014/main" id="{9D9D2474-EB3C-A99D-C27B-F857701EE3AA}"/>
                </a:ext>
              </a:extLst>
            </p:cNvPr>
            <p:cNvSpPr txBox="1"/>
            <p:nvPr/>
          </p:nvSpPr>
          <p:spPr>
            <a:xfrm>
              <a:off x="5924290"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grpSp>
        <p:nvGrpSpPr>
          <p:cNvPr id="45" name="Group 220">
            <a:extLst>
              <a:ext uri="{FF2B5EF4-FFF2-40B4-BE49-F238E27FC236}">
                <a16:creationId xmlns="" xmlns:a16="http://schemas.microsoft.com/office/drawing/2014/main" id="{ADD1546F-75A2-0E22-F66E-32DFDB0DE746}"/>
              </a:ext>
            </a:extLst>
          </p:cNvPr>
          <p:cNvGrpSpPr/>
          <p:nvPr/>
        </p:nvGrpSpPr>
        <p:grpSpPr>
          <a:xfrm>
            <a:off x="8272231" y="2258332"/>
            <a:ext cx="549576" cy="415761"/>
            <a:chOff x="5906472" y="1486857"/>
            <a:chExt cx="366384" cy="272361"/>
          </a:xfrm>
        </p:grpSpPr>
        <p:sp>
          <p:nvSpPr>
            <p:cNvPr id="46" name="Oval 221">
              <a:extLst>
                <a:ext uri="{FF2B5EF4-FFF2-40B4-BE49-F238E27FC236}">
                  <a16:creationId xmlns="" xmlns:a16="http://schemas.microsoft.com/office/drawing/2014/main" id="{E638D9BF-33CE-140D-7D4D-42C18836B3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48" name="TextBox 222">
              <a:extLst>
                <a:ext uri="{FF2B5EF4-FFF2-40B4-BE49-F238E27FC236}">
                  <a16:creationId xmlns="" xmlns:a16="http://schemas.microsoft.com/office/drawing/2014/main" id="{454E1CB9-6ED4-AD5A-39EC-6D1B324BA26E}"/>
                </a:ext>
              </a:extLst>
            </p:cNvPr>
            <p:cNvSpPr txBox="1"/>
            <p:nvPr/>
          </p:nvSpPr>
          <p:spPr>
            <a:xfrm>
              <a:off x="5917256"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nvGrpSpPr>
          <p:cNvPr id="214" name="Group 220">
            <a:extLst>
              <a:ext uri="{FF2B5EF4-FFF2-40B4-BE49-F238E27FC236}">
                <a16:creationId xmlns="" xmlns:a16="http://schemas.microsoft.com/office/drawing/2014/main" id="{8A9AC483-AEE2-E823-4C72-63653F1F67AC}"/>
              </a:ext>
            </a:extLst>
          </p:cNvPr>
          <p:cNvGrpSpPr/>
          <p:nvPr/>
        </p:nvGrpSpPr>
        <p:grpSpPr>
          <a:xfrm>
            <a:off x="10288430" y="5034556"/>
            <a:ext cx="533400" cy="415761"/>
            <a:chOff x="5906184" y="1486857"/>
            <a:chExt cx="355600" cy="272361"/>
          </a:xfrm>
        </p:grpSpPr>
        <p:sp>
          <p:nvSpPr>
            <p:cNvPr id="215" name="Oval 221">
              <a:extLst>
                <a:ext uri="{FF2B5EF4-FFF2-40B4-BE49-F238E27FC236}">
                  <a16:creationId xmlns="" xmlns:a16="http://schemas.microsoft.com/office/drawing/2014/main" id="{7BFB141D-75A0-C3A7-7C7A-3C69401E8EA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16" name="TextBox 222">
              <a:extLst>
                <a:ext uri="{FF2B5EF4-FFF2-40B4-BE49-F238E27FC236}">
                  <a16:creationId xmlns="" xmlns:a16="http://schemas.microsoft.com/office/drawing/2014/main" id="{C91CBE57-D8EE-E7C0-06E8-DC312FC8BF67}"/>
                </a:ext>
              </a:extLst>
            </p:cNvPr>
            <p:cNvSpPr txBox="1"/>
            <p:nvPr/>
          </p:nvSpPr>
          <p:spPr>
            <a:xfrm>
              <a:off x="5906184"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cxnSp>
        <p:nvCxnSpPr>
          <p:cNvPr id="12" name="直線單箭頭接點 11">
            <a:extLst>
              <a:ext uri="{FF2B5EF4-FFF2-40B4-BE49-F238E27FC236}">
                <a16:creationId xmlns="" xmlns:a16="http://schemas.microsoft.com/office/drawing/2014/main" id="{706DE04D-62C9-682C-AA0C-35DB7E1FC818}"/>
              </a:ext>
            </a:extLst>
          </p:cNvPr>
          <p:cNvCxnSpPr>
            <a:cxnSpLocks/>
            <a:stCxn id="3" idx="3"/>
            <a:endCxn id="25" idx="1"/>
          </p:cNvCxnSpPr>
          <p:nvPr/>
        </p:nvCxnSpPr>
        <p:spPr>
          <a:xfrm>
            <a:off x="10537287" y="5885687"/>
            <a:ext cx="1764708" cy="51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單箭頭接點 22">
            <a:extLst>
              <a:ext uri="{FF2B5EF4-FFF2-40B4-BE49-F238E27FC236}">
                <a16:creationId xmlns="" xmlns:a16="http://schemas.microsoft.com/office/drawing/2014/main" id="{2BEFE590-49D0-BABE-E6A0-8516D85C4EDF}"/>
              </a:ext>
            </a:extLst>
          </p:cNvPr>
          <p:cNvCxnSpPr>
            <a:cxnSpLocks/>
            <a:stCxn id="10" idx="3"/>
            <a:endCxn id="62" idx="1"/>
          </p:cNvCxnSpPr>
          <p:nvPr/>
        </p:nvCxnSpPr>
        <p:spPr>
          <a:xfrm>
            <a:off x="2205183" y="2637518"/>
            <a:ext cx="1073448" cy="64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 xmlns:p14="http://schemas.microsoft.com/office/powerpoint/2010/main" val="38699374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5423"/>
            <a:ext cx="17911883" cy="8399412"/>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 </a:t>
            </a:r>
            <a:endParaRPr sz="2700" dirty="0"/>
          </a:p>
          <a:p>
            <a:endParaRPr dirty="0">
              <a:solidFill>
                <a:schemeClr val="dk1"/>
              </a:solidFill>
              <a:latin typeface="Arial"/>
              <a:ea typeface="Arial"/>
              <a:cs typeface="Arial"/>
              <a:sym typeface="Arial"/>
            </a:endParaRPr>
          </a:p>
        </p:txBody>
      </p:sp>
      <p:sp>
        <p:nvSpPr>
          <p:cNvPr id="4" name="TextBox 53">
            <a:extLst>
              <a:ext uri="{FF2B5EF4-FFF2-40B4-BE49-F238E27FC236}">
                <a16:creationId xmlns="" xmlns:a16="http://schemas.microsoft.com/office/drawing/2014/main" id="{DF940026-96D7-3867-6425-C228DF3D29BF}"/>
              </a:ext>
            </a:extLst>
          </p:cNvPr>
          <p:cNvSpPr txBox="1"/>
          <p:nvPr/>
        </p:nvSpPr>
        <p:spPr>
          <a:xfrm>
            <a:off x="369737" y="2243536"/>
            <a:ext cx="17378475" cy="7848302"/>
          </a:xfrm>
          <a:prstGeom prst="rect">
            <a:avLst/>
          </a:prstGeom>
          <a:noFill/>
        </p:spPr>
        <p:txBody>
          <a:bodyPr wrap="square" rtlCol="0">
            <a:spAutoFit/>
          </a:bodyPr>
          <a:lstStyle/>
          <a:p>
            <a:r>
              <a:rPr lang="en-US" altLang="zh-TW" dirty="0"/>
              <a:t>1</a:t>
            </a:r>
            <a:r>
              <a:rPr lang="zh-TW" altLang="en-US" dirty="0"/>
              <a:t>、</a:t>
            </a:r>
            <a:r>
              <a:rPr lang="zh-TW" altLang="en-US" dirty="0">
                <a:latin typeface="微軟正黑體" panose="020B0604030504040204" pitchFamily="34" charset="-120"/>
                <a:ea typeface="微軟正黑體" panose="020B0604030504040204" pitchFamily="34" charset="-120"/>
              </a:rPr>
              <a:t>庶務庫存品有五大類</a:t>
            </a:r>
            <a:r>
              <a:rPr lang="en-US" altLang="zh-TW" dirty="0">
                <a:latin typeface="微軟正黑體" panose="020B0604030504040204" pitchFamily="34" charset="-120"/>
                <a:ea typeface="微軟正黑體" panose="020B0604030504040204" pitchFamily="34" charset="-120"/>
              </a:rPr>
              <a:t>:</a:t>
            </a:r>
          </a:p>
          <a:p>
            <a:r>
              <a:rPr lang="en-US" altLang="zh-TW" dirty="0">
                <a:latin typeface="微軟正黑體" panose="020B0604030504040204" pitchFamily="34" charset="-120"/>
                <a:ea typeface="微軟正黑體" panose="020B0604030504040204" pitchFamily="34" charset="-120"/>
              </a:rPr>
              <a:t>       Y1</a:t>
            </a:r>
            <a:r>
              <a:rPr lang="zh-TW" altLang="en-US" dirty="0">
                <a:latin typeface="微軟正黑體" panose="020B0604030504040204" pitchFamily="34" charset="-120"/>
                <a:ea typeface="微軟正黑體" panose="020B0604030504040204" pitchFamily="34" charset="-120"/>
              </a:rPr>
              <a:t>文具用品</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       Y2</a:t>
            </a:r>
            <a:r>
              <a:rPr lang="zh-TW" altLang="en-US" dirty="0">
                <a:latin typeface="微軟正黑體" panose="020B0604030504040204" pitchFamily="34" charset="-120"/>
                <a:ea typeface="微軟正黑體" panose="020B0604030504040204" pitchFamily="34" charset="-120"/>
              </a:rPr>
              <a:t>工廠物料</a:t>
            </a:r>
          </a:p>
          <a:p>
            <a:r>
              <a:rPr lang="en-US" altLang="zh-TW" dirty="0">
                <a:latin typeface="微軟正黑體" panose="020B0604030504040204" pitchFamily="34" charset="-120"/>
                <a:ea typeface="微軟正黑體" panose="020B0604030504040204" pitchFamily="34" charset="-120"/>
              </a:rPr>
              <a:t>       Y3</a:t>
            </a:r>
            <a:r>
              <a:rPr lang="zh-TW" altLang="en-US" dirty="0">
                <a:latin typeface="微軟正黑體" panose="020B0604030504040204" pitchFamily="34" charset="-120"/>
                <a:ea typeface="微軟正黑體" panose="020B0604030504040204" pitchFamily="34" charset="-120"/>
              </a:rPr>
              <a:t>總務庶務用品</a:t>
            </a:r>
          </a:p>
          <a:p>
            <a:r>
              <a:rPr lang="en-US" altLang="zh-TW" dirty="0">
                <a:latin typeface="微軟正黑體" panose="020B0604030504040204" pitchFamily="34" charset="-120"/>
                <a:ea typeface="微軟正黑體" panose="020B0604030504040204" pitchFamily="34" charset="-120"/>
              </a:rPr>
              <a:t>       Y4</a:t>
            </a:r>
            <a:r>
              <a:rPr lang="zh-TW" altLang="en-US" dirty="0">
                <a:latin typeface="微軟正黑體" panose="020B0604030504040204" pitchFamily="34" charset="-120"/>
                <a:ea typeface="微軟正黑體" panose="020B0604030504040204" pitchFamily="34" charset="-120"/>
              </a:rPr>
              <a:t>制工具領用</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       </a:t>
            </a:r>
            <a:r>
              <a:rPr lang="en-US" altLang="zh-TW" dirty="0">
                <a:latin typeface="微軟正黑體" panose="020B0604030504040204" pitchFamily="34" charset="-120"/>
                <a:ea typeface="微軟正黑體" panose="020B0604030504040204" pitchFamily="34" charset="-120"/>
              </a:rPr>
              <a:t>Y5</a:t>
            </a:r>
            <a:r>
              <a:rPr lang="zh-TW" altLang="en-US" dirty="0">
                <a:latin typeface="微軟正黑體" panose="020B0604030504040204" pitchFamily="34" charset="-120"/>
                <a:ea typeface="微軟正黑體" panose="020B0604030504040204" pitchFamily="34" charset="-120"/>
              </a:rPr>
              <a:t>電腦周邊配件</a:t>
            </a:r>
            <a:endParaRPr lang="en-US" altLang="zh-TW" dirty="0">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rPr>
              <a:t>、庶務類請購單類型</a:t>
            </a:r>
            <a:endParaRPr lang="en-US" altLang="zh-TW" dirty="0">
              <a:latin typeface="微軟正黑體" panose="020B0604030504040204" pitchFamily="34" charset="-120"/>
              <a:ea typeface="微軟正黑體" panose="020B0604030504040204" pitchFamily="34" charset="-120"/>
            </a:endParaRPr>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zh-TW" altLang="en-US" dirty="0"/>
          </a:p>
        </p:txBody>
      </p:sp>
      <p:sp>
        <p:nvSpPr>
          <p:cNvPr id="5" name="Google Shape;198;p3"/>
          <p:cNvSpPr txBox="1">
            <a:spLocks/>
          </p:cNvSpPr>
          <p:nvPr/>
        </p:nvSpPr>
        <p:spPr>
          <a:xfrm>
            <a:off x="15359268" y="447245"/>
            <a:ext cx="369879" cy="24693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8</a:t>
            </a:r>
          </a:p>
        </p:txBody>
      </p:sp>
      <p:graphicFrame>
        <p:nvGraphicFramePr>
          <p:cNvPr id="2" name="表格 1"/>
          <p:cNvGraphicFramePr>
            <a:graphicFrameLocks noGrp="1"/>
          </p:cNvGraphicFramePr>
          <p:nvPr>
            <p:extLst>
              <p:ext uri="{D42A27DB-BD31-4B8C-83A1-F6EECF244321}">
                <p14:modId xmlns="" xmlns:p14="http://schemas.microsoft.com/office/powerpoint/2010/main" val="938624578"/>
              </p:ext>
            </p:extLst>
          </p:nvPr>
        </p:nvGraphicFramePr>
        <p:xfrm>
          <a:off x="875716" y="4516523"/>
          <a:ext cx="7341737" cy="3548995"/>
        </p:xfrm>
        <a:graphic>
          <a:graphicData uri="http://schemas.openxmlformats.org/drawingml/2006/table">
            <a:tbl>
              <a:tblPr/>
              <a:tblGrid>
                <a:gridCol w="1392446">
                  <a:extLst>
                    <a:ext uri="{9D8B030D-6E8A-4147-A177-3AD203B41FA5}">
                      <a16:colId xmlns="" xmlns:a16="http://schemas.microsoft.com/office/drawing/2014/main" val="20000"/>
                    </a:ext>
                  </a:extLst>
                </a:gridCol>
                <a:gridCol w="2512010">
                  <a:extLst>
                    <a:ext uri="{9D8B030D-6E8A-4147-A177-3AD203B41FA5}">
                      <a16:colId xmlns="" xmlns:a16="http://schemas.microsoft.com/office/drawing/2014/main" val="20001"/>
                    </a:ext>
                  </a:extLst>
                </a:gridCol>
                <a:gridCol w="3437281">
                  <a:extLst>
                    <a:ext uri="{9D8B030D-6E8A-4147-A177-3AD203B41FA5}">
                      <a16:colId xmlns="" xmlns:a16="http://schemas.microsoft.com/office/drawing/2014/main" val="20002"/>
                    </a:ext>
                  </a:extLst>
                </a:gridCol>
              </a:tblGrid>
              <a:tr h="512445">
                <a:tc>
                  <a:txBody>
                    <a:bodyPr/>
                    <a:lstStyle/>
                    <a:p>
                      <a:pPr algn="ctr" rtl="0" fontAlgn="ctr"/>
                      <a:r>
                        <a:rPr lang="zh-TW" altLang="en-US" sz="1700" b="1" i="0" u="none" strike="noStrike" dirty="0">
                          <a:solidFill>
                            <a:srgbClr val="FFFFFF"/>
                          </a:solidFill>
                          <a:effectLst/>
                          <a:latin typeface="微軟正黑體" panose="020B0604030504040204" pitchFamily="34" charset="-120"/>
                          <a:ea typeface="微軟正黑體" panose="020B0604030504040204" pitchFamily="34" charset="-120"/>
                        </a:rPr>
                        <a:t>請購單類型</a:t>
                      </a:r>
                      <a:r>
                        <a:rPr lang="en-US" altLang="zh-TW" sz="1700" b="1" i="0" u="none" strike="noStrike" dirty="0">
                          <a:solidFill>
                            <a:srgbClr val="FFFFFF"/>
                          </a:solidFill>
                          <a:effectLst/>
                          <a:latin typeface="微軟正黑體" panose="020B0604030504040204" pitchFamily="34" charset="-120"/>
                          <a:ea typeface="微軟正黑體" panose="020B0604030504040204" pitchFamily="34" charset="-120"/>
                        </a:rPr>
                        <a:t>(4</a:t>
                      </a:r>
                      <a:r>
                        <a:rPr lang="zh-TW" altLang="en-US" sz="1700" b="1" i="0" u="none" strike="noStrike" dirty="0">
                          <a:solidFill>
                            <a:srgbClr val="FFFFFF"/>
                          </a:solidFill>
                          <a:effectLst/>
                          <a:latin typeface="微軟正黑體" panose="020B0604030504040204" pitchFamily="34" charset="-120"/>
                          <a:ea typeface="微軟正黑體" panose="020B0604030504040204" pitchFamily="34" charset="-120"/>
                        </a:rPr>
                        <a:t>碼</a:t>
                      </a:r>
                      <a:r>
                        <a:rPr lang="en-US" altLang="zh-TW" sz="1700" b="1" i="0" u="none" strike="noStrike" dirty="0">
                          <a:solidFill>
                            <a:srgbClr val="FFFFFF"/>
                          </a:solidFill>
                          <a:effectLst/>
                          <a:latin typeface="微軟正黑體" panose="020B0604030504040204" pitchFamily="34" charset="-120"/>
                          <a:ea typeface="微軟正黑體" panose="020B0604030504040204" pitchFamily="34" charset="-120"/>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700" b="1" i="0" u="none" strike="noStrike">
                          <a:solidFill>
                            <a:srgbClr val="FFFFFF"/>
                          </a:solidFill>
                          <a:effectLst/>
                          <a:latin typeface="微軟正黑體" panose="020B0604030504040204" pitchFamily="34" charset="-120"/>
                          <a:ea typeface="微軟正黑體" panose="020B0604030504040204" pitchFamily="34" charset="-120"/>
                        </a:rPr>
                        <a:t>請購單類型說明</a:t>
                      </a:r>
                      <a:br>
                        <a:rPr lang="zh-TW" altLang="en-US" sz="1700" b="1" i="0" u="none" strike="noStrike">
                          <a:solidFill>
                            <a:srgbClr val="FFFFFF"/>
                          </a:solidFill>
                          <a:effectLst/>
                          <a:latin typeface="微軟正黑體" panose="020B0604030504040204" pitchFamily="34" charset="-120"/>
                          <a:ea typeface="微軟正黑體" panose="020B0604030504040204" pitchFamily="34" charset="-120"/>
                        </a:rPr>
                      </a:br>
                      <a:r>
                        <a:rPr lang="en-US" altLang="zh-TW" sz="1700" b="1" i="0" u="none" strike="noStrike">
                          <a:solidFill>
                            <a:srgbClr val="FFFFFF"/>
                          </a:solidFill>
                          <a:effectLst/>
                          <a:latin typeface="微軟正黑體" panose="020B0604030504040204" pitchFamily="34" charset="-120"/>
                          <a:ea typeface="微軟正黑體" panose="020B0604030504040204" pitchFamily="34" charset="-120"/>
                        </a:rPr>
                        <a:t>(20</a:t>
                      </a:r>
                      <a:r>
                        <a:rPr lang="zh-TW" altLang="en-US" sz="1700" b="1" i="0" u="none" strike="noStrike">
                          <a:solidFill>
                            <a:srgbClr val="FFFFFF"/>
                          </a:solidFill>
                          <a:effectLst/>
                          <a:latin typeface="微軟正黑體" panose="020B0604030504040204" pitchFamily="34" charset="-120"/>
                          <a:ea typeface="微軟正黑體" panose="020B0604030504040204" pitchFamily="34" charset="-120"/>
                        </a:rPr>
                        <a:t>碼</a:t>
                      </a:r>
                      <a:r>
                        <a:rPr lang="en-US" altLang="zh-TW" sz="1700" b="1" i="0" u="none" strike="noStrike">
                          <a:solidFill>
                            <a:srgbClr val="FFFFFF"/>
                          </a:solidFill>
                          <a:effectLst/>
                          <a:latin typeface="微軟正黑體" panose="020B0604030504040204" pitchFamily="34" charset="-120"/>
                          <a:ea typeface="微軟正黑體" panose="020B0604030504040204" pitchFamily="34" charset="-120"/>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700" b="1" i="0" u="none" strike="noStrike">
                          <a:solidFill>
                            <a:srgbClr val="FFFFFF"/>
                          </a:solidFill>
                          <a:effectLst/>
                          <a:latin typeface="微軟正黑體" panose="020B0604030504040204" pitchFamily="34" charset="-120"/>
                          <a:ea typeface="微軟正黑體" panose="020B0604030504040204" pitchFamily="34" charset="-120"/>
                        </a:rPr>
                        <a:t>備註</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 xmlns:a16="http://schemas.microsoft.com/office/drawing/2014/main" val="10000"/>
                  </a:ext>
                </a:extLst>
              </a:tr>
              <a:tr h="472794">
                <a:tc>
                  <a:txBody>
                    <a:bodyPr/>
                    <a:lstStyle/>
                    <a:p>
                      <a:pPr algn="l" fontAlgn="b"/>
                      <a:r>
                        <a:rPr lang="en-US" sz="1700" b="0" i="0" u="none" strike="noStrike" dirty="0">
                          <a:solidFill>
                            <a:srgbClr val="000000"/>
                          </a:solidFill>
                          <a:effectLst/>
                          <a:latin typeface="微軟正黑體" panose="020B0604030504040204" pitchFamily="34" charset="-120"/>
                          <a:ea typeface="微軟正黑體" panose="020B0604030504040204" pitchFamily="34" charset="-120"/>
                        </a:rPr>
                        <a:t>NB</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1700" b="0" i="0" u="none" strike="noStrike" dirty="0">
                          <a:solidFill>
                            <a:srgbClr val="000000"/>
                          </a:solidFill>
                          <a:effectLst/>
                          <a:latin typeface="微軟正黑體" panose="020B0604030504040204" pitchFamily="34" charset="-120"/>
                          <a:ea typeface="微軟正黑體" panose="020B0604030504040204" pitchFamily="34" charset="-120"/>
                        </a:rPr>
                        <a:t>請購單</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1700" b="0" i="0" u="none" strike="noStrike" dirty="0">
                          <a:solidFill>
                            <a:srgbClr val="000000"/>
                          </a:solidFill>
                          <a:effectLst/>
                          <a:latin typeface="微軟正黑體" panose="020B0604030504040204" pitchFamily="34" charset="-120"/>
                          <a:ea typeface="微軟正黑體" panose="020B0604030504040204" pitchFamily="34" charset="-120"/>
                        </a:rPr>
                        <a:t>原物料</a:t>
                      </a:r>
                      <a:r>
                        <a:rPr lang="en-US" altLang="zh-TW" sz="17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700" b="0" i="0" u="none" strike="noStrike" dirty="0">
                          <a:solidFill>
                            <a:srgbClr val="000000"/>
                          </a:solidFill>
                          <a:effectLst/>
                          <a:latin typeface="微軟正黑體" panose="020B0604030504040204" pitchFamily="34" charset="-120"/>
                          <a:ea typeface="微軟正黑體" panose="020B0604030504040204" pitchFamily="34" charset="-120"/>
                        </a:rPr>
                        <a:t>製程委外</a:t>
                      </a:r>
                      <a:r>
                        <a:rPr lang="en-US" altLang="zh-TW" sz="17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700" b="0" i="0" u="none" strike="noStrike" dirty="0">
                          <a:solidFill>
                            <a:srgbClr val="000000"/>
                          </a:solidFill>
                          <a:effectLst/>
                          <a:latin typeface="微軟正黑體" panose="020B0604030504040204" pitchFamily="34" charset="-120"/>
                          <a:ea typeface="微軟正黑體" panose="020B0604030504040204" pitchFamily="34" charset="-120"/>
                        </a:rPr>
                        <a:t>倉庫外包</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1274258">
                <a:tc>
                  <a:txBody>
                    <a:bodyPr/>
                    <a:lstStyle/>
                    <a:p>
                      <a:pPr algn="l" fontAlgn="b"/>
                      <a:r>
                        <a:rPr lang="en-US" sz="1700" b="0" i="0" u="none" strike="noStrike">
                          <a:solidFill>
                            <a:srgbClr val="000000"/>
                          </a:solidFill>
                          <a:effectLst/>
                          <a:latin typeface="微軟正黑體" panose="020B0604030504040204" pitchFamily="34" charset="-120"/>
                          <a:ea typeface="微軟正黑體" panose="020B0604030504040204" pitchFamily="34" charset="-120"/>
                        </a:rPr>
                        <a:t>X1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1700" b="0" i="0" u="none" strike="noStrike" dirty="0">
                          <a:solidFill>
                            <a:srgbClr val="000000"/>
                          </a:solidFill>
                          <a:effectLst/>
                          <a:latin typeface="微軟正黑體" panose="020B0604030504040204" pitchFamily="34" charset="-120"/>
                          <a:ea typeface="微軟正黑體" panose="020B0604030504040204" pitchFamily="34" charset="-120"/>
                        </a:rPr>
                        <a:t>庶務庫存品請購單</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1700" b="0" i="0" u="none" strike="noStrike">
                          <a:solidFill>
                            <a:srgbClr val="000000"/>
                          </a:solidFill>
                          <a:effectLst/>
                          <a:latin typeface="微軟正黑體" panose="020B0604030504040204" pitchFamily="34" charset="-120"/>
                          <a:ea typeface="微軟正黑體" panose="020B0604030504040204" pitchFamily="34" charset="-120"/>
                        </a:rPr>
                        <a:t>文具用品</a:t>
                      </a:r>
                      <a:r>
                        <a:rPr lang="en-US" altLang="zh-TW" sz="17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700" b="0" i="0" u="none" strike="noStrike">
                          <a:solidFill>
                            <a:srgbClr val="000000"/>
                          </a:solidFill>
                          <a:effectLst/>
                          <a:latin typeface="微軟正黑體" panose="020B0604030504040204" pitchFamily="34" charset="-120"/>
                          <a:ea typeface="微軟正黑體" panose="020B0604030504040204" pitchFamily="34" charset="-120"/>
                        </a:rPr>
                        <a:t>電腦周邊配件</a:t>
                      </a:r>
                      <a:r>
                        <a:rPr lang="en-US" altLang="zh-TW" sz="17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700" b="0" i="0" u="none" strike="noStrike">
                          <a:solidFill>
                            <a:srgbClr val="000000"/>
                          </a:solidFill>
                          <a:effectLst/>
                          <a:latin typeface="微軟正黑體" panose="020B0604030504040204" pitchFamily="34" charset="-120"/>
                          <a:ea typeface="微軟正黑體" panose="020B0604030504040204" pitchFamily="34" charset="-120"/>
                        </a:rPr>
                        <a:t>批量預購</a:t>
                      </a:r>
                      <a:r>
                        <a:rPr lang="en-US" altLang="zh-TW" sz="1700" b="0" i="0" u="none" strike="noStrike">
                          <a:solidFill>
                            <a:srgbClr val="000000"/>
                          </a:solidFill>
                          <a:effectLst/>
                          <a:latin typeface="微軟正黑體" panose="020B0604030504040204" pitchFamily="34" charset="-120"/>
                          <a:ea typeface="微軟正黑體" panose="020B0604030504040204" pitchFamily="34" charset="-120"/>
                        </a:rPr>
                        <a:t>)</a:t>
                      </a:r>
                      <a:br>
                        <a:rPr lang="en-US" altLang="zh-TW" sz="1700" b="0" i="0" u="none" strike="noStrike">
                          <a:solidFill>
                            <a:srgbClr val="000000"/>
                          </a:solidFill>
                          <a:effectLst/>
                          <a:latin typeface="微軟正黑體" panose="020B0604030504040204" pitchFamily="34" charset="-120"/>
                          <a:ea typeface="微軟正黑體" panose="020B0604030504040204" pitchFamily="34" charset="-120"/>
                        </a:rPr>
                      </a:br>
                      <a:r>
                        <a:rPr lang="zh-TW" altLang="en-US" sz="1700" b="0" i="0" u="none" strike="noStrike">
                          <a:solidFill>
                            <a:srgbClr val="000000"/>
                          </a:solidFill>
                          <a:effectLst/>
                          <a:latin typeface="微軟正黑體" panose="020B0604030504040204" pitchFamily="34" charset="-120"/>
                          <a:ea typeface="微軟正黑體" panose="020B0604030504040204" pitchFamily="34" charset="-120"/>
                        </a:rPr>
                        <a:t>工廠物料</a:t>
                      </a:r>
                      <a:br>
                        <a:rPr lang="zh-TW" altLang="en-US" sz="1700" b="0" i="0" u="none" strike="noStrike">
                          <a:solidFill>
                            <a:srgbClr val="000000"/>
                          </a:solidFill>
                          <a:effectLst/>
                          <a:latin typeface="微軟正黑體" panose="020B0604030504040204" pitchFamily="34" charset="-120"/>
                          <a:ea typeface="微軟正黑體" panose="020B0604030504040204" pitchFamily="34" charset="-120"/>
                        </a:rPr>
                      </a:br>
                      <a:r>
                        <a:rPr lang="zh-TW" altLang="en-US" sz="1700" b="0" i="0" u="none" strike="noStrike">
                          <a:solidFill>
                            <a:srgbClr val="000000"/>
                          </a:solidFill>
                          <a:effectLst/>
                          <a:latin typeface="微軟正黑體" panose="020B0604030504040204" pitchFamily="34" charset="-120"/>
                          <a:ea typeface="微軟正黑體" panose="020B0604030504040204" pitchFamily="34" charset="-120"/>
                        </a:rPr>
                        <a:t>總務庶務用品</a:t>
                      </a:r>
                      <a:br>
                        <a:rPr lang="zh-TW" altLang="en-US" sz="1700" b="0" i="0" u="none" strike="noStrike">
                          <a:solidFill>
                            <a:srgbClr val="000000"/>
                          </a:solidFill>
                          <a:effectLst/>
                          <a:latin typeface="微軟正黑體" panose="020B0604030504040204" pitchFamily="34" charset="-120"/>
                          <a:ea typeface="微軟正黑體" panose="020B0604030504040204" pitchFamily="34" charset="-120"/>
                        </a:rPr>
                      </a:br>
                      <a:r>
                        <a:rPr lang="zh-TW" altLang="en-US" sz="1700" b="0" i="0" u="none" strike="noStrike">
                          <a:solidFill>
                            <a:srgbClr val="000000"/>
                          </a:solidFill>
                          <a:effectLst/>
                          <a:latin typeface="微軟正黑體" panose="020B0604030504040204" pitchFamily="34" charset="-120"/>
                          <a:ea typeface="微軟正黑體" panose="020B0604030504040204" pitchFamily="34" charset="-120"/>
                        </a:rPr>
                        <a:t>制工具領用</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1274258">
                <a:tc>
                  <a:txBody>
                    <a:bodyPr/>
                    <a:lstStyle/>
                    <a:p>
                      <a:pPr algn="l" fontAlgn="b"/>
                      <a:r>
                        <a:rPr lang="en-US" sz="1700" b="0" i="0" u="none" strike="noStrike">
                          <a:solidFill>
                            <a:srgbClr val="000000"/>
                          </a:solidFill>
                          <a:effectLst/>
                          <a:latin typeface="微軟正黑體" panose="020B0604030504040204" pitchFamily="34" charset="-120"/>
                          <a:ea typeface="微軟正黑體" panose="020B0604030504040204" pitchFamily="34" charset="-120"/>
                        </a:rPr>
                        <a:t>X2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1700" b="0" i="0" u="none" strike="noStrike">
                          <a:solidFill>
                            <a:srgbClr val="000000"/>
                          </a:solidFill>
                          <a:effectLst/>
                          <a:latin typeface="微軟正黑體" panose="020B0604030504040204" pitchFamily="34" charset="-120"/>
                          <a:ea typeface="微軟正黑體" panose="020B0604030504040204" pitchFamily="34" charset="-120"/>
                        </a:rPr>
                        <a:t>費用類請購單</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700" b="0" i="0" u="none" strike="noStrike" dirty="0">
                          <a:solidFill>
                            <a:srgbClr val="000000"/>
                          </a:solidFill>
                          <a:effectLst/>
                          <a:latin typeface="微軟正黑體" panose="020B0604030504040204" pitchFamily="34" charset="-120"/>
                          <a:ea typeface="微軟正黑體" panose="020B0604030504040204" pitchFamily="34" charset="-120"/>
                        </a:rPr>
                        <a:t>EX01 </a:t>
                      </a:r>
                      <a:r>
                        <a:rPr lang="zh-TW" altLang="en-US" sz="1700" b="0" i="0" u="none" strike="noStrike" dirty="0">
                          <a:solidFill>
                            <a:srgbClr val="000000"/>
                          </a:solidFill>
                          <a:effectLst/>
                          <a:latin typeface="微軟正黑體" panose="020B0604030504040204" pitchFamily="34" charset="-120"/>
                          <a:ea typeface="微軟正黑體" panose="020B0604030504040204" pitchFamily="34" charset="-120"/>
                        </a:rPr>
                        <a:t>文具用品 </a:t>
                      </a:r>
                      <a:r>
                        <a:rPr lang="en-US" altLang="zh-TW" sz="17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700" b="0" i="0" u="none" strike="noStrike" dirty="0">
                          <a:solidFill>
                            <a:srgbClr val="000000"/>
                          </a:solidFill>
                          <a:effectLst/>
                          <a:latin typeface="微軟正黑體" panose="020B0604030504040204" pitchFamily="34" charset="-120"/>
                          <a:ea typeface="微軟正黑體" panose="020B0604030504040204" pitchFamily="34" charset="-120"/>
                        </a:rPr>
                        <a:t>不入庫</a:t>
                      </a:r>
                      <a:r>
                        <a:rPr lang="en-US" altLang="zh-TW" sz="1700" b="0" i="0" u="none" strike="noStrike" dirty="0">
                          <a:solidFill>
                            <a:srgbClr val="000000"/>
                          </a:solidFill>
                          <a:effectLst/>
                          <a:latin typeface="微軟正黑體" panose="020B0604030504040204" pitchFamily="34" charset="-120"/>
                          <a:ea typeface="微軟正黑體" panose="020B0604030504040204" pitchFamily="34" charset="-120"/>
                        </a:rPr>
                        <a:t>)</a:t>
                      </a:r>
                      <a:br>
                        <a:rPr lang="en-US" altLang="zh-TW" sz="1700" b="0" i="0" u="none" strike="noStrike" dirty="0">
                          <a:solidFill>
                            <a:srgbClr val="000000"/>
                          </a:solidFill>
                          <a:effectLst/>
                          <a:latin typeface="微軟正黑體" panose="020B0604030504040204" pitchFamily="34" charset="-120"/>
                          <a:ea typeface="微軟正黑體" panose="020B0604030504040204" pitchFamily="34" charset="-120"/>
                        </a:rPr>
                      </a:br>
                      <a:r>
                        <a:rPr lang="en-US" sz="1700" b="0" i="0" u="none" strike="noStrike" dirty="0">
                          <a:solidFill>
                            <a:srgbClr val="000000"/>
                          </a:solidFill>
                          <a:effectLst/>
                          <a:latin typeface="微軟正黑體" panose="020B0604030504040204" pitchFamily="34" charset="-120"/>
                          <a:ea typeface="微軟正黑體" panose="020B0604030504040204" pitchFamily="34" charset="-120"/>
                        </a:rPr>
                        <a:t>EX12 </a:t>
                      </a:r>
                      <a:r>
                        <a:rPr lang="zh-TW" altLang="en-US" sz="1700" b="0" i="0" u="none" strike="noStrike" dirty="0">
                          <a:solidFill>
                            <a:srgbClr val="000000"/>
                          </a:solidFill>
                          <a:effectLst/>
                          <a:latin typeface="微軟正黑體" panose="020B0604030504040204" pitchFamily="34" charset="-120"/>
                          <a:ea typeface="微軟正黑體" panose="020B0604030504040204" pitchFamily="34" charset="-120"/>
                        </a:rPr>
                        <a:t>膳食費</a:t>
                      </a:r>
                      <a:r>
                        <a:rPr lang="en-US" altLang="zh-TW" sz="17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700" b="0" i="0" u="none" strike="noStrike" dirty="0">
                          <a:solidFill>
                            <a:srgbClr val="000000"/>
                          </a:solidFill>
                          <a:effectLst/>
                          <a:latin typeface="微軟正黑體" panose="020B0604030504040204" pitchFamily="34" charset="-120"/>
                          <a:ea typeface="微軟正黑體" panose="020B0604030504040204" pitchFamily="34" charset="-120"/>
                        </a:rPr>
                        <a:t>廚房柴油費</a:t>
                      </a:r>
                      <a:br>
                        <a:rPr lang="zh-TW" altLang="en-US" sz="1700" b="0" i="0" u="none" strike="noStrike" dirty="0">
                          <a:solidFill>
                            <a:srgbClr val="000000"/>
                          </a:solidFill>
                          <a:effectLst/>
                          <a:latin typeface="微軟正黑體" panose="020B0604030504040204" pitchFamily="34" charset="-120"/>
                          <a:ea typeface="微軟正黑體" panose="020B0604030504040204" pitchFamily="34" charset="-120"/>
                        </a:rPr>
                      </a:br>
                      <a:r>
                        <a:rPr lang="en-US" sz="1700" b="0" i="0" u="none" strike="noStrike" dirty="0">
                          <a:solidFill>
                            <a:srgbClr val="000000"/>
                          </a:solidFill>
                          <a:effectLst/>
                          <a:latin typeface="微軟正黑體" panose="020B0604030504040204" pitchFamily="34" charset="-120"/>
                          <a:ea typeface="微軟正黑體" panose="020B0604030504040204" pitchFamily="34" charset="-120"/>
                        </a:rPr>
                        <a:t>EX20 </a:t>
                      </a:r>
                      <a:r>
                        <a:rPr lang="zh-TW" altLang="en-US" sz="1700" b="0" i="0" u="none" strike="noStrike" dirty="0">
                          <a:solidFill>
                            <a:srgbClr val="000000"/>
                          </a:solidFill>
                          <a:effectLst/>
                          <a:latin typeface="微軟正黑體" panose="020B0604030504040204" pitchFamily="34" charset="-120"/>
                          <a:ea typeface="微軟正黑體" panose="020B0604030504040204" pitchFamily="34" charset="-120"/>
                        </a:rPr>
                        <a:t>防疫用品 </a:t>
                      </a:r>
                      <a:r>
                        <a:rPr lang="en-US" altLang="zh-TW" sz="17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700" b="0" i="0" u="none" strike="noStrike" dirty="0">
                          <a:solidFill>
                            <a:srgbClr val="000000"/>
                          </a:solidFill>
                          <a:effectLst/>
                          <a:latin typeface="微軟正黑體" panose="020B0604030504040204" pitchFamily="34" charset="-120"/>
                          <a:ea typeface="微軟正黑體" panose="020B0604030504040204" pitchFamily="34" charset="-120"/>
                        </a:rPr>
                        <a:t>不入庫</a:t>
                      </a:r>
                      <a:r>
                        <a:rPr lang="en-US" altLang="zh-TW" sz="1700" b="0" i="0" u="none" strike="noStrike" dirty="0">
                          <a:solidFill>
                            <a:srgbClr val="000000"/>
                          </a:solidFill>
                          <a:effectLst/>
                          <a:latin typeface="微軟正黑體" panose="020B0604030504040204" pitchFamily="34" charset="-120"/>
                          <a:ea typeface="微軟正黑體" panose="020B0604030504040204" pitchFamily="34" charset="-120"/>
                        </a:rPr>
                        <a:t>)</a:t>
                      </a:r>
                      <a:br>
                        <a:rPr lang="en-US" altLang="zh-TW" sz="1700" b="0" i="0" u="none" strike="noStrike" dirty="0">
                          <a:solidFill>
                            <a:srgbClr val="000000"/>
                          </a:solidFill>
                          <a:effectLst/>
                          <a:latin typeface="微軟正黑體" panose="020B0604030504040204" pitchFamily="34" charset="-120"/>
                          <a:ea typeface="微軟正黑體" panose="020B0604030504040204" pitchFamily="34" charset="-120"/>
                        </a:rPr>
                      </a:br>
                      <a:r>
                        <a:rPr lang="en-US" sz="1700" b="0" i="0" u="none" strike="noStrike" dirty="0">
                          <a:solidFill>
                            <a:srgbClr val="000000"/>
                          </a:solidFill>
                          <a:effectLst/>
                          <a:latin typeface="微軟正黑體" panose="020B0604030504040204" pitchFamily="34" charset="-120"/>
                          <a:ea typeface="微軟正黑體" panose="020B0604030504040204" pitchFamily="34" charset="-120"/>
                        </a:rPr>
                        <a:t>EX29 </a:t>
                      </a:r>
                      <a:r>
                        <a:rPr lang="zh-TW" altLang="en-US" sz="1700" b="0" i="0" u="none" strike="noStrike" dirty="0">
                          <a:solidFill>
                            <a:srgbClr val="000000"/>
                          </a:solidFill>
                          <a:effectLst/>
                          <a:latin typeface="微軟正黑體" panose="020B0604030504040204" pitchFamily="34" charset="-120"/>
                          <a:ea typeface="微軟正黑體" panose="020B0604030504040204" pitchFamily="34" charset="-120"/>
                        </a:rPr>
                        <a:t>醫療用品</a:t>
                      </a:r>
                      <a:r>
                        <a:rPr lang="en-US" altLang="zh-TW" sz="17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700" b="0" i="0" u="none" strike="noStrike" dirty="0">
                          <a:solidFill>
                            <a:srgbClr val="000000"/>
                          </a:solidFill>
                          <a:effectLst/>
                          <a:latin typeface="微軟正黑體" panose="020B0604030504040204" pitchFamily="34" charset="-120"/>
                          <a:ea typeface="微軟正黑體" panose="020B0604030504040204" pitchFamily="34" charset="-120"/>
                        </a:rPr>
                        <a:t>藥品</a:t>
                      </a:r>
                      <a:r>
                        <a:rPr lang="en-US" altLang="zh-TW" sz="17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700" b="0" i="0" u="none" strike="noStrike" dirty="0">
                          <a:solidFill>
                            <a:srgbClr val="000000"/>
                          </a:solidFill>
                          <a:effectLst/>
                          <a:latin typeface="微軟正黑體" panose="020B0604030504040204" pitchFamily="34" charset="-120"/>
                          <a:ea typeface="微軟正黑體" panose="020B0604030504040204" pitchFamily="34" charset="-120"/>
                        </a:rPr>
                        <a:t>緊急急救用品</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3" name="矩形 2"/>
          <p:cNvSpPr/>
          <p:nvPr/>
        </p:nvSpPr>
        <p:spPr>
          <a:xfrm>
            <a:off x="2444827" y="797108"/>
            <a:ext cx="5256567" cy="461665"/>
          </a:xfrm>
          <a:prstGeom prst="rect">
            <a:avLst/>
          </a:prstGeom>
        </p:spPr>
        <p:txBody>
          <a:bodyPr wrap="none">
            <a:spAutoFit/>
          </a:bodyPr>
          <a:lstStyle/>
          <a:p>
            <a:r>
              <a:rPr lang="en-US" altLang="zh-TW" sz="2400" b="1" dirty="0">
                <a:latin typeface="微軟正黑體" panose="020B0604030504040204" pitchFamily="34" charset="-120"/>
                <a:ea typeface="微軟正黑體" panose="020B0604030504040204" pitchFamily="34" charset="-120"/>
              </a:rPr>
              <a:t>MM-PU-0040-05 </a:t>
            </a:r>
            <a:r>
              <a:rPr lang="zh-TW" altLang="en-US" sz="2400" b="1" dirty="0">
                <a:latin typeface="微軟正黑體" panose="020B0604030504040204" pitchFamily="34" charset="-120"/>
                <a:ea typeface="微軟正黑體" panose="020B0604030504040204" pitchFamily="34" charset="-120"/>
              </a:rPr>
              <a:t>庶務請採購驗流程</a:t>
            </a:r>
            <a:endParaRPr lang="zh-TW" altLang="en-US" sz="2400" b="1" dirty="0"/>
          </a:p>
        </p:txBody>
      </p:sp>
    </p:spTree>
    <p:extLst>
      <p:ext uri="{BB962C8B-B14F-4D97-AF65-F5344CB8AC3E}">
        <p14:creationId xmlns="" xmlns:p14="http://schemas.microsoft.com/office/powerpoint/2010/main" val="12830286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5423"/>
            <a:ext cx="17911883" cy="8399412"/>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 </a:t>
            </a:r>
            <a:endParaRPr sz="2700" dirty="0"/>
          </a:p>
          <a:p>
            <a:endParaRPr dirty="0">
              <a:solidFill>
                <a:schemeClr val="dk1"/>
              </a:solidFill>
              <a:latin typeface="Arial"/>
              <a:ea typeface="Arial"/>
              <a:cs typeface="Arial"/>
              <a:sym typeface="Arial"/>
            </a:endParaRPr>
          </a:p>
        </p:txBody>
      </p:sp>
      <p:sp>
        <p:nvSpPr>
          <p:cNvPr id="4" name="TextBox 53">
            <a:extLst>
              <a:ext uri="{FF2B5EF4-FFF2-40B4-BE49-F238E27FC236}">
                <a16:creationId xmlns="" xmlns:a16="http://schemas.microsoft.com/office/drawing/2014/main" id="{DF940026-96D7-3867-6425-C228DF3D29BF}"/>
              </a:ext>
            </a:extLst>
          </p:cNvPr>
          <p:cNvSpPr txBox="1"/>
          <p:nvPr/>
        </p:nvSpPr>
        <p:spPr>
          <a:xfrm>
            <a:off x="369737" y="2243536"/>
            <a:ext cx="5903843" cy="2308324"/>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3</a:t>
            </a:r>
            <a:r>
              <a:rPr lang="zh-TW" altLang="en-US" dirty="0">
                <a:latin typeface="微軟正黑體" panose="020B0604030504040204" pitchFamily="34" charset="-120"/>
                <a:ea typeface="微軟正黑體" panose="020B0604030504040204" pitchFamily="34" charset="-120"/>
              </a:rPr>
              <a:t>、財務規畫庶務費用類有</a:t>
            </a:r>
            <a:r>
              <a:rPr lang="en-US" altLang="zh-TW" dirty="0">
                <a:latin typeface="微軟正黑體" panose="020B0604030504040204" pitchFamily="34" charset="-120"/>
                <a:ea typeface="微軟正黑體" panose="020B0604030504040204" pitchFamily="34" charset="-120"/>
              </a:rPr>
              <a:t>29</a:t>
            </a:r>
            <a:r>
              <a:rPr lang="zh-TW" altLang="en-US" dirty="0">
                <a:latin typeface="微軟正黑體" panose="020B0604030504040204" pitchFamily="34" charset="-120"/>
                <a:ea typeface="微軟正黑體" panose="020B0604030504040204" pitchFamily="34" charset="-120"/>
              </a:rPr>
              <a:t>大類，編號為</a:t>
            </a:r>
            <a:r>
              <a:rPr lang="en-US" altLang="zh-TW" dirty="0">
                <a:latin typeface="微軟正黑體" panose="020B0604030504040204" pitchFamily="34" charset="-120"/>
                <a:ea typeface="微軟正黑體" panose="020B0604030504040204" pitchFamily="34" charset="-120"/>
              </a:rPr>
              <a:t>EX01~EX29</a:t>
            </a:r>
          </a:p>
          <a:p>
            <a:r>
              <a:rPr lang="en-US" altLang="zh-TW" dirty="0">
                <a:latin typeface="微軟正黑體" panose="020B0604030504040204" pitchFamily="34" charset="-120"/>
                <a:ea typeface="微軟正黑體" panose="020B0604030504040204" pitchFamily="34" charset="-120"/>
              </a:rPr>
              <a:t>4</a:t>
            </a:r>
            <a:r>
              <a:rPr lang="zh-TW" altLang="en-US" dirty="0">
                <a:latin typeface="微軟正黑體" panose="020B0604030504040204" pitchFamily="34" charset="-120"/>
                <a:ea typeface="微軟正黑體" panose="020B0604030504040204" pitchFamily="34" charset="-120"/>
              </a:rPr>
              <a:t>、 可以點收的庶務類可以編料號進行請採驗</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5</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EX18 </a:t>
            </a:r>
            <a:r>
              <a:rPr lang="zh-TW" altLang="en-US" dirty="0">
                <a:latin typeface="微軟正黑體" panose="020B0604030504040204" pitchFamily="34" charset="-120"/>
                <a:ea typeface="微軟正黑體" panose="020B0604030504040204" pitchFamily="34" charset="-120"/>
              </a:rPr>
              <a:t>發電機柴油費屬於生質燃料，也作請採驗</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6</a:t>
            </a:r>
            <a:r>
              <a:rPr lang="zh-TW" altLang="en-US" dirty="0">
                <a:latin typeface="微軟正黑體" panose="020B0604030504040204" pitchFamily="34" charset="-120"/>
                <a:ea typeface="微軟正黑體" panose="020B0604030504040204" pitchFamily="34" charset="-120"/>
              </a:rPr>
              <a:t>、其它不點收的庶務費用以</a:t>
            </a:r>
            <a:r>
              <a:rPr lang="en-US" altLang="zh-TW" dirty="0">
                <a:latin typeface="微軟正黑體" panose="020B0604030504040204" pitchFamily="34" charset="-120"/>
                <a:ea typeface="微軟正黑體" panose="020B0604030504040204" pitchFamily="34" charset="-120"/>
              </a:rPr>
              <a:t>FI-AP-0010 </a:t>
            </a:r>
            <a:r>
              <a:rPr lang="zh-TW" altLang="en-US" dirty="0">
                <a:latin typeface="微軟正黑體" panose="020B0604030504040204" pitchFamily="34" charset="-120"/>
                <a:ea typeface="微軟正黑體" panose="020B0604030504040204" pitchFamily="34" charset="-120"/>
              </a:rPr>
              <a:t>非採購相關之應付款作業流程  進行</a:t>
            </a:r>
            <a:r>
              <a:rPr lang="en-US" altLang="zh-TW" dirty="0">
                <a:latin typeface="微軟正黑體" panose="020B0604030504040204" pitchFamily="34" charset="-120"/>
                <a:ea typeface="微軟正黑體" panose="020B0604030504040204" pitchFamily="34" charset="-120"/>
              </a:rPr>
              <a:t>BPM</a:t>
            </a:r>
            <a:r>
              <a:rPr lang="zh-TW" altLang="en-US" dirty="0" smtClean="0">
                <a:latin typeface="微軟正黑體" panose="020B0604030504040204" pitchFamily="34" charset="-120"/>
                <a:ea typeface="微軟正黑體" panose="020B0604030504040204" pitchFamily="34" charset="-120"/>
              </a:rPr>
              <a:t>申請入帳</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p>
          <a:p>
            <a:endParaRPr lang="en-US" altLang="zh-TW" dirty="0"/>
          </a:p>
          <a:p>
            <a:endParaRPr lang="zh-TW" altLang="en-US" dirty="0"/>
          </a:p>
        </p:txBody>
      </p:sp>
      <p:sp>
        <p:nvSpPr>
          <p:cNvPr id="5" name="Google Shape;198;p3"/>
          <p:cNvSpPr txBox="1">
            <a:spLocks/>
          </p:cNvSpPr>
          <p:nvPr/>
        </p:nvSpPr>
        <p:spPr>
          <a:xfrm>
            <a:off x="15253253" y="507291"/>
            <a:ext cx="409635" cy="19507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9</a:t>
            </a:r>
          </a:p>
        </p:txBody>
      </p:sp>
      <p:sp>
        <p:nvSpPr>
          <p:cNvPr id="3" name="矩形 2"/>
          <p:cNvSpPr/>
          <p:nvPr/>
        </p:nvSpPr>
        <p:spPr>
          <a:xfrm>
            <a:off x="2444827" y="783854"/>
            <a:ext cx="5256567" cy="461665"/>
          </a:xfrm>
          <a:prstGeom prst="rect">
            <a:avLst/>
          </a:prstGeom>
        </p:spPr>
        <p:txBody>
          <a:bodyPr wrap="none">
            <a:spAutoFit/>
          </a:bodyPr>
          <a:lstStyle/>
          <a:p>
            <a:r>
              <a:rPr lang="en-US" altLang="zh-TW" sz="2400" b="1" dirty="0">
                <a:latin typeface="微軟正黑體" panose="020B0604030504040204" pitchFamily="34" charset="-120"/>
                <a:ea typeface="微軟正黑體" panose="020B0604030504040204" pitchFamily="34" charset="-120"/>
              </a:rPr>
              <a:t>MM-PU-0040-05 </a:t>
            </a:r>
            <a:r>
              <a:rPr lang="zh-TW" altLang="en-US" sz="2400" b="1" dirty="0">
                <a:latin typeface="微軟正黑體" panose="020B0604030504040204" pitchFamily="34" charset="-120"/>
                <a:ea typeface="微軟正黑體" panose="020B0604030504040204" pitchFamily="34" charset="-120"/>
              </a:rPr>
              <a:t>庶務請採購驗流程</a:t>
            </a:r>
            <a:endParaRPr lang="zh-TW" altLang="en-US" sz="2400" b="1" dirty="0"/>
          </a:p>
        </p:txBody>
      </p:sp>
      <p:graphicFrame>
        <p:nvGraphicFramePr>
          <p:cNvPr id="6" name="表格 5"/>
          <p:cNvGraphicFramePr>
            <a:graphicFrameLocks noGrp="1"/>
          </p:cNvGraphicFramePr>
          <p:nvPr>
            <p:extLst>
              <p:ext uri="{D42A27DB-BD31-4B8C-83A1-F6EECF244321}">
                <p14:modId xmlns="" xmlns:p14="http://schemas.microsoft.com/office/powerpoint/2010/main" val="133565682"/>
              </p:ext>
            </p:extLst>
          </p:nvPr>
        </p:nvGraphicFramePr>
        <p:xfrm>
          <a:off x="6627694" y="1792309"/>
          <a:ext cx="6562581" cy="7811352"/>
        </p:xfrm>
        <a:graphic>
          <a:graphicData uri="http://schemas.openxmlformats.org/drawingml/2006/table">
            <a:tbl>
              <a:tblPr/>
              <a:tblGrid>
                <a:gridCol w="1075833">
                  <a:extLst>
                    <a:ext uri="{9D8B030D-6E8A-4147-A177-3AD203B41FA5}">
                      <a16:colId xmlns="" xmlns:a16="http://schemas.microsoft.com/office/drawing/2014/main" val="20000"/>
                    </a:ext>
                  </a:extLst>
                </a:gridCol>
                <a:gridCol w="2859605">
                  <a:extLst>
                    <a:ext uri="{9D8B030D-6E8A-4147-A177-3AD203B41FA5}">
                      <a16:colId xmlns="" xmlns:a16="http://schemas.microsoft.com/office/drawing/2014/main" val="20001"/>
                    </a:ext>
                  </a:extLst>
                </a:gridCol>
                <a:gridCol w="690644">
                  <a:extLst>
                    <a:ext uri="{9D8B030D-6E8A-4147-A177-3AD203B41FA5}">
                      <a16:colId xmlns="" xmlns:a16="http://schemas.microsoft.com/office/drawing/2014/main" val="20002"/>
                    </a:ext>
                  </a:extLst>
                </a:gridCol>
                <a:gridCol w="944342">
                  <a:extLst>
                    <a:ext uri="{9D8B030D-6E8A-4147-A177-3AD203B41FA5}">
                      <a16:colId xmlns="" xmlns:a16="http://schemas.microsoft.com/office/drawing/2014/main" val="20003"/>
                    </a:ext>
                  </a:extLst>
                </a:gridCol>
                <a:gridCol w="992157">
                  <a:extLst>
                    <a:ext uri="{9D8B030D-6E8A-4147-A177-3AD203B41FA5}">
                      <a16:colId xmlns="" xmlns:a16="http://schemas.microsoft.com/office/drawing/2014/main" val="20004"/>
                    </a:ext>
                  </a:extLst>
                </a:gridCol>
              </a:tblGrid>
              <a:tr h="494220">
                <a:tc>
                  <a:txBody>
                    <a:bodyPr/>
                    <a:lstStyle/>
                    <a:p>
                      <a:pPr algn="l"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費用類</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說明</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可點收</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不點收</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財務立帳</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 xmlns:a16="http://schemas.microsoft.com/office/drawing/2014/main" val="10000"/>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EX01</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文具用品 </a:t>
                      </a:r>
                      <a:r>
                        <a:rPr lang="en-US" altLang="zh-TW" sz="15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不入庫</a:t>
                      </a:r>
                      <a:r>
                        <a:rPr lang="en-US" altLang="zh-TW" sz="1500" b="0"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TW"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EX02</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保險費</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EX03</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交通費</a:t>
                      </a:r>
                      <a:r>
                        <a:rPr lang="en-US" altLang="zh-TW" sz="15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加油費</a:t>
                      </a:r>
                      <a:r>
                        <a:rPr lang="en-US" altLang="zh-TW" sz="15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過路費</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EX04</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交際費</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4"/>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EX05</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開發單位費用</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5"/>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EX06</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修繕費</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TW"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6"/>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EX07</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稅捐</a:t>
                      </a:r>
                      <a:r>
                        <a:rPr lang="en-US" altLang="zh-TW" sz="15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政府稅金</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7"/>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EX08</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電話網路費</a:t>
                      </a:r>
                      <a:r>
                        <a:rPr lang="en-US" altLang="zh-TW" sz="15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文件快遞費用</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8"/>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EX09</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廠房租金</a:t>
                      </a:r>
                      <a:r>
                        <a:rPr lang="en-US" altLang="zh-TW" sz="15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車用租金</a:t>
                      </a:r>
                      <a:r>
                        <a:rPr lang="en-US" altLang="zh-TW" sz="15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機器租金</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9"/>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EX10</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進口關稅</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0"/>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EX11</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顧問公司服務費</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1"/>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EX12</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膳食費</a:t>
                      </a:r>
                      <a:r>
                        <a:rPr lang="en-US" altLang="zh-TW" sz="15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廚房柴油費</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TW"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2"/>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EX13</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職工福利</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3"/>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EX14</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工業區管理費</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4"/>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EX15</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捐贈費用</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5"/>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EX16</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出差返鄉相關費用</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6"/>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EX17</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水費</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7"/>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EX18</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電費</a:t>
                      </a:r>
                      <a:r>
                        <a:rPr lang="en-US" altLang="zh-TW" sz="15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發電機柴油費</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8"/>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EX19</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教育訓練</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9"/>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EX20</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防疫用品 </a:t>
                      </a:r>
                      <a:r>
                        <a:rPr lang="en-US" altLang="zh-TW" sz="15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不入庫</a:t>
                      </a:r>
                      <a:r>
                        <a:rPr lang="en-US" altLang="zh-TW" sz="1500" b="0" i="0" u="none" strike="noStrike">
                          <a:solidFill>
                            <a:srgbClr val="000000"/>
                          </a:solidFill>
                          <a:effectLst/>
                          <a:latin typeface="微軟正黑體" panose="020B0604030504040204" pitchFamily="34" charset="-120"/>
                          <a:ea typeface="微軟正黑體" panose="020B0604030504040204" pitchFamily="34" charset="-120"/>
                        </a:rPr>
                        <a:t>)</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TW" sz="1500" b="0" i="0" u="none" strike="noStrike" dirty="0">
                          <a:solidFill>
                            <a:srgbClr val="000000"/>
                          </a:solidFill>
                          <a:effectLst/>
                          <a:latin typeface="微軟正黑體" panose="020B0604030504040204" pitchFamily="34" charset="-120"/>
                          <a:ea typeface="微軟正黑體" panose="020B0604030504040204" pitchFamily="34" charset="-120"/>
                        </a:rPr>
                        <a:t>V</a:t>
                      </a: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20"/>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EX21</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電腦軟體費</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21"/>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EX22</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外聘保安</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22"/>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EX23</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進口報關費</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23"/>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EX24</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輸出運費</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24"/>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EX25</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輸入運費</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25"/>
                  </a:ext>
                </a:extLst>
              </a:tr>
              <a:tr h="309936">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EX26</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廢棄物處理費</a:t>
                      </a:r>
                      <a:r>
                        <a:rPr lang="en-US" altLang="zh-TW" sz="15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堤圍防護費</a:t>
                      </a:r>
                      <a:r>
                        <a:rPr lang="en-US" altLang="zh-TW" sz="15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檢測費</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26"/>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EX27</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政府規費輔導費</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27"/>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EX28</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專利權相關費用</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28"/>
                  </a:ext>
                </a:extLst>
              </a:tr>
              <a:tr h="250257">
                <a:tc>
                  <a:txBody>
                    <a:bodyPr/>
                    <a:lstStyle/>
                    <a:p>
                      <a:pPr algn="l" fontAlgn="ctr"/>
                      <a:r>
                        <a:rPr lang="en-US" sz="1500" b="0" i="0" u="none" strike="noStrike" dirty="0">
                          <a:solidFill>
                            <a:srgbClr val="000000"/>
                          </a:solidFill>
                          <a:effectLst/>
                          <a:latin typeface="微軟正黑體" panose="020B0604030504040204" pitchFamily="34" charset="-120"/>
                          <a:ea typeface="微軟正黑體" panose="020B0604030504040204" pitchFamily="34" charset="-120"/>
                        </a:rPr>
                        <a:t>EX29</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醫療用品</a:t>
                      </a:r>
                      <a:r>
                        <a:rPr lang="en-US" altLang="zh-TW" sz="15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藥品</a:t>
                      </a:r>
                      <a:r>
                        <a:rPr lang="en-US" altLang="zh-TW" sz="15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500" b="0" i="0" u="none" strike="noStrike">
                          <a:solidFill>
                            <a:srgbClr val="000000"/>
                          </a:solidFill>
                          <a:effectLst/>
                          <a:latin typeface="微軟正黑體" panose="020B0604030504040204" pitchFamily="34" charset="-120"/>
                          <a:ea typeface="微軟正黑體" panose="020B0604030504040204" pitchFamily="34" charset="-120"/>
                        </a:rPr>
                        <a:t>緊急急救用品</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TW" sz="1500" b="0" i="0" u="none" strike="noStrike" dirty="0">
                          <a:solidFill>
                            <a:srgbClr val="000000"/>
                          </a:solidFill>
                          <a:effectLst/>
                          <a:latin typeface="微軟正黑體" panose="020B0604030504040204" pitchFamily="34" charset="-120"/>
                          <a:ea typeface="微軟正黑體" panose="020B0604030504040204" pitchFamily="34" charset="-120"/>
                        </a:rPr>
                        <a:t>V</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5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5897" marR="5897" marT="58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29"/>
                  </a:ext>
                </a:extLst>
              </a:tr>
            </a:tbl>
          </a:graphicData>
        </a:graphic>
      </p:graphicFrame>
    </p:spTree>
    <p:extLst>
      <p:ext uri="{BB962C8B-B14F-4D97-AF65-F5344CB8AC3E}">
        <p14:creationId xmlns="" xmlns:p14="http://schemas.microsoft.com/office/powerpoint/2010/main" val="16225274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5423"/>
            <a:ext cx="17911883" cy="8399412"/>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 </a:t>
            </a:r>
            <a:endParaRPr sz="2700" dirty="0"/>
          </a:p>
          <a:p>
            <a:endParaRPr dirty="0">
              <a:solidFill>
                <a:schemeClr val="dk1"/>
              </a:solidFill>
              <a:latin typeface="Arial"/>
              <a:ea typeface="Arial"/>
              <a:cs typeface="Arial"/>
              <a:sym typeface="Arial"/>
            </a:endParaRPr>
          </a:p>
        </p:txBody>
      </p:sp>
      <p:sp>
        <p:nvSpPr>
          <p:cNvPr id="4" name="TextBox 53">
            <a:extLst>
              <a:ext uri="{FF2B5EF4-FFF2-40B4-BE49-F238E27FC236}">
                <a16:creationId xmlns="" xmlns:a16="http://schemas.microsoft.com/office/drawing/2014/main" id="{DF940026-96D7-3867-6425-C228DF3D29BF}"/>
              </a:ext>
            </a:extLst>
          </p:cNvPr>
          <p:cNvSpPr txBox="1"/>
          <p:nvPr/>
        </p:nvSpPr>
        <p:spPr>
          <a:xfrm>
            <a:off x="369737" y="2243536"/>
            <a:ext cx="17378475" cy="1200329"/>
          </a:xfrm>
          <a:prstGeom prst="rect">
            <a:avLst/>
          </a:prstGeom>
          <a:noFill/>
        </p:spPr>
        <p:txBody>
          <a:bodyPr wrap="square" rtlCol="0">
            <a:spAutoFit/>
          </a:bodyPr>
          <a:lstStyle/>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6</a:t>
            </a:r>
            <a:r>
              <a:rPr lang="zh-TW" altLang="en-US" dirty="0">
                <a:latin typeface="微軟正黑體" panose="020B0604030504040204" pitchFamily="34" charset="-120"/>
                <a:ea typeface="微軟正黑體" panose="020B0604030504040204" pitchFamily="34" charset="-120"/>
              </a:rPr>
              <a:t>、庶務類採購單類型</a:t>
            </a:r>
            <a:endParaRPr lang="en-US" altLang="zh-TW" dirty="0">
              <a:latin typeface="微軟正黑體" panose="020B0604030504040204" pitchFamily="34" charset="-120"/>
              <a:ea typeface="微軟正黑體" panose="020B0604030504040204" pitchFamily="34" charset="-120"/>
            </a:endParaRPr>
          </a:p>
          <a:p>
            <a:endParaRPr lang="en-US" altLang="zh-TW" dirty="0"/>
          </a:p>
          <a:p>
            <a:endParaRPr lang="zh-TW" altLang="en-US" dirty="0"/>
          </a:p>
        </p:txBody>
      </p:sp>
      <p:sp>
        <p:nvSpPr>
          <p:cNvPr id="5" name="Google Shape;198;p3"/>
          <p:cNvSpPr txBox="1">
            <a:spLocks/>
          </p:cNvSpPr>
          <p:nvPr/>
        </p:nvSpPr>
        <p:spPr>
          <a:xfrm>
            <a:off x="15319513" y="507291"/>
            <a:ext cx="462644" cy="19507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10</a:t>
            </a:r>
          </a:p>
        </p:txBody>
      </p:sp>
      <p:graphicFrame>
        <p:nvGraphicFramePr>
          <p:cNvPr id="3" name="表格 2"/>
          <p:cNvGraphicFramePr>
            <a:graphicFrameLocks noGrp="1"/>
          </p:cNvGraphicFramePr>
          <p:nvPr>
            <p:extLst>
              <p:ext uri="{D42A27DB-BD31-4B8C-83A1-F6EECF244321}">
                <p14:modId xmlns="" xmlns:p14="http://schemas.microsoft.com/office/powerpoint/2010/main" val="3401441990"/>
              </p:ext>
            </p:extLst>
          </p:nvPr>
        </p:nvGraphicFramePr>
        <p:xfrm>
          <a:off x="788083" y="3003898"/>
          <a:ext cx="8594455" cy="1642110"/>
        </p:xfrm>
        <a:graphic>
          <a:graphicData uri="http://schemas.openxmlformats.org/drawingml/2006/table">
            <a:tbl>
              <a:tblPr/>
              <a:tblGrid>
                <a:gridCol w="1080446">
                  <a:extLst>
                    <a:ext uri="{9D8B030D-6E8A-4147-A177-3AD203B41FA5}">
                      <a16:colId xmlns="" xmlns:a16="http://schemas.microsoft.com/office/drawing/2014/main" val="20000"/>
                    </a:ext>
                  </a:extLst>
                </a:gridCol>
                <a:gridCol w="4002560">
                  <a:extLst>
                    <a:ext uri="{9D8B030D-6E8A-4147-A177-3AD203B41FA5}">
                      <a16:colId xmlns="" xmlns:a16="http://schemas.microsoft.com/office/drawing/2014/main" val="20001"/>
                    </a:ext>
                  </a:extLst>
                </a:gridCol>
                <a:gridCol w="1768002">
                  <a:extLst>
                    <a:ext uri="{9D8B030D-6E8A-4147-A177-3AD203B41FA5}">
                      <a16:colId xmlns="" xmlns:a16="http://schemas.microsoft.com/office/drawing/2014/main" val="20002"/>
                    </a:ext>
                  </a:extLst>
                </a:gridCol>
                <a:gridCol w="1743447">
                  <a:extLst>
                    <a:ext uri="{9D8B030D-6E8A-4147-A177-3AD203B41FA5}">
                      <a16:colId xmlns="" xmlns:a16="http://schemas.microsoft.com/office/drawing/2014/main" val="20003"/>
                    </a:ext>
                  </a:extLst>
                </a:gridCol>
              </a:tblGrid>
              <a:tr h="828675">
                <a:tc>
                  <a:txBody>
                    <a:bodyPr/>
                    <a:lstStyle/>
                    <a:p>
                      <a:pPr algn="ctr" rtl="0" fontAlgn="ctr"/>
                      <a:r>
                        <a:rPr lang="zh-TW" altLang="en-US" sz="1700" b="1" i="0" u="none" strike="noStrike" dirty="0">
                          <a:solidFill>
                            <a:srgbClr val="FFFFFF"/>
                          </a:solidFill>
                          <a:effectLst/>
                          <a:latin typeface="微軟正黑體" panose="020B0604030504040204" pitchFamily="34" charset="-120"/>
                          <a:ea typeface="微軟正黑體" panose="020B0604030504040204" pitchFamily="34" charset="-120"/>
                        </a:rPr>
                        <a:t>採購單類型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700" b="1" i="0" u="none" strike="noStrike" dirty="0">
                          <a:solidFill>
                            <a:srgbClr val="FFFFFF"/>
                          </a:solidFill>
                          <a:effectLst/>
                          <a:latin typeface="微軟正黑體" panose="020B0604030504040204" pitchFamily="34" charset="-120"/>
                          <a:ea typeface="微軟正黑體" panose="020B0604030504040204" pitchFamily="34" charset="-120"/>
                        </a:rPr>
                        <a:t>採購單類型說明</a:t>
                      </a:r>
                      <a:br>
                        <a:rPr lang="zh-TW" altLang="en-US" sz="1700" b="1" i="0" u="none" strike="noStrike" dirty="0">
                          <a:solidFill>
                            <a:srgbClr val="FFFFFF"/>
                          </a:solidFill>
                          <a:effectLst/>
                          <a:latin typeface="微軟正黑體" panose="020B0604030504040204" pitchFamily="34" charset="-120"/>
                          <a:ea typeface="微軟正黑體" panose="020B0604030504040204" pitchFamily="34" charset="-120"/>
                        </a:rPr>
                      </a:br>
                      <a:r>
                        <a:rPr lang="en-US" altLang="zh-TW" sz="1700" b="1" i="0" u="none" strike="noStrike" dirty="0">
                          <a:solidFill>
                            <a:srgbClr val="FFFFFF"/>
                          </a:solidFill>
                          <a:effectLst/>
                          <a:latin typeface="微軟正黑體" panose="020B0604030504040204" pitchFamily="34" charset="-120"/>
                          <a:ea typeface="微軟正黑體" panose="020B0604030504040204" pitchFamily="34" charset="-120"/>
                        </a:rPr>
                        <a:t>(20</a:t>
                      </a:r>
                      <a:r>
                        <a:rPr lang="zh-TW" altLang="en-US" sz="1700" b="1" i="0" u="none" strike="noStrike" dirty="0">
                          <a:solidFill>
                            <a:srgbClr val="FFFFFF"/>
                          </a:solidFill>
                          <a:effectLst/>
                          <a:latin typeface="微軟正黑體" panose="020B0604030504040204" pitchFamily="34" charset="-120"/>
                          <a:ea typeface="微軟正黑體" panose="020B0604030504040204" pitchFamily="34" charset="-120"/>
                        </a:rPr>
                        <a:t>碼</a:t>
                      </a:r>
                      <a:r>
                        <a:rPr lang="en-US" altLang="zh-TW" sz="1700" b="1" i="0" u="none" strike="noStrike" dirty="0">
                          <a:solidFill>
                            <a:srgbClr val="FFFFFF"/>
                          </a:solidFill>
                          <a:effectLst/>
                          <a:latin typeface="微軟正黑體" panose="020B0604030504040204" pitchFamily="34" charset="-120"/>
                          <a:ea typeface="微軟正黑體" panose="020B0604030504040204" pitchFamily="34" charset="-120"/>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700" b="1" i="0" u="none" strike="noStrike" dirty="0">
                          <a:solidFill>
                            <a:srgbClr val="000000"/>
                          </a:solidFill>
                          <a:effectLst/>
                          <a:latin typeface="微軟正黑體" panose="020B0604030504040204" pitchFamily="34" charset="-120"/>
                          <a:ea typeface="微軟正黑體" panose="020B0604030504040204" pitchFamily="34" charset="-120"/>
                        </a:rPr>
                        <a:t>統購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5B3D7"/>
                    </a:solidFill>
                  </a:tcPr>
                </a:tc>
                <a:tc>
                  <a:txBody>
                    <a:bodyPr/>
                    <a:lstStyle/>
                    <a:p>
                      <a:pPr algn="ctr" rtl="0" fontAlgn="ctr"/>
                      <a:r>
                        <a:rPr lang="zh-TW" altLang="en-US" sz="1700" b="1" i="0" u="none" strike="noStrike" dirty="0">
                          <a:solidFill>
                            <a:srgbClr val="000000"/>
                          </a:solidFill>
                          <a:effectLst/>
                          <a:latin typeface="微軟正黑體" panose="020B0604030504040204" pitchFamily="34" charset="-120"/>
                          <a:ea typeface="微軟正黑體" panose="020B0604030504040204" pitchFamily="34" charset="-120"/>
                        </a:rPr>
                        <a:t>地區採購是否可改採購單價</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5B3D7"/>
                    </a:solidFill>
                  </a:tcPr>
                </a:tc>
                <a:extLst>
                  <a:ext uri="{0D108BD9-81ED-4DB2-BD59-A6C34878D82A}">
                    <a16:rowId xmlns="" xmlns:a16="http://schemas.microsoft.com/office/drawing/2014/main" val="10000"/>
                  </a:ext>
                </a:extLst>
              </a:tr>
              <a:tr h="260985">
                <a:tc>
                  <a:txBody>
                    <a:bodyPr/>
                    <a:lstStyle/>
                    <a:p>
                      <a:pPr algn="l" fontAlgn="b"/>
                      <a:r>
                        <a:rPr lang="en-US" sz="1700" b="0" i="0" u="none" strike="noStrike">
                          <a:solidFill>
                            <a:srgbClr val="000000"/>
                          </a:solidFill>
                          <a:effectLst/>
                          <a:latin typeface="微軟正黑體" panose="020B0604030504040204" pitchFamily="34" charset="-120"/>
                          <a:ea typeface="微軟正黑體" panose="020B0604030504040204" pitchFamily="34" charset="-120"/>
                        </a:rPr>
                        <a:t>POX1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1700" b="0" i="0" u="none" strike="noStrike">
                          <a:solidFill>
                            <a:srgbClr val="000000"/>
                          </a:solidFill>
                          <a:effectLst/>
                          <a:latin typeface="微軟正黑體" panose="020B0604030504040204" pitchFamily="34" charset="-120"/>
                          <a:ea typeface="微軟正黑體" panose="020B0604030504040204" pitchFamily="34" charset="-120"/>
                        </a:rPr>
                        <a:t>庶務庫存品採購單</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700" b="0" i="0" u="none" strike="noStrike">
                          <a:solidFill>
                            <a:srgbClr val="000000"/>
                          </a:solidFill>
                          <a:effectLst/>
                          <a:latin typeface="微軟正黑體" panose="020B0604030504040204" pitchFamily="34" charset="-120"/>
                          <a:ea typeface="微軟正黑體" panose="020B0604030504040204" pitchFamily="34" charset="-120"/>
                        </a:rPr>
                        <a:t>N/A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700" b="0" i="0" u="none" strike="noStrike">
                          <a:solidFill>
                            <a:srgbClr val="000000"/>
                          </a:solidFill>
                          <a:effectLst/>
                          <a:latin typeface="微軟正黑體" panose="020B0604030504040204" pitchFamily="34" charset="-120"/>
                          <a:ea typeface="微軟正黑體" panose="020B0604030504040204" pitchFamily="34" charset="-120"/>
                        </a:rPr>
                        <a:t>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260985">
                <a:tc>
                  <a:txBody>
                    <a:bodyPr/>
                    <a:lstStyle/>
                    <a:p>
                      <a:pPr algn="l" fontAlgn="b"/>
                      <a:r>
                        <a:rPr lang="en-US" sz="1700" b="0" i="0" u="none" strike="noStrike">
                          <a:solidFill>
                            <a:srgbClr val="000000"/>
                          </a:solidFill>
                          <a:effectLst/>
                          <a:latin typeface="微軟正黑體" panose="020B0604030504040204" pitchFamily="34" charset="-120"/>
                          <a:ea typeface="微軟正黑體" panose="020B0604030504040204" pitchFamily="34" charset="-120"/>
                        </a:rPr>
                        <a:t>POX2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1700" b="0" i="0" u="none" strike="noStrike">
                          <a:solidFill>
                            <a:srgbClr val="000000"/>
                          </a:solidFill>
                          <a:effectLst/>
                          <a:latin typeface="微軟正黑體" panose="020B0604030504040204" pitchFamily="34" charset="-120"/>
                          <a:ea typeface="微軟正黑體" panose="020B0604030504040204" pitchFamily="34" charset="-120"/>
                        </a:rPr>
                        <a:t>費用類採購單</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700" b="0" i="0" u="none" strike="noStrike">
                          <a:solidFill>
                            <a:srgbClr val="000000"/>
                          </a:solidFill>
                          <a:effectLst/>
                          <a:latin typeface="微軟正黑體" panose="020B0604030504040204" pitchFamily="34" charset="-120"/>
                          <a:ea typeface="微軟正黑體" panose="020B0604030504040204" pitchFamily="34" charset="-120"/>
                        </a:rPr>
                        <a:t>N/A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700" b="0" i="0" u="none" strike="noStrike">
                          <a:solidFill>
                            <a:srgbClr val="000000"/>
                          </a:solidFill>
                          <a:effectLst/>
                          <a:latin typeface="微軟正黑體" panose="020B0604030504040204" pitchFamily="34" charset="-120"/>
                          <a:ea typeface="微軟正黑體" panose="020B0604030504040204" pitchFamily="34" charset="-120"/>
                        </a:rPr>
                        <a:t>YES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276225">
                <a:tc>
                  <a:txBody>
                    <a:bodyPr/>
                    <a:lstStyle/>
                    <a:p>
                      <a:pPr algn="l" fontAlgn="b"/>
                      <a:r>
                        <a:rPr lang="en-US" sz="1700" b="0" i="0" u="none" strike="noStrike">
                          <a:solidFill>
                            <a:srgbClr val="000000"/>
                          </a:solidFill>
                          <a:effectLst/>
                          <a:latin typeface="微軟正黑體" panose="020B0604030504040204" pitchFamily="34" charset="-120"/>
                          <a:ea typeface="微軟正黑體" panose="020B0604030504040204" pitchFamily="34" charset="-120"/>
                        </a:rPr>
                        <a:t>POX3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1700" b="0" i="0" u="none" strike="noStrike" dirty="0">
                          <a:solidFill>
                            <a:srgbClr val="000000"/>
                          </a:solidFill>
                          <a:effectLst/>
                          <a:latin typeface="微軟正黑體" panose="020B0604030504040204" pitchFamily="34" charset="-120"/>
                          <a:ea typeface="微軟正黑體" panose="020B0604030504040204" pitchFamily="34" charset="-120"/>
                        </a:rPr>
                        <a:t>生質燃料採購單</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700" b="0" i="0" u="none" strike="noStrike" dirty="0">
                          <a:solidFill>
                            <a:srgbClr val="000000"/>
                          </a:solidFill>
                          <a:effectLst/>
                          <a:latin typeface="微軟正黑體" panose="020B0604030504040204" pitchFamily="34" charset="-120"/>
                          <a:ea typeface="微軟正黑體" panose="020B0604030504040204" pitchFamily="34" charset="-120"/>
                        </a:rPr>
                        <a:t>N/A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altLang="zh-TW" sz="1700" b="0" i="0" u="none" strike="noStrike" dirty="0">
                          <a:solidFill>
                            <a:srgbClr val="000000"/>
                          </a:solidFill>
                          <a:effectLst/>
                          <a:latin typeface="微軟正黑體" panose="020B0604030504040204" pitchFamily="34" charset="-120"/>
                          <a:ea typeface="微軟正黑體" panose="020B0604030504040204" pitchFamily="34" charset="-120"/>
                        </a:rPr>
                        <a:t>NO</a:t>
                      </a:r>
                      <a:endParaRPr lang="en-US" sz="17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6" name="矩形 5"/>
          <p:cNvSpPr/>
          <p:nvPr/>
        </p:nvSpPr>
        <p:spPr>
          <a:xfrm>
            <a:off x="2444827" y="797108"/>
            <a:ext cx="5256567" cy="461665"/>
          </a:xfrm>
          <a:prstGeom prst="rect">
            <a:avLst/>
          </a:prstGeom>
        </p:spPr>
        <p:txBody>
          <a:bodyPr wrap="none">
            <a:spAutoFit/>
          </a:bodyPr>
          <a:lstStyle/>
          <a:p>
            <a:r>
              <a:rPr lang="en-US" altLang="zh-TW" sz="2400" b="1" dirty="0">
                <a:latin typeface="微軟正黑體" panose="020B0604030504040204" pitchFamily="34" charset="-120"/>
                <a:ea typeface="微軟正黑體" panose="020B0604030504040204" pitchFamily="34" charset="-120"/>
              </a:rPr>
              <a:t>MM-PU-0040-05 </a:t>
            </a:r>
            <a:r>
              <a:rPr lang="zh-TW" altLang="en-US" sz="2400" b="1" dirty="0">
                <a:latin typeface="微軟正黑體" panose="020B0604030504040204" pitchFamily="34" charset="-120"/>
                <a:ea typeface="微軟正黑體" panose="020B0604030504040204" pitchFamily="34" charset="-120"/>
              </a:rPr>
              <a:t>庶務請採購驗流程</a:t>
            </a:r>
            <a:endParaRPr lang="zh-TW" altLang="en-US" sz="2400" b="1" dirty="0"/>
          </a:p>
        </p:txBody>
      </p:sp>
    </p:spTree>
    <p:extLst>
      <p:ext uri="{BB962C8B-B14F-4D97-AF65-F5344CB8AC3E}">
        <p14:creationId xmlns="" xmlns:p14="http://schemas.microsoft.com/office/powerpoint/2010/main" val="42274635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6730180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8">
            <a:extLst>
              <a:ext uri="{FF2B5EF4-FFF2-40B4-BE49-F238E27FC236}">
                <a16:creationId xmlns="" xmlns:a16="http://schemas.microsoft.com/office/drawing/2014/main" id="{6FA1EB1C-0C56-468D-DD3A-1AFF772D5B49}"/>
              </a:ext>
            </a:extLst>
          </p:cNvPr>
          <p:cNvSpPr/>
          <p:nvPr/>
        </p:nvSpPr>
        <p:spPr bwMode="auto">
          <a:xfrm>
            <a:off x="3242505" y="2150354"/>
            <a:ext cx="1797831" cy="519585"/>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流程</a:t>
            </a:r>
          </a:p>
          <a:p>
            <a:pPr algn="ctr" eaLnBrk="0" hangingPunct="0"/>
            <a:r>
              <a:rPr lang="zh-TW" altLang="en-US" sz="1500">
                <a:latin typeface="微軟正黑體" panose="020B0604030504040204" pitchFamily="34" charset="-120"/>
                <a:ea typeface="微軟正黑體" panose="020B0604030504040204" pitchFamily="34" charset="-120"/>
              </a:rPr>
              <a:t>開始或結束點</a:t>
            </a:r>
          </a:p>
        </p:txBody>
      </p:sp>
      <p:sp>
        <p:nvSpPr>
          <p:cNvPr id="3" name="文字方塊 12">
            <a:extLst>
              <a:ext uri="{FF2B5EF4-FFF2-40B4-BE49-F238E27FC236}">
                <a16:creationId xmlns="" xmlns:a16="http://schemas.microsoft.com/office/drawing/2014/main" id="{C3ACBE9D-2638-0AA4-2866-6D3A3BDB15CB}"/>
              </a:ext>
            </a:extLst>
          </p:cNvPr>
          <p:cNvSpPr txBox="1"/>
          <p:nvPr/>
        </p:nvSpPr>
        <p:spPr>
          <a:xfrm>
            <a:off x="5511013" y="2833662"/>
            <a:ext cx="6013292" cy="1661993"/>
          </a:xfrm>
          <a:prstGeom prst="rect">
            <a:avLst/>
          </a:prstGeom>
          <a:noFill/>
          <a:ln>
            <a:noFill/>
          </a:ln>
        </p:spPr>
        <p:txBody>
          <a:bodyPr wrap="square" lIns="0" tIns="0" rIns="0" bIns="0" rtlCol="0">
            <a:spAutoFit/>
          </a:bodyPr>
          <a:lstStyle/>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上方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若本作業為系統交易請輸入該系統的交易代碼</a:t>
            </a:r>
            <a:endParaRPr lang="en-US" altLang="zh-TW" sz="1800">
              <a:solidFill>
                <a:srgbClr val="C00000"/>
              </a:solidFill>
              <a:latin typeface="微軟正黑體" panose="020B0604030504040204" pitchFamily="34" charset="-120"/>
              <a:ea typeface="微軟正黑體" panose="020B0604030504040204" pitchFamily="34" charset="-120"/>
            </a:endParaRP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中間區塊</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動作</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作業</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系統交易 的名稱</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左下方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此處請輸入系統名稱</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若非系統交易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請留空白</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右下方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有自動化程序</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請輸入自動</a:t>
            </a:r>
          </a:p>
          <a:p>
            <a:pPr marL="257202" indent="-257202">
              <a:buFont typeface="Arial" panose="020B0604020202020204" pitchFamily="34" charset="0"/>
              <a:buChar char="•"/>
            </a:pPr>
            <a:endParaRPr lang="zh-TW" altLang="en-US" sz="1800">
              <a:solidFill>
                <a:srgbClr val="C00000"/>
              </a:solidFill>
              <a:latin typeface="微軟正黑體" panose="020B0604030504040204" pitchFamily="34" charset="-120"/>
              <a:ea typeface="微軟正黑體" panose="020B0604030504040204" pitchFamily="34" charset="-120"/>
            </a:endParaRPr>
          </a:p>
        </p:txBody>
      </p:sp>
      <p:sp>
        <p:nvSpPr>
          <p:cNvPr id="4" name="文字方塊 15">
            <a:extLst>
              <a:ext uri="{FF2B5EF4-FFF2-40B4-BE49-F238E27FC236}">
                <a16:creationId xmlns="" xmlns:a16="http://schemas.microsoft.com/office/drawing/2014/main" id="{F1992E37-FBF2-71FC-3355-A44CD54F666E}"/>
              </a:ext>
            </a:extLst>
          </p:cNvPr>
          <p:cNvSpPr txBox="1"/>
          <p:nvPr/>
        </p:nvSpPr>
        <p:spPr>
          <a:xfrm>
            <a:off x="5511009" y="2296591"/>
            <a:ext cx="338991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流程起始點或結束點</a:t>
            </a:r>
          </a:p>
        </p:txBody>
      </p:sp>
      <p:sp>
        <p:nvSpPr>
          <p:cNvPr id="7" name="文字方塊 24">
            <a:extLst>
              <a:ext uri="{FF2B5EF4-FFF2-40B4-BE49-F238E27FC236}">
                <a16:creationId xmlns="" xmlns:a16="http://schemas.microsoft.com/office/drawing/2014/main" id="{D18486DA-E03C-9AF3-9A27-7A647D6A1B82}"/>
              </a:ext>
            </a:extLst>
          </p:cNvPr>
          <p:cNvSpPr txBox="1"/>
          <p:nvPr/>
        </p:nvSpPr>
        <p:spPr>
          <a:xfrm>
            <a:off x="2548723" y="1451160"/>
            <a:ext cx="5505642" cy="507831"/>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本區域請輸入部門或是工作職掌</a:t>
            </a:r>
            <a:r>
              <a:rPr lang="en-US" altLang="zh-TW" sz="1600">
                <a:latin typeface="微軟正黑體" panose="020B0604030504040204" pitchFamily="34" charset="-120"/>
                <a:ea typeface="微軟正黑體" panose="020B0604030504040204" pitchFamily="34" charset="-120"/>
              </a:rPr>
              <a:t>. </a:t>
            </a:r>
          </a:p>
          <a:p>
            <a:r>
              <a:rPr lang="zh-TW" altLang="en-US" sz="1600">
                <a:latin typeface="微軟正黑體" panose="020B0604030504040204" pitchFamily="34" charset="-120"/>
                <a:ea typeface="微軟正黑體" panose="020B0604030504040204" pitchFamily="34" charset="-120"/>
              </a:rPr>
              <a:t>例如</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業務處 或 業務處</a:t>
            </a:r>
            <a:r>
              <a:rPr lang="en-US" altLang="zh-TW" sz="1600">
                <a:latin typeface="微軟正黑體" panose="020B0604030504040204" pitchFamily="34" charset="-120"/>
                <a:ea typeface="微軟正黑體" panose="020B0604030504040204" pitchFamily="34" charset="-120"/>
              </a:rPr>
              <a:t>/</a:t>
            </a:r>
            <a:r>
              <a:rPr lang="zh-TW" altLang="en-US" sz="1600">
                <a:latin typeface="微軟正黑體" panose="020B0604030504040204" pitchFamily="34" charset="-120"/>
                <a:ea typeface="微軟正黑體" panose="020B0604030504040204" pitchFamily="34" charset="-120"/>
              </a:rPr>
              <a:t>業務經理 或 業務人員</a:t>
            </a:r>
          </a:p>
        </p:txBody>
      </p:sp>
      <p:sp>
        <p:nvSpPr>
          <p:cNvPr id="8" name="文字方塊 25">
            <a:extLst>
              <a:ext uri="{FF2B5EF4-FFF2-40B4-BE49-F238E27FC236}">
                <a16:creationId xmlns="" xmlns:a16="http://schemas.microsoft.com/office/drawing/2014/main" id="{3582A9EB-A5A2-F0E1-F6A8-1152902964CF}"/>
              </a:ext>
            </a:extLst>
          </p:cNvPr>
          <p:cNvSpPr txBox="1"/>
          <p:nvPr/>
        </p:nvSpPr>
        <p:spPr>
          <a:xfrm>
            <a:off x="240594" y="1840650"/>
            <a:ext cx="2069194"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本區塊用來說明本流程動作所需要的資料來源</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包含前置作業流程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sp>
        <p:nvSpPr>
          <p:cNvPr id="9" name="文字方塊 26">
            <a:extLst>
              <a:ext uri="{FF2B5EF4-FFF2-40B4-BE49-F238E27FC236}">
                <a16:creationId xmlns="" xmlns:a16="http://schemas.microsoft.com/office/drawing/2014/main" id="{56CB2E28-F31D-1D89-A5FB-F878E9724B60}"/>
              </a:ext>
            </a:extLst>
          </p:cNvPr>
          <p:cNvSpPr txBox="1"/>
          <p:nvPr/>
        </p:nvSpPr>
        <p:spPr>
          <a:xfrm>
            <a:off x="12055646" y="1856148"/>
            <a:ext cx="2086520"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本區塊用來說明本流程動作所會產出的結果</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包含後續作業流程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graphicFrame>
        <p:nvGraphicFramePr>
          <p:cNvPr id="10" name="表格 30">
            <a:extLst>
              <a:ext uri="{FF2B5EF4-FFF2-40B4-BE49-F238E27FC236}">
                <a16:creationId xmlns="" xmlns:a16="http://schemas.microsoft.com/office/drawing/2014/main" id="{94474DA2-C417-6AE7-95EE-50C9649AB985}"/>
              </a:ext>
            </a:extLst>
          </p:cNvPr>
          <p:cNvGraphicFramePr>
            <a:graphicFrameLocks noGrp="1"/>
          </p:cNvGraphicFramePr>
          <p:nvPr/>
        </p:nvGraphicFramePr>
        <p:xfrm>
          <a:off x="3242505" y="3002420"/>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11" name="流程圖: 預設處理作業 21">
            <a:extLst>
              <a:ext uri="{FF2B5EF4-FFF2-40B4-BE49-F238E27FC236}">
                <a16:creationId xmlns="" xmlns:a16="http://schemas.microsoft.com/office/drawing/2014/main" id="{6AB8729A-A396-2BA6-E6B9-1B2A79082818}"/>
              </a:ext>
            </a:extLst>
          </p:cNvPr>
          <p:cNvSpPr/>
          <p:nvPr/>
        </p:nvSpPr>
        <p:spPr bwMode="auto">
          <a:xfrm>
            <a:off x="3242509" y="4808819"/>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a:latin typeface="微軟正黑體" panose="020B0604030504040204" pitchFamily="34" charset="-120"/>
                <a:ea typeface="微軟正黑體" panose="020B0604030504040204" pitchFamily="34" charset="-120"/>
              </a:rPr>
              <a:t>XXX-001-02</a:t>
            </a:r>
          </a:p>
          <a:p>
            <a:pPr algn="ctr" eaLnBrk="0" hangingPunct="0"/>
            <a:r>
              <a:rPr lang="en-US" altLang="zh-TW" sz="1500">
                <a:latin typeface="微軟正黑體" panose="020B0604030504040204" pitchFamily="34" charset="-120"/>
                <a:ea typeface="微軟正黑體" panose="020B0604030504040204" pitchFamily="34" charset="-120"/>
              </a:rPr>
              <a:t>XXX</a:t>
            </a:r>
            <a:r>
              <a:rPr lang="zh-TW" altLang="en-US" sz="1500">
                <a:latin typeface="微軟正黑體" panose="020B0604030504040204" pitchFamily="34" charset="-120"/>
                <a:ea typeface="微軟正黑體" panose="020B0604030504040204" pitchFamily="34" charset="-120"/>
              </a:rPr>
              <a:t>作業流程</a:t>
            </a:r>
          </a:p>
        </p:txBody>
      </p:sp>
      <p:sp>
        <p:nvSpPr>
          <p:cNvPr id="12" name="流程圖: 文件 42">
            <a:extLst>
              <a:ext uri="{FF2B5EF4-FFF2-40B4-BE49-F238E27FC236}">
                <a16:creationId xmlns="" xmlns:a16="http://schemas.microsoft.com/office/drawing/2014/main" id="{91F9B27C-7F80-2BDA-7707-DDBD4E112805}"/>
              </a:ext>
            </a:extLst>
          </p:cNvPr>
          <p:cNvSpPr/>
          <p:nvPr/>
        </p:nvSpPr>
        <p:spPr bwMode="auto">
          <a:xfrm>
            <a:off x="3242505" y="6336001"/>
            <a:ext cx="1841949" cy="1238400"/>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產出或投入</a:t>
            </a:r>
          </a:p>
          <a:p>
            <a:pPr algn="ctr" eaLnBrk="0" hangingPunct="0"/>
            <a:r>
              <a:rPr lang="zh-TW" altLang="en-US" sz="1500">
                <a:latin typeface="微軟正黑體" panose="020B0604030504040204" pitchFamily="34" charset="-120"/>
                <a:ea typeface="微軟正黑體" panose="020B0604030504040204" pitchFamily="34" charset="-120"/>
              </a:rPr>
              <a:t>文件</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報表</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表單</a:t>
            </a:r>
          </a:p>
        </p:txBody>
      </p:sp>
      <p:sp>
        <p:nvSpPr>
          <p:cNvPr id="13" name="文字方塊 46">
            <a:extLst>
              <a:ext uri="{FF2B5EF4-FFF2-40B4-BE49-F238E27FC236}">
                <a16:creationId xmlns="" xmlns:a16="http://schemas.microsoft.com/office/drawing/2014/main" id="{8E21E1D9-DCFA-D067-33E8-546CC2C7A8A1}"/>
              </a:ext>
            </a:extLst>
          </p:cNvPr>
          <p:cNvSpPr txBox="1"/>
          <p:nvPr/>
        </p:nvSpPr>
        <p:spPr>
          <a:xfrm>
            <a:off x="5568741" y="5289520"/>
            <a:ext cx="4104456"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於本流程中有關聯的流程編號與名稱</a:t>
            </a:r>
          </a:p>
        </p:txBody>
      </p:sp>
      <p:sp>
        <p:nvSpPr>
          <p:cNvPr id="14" name="文字方塊 47">
            <a:extLst>
              <a:ext uri="{FF2B5EF4-FFF2-40B4-BE49-F238E27FC236}">
                <a16:creationId xmlns="" xmlns:a16="http://schemas.microsoft.com/office/drawing/2014/main" id="{5B7CE1DA-2D6E-F4C0-11C8-08795CA4563E}"/>
              </a:ext>
            </a:extLst>
          </p:cNvPr>
          <p:cNvSpPr txBox="1"/>
          <p:nvPr/>
        </p:nvSpPr>
        <p:spPr>
          <a:xfrm>
            <a:off x="5568743" y="6418310"/>
            <a:ext cx="5313821"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於本流程中投入或是產出的文件</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報表</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表單名稱</a:t>
            </a:r>
          </a:p>
        </p:txBody>
      </p:sp>
      <p:sp>
        <p:nvSpPr>
          <p:cNvPr id="15" name="流程圖: 決策 50">
            <a:extLst>
              <a:ext uri="{FF2B5EF4-FFF2-40B4-BE49-F238E27FC236}">
                <a16:creationId xmlns="" xmlns:a16="http://schemas.microsoft.com/office/drawing/2014/main" id="{845AA0C2-CB36-2792-A054-5B69382FBD2D}"/>
              </a:ext>
            </a:extLst>
          </p:cNvPr>
          <p:cNvSpPr/>
          <p:nvPr/>
        </p:nvSpPr>
        <p:spPr bwMode="auto">
          <a:xfrm>
            <a:off x="7393953" y="7226480"/>
            <a:ext cx="1841949" cy="117794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決策或判斷點</a:t>
            </a:r>
          </a:p>
        </p:txBody>
      </p:sp>
      <p:sp>
        <p:nvSpPr>
          <p:cNvPr id="16" name="流程圖: 接點 51">
            <a:extLst>
              <a:ext uri="{FF2B5EF4-FFF2-40B4-BE49-F238E27FC236}">
                <a16:creationId xmlns="" xmlns:a16="http://schemas.microsoft.com/office/drawing/2014/main" id="{1E4DE6F3-3BB0-2B05-BD87-45921D4C3C01}"/>
              </a:ext>
            </a:extLst>
          </p:cNvPr>
          <p:cNvSpPr/>
          <p:nvPr/>
        </p:nvSpPr>
        <p:spPr bwMode="auto">
          <a:xfrm>
            <a:off x="7989971" y="864604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A</a:t>
            </a:r>
            <a:endParaRPr lang="zh-TW" altLang="en-US" sz="1800">
              <a:latin typeface="微軟正黑體" panose="020B0604030504040204" pitchFamily="34" charset="-120"/>
              <a:ea typeface="微軟正黑體" panose="020B0604030504040204" pitchFamily="34" charset="-120"/>
            </a:endParaRPr>
          </a:p>
        </p:txBody>
      </p:sp>
      <p:sp>
        <p:nvSpPr>
          <p:cNvPr id="17" name="流程圖: 換頁接點 52">
            <a:extLst>
              <a:ext uri="{FF2B5EF4-FFF2-40B4-BE49-F238E27FC236}">
                <a16:creationId xmlns="" xmlns:a16="http://schemas.microsoft.com/office/drawing/2014/main" id="{AC58EE03-29AB-852C-B954-3F203C7F24CB}"/>
              </a:ext>
            </a:extLst>
          </p:cNvPr>
          <p:cNvSpPr/>
          <p:nvPr/>
        </p:nvSpPr>
        <p:spPr bwMode="auto">
          <a:xfrm>
            <a:off x="8002556" y="941057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P2</a:t>
            </a:r>
            <a:endParaRPr lang="zh-TW" altLang="en-US" sz="1800">
              <a:latin typeface="微軟正黑體" panose="020B0604030504040204" pitchFamily="34" charset="-120"/>
              <a:ea typeface="微軟正黑體" panose="020B0604030504040204" pitchFamily="34" charset="-120"/>
            </a:endParaRPr>
          </a:p>
        </p:txBody>
      </p:sp>
      <p:sp>
        <p:nvSpPr>
          <p:cNvPr id="18" name="文字方塊 53">
            <a:extLst>
              <a:ext uri="{FF2B5EF4-FFF2-40B4-BE49-F238E27FC236}">
                <a16:creationId xmlns="" xmlns:a16="http://schemas.microsoft.com/office/drawing/2014/main" id="{3456038A-55BE-0A34-609A-F6B4AC23D1F1}"/>
              </a:ext>
            </a:extLst>
          </p:cNvPr>
          <p:cNvSpPr txBox="1"/>
          <p:nvPr/>
        </p:nvSpPr>
        <p:spPr>
          <a:xfrm>
            <a:off x="9526622" y="7716344"/>
            <a:ext cx="185663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決策或是判斷點</a:t>
            </a:r>
          </a:p>
        </p:txBody>
      </p:sp>
      <p:sp>
        <p:nvSpPr>
          <p:cNvPr id="19" name="文字方塊 54">
            <a:extLst>
              <a:ext uri="{FF2B5EF4-FFF2-40B4-BE49-F238E27FC236}">
                <a16:creationId xmlns="" xmlns:a16="http://schemas.microsoft.com/office/drawing/2014/main" id="{517E2A64-47A3-A953-7789-D0C0B645C2F1}"/>
              </a:ext>
            </a:extLst>
          </p:cNvPr>
          <p:cNvSpPr txBox="1"/>
          <p:nvPr/>
        </p:nvSpPr>
        <p:spPr>
          <a:xfrm>
            <a:off x="9571162" y="8696687"/>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同一頁面上的連結點</a:t>
            </a:r>
          </a:p>
        </p:txBody>
      </p:sp>
      <p:sp>
        <p:nvSpPr>
          <p:cNvPr id="20" name="文字方塊 55">
            <a:extLst>
              <a:ext uri="{FF2B5EF4-FFF2-40B4-BE49-F238E27FC236}">
                <a16:creationId xmlns="" xmlns:a16="http://schemas.microsoft.com/office/drawing/2014/main" id="{938B72A0-C4AB-D17D-D8C7-F599440CF29D}"/>
              </a:ext>
            </a:extLst>
          </p:cNvPr>
          <p:cNvSpPr txBox="1"/>
          <p:nvPr/>
        </p:nvSpPr>
        <p:spPr>
          <a:xfrm>
            <a:off x="9571162" y="9410572"/>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換頁之連接點</a:t>
            </a:r>
          </a:p>
        </p:txBody>
      </p:sp>
      <p:sp>
        <p:nvSpPr>
          <p:cNvPr id="21" name="文字方塊 21">
            <a:extLst>
              <a:ext uri="{FF2B5EF4-FFF2-40B4-BE49-F238E27FC236}">
                <a16:creationId xmlns="" xmlns:a16="http://schemas.microsoft.com/office/drawing/2014/main" id="{1F153670-BE85-306D-6126-9994ACD9935F}"/>
              </a:ext>
            </a:extLst>
          </p:cNvPr>
          <p:cNvSpPr txBox="1"/>
          <p:nvPr/>
        </p:nvSpPr>
        <p:spPr>
          <a:xfrm>
            <a:off x="16660678" y="226579"/>
            <a:ext cx="1392048"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本區塊之頁次</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日期會自動更新</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日期為最後一次更新日</a:t>
            </a:r>
          </a:p>
        </p:txBody>
      </p:sp>
      <p:sp>
        <p:nvSpPr>
          <p:cNvPr id="30" name="文字方塊 53">
            <a:extLst>
              <a:ext uri="{FF2B5EF4-FFF2-40B4-BE49-F238E27FC236}">
                <a16:creationId xmlns="" xmlns:a16="http://schemas.microsoft.com/office/drawing/2014/main" id="{7EE68195-4036-2753-C702-EBF7E6CFA458}"/>
              </a:ext>
            </a:extLst>
          </p:cNvPr>
          <p:cNvSpPr txBox="1"/>
          <p:nvPr/>
        </p:nvSpPr>
        <p:spPr>
          <a:xfrm>
            <a:off x="5545788" y="8023216"/>
            <a:ext cx="1557447" cy="553998"/>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說明號碼，位於右上角</a:t>
            </a:r>
          </a:p>
        </p:txBody>
      </p:sp>
      <p:graphicFrame>
        <p:nvGraphicFramePr>
          <p:cNvPr id="31" name="表格 30">
            <a:extLst>
              <a:ext uri="{FF2B5EF4-FFF2-40B4-BE49-F238E27FC236}">
                <a16:creationId xmlns="" xmlns:a16="http://schemas.microsoft.com/office/drawing/2014/main" id="{22A069D3-CB36-DA21-0023-3C294211F2A1}"/>
              </a:ext>
            </a:extLst>
          </p:cNvPr>
          <p:cNvGraphicFramePr>
            <a:graphicFrameLocks noGrp="1"/>
          </p:cNvGraphicFramePr>
          <p:nvPr/>
        </p:nvGraphicFramePr>
        <p:xfrm>
          <a:off x="3242505" y="8119564"/>
          <a:ext cx="1797832" cy="123840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 xmlns:a16="http://schemas.microsoft.com/office/drawing/2014/main"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27" name="Group 232">
            <a:extLst>
              <a:ext uri="{FF2B5EF4-FFF2-40B4-BE49-F238E27FC236}">
                <a16:creationId xmlns="" xmlns:a16="http://schemas.microsoft.com/office/drawing/2014/main" id="{34DCA6AC-E460-4F91-E17A-E4D1D9383A32}"/>
              </a:ext>
            </a:extLst>
          </p:cNvPr>
          <p:cNvGrpSpPr/>
          <p:nvPr/>
        </p:nvGrpSpPr>
        <p:grpSpPr>
          <a:xfrm>
            <a:off x="4888172" y="7911842"/>
            <a:ext cx="557700" cy="408542"/>
            <a:chOff x="5906472" y="1486857"/>
            <a:chExt cx="371800" cy="272361"/>
          </a:xfrm>
        </p:grpSpPr>
        <p:sp>
          <p:nvSpPr>
            <p:cNvPr id="28" name="Oval 233">
              <a:extLst>
                <a:ext uri="{FF2B5EF4-FFF2-40B4-BE49-F238E27FC236}">
                  <a16:creationId xmlns=""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4050"/>
            </a:p>
          </p:txBody>
        </p:sp>
        <p:sp>
          <p:nvSpPr>
            <p:cNvPr id="29" name="TextBox 234">
              <a:extLst>
                <a:ext uri="{FF2B5EF4-FFF2-40B4-BE49-F238E27FC236}">
                  <a16:creationId xmlns=""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a:latin typeface="微軟正黑體" panose="020B0604030504040204" pitchFamily="34" charset="-120"/>
                  <a:ea typeface="微軟正黑體" panose="020B0604030504040204" pitchFamily="34" charset="-120"/>
                </a:rPr>
                <a:t>1</a:t>
              </a:r>
              <a:endParaRPr lang="zh-TW" altLang="en-US" sz="1500">
                <a:latin typeface="微軟正黑體" panose="020B0604030504040204" pitchFamily="34" charset="-120"/>
                <a:ea typeface="微軟正黑體" panose="020B0604030504040204" pitchFamily="34" charset="-120"/>
              </a:endParaRPr>
            </a:p>
          </p:txBody>
        </p:sp>
      </p:grpSp>
      <p:grpSp>
        <p:nvGrpSpPr>
          <p:cNvPr id="5" name="Group 4">
            <a:extLst>
              <a:ext uri="{FF2B5EF4-FFF2-40B4-BE49-F238E27FC236}">
                <a16:creationId xmlns="" xmlns:a16="http://schemas.microsoft.com/office/drawing/2014/main" id="{C1E1D283-1843-CF62-4209-C268980982AA}"/>
              </a:ext>
            </a:extLst>
          </p:cNvPr>
          <p:cNvGrpSpPr/>
          <p:nvPr/>
        </p:nvGrpSpPr>
        <p:grpSpPr>
          <a:xfrm>
            <a:off x="10685297" y="835773"/>
            <a:ext cx="3401998" cy="423412"/>
            <a:chOff x="10685297" y="851013"/>
            <a:chExt cx="3401998" cy="423412"/>
          </a:xfrm>
        </p:grpSpPr>
        <p:grpSp>
          <p:nvGrpSpPr>
            <p:cNvPr id="25" name="Group 24">
              <a:extLst>
                <a:ext uri="{FF2B5EF4-FFF2-40B4-BE49-F238E27FC236}">
                  <a16:creationId xmlns="" xmlns:a16="http://schemas.microsoft.com/office/drawing/2014/main" id="{5A9886C6-C17B-051D-323D-045D45D51D03}"/>
                </a:ext>
              </a:extLst>
            </p:cNvPr>
            <p:cNvGrpSpPr/>
            <p:nvPr/>
          </p:nvGrpSpPr>
          <p:grpSpPr>
            <a:xfrm>
              <a:off x="10685297" y="851013"/>
              <a:ext cx="1291656" cy="423194"/>
              <a:chOff x="7091257" y="609842"/>
              <a:chExt cx="861104" cy="282129"/>
            </a:xfrm>
          </p:grpSpPr>
          <p:sp>
            <p:nvSpPr>
              <p:cNvPr id="35" name="文字方塊 21">
                <a:extLst>
                  <a:ext uri="{FF2B5EF4-FFF2-40B4-BE49-F238E27FC236}">
                    <a16:creationId xmlns="" xmlns:a16="http://schemas.microsoft.com/office/drawing/2014/main" id="{432DD89F-2DAD-3A56-1346-B1AF7181E7DD}"/>
                  </a:ext>
                </a:extLst>
              </p:cNvPr>
              <p:cNvSpPr txBox="1"/>
              <p:nvPr/>
            </p:nvSpPr>
            <p:spPr>
              <a:xfrm>
                <a:off x="7091257" y="609842"/>
                <a:ext cx="283411" cy="276998"/>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sp>
            <p:nvSpPr>
              <p:cNvPr id="36" name="文字方塊 22">
                <a:extLst>
                  <a:ext uri="{FF2B5EF4-FFF2-40B4-BE49-F238E27FC236}">
                    <a16:creationId xmlns="" xmlns:a16="http://schemas.microsoft.com/office/drawing/2014/main" id="{C6804075-CD1F-688A-16E7-A5FA26AA9965}"/>
                  </a:ext>
                </a:extLst>
              </p:cNvPr>
              <p:cNvSpPr txBox="1"/>
              <p:nvPr/>
            </p:nvSpPr>
            <p:spPr>
              <a:xfrm>
                <a:off x="7316290" y="625231"/>
                <a:ext cx="636071"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新流程</a:t>
                </a:r>
              </a:p>
            </p:txBody>
          </p:sp>
        </p:grpSp>
        <p:grpSp>
          <p:nvGrpSpPr>
            <p:cNvPr id="32" name="Group 31">
              <a:extLst>
                <a:ext uri="{FF2B5EF4-FFF2-40B4-BE49-F238E27FC236}">
                  <a16:creationId xmlns="" xmlns:a16="http://schemas.microsoft.com/office/drawing/2014/main" id="{9C909DE7-364E-C051-81B7-A9B0395CA373}"/>
                </a:ext>
              </a:extLst>
            </p:cNvPr>
            <p:cNvGrpSpPr/>
            <p:nvPr/>
          </p:nvGrpSpPr>
          <p:grpSpPr>
            <a:xfrm>
              <a:off x="11993820" y="858926"/>
              <a:ext cx="2093475" cy="415499"/>
              <a:chOff x="8168002" y="615119"/>
              <a:chExt cx="1395650" cy="276999"/>
            </a:xfrm>
          </p:grpSpPr>
          <p:sp>
            <p:nvSpPr>
              <p:cNvPr id="33" name="文字方塊 23">
                <a:extLst>
                  <a:ext uri="{FF2B5EF4-FFF2-40B4-BE49-F238E27FC236}">
                    <a16:creationId xmlns="" xmlns:a16="http://schemas.microsoft.com/office/drawing/2014/main" id="{B4233160-88DF-D04A-FED9-08D0065AAB4F}"/>
                  </a:ext>
                </a:extLst>
              </p:cNvPr>
              <p:cNvSpPr txBox="1"/>
              <p:nvPr/>
            </p:nvSpPr>
            <p:spPr>
              <a:xfrm>
                <a:off x="8414619" y="625231"/>
                <a:ext cx="1149033"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權責單位改變</a:t>
                </a:r>
              </a:p>
            </p:txBody>
          </p:sp>
          <p:sp>
            <p:nvSpPr>
              <p:cNvPr id="34" name="文字方塊 21">
                <a:extLst>
                  <a:ext uri="{FF2B5EF4-FFF2-40B4-BE49-F238E27FC236}">
                    <a16:creationId xmlns="" xmlns:a16="http://schemas.microsoft.com/office/drawing/2014/main" id="{2E1125B2-CD41-1A49-12C1-2EB4AF0DAA7F}"/>
                  </a:ext>
                </a:extLst>
              </p:cNvPr>
              <p:cNvSpPr txBox="1"/>
              <p:nvPr/>
            </p:nvSpPr>
            <p:spPr>
              <a:xfrm>
                <a:off x="8168002" y="615119"/>
                <a:ext cx="283411" cy="276999"/>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grpSp>
      </p:grpSp>
      <p:sp>
        <p:nvSpPr>
          <p:cNvPr id="37" name="TextBox 36">
            <a:extLst>
              <a:ext uri="{FF2B5EF4-FFF2-40B4-BE49-F238E27FC236}">
                <a16:creationId xmlns="" xmlns:a16="http://schemas.microsoft.com/office/drawing/2014/main" id="{D272B6E5-7242-B301-AF12-5963B687CE8C}"/>
              </a:ext>
            </a:extLst>
          </p:cNvPr>
          <p:cNvSpPr txBox="1"/>
          <p:nvPr/>
        </p:nvSpPr>
        <p:spPr>
          <a:xfrm>
            <a:off x="2521976" y="811465"/>
            <a:ext cx="8244896" cy="461665"/>
          </a:xfrm>
          <a:prstGeom prst="rect">
            <a:avLst/>
          </a:prstGeom>
          <a:solidFill>
            <a:srgbClr val="FFC000"/>
          </a:solidFill>
        </p:spPr>
        <p:txBody>
          <a:bodyPr wrap="square" rtlCol="0">
            <a:spAutoFit/>
          </a:bodyPr>
          <a:lstStyle/>
          <a:p>
            <a:r>
              <a:rPr lang="zh-TW" altLang="en-US" sz="2400" b="1" dirty="0">
                <a:latin typeface="Microsoft JhengHei" panose="020B0604030504040204" pitchFamily="34" charset="-120"/>
                <a:ea typeface="Microsoft JhengHei" panose="020B0604030504040204" pitchFamily="34" charset="-120"/>
              </a:rPr>
              <a:t>本區域請輸入”流程編碼”與 “流程名稱”</a:t>
            </a:r>
          </a:p>
        </p:txBody>
      </p:sp>
    </p:spTree>
    <p:extLst>
      <p:ext uri="{BB962C8B-B14F-4D97-AF65-F5344CB8AC3E}">
        <p14:creationId xmlns="" xmlns:p14="http://schemas.microsoft.com/office/powerpoint/2010/main" val="172713427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15873</TotalTime>
  <Words>2022</Words>
  <Application>Microsoft Office PowerPoint</Application>
  <PresentationFormat>自訂</PresentationFormat>
  <Paragraphs>729</Paragraphs>
  <Slides>15</Slides>
  <Notes>13</Notes>
  <HiddenSlides>0</HiddenSlides>
  <MMClips>0</MMClips>
  <ScaleCrop>false</ScaleCrop>
  <HeadingPairs>
    <vt:vector size="4" baseType="variant">
      <vt:variant>
        <vt:lpstr>佈景主題</vt:lpstr>
      </vt:variant>
      <vt:variant>
        <vt:i4>1</vt:i4>
      </vt:variant>
      <vt:variant>
        <vt:lpstr>投影片標題</vt:lpstr>
      </vt:variant>
      <vt:variant>
        <vt:i4>15</vt:i4>
      </vt:variant>
    </vt:vector>
  </HeadingPairs>
  <TitlesOfParts>
    <vt:vector size="16" baseType="lpstr">
      <vt:lpstr>Office 2013 - 2022 Theme</vt:lpstr>
      <vt:lpstr>投影片 1</vt:lpstr>
      <vt:lpstr>投影片 2</vt:lpstr>
      <vt:lpstr>投影片 3</vt:lpstr>
      <vt:lpstr>投影片 4</vt:lpstr>
      <vt:lpstr>投影片 5</vt:lpstr>
      <vt:lpstr>投影片 6</vt:lpstr>
      <vt:lpstr>投影片 7</vt:lpstr>
      <vt:lpstr>投影片 8</vt:lpstr>
      <vt:lpstr>投影片 9</vt:lpstr>
      <vt:lpstr>投影片 10</vt:lpstr>
      <vt:lpstr>投影片 11</vt:lpstr>
      <vt:lpstr>投影片 12</vt:lpstr>
      <vt:lpstr>投影片 13</vt:lpstr>
      <vt:lpstr>投影片 14</vt:lpstr>
      <vt:lpstr>投影片 15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173</cp:revision>
  <dcterms:created xsi:type="dcterms:W3CDTF">2023-05-31T01:27:04Z</dcterms:created>
  <dcterms:modified xsi:type="dcterms:W3CDTF">2025-07-15T08:26:48Z</dcterms:modified>
</cp:coreProperties>
</file>