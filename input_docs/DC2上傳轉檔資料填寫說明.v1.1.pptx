
<file path=[Content_Types].xml><?xml version="1.0" encoding="utf-8"?>
<Types xmlns="http://schemas.openxmlformats.org/package/2006/content-types">
  <Default Extension="emf" ContentType="image/x-emf"/>
  <Default Extension="F7C047B0" ContentType="image/png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61" r:id="rId2"/>
    <p:sldId id="2147472999" r:id="rId3"/>
    <p:sldId id="2147473001" r:id="rId4"/>
    <p:sldId id="2147473011" r:id="rId5"/>
    <p:sldId id="2147473014" r:id="rId6"/>
    <p:sldId id="2147473049" r:id="rId7"/>
    <p:sldId id="2147473005" r:id="rId8"/>
    <p:sldId id="2147473047" r:id="rId9"/>
    <p:sldId id="2147473045" r:id="rId10"/>
    <p:sldId id="2147473010" r:id="rId11"/>
    <p:sldId id="2147473023" r:id="rId12"/>
    <p:sldId id="2147473019" r:id="rId13"/>
    <p:sldId id="2147473030" r:id="rId14"/>
    <p:sldId id="2147473024" r:id="rId15"/>
    <p:sldId id="2147473032" r:id="rId16"/>
    <p:sldId id="2147473026" r:id="rId17"/>
    <p:sldId id="2147473028" r:id="rId18"/>
    <p:sldId id="2147473018" r:id="rId19"/>
    <p:sldId id="2147473021" r:id="rId20"/>
    <p:sldId id="2147473022" r:id="rId21"/>
    <p:sldId id="2147473020" r:id="rId22"/>
    <p:sldId id="2147473027" r:id="rId23"/>
    <p:sldId id="2147473046" r:id="rId24"/>
    <p:sldId id="2147473042" r:id="rId25"/>
    <p:sldId id="2147473029" r:id="rId26"/>
    <p:sldId id="2147473048" r:id="rId27"/>
    <p:sldId id="2147473037" r:id="rId28"/>
    <p:sldId id="2147473039" r:id="rId29"/>
    <p:sldId id="2147473038" r:id="rId30"/>
    <p:sldId id="2147473040" r:id="rId31"/>
    <p:sldId id="2147473041" r:id="rId32"/>
    <p:sldId id="2147473044" r:id="rId33"/>
    <p:sldId id="3967" r:id="rId3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57D649E-F821-4474-8C10-DA68179BBE81}">
          <p14:sldIdLst>
            <p14:sldId id="261"/>
            <p14:sldId id="2147472999"/>
            <p14:sldId id="2147473001"/>
            <p14:sldId id="2147473011"/>
            <p14:sldId id="2147473014"/>
          </p14:sldIdLst>
        </p14:section>
        <p14:section name="ROUND1" id="{1C898BC8-39D7-4DC9-8F88-C4F5EB705AC4}">
          <p14:sldIdLst>
            <p14:sldId id="2147473049"/>
            <p14:sldId id="2147473005"/>
            <p14:sldId id="2147473047"/>
            <p14:sldId id="2147473045"/>
            <p14:sldId id="2147473010"/>
            <p14:sldId id="2147473023"/>
            <p14:sldId id="2147473019"/>
            <p14:sldId id="2147473030"/>
            <p14:sldId id="2147473024"/>
            <p14:sldId id="2147473032"/>
            <p14:sldId id="2147473026"/>
            <p14:sldId id="2147473028"/>
            <p14:sldId id="2147473018"/>
            <p14:sldId id="2147473021"/>
            <p14:sldId id="2147473022"/>
            <p14:sldId id="2147473020"/>
            <p14:sldId id="2147473027"/>
            <p14:sldId id="2147473046"/>
            <p14:sldId id="2147473042"/>
            <p14:sldId id="2147473029"/>
            <p14:sldId id="2147473048"/>
          </p14:sldIdLst>
        </p14:section>
        <p14:section name="Round 2" id="{903DE148-F0AD-4D9C-BCC5-E8E4127A02FA}">
          <p14:sldIdLst>
            <p14:sldId id="2147473037"/>
            <p14:sldId id="2147473039"/>
            <p14:sldId id="2147473038"/>
            <p14:sldId id="2147473040"/>
            <p14:sldId id="2147473041"/>
            <p14:sldId id="2147473044"/>
          </p14:sldIdLst>
        </p14:section>
        <p14:section name="進度說明" id="{624B1886-B3A4-468B-9870-C205818DB1DD}">
          <p14:sldIdLst>
            <p14:sldId id="39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be.wang" initials="k" lastIdx="2" clrIdx="0">
    <p:extLst>
      <p:ext uri="{19B8F6BF-5375-455C-9EA6-DF929625EA0E}">
        <p15:presenceInfo xmlns:p15="http://schemas.microsoft.com/office/powerpoint/2012/main" userId="S-1-5-21-899483397-1655330404-625696398-1155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301E"/>
    <a:srgbClr val="EF6A0F"/>
    <a:srgbClr val="3FE19B"/>
    <a:srgbClr val="5B9BD5"/>
    <a:srgbClr val="71AD47"/>
    <a:srgbClr val="47BC4F"/>
    <a:srgbClr val="4CC58D"/>
    <a:srgbClr val="55CCCE"/>
    <a:srgbClr val="A82415"/>
    <a:srgbClr val="BE5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21" autoAdjust="0"/>
    <p:restoredTop sz="91905"/>
  </p:normalViewPr>
  <p:slideViewPr>
    <p:cSldViewPr snapToGrid="0">
      <p:cViewPr varScale="1">
        <p:scale>
          <a:sx n="78" d="100"/>
          <a:sy n="78" d="100"/>
        </p:scale>
        <p:origin x="216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69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5AEDAC-9828-4F47-8CA4-6B41C66DEDD3}" type="doc">
      <dgm:prSet loTypeId="urn:microsoft.com/office/officeart/2005/8/layout/process4" loCatId="process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zh-TW" altLang="en-US"/>
        </a:p>
      </dgm:t>
    </dgm:pt>
    <dgm:pt modelId="{F945D3D2-0136-4307-A4FE-0A100E1C5DAD}">
      <dgm:prSet phldrT="[文字]" custT="1"/>
      <dgm:spPr/>
      <dgm:t>
        <a:bodyPr/>
        <a:lstStyle/>
        <a:p>
          <a:r>
            <a:rPr lang="en-US" altLang="zh-TW" sz="1300" dirty="0">
              <a:latin typeface="微軟正黑體" panose="020B0604030504040204" pitchFamily="34" charset="-120"/>
              <a:ea typeface="微軟正黑體" panose="020B0604030504040204" pitchFamily="34" charset="-120"/>
            </a:rPr>
            <a:t>Phase 1</a:t>
          </a:r>
          <a:r>
            <a:rPr lang="zh-TW" altLang="en-US" sz="1300" dirty="0">
              <a:latin typeface="微軟正黑體" panose="020B0604030504040204" pitchFamily="34" charset="-120"/>
              <a:ea typeface="微軟正黑體" panose="020B0604030504040204" pitchFamily="34" charset="-120"/>
            </a:rPr>
            <a:t>轉檔</a:t>
          </a:r>
        </a:p>
      </dgm:t>
    </dgm:pt>
    <dgm:pt modelId="{706DC1D8-9BB5-4007-B838-CF44EDD54923}" type="parTrans" cxnId="{EC605EB9-8E71-40B1-869F-2A1CE82EB9AF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733BD36-0CD3-49CB-8B95-7B7B30A2CA09}" type="sibTrans" cxnId="{EC605EB9-8E71-40B1-869F-2A1CE82EB9AF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D83D43D-3DBD-461D-A015-74D90A1C625E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新增</a:t>
          </a:r>
          <a: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SAP</a:t>
          </a: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料號</a:t>
          </a:r>
        </a:p>
      </dgm:t>
    </dgm:pt>
    <dgm:pt modelId="{4F8B5FF4-D7E3-48A8-957E-8C8EB0040074}" type="parTrans" cxnId="{4557E335-C6F0-4987-ACEA-E6A7603139B4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F1C1E53-F03A-4457-AFA4-292E8BC8FAFB}" type="sibTrans" cxnId="{4557E335-C6F0-4987-ACEA-E6A7603139B4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76AC411-A481-4A25-AF6C-1A93293234B9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舊系統料號</a:t>
          </a:r>
        </a:p>
      </dgm:t>
    </dgm:pt>
    <dgm:pt modelId="{2820A0CF-25DF-478E-B5E7-F08A51F2C8E3}" type="parTrans" cxnId="{B7D583B4-CFE8-42C9-A9B5-25283D034942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5DEABF4-AEA1-449C-811C-993BC265ED60}" type="sibTrans" cxnId="{B7D583B4-CFE8-42C9-A9B5-25283D034942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F6E4887-2035-4C6F-A058-50A6A438E0AA}">
      <dgm:prSet phldrT="[文字]"/>
      <dgm:spPr/>
      <dgm:t>
        <a:bodyPr/>
        <a:lstStyle/>
        <a:p>
          <a: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SAP</a:t>
          </a: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上線後</a:t>
          </a:r>
        </a:p>
      </dgm:t>
    </dgm:pt>
    <dgm:pt modelId="{C3E98DA4-234A-4E4B-900D-769B1429E938}" type="parTrans" cxnId="{E9BB5BB9-75AA-4EE2-9EBB-6FF38584CF98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7613C20-ADAB-40A4-A584-9F5580277FB4}" type="sibTrans" cxnId="{E9BB5BB9-75AA-4EE2-9EBB-6FF38584CF98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51F1D61-80F2-460B-A22C-29D8C5C1F4BC}">
      <dgm:prSet phldrT="[文字]"/>
      <dgm:spPr/>
      <dgm:t>
        <a:bodyPr/>
        <a:lstStyle/>
        <a:p>
          <a: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SAP</a:t>
          </a: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料號持續新增</a:t>
          </a:r>
        </a:p>
      </dgm:t>
    </dgm:pt>
    <dgm:pt modelId="{A7D8D8A1-BFB0-4A77-ADBA-4566E3EFF245}" type="parTrans" cxnId="{1BD87F5E-48F1-41AF-8A59-061EC1EF3539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9E341F5-CB2C-47BF-A677-766E38F3974C}" type="sibTrans" cxnId="{1BD87F5E-48F1-41AF-8A59-061EC1EF3539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26E19F2-E877-4108-9DF8-71E56E8C4165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無對應舊系統料號</a:t>
          </a:r>
        </a:p>
      </dgm:t>
    </dgm:pt>
    <dgm:pt modelId="{EFF2E3E0-431B-41E5-8BB1-7F9359643F9C}" type="parTrans" cxnId="{76FB05D4-40AB-4102-9A77-965F8FD6E072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BF61B8D-1CA0-4066-B98B-33ED9CFF6134}" type="sibTrans" cxnId="{76FB05D4-40AB-4102-9A77-965F8FD6E072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AC4274F-1142-4182-B1A5-6157AF3F9D87}">
      <dgm:prSet phldrT="[文字]"/>
      <dgm:spPr/>
      <dgm:t>
        <a:bodyPr/>
        <a:lstStyle/>
        <a:p>
          <a: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Phase 2</a:t>
          </a: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轉檔</a:t>
          </a:r>
        </a:p>
      </dgm:t>
    </dgm:pt>
    <dgm:pt modelId="{8512A447-D4C0-4FA0-9592-D1E89945030A}" type="parTrans" cxnId="{9A64F700-8A74-4DC0-82DD-8B57E61268BD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7724330-86B0-4DD7-A760-E537C6632C32}" type="sibTrans" cxnId="{9A64F700-8A74-4DC0-82DD-8B57E61268BD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F451A55-4F09-4C71-A551-3252322A68B7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新增</a:t>
          </a:r>
          <a: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SAP</a:t>
          </a: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料號</a:t>
          </a:r>
        </a:p>
      </dgm:t>
    </dgm:pt>
    <dgm:pt modelId="{A4BE3066-F8E9-4580-857A-385F7F546AA2}" type="parTrans" cxnId="{FBBDA1DB-A8DA-4F5B-BCB1-C2A5D10602B5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EFA6933-D3B7-4293-8ECF-11621A2F821A}" type="sibTrans" cxnId="{FBBDA1DB-A8DA-4F5B-BCB1-C2A5D10602B5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367CDDC-8B4F-4476-A736-D1888FA48995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舊系統料號</a:t>
          </a:r>
        </a:p>
      </dgm:t>
    </dgm:pt>
    <dgm:pt modelId="{7EF1821B-BBAE-4559-89D2-4024E6D6D314}" type="parTrans" cxnId="{6F9B013C-1F5C-4220-AC62-9CF3EE5775E5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B327599-5E59-4775-9AB7-6367E900C43D}" type="sibTrans" cxnId="{6F9B013C-1F5C-4220-AC62-9CF3EE5775E5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9194560-DB0B-4261-99A7-38FF6C2E41A2}" type="pres">
      <dgm:prSet presAssocID="{C05AEDAC-9828-4F47-8CA4-6B41C66DEDD3}" presName="Name0" presStyleCnt="0">
        <dgm:presLayoutVars>
          <dgm:dir/>
          <dgm:animLvl val="lvl"/>
          <dgm:resizeHandles val="exact"/>
        </dgm:presLayoutVars>
      </dgm:prSet>
      <dgm:spPr/>
    </dgm:pt>
    <dgm:pt modelId="{5315F6EF-50C2-4EFE-AF5D-748AE08466AE}" type="pres">
      <dgm:prSet presAssocID="{FAC4274F-1142-4182-B1A5-6157AF3F9D87}" presName="boxAndChildren" presStyleCnt="0"/>
      <dgm:spPr/>
    </dgm:pt>
    <dgm:pt modelId="{ABDA9217-F48C-4EBB-811C-24736231AD10}" type="pres">
      <dgm:prSet presAssocID="{FAC4274F-1142-4182-B1A5-6157AF3F9D87}" presName="parentTextBox" presStyleLbl="node1" presStyleIdx="0" presStyleCnt="3"/>
      <dgm:spPr/>
    </dgm:pt>
    <dgm:pt modelId="{101CBE0F-8D26-418B-89B0-F6E99045A3F1}" type="pres">
      <dgm:prSet presAssocID="{FAC4274F-1142-4182-B1A5-6157AF3F9D87}" presName="entireBox" presStyleLbl="node1" presStyleIdx="0" presStyleCnt="3"/>
      <dgm:spPr/>
    </dgm:pt>
    <dgm:pt modelId="{569133E0-3244-4BD1-B6B2-7FC16F8DD419}" type="pres">
      <dgm:prSet presAssocID="{FAC4274F-1142-4182-B1A5-6157AF3F9D87}" presName="descendantBox" presStyleCnt="0"/>
      <dgm:spPr/>
    </dgm:pt>
    <dgm:pt modelId="{42FB85A1-7E52-440E-A6FC-FB349AD708B5}" type="pres">
      <dgm:prSet presAssocID="{9F451A55-4F09-4C71-A551-3252322A68B7}" presName="childTextBox" presStyleLbl="fgAccFollowNode1" presStyleIdx="0" presStyleCnt="6">
        <dgm:presLayoutVars>
          <dgm:bulletEnabled val="1"/>
        </dgm:presLayoutVars>
      </dgm:prSet>
      <dgm:spPr/>
    </dgm:pt>
    <dgm:pt modelId="{780A65BA-F22D-4A0A-A45C-7775E2BED8DF}" type="pres">
      <dgm:prSet presAssocID="{F367CDDC-8B4F-4476-A736-D1888FA48995}" presName="childTextBox" presStyleLbl="fgAccFollowNode1" presStyleIdx="1" presStyleCnt="6">
        <dgm:presLayoutVars>
          <dgm:bulletEnabled val="1"/>
        </dgm:presLayoutVars>
      </dgm:prSet>
      <dgm:spPr/>
    </dgm:pt>
    <dgm:pt modelId="{0E712B75-DB40-47EE-A192-34CD9251C119}" type="pres">
      <dgm:prSet presAssocID="{37613C20-ADAB-40A4-A584-9F5580277FB4}" presName="sp" presStyleCnt="0"/>
      <dgm:spPr/>
    </dgm:pt>
    <dgm:pt modelId="{FF15178F-79B5-468A-B58B-ECA08FACCAC8}" type="pres">
      <dgm:prSet presAssocID="{CF6E4887-2035-4C6F-A058-50A6A438E0AA}" presName="arrowAndChildren" presStyleCnt="0"/>
      <dgm:spPr/>
    </dgm:pt>
    <dgm:pt modelId="{C63483EE-FF5B-47CD-9D4B-1C84C6ED8D16}" type="pres">
      <dgm:prSet presAssocID="{CF6E4887-2035-4C6F-A058-50A6A438E0AA}" presName="parentTextArrow" presStyleLbl="node1" presStyleIdx="0" presStyleCnt="3"/>
      <dgm:spPr/>
    </dgm:pt>
    <dgm:pt modelId="{46D4AE90-D4A2-48A2-8064-952EC58B8667}" type="pres">
      <dgm:prSet presAssocID="{CF6E4887-2035-4C6F-A058-50A6A438E0AA}" presName="arrow" presStyleLbl="node1" presStyleIdx="1" presStyleCnt="3"/>
      <dgm:spPr/>
    </dgm:pt>
    <dgm:pt modelId="{BC8F272E-F4CC-4E68-A328-DBAA821D74D3}" type="pres">
      <dgm:prSet presAssocID="{CF6E4887-2035-4C6F-A058-50A6A438E0AA}" presName="descendantArrow" presStyleCnt="0"/>
      <dgm:spPr/>
    </dgm:pt>
    <dgm:pt modelId="{2945B7A6-6E7D-4CD4-9BFC-B5B00B627352}" type="pres">
      <dgm:prSet presAssocID="{A51F1D61-80F2-460B-A22C-29D8C5C1F4BC}" presName="childTextArrow" presStyleLbl="fgAccFollowNode1" presStyleIdx="2" presStyleCnt="6">
        <dgm:presLayoutVars>
          <dgm:bulletEnabled val="1"/>
        </dgm:presLayoutVars>
      </dgm:prSet>
      <dgm:spPr/>
    </dgm:pt>
    <dgm:pt modelId="{522C6AB2-936F-4345-B1DE-141C53012694}" type="pres">
      <dgm:prSet presAssocID="{726E19F2-E877-4108-9DF8-71E56E8C4165}" presName="childTextArrow" presStyleLbl="fgAccFollowNode1" presStyleIdx="3" presStyleCnt="6">
        <dgm:presLayoutVars>
          <dgm:bulletEnabled val="1"/>
        </dgm:presLayoutVars>
      </dgm:prSet>
      <dgm:spPr/>
    </dgm:pt>
    <dgm:pt modelId="{C0AB64D9-158D-45DB-933B-26CA12355408}" type="pres">
      <dgm:prSet presAssocID="{C733BD36-0CD3-49CB-8B95-7B7B30A2CA09}" presName="sp" presStyleCnt="0"/>
      <dgm:spPr/>
    </dgm:pt>
    <dgm:pt modelId="{7EFA70BE-E982-4C65-986F-988EC2EFC25C}" type="pres">
      <dgm:prSet presAssocID="{F945D3D2-0136-4307-A4FE-0A100E1C5DAD}" presName="arrowAndChildren" presStyleCnt="0"/>
      <dgm:spPr/>
    </dgm:pt>
    <dgm:pt modelId="{9C7E3333-059B-4EDD-9F78-88308517E7B8}" type="pres">
      <dgm:prSet presAssocID="{F945D3D2-0136-4307-A4FE-0A100E1C5DAD}" presName="parentTextArrow" presStyleLbl="node1" presStyleIdx="1" presStyleCnt="3"/>
      <dgm:spPr/>
    </dgm:pt>
    <dgm:pt modelId="{FB6ABA71-1530-47B6-AE68-EB5D34C6041C}" type="pres">
      <dgm:prSet presAssocID="{F945D3D2-0136-4307-A4FE-0A100E1C5DAD}" presName="arrow" presStyleLbl="node1" presStyleIdx="2" presStyleCnt="3"/>
      <dgm:spPr/>
    </dgm:pt>
    <dgm:pt modelId="{63878B79-E991-45B8-8C36-50B8EB40E71B}" type="pres">
      <dgm:prSet presAssocID="{F945D3D2-0136-4307-A4FE-0A100E1C5DAD}" presName="descendantArrow" presStyleCnt="0"/>
      <dgm:spPr/>
    </dgm:pt>
    <dgm:pt modelId="{A64AA3FB-B15B-40F1-82A9-3532BA49C84B}" type="pres">
      <dgm:prSet presAssocID="{4D83D43D-3DBD-461D-A015-74D90A1C625E}" presName="childTextArrow" presStyleLbl="fgAccFollowNode1" presStyleIdx="4" presStyleCnt="6">
        <dgm:presLayoutVars>
          <dgm:bulletEnabled val="1"/>
        </dgm:presLayoutVars>
      </dgm:prSet>
      <dgm:spPr/>
    </dgm:pt>
    <dgm:pt modelId="{1EA29E6C-0991-4522-8D7A-E8F2AE331868}" type="pres">
      <dgm:prSet presAssocID="{076AC411-A481-4A25-AF6C-1A93293234B9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9A64F700-8A74-4DC0-82DD-8B57E61268BD}" srcId="{C05AEDAC-9828-4F47-8CA4-6B41C66DEDD3}" destId="{FAC4274F-1142-4182-B1A5-6157AF3F9D87}" srcOrd="2" destOrd="0" parTransId="{8512A447-D4C0-4FA0-9592-D1E89945030A}" sibTransId="{67724330-86B0-4DD7-A760-E537C6632C32}"/>
    <dgm:cxn modelId="{501FD62E-2AD8-4910-B741-F345AF59EE79}" type="presOf" srcId="{076AC411-A481-4A25-AF6C-1A93293234B9}" destId="{1EA29E6C-0991-4522-8D7A-E8F2AE331868}" srcOrd="0" destOrd="0" presId="urn:microsoft.com/office/officeart/2005/8/layout/process4"/>
    <dgm:cxn modelId="{32EA5931-5395-4FDC-BC2C-A203C7FF4641}" type="presOf" srcId="{CF6E4887-2035-4C6F-A058-50A6A438E0AA}" destId="{46D4AE90-D4A2-48A2-8064-952EC58B8667}" srcOrd="1" destOrd="0" presId="urn:microsoft.com/office/officeart/2005/8/layout/process4"/>
    <dgm:cxn modelId="{4557E335-C6F0-4987-ACEA-E6A7603139B4}" srcId="{F945D3D2-0136-4307-A4FE-0A100E1C5DAD}" destId="{4D83D43D-3DBD-461D-A015-74D90A1C625E}" srcOrd="0" destOrd="0" parTransId="{4F8B5FF4-D7E3-48A8-957E-8C8EB0040074}" sibTransId="{DF1C1E53-F03A-4457-AFA4-292E8BC8FAFB}"/>
    <dgm:cxn modelId="{6F9B013C-1F5C-4220-AC62-9CF3EE5775E5}" srcId="{FAC4274F-1142-4182-B1A5-6157AF3F9D87}" destId="{F367CDDC-8B4F-4476-A736-D1888FA48995}" srcOrd="1" destOrd="0" parTransId="{7EF1821B-BBAE-4559-89D2-4024E6D6D314}" sibTransId="{9B327599-5E59-4775-9AB7-6367E900C43D}"/>
    <dgm:cxn modelId="{1BD87F5E-48F1-41AF-8A59-061EC1EF3539}" srcId="{CF6E4887-2035-4C6F-A058-50A6A438E0AA}" destId="{A51F1D61-80F2-460B-A22C-29D8C5C1F4BC}" srcOrd="0" destOrd="0" parTransId="{A7D8D8A1-BFB0-4A77-ADBA-4566E3EFF245}" sibTransId="{79E341F5-CB2C-47BF-A677-766E38F3974C}"/>
    <dgm:cxn modelId="{E59F6E60-B743-4EC7-98FD-020D6B844596}" type="presOf" srcId="{726E19F2-E877-4108-9DF8-71E56E8C4165}" destId="{522C6AB2-936F-4345-B1DE-141C53012694}" srcOrd="0" destOrd="0" presId="urn:microsoft.com/office/officeart/2005/8/layout/process4"/>
    <dgm:cxn modelId="{43E1C864-5EC6-4028-859B-B3860B04A312}" type="presOf" srcId="{FAC4274F-1142-4182-B1A5-6157AF3F9D87}" destId="{ABDA9217-F48C-4EBB-811C-24736231AD10}" srcOrd="0" destOrd="0" presId="urn:microsoft.com/office/officeart/2005/8/layout/process4"/>
    <dgm:cxn modelId="{EAACDC55-FDFF-4248-B845-BEAD4A803136}" type="presOf" srcId="{CF6E4887-2035-4C6F-A058-50A6A438E0AA}" destId="{C63483EE-FF5B-47CD-9D4B-1C84C6ED8D16}" srcOrd="0" destOrd="0" presId="urn:microsoft.com/office/officeart/2005/8/layout/process4"/>
    <dgm:cxn modelId="{D28803A2-39EE-4485-9E5E-FFA32CB65A40}" type="presOf" srcId="{F367CDDC-8B4F-4476-A736-D1888FA48995}" destId="{780A65BA-F22D-4A0A-A45C-7775E2BED8DF}" srcOrd="0" destOrd="0" presId="urn:microsoft.com/office/officeart/2005/8/layout/process4"/>
    <dgm:cxn modelId="{B7D583B4-CFE8-42C9-A9B5-25283D034942}" srcId="{F945D3D2-0136-4307-A4FE-0A100E1C5DAD}" destId="{076AC411-A481-4A25-AF6C-1A93293234B9}" srcOrd="1" destOrd="0" parTransId="{2820A0CF-25DF-478E-B5E7-F08A51F2C8E3}" sibTransId="{E5DEABF4-AEA1-449C-811C-993BC265ED60}"/>
    <dgm:cxn modelId="{028E83B5-919F-45AD-ACA6-5D07C2088CFD}" type="presOf" srcId="{9F451A55-4F09-4C71-A551-3252322A68B7}" destId="{42FB85A1-7E52-440E-A6FC-FB349AD708B5}" srcOrd="0" destOrd="0" presId="urn:microsoft.com/office/officeart/2005/8/layout/process4"/>
    <dgm:cxn modelId="{E9BB5BB9-75AA-4EE2-9EBB-6FF38584CF98}" srcId="{C05AEDAC-9828-4F47-8CA4-6B41C66DEDD3}" destId="{CF6E4887-2035-4C6F-A058-50A6A438E0AA}" srcOrd="1" destOrd="0" parTransId="{C3E98DA4-234A-4E4B-900D-769B1429E938}" sibTransId="{37613C20-ADAB-40A4-A584-9F5580277FB4}"/>
    <dgm:cxn modelId="{EC605EB9-8E71-40B1-869F-2A1CE82EB9AF}" srcId="{C05AEDAC-9828-4F47-8CA4-6B41C66DEDD3}" destId="{F945D3D2-0136-4307-A4FE-0A100E1C5DAD}" srcOrd="0" destOrd="0" parTransId="{706DC1D8-9BB5-4007-B838-CF44EDD54923}" sibTransId="{C733BD36-0CD3-49CB-8B95-7B7B30A2CA09}"/>
    <dgm:cxn modelId="{A9C7FBCA-202E-471F-838D-CDAEFC9D74FC}" type="presOf" srcId="{F945D3D2-0136-4307-A4FE-0A100E1C5DAD}" destId="{FB6ABA71-1530-47B6-AE68-EB5D34C6041C}" srcOrd="1" destOrd="0" presId="urn:microsoft.com/office/officeart/2005/8/layout/process4"/>
    <dgm:cxn modelId="{2F3CE0CB-F4D6-4955-9989-6B658DB98E39}" type="presOf" srcId="{C05AEDAC-9828-4F47-8CA4-6B41C66DEDD3}" destId="{29194560-DB0B-4261-99A7-38FF6C2E41A2}" srcOrd="0" destOrd="0" presId="urn:microsoft.com/office/officeart/2005/8/layout/process4"/>
    <dgm:cxn modelId="{1E2A57D3-461E-45A0-86D4-2BBBE4F735B2}" type="presOf" srcId="{F945D3D2-0136-4307-A4FE-0A100E1C5DAD}" destId="{9C7E3333-059B-4EDD-9F78-88308517E7B8}" srcOrd="0" destOrd="0" presId="urn:microsoft.com/office/officeart/2005/8/layout/process4"/>
    <dgm:cxn modelId="{76FB05D4-40AB-4102-9A77-965F8FD6E072}" srcId="{CF6E4887-2035-4C6F-A058-50A6A438E0AA}" destId="{726E19F2-E877-4108-9DF8-71E56E8C4165}" srcOrd="1" destOrd="0" parTransId="{EFF2E3E0-431B-41E5-8BB1-7F9359643F9C}" sibTransId="{6BF61B8D-1CA0-4066-B98B-33ED9CFF6134}"/>
    <dgm:cxn modelId="{FBBDA1DB-A8DA-4F5B-BCB1-C2A5D10602B5}" srcId="{FAC4274F-1142-4182-B1A5-6157AF3F9D87}" destId="{9F451A55-4F09-4C71-A551-3252322A68B7}" srcOrd="0" destOrd="0" parTransId="{A4BE3066-F8E9-4580-857A-385F7F546AA2}" sibTransId="{1EFA6933-D3B7-4293-8ECF-11621A2F821A}"/>
    <dgm:cxn modelId="{63F116EA-BBDF-45CB-BEC6-A6E4D2BC00A9}" type="presOf" srcId="{A51F1D61-80F2-460B-A22C-29D8C5C1F4BC}" destId="{2945B7A6-6E7D-4CD4-9BFC-B5B00B627352}" srcOrd="0" destOrd="0" presId="urn:microsoft.com/office/officeart/2005/8/layout/process4"/>
    <dgm:cxn modelId="{797EAAED-BC6B-488C-8AFF-F4C83D546271}" type="presOf" srcId="{FAC4274F-1142-4182-B1A5-6157AF3F9D87}" destId="{101CBE0F-8D26-418B-89B0-F6E99045A3F1}" srcOrd="1" destOrd="0" presId="urn:microsoft.com/office/officeart/2005/8/layout/process4"/>
    <dgm:cxn modelId="{021D00FF-F7BB-4FF9-97D9-1AA0F9BE6DCF}" type="presOf" srcId="{4D83D43D-3DBD-461D-A015-74D90A1C625E}" destId="{A64AA3FB-B15B-40F1-82A9-3532BA49C84B}" srcOrd="0" destOrd="0" presId="urn:microsoft.com/office/officeart/2005/8/layout/process4"/>
    <dgm:cxn modelId="{92729A36-2E0B-4719-B150-33602AFE2636}" type="presParOf" srcId="{29194560-DB0B-4261-99A7-38FF6C2E41A2}" destId="{5315F6EF-50C2-4EFE-AF5D-748AE08466AE}" srcOrd="0" destOrd="0" presId="urn:microsoft.com/office/officeart/2005/8/layout/process4"/>
    <dgm:cxn modelId="{4A252130-C369-49F3-B3F2-619626F6A2FA}" type="presParOf" srcId="{5315F6EF-50C2-4EFE-AF5D-748AE08466AE}" destId="{ABDA9217-F48C-4EBB-811C-24736231AD10}" srcOrd="0" destOrd="0" presId="urn:microsoft.com/office/officeart/2005/8/layout/process4"/>
    <dgm:cxn modelId="{3CE89ADE-18F3-4599-AC72-4B2DC27A9783}" type="presParOf" srcId="{5315F6EF-50C2-4EFE-AF5D-748AE08466AE}" destId="{101CBE0F-8D26-418B-89B0-F6E99045A3F1}" srcOrd="1" destOrd="0" presId="urn:microsoft.com/office/officeart/2005/8/layout/process4"/>
    <dgm:cxn modelId="{7C1317D8-7148-470A-98A6-76F6B2F293C4}" type="presParOf" srcId="{5315F6EF-50C2-4EFE-AF5D-748AE08466AE}" destId="{569133E0-3244-4BD1-B6B2-7FC16F8DD419}" srcOrd="2" destOrd="0" presId="urn:microsoft.com/office/officeart/2005/8/layout/process4"/>
    <dgm:cxn modelId="{70CE4401-7E59-458B-ACE1-5052504A0568}" type="presParOf" srcId="{569133E0-3244-4BD1-B6B2-7FC16F8DD419}" destId="{42FB85A1-7E52-440E-A6FC-FB349AD708B5}" srcOrd="0" destOrd="0" presId="urn:microsoft.com/office/officeart/2005/8/layout/process4"/>
    <dgm:cxn modelId="{D79CBFC6-5317-465B-A83F-1856CF29CCA1}" type="presParOf" srcId="{569133E0-3244-4BD1-B6B2-7FC16F8DD419}" destId="{780A65BA-F22D-4A0A-A45C-7775E2BED8DF}" srcOrd="1" destOrd="0" presId="urn:microsoft.com/office/officeart/2005/8/layout/process4"/>
    <dgm:cxn modelId="{76457D6E-2CEA-4E7B-9365-BEF982895F4D}" type="presParOf" srcId="{29194560-DB0B-4261-99A7-38FF6C2E41A2}" destId="{0E712B75-DB40-47EE-A192-34CD9251C119}" srcOrd="1" destOrd="0" presId="urn:microsoft.com/office/officeart/2005/8/layout/process4"/>
    <dgm:cxn modelId="{D4C17379-C980-4ABE-8508-32AA7991C631}" type="presParOf" srcId="{29194560-DB0B-4261-99A7-38FF6C2E41A2}" destId="{FF15178F-79B5-468A-B58B-ECA08FACCAC8}" srcOrd="2" destOrd="0" presId="urn:microsoft.com/office/officeart/2005/8/layout/process4"/>
    <dgm:cxn modelId="{046FEFD2-2575-40EE-B120-FCC7ED2667D4}" type="presParOf" srcId="{FF15178F-79B5-468A-B58B-ECA08FACCAC8}" destId="{C63483EE-FF5B-47CD-9D4B-1C84C6ED8D16}" srcOrd="0" destOrd="0" presId="urn:microsoft.com/office/officeart/2005/8/layout/process4"/>
    <dgm:cxn modelId="{D90B2456-CEEE-4B1B-B809-BED6702CBBAF}" type="presParOf" srcId="{FF15178F-79B5-468A-B58B-ECA08FACCAC8}" destId="{46D4AE90-D4A2-48A2-8064-952EC58B8667}" srcOrd="1" destOrd="0" presId="urn:microsoft.com/office/officeart/2005/8/layout/process4"/>
    <dgm:cxn modelId="{BD3BFEB6-6CC7-499E-A346-C977066DA55B}" type="presParOf" srcId="{FF15178F-79B5-468A-B58B-ECA08FACCAC8}" destId="{BC8F272E-F4CC-4E68-A328-DBAA821D74D3}" srcOrd="2" destOrd="0" presId="urn:microsoft.com/office/officeart/2005/8/layout/process4"/>
    <dgm:cxn modelId="{5B42A656-1F40-4A47-BD49-E59B47AC4953}" type="presParOf" srcId="{BC8F272E-F4CC-4E68-A328-DBAA821D74D3}" destId="{2945B7A6-6E7D-4CD4-9BFC-B5B00B627352}" srcOrd="0" destOrd="0" presId="urn:microsoft.com/office/officeart/2005/8/layout/process4"/>
    <dgm:cxn modelId="{AA7C33CF-02C2-480A-A24F-A333C4C20D32}" type="presParOf" srcId="{BC8F272E-F4CC-4E68-A328-DBAA821D74D3}" destId="{522C6AB2-936F-4345-B1DE-141C53012694}" srcOrd="1" destOrd="0" presId="urn:microsoft.com/office/officeart/2005/8/layout/process4"/>
    <dgm:cxn modelId="{73488F40-079D-43CF-BAD4-0A2F75D35B16}" type="presParOf" srcId="{29194560-DB0B-4261-99A7-38FF6C2E41A2}" destId="{C0AB64D9-158D-45DB-933B-26CA12355408}" srcOrd="3" destOrd="0" presId="urn:microsoft.com/office/officeart/2005/8/layout/process4"/>
    <dgm:cxn modelId="{C92C76A2-5EF1-4B01-A583-17E27C220F7C}" type="presParOf" srcId="{29194560-DB0B-4261-99A7-38FF6C2E41A2}" destId="{7EFA70BE-E982-4C65-986F-988EC2EFC25C}" srcOrd="4" destOrd="0" presId="urn:microsoft.com/office/officeart/2005/8/layout/process4"/>
    <dgm:cxn modelId="{E2F61BBD-3ADB-42E0-8DB5-BAC311083F2C}" type="presParOf" srcId="{7EFA70BE-E982-4C65-986F-988EC2EFC25C}" destId="{9C7E3333-059B-4EDD-9F78-88308517E7B8}" srcOrd="0" destOrd="0" presId="urn:microsoft.com/office/officeart/2005/8/layout/process4"/>
    <dgm:cxn modelId="{25AD0A5F-AF1C-4444-AD18-07733A5A1982}" type="presParOf" srcId="{7EFA70BE-E982-4C65-986F-988EC2EFC25C}" destId="{FB6ABA71-1530-47B6-AE68-EB5D34C6041C}" srcOrd="1" destOrd="0" presId="urn:microsoft.com/office/officeart/2005/8/layout/process4"/>
    <dgm:cxn modelId="{F06FE3B0-898E-4377-8B67-EE7056A23053}" type="presParOf" srcId="{7EFA70BE-E982-4C65-986F-988EC2EFC25C}" destId="{63878B79-E991-45B8-8C36-50B8EB40E71B}" srcOrd="2" destOrd="0" presId="urn:microsoft.com/office/officeart/2005/8/layout/process4"/>
    <dgm:cxn modelId="{791679B9-160C-40AD-8056-6DC2775E0B70}" type="presParOf" srcId="{63878B79-E991-45B8-8C36-50B8EB40E71B}" destId="{A64AA3FB-B15B-40F1-82A9-3532BA49C84B}" srcOrd="0" destOrd="0" presId="urn:microsoft.com/office/officeart/2005/8/layout/process4"/>
    <dgm:cxn modelId="{2F7C8CBB-7C4C-46A7-A33B-BA04CD8D51E6}" type="presParOf" srcId="{63878B79-E991-45B8-8C36-50B8EB40E71B}" destId="{1EA29E6C-0991-4522-8D7A-E8F2AE331868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794E01-9DA3-4036-A827-322408AA7D81}" type="doc">
      <dgm:prSet loTypeId="urn:microsoft.com/office/officeart/2005/8/layout/chevron2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TW" altLang="en-US"/>
        </a:p>
      </dgm:t>
    </dgm:pt>
    <dgm:pt modelId="{0465728F-08D9-46C7-A91F-0F1D7BBFC48A}">
      <dgm:prSet phldrT="[文字]"/>
      <dgm:spPr>
        <a:xfrm rot="5400000">
          <a:off x="-249747" y="252661"/>
          <a:ext cx="1664980" cy="1165486"/>
        </a:xfrm>
        <a:prstGeom prst="chevron">
          <a:avLst/>
        </a:prstGeom>
        <a:solidFill>
          <a:srgbClr val="FFB600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B6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altLang="zh-TW" dirty="0">
              <a:solidFill>
                <a:srgbClr val="FFFFFF"/>
              </a:solidFill>
              <a:latin typeface="Arial"/>
              <a:ea typeface="新細明體" panose="02020500000000000000" pitchFamily="18" charset="-120"/>
              <a:cs typeface="+mn-cs"/>
            </a:rPr>
            <a:t>Round1</a:t>
          </a:r>
          <a:endParaRPr lang="zh-TW" altLang="en-US" dirty="0">
            <a:solidFill>
              <a:srgbClr val="FFFFFF"/>
            </a:solidFill>
            <a:latin typeface="Arial"/>
            <a:ea typeface="新細明體" panose="02020500000000000000" pitchFamily="18" charset="-120"/>
            <a:cs typeface="+mn-cs"/>
          </a:endParaRPr>
        </a:p>
      </dgm:t>
    </dgm:pt>
    <dgm:pt modelId="{25D6372F-DDEC-425E-9487-378658427A26}" type="parTrans" cxnId="{8346F73D-3B2A-463B-8677-B55806AD868F}">
      <dgm:prSet/>
      <dgm:spPr/>
      <dgm:t>
        <a:bodyPr/>
        <a:lstStyle/>
        <a:p>
          <a:endParaRPr lang="zh-TW" altLang="en-US"/>
        </a:p>
      </dgm:t>
    </dgm:pt>
    <dgm:pt modelId="{783DD2C9-A5F3-43D9-84EE-572E684031DB}" type="sibTrans" cxnId="{8346F73D-3B2A-463B-8677-B55806AD868F}">
      <dgm:prSet/>
      <dgm:spPr/>
      <dgm:t>
        <a:bodyPr/>
        <a:lstStyle/>
        <a:p>
          <a:endParaRPr lang="zh-TW" altLang="en-US"/>
        </a:p>
      </dgm:t>
    </dgm:pt>
    <dgm:pt modelId="{72CB2AFA-96D3-46A0-92BF-C80D26E6BC73}">
      <dgm:prSet phldrT="[文字]"/>
      <dgm:spPr>
        <a:xfrm rot="5400000">
          <a:off x="3502260" y="-2336773"/>
          <a:ext cx="1082237" cy="5755784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B6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轉檔組預計提供資料日期：</a:t>
          </a:r>
          <a:r>
            <a:rPr lang="en-US" altLang="zh-TW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1/9~1/14</a:t>
          </a:r>
          <a:endParaRPr lang="zh-TW" altLang="en-US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5AA8851F-CB1D-430D-869E-DBC4FA23D43A}" type="parTrans" cxnId="{B24271F4-E2BA-48E5-B9CF-B46DD0806A0A}">
      <dgm:prSet/>
      <dgm:spPr/>
      <dgm:t>
        <a:bodyPr/>
        <a:lstStyle/>
        <a:p>
          <a:endParaRPr lang="zh-TW" altLang="en-US"/>
        </a:p>
      </dgm:t>
    </dgm:pt>
    <dgm:pt modelId="{A7524306-50EE-4791-86BE-60424FC47CC1}" type="sibTrans" cxnId="{B24271F4-E2BA-48E5-B9CF-B46DD0806A0A}">
      <dgm:prSet/>
      <dgm:spPr/>
      <dgm:t>
        <a:bodyPr/>
        <a:lstStyle/>
        <a:p>
          <a:endParaRPr lang="zh-TW" altLang="en-US"/>
        </a:p>
      </dgm:t>
    </dgm:pt>
    <dgm:pt modelId="{F866E8DC-DD5C-4512-B861-09A928A94E80}">
      <dgm:prSet phldrT="[文字]" custT="1"/>
      <dgm:spPr>
        <a:xfrm rot="5400000">
          <a:off x="3502260" y="-2336773"/>
          <a:ext cx="1082237" cy="5755784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B6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半品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底半品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原料</a:t>
          </a:r>
          <a:r>
            <a:rPr lang="en-US" altLang="zh-TW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(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鞋</a:t>
          </a:r>
          <a:r>
            <a:rPr lang="en-US" altLang="zh-TW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&amp;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射出</a:t>
          </a:r>
          <a:r>
            <a:rPr lang="en-US" altLang="zh-TW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)/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配方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001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特性質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部位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配方種類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底半品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廠商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資產大類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資產位置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資產部門</a:t>
          </a:r>
          <a:r>
            <a:rPr lang="en-US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/BP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供應商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客戶</a:t>
          </a:r>
          <a:r>
            <a:rPr lang="en-US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固定資產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/BOM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格式確認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(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鞋廠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價格主檔</a:t>
          </a:r>
          <a:r>
            <a:rPr lang="en-US" altLang="zh-TW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包裝主檔</a:t>
          </a:r>
        </a:p>
      </dgm:t>
    </dgm:pt>
    <dgm:pt modelId="{E324D3E7-E340-4F5D-AF53-9E1B5DD3B762}" type="parTrans" cxnId="{D3CB9F04-F73B-4DDF-9628-FB5234725BEA}">
      <dgm:prSet/>
      <dgm:spPr/>
      <dgm:t>
        <a:bodyPr/>
        <a:lstStyle/>
        <a:p>
          <a:endParaRPr lang="zh-TW" altLang="en-US"/>
        </a:p>
      </dgm:t>
    </dgm:pt>
    <dgm:pt modelId="{BFF4DBE8-7049-4AFA-96AC-6AD406E798A5}" type="sibTrans" cxnId="{D3CB9F04-F73B-4DDF-9628-FB5234725BEA}">
      <dgm:prSet/>
      <dgm:spPr/>
      <dgm:t>
        <a:bodyPr/>
        <a:lstStyle/>
        <a:p>
          <a:endParaRPr lang="zh-TW" altLang="en-US"/>
        </a:p>
      </dgm:t>
    </dgm:pt>
    <dgm:pt modelId="{D66F71DF-77C5-44FA-9449-3AFF8B516434}">
      <dgm:prSet phldrT="[文字]"/>
      <dgm:spPr>
        <a:xfrm rot="5400000">
          <a:off x="-249747" y="1724347"/>
          <a:ext cx="1664980" cy="1165486"/>
        </a:xfrm>
        <a:prstGeom prst="chevron">
          <a:avLst/>
        </a:prstGeom>
        <a:solidFill>
          <a:srgbClr val="FFB600">
            <a:hueOff val="-1117628"/>
            <a:satOff val="-11810"/>
            <a:lumOff val="-98"/>
            <a:alphaOff val="0"/>
          </a:srgbClr>
        </a:solidFill>
        <a:ln w="25400" cap="flat" cmpd="sng" algn="ctr">
          <a:solidFill>
            <a:srgbClr val="FFB600">
              <a:hueOff val="-1117628"/>
              <a:satOff val="-11810"/>
              <a:lumOff val="-98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altLang="zh-TW" dirty="0">
              <a:solidFill>
                <a:srgbClr val="FFFFFF"/>
              </a:solidFill>
              <a:latin typeface="Arial"/>
              <a:ea typeface="新細明體" panose="02020500000000000000" pitchFamily="18" charset="-120"/>
              <a:cs typeface="+mn-cs"/>
            </a:rPr>
            <a:t>Round 2</a:t>
          </a:r>
          <a:endParaRPr lang="zh-TW" altLang="en-US" dirty="0">
            <a:solidFill>
              <a:srgbClr val="FFFFFF"/>
            </a:solidFill>
            <a:latin typeface="Arial"/>
            <a:ea typeface="新細明體" panose="02020500000000000000" pitchFamily="18" charset="-120"/>
            <a:cs typeface="+mn-cs"/>
          </a:endParaRPr>
        </a:p>
      </dgm:t>
    </dgm:pt>
    <dgm:pt modelId="{3A14FB15-6E6B-4000-B313-F3A11C6DEC6C}" type="parTrans" cxnId="{197A5B41-DE8E-436A-A268-519FD106D047}">
      <dgm:prSet/>
      <dgm:spPr/>
      <dgm:t>
        <a:bodyPr/>
        <a:lstStyle/>
        <a:p>
          <a:endParaRPr lang="zh-TW" altLang="en-US"/>
        </a:p>
      </dgm:t>
    </dgm:pt>
    <dgm:pt modelId="{E1EA10BA-FEEF-42EA-A314-823A1BBBDB8B}" type="sibTrans" cxnId="{197A5B41-DE8E-436A-A268-519FD106D047}">
      <dgm:prSet/>
      <dgm:spPr/>
      <dgm:t>
        <a:bodyPr/>
        <a:lstStyle/>
        <a:p>
          <a:endParaRPr lang="zh-TW" altLang="en-US"/>
        </a:p>
      </dgm:t>
    </dgm:pt>
    <dgm:pt modelId="{8752150B-D287-4793-9CA5-ACD22B256373}">
      <dgm:prSet phldrT="[文字]"/>
      <dgm:spPr>
        <a:xfrm rot="5400000">
          <a:off x="3502260" y="-862173"/>
          <a:ext cx="1082237" cy="5755784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B600">
              <a:hueOff val="-1117628"/>
              <a:satOff val="-11810"/>
              <a:lumOff val="-98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轉檔組預計提供資料日期：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1/23~2/12 (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未完成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round 1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者遞延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</a:t>
          </a:r>
          <a:endParaRPr lang="zh-TW" altLang="en-US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CAF8A645-10A9-47A1-B878-BA0833089BB5}" type="parTrans" cxnId="{9DF7ECB9-2EBF-4E86-B052-8E42AC62C3BC}">
      <dgm:prSet/>
      <dgm:spPr/>
      <dgm:t>
        <a:bodyPr/>
        <a:lstStyle/>
        <a:p>
          <a:endParaRPr lang="zh-TW" altLang="en-US"/>
        </a:p>
      </dgm:t>
    </dgm:pt>
    <dgm:pt modelId="{6B3670E8-F520-4CA7-A3A1-CFA72D223072}" type="sibTrans" cxnId="{9DF7ECB9-2EBF-4E86-B052-8E42AC62C3BC}">
      <dgm:prSet/>
      <dgm:spPr/>
      <dgm:t>
        <a:bodyPr/>
        <a:lstStyle/>
        <a:p>
          <a:endParaRPr lang="zh-TW" altLang="en-US"/>
        </a:p>
      </dgm:t>
    </dgm:pt>
    <dgm:pt modelId="{AB36F305-DD82-42D8-B2CD-DD2594921C99}">
      <dgm:prSet phldrT="[文字]"/>
      <dgm:spPr>
        <a:xfrm rot="5400000">
          <a:off x="3502260" y="-862173"/>
          <a:ext cx="1082237" cy="5755784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B600">
              <a:hueOff val="-1117628"/>
              <a:satOff val="-11810"/>
              <a:lumOff val="-98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物料主檔：原料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(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底廠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)/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底半品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(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集團外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)/</a:t>
          </a:r>
          <a:r>
            <a: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BOM</a:t>
          </a:r>
          <a:r>
            <a: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格式確認</a:t>
          </a:r>
          <a:r>
            <a: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(</a:t>
          </a:r>
          <a:r>
            <a: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底廠</a:t>
          </a:r>
          <a:r>
            <a: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)/</a:t>
          </a:r>
          <a:r>
            <a:rPr lang="zh-TW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物料表主檔 </a:t>
          </a:r>
          <a:r>
            <a: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- BOM(</a:t>
          </a:r>
          <a:r>
            <a:rPr lang="zh-TW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正式</a:t>
          </a:r>
          <a:r>
            <a: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)-</a:t>
          </a:r>
          <a:r>
            <a:rPr lang="zh-TW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上傳格式確認</a:t>
          </a:r>
          <a:r>
            <a:rPr lang="en-US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物料主檔</a:t>
          </a:r>
          <a:r>
            <a:rPr lang="en-US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001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特性</a:t>
          </a:r>
          <a:r>
            <a:rPr lang="en-US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化工</a:t>
          </a:r>
          <a:r>
            <a:rPr lang="en-US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001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類別及特性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資訊記錄</a:t>
          </a:r>
          <a:endParaRPr lang="zh-TW" altLang="en-US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65C8A959-045B-43A2-A52B-51F3DD41CD2B}" type="parTrans" cxnId="{40EFD99A-6485-41D6-BE6F-0B37794B2AB2}">
      <dgm:prSet/>
      <dgm:spPr/>
      <dgm:t>
        <a:bodyPr/>
        <a:lstStyle/>
        <a:p>
          <a:endParaRPr lang="zh-TW" altLang="en-US"/>
        </a:p>
      </dgm:t>
    </dgm:pt>
    <dgm:pt modelId="{A82190A7-3B8D-40A3-A1D8-FAEACEBB2D68}" type="sibTrans" cxnId="{40EFD99A-6485-41D6-BE6F-0B37794B2AB2}">
      <dgm:prSet/>
      <dgm:spPr/>
      <dgm:t>
        <a:bodyPr/>
        <a:lstStyle/>
        <a:p>
          <a:endParaRPr lang="zh-TW" altLang="en-US"/>
        </a:p>
      </dgm:t>
    </dgm:pt>
    <dgm:pt modelId="{5C13CB94-0966-4881-A2CF-E60F420F11EE}">
      <dgm:prSet phldrT="[文字]"/>
      <dgm:spPr>
        <a:xfrm rot="5400000">
          <a:off x="-249747" y="3196033"/>
          <a:ext cx="1664980" cy="1165486"/>
        </a:xfrm>
        <a:prstGeom prst="chevron">
          <a:avLst/>
        </a:prstGeom>
        <a:solidFill>
          <a:srgbClr val="FFB600">
            <a:hueOff val="-2235256"/>
            <a:satOff val="-23619"/>
            <a:lumOff val="-197"/>
            <a:alphaOff val="0"/>
          </a:srgbClr>
        </a:solidFill>
        <a:ln w="25400" cap="flat" cmpd="sng" algn="ctr">
          <a:solidFill>
            <a:srgbClr val="FFB600">
              <a:hueOff val="-2235256"/>
              <a:satOff val="-23619"/>
              <a:lumOff val="-197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altLang="zh-TW" dirty="0">
              <a:solidFill>
                <a:srgbClr val="FFFFFF"/>
              </a:solidFill>
              <a:latin typeface="Arial"/>
              <a:ea typeface="新細明體" panose="02020500000000000000" pitchFamily="18" charset="-120"/>
              <a:cs typeface="+mn-cs"/>
            </a:rPr>
            <a:t>Round 3</a:t>
          </a:r>
          <a:endParaRPr lang="zh-TW" altLang="en-US" dirty="0">
            <a:solidFill>
              <a:srgbClr val="FFFFFF"/>
            </a:solidFill>
            <a:latin typeface="Arial"/>
            <a:ea typeface="新細明體" panose="02020500000000000000" pitchFamily="18" charset="-120"/>
            <a:cs typeface="+mn-cs"/>
          </a:endParaRPr>
        </a:p>
      </dgm:t>
    </dgm:pt>
    <dgm:pt modelId="{4C69E718-1B27-41B0-8E80-5728DA356104}" type="parTrans" cxnId="{30521EB3-FD07-4398-8BBC-07AFCEBC6164}">
      <dgm:prSet/>
      <dgm:spPr/>
      <dgm:t>
        <a:bodyPr/>
        <a:lstStyle/>
        <a:p>
          <a:endParaRPr lang="zh-TW" altLang="en-US"/>
        </a:p>
      </dgm:t>
    </dgm:pt>
    <dgm:pt modelId="{C4A4590A-4F99-42E5-A288-64F84D134C25}" type="sibTrans" cxnId="{30521EB3-FD07-4398-8BBC-07AFCEBC6164}">
      <dgm:prSet/>
      <dgm:spPr/>
      <dgm:t>
        <a:bodyPr/>
        <a:lstStyle/>
        <a:p>
          <a:endParaRPr lang="zh-TW" altLang="en-US"/>
        </a:p>
      </dgm:t>
    </dgm:pt>
    <dgm:pt modelId="{919E5D92-3279-46EB-A591-347C815AFB82}">
      <dgm:prSet phldrT="[文字]"/>
      <dgm:spPr>
        <a:xfrm rot="5400000">
          <a:off x="3502260" y="609512"/>
          <a:ext cx="1082237" cy="5755784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B600">
              <a:hueOff val="-2235256"/>
              <a:satOff val="-23619"/>
              <a:lumOff val="-197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轉檔組預計提供資料日期：時間未定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 (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待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699 Client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環境建置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</a:t>
          </a:r>
          <a:endParaRPr lang="zh-TW" altLang="en-US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57B4EB19-C73F-4092-9D1E-00AB07009672}" type="parTrans" cxnId="{868ED2AD-8344-4B0A-85BC-0687371C1592}">
      <dgm:prSet/>
      <dgm:spPr/>
      <dgm:t>
        <a:bodyPr/>
        <a:lstStyle/>
        <a:p>
          <a:endParaRPr lang="zh-TW" altLang="en-US"/>
        </a:p>
      </dgm:t>
    </dgm:pt>
    <dgm:pt modelId="{E68BF88F-6964-40E7-83A6-43A71DAC216B}" type="sibTrans" cxnId="{868ED2AD-8344-4B0A-85BC-0687371C1592}">
      <dgm:prSet/>
      <dgm:spPr/>
      <dgm:t>
        <a:bodyPr/>
        <a:lstStyle/>
        <a:p>
          <a:endParaRPr lang="zh-TW" altLang="en-US"/>
        </a:p>
      </dgm:t>
    </dgm:pt>
    <dgm:pt modelId="{66E6523C-6EDD-4714-B3A9-77CFAE4755AA}">
      <dgm:prSet phldrT="[文字]"/>
      <dgm:spPr>
        <a:xfrm rot="5400000">
          <a:off x="3502260" y="609512"/>
          <a:ext cx="1082237" cy="5755784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B600">
              <a:hueOff val="-2235256"/>
              <a:satOff val="-23619"/>
              <a:lumOff val="-197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物料主檔毛淨重</a:t>
          </a:r>
          <a:r>
            <a:rPr lang="en-US" altLang="zh-TW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成品毛淨重</a:t>
          </a:r>
          <a:r>
            <a:rPr lang="en-US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EAN</a:t>
          </a:r>
          <a:r>
            <a:rPr lang="en-US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固定總帳餘額</a:t>
          </a:r>
          <a:r>
            <a: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未結訂單</a:t>
          </a:r>
          <a:r>
            <a: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未結採購單</a:t>
          </a:r>
          <a:r>
            <a: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期末庫存</a:t>
          </a:r>
        </a:p>
      </dgm:t>
    </dgm:pt>
    <dgm:pt modelId="{822639B2-DF2C-4AEE-8240-0233C51D3C8E}" type="parTrans" cxnId="{D2250056-25A7-4B14-8945-56AD7C8F3987}">
      <dgm:prSet/>
      <dgm:spPr/>
      <dgm:t>
        <a:bodyPr/>
        <a:lstStyle/>
        <a:p>
          <a:endParaRPr lang="zh-TW" altLang="en-US"/>
        </a:p>
      </dgm:t>
    </dgm:pt>
    <dgm:pt modelId="{D293C060-3552-4A4E-96A6-9E70DB5C0996}" type="sibTrans" cxnId="{D2250056-25A7-4B14-8945-56AD7C8F3987}">
      <dgm:prSet/>
      <dgm:spPr/>
      <dgm:t>
        <a:bodyPr/>
        <a:lstStyle/>
        <a:p>
          <a:endParaRPr lang="zh-TW" altLang="en-US"/>
        </a:p>
      </dgm:t>
    </dgm:pt>
    <dgm:pt modelId="{A0C36FA5-3AF1-4DC1-88FE-4C32B8D414D7}" type="pres">
      <dgm:prSet presAssocID="{69794E01-9DA3-4036-A827-322408AA7D81}" presName="linearFlow" presStyleCnt="0">
        <dgm:presLayoutVars>
          <dgm:dir/>
          <dgm:animLvl val="lvl"/>
          <dgm:resizeHandles val="exact"/>
        </dgm:presLayoutVars>
      </dgm:prSet>
      <dgm:spPr/>
    </dgm:pt>
    <dgm:pt modelId="{8A414A38-7AF2-472D-AB79-449B86A2205C}" type="pres">
      <dgm:prSet presAssocID="{0465728F-08D9-46C7-A91F-0F1D7BBFC48A}" presName="composite" presStyleCnt="0"/>
      <dgm:spPr/>
    </dgm:pt>
    <dgm:pt modelId="{5268A6E6-A670-48F1-B0C6-CFCFE06A99DD}" type="pres">
      <dgm:prSet presAssocID="{0465728F-08D9-46C7-A91F-0F1D7BBFC48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34C133DF-2DF1-4429-9EA6-529057C9FEDA}" type="pres">
      <dgm:prSet presAssocID="{0465728F-08D9-46C7-A91F-0F1D7BBFC48A}" presName="descendantText" presStyleLbl="alignAcc1" presStyleIdx="0" presStyleCnt="3" custLinFactNeighborY="-908">
        <dgm:presLayoutVars>
          <dgm:bulletEnabled val="1"/>
        </dgm:presLayoutVars>
      </dgm:prSet>
      <dgm:spPr/>
    </dgm:pt>
    <dgm:pt modelId="{809CC1D5-97BA-458B-B7C7-B1E7E2FD1510}" type="pres">
      <dgm:prSet presAssocID="{783DD2C9-A5F3-43D9-84EE-572E684031DB}" presName="sp" presStyleCnt="0"/>
      <dgm:spPr/>
    </dgm:pt>
    <dgm:pt modelId="{97BD15A4-2EE2-45AD-A8C6-8FC2124CEED4}" type="pres">
      <dgm:prSet presAssocID="{D66F71DF-77C5-44FA-9449-3AFF8B516434}" presName="composite" presStyleCnt="0"/>
      <dgm:spPr/>
    </dgm:pt>
    <dgm:pt modelId="{56F0AC21-72EA-44D8-911B-88EF146822A4}" type="pres">
      <dgm:prSet presAssocID="{D66F71DF-77C5-44FA-9449-3AFF8B51643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9B98677-E146-44EE-A941-6CC63A076C50}" type="pres">
      <dgm:prSet presAssocID="{D66F71DF-77C5-44FA-9449-3AFF8B516434}" presName="descendantText" presStyleLbl="alignAcc1" presStyleIdx="1" presStyleCnt="3">
        <dgm:presLayoutVars>
          <dgm:bulletEnabled val="1"/>
        </dgm:presLayoutVars>
      </dgm:prSet>
      <dgm:spPr>
        <a:prstGeom prst="round2SameRect">
          <a:avLst/>
        </a:prstGeom>
      </dgm:spPr>
    </dgm:pt>
    <dgm:pt modelId="{EABF93C4-62D7-479F-B4F2-001A5AFC58D8}" type="pres">
      <dgm:prSet presAssocID="{E1EA10BA-FEEF-42EA-A314-823A1BBBDB8B}" presName="sp" presStyleCnt="0"/>
      <dgm:spPr/>
    </dgm:pt>
    <dgm:pt modelId="{1961846F-8265-4698-BB1A-53E4DA237E48}" type="pres">
      <dgm:prSet presAssocID="{5C13CB94-0966-4881-A2CF-E60F420F11EE}" presName="composite" presStyleCnt="0"/>
      <dgm:spPr/>
    </dgm:pt>
    <dgm:pt modelId="{9F7EC0C0-2C66-4519-882C-668C4E11A5A8}" type="pres">
      <dgm:prSet presAssocID="{5C13CB94-0966-4881-A2CF-E60F420F11E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9A8BB0CD-A246-4EA2-B72D-88BEA47FB8C9}" type="pres">
      <dgm:prSet presAssocID="{5C13CB94-0966-4881-A2CF-E60F420F11EE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D3CB9F04-F73B-4DDF-9628-FB5234725BEA}" srcId="{0465728F-08D9-46C7-A91F-0F1D7BBFC48A}" destId="{F866E8DC-DD5C-4512-B861-09A928A94E80}" srcOrd="1" destOrd="0" parTransId="{E324D3E7-E340-4F5D-AF53-9E1B5DD3B762}" sibTransId="{BFF4DBE8-7049-4AFA-96AC-6AD406E798A5}"/>
    <dgm:cxn modelId="{79145816-E2CA-43D8-B3E5-6A32FEAF7117}" type="presOf" srcId="{66E6523C-6EDD-4714-B3A9-77CFAE4755AA}" destId="{9A8BB0CD-A246-4EA2-B72D-88BEA47FB8C9}" srcOrd="0" destOrd="1" presId="urn:microsoft.com/office/officeart/2005/8/layout/chevron2"/>
    <dgm:cxn modelId="{44BE6E22-169B-4982-AD5A-FC0996300ED1}" type="presOf" srcId="{72CB2AFA-96D3-46A0-92BF-C80D26E6BC73}" destId="{34C133DF-2DF1-4429-9EA6-529057C9FEDA}" srcOrd="0" destOrd="0" presId="urn:microsoft.com/office/officeart/2005/8/layout/chevron2"/>
    <dgm:cxn modelId="{1C7E0E33-7205-4B90-82B6-447BDE611FDF}" type="presOf" srcId="{AB36F305-DD82-42D8-B2CD-DD2594921C99}" destId="{49B98677-E146-44EE-A941-6CC63A076C50}" srcOrd="0" destOrd="1" presId="urn:microsoft.com/office/officeart/2005/8/layout/chevron2"/>
    <dgm:cxn modelId="{8346F73D-3B2A-463B-8677-B55806AD868F}" srcId="{69794E01-9DA3-4036-A827-322408AA7D81}" destId="{0465728F-08D9-46C7-A91F-0F1D7BBFC48A}" srcOrd="0" destOrd="0" parTransId="{25D6372F-DDEC-425E-9487-378658427A26}" sibTransId="{783DD2C9-A5F3-43D9-84EE-572E684031DB}"/>
    <dgm:cxn modelId="{197A5B41-DE8E-436A-A268-519FD106D047}" srcId="{69794E01-9DA3-4036-A827-322408AA7D81}" destId="{D66F71DF-77C5-44FA-9449-3AFF8B516434}" srcOrd="1" destOrd="0" parTransId="{3A14FB15-6E6B-4000-B313-F3A11C6DEC6C}" sibTransId="{E1EA10BA-FEEF-42EA-A314-823A1BBBDB8B}"/>
    <dgm:cxn modelId="{A8506847-3377-4AD1-98AA-6C031C7038C9}" type="presOf" srcId="{5C13CB94-0966-4881-A2CF-E60F420F11EE}" destId="{9F7EC0C0-2C66-4519-882C-668C4E11A5A8}" srcOrd="0" destOrd="0" presId="urn:microsoft.com/office/officeart/2005/8/layout/chevron2"/>
    <dgm:cxn modelId="{B274A44B-5674-4714-9D3D-32F36888C58D}" type="presOf" srcId="{919E5D92-3279-46EB-A591-347C815AFB82}" destId="{9A8BB0CD-A246-4EA2-B72D-88BEA47FB8C9}" srcOrd="0" destOrd="0" presId="urn:microsoft.com/office/officeart/2005/8/layout/chevron2"/>
    <dgm:cxn modelId="{D2250056-25A7-4B14-8945-56AD7C8F3987}" srcId="{5C13CB94-0966-4881-A2CF-E60F420F11EE}" destId="{66E6523C-6EDD-4714-B3A9-77CFAE4755AA}" srcOrd="1" destOrd="0" parTransId="{822639B2-DF2C-4AEE-8240-0233C51D3C8E}" sibTransId="{D293C060-3552-4A4E-96A6-9E70DB5C0996}"/>
    <dgm:cxn modelId="{FD49957B-0FB4-41AB-8C59-8085459C2C86}" type="presOf" srcId="{0465728F-08D9-46C7-A91F-0F1D7BBFC48A}" destId="{5268A6E6-A670-48F1-B0C6-CFCFE06A99DD}" srcOrd="0" destOrd="0" presId="urn:microsoft.com/office/officeart/2005/8/layout/chevron2"/>
    <dgm:cxn modelId="{2A927395-B5B7-4560-B860-AB345156FCED}" type="presOf" srcId="{8752150B-D287-4793-9CA5-ACD22B256373}" destId="{49B98677-E146-44EE-A941-6CC63A076C50}" srcOrd="0" destOrd="0" presId="urn:microsoft.com/office/officeart/2005/8/layout/chevron2"/>
    <dgm:cxn modelId="{40EFD99A-6485-41D6-BE6F-0B37794B2AB2}" srcId="{D66F71DF-77C5-44FA-9449-3AFF8B516434}" destId="{AB36F305-DD82-42D8-B2CD-DD2594921C99}" srcOrd="1" destOrd="0" parTransId="{65C8A959-045B-43A2-A52B-51F3DD41CD2B}" sibTransId="{A82190A7-3B8D-40A3-A1D8-FAEACEBB2D68}"/>
    <dgm:cxn modelId="{9763BFAC-0682-4194-8627-C19D630F0800}" type="presOf" srcId="{D66F71DF-77C5-44FA-9449-3AFF8B516434}" destId="{56F0AC21-72EA-44D8-911B-88EF146822A4}" srcOrd="0" destOrd="0" presId="urn:microsoft.com/office/officeart/2005/8/layout/chevron2"/>
    <dgm:cxn modelId="{868ED2AD-8344-4B0A-85BC-0687371C1592}" srcId="{5C13CB94-0966-4881-A2CF-E60F420F11EE}" destId="{919E5D92-3279-46EB-A591-347C815AFB82}" srcOrd="0" destOrd="0" parTransId="{57B4EB19-C73F-4092-9D1E-00AB07009672}" sibTransId="{E68BF88F-6964-40E7-83A6-43A71DAC216B}"/>
    <dgm:cxn modelId="{6439A0AF-0BEC-4AF1-AC92-7CDFE6AE4159}" type="presOf" srcId="{69794E01-9DA3-4036-A827-322408AA7D81}" destId="{A0C36FA5-3AF1-4DC1-88FE-4C32B8D414D7}" srcOrd="0" destOrd="0" presId="urn:microsoft.com/office/officeart/2005/8/layout/chevron2"/>
    <dgm:cxn modelId="{30521EB3-FD07-4398-8BBC-07AFCEBC6164}" srcId="{69794E01-9DA3-4036-A827-322408AA7D81}" destId="{5C13CB94-0966-4881-A2CF-E60F420F11EE}" srcOrd="2" destOrd="0" parTransId="{4C69E718-1B27-41B0-8E80-5728DA356104}" sibTransId="{C4A4590A-4F99-42E5-A288-64F84D134C25}"/>
    <dgm:cxn modelId="{9DF7ECB9-2EBF-4E86-B052-8E42AC62C3BC}" srcId="{D66F71DF-77C5-44FA-9449-3AFF8B516434}" destId="{8752150B-D287-4793-9CA5-ACD22B256373}" srcOrd="0" destOrd="0" parTransId="{CAF8A645-10A9-47A1-B878-BA0833089BB5}" sibTransId="{6B3670E8-F520-4CA7-A3A1-CFA72D223072}"/>
    <dgm:cxn modelId="{66E932D9-3D7D-4379-9185-EF254A32BF5A}" type="presOf" srcId="{F866E8DC-DD5C-4512-B861-09A928A94E80}" destId="{34C133DF-2DF1-4429-9EA6-529057C9FEDA}" srcOrd="0" destOrd="1" presId="urn:microsoft.com/office/officeart/2005/8/layout/chevron2"/>
    <dgm:cxn modelId="{B24271F4-E2BA-48E5-B9CF-B46DD0806A0A}" srcId="{0465728F-08D9-46C7-A91F-0F1D7BBFC48A}" destId="{72CB2AFA-96D3-46A0-92BF-C80D26E6BC73}" srcOrd="0" destOrd="0" parTransId="{5AA8851F-CB1D-430D-869E-DBC4FA23D43A}" sibTransId="{A7524306-50EE-4791-86BE-60424FC47CC1}"/>
    <dgm:cxn modelId="{B475AF51-EFE4-4919-BDDD-6E2954AAAD87}" type="presParOf" srcId="{A0C36FA5-3AF1-4DC1-88FE-4C32B8D414D7}" destId="{8A414A38-7AF2-472D-AB79-449B86A2205C}" srcOrd="0" destOrd="0" presId="urn:microsoft.com/office/officeart/2005/8/layout/chevron2"/>
    <dgm:cxn modelId="{525EB3D1-C06A-4871-B65F-1A4706F62BC0}" type="presParOf" srcId="{8A414A38-7AF2-472D-AB79-449B86A2205C}" destId="{5268A6E6-A670-48F1-B0C6-CFCFE06A99DD}" srcOrd="0" destOrd="0" presId="urn:microsoft.com/office/officeart/2005/8/layout/chevron2"/>
    <dgm:cxn modelId="{93890257-3331-412C-8B7A-8486382FD14B}" type="presParOf" srcId="{8A414A38-7AF2-472D-AB79-449B86A2205C}" destId="{34C133DF-2DF1-4429-9EA6-529057C9FEDA}" srcOrd="1" destOrd="0" presId="urn:microsoft.com/office/officeart/2005/8/layout/chevron2"/>
    <dgm:cxn modelId="{77D376AB-6962-46ED-9D11-DAD9C52A4258}" type="presParOf" srcId="{A0C36FA5-3AF1-4DC1-88FE-4C32B8D414D7}" destId="{809CC1D5-97BA-458B-B7C7-B1E7E2FD1510}" srcOrd="1" destOrd="0" presId="urn:microsoft.com/office/officeart/2005/8/layout/chevron2"/>
    <dgm:cxn modelId="{07C5EBEF-0524-43B6-A9EB-033590AF19D8}" type="presParOf" srcId="{A0C36FA5-3AF1-4DC1-88FE-4C32B8D414D7}" destId="{97BD15A4-2EE2-45AD-A8C6-8FC2124CEED4}" srcOrd="2" destOrd="0" presId="urn:microsoft.com/office/officeart/2005/8/layout/chevron2"/>
    <dgm:cxn modelId="{7D083BE6-D9FB-4237-BF7C-703374FFE37F}" type="presParOf" srcId="{97BD15A4-2EE2-45AD-A8C6-8FC2124CEED4}" destId="{56F0AC21-72EA-44D8-911B-88EF146822A4}" srcOrd="0" destOrd="0" presId="urn:microsoft.com/office/officeart/2005/8/layout/chevron2"/>
    <dgm:cxn modelId="{D8C358F2-7328-4854-A5B3-CB646E4A24BF}" type="presParOf" srcId="{97BD15A4-2EE2-45AD-A8C6-8FC2124CEED4}" destId="{49B98677-E146-44EE-A941-6CC63A076C50}" srcOrd="1" destOrd="0" presId="urn:microsoft.com/office/officeart/2005/8/layout/chevron2"/>
    <dgm:cxn modelId="{8673AA05-C7A4-4169-9638-31C0DD6AF302}" type="presParOf" srcId="{A0C36FA5-3AF1-4DC1-88FE-4C32B8D414D7}" destId="{EABF93C4-62D7-479F-B4F2-001A5AFC58D8}" srcOrd="3" destOrd="0" presId="urn:microsoft.com/office/officeart/2005/8/layout/chevron2"/>
    <dgm:cxn modelId="{04AB0F05-45A2-4E50-96EF-623849B6E9C2}" type="presParOf" srcId="{A0C36FA5-3AF1-4DC1-88FE-4C32B8D414D7}" destId="{1961846F-8265-4698-BB1A-53E4DA237E48}" srcOrd="4" destOrd="0" presId="urn:microsoft.com/office/officeart/2005/8/layout/chevron2"/>
    <dgm:cxn modelId="{51E618A2-15FC-4780-8DB8-AB3D14452E7E}" type="presParOf" srcId="{1961846F-8265-4698-BB1A-53E4DA237E48}" destId="{9F7EC0C0-2C66-4519-882C-668C4E11A5A8}" srcOrd="0" destOrd="0" presId="urn:microsoft.com/office/officeart/2005/8/layout/chevron2"/>
    <dgm:cxn modelId="{CE3B17A6-B36F-4652-B3CB-206879392EB2}" type="presParOf" srcId="{1961846F-8265-4698-BB1A-53E4DA237E48}" destId="{9A8BB0CD-A246-4EA2-B72D-88BEA47FB8C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CBE0F-8D26-418B-89B0-F6E99045A3F1}">
      <dsp:nvSpPr>
        <dsp:cNvPr id="0" name=""/>
        <dsp:cNvSpPr/>
      </dsp:nvSpPr>
      <dsp:spPr>
        <a:xfrm>
          <a:off x="0" y="2555696"/>
          <a:ext cx="5092698" cy="838836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3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Phase 2</a:t>
          </a:r>
          <a:r>
            <a:rPr lang="zh-TW" altLang="en-US" sz="13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轉檔</a:t>
          </a:r>
        </a:p>
      </dsp:txBody>
      <dsp:txXfrm>
        <a:off x="0" y="2555696"/>
        <a:ext cx="5092698" cy="452971"/>
      </dsp:txXfrm>
    </dsp:sp>
    <dsp:sp modelId="{42FB85A1-7E52-440E-A6FC-FB349AD708B5}">
      <dsp:nvSpPr>
        <dsp:cNvPr id="0" name=""/>
        <dsp:cNvSpPr/>
      </dsp:nvSpPr>
      <dsp:spPr>
        <a:xfrm>
          <a:off x="0" y="2991891"/>
          <a:ext cx="2546349" cy="38586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新增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SAP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料號</a:t>
          </a:r>
        </a:p>
      </dsp:txBody>
      <dsp:txXfrm>
        <a:off x="0" y="2991891"/>
        <a:ext cx="2546349" cy="385864"/>
      </dsp:txXfrm>
    </dsp:sp>
    <dsp:sp modelId="{780A65BA-F22D-4A0A-A45C-7775E2BED8DF}">
      <dsp:nvSpPr>
        <dsp:cNvPr id="0" name=""/>
        <dsp:cNvSpPr/>
      </dsp:nvSpPr>
      <dsp:spPr>
        <a:xfrm>
          <a:off x="2546349" y="2991891"/>
          <a:ext cx="2546349" cy="38586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-800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舊系統料號</a:t>
          </a:r>
        </a:p>
      </dsp:txBody>
      <dsp:txXfrm>
        <a:off x="2546349" y="2991891"/>
        <a:ext cx="2546349" cy="385864"/>
      </dsp:txXfrm>
    </dsp:sp>
    <dsp:sp modelId="{46D4AE90-D4A2-48A2-8064-952EC58B8667}">
      <dsp:nvSpPr>
        <dsp:cNvPr id="0" name=""/>
        <dsp:cNvSpPr/>
      </dsp:nvSpPr>
      <dsp:spPr>
        <a:xfrm rot="10800000">
          <a:off x="0" y="1278148"/>
          <a:ext cx="5092698" cy="1290130"/>
        </a:xfrm>
        <a:prstGeom prst="upArrowCallout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3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SAP</a:t>
          </a:r>
          <a:r>
            <a:rPr lang="zh-TW" altLang="en-US" sz="13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上線後</a:t>
          </a:r>
        </a:p>
      </dsp:txBody>
      <dsp:txXfrm rot="-10800000">
        <a:off x="0" y="1278148"/>
        <a:ext cx="5092698" cy="452835"/>
      </dsp:txXfrm>
    </dsp:sp>
    <dsp:sp modelId="{2945B7A6-6E7D-4CD4-9BFC-B5B00B627352}">
      <dsp:nvSpPr>
        <dsp:cNvPr id="0" name=""/>
        <dsp:cNvSpPr/>
      </dsp:nvSpPr>
      <dsp:spPr>
        <a:xfrm>
          <a:off x="0" y="1730984"/>
          <a:ext cx="2546349" cy="38574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-1600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SAP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料號持續新增</a:t>
          </a:r>
        </a:p>
      </dsp:txBody>
      <dsp:txXfrm>
        <a:off x="0" y="1730984"/>
        <a:ext cx="2546349" cy="385749"/>
      </dsp:txXfrm>
    </dsp:sp>
    <dsp:sp modelId="{522C6AB2-936F-4345-B1DE-141C53012694}">
      <dsp:nvSpPr>
        <dsp:cNvPr id="0" name=""/>
        <dsp:cNvSpPr/>
      </dsp:nvSpPr>
      <dsp:spPr>
        <a:xfrm>
          <a:off x="2546349" y="1730984"/>
          <a:ext cx="2546349" cy="38574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-2400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無對應舊系統料號</a:t>
          </a:r>
        </a:p>
      </dsp:txBody>
      <dsp:txXfrm>
        <a:off x="2546349" y="1730984"/>
        <a:ext cx="2546349" cy="385749"/>
      </dsp:txXfrm>
    </dsp:sp>
    <dsp:sp modelId="{FB6ABA71-1530-47B6-AE68-EB5D34C6041C}">
      <dsp:nvSpPr>
        <dsp:cNvPr id="0" name=""/>
        <dsp:cNvSpPr/>
      </dsp:nvSpPr>
      <dsp:spPr>
        <a:xfrm rot="10800000">
          <a:off x="0" y="600"/>
          <a:ext cx="5092698" cy="1290130"/>
        </a:xfrm>
        <a:prstGeom prst="upArrowCallou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3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Phase 1</a:t>
          </a:r>
          <a:r>
            <a:rPr lang="zh-TW" altLang="en-US" sz="13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轉檔</a:t>
          </a:r>
        </a:p>
      </dsp:txBody>
      <dsp:txXfrm rot="-10800000">
        <a:off x="0" y="600"/>
        <a:ext cx="5092698" cy="452835"/>
      </dsp:txXfrm>
    </dsp:sp>
    <dsp:sp modelId="{A64AA3FB-B15B-40F1-82A9-3532BA49C84B}">
      <dsp:nvSpPr>
        <dsp:cNvPr id="0" name=""/>
        <dsp:cNvSpPr/>
      </dsp:nvSpPr>
      <dsp:spPr>
        <a:xfrm>
          <a:off x="0" y="453435"/>
          <a:ext cx="2546349" cy="38574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-3200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新增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SAP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料號</a:t>
          </a:r>
        </a:p>
      </dsp:txBody>
      <dsp:txXfrm>
        <a:off x="0" y="453435"/>
        <a:ext cx="2546349" cy="385749"/>
      </dsp:txXfrm>
    </dsp:sp>
    <dsp:sp modelId="{1EA29E6C-0991-4522-8D7A-E8F2AE331868}">
      <dsp:nvSpPr>
        <dsp:cNvPr id="0" name=""/>
        <dsp:cNvSpPr/>
      </dsp:nvSpPr>
      <dsp:spPr>
        <a:xfrm>
          <a:off x="2546349" y="453435"/>
          <a:ext cx="2546349" cy="38574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舊系統料號</a:t>
          </a:r>
        </a:p>
      </dsp:txBody>
      <dsp:txXfrm>
        <a:off x="2546349" y="453435"/>
        <a:ext cx="2546349" cy="3857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68A6E6-A670-48F1-B0C6-CFCFE06A99DD}">
      <dsp:nvSpPr>
        <dsp:cNvPr id="0" name=""/>
        <dsp:cNvSpPr/>
      </dsp:nvSpPr>
      <dsp:spPr>
        <a:xfrm rot="5400000">
          <a:off x="-255750" y="259152"/>
          <a:ext cx="1705000" cy="1193500"/>
        </a:xfrm>
        <a:prstGeom prst="chevron">
          <a:avLst/>
        </a:prstGeom>
        <a:solidFill>
          <a:srgbClr val="FFB600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B600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>
              <a:solidFill>
                <a:srgbClr val="FFFFFF"/>
              </a:solidFill>
              <a:latin typeface="Arial"/>
              <a:ea typeface="新細明體" panose="02020500000000000000" pitchFamily="18" charset="-120"/>
              <a:cs typeface="+mn-cs"/>
            </a:rPr>
            <a:t>Round1</a:t>
          </a:r>
          <a:endParaRPr lang="zh-TW" altLang="en-US" sz="2400" kern="1200" dirty="0">
            <a:solidFill>
              <a:srgbClr val="FFFFFF"/>
            </a:solidFill>
            <a:latin typeface="Arial"/>
            <a:ea typeface="新細明體" panose="02020500000000000000" pitchFamily="18" charset="-120"/>
            <a:cs typeface="+mn-cs"/>
          </a:endParaRPr>
        </a:p>
      </dsp:txBody>
      <dsp:txXfrm rot="-5400000">
        <a:off x="0" y="600152"/>
        <a:ext cx="1193500" cy="511500"/>
      </dsp:txXfrm>
    </dsp:sp>
    <dsp:sp modelId="{34C133DF-2DF1-4429-9EA6-529057C9FEDA}">
      <dsp:nvSpPr>
        <dsp:cNvPr id="0" name=""/>
        <dsp:cNvSpPr/>
      </dsp:nvSpPr>
      <dsp:spPr>
        <a:xfrm rot="5400000">
          <a:off x="3594712" y="-2401212"/>
          <a:ext cx="1108250" cy="5910674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B600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轉檔組預計提供資料日期：</a:t>
          </a:r>
          <a:r>
            <a:rPr lang="en-US" altLang="zh-TW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1/9~1/14</a:t>
          </a:r>
          <a:endParaRPr lang="zh-TW" altLang="en-US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半品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底半品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原料</a:t>
          </a:r>
          <a:r>
            <a:rPr lang="en-US" altLang="zh-TW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(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鞋</a:t>
          </a:r>
          <a:r>
            <a:rPr lang="en-US" altLang="zh-TW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&amp;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射出</a:t>
          </a:r>
          <a:r>
            <a:rPr lang="en-US" altLang="zh-TW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)/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配方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001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特性質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部位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配方種類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底半品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廠商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資產大類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資產位置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資產部門</a:t>
          </a:r>
          <a:r>
            <a:rPr lang="en-US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/BP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供應商</a:t>
          </a:r>
          <a:r>
            <a:rPr lang="en-US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客戶</a:t>
          </a:r>
          <a:r>
            <a:rPr lang="en-US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固定資產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/BOM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格式確認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(</a:t>
          </a:r>
          <a:r>
            <a:rPr lang="zh-TW" altLang="en-US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鞋廠</a:t>
          </a:r>
          <a:r>
            <a:rPr lang="en-US" altLang="zh-TW" sz="14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價格主檔</a:t>
          </a:r>
          <a:r>
            <a:rPr lang="en-US" altLang="zh-TW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4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包裝主檔</a:t>
          </a:r>
        </a:p>
      </dsp:txBody>
      <dsp:txXfrm rot="-5400000">
        <a:off x="1193500" y="54100"/>
        <a:ext cx="5856574" cy="1000050"/>
      </dsp:txXfrm>
    </dsp:sp>
    <dsp:sp modelId="{56F0AC21-72EA-44D8-911B-88EF146822A4}">
      <dsp:nvSpPr>
        <dsp:cNvPr id="0" name=""/>
        <dsp:cNvSpPr/>
      </dsp:nvSpPr>
      <dsp:spPr>
        <a:xfrm rot="5400000">
          <a:off x="-255750" y="1771308"/>
          <a:ext cx="1705000" cy="1193500"/>
        </a:xfrm>
        <a:prstGeom prst="chevron">
          <a:avLst/>
        </a:prstGeom>
        <a:solidFill>
          <a:srgbClr val="FFB600">
            <a:hueOff val="-1117628"/>
            <a:satOff val="-11810"/>
            <a:lumOff val="-98"/>
            <a:alphaOff val="0"/>
          </a:srgbClr>
        </a:solidFill>
        <a:ln w="25400" cap="flat" cmpd="sng" algn="ctr">
          <a:solidFill>
            <a:srgbClr val="FFB600">
              <a:hueOff val="-1117628"/>
              <a:satOff val="-11810"/>
              <a:lumOff val="-9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>
              <a:solidFill>
                <a:srgbClr val="FFFFFF"/>
              </a:solidFill>
              <a:latin typeface="Arial"/>
              <a:ea typeface="新細明體" panose="02020500000000000000" pitchFamily="18" charset="-120"/>
              <a:cs typeface="+mn-cs"/>
            </a:rPr>
            <a:t>Round 2</a:t>
          </a:r>
          <a:endParaRPr lang="zh-TW" altLang="en-US" sz="2400" kern="1200" dirty="0">
            <a:solidFill>
              <a:srgbClr val="FFFFFF"/>
            </a:solidFill>
            <a:latin typeface="Arial"/>
            <a:ea typeface="新細明體" panose="02020500000000000000" pitchFamily="18" charset="-120"/>
            <a:cs typeface="+mn-cs"/>
          </a:endParaRPr>
        </a:p>
      </dsp:txBody>
      <dsp:txXfrm rot="-5400000">
        <a:off x="0" y="2112308"/>
        <a:ext cx="1193500" cy="511500"/>
      </dsp:txXfrm>
    </dsp:sp>
    <dsp:sp modelId="{49B98677-E146-44EE-A941-6CC63A076C50}">
      <dsp:nvSpPr>
        <dsp:cNvPr id="0" name=""/>
        <dsp:cNvSpPr/>
      </dsp:nvSpPr>
      <dsp:spPr>
        <a:xfrm rot="5400000">
          <a:off x="3594712" y="-885653"/>
          <a:ext cx="1108250" cy="5910674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B600">
              <a:hueOff val="-1117628"/>
              <a:satOff val="-11810"/>
              <a:lumOff val="-9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轉檔組預計提供資料日期：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1/23~2/12 (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未完成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round 1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者遞延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</a:t>
          </a:r>
          <a:endParaRPr lang="zh-TW" altLang="en-US" sz="13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物料主檔：原料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(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底廠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)/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底半品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(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集團外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)/</a:t>
          </a:r>
          <a:r>
            <a:rPr lang="en-US" altLang="zh-TW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BOM</a:t>
          </a:r>
          <a:r>
            <a:rPr lang="zh-TW" altLang="en-US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格式確認</a:t>
          </a:r>
          <a:r>
            <a:rPr lang="en-US" altLang="zh-TW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(</a:t>
          </a:r>
          <a:r>
            <a:rPr lang="zh-TW" altLang="en-US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底廠</a:t>
          </a:r>
          <a:r>
            <a:rPr lang="en-US" altLang="zh-TW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)/</a:t>
          </a:r>
          <a:r>
            <a:rPr lang="zh-TW" altLang="zh-TW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物料表主檔 </a:t>
          </a:r>
          <a:r>
            <a:rPr lang="en-US" altLang="zh-TW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- BOM(</a:t>
          </a:r>
          <a:r>
            <a:rPr lang="zh-TW" altLang="zh-TW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正式</a:t>
          </a:r>
          <a:r>
            <a:rPr lang="en-US" altLang="zh-TW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)-</a:t>
          </a:r>
          <a:r>
            <a:rPr lang="zh-TW" altLang="zh-TW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上傳格式確認</a:t>
          </a:r>
          <a:r>
            <a:rPr lang="en-US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物料主檔</a:t>
          </a:r>
          <a:r>
            <a:rPr lang="en-US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001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特性</a:t>
          </a:r>
          <a:r>
            <a:rPr lang="en-US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化工</a:t>
          </a:r>
          <a:r>
            <a:rPr lang="en-US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001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類別及特性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資訊記錄</a:t>
          </a:r>
          <a:endParaRPr lang="zh-TW" altLang="en-US" sz="1300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 rot="-5400000">
        <a:off x="1193500" y="1569659"/>
        <a:ext cx="5856574" cy="1000050"/>
      </dsp:txXfrm>
    </dsp:sp>
    <dsp:sp modelId="{9F7EC0C0-2C66-4519-882C-668C4E11A5A8}">
      <dsp:nvSpPr>
        <dsp:cNvPr id="0" name=""/>
        <dsp:cNvSpPr/>
      </dsp:nvSpPr>
      <dsp:spPr>
        <a:xfrm rot="5400000">
          <a:off x="-255750" y="3283464"/>
          <a:ext cx="1705000" cy="1193500"/>
        </a:xfrm>
        <a:prstGeom prst="chevron">
          <a:avLst/>
        </a:prstGeom>
        <a:solidFill>
          <a:srgbClr val="FFB600">
            <a:hueOff val="-2235256"/>
            <a:satOff val="-23619"/>
            <a:lumOff val="-197"/>
            <a:alphaOff val="0"/>
          </a:srgbClr>
        </a:solidFill>
        <a:ln w="25400" cap="flat" cmpd="sng" algn="ctr">
          <a:solidFill>
            <a:srgbClr val="FFB600">
              <a:hueOff val="-2235256"/>
              <a:satOff val="-23619"/>
              <a:lumOff val="-197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>
              <a:solidFill>
                <a:srgbClr val="FFFFFF"/>
              </a:solidFill>
              <a:latin typeface="Arial"/>
              <a:ea typeface="新細明體" panose="02020500000000000000" pitchFamily="18" charset="-120"/>
              <a:cs typeface="+mn-cs"/>
            </a:rPr>
            <a:t>Round 3</a:t>
          </a:r>
          <a:endParaRPr lang="zh-TW" altLang="en-US" sz="2400" kern="1200" dirty="0">
            <a:solidFill>
              <a:srgbClr val="FFFFFF"/>
            </a:solidFill>
            <a:latin typeface="Arial"/>
            <a:ea typeface="新細明體" panose="02020500000000000000" pitchFamily="18" charset="-120"/>
            <a:cs typeface="+mn-cs"/>
          </a:endParaRPr>
        </a:p>
      </dsp:txBody>
      <dsp:txXfrm rot="-5400000">
        <a:off x="0" y="3624464"/>
        <a:ext cx="1193500" cy="511500"/>
      </dsp:txXfrm>
    </dsp:sp>
    <dsp:sp modelId="{9A8BB0CD-A246-4EA2-B72D-88BEA47FB8C9}">
      <dsp:nvSpPr>
        <dsp:cNvPr id="0" name=""/>
        <dsp:cNvSpPr/>
      </dsp:nvSpPr>
      <dsp:spPr>
        <a:xfrm rot="5400000">
          <a:off x="3594712" y="626501"/>
          <a:ext cx="1108250" cy="5910674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B600">
              <a:hueOff val="-2235256"/>
              <a:satOff val="-23619"/>
              <a:lumOff val="-197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轉檔組預計提供資料日期：時間未定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 (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待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699 Client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環境建置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)</a:t>
          </a:r>
          <a:endParaRPr lang="zh-TW" altLang="en-US" sz="13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物料主檔毛淨重</a:t>
          </a:r>
          <a:r>
            <a:rPr lang="en-US" altLang="zh-TW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成品毛淨重</a:t>
          </a:r>
          <a:r>
            <a:rPr lang="en-US" altLang="en-US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EAN</a:t>
          </a:r>
          <a:r>
            <a:rPr lang="en-US" altLang="en-US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固定總帳餘額</a:t>
          </a:r>
          <a:r>
            <a:rPr lang="en-US" altLang="zh-TW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未結訂單</a:t>
          </a:r>
          <a:r>
            <a:rPr lang="en-US" altLang="zh-TW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未結採購單</a:t>
          </a:r>
          <a:r>
            <a:rPr lang="en-US" altLang="zh-TW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/</a:t>
          </a:r>
          <a:r>
            <a:rPr lang="zh-TW" altLang="en-US" sz="13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期末庫存</a:t>
          </a:r>
        </a:p>
      </dsp:txBody>
      <dsp:txXfrm rot="-5400000">
        <a:off x="1193500" y="3081813"/>
        <a:ext cx="5856574" cy="1000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05686-526E-EA47-AD21-0320394F441D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TW"/>
              <a:t>Click to edit Master text styles</a:t>
            </a:r>
          </a:p>
          <a:p>
            <a:pPr lvl="1"/>
            <a:r>
              <a:rPr kumimoji="1" lang="en-US" altLang="zh-TW"/>
              <a:t>Second level</a:t>
            </a:r>
          </a:p>
          <a:p>
            <a:pPr lvl="2"/>
            <a:r>
              <a:rPr kumimoji="1" lang="en-US" altLang="zh-TW"/>
              <a:t>Third level</a:t>
            </a:r>
          </a:p>
          <a:p>
            <a:pPr lvl="3"/>
            <a:r>
              <a:rPr kumimoji="1" lang="en-US" altLang="zh-TW"/>
              <a:t>Fourth level</a:t>
            </a:r>
          </a:p>
          <a:p>
            <a:pPr lvl="4"/>
            <a:r>
              <a:rPr kumimoji="1" lang="en-US" altLang="zh-TW"/>
              <a:t>Fifth level</a:t>
            </a:r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8844B-D7EC-8749-B720-E795CFF1081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148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98844B-D7EC-8749-B720-E795CFF1081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09080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98844B-D7EC-8749-B720-E795CFF10818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72541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E25844F4-1900-BFFB-A55D-854D27EE70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369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089C009-AC07-C46C-AE77-052C754A5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714"/>
            <a:ext cx="12191998" cy="6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5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BD2CC32-CECA-3D65-6472-4640E726C0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57"/>
            <a:ext cx="12192000" cy="6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8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B02BF32-51F7-DDF0-4455-62412D8BC8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13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DEDD91-F4EB-CA10-BBDE-F9F80CCA4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ED1CF9-498F-EAE2-9B18-09D116E3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7C2806-F031-F561-FEE0-987AA09D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5A19-319C-4E9C-8785-3A06C24A549B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419476-164E-ACC0-3F01-0FA3DAD0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DCAF3C-E7CB-C203-C7D3-6E7F8937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8FE92-1A1E-440D-A0EF-C73AD4F60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8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Full Content - Subtitle">
  <p:cSld name="1_Title and Full Content - Sub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442914" y="477256"/>
            <a:ext cx="11306174" cy="456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  <a:defRPr sz="2800" b="1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5473701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23"/>
          <p:cNvCxnSpPr/>
          <p:nvPr/>
        </p:nvCxnSpPr>
        <p:spPr>
          <a:xfrm>
            <a:off x="442912" y="933434"/>
            <a:ext cx="11306176" cy="0"/>
          </a:xfrm>
          <a:prstGeom prst="straightConnector1">
            <a:avLst/>
          </a:prstGeom>
          <a:noFill/>
          <a:ln w="28575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" name="Google Shape;27;p23" descr="A red and black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5607" y="408677"/>
            <a:ext cx="523481" cy="45617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3"/>
          <p:cNvSpPr txBox="1">
            <a:spLocks noGrp="1"/>
          </p:cNvSpPr>
          <p:nvPr>
            <p:ph type="subTitle" idx="1"/>
          </p:nvPr>
        </p:nvSpPr>
        <p:spPr>
          <a:xfrm>
            <a:off x="442912" y="1116314"/>
            <a:ext cx="11306176" cy="808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 b="1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23"/>
          <p:cNvSpPr txBox="1"/>
          <p:nvPr/>
        </p:nvSpPr>
        <p:spPr>
          <a:xfrm>
            <a:off x="442913" y="1924512"/>
            <a:ext cx="11306175" cy="42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72570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70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5" r:id="rId2"/>
    <p:sldLayoutId id="2147483664" r:id="rId3"/>
    <p:sldLayoutId id="2147483663" r:id="rId4"/>
    <p:sldLayoutId id="2147483666" r:id="rId5"/>
    <p:sldLayoutId id="2147483667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teams.deanshoes.com/bitrix/tools/disk/focus.php?folderId=1174144&amp;action=openFolderList&amp;ncc=1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Excel_Worksheet.xls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teams.deanshoes.com/workgroups/group/696/disk/path/%E9%9B%86%E5%9C%98SAP%E5%85%B1%E7%94%A8%E6%80%A7%E8%B3%87%E6%96%99/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s.deanshoes.com/workgroups/group/696/disk/path/%E9%9B%86%E5%9C%98SAP%E5%85%B1%E7%94%A8%E6%80%A7%E8%B3%87%E6%96%99/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teams.deanshoes.com/workgroups/group/696/disk/path/%E9%9B%86%E5%9C%98SAP%E5%85%B1%E7%94%A8%E6%80%A7%E8%B3%87%E6%96%99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teams.deanshoes.com/workgroups/group/696/disk/path/%E9%9B%86%E5%9C%98SAP%E5%85%B1%E7%94%A8%E6%80%A7%E8%B3%87%E6%96%99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teams.deanshoes.com/workgroups/group/696/disk/path/%E9%9B%86%E5%9C%98SAP%E5%85%B1%E7%94%A8%E6%80%A7%E8%B3%87%E6%96%99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F7C047B0"/><Relationship Id="rId2" Type="http://schemas.openxmlformats.org/officeDocument/2006/relationships/hyperlink" Target="https://teams.deanshoes.com/workgroups/group/696/disk/path/%E9%9B%86%E5%9C%98SAP%E5%85%B1%E7%94%A8%E6%80%A7%E8%B3%87%E6%96%99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teams.deanshoes.com/workgroups/group/696/disk/path/%E9%9B%86%E5%9C%98SAP%E5%85%B1%E7%94%A8%E6%80%A7%E8%B3%87%E6%96%99/" TargetMode="External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2C11F-192F-04D5-F818-2EF6C0368E1F}"/>
              </a:ext>
            </a:extLst>
          </p:cNvPr>
          <p:cNvSpPr txBox="1">
            <a:spLocks/>
          </p:cNvSpPr>
          <p:nvPr/>
        </p:nvSpPr>
        <p:spPr>
          <a:xfrm>
            <a:off x="562269" y="4383584"/>
            <a:ext cx="6682593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2511425" algn="l"/>
              </a:tabLst>
            </a:pPr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DC2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上傳轉檔資料填寫說明</a:t>
            </a:r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7F582E9E-3697-760D-DA26-BA2702540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69" y="3921919"/>
            <a:ext cx="6048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dirty="0">
                <a:latin typeface="微軟正黑體" panose="020B0604030504040204" pitchFamily="34" charset="-120"/>
              </a:rPr>
              <a:t>賜昌集團 </a:t>
            </a:r>
            <a:r>
              <a:rPr lang="en-US" altLang="zh-TW" dirty="0">
                <a:latin typeface="Arial Black" panose="020B0A04020102020204" pitchFamily="34" charset="0"/>
              </a:rPr>
              <a:t>SAP</a:t>
            </a:r>
            <a:r>
              <a:rPr lang="zh-TW" altLang="en-US" dirty="0">
                <a:latin typeface="Arial Black" panose="020B0A04020102020204" pitchFamily="34" charset="0"/>
              </a:rPr>
              <a:t>推進中心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9345E-AB13-0337-28A8-72F68FB71A83}"/>
              </a:ext>
            </a:extLst>
          </p:cNvPr>
          <p:cNvSpPr txBox="1"/>
          <p:nvPr/>
        </p:nvSpPr>
        <p:spPr>
          <a:xfrm>
            <a:off x="562269" y="5247184"/>
            <a:ext cx="2083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Presentation by </a:t>
            </a:r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轉檔組</a:t>
            </a:r>
            <a:endParaRPr kumimoji="1"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2026/01</a:t>
            </a:r>
            <a:endParaRPr kumimoji="1" lang="zh-TW" alt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30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553DC61-92D2-307B-3454-F128DA252076}"/>
              </a:ext>
            </a:extLst>
          </p:cNvPr>
          <p:cNvSpPr txBox="1"/>
          <p:nvPr/>
        </p:nvSpPr>
        <p:spPr>
          <a:xfrm>
            <a:off x="333374" y="219075"/>
            <a:ext cx="753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自檢系統操作說明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0FDA9BE-7EB2-A204-A35A-17D5B9EF32E4}"/>
              </a:ext>
            </a:extLst>
          </p:cNvPr>
          <p:cNvSpPr txBox="1"/>
          <p:nvPr/>
        </p:nvSpPr>
        <p:spPr>
          <a:xfrm>
            <a:off x="495299" y="922675"/>
            <a:ext cx="111918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dirty="0">
                <a:solidFill>
                  <a:srgbClr val="50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8/29</a:t>
            </a:r>
            <a:r>
              <a:rPr lang="zh-TW" altLang="en-US" sz="1400" b="0" i="0" dirty="0">
                <a:solidFill>
                  <a:srgbClr val="50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的說明簡報和</a:t>
            </a:r>
            <a:r>
              <a:rPr lang="en-US" altLang="zh-TW" sz="1400" b="0" i="0" dirty="0">
                <a:solidFill>
                  <a:srgbClr val="50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ZOOM</a:t>
            </a:r>
            <a:r>
              <a:rPr lang="zh-TW" altLang="en-US" sz="1400" b="0" i="0" dirty="0">
                <a:solidFill>
                  <a:srgbClr val="50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影片，已經放在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Project: "SAP ERP P2- DC"</a:t>
            </a:r>
            <a:r>
              <a:rPr lang="zh-TW" altLang="en-US" sz="1400" b="0" i="0" dirty="0">
                <a:solidFill>
                  <a:srgbClr val="50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群組的</a:t>
            </a:r>
            <a:r>
              <a:rPr lang="en-US" altLang="zh-TW" sz="1400" b="0" i="0" dirty="0">
                <a:solidFill>
                  <a:srgbClr val="50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DRIVE</a:t>
            </a:r>
            <a:r>
              <a:rPr lang="zh-TW" altLang="en-US" sz="1400" b="0" i="0" dirty="0">
                <a:solidFill>
                  <a:srgbClr val="50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裡，如果有想要熟悉操作方式的同仁，可以自行下載查看</a:t>
            </a:r>
            <a:endParaRPr lang="en-US" altLang="zh-TW" sz="1400" b="0" i="0" dirty="0">
              <a:solidFill>
                <a:srgbClr val="50505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rgbClr val="50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方法一：以下連結  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https://teams.deanshoes.com/bitrix/tools/disk/focus.php?folderId=1174144&amp;action=openFolderList&amp;ncc=1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</a:t>
            </a:r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方法二：參考以下圖片，找到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上的檔案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1F25784-3679-74D2-33DE-E8B42E27A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275" y="1676875"/>
            <a:ext cx="6972299" cy="175212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1E36605-A8B9-0315-2839-F05CEEE1C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737" y="3532896"/>
            <a:ext cx="8153400" cy="17907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9E9EBF68-DC5F-089F-3815-4162157F87DA}"/>
              </a:ext>
            </a:extLst>
          </p:cNvPr>
          <p:cNvSpPr txBox="1"/>
          <p:nvPr/>
        </p:nvSpPr>
        <p:spPr>
          <a:xfrm>
            <a:off x="790574" y="5427493"/>
            <a:ext cx="11191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50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http://itcloud.deanshoes.com/index.php/s/x7Sfo7eae8DmDsy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211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AA9A7-7DF0-F930-8412-E544367A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9C24DB4-AA5C-BB3C-4111-2182C87AB624}"/>
              </a:ext>
            </a:extLst>
          </p:cNvPr>
          <p:cNvSpPr txBox="1"/>
          <p:nvPr/>
        </p:nvSpPr>
        <p:spPr>
          <a:xfrm>
            <a:off x="333374" y="219075"/>
            <a:ext cx="753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依品牌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廠區資料回覆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C43702F-4DC3-363F-7C5C-6CDA0B7C3DEC}"/>
              </a:ext>
            </a:extLst>
          </p:cNvPr>
          <p:cNvSpPr txBox="1"/>
          <p:nvPr/>
        </p:nvSpPr>
        <p:spPr>
          <a:xfrm>
            <a:off x="495299" y="922675"/>
            <a:ext cx="111918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上傳資料時，需按照下載格式回填</a:t>
            </a:r>
            <a:b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情況一：單一廠區生產多品牌， 會產生多份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檔，內容只有品牌代號不同，請依資料填回，不能合併，像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FLVC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就需要回傳多份</a:t>
            </a:r>
            <a:b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情況二：多產區生產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品牌，會產生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檔，內容有多廠區的重覆資料， 請不要刪除或合併， 如會議說明，協調各廠的處理順序後傳回整併後的版本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C1ACF73-7D99-B2EB-6E22-F6A5C568F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8" y="2581672"/>
            <a:ext cx="10336705" cy="405725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19D2065-B1C0-F07A-E9EB-68E6A0B9029E}"/>
              </a:ext>
            </a:extLst>
          </p:cNvPr>
          <p:cNvSpPr txBox="1"/>
          <p:nvPr/>
        </p:nvSpPr>
        <p:spPr>
          <a:xfrm>
            <a:off x="333374" y="2273894"/>
            <a:ext cx="2990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情況一，同一廠區多個品牌</a:t>
            </a:r>
          </a:p>
        </p:txBody>
      </p:sp>
    </p:spTree>
    <p:extLst>
      <p:ext uri="{BB962C8B-B14F-4D97-AF65-F5344CB8AC3E}">
        <p14:creationId xmlns:p14="http://schemas.microsoft.com/office/powerpoint/2010/main" val="2644378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29B1F83-8DCB-6BBA-1178-731A72DF5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430857"/>
              </p:ext>
            </p:extLst>
          </p:nvPr>
        </p:nvGraphicFramePr>
        <p:xfrm>
          <a:off x="333374" y="803850"/>
          <a:ext cx="11345483" cy="55225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33298">
                  <a:extLst>
                    <a:ext uri="{9D8B030D-6E8A-4147-A177-3AD203B41FA5}">
                      <a16:colId xmlns:a16="http://schemas.microsoft.com/office/drawing/2014/main" val="2592662711"/>
                    </a:ext>
                  </a:extLst>
                </a:gridCol>
                <a:gridCol w="1804569">
                  <a:extLst>
                    <a:ext uri="{9D8B030D-6E8A-4147-A177-3AD203B41FA5}">
                      <a16:colId xmlns:a16="http://schemas.microsoft.com/office/drawing/2014/main" val="2151407787"/>
                    </a:ext>
                  </a:extLst>
                </a:gridCol>
                <a:gridCol w="158803">
                  <a:extLst>
                    <a:ext uri="{9D8B030D-6E8A-4147-A177-3AD203B41FA5}">
                      <a16:colId xmlns:a16="http://schemas.microsoft.com/office/drawing/2014/main" val="3379177467"/>
                    </a:ext>
                  </a:extLst>
                </a:gridCol>
                <a:gridCol w="1881389">
                  <a:extLst>
                    <a:ext uri="{9D8B030D-6E8A-4147-A177-3AD203B41FA5}">
                      <a16:colId xmlns:a16="http://schemas.microsoft.com/office/drawing/2014/main" val="2270347626"/>
                    </a:ext>
                  </a:extLst>
                </a:gridCol>
                <a:gridCol w="1898248">
                  <a:extLst>
                    <a:ext uri="{9D8B030D-6E8A-4147-A177-3AD203B41FA5}">
                      <a16:colId xmlns:a16="http://schemas.microsoft.com/office/drawing/2014/main" val="2049012648"/>
                    </a:ext>
                  </a:extLst>
                </a:gridCol>
                <a:gridCol w="266218">
                  <a:extLst>
                    <a:ext uri="{9D8B030D-6E8A-4147-A177-3AD203B41FA5}">
                      <a16:colId xmlns:a16="http://schemas.microsoft.com/office/drawing/2014/main" val="1456042544"/>
                    </a:ext>
                  </a:extLst>
                </a:gridCol>
                <a:gridCol w="1585731">
                  <a:extLst>
                    <a:ext uri="{9D8B030D-6E8A-4147-A177-3AD203B41FA5}">
                      <a16:colId xmlns:a16="http://schemas.microsoft.com/office/drawing/2014/main" val="2023478153"/>
                    </a:ext>
                  </a:extLst>
                </a:gridCol>
                <a:gridCol w="1817227">
                  <a:extLst>
                    <a:ext uri="{9D8B030D-6E8A-4147-A177-3AD203B41FA5}">
                      <a16:colId xmlns:a16="http://schemas.microsoft.com/office/drawing/2014/main" val="1917099943"/>
                    </a:ext>
                  </a:extLst>
                </a:gridCol>
              </a:tblGrid>
              <a:tr h="5228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品牌</a:t>
                      </a:r>
                      <a:r>
                        <a:rPr lang="en-US" altLang="zh-TW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廠區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ERP </a:t>
                      </a: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廠別代碼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品牌</a:t>
                      </a:r>
                      <a:r>
                        <a:rPr lang="en-US" altLang="zh-TW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廠區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ERP </a:t>
                      </a: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廠別代碼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品牌</a:t>
                      </a:r>
                      <a:r>
                        <a:rPr lang="en-US" altLang="zh-TW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廠區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ERP </a:t>
                      </a: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廠別代碼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26086997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A1-F008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121-FVEL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F1-F031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334-FTN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O1-F016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209-FVO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03279726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A1-F017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201-FVA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F1-F038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308-FTNK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O1-F055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211-FIO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6508385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A1-F050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210-FIA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H2-F071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128-FVEH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O1-F063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216-FIO2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92698285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A2-F029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123-FTLA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L1-F008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121-FVEL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P1-F017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201-FVA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95547107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A3-F060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125-FVWA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M1-F003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119-FVLC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P2-F032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325-FTI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1289050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A3-F061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126-FVWAS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M2-F035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321-FTIL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P2-F033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320-FTI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27944458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A3-F065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127-FIWA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N1-F052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903-FILR-CR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R1-F008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121-FVEL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78826618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A5-F003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119-FVLC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N1-F057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214-FIN1(NB)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T1-F003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119-FVLC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66689764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B1-F051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316-FIB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N1-F072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215-FIN2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T2-F003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119-FVLC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54962210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C1-F023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327-FVI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N2-F001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110-FVL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T3-F071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128-FVEH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68905390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C1-F032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325-FTI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N2-F002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111-FVLS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U1-F053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318-FIU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40009485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C1-F033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320-FTI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N2-F025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101-FTL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U2-F071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128-FVEH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23946038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C1-F052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317-FIC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N2-F026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103-FTLS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YY-F007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122-FVES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1423330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C1-F062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326-FTI(HB)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N2-F027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102-FTLD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YY-F056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319-FIS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74135020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D2-F036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332-FTIL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N2-F030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107-FTXS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15375258"/>
                  </a:ext>
                </a:extLst>
              </a:tr>
              <a:tr h="312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D3-F017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213-FVA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N2-F058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104-FTLDS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4206995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547DD0E7-DB62-8AC9-63BF-B4A6EFB0BAE4}"/>
              </a:ext>
            </a:extLst>
          </p:cNvPr>
          <p:cNvSpPr txBox="1"/>
          <p:nvPr/>
        </p:nvSpPr>
        <p:spPr>
          <a:xfrm>
            <a:off x="333374" y="219075"/>
            <a:ext cx="753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DC2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品牌清單</a:t>
            </a:r>
          </a:p>
        </p:txBody>
      </p:sp>
    </p:spTree>
    <p:extLst>
      <p:ext uri="{BB962C8B-B14F-4D97-AF65-F5344CB8AC3E}">
        <p14:creationId xmlns:p14="http://schemas.microsoft.com/office/powerpoint/2010/main" val="356870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6B653-5927-4F45-F1A6-FEDE0B9FF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C6B290F-0D53-3586-D69A-2832939D6533}"/>
              </a:ext>
            </a:extLst>
          </p:cNvPr>
          <p:cNvSpPr txBox="1"/>
          <p:nvPr/>
        </p:nvSpPr>
        <p:spPr>
          <a:xfrm>
            <a:off x="333374" y="219075"/>
            <a:ext cx="753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DC2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資料範圍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A88BEEC-DAD9-6B2D-0F8B-0F6FD640C289}"/>
              </a:ext>
            </a:extLst>
          </p:cNvPr>
          <p:cNvSpPr txBox="1"/>
          <p:nvPr/>
        </p:nvSpPr>
        <p:spPr>
          <a:xfrm>
            <a:off x="495299" y="922675"/>
            <a:ext cx="111918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訂單接單日期：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2024/1/1~2025/9/30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底廠接鞋廠訂單則依鞋廠底半品，底廠集團外訂單才判斷接單日期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依訂單主檔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客戶別區分品牌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單一廠區接多品牌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C5A8CF1-5736-B4B5-FD27-9800C16FB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391" y="1472052"/>
            <a:ext cx="6913760" cy="203913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348A2A3-4A58-C820-1064-3711D994E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391" y="3618616"/>
            <a:ext cx="6580384" cy="182645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D1EED00-2D27-CB5C-F53E-CBBD7D716278}"/>
              </a:ext>
            </a:extLst>
          </p:cNvPr>
          <p:cNvSpPr txBox="1"/>
          <p:nvPr/>
        </p:nvSpPr>
        <p:spPr>
          <a:xfrm>
            <a:off x="714376" y="2387940"/>
            <a:ext cx="7238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鞋廠：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235DB7A-A0F9-DE94-D483-99F0E0AB778F}"/>
              </a:ext>
            </a:extLst>
          </p:cNvPr>
          <p:cNvSpPr txBox="1"/>
          <p:nvPr/>
        </p:nvSpPr>
        <p:spPr>
          <a:xfrm>
            <a:off x="581024" y="4254845"/>
            <a:ext cx="7238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射出廠：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CCB24853-12DC-97AD-F6AA-172CB244B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391" y="5445072"/>
            <a:ext cx="9199168" cy="134225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66F13ABF-F037-E623-AFF0-017F9D7C3B70}"/>
              </a:ext>
            </a:extLst>
          </p:cNvPr>
          <p:cNvSpPr txBox="1"/>
          <p:nvPr/>
        </p:nvSpPr>
        <p:spPr>
          <a:xfrm>
            <a:off x="0" y="5658326"/>
            <a:ext cx="13620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底廠集團外訂單：</a:t>
            </a:r>
          </a:p>
        </p:txBody>
      </p:sp>
    </p:spTree>
    <p:extLst>
      <p:ext uri="{BB962C8B-B14F-4D97-AF65-F5344CB8AC3E}">
        <p14:creationId xmlns:p14="http://schemas.microsoft.com/office/powerpoint/2010/main" val="4042957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103E7-0267-6AD1-0A45-E6AE6CA0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數字, 行 的圖片&#10;&#10;AI 產生的內容可能不正確。">
            <a:extLst>
              <a:ext uri="{FF2B5EF4-FFF2-40B4-BE49-F238E27FC236}">
                <a16:creationId xmlns:a16="http://schemas.microsoft.com/office/drawing/2014/main" id="{65D70F3C-69D1-C586-CFC2-725B9B9DC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4161"/>
            <a:ext cx="12192000" cy="329226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6FD5F51-787A-75D3-0FEA-A131AC736CAE}"/>
              </a:ext>
            </a:extLst>
          </p:cNvPr>
          <p:cNvSpPr txBox="1"/>
          <p:nvPr/>
        </p:nvSpPr>
        <p:spPr>
          <a:xfrm>
            <a:off x="333372" y="219075"/>
            <a:ext cx="10829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半成品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1/20(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28B9652-3969-56C2-2BE5-D5E0D368B1DD}"/>
              </a:ext>
            </a:extLst>
          </p:cNvPr>
          <p:cNvSpPr txBox="1"/>
          <p:nvPr/>
        </p:nvSpPr>
        <p:spPr>
          <a:xfrm>
            <a:off x="495299" y="922675"/>
            <a:ext cx="11353801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資料檢查重點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型號資料是否完整且正確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目前是 型號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楦寬，如需自行調整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料號，請在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欄填寫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部份廠區的型號資料後面會加後綴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-FI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-FIA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-FIO)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，是否需要移除合併，請回覆在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 startAt="3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欄如資料需異動，此在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異動中文品名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)&amp;I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異動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長文內容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，填入異動資料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 startAt="3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請確認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欄組態類別是否正確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</a:p>
          <a:p>
            <a:pPr marL="800100" lvl="1" indent="-342900">
              <a:buAutoNum type="arabicPeriod" startAt="3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有標註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參考用勿修改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資料欄位，請勿調整此欄位資料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 startAt="3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欄物料類型為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ZF01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ZF02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J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欄產品階層為必填欄位，請依照附件對照表填寫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</a:t>
            </a:r>
          </a:p>
          <a:p>
            <a:pPr marL="342900" indent="-342900">
              <a:buFontTx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如有特別的編碼規則，請在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欄上填寫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br>
              <a:rPr lang="zh-TW" altLang="en-US" dirty="0"/>
            </a:br>
            <a:br>
              <a:rPr lang="zh-TW" altLang="en-US" dirty="0"/>
            </a:b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br>
              <a:rPr lang="zh-TW" altLang="en-US" dirty="0"/>
            </a:b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BF52F8D-EF5D-174C-EE63-7E39D91FD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962698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862EB394-095F-A0A8-2231-97B78BDAE505}"/>
              </a:ext>
            </a:extLst>
          </p:cNvPr>
          <p:cNvSpPr txBox="1"/>
          <p:nvPr/>
        </p:nvSpPr>
        <p:spPr>
          <a:xfrm>
            <a:off x="0" y="6393297"/>
            <a:ext cx="1266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342900" indent="-342900">
              <a:buAutoNum type="arabicPeriod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dirty="0"/>
              <a:t>轉檔資料範圍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A111B343-6CAE-CB89-ACE5-4A104E0D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583" y="5327449"/>
            <a:ext cx="7639050" cy="1449306"/>
          </a:xfrm>
          <a:prstGeom prst="rect">
            <a:avLst/>
          </a:prstGeom>
        </p:spPr>
      </p:pic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A4534CA2-B1F9-0210-CC81-9C6600B166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236991"/>
              </p:ext>
            </p:extLst>
          </p:nvPr>
        </p:nvGraphicFramePr>
        <p:xfrm>
          <a:off x="7993626" y="2094518"/>
          <a:ext cx="9144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14330" imgH="769594" progId="Excel.Sheet.12">
                  <p:embed/>
                </p:oleObj>
              </mc:Choice>
              <mc:Fallback>
                <p:oleObj name="Worksheet" showAsIcon="1" r:id="rId4" imgW="914330" imgH="76959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93626" y="2094518"/>
                        <a:ext cx="914400" cy="76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9281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B0AE0-13AA-6FF3-DF76-43BA8B15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6FA65B4-C60C-CD9E-31A0-00B7B9EC84F7}"/>
              </a:ext>
            </a:extLst>
          </p:cNvPr>
          <p:cNvSpPr txBox="1"/>
          <p:nvPr/>
        </p:nvSpPr>
        <p:spPr>
          <a:xfrm>
            <a:off x="333373" y="219075"/>
            <a:ext cx="11220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首投製程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預計完成第一次上傳日期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1/16(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65054B6-8B4B-6E80-D042-95E1352CD3DD}"/>
              </a:ext>
            </a:extLst>
          </p:cNvPr>
          <p:cNvSpPr txBox="1"/>
          <p:nvPr/>
        </p:nvSpPr>
        <p:spPr>
          <a:xfrm>
            <a:off x="495299" y="922675"/>
            <a:ext cx="1183957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---------------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以下是「材料中類代碼清單」的說明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~G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欄，資料不可異動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KU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 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原料的負責人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底廠不需提供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不需要下載對照資料，只要各品牌確認哪些中類可以整併即可，可用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特性說明欄位排序，整併重覆的資料</a:t>
            </a:r>
            <a:endParaRPr lang="en-US" altLang="zh-TW" sz="1400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請按照下載格式回填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4.1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同廠區生產多品牌， 會產生多份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檔，內容只有品牌代號不同，請依資料填回</a:t>
            </a:r>
            <a:b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4.2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多廠區生產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品牌，會產生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檔，內容有多廠區的重覆資料， 請不要刪除或合併， 依資料填回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667DDD-06A0-0936-997D-68D2E00BC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1938"/>
            <a:ext cx="12192000" cy="5056650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1AC3C48-3713-8736-5A6B-563ED1CCD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514332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pic>
        <p:nvPicPr>
          <p:cNvPr id="11" name="圖片 10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CE6FB2B0-2E93-00B7-6E0F-1290DEA55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660" y="3429000"/>
            <a:ext cx="12143409" cy="420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93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53943-FD8B-0046-251D-619BC0F9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587D43C-2D2F-3711-7754-5596AB66B332}"/>
              </a:ext>
            </a:extLst>
          </p:cNvPr>
          <p:cNvSpPr txBox="1"/>
          <p:nvPr/>
        </p:nvSpPr>
        <p:spPr>
          <a:xfrm>
            <a:off x="333373" y="219075"/>
            <a:ext cx="11220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材料中類代碼清單 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預計完成第一次上傳日期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1/16(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9EF86DA-044A-D718-BBD8-F92600E41F56}"/>
              </a:ext>
            </a:extLst>
          </p:cNvPr>
          <p:cNvSpPr txBox="1"/>
          <p:nvPr/>
        </p:nvSpPr>
        <p:spPr>
          <a:xfrm>
            <a:off x="495299" y="922675"/>
            <a:ext cx="1183957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---------------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以下是「材料中類代碼清單」的說明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~G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欄，資料不可異動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KU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 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原料的負責人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底廠不需提供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不需要下載對照資料，只要各品牌確認哪些中類可以整併即可，可用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特性說明欄位排序，整併重覆的資料</a:t>
            </a:r>
            <a:endParaRPr lang="en-US" altLang="zh-TW" sz="1400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請按照下載格式回填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4.1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同廠區生產多品牌， 會產生多份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檔，內容只有品牌代號不同，請依資料填回</a:t>
            </a:r>
            <a:b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4.2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多廠區生產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品牌，會產生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檔，內容有多廠區的重覆資料， 請不要刪除或合併， 依資料填回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6314CCC-5E8C-F42A-3D7C-5B60DE6F2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1938"/>
            <a:ext cx="12192000" cy="5056650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0BF7F71-EEC2-BC72-7AA9-99F78402D3F9}"/>
              </a:ext>
            </a:extLst>
          </p:cNvPr>
          <p:cNvGraphicFramePr>
            <a:graphicFrameLocks noGrp="1"/>
          </p:cNvGraphicFramePr>
          <p:nvPr/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pic>
        <p:nvPicPr>
          <p:cNvPr id="11" name="圖片 10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60791514-2683-381F-DE7A-C4B32A4A2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660" y="3429000"/>
            <a:ext cx="12143409" cy="420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07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541F2-4DCC-533B-D765-5CD7E7C10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520EAEF-42D5-CDD9-F691-F2F35C74F989}"/>
              </a:ext>
            </a:extLst>
          </p:cNvPr>
          <p:cNvSpPr txBox="1"/>
          <p:nvPr/>
        </p:nvSpPr>
        <p:spPr>
          <a:xfrm>
            <a:off x="333373" y="219075"/>
            <a:ext cx="11220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材料中類代碼清單 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預計完成第一次上傳日期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1/16(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366F29A-729A-9869-76E9-1F270C37E2BF}"/>
              </a:ext>
            </a:extLst>
          </p:cNvPr>
          <p:cNvSpPr txBox="1"/>
          <p:nvPr/>
        </p:nvSpPr>
        <p:spPr>
          <a:xfrm>
            <a:off x="495299" y="922675"/>
            <a:ext cx="1183957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中類編碼為空或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欄對應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欄流水號為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，代表這些資料都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階段新增，資料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欄需調整為正確的資料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如上列所示，如果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中類編碼不為空，這些資料則是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 DC1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時已有整理過，需再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Review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檢查資料是否正確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請各廠在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1/16(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完成第一次上傳檔案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欄可以填上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已建立中類代碼，如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欄有值，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欄則填寫本身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欄值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如前幾次整測時，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欄對應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欄流水號填錯，可將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欄清空，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欄改成正確的即可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 startAt="5"/>
            </a:pP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 startAt="5"/>
            </a:pP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75E772F-4F62-232D-51B7-64B2CCCA08AE}"/>
              </a:ext>
            </a:extLst>
          </p:cNvPr>
          <p:cNvGraphicFramePr>
            <a:graphicFrameLocks noGrp="1"/>
          </p:cNvGraphicFramePr>
          <p:nvPr/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pic>
        <p:nvPicPr>
          <p:cNvPr id="7" name="圖片 6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4EAC7412-FF21-FFB3-89C7-9953C82C5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" y="2523113"/>
            <a:ext cx="119824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48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ABEE8-2EDC-AB93-0F11-3CD41379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6FE8C0D-8FAE-885D-5B6F-E978A6AB387A}"/>
              </a:ext>
            </a:extLst>
          </p:cNvPr>
          <p:cNvSpPr txBox="1"/>
          <p:nvPr/>
        </p:nvSpPr>
        <p:spPr>
          <a:xfrm>
            <a:off x="333373" y="219075"/>
            <a:ext cx="12001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001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類別及特性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Library-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1/23(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91366A9-13B6-6AA0-8BCF-6940415B422A}"/>
              </a:ext>
            </a:extLst>
          </p:cNvPr>
          <p:cNvSpPr txBox="1"/>
          <p:nvPr/>
        </p:nvSpPr>
        <p:spPr>
          <a:xfrm>
            <a:off x="495299" y="922675"/>
            <a:ext cx="113538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---------------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以下是「物料主檔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材料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特性值清單」的說明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</a:t>
            </a:r>
            <a:b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KU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–001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類別及特性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Library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的負責人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只有鞋廠需要，底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射出廠待底半品料號確定後再進行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b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前面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A~K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欄都是舊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資料供各位參考，不需要修改不用回填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</a:p>
          <a:p>
            <a:pPr marL="180975" indent="-180975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可用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欄名稱排序確認哪些特性質重覆，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欄品牌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+F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欄特性類別代碼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+L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欄特性說明必須是唯一值不能重覆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參考下圖顏色標記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，各廠多筆重覆的特性資料要合併成同一筆的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改填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欄的流水號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表示要以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欄指定的資料，取代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C+D+H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欄的資料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 Phase1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已上線品牌在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欄會顯示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目前的特性碼， 表示該列資料應該予以保留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欄會有預設值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，才會與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廠區一致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請各廠在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1/16(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完成第一次上傳檔案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E619A5D-1AEB-6672-4174-2F04409D50A0}"/>
              </a:ext>
            </a:extLst>
          </p:cNvPr>
          <p:cNvGraphicFramePr>
            <a:graphicFrameLocks noGrp="1"/>
          </p:cNvGraphicFramePr>
          <p:nvPr/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pic>
        <p:nvPicPr>
          <p:cNvPr id="12" name="圖片 11">
            <a:extLst>
              <a:ext uri="{FF2B5EF4-FFF2-40B4-BE49-F238E27FC236}">
                <a16:creationId xmlns:a16="http://schemas.microsoft.com/office/drawing/2014/main" id="{91384C8D-95B7-42D1-8CA0-2650537D7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2525"/>
            <a:ext cx="12192000" cy="393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28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資料庫圖表 1">
            <a:extLst>
              <a:ext uri="{FF2B5EF4-FFF2-40B4-BE49-F238E27FC236}">
                <a16:creationId xmlns:a16="http://schemas.microsoft.com/office/drawing/2014/main" id="{43E4C218-33C3-2084-C24F-AEFD35A66A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7809776"/>
              </p:ext>
            </p:extLst>
          </p:nvPr>
        </p:nvGraphicFramePr>
        <p:xfrm>
          <a:off x="1362074" y="2397317"/>
          <a:ext cx="5092699" cy="3395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F7BCD6BA-0A80-B25A-A422-FE6C067045AC}"/>
              </a:ext>
            </a:extLst>
          </p:cNvPr>
          <p:cNvSpPr txBox="1"/>
          <p:nvPr/>
        </p:nvSpPr>
        <p:spPr>
          <a:xfrm>
            <a:off x="333373" y="219075"/>
            <a:ext cx="12001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已上線品牌物料主檔作法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F4D2069-C80E-A451-4B8A-FBA8AF13F428}"/>
              </a:ext>
            </a:extLst>
          </p:cNvPr>
          <p:cNvSpPr txBox="1"/>
          <p:nvPr/>
        </p:nvSpPr>
        <p:spPr>
          <a:xfrm>
            <a:off x="495299" y="922675"/>
            <a:ext cx="113538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上線品牌包含：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5.11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BROOKS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CROCS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NB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、化工、統購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 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廠區上線後持續使用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DeGen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但無對應舊系統料號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 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同品牌廠區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廠區相同， 故需請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廠區協助提供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888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料號， 才不會重覆建立料號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C4928EDF-CD8A-A5A4-2A5C-847904789742}"/>
              </a:ext>
            </a:extLst>
          </p:cNvPr>
          <p:cNvSpPr/>
          <p:nvPr/>
        </p:nvSpPr>
        <p:spPr>
          <a:xfrm>
            <a:off x="7505700" y="2744688"/>
            <a:ext cx="2038350" cy="800100"/>
          </a:xfrm>
          <a:prstGeom prst="wedgeRoundRectCallout">
            <a:avLst>
              <a:gd name="adj1" fmla="val -101549"/>
              <a:gd name="adj2" fmla="val -17262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2456" tIns="92456" rIns="92456" bIns="92456" numCol="1" spcCol="1270" anchor="ctr" anchorCtr="0">
            <a:no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轉檔組可以帶出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1A4E9CF9-190E-5F28-3805-A0A514AD932F}"/>
              </a:ext>
            </a:extLst>
          </p:cNvPr>
          <p:cNvSpPr/>
          <p:nvPr/>
        </p:nvSpPr>
        <p:spPr>
          <a:xfrm>
            <a:off x="7505700" y="4094883"/>
            <a:ext cx="2038350" cy="800100"/>
          </a:xfrm>
          <a:prstGeom prst="wedgeRoundRectCallout">
            <a:avLst>
              <a:gd name="adj1" fmla="val -101549"/>
              <a:gd name="adj2" fmla="val -17262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2456" tIns="92456" rIns="92456" bIns="92456" numCol="1" spcCol="1270" anchor="ctr" anchorCtr="0">
            <a:no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需請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廠區協助對應料號</a:t>
            </a:r>
          </a:p>
        </p:txBody>
      </p:sp>
    </p:spTree>
    <p:extLst>
      <p:ext uri="{BB962C8B-B14F-4D97-AF65-F5344CB8AC3E}">
        <p14:creationId xmlns:p14="http://schemas.microsoft.com/office/powerpoint/2010/main" val="2204120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F810-D33E-D1CC-E902-8EA6F2893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679F359-53D3-0779-8287-FDD8A642A56B}"/>
              </a:ext>
            </a:extLst>
          </p:cNvPr>
          <p:cNvSpPr txBox="1"/>
          <p:nvPr/>
        </p:nvSpPr>
        <p:spPr>
          <a:xfrm>
            <a:off x="333373" y="219075"/>
            <a:ext cx="1021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底半品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1/16(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0C0C73-25FA-4E40-C7DE-901BB8E933B6}"/>
              </a:ext>
            </a:extLst>
          </p:cNvPr>
          <p:cNvSpPr txBox="1"/>
          <p:nvPr/>
        </p:nvSpPr>
        <p:spPr>
          <a:xfrm>
            <a:off x="495299" y="922675"/>
            <a:ext cx="1135380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請以品牌為單位整合底半品資料，需請提供底料的集團廠協同提供資料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~AN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欄資料為參考用資料，請勿修改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AO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~AS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欄：標註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編碼原則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的欄位，資料不可重複，系統會依這些欄位建立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欄：依特性名稱組合的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顏色名稱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，內容必須為唯一，轉檔程式轉入時會轉成四碼流水號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AZ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欄：向右方表格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廠區採購底半品者，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必需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填寫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“888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欄：向右方表格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廠區加工底半品者，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必需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填寫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888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射出廠才需填寫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buFontTx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向底廠採購底半品者，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~AY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欄標記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底廠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PK]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的欄位為必填欄位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“-”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的欄位，代表是其他廠別的參考資料，請直接忽略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只要有填寫</a:t>
            </a:r>
            <a:r>
              <a:rPr lang="en-US" altLang="zh-TW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888</a:t>
            </a:r>
            <a:r>
              <a:rPr lang="zh-TW" altLang="en-US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料號的資料，都以正式料號為主，</a:t>
            </a:r>
            <a:r>
              <a:rPr lang="en-US" altLang="zh-TW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AV</a:t>
            </a:r>
            <a:r>
              <a:rPr lang="zh-TW" altLang="en-US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~AY</a:t>
            </a:r>
            <a:r>
              <a:rPr lang="zh-TW" altLang="en-US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欄標記</a:t>
            </a:r>
            <a:r>
              <a:rPr lang="en-US" altLang="zh-TW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底廠</a:t>
            </a:r>
            <a:r>
              <a:rPr lang="en-US" altLang="zh-TW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PK]</a:t>
            </a:r>
            <a:r>
              <a:rPr lang="zh-TW" altLang="en-US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的欄位一樣必填，其他必填欄位可以填</a:t>
            </a:r>
            <a:r>
              <a:rPr lang="en-US" altLang="zh-TW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solidFill>
                  <a:schemeClr val="accent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就好，系統會忽略這些欄位資料</a:t>
            </a:r>
            <a:endParaRPr lang="en-US" altLang="zh-TW" sz="1400" dirty="0">
              <a:solidFill>
                <a:schemeClr val="accent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NIKE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品牌：成品大底噴漆移印，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AO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“A”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，設定為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單位為必填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參考文件：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於自檢系統依品牌下載：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888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環境已建立的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“05-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顏色流水號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射出廠於自檢系統依品牌下載：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04-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射出廠部位對照檔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\drive\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集團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共用性資料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 0.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編碼原則及其大類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(Phase2)xx.xlsx</a:t>
            </a:r>
          </a:p>
          <a:p>
            <a:pPr marL="800100" lvl="1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\drive \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集團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共用性資料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底半品廠區窗口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.xlsx</a:t>
            </a:r>
          </a:p>
          <a:p>
            <a:pPr marL="800100" lvl="1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br>
              <a:rPr lang="zh-TW" altLang="en-US" dirty="0"/>
            </a:b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27621B7-87C6-D6B8-9849-03243310F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523685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EE358929-4870-C036-CE1A-E1CC4CE9D29C}"/>
              </a:ext>
            </a:extLst>
          </p:cNvPr>
          <p:cNvSpPr txBox="1"/>
          <p:nvPr/>
        </p:nvSpPr>
        <p:spPr>
          <a:xfrm>
            <a:off x="0" y="5829469"/>
            <a:ext cx="1266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342900" indent="-342900">
              <a:buAutoNum type="arabicPeriod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dirty="0"/>
              <a:t>轉檔資料範圍</a:t>
            </a:r>
            <a:r>
              <a:rPr lang="en-US" altLang="zh-TW" dirty="0"/>
              <a:t>: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BDE6B87-6DB2-8934-00C0-C27106243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687281"/>
              </p:ext>
            </p:extLst>
          </p:nvPr>
        </p:nvGraphicFramePr>
        <p:xfrm>
          <a:off x="8839201" y="982088"/>
          <a:ext cx="2857500" cy="1047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807">
                  <a:extLst>
                    <a:ext uri="{9D8B030D-6E8A-4147-A177-3AD203B41FA5}">
                      <a16:colId xmlns:a16="http://schemas.microsoft.com/office/drawing/2014/main" val="947268866"/>
                    </a:ext>
                  </a:extLst>
                </a:gridCol>
                <a:gridCol w="1016915">
                  <a:extLst>
                    <a:ext uri="{9D8B030D-6E8A-4147-A177-3AD203B41FA5}">
                      <a16:colId xmlns:a16="http://schemas.microsoft.com/office/drawing/2014/main" val="257534925"/>
                    </a:ext>
                  </a:extLst>
                </a:gridCol>
                <a:gridCol w="1089778">
                  <a:extLst>
                    <a:ext uri="{9D8B030D-6E8A-4147-A177-3AD203B41FA5}">
                      <a16:colId xmlns:a16="http://schemas.microsoft.com/office/drawing/2014/main" val="349065704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舊廠區代號</a:t>
                      </a:r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新廠區代號</a:t>
                      </a:r>
                      <a:endParaRPr lang="zh-TW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SAP</a:t>
                      </a:r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工廠代碼</a:t>
                      </a:r>
                      <a:endParaRPr lang="zh-TW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429075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FVI-II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FVLF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83822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FVBS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FVFVS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09464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FVNS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FVFVS-NB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43226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FVOS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FVFVS-ON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F059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6831257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855712BF-893A-DFCB-BC77-A297D0222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693" y="4995155"/>
            <a:ext cx="9625012" cy="114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18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951D8C8-0B61-85A7-B032-4B385B78A0A8}"/>
              </a:ext>
            </a:extLst>
          </p:cNvPr>
          <p:cNvSpPr/>
          <p:nvPr/>
        </p:nvSpPr>
        <p:spPr>
          <a:xfrm>
            <a:off x="1128713" y="2272724"/>
            <a:ext cx="1104900" cy="29527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2456" tIns="92456" rIns="92456" bIns="92456" numCol="1" spcCol="1270" anchor="ctr" anchorCtr="0">
            <a:no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FG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293227-9270-2493-3359-09EE9D0B4CBD}"/>
              </a:ext>
            </a:extLst>
          </p:cNvPr>
          <p:cNvSpPr/>
          <p:nvPr/>
        </p:nvSpPr>
        <p:spPr>
          <a:xfrm>
            <a:off x="223838" y="2882324"/>
            <a:ext cx="1009650" cy="2952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2456" tIns="92456" rIns="92456" bIns="92456" numCol="1" spcCol="1270" anchor="ctr" anchorCtr="0">
            <a:no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HU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鞋面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0ABF0C-FA0B-1225-DDDD-4C5965CC8F4F}"/>
              </a:ext>
            </a:extLst>
          </p:cNvPr>
          <p:cNvSpPr/>
          <p:nvPr/>
        </p:nvSpPr>
        <p:spPr>
          <a:xfrm>
            <a:off x="2138363" y="2882323"/>
            <a:ext cx="1009650" cy="2952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2456" tIns="92456" rIns="92456" bIns="92456" numCol="1" spcCol="1270" anchor="ctr" anchorCtr="0">
            <a:no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HB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組底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F6CEF8AF-5A8F-0ACE-72AA-3BF6EE448C8A}"/>
              </a:ext>
            </a:extLst>
          </p:cNvPr>
          <p:cNvGrpSpPr/>
          <p:nvPr/>
        </p:nvGrpSpPr>
        <p:grpSpPr>
          <a:xfrm>
            <a:off x="1766887" y="3332141"/>
            <a:ext cx="3476626" cy="826533"/>
            <a:chOff x="3038474" y="2878692"/>
            <a:chExt cx="3476626" cy="8265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A6EEAD-2A4A-41DE-AD50-B253A35565A6}"/>
                </a:ext>
              </a:extLst>
            </p:cNvPr>
            <p:cNvSpPr/>
            <p:nvPr/>
          </p:nvSpPr>
          <p:spPr>
            <a:xfrm>
              <a:off x="3038474" y="2905125"/>
              <a:ext cx="3476626" cy="800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4145F86-51DF-21A2-275C-ECC64BE2033F}"/>
                </a:ext>
              </a:extLst>
            </p:cNvPr>
            <p:cNvSpPr/>
            <p:nvPr/>
          </p:nvSpPr>
          <p:spPr>
            <a:xfrm>
              <a:off x="3133725" y="3248025"/>
              <a:ext cx="1009650" cy="2952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HO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大底</a:t>
              </a: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CA3581BF-822F-B9B3-A67D-E365FABBD4E3}"/>
                </a:ext>
              </a:extLst>
            </p:cNvPr>
            <p:cNvSpPr txBox="1"/>
            <p:nvPr/>
          </p:nvSpPr>
          <p:spPr>
            <a:xfrm>
              <a:off x="4114799" y="2878692"/>
              <a:ext cx="1357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集團內購買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A431890-1B4F-1C11-59F8-906ACB223B68}"/>
                </a:ext>
              </a:extLst>
            </p:cNvPr>
            <p:cNvSpPr/>
            <p:nvPr/>
          </p:nvSpPr>
          <p:spPr>
            <a:xfrm>
              <a:off x="4248149" y="3248024"/>
              <a:ext cx="1066799" cy="2952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HM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中底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86D0412-CC0C-5A73-56F0-C3153A176E13}"/>
                </a:ext>
              </a:extLst>
            </p:cNvPr>
            <p:cNvSpPr/>
            <p:nvPr/>
          </p:nvSpPr>
          <p:spPr>
            <a:xfrm>
              <a:off x="5391149" y="3248024"/>
              <a:ext cx="1009650" cy="2952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HV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EVA</a:t>
              </a:r>
              <a:endPara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809210D3-955C-BBA3-0AC9-34F308AD1027}"/>
              </a:ext>
            </a:extLst>
          </p:cNvPr>
          <p:cNvGrpSpPr/>
          <p:nvPr/>
        </p:nvGrpSpPr>
        <p:grpSpPr>
          <a:xfrm>
            <a:off x="1785937" y="4396799"/>
            <a:ext cx="3476626" cy="800100"/>
            <a:chOff x="3038474" y="2905125"/>
            <a:chExt cx="3476626" cy="8001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2F15A20-089E-9781-052B-22036639FDD4}"/>
                </a:ext>
              </a:extLst>
            </p:cNvPr>
            <p:cNvSpPr/>
            <p:nvPr/>
          </p:nvSpPr>
          <p:spPr>
            <a:xfrm>
              <a:off x="3038474" y="2905125"/>
              <a:ext cx="3476626" cy="800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C97FEC4-0851-B3C9-2692-01229BC8EA53}"/>
                </a:ext>
              </a:extLst>
            </p:cNvPr>
            <p:cNvSpPr/>
            <p:nvPr/>
          </p:nvSpPr>
          <p:spPr>
            <a:xfrm>
              <a:off x="3133725" y="3248025"/>
              <a:ext cx="1009650" cy="2952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RS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大底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11BC1D1-7AF7-D1CA-5160-5015F89291EB}"/>
                </a:ext>
              </a:extLst>
            </p:cNvPr>
            <p:cNvSpPr/>
            <p:nvPr/>
          </p:nvSpPr>
          <p:spPr>
            <a:xfrm>
              <a:off x="4248149" y="3248024"/>
              <a:ext cx="1066799" cy="2952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RS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中底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CDC5F3D-1992-309E-AE4A-52A84B2B7B26}"/>
                </a:ext>
              </a:extLst>
            </p:cNvPr>
            <p:cNvSpPr/>
            <p:nvPr/>
          </p:nvSpPr>
          <p:spPr>
            <a:xfrm>
              <a:off x="5391149" y="3248024"/>
              <a:ext cx="1009650" cy="2952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RS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EVA</a:t>
              </a:r>
              <a:endPara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EE9769E-41E8-F8BC-34D3-EFCE14CD41E1}"/>
              </a:ext>
            </a:extLst>
          </p:cNvPr>
          <p:cNvSpPr txBox="1"/>
          <p:nvPr/>
        </p:nvSpPr>
        <p:spPr>
          <a:xfrm>
            <a:off x="2871788" y="4396799"/>
            <a:ext cx="1357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集團外購買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0B3331A-F85A-5DD0-5477-286B0E8BF7C3}"/>
              </a:ext>
            </a:extLst>
          </p:cNvPr>
          <p:cNvSpPr txBox="1"/>
          <p:nvPr/>
        </p:nvSpPr>
        <p:spPr>
          <a:xfrm>
            <a:off x="1478756" y="1011792"/>
            <a:ext cx="1804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鞋廠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下單底半成品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1D78CC2-868C-1E15-D47B-B703D09C8F99}"/>
              </a:ext>
            </a:extLst>
          </p:cNvPr>
          <p:cNvSpPr txBox="1"/>
          <p:nvPr/>
        </p:nvSpPr>
        <p:spPr>
          <a:xfrm>
            <a:off x="7127081" y="1011791"/>
            <a:ext cx="1804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射出廠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接單底半成品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E3D7166A-BF4E-2667-B0EA-A26278F13729}"/>
              </a:ext>
            </a:extLst>
          </p:cNvPr>
          <p:cNvGrpSpPr/>
          <p:nvPr/>
        </p:nvGrpSpPr>
        <p:grpSpPr>
          <a:xfrm>
            <a:off x="6291262" y="1867434"/>
            <a:ext cx="3476626" cy="826533"/>
            <a:chOff x="3038474" y="2878692"/>
            <a:chExt cx="3476626" cy="8265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1A74D02-D0E6-1E11-015E-5274DA74C0B8}"/>
                </a:ext>
              </a:extLst>
            </p:cNvPr>
            <p:cNvSpPr/>
            <p:nvPr/>
          </p:nvSpPr>
          <p:spPr>
            <a:xfrm>
              <a:off x="3038474" y="2905125"/>
              <a:ext cx="3476626" cy="800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040DBC1-E1C6-53A6-6872-E630E1035683}"/>
                </a:ext>
              </a:extLst>
            </p:cNvPr>
            <p:cNvSpPr/>
            <p:nvPr/>
          </p:nvSpPr>
          <p:spPr>
            <a:xfrm>
              <a:off x="3133725" y="3248025"/>
              <a:ext cx="1009650" cy="2952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HO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大底</a:t>
              </a: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65EE22F5-270E-89B9-5F27-248AA0027C0E}"/>
                </a:ext>
              </a:extLst>
            </p:cNvPr>
            <p:cNvSpPr txBox="1"/>
            <p:nvPr/>
          </p:nvSpPr>
          <p:spPr>
            <a:xfrm>
              <a:off x="4114799" y="2878692"/>
              <a:ext cx="1357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集團內訂單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BACF43B-5984-3522-936E-06FD6E263808}"/>
                </a:ext>
              </a:extLst>
            </p:cNvPr>
            <p:cNvSpPr/>
            <p:nvPr/>
          </p:nvSpPr>
          <p:spPr>
            <a:xfrm>
              <a:off x="4248149" y="3248024"/>
              <a:ext cx="1066799" cy="2952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HM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中底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373ADF2-2078-41F1-F737-EF077BB29B96}"/>
                </a:ext>
              </a:extLst>
            </p:cNvPr>
            <p:cNvSpPr/>
            <p:nvPr/>
          </p:nvSpPr>
          <p:spPr>
            <a:xfrm>
              <a:off x="5391149" y="3248024"/>
              <a:ext cx="1009650" cy="2952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HV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EVA</a:t>
              </a:r>
              <a:endPara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EBEAA14-0333-CE4F-7847-F47C0C4B2FA9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 flipV="1">
            <a:off x="5243513" y="2293917"/>
            <a:ext cx="1047749" cy="146470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3AB6F76F-D5C8-A1E1-F4B0-ACEEEFA1FD6F}"/>
              </a:ext>
            </a:extLst>
          </p:cNvPr>
          <p:cNvGrpSpPr/>
          <p:nvPr/>
        </p:nvGrpSpPr>
        <p:grpSpPr>
          <a:xfrm>
            <a:off x="6291262" y="2858031"/>
            <a:ext cx="3476626" cy="826533"/>
            <a:chOff x="3038474" y="2878692"/>
            <a:chExt cx="3476626" cy="82653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EF00E56-7B96-853D-C337-C00490ED4226}"/>
                </a:ext>
              </a:extLst>
            </p:cNvPr>
            <p:cNvSpPr/>
            <p:nvPr/>
          </p:nvSpPr>
          <p:spPr>
            <a:xfrm>
              <a:off x="3038474" y="2905125"/>
              <a:ext cx="3476626" cy="800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A47C6AD-928E-E745-E677-BC12B6AE7CD7}"/>
                </a:ext>
              </a:extLst>
            </p:cNvPr>
            <p:cNvSpPr/>
            <p:nvPr/>
          </p:nvSpPr>
          <p:spPr>
            <a:xfrm>
              <a:off x="3133725" y="3248025"/>
              <a:ext cx="1009650" cy="2952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HO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大底</a:t>
              </a: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BC418C3F-F1D6-7A17-D61E-E777813063FE}"/>
                </a:ext>
              </a:extLst>
            </p:cNvPr>
            <p:cNvSpPr txBox="1"/>
            <p:nvPr/>
          </p:nvSpPr>
          <p:spPr>
            <a:xfrm>
              <a:off x="4114799" y="2878692"/>
              <a:ext cx="1357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集團外訂單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3AB4F32A-D832-CDF9-DF2B-3E3EAE457763}"/>
                </a:ext>
              </a:extLst>
            </p:cNvPr>
            <p:cNvSpPr/>
            <p:nvPr/>
          </p:nvSpPr>
          <p:spPr>
            <a:xfrm>
              <a:off x="4248149" y="3248024"/>
              <a:ext cx="1066799" cy="2952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HM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中底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0E92E3A-5CCD-AA8A-C2DE-E59C3CAD3635}"/>
                </a:ext>
              </a:extLst>
            </p:cNvPr>
            <p:cNvSpPr/>
            <p:nvPr/>
          </p:nvSpPr>
          <p:spPr>
            <a:xfrm>
              <a:off x="5391149" y="3248024"/>
              <a:ext cx="1009650" cy="2952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92456" numCol="1" spcCol="1270" anchor="ctr" anchorCtr="0">
              <a:noAutofit/>
            </a:bodyPr>
            <a:lstStyle/>
            <a:p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HV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EVA</a:t>
              </a:r>
              <a:endPara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5" name="圖說文字: 直線加上強調線 44">
            <a:extLst>
              <a:ext uri="{FF2B5EF4-FFF2-40B4-BE49-F238E27FC236}">
                <a16:creationId xmlns:a16="http://schemas.microsoft.com/office/drawing/2014/main" id="{F0B3E2D2-7100-9400-25BA-91D0CABA57F2}"/>
              </a:ext>
            </a:extLst>
          </p:cNvPr>
          <p:cNvSpPr/>
          <p:nvPr/>
        </p:nvSpPr>
        <p:spPr>
          <a:xfrm>
            <a:off x="10244136" y="1867434"/>
            <a:ext cx="1947864" cy="990597"/>
          </a:xfrm>
          <a:prstGeom prst="accentCallout1">
            <a:avLst>
              <a:gd name="adj1" fmla="val 18750"/>
              <a:gd name="adj2" fmla="val -8333"/>
              <a:gd name="adj3" fmla="val 38096"/>
              <a:gd name="adj4" fmla="val -25090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1.P1:SAP</a:t>
            </a:r>
            <a:r>
              <a:rPr lang="zh-TW" altLang="en-US" dirty="0"/>
              <a:t>料號</a:t>
            </a:r>
            <a:endParaRPr lang="en-US" altLang="zh-TW" dirty="0"/>
          </a:p>
          <a:p>
            <a:r>
              <a:rPr lang="en-US" altLang="zh-TW" dirty="0"/>
              <a:t>2.P2:</a:t>
            </a:r>
            <a:r>
              <a:rPr lang="zh-TW" altLang="en-US" dirty="0"/>
              <a:t>底廠</a:t>
            </a:r>
            <a:r>
              <a:rPr lang="en-US" altLang="zh-TW" dirty="0"/>
              <a:t>PK</a:t>
            </a:r>
          </a:p>
          <a:p>
            <a:r>
              <a:rPr lang="en-US" altLang="zh-TW" dirty="0"/>
              <a:t>3.P2:</a:t>
            </a:r>
            <a:r>
              <a:rPr lang="zh-TW" altLang="en-US" dirty="0"/>
              <a:t>射出廠</a:t>
            </a:r>
            <a:r>
              <a:rPr lang="en-US" altLang="zh-TW" dirty="0"/>
              <a:t>(</a:t>
            </a:r>
            <a:r>
              <a:rPr lang="zh-TW" altLang="en-US" dirty="0"/>
              <a:t>免填</a:t>
            </a:r>
            <a:r>
              <a:rPr lang="en-US" altLang="zh-TW" dirty="0"/>
              <a:t>)</a:t>
            </a:r>
          </a:p>
        </p:txBody>
      </p: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DADF7036-8B71-C3AB-D8BE-4D39C7E5C42B}"/>
              </a:ext>
            </a:extLst>
          </p:cNvPr>
          <p:cNvCxnSpPr>
            <a:stCxn id="2" idx="2"/>
            <a:endCxn id="5" idx="0"/>
          </p:cNvCxnSpPr>
          <p:nvPr/>
        </p:nvCxnSpPr>
        <p:spPr>
          <a:xfrm rot="16200000" flipH="1">
            <a:off x="2005013" y="2244148"/>
            <a:ext cx="314324" cy="962025"/>
          </a:xfrm>
          <a:prstGeom prst="bentConnector3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接點: 肘形 49">
            <a:extLst>
              <a:ext uri="{FF2B5EF4-FFF2-40B4-BE49-F238E27FC236}">
                <a16:creationId xmlns:a16="http://schemas.microsoft.com/office/drawing/2014/main" id="{BE6DFA05-D3C3-7F3F-D45D-DC5C01F0097E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rot="5400000">
            <a:off x="1047751" y="2248911"/>
            <a:ext cx="314325" cy="952500"/>
          </a:xfrm>
          <a:prstGeom prst="bentConnector3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B674D733-C11C-E81D-4E62-B967DEA17ACD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3005257" y="2815528"/>
            <a:ext cx="154543" cy="87868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接點: 肘形 55">
            <a:extLst>
              <a:ext uri="{FF2B5EF4-FFF2-40B4-BE49-F238E27FC236}">
                <a16:creationId xmlns:a16="http://schemas.microsoft.com/office/drawing/2014/main" id="{B4C2AD1E-42DB-A7DB-23BA-F2194A23B6D6}"/>
              </a:ext>
            </a:extLst>
          </p:cNvPr>
          <p:cNvCxnSpPr>
            <a:cxnSpLocks/>
            <a:stCxn id="5" idx="2"/>
            <a:endCxn id="13" idx="1"/>
          </p:cNvCxnSpPr>
          <p:nvPr/>
        </p:nvCxnSpPr>
        <p:spPr>
          <a:xfrm rot="5400000">
            <a:off x="1404938" y="3558598"/>
            <a:ext cx="1619251" cy="857251"/>
          </a:xfrm>
          <a:prstGeom prst="bentConnector4">
            <a:avLst>
              <a:gd name="adj1" fmla="val 5294"/>
              <a:gd name="adj2" fmla="val 126667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2C6A940A-E3D8-8661-C7CE-4925BB27BE7F}"/>
              </a:ext>
            </a:extLst>
          </p:cNvPr>
          <p:cNvSpPr txBox="1"/>
          <p:nvPr/>
        </p:nvSpPr>
        <p:spPr>
          <a:xfrm>
            <a:off x="333373" y="219075"/>
            <a:ext cx="1021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底半品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補充說明廠區關係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FADA862F-487C-B51B-9DF5-73759681CBAA}"/>
              </a:ext>
            </a:extLst>
          </p:cNvPr>
          <p:cNvSpPr txBox="1"/>
          <p:nvPr/>
        </p:nvSpPr>
        <p:spPr>
          <a:xfrm>
            <a:off x="1233488" y="5522772"/>
            <a:ext cx="1021080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鞋廠：先填寫「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888 SAP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料號」或模具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顏色流水號產生新的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若有：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料號為空白，且供應商為底廠的資料， 則將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發給接單的底廠填回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PK</a:t>
            </a:r>
          </a:p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待各底廠回覆資料後，鞋廠整併完做資料上傳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底廠窗口：參考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DRIVE\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集團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共用性資料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底半品廠區窗口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.xlsx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5371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E250180-201B-2ACC-B68F-437F01F1B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1780544"/>
            <a:ext cx="12192000" cy="18008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73A5AF7-EBA4-2CD8-2E05-651D4654AD9E}"/>
              </a:ext>
            </a:extLst>
          </p:cNvPr>
          <p:cNvSpPr txBox="1"/>
          <p:nvPr/>
        </p:nvSpPr>
        <p:spPr>
          <a:xfrm>
            <a:off x="333373" y="219075"/>
            <a:ext cx="1021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底半品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補充說明底廠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PK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0F83332-ABCB-C4B3-5C86-5177C7C36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334124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49632AD9-CA52-A35F-5F49-C997D10D7012}"/>
              </a:ext>
            </a:extLst>
          </p:cNvPr>
          <p:cNvSpPr txBox="1"/>
          <p:nvPr/>
        </p:nvSpPr>
        <p:spPr>
          <a:xfrm>
            <a:off x="495299" y="922675"/>
            <a:ext cx="11353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底廠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依供應廠商欄位，填入相應的集團底廠訂單基本資料上的四個欄位值，如下對應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1" name="圖片 10" descr="一張含有 文字, 字型, 數字, 行 的圖片&#10;&#10;AI 產生的內容可能不正確。">
            <a:extLst>
              <a:ext uri="{FF2B5EF4-FFF2-40B4-BE49-F238E27FC236}">
                <a16:creationId xmlns:a16="http://schemas.microsoft.com/office/drawing/2014/main" id="{7EDE2693-29B0-709C-E7F3-DADBE38F2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4" y="3717208"/>
            <a:ext cx="10840067" cy="296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01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6CBD3-923B-3B46-8811-71F29A750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BBEEB421-67AB-F2FD-FAF5-149EC4AA2BC6}"/>
              </a:ext>
            </a:extLst>
          </p:cNvPr>
          <p:cNvSpPr txBox="1"/>
          <p:nvPr/>
        </p:nvSpPr>
        <p:spPr>
          <a:xfrm>
            <a:off x="333373" y="219075"/>
            <a:ext cx="1021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底半品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補充說明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新增底半品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7D803F8-3BAD-83FE-F234-B5B53AA9E76D}"/>
              </a:ext>
            </a:extLst>
          </p:cNvPr>
          <p:cNvGraphicFramePr>
            <a:graphicFrameLocks noGrp="1"/>
          </p:cNvGraphicFramePr>
          <p:nvPr/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7CF37802-CE4B-55D3-FC14-4F49138DABEA}"/>
              </a:ext>
            </a:extLst>
          </p:cNvPr>
          <p:cNvSpPr txBox="1"/>
          <p:nvPr/>
        </p:nvSpPr>
        <p:spPr>
          <a:xfrm>
            <a:off x="495299" y="922675"/>
            <a:ext cx="1135380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鞋廠的單一料號對應到底廠多個顏色編號的情況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複製該筆資料，例如下圖的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欄序號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656,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共對應到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筆底廠顏色編號，就再複製一筆一模一樣的資料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28650" indent="-628650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 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欄自行編碼，從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開始編列，整份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檔案的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欄序號不能重覆；請注意只有新增的資料需編碼，要留一筆是本來的序號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像是序號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656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693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被不能移除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 AV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欄的底廠顏色編號修正為一筆正確的底廠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PK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1B52553-8EE4-0F7A-F290-71BD66867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7833"/>
            <a:ext cx="12192000" cy="224241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4CB9C1A-8FD0-C912-1FF4-E052DB973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87432"/>
            <a:ext cx="12192000" cy="195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77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B0F74-2B8E-F79E-0A9B-88760B6E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C992C68D-247E-8894-9BE3-DA1791440B99}"/>
              </a:ext>
            </a:extLst>
          </p:cNvPr>
          <p:cNvSpPr txBox="1"/>
          <p:nvPr/>
        </p:nvSpPr>
        <p:spPr>
          <a:xfrm>
            <a:off x="333373" y="219075"/>
            <a:ext cx="1021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底半品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補充說明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EVA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片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89DF9-A312-471C-1CF5-181C723F8B24}"/>
              </a:ext>
            </a:extLst>
          </p:cNvPr>
          <p:cNvGraphicFramePr>
            <a:graphicFrameLocks noGrp="1"/>
          </p:cNvGraphicFramePr>
          <p:nvPr/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6826E279-0E2C-5D5A-9788-BFFA3CD18B15}"/>
              </a:ext>
            </a:extLst>
          </p:cNvPr>
          <p:cNvSpPr txBox="1"/>
          <p:nvPr/>
        </p:nvSpPr>
        <p:spPr>
          <a:xfrm>
            <a:off x="588319" y="1093936"/>
            <a:ext cx="10413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EVA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片會用大小來當模具編號，規格碼則是厚度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030=3MM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035=3.5MM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040=4MM…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類推，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可參考以下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化工廠目前有建過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EVA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片料號的資料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41FBA28-3134-A076-A372-D3FBAAE82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086184"/>
              </p:ext>
            </p:extLst>
          </p:nvPr>
        </p:nvGraphicFramePr>
        <p:xfrm>
          <a:off x="408054" y="3830922"/>
          <a:ext cx="458597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180">
                  <a:extLst>
                    <a:ext uri="{9D8B030D-6E8A-4147-A177-3AD203B41FA5}">
                      <a16:colId xmlns:a16="http://schemas.microsoft.com/office/drawing/2014/main" val="1254224097"/>
                    </a:ext>
                  </a:extLst>
                </a:gridCol>
                <a:gridCol w="810260">
                  <a:extLst>
                    <a:ext uri="{9D8B030D-6E8A-4147-A177-3AD203B41FA5}">
                      <a16:colId xmlns:a16="http://schemas.microsoft.com/office/drawing/2014/main" val="3383953568"/>
                    </a:ext>
                  </a:extLst>
                </a:gridCol>
                <a:gridCol w="2970530">
                  <a:extLst>
                    <a:ext uri="{9D8B030D-6E8A-4147-A177-3AD203B41FA5}">
                      <a16:colId xmlns:a16="http://schemas.microsoft.com/office/drawing/2014/main" val="3447139158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>
                          <a:effectLst/>
                        </a:rPr>
                        <a:t>模具編號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dirty="0">
                          <a:effectLst/>
                        </a:rPr>
                        <a:t>規格碼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dirty="0">
                          <a:effectLst/>
                        </a:rPr>
                        <a:t>參考名稱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811685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110X180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030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3MM (52C) 110*180CM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081394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110X180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040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4MM (52+/-3C ASKER C) 110*180CM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46897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110X220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030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3.0MM(50+/-3C) 110*220CM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776386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110X220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040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4MM 110CM*220CM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951755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220X110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020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2MM(42+/-3 C) 220CM*110CM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986533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INCH-44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020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2MM (25C-30C) 44"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00243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INCH-44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030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3MM (35+/-3 C) 44"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090877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INCH-44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035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3.5MM+/-0.5MM (20-25 C) 44"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88809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INCH-44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040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4MM (42 ASKER C) 44"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121376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INCH-44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045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4.5MM (35+/-3 C) 44"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980728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INCH-44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050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5MM (20-25 C) 44"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709507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INCH-44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060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6MM (35+/-3 C) 44"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60472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INCH-54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020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2MM (35+/-3 C) 54"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53102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INCH-54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040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4MM (35+/-3 C) 54"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9963253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C7F9D548-E04A-7F72-20F6-06310987E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3650" y="24304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25B1AA9C-B6A5-9C17-E4C8-CD6A0F58A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54" y="1710144"/>
            <a:ext cx="7802091" cy="202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19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A73A5AF7-EBA4-2CD8-2E05-651D4654AD9E}"/>
              </a:ext>
            </a:extLst>
          </p:cNvPr>
          <p:cNvSpPr txBox="1"/>
          <p:nvPr/>
        </p:nvSpPr>
        <p:spPr>
          <a:xfrm>
            <a:off x="333373" y="219075"/>
            <a:ext cx="1021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底半品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補充說明顏色流水號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0F83332-ABCB-C4B3-5C86-5177C7C36C7C}"/>
              </a:ext>
            </a:extLst>
          </p:cNvPr>
          <p:cNvGraphicFramePr>
            <a:graphicFrameLocks noGrp="1"/>
          </p:cNvGraphicFramePr>
          <p:nvPr/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49632AD9-CA52-A35F-5F49-C997D10D7012}"/>
              </a:ext>
            </a:extLst>
          </p:cNvPr>
          <p:cNvSpPr txBox="1"/>
          <p:nvPr/>
        </p:nvSpPr>
        <p:spPr>
          <a:xfrm>
            <a:off x="495299" y="752343"/>
            <a:ext cx="113538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依特性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名稱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組合成唯一顏色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預設顏色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主材料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貼合組成唯一碼，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各品牌可視形況自行決定增刪組合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當作範例，將顏色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主材料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貼合組合串成顏色流水號，如下圖所示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顏色流水號請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填入特性的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名稱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組合，勿填入代號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顏色流水號檔案是已建立的顏色，僅作參考，無須上傳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603" y="3846040"/>
            <a:ext cx="9819048" cy="289523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" y="1807870"/>
            <a:ext cx="12192000" cy="193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44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AE26E-9E48-C28D-1C1A-7D2A9401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E617226-E271-7889-F75D-7BC53E820140}"/>
              </a:ext>
            </a:extLst>
          </p:cNvPr>
          <p:cNvSpPr txBox="1"/>
          <p:nvPr/>
        </p:nvSpPr>
        <p:spPr>
          <a:xfrm>
            <a:off x="333373" y="219075"/>
            <a:ext cx="1021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原料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鞋廠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1/19(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D0B654C-75D0-00CD-AF59-66C1EE34A370}"/>
              </a:ext>
            </a:extLst>
          </p:cNvPr>
          <p:cNvSpPr txBox="1"/>
          <p:nvPr/>
        </p:nvSpPr>
        <p:spPr>
          <a:xfrm>
            <a:off x="495299" y="922675"/>
            <a:ext cx="113538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請以品牌為單位整合材料基本資料，若有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已上線品牌需請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 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廠區協同提供資料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物料類型預設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類材料是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ZR02,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ZR01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，所以如果有調整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大類，請自行修正物料類型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可以是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ZR02, ZR04)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欄：若有向其他鞋廠採購鞋面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組底的情況，物料類型為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ZH02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ZH03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者，則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AM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欄型號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+AN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欄楦寬為必填，才能對應回半品料號</a:t>
            </a:r>
            <a:endParaRPr lang="en-US" altLang="zh-TW" sz="1400" dirty="0">
              <a:solidFill>
                <a:schemeClr val="accent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大類：代入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Round1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大類的預設值，若部份材料不屬於預設的大類，請調整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請注意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定義的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D/E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不同：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 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廠內有設備可以自行加工，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 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廠外加工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單位：代入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Round1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單位的預設值，如果有空格表示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Round1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的材料單位設定有漏，請重新上傳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888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Phaes1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上線前轉檔的料號會自動帶出； 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上線後用</a:t>
            </a:r>
            <a:r>
              <a:rPr lang="en-US" altLang="zh-TW" sz="14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DeGen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建立的料號請使用者補上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避免重覆建立料號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料號重覆的部份，請合併料號，於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AJ+AK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欄填上希望合併的對象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5DBC464-4421-3BB8-BCCD-9681A6DE0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416329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9959C9E-1BE1-22D7-8A0E-303139FE4DDA}"/>
              </a:ext>
            </a:extLst>
          </p:cNvPr>
          <p:cNvSpPr txBox="1"/>
          <p:nvPr/>
        </p:nvSpPr>
        <p:spPr>
          <a:xfrm>
            <a:off x="0" y="6393297"/>
            <a:ext cx="1266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342900" indent="-342900">
              <a:buAutoNum type="arabicPeriod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dirty="0"/>
              <a:t>轉檔資料範圍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29C032E-CF4F-4D5D-005D-73681A7C0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30" y="5913419"/>
            <a:ext cx="7188995" cy="94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79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74976-FC48-E271-9211-67BF9DB0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0DAB6EC-999E-8222-F130-5BEDE37C3A48}"/>
              </a:ext>
            </a:extLst>
          </p:cNvPr>
          <p:cNvSpPr txBox="1"/>
          <p:nvPr/>
        </p:nvSpPr>
        <p:spPr>
          <a:xfrm>
            <a:off x="333373" y="219075"/>
            <a:ext cx="1021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原料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射出廠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1/19(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389B266-64DA-1713-6571-4A80D2263BF0}"/>
              </a:ext>
            </a:extLst>
          </p:cNvPr>
          <p:cNvSpPr txBox="1"/>
          <p:nvPr/>
        </p:nvSpPr>
        <p:spPr>
          <a:xfrm>
            <a:off x="495299" y="922675"/>
            <a:ext cx="1135380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請以品牌為單位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和統購小組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整合材料基本資料，若有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已上線品牌需請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 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廠區協同提供資料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若為「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保留」且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料號為空白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~AC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欄必填，表示需建立新料號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統購料，則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888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料號必填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需麻煩統購小組補上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稀釋色料，則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欄稀釋色料料號必填且必須為唯一值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參考下表編碼方式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欄：若為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刪除，則後面欄位免填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需注意若誤刪除則後續的轉檔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、配方、未結採購單會少料號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欄：若為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新增，則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欄從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r>
              <a:rPr lang="zh-TW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開始流水號編號不能重覆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 R</a:t>
            </a:r>
            <a:r>
              <a:rPr lang="zh-TW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欄：只有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筆設定為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</a:t>
            </a:r>
            <a:r>
              <a:rPr lang="zh-TW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，其他新增的資料都設定為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A), AC</a:t>
            </a:r>
            <a:r>
              <a:rPr lang="zh-TW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=A</a:t>
            </a:r>
            <a:r>
              <a:rPr lang="zh-TW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endParaRPr lang="en-US" altLang="zh-TW" sz="1400" dirty="0">
              <a:solidFill>
                <a:schemeClr val="accent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888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Phaes1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上線前轉檔的料號會自動帶出； 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上線後用</a:t>
            </a:r>
            <a:r>
              <a:rPr lang="en-US" altLang="zh-TW" sz="14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DeGen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建立的料號請使用者補上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避免重覆建立料號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大類：代入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Round1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大類的預設值，若部份材料不屬於預設的大類，請調整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請注意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定義的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D/E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不同：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 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廠內有設備可以自行加工，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 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廠外加工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中類：代入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Round1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中類的預設值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欄：料號重覆的部份，請合併料號，填上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欄的序號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DCF332D-7A5D-77A7-27E9-956B03FF6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584371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E641FB61-63BE-DC55-3914-9FEEDB7885AE}"/>
              </a:ext>
            </a:extLst>
          </p:cNvPr>
          <p:cNvSpPr txBox="1"/>
          <p:nvPr/>
        </p:nvSpPr>
        <p:spPr>
          <a:xfrm>
            <a:off x="0" y="6393297"/>
            <a:ext cx="1266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342900" indent="-342900">
              <a:buAutoNum type="arabicPeriod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dirty="0"/>
              <a:t>轉檔資料範圍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51DD46-2F59-4E23-55FC-6C75921A4D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761"/>
          <a:stretch>
            <a:fillRect/>
          </a:stretch>
        </p:blipFill>
        <p:spPr>
          <a:xfrm>
            <a:off x="1416844" y="5935325"/>
            <a:ext cx="9358312" cy="86433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914C791-BB9D-D593-FC97-3208219EA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8977"/>
            <a:ext cx="12192000" cy="246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47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178F-FA84-4854-2857-63E3E3F3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631EFCB-E2FD-D8CF-29A5-EB8C3196AEB2}"/>
              </a:ext>
            </a:extLst>
          </p:cNvPr>
          <p:cNvSpPr txBox="1"/>
          <p:nvPr/>
        </p:nvSpPr>
        <p:spPr>
          <a:xfrm>
            <a:off x="333373" y="219075"/>
            <a:ext cx="1021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原料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底廠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1/19(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D138FB8-8F63-084C-DC71-411FAFEE2B13}"/>
              </a:ext>
            </a:extLst>
          </p:cNvPr>
          <p:cNvSpPr txBox="1"/>
          <p:nvPr/>
        </p:nvSpPr>
        <p:spPr>
          <a:xfrm>
            <a:off x="495299" y="922675"/>
            <a:ext cx="113538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請以品牌為單位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和統購小組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整合材料基本資料，若有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已上線品牌需請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 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廠區協同提供資料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單位：代入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Round1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單位的預設值，如果有空格表示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Round1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的材料單位設定有漏，請重新上傳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保留且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料號為空白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~AA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欄必填，表示需建立新料號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統購料，則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888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料號必填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需麻煩統購小組補上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E:EVA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表示不需要建立新料號，其餘欄位不需填寫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稀釋色料，則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欄稀釋色料料號必填且必須為唯一值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參考下表編碼方式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欄：若為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刪除，則後面欄位免填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需注意若誤刪除則後續的轉檔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、配方、未結採購單會少料號</a:t>
            </a:r>
            <a:r>
              <a:rPr lang="en-US" altLang="zh-TW" sz="14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888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Phaes1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上線前轉檔的料號會自動帶出； 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上線後用</a:t>
            </a:r>
            <a:r>
              <a:rPr lang="en-US" altLang="zh-TW" sz="14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DeGen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建立的料號請使用者補上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避免重覆建立料號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大類： 請參考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\drive\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集團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共用性資料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 0.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編碼原則及其大類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(Phase2)xx.xlsx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的「原料大類」頁籤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欄：料號重覆的部份，請合併料號，填上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欄的序號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AE93EAA-A60A-A001-B2A3-A22119492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44311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9D2529CC-A341-1BB9-B5F5-8667C7A30D75}"/>
              </a:ext>
            </a:extLst>
          </p:cNvPr>
          <p:cNvSpPr txBox="1"/>
          <p:nvPr/>
        </p:nvSpPr>
        <p:spPr>
          <a:xfrm>
            <a:off x="0" y="6393297"/>
            <a:ext cx="1266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342900" indent="-342900">
              <a:buAutoNum type="arabicPeriod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dirty="0"/>
              <a:t>轉檔資料範圍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9D77945-9DC6-81AE-B611-4FF4C2A827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761"/>
          <a:stretch>
            <a:fillRect/>
          </a:stretch>
        </p:blipFill>
        <p:spPr>
          <a:xfrm>
            <a:off x="1416844" y="5973425"/>
            <a:ext cx="9358312" cy="86433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6C8E977-F578-165B-0E93-B10C69871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95" y="3118377"/>
            <a:ext cx="11009897" cy="284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53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39C6-4176-3E62-0B57-F89CC8D57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394DC99-5A09-4929-D76A-C8770C52AF48}"/>
              </a:ext>
            </a:extLst>
          </p:cNvPr>
          <p:cNvSpPr txBox="1"/>
          <p:nvPr/>
        </p:nvSpPr>
        <p:spPr>
          <a:xfrm>
            <a:off x="333373" y="219075"/>
            <a:ext cx="1021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配方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1/19(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4C570D6-9A27-0CDC-BB1E-231596414839}"/>
              </a:ext>
            </a:extLst>
          </p:cNvPr>
          <p:cNvSpPr txBox="1"/>
          <p:nvPr/>
        </p:nvSpPr>
        <p:spPr>
          <a:xfrm>
            <a:off x="495299" y="922675"/>
            <a:ext cx="11353801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請以品牌為單位整合配方基本資料，若有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已上線品牌需請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 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廠區協同提供資料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~AB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欄：標註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編碼原則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的欄位，資料不可重複，系統會依這些欄位建立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888 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Phaes1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上線前轉檔的料號會自動帶出； 上線後用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DeGen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建立的料號請使用者補上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避免重覆建立料號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“-”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的欄位，代表是其他廠別的參考資料，請直接忽略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參考文件：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於自檢系統下載：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配方種類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檔案，或參考右方表格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底廠於自檢系統依品牌下載：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“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基本配方明細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膠底配方明細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-PU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配方明細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，底廠原本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個檔案合併成同個檔案，可以用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檔案類別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進行過濾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\drive\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集團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共用性資料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 0.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編碼原則及其大類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(Phase2)xx.xlsx</a:t>
            </a:r>
          </a:p>
          <a:p>
            <a:pPr marL="800100" lvl="1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br>
              <a:rPr lang="zh-TW" altLang="en-US" dirty="0"/>
            </a:br>
            <a:br>
              <a:rPr lang="zh-TW" altLang="en-US" dirty="0"/>
            </a:b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br>
              <a:rPr lang="zh-TW" altLang="en-US" dirty="0"/>
            </a:b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C38755B-DF07-84B6-F4C1-A76DFEDB5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955022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E8976726-8A7B-2EE6-0125-BC4AE2A451D3}"/>
              </a:ext>
            </a:extLst>
          </p:cNvPr>
          <p:cNvSpPr txBox="1"/>
          <p:nvPr/>
        </p:nvSpPr>
        <p:spPr>
          <a:xfrm>
            <a:off x="0" y="6393297"/>
            <a:ext cx="1266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342900" indent="-342900">
              <a:buAutoNum type="arabicPeriod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dirty="0"/>
              <a:t>轉檔資料範圍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051C3E5-BECE-3877-053B-66909DF4C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25" y="5990831"/>
            <a:ext cx="10448925" cy="804931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2837C6C-8CE2-0CBF-4884-BC3B1C4B5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123605"/>
              </p:ext>
            </p:extLst>
          </p:nvPr>
        </p:nvGraphicFramePr>
        <p:xfrm>
          <a:off x="8756647" y="2525138"/>
          <a:ext cx="2844802" cy="1546860"/>
        </p:xfrm>
        <a:graphic>
          <a:graphicData uri="http://schemas.openxmlformats.org/drawingml/2006/table">
            <a:tbl>
              <a:tblPr/>
              <a:tblGrid>
                <a:gridCol w="838550">
                  <a:extLst>
                    <a:ext uri="{9D8B030D-6E8A-4147-A177-3AD203B41FA5}">
                      <a16:colId xmlns:a16="http://schemas.microsoft.com/office/drawing/2014/main" val="1165002805"/>
                    </a:ext>
                  </a:extLst>
                </a:gridCol>
                <a:gridCol w="2006252">
                  <a:extLst>
                    <a:ext uri="{9D8B030D-6E8A-4147-A177-3AD203B41FA5}">
                      <a16:colId xmlns:a16="http://schemas.microsoft.com/office/drawing/2014/main" val="3379576814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配方種類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描述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7599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16925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中底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包含鞋墊等相關產品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7336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鞋墊類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08824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稀釋色膠類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1825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噴漆類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7239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PU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鞋墊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749135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7AFC1789-E39D-2E8D-E26D-9D91B1777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48" y="3766482"/>
            <a:ext cx="3632545" cy="1875115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92C2677E-177C-235A-808A-8F69619623F8}"/>
              </a:ext>
            </a:extLst>
          </p:cNvPr>
          <p:cNvSpPr txBox="1"/>
          <p:nvPr/>
        </p:nvSpPr>
        <p:spPr>
          <a:xfrm>
            <a:off x="1266825" y="3488018"/>
            <a:ext cx="1266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342900" indent="-342900">
              <a:buAutoNum type="arabicPeriod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dirty="0"/>
              <a:t>射出廠</a:t>
            </a:r>
            <a:r>
              <a:rPr lang="en-US" altLang="zh-TW" dirty="0"/>
              <a:t>:</a:t>
            </a:r>
            <a:endParaRPr lang="zh-TW" alt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EA7FEE1-BC03-0A70-0279-420E09C25550}"/>
              </a:ext>
            </a:extLst>
          </p:cNvPr>
          <p:cNvGrpSpPr/>
          <p:nvPr/>
        </p:nvGrpSpPr>
        <p:grpSpPr>
          <a:xfrm>
            <a:off x="5218493" y="3594240"/>
            <a:ext cx="3344482" cy="2219597"/>
            <a:chOff x="5218493" y="3594240"/>
            <a:chExt cx="3344482" cy="221959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5DB54DD2-BBC5-205A-EB1E-CE940C40A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18493" y="3594240"/>
              <a:ext cx="2898011" cy="2219597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2AB0DC53-4A49-42E8-D8F0-E4166AE2F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80442" y="4131930"/>
              <a:ext cx="3282533" cy="1533699"/>
            </a:xfrm>
            <a:prstGeom prst="rect">
              <a:avLst/>
            </a:prstGeom>
          </p:spPr>
        </p:pic>
      </p:grp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A4C961E-AA21-784A-B0BE-17BA36470766}"/>
              </a:ext>
            </a:extLst>
          </p:cNvPr>
          <p:cNvSpPr txBox="1"/>
          <p:nvPr/>
        </p:nvSpPr>
        <p:spPr>
          <a:xfrm>
            <a:off x="5224462" y="3479623"/>
            <a:ext cx="1266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342900" indent="-342900">
              <a:buAutoNum type="arabicPeriod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dirty="0"/>
              <a:t>底廠</a:t>
            </a:r>
            <a:r>
              <a:rPr lang="en-US" altLang="zh-TW" dirty="0"/>
              <a:t>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2251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0A684016-61FA-1FFA-5748-89B2768158A1}"/>
              </a:ext>
            </a:extLst>
          </p:cNvPr>
          <p:cNvSpPr txBox="1"/>
          <p:nvPr/>
        </p:nvSpPr>
        <p:spPr>
          <a:xfrm>
            <a:off x="333373" y="219075"/>
            <a:ext cx="11363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固定資產主檔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主資產缺必填 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1/23(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CDF1FD79-DF66-2AA8-915B-8EA8D3294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1797"/>
            <a:ext cx="12192000" cy="2192694"/>
          </a:xfrm>
          <a:prstGeom prst="rect">
            <a:avLst/>
          </a:prstGeom>
        </p:spPr>
      </p:pic>
      <p:grpSp>
        <p:nvGrpSpPr>
          <p:cNvPr id="21" name="群組 20">
            <a:extLst>
              <a:ext uri="{FF2B5EF4-FFF2-40B4-BE49-F238E27FC236}">
                <a16:creationId xmlns:a16="http://schemas.microsoft.com/office/drawing/2014/main" id="{BBA2CD7E-6A55-FB57-8B2F-D844ACE7BBF8}"/>
              </a:ext>
            </a:extLst>
          </p:cNvPr>
          <p:cNvGrpSpPr/>
          <p:nvPr/>
        </p:nvGrpSpPr>
        <p:grpSpPr>
          <a:xfrm>
            <a:off x="198840" y="3109697"/>
            <a:ext cx="10345335" cy="3754747"/>
            <a:chOff x="-90616" y="2940393"/>
            <a:chExt cx="12282616" cy="4457866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BD71E82D-AAE0-A17F-8E17-93E1B14C7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0616" y="2940393"/>
              <a:ext cx="12282616" cy="4457866"/>
            </a:xfrm>
            <a:prstGeom prst="rect">
              <a:avLst/>
            </a:prstGeom>
          </p:spPr>
        </p:pic>
        <p:sp>
          <p:nvSpPr>
            <p:cNvPr id="13" name="語音泡泡: 圓角矩形 12">
              <a:extLst>
                <a:ext uri="{FF2B5EF4-FFF2-40B4-BE49-F238E27FC236}">
                  <a16:creationId xmlns:a16="http://schemas.microsoft.com/office/drawing/2014/main" id="{BB74B097-3F0A-ADAA-8946-74DA6267A4BB}"/>
                </a:ext>
              </a:extLst>
            </p:cNvPr>
            <p:cNvSpPr/>
            <p:nvPr/>
          </p:nvSpPr>
          <p:spPr>
            <a:xfrm>
              <a:off x="4263081" y="3979884"/>
              <a:ext cx="716692" cy="566233"/>
            </a:xfrm>
            <a:prstGeom prst="wedgeRoundRectCallout">
              <a:avLst>
                <a:gd name="adj1" fmla="val 117098"/>
                <a:gd name="adj2" fmla="val 62499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J</a:t>
              </a:r>
              <a:r>
                <a:rPr lang="zh-TW" altLang="en-US" dirty="0"/>
                <a:t>欄</a:t>
              </a:r>
            </a:p>
          </p:txBody>
        </p:sp>
        <p:sp>
          <p:nvSpPr>
            <p:cNvPr id="14" name="語音泡泡: 圓角矩形 13">
              <a:extLst>
                <a:ext uri="{FF2B5EF4-FFF2-40B4-BE49-F238E27FC236}">
                  <a16:creationId xmlns:a16="http://schemas.microsoft.com/office/drawing/2014/main" id="{35A6B2CC-E97D-F3B5-1944-5C03EE3552AD}"/>
                </a:ext>
              </a:extLst>
            </p:cNvPr>
            <p:cNvSpPr/>
            <p:nvPr/>
          </p:nvSpPr>
          <p:spPr>
            <a:xfrm>
              <a:off x="6910854" y="4187951"/>
              <a:ext cx="988551" cy="566233"/>
            </a:xfrm>
            <a:prstGeom prst="wedgeRoundRectCallout">
              <a:avLst>
                <a:gd name="adj1" fmla="val 117098"/>
                <a:gd name="adj2" fmla="val 23218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N</a:t>
              </a:r>
              <a:r>
                <a:rPr lang="zh-TW" altLang="en-US" dirty="0"/>
                <a:t>欄</a:t>
              </a:r>
            </a:p>
          </p:txBody>
        </p:sp>
        <p:sp>
          <p:nvSpPr>
            <p:cNvPr id="15" name="語音泡泡: 圓角矩形 14">
              <a:extLst>
                <a:ext uri="{FF2B5EF4-FFF2-40B4-BE49-F238E27FC236}">
                  <a16:creationId xmlns:a16="http://schemas.microsoft.com/office/drawing/2014/main" id="{456D7DD2-6DA2-3661-E6DD-E547B2A03A64}"/>
                </a:ext>
              </a:extLst>
            </p:cNvPr>
            <p:cNvSpPr/>
            <p:nvPr/>
          </p:nvSpPr>
          <p:spPr>
            <a:xfrm>
              <a:off x="6910854" y="3521508"/>
              <a:ext cx="1079167" cy="566233"/>
            </a:xfrm>
            <a:prstGeom prst="wedgeRoundRectCallout">
              <a:avLst>
                <a:gd name="adj1" fmla="val 117098"/>
                <a:gd name="adj2" fmla="val 62499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AI</a:t>
              </a:r>
              <a:r>
                <a:rPr lang="zh-TW" altLang="en-US" dirty="0"/>
                <a:t>欄</a:t>
              </a:r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37CFDB13-1293-198E-1EA1-FE40841A8E67}"/>
              </a:ext>
            </a:extLst>
          </p:cNvPr>
          <p:cNvGrpSpPr/>
          <p:nvPr/>
        </p:nvGrpSpPr>
        <p:grpSpPr>
          <a:xfrm>
            <a:off x="4328100" y="4838496"/>
            <a:ext cx="7472603" cy="2450516"/>
            <a:chOff x="2631346" y="4896633"/>
            <a:chExt cx="9560654" cy="3135258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9561BD7A-2F27-4E6F-894E-FB762DCBD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6810" y="4896633"/>
              <a:ext cx="8585190" cy="3135258"/>
            </a:xfrm>
            <a:prstGeom prst="rect">
              <a:avLst/>
            </a:prstGeom>
          </p:spPr>
        </p:pic>
        <p:sp>
          <p:nvSpPr>
            <p:cNvPr id="16" name="語音泡泡: 圓角矩形 15">
              <a:extLst>
                <a:ext uri="{FF2B5EF4-FFF2-40B4-BE49-F238E27FC236}">
                  <a16:creationId xmlns:a16="http://schemas.microsoft.com/office/drawing/2014/main" id="{34386D4B-18D2-58D5-523E-2ED712333803}"/>
                </a:ext>
              </a:extLst>
            </p:cNvPr>
            <p:cNvSpPr/>
            <p:nvPr/>
          </p:nvSpPr>
          <p:spPr>
            <a:xfrm>
              <a:off x="9783488" y="6464262"/>
              <a:ext cx="800876" cy="566232"/>
            </a:xfrm>
            <a:prstGeom prst="wedgeRoundRectCallout">
              <a:avLst>
                <a:gd name="adj1" fmla="val 43736"/>
                <a:gd name="adj2" fmla="val 70573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r>
                <a:rPr lang="zh-TW" altLang="en-US" dirty="0"/>
                <a:t>欄</a:t>
              </a:r>
            </a:p>
          </p:txBody>
        </p:sp>
        <p:sp>
          <p:nvSpPr>
            <p:cNvPr id="17" name="語音泡泡: 圓角矩形 16">
              <a:extLst>
                <a:ext uri="{FF2B5EF4-FFF2-40B4-BE49-F238E27FC236}">
                  <a16:creationId xmlns:a16="http://schemas.microsoft.com/office/drawing/2014/main" id="{684427F8-9A5C-4450-5CCD-47773C774E38}"/>
                </a:ext>
              </a:extLst>
            </p:cNvPr>
            <p:cNvSpPr/>
            <p:nvPr/>
          </p:nvSpPr>
          <p:spPr>
            <a:xfrm>
              <a:off x="2631346" y="6735815"/>
              <a:ext cx="975462" cy="566232"/>
            </a:xfrm>
            <a:prstGeom prst="wedgeRoundRectCallout">
              <a:avLst>
                <a:gd name="adj1" fmla="val 117098"/>
                <a:gd name="adj2" fmla="val 62499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AE</a:t>
              </a:r>
              <a:r>
                <a:rPr lang="zh-TW" altLang="en-US" dirty="0"/>
                <a:t>欄</a:t>
              </a:r>
            </a:p>
          </p:txBody>
        </p:sp>
        <p:sp>
          <p:nvSpPr>
            <p:cNvPr id="18" name="語音泡泡: 圓角矩形 17">
              <a:extLst>
                <a:ext uri="{FF2B5EF4-FFF2-40B4-BE49-F238E27FC236}">
                  <a16:creationId xmlns:a16="http://schemas.microsoft.com/office/drawing/2014/main" id="{4F0FC430-2743-7D69-DFD2-CCAD34EDFAF5}"/>
                </a:ext>
              </a:extLst>
            </p:cNvPr>
            <p:cNvSpPr/>
            <p:nvPr/>
          </p:nvSpPr>
          <p:spPr>
            <a:xfrm>
              <a:off x="4841043" y="6291767"/>
              <a:ext cx="982492" cy="566232"/>
            </a:xfrm>
            <a:prstGeom prst="wedgeRoundRectCallout">
              <a:avLst>
                <a:gd name="adj1" fmla="val -43448"/>
                <a:gd name="adj2" fmla="val 113637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AF</a:t>
              </a:r>
              <a:r>
                <a:rPr lang="zh-TW" altLang="en-US" dirty="0"/>
                <a:t>欄</a:t>
              </a:r>
            </a:p>
          </p:txBody>
        </p:sp>
        <p:sp>
          <p:nvSpPr>
            <p:cNvPr id="19" name="語音泡泡: 圓角矩形 18">
              <a:extLst>
                <a:ext uri="{FF2B5EF4-FFF2-40B4-BE49-F238E27FC236}">
                  <a16:creationId xmlns:a16="http://schemas.microsoft.com/office/drawing/2014/main" id="{A9AF7869-4619-5585-AE93-C1DFEA55DAF1}"/>
                </a:ext>
              </a:extLst>
            </p:cNvPr>
            <p:cNvSpPr/>
            <p:nvPr/>
          </p:nvSpPr>
          <p:spPr>
            <a:xfrm>
              <a:off x="7183969" y="6291767"/>
              <a:ext cx="982493" cy="666518"/>
            </a:xfrm>
            <a:prstGeom prst="wedgeRoundRectCallout">
              <a:avLst>
                <a:gd name="adj1" fmla="val 117098"/>
                <a:gd name="adj2" fmla="val 62499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AG</a:t>
              </a:r>
              <a:r>
                <a:rPr lang="zh-TW" altLang="en-US" dirty="0"/>
                <a:t>欄</a:t>
              </a:r>
            </a:p>
          </p:txBody>
        </p: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138222C-2EF6-CE0D-F1C9-FD19CC11E3C9}"/>
              </a:ext>
            </a:extLst>
          </p:cNvPr>
          <p:cNvSpPr txBox="1"/>
          <p:nvPr/>
        </p:nvSpPr>
        <p:spPr>
          <a:xfrm>
            <a:off x="495299" y="922675"/>
            <a:ext cx="11353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繳交對象：各區資產組；完成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資料補填才能進行下一階段的固定資產主檔料號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此份下載資料供廠區資產組參考，固定資產缺漏的資料，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回到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補填完資料後才能產生固定資產主檔；請注意此份文件不用上傳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0603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6C042-C8F9-5389-F4CC-A2778F68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7C1EF5A-2C48-6AA2-91AC-246CDDBDC6C8}"/>
              </a:ext>
            </a:extLst>
          </p:cNvPr>
          <p:cNvSpPr txBox="1"/>
          <p:nvPr/>
        </p:nvSpPr>
        <p:spPr>
          <a:xfrm>
            <a:off x="333372" y="219075"/>
            <a:ext cx="10829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物料表主檔 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 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尺寸國別預計完成檢核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鞋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)1/19(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 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)1/30(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B919811-2D6E-B352-3BFA-73B9D0FFEA69}"/>
              </a:ext>
            </a:extLst>
          </p:cNvPr>
          <p:cNvSpPr txBox="1"/>
          <p:nvPr/>
        </p:nvSpPr>
        <p:spPr>
          <a:xfrm>
            <a:off x="495298" y="922675"/>
            <a:ext cx="11506201" cy="263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此次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資料檢核只需確認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格式是否正確，此階段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無需上傳文件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資料檢查重點：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BOM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會預先生成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料號，如下圖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TEST-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開頭，待原料及底半品整合後，還會產一份正式上傳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格式給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KU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確認上傳，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後續這些料號會自動轉換成正確的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料號，故不必理會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1-2  	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3.014-00-10(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物料表主檔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BOM -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組合材 檔案格式是否正確，如果有問題請即時回饋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轉檔組進行查核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不需填寫任何資料，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資訊資料正確後，請於自檢網頁中點擊 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CONFIRM FILE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如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Upload State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狀態為  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即為確認無誤 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1400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C53FF74-6F17-D324-E1A0-C04E4F0AB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653339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058F8BF3-D450-A4CF-3E49-472A14525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93351"/>
            <a:ext cx="12192000" cy="321449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13F9E91-A799-0456-917B-A9337BB3A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355" y="2580451"/>
            <a:ext cx="933450" cy="323850"/>
          </a:xfrm>
          <a:prstGeom prst="rect">
            <a:avLst/>
          </a:prstGeom>
        </p:spPr>
      </p:pic>
      <p:pic>
        <p:nvPicPr>
          <p:cNvPr id="8" name="圖片 7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73C547F5-13CD-B0C2-49E8-C23BF82B8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80983"/>
            <a:ext cx="12192000" cy="288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12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2349-618A-EABE-70A8-2AFDCA70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7C4BE4D-18D7-0F2C-982A-3D583290938A}"/>
              </a:ext>
            </a:extLst>
          </p:cNvPr>
          <p:cNvSpPr txBox="1"/>
          <p:nvPr/>
        </p:nvSpPr>
        <p:spPr>
          <a:xfrm>
            <a:off x="333372" y="219075"/>
            <a:ext cx="10829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物料表主檔 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組合材預計完成檢核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鞋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)1/19(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 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)1/30(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4EF4069-0566-EE47-F97B-00343972A61A}"/>
              </a:ext>
            </a:extLst>
          </p:cNvPr>
          <p:cNvSpPr txBox="1"/>
          <p:nvPr/>
        </p:nvSpPr>
        <p:spPr>
          <a:xfrm>
            <a:off x="495298" y="922675"/>
            <a:ext cx="11506201" cy="263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此次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資料檢核只需確認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格式是否正確，此階段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無需上傳文件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資料檢查重點：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BOM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會預先生成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料號，如下圖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TEST-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開頭，待原料及底半品整合後，還會產一份正式上傳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格式給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KU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確認上傳，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後續這些料號會自動轉換成正確的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料號，故不必理會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1-2  	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3.014-00-10(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物料表主檔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BOM -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組合材 檔案格式是否正確，如果有問題請即時回饋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轉檔組進行查核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不需填寫任何資料，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資訊資料正確後，請於自檢網頁中點擊 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CONFIRM FILE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如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Upload State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狀態為  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即為確認無誤 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1400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97039DC-58DB-E358-C83E-7CDEFEEB0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84694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pic>
        <p:nvPicPr>
          <p:cNvPr id="12" name="圖片 11">
            <a:extLst>
              <a:ext uri="{FF2B5EF4-FFF2-40B4-BE49-F238E27FC236}">
                <a16:creationId xmlns:a16="http://schemas.microsoft.com/office/drawing/2014/main" id="{A1FD00C5-AA22-27BE-E908-947C61FAE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355" y="2580451"/>
            <a:ext cx="933450" cy="323850"/>
          </a:xfrm>
          <a:prstGeom prst="rect">
            <a:avLst/>
          </a:prstGeom>
        </p:spPr>
      </p:pic>
      <p:pic>
        <p:nvPicPr>
          <p:cNvPr id="14" name="圖片 13" descr="一張含有 文字, 行, 字型, 數字 的圖片&#10;&#10;AI 產生的內容可能不正確。">
            <a:extLst>
              <a:ext uri="{FF2B5EF4-FFF2-40B4-BE49-F238E27FC236}">
                <a16:creationId xmlns:a16="http://schemas.microsoft.com/office/drawing/2014/main" id="{BE314013-AF4E-982A-AD90-4FFC31E75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0363"/>
            <a:ext cx="12192000" cy="2723427"/>
          </a:xfrm>
          <a:prstGeom prst="rect">
            <a:avLst/>
          </a:prstGeom>
        </p:spPr>
      </p:pic>
      <p:pic>
        <p:nvPicPr>
          <p:cNvPr id="16" name="圖片 15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1DD93CC0-1A10-BF01-2BC2-C5A647BED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0907"/>
            <a:ext cx="12192000" cy="288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66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103E7-0267-6AD1-0A45-E6AE6CA0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6FD5F51-787A-75D3-0FEA-A131AC736CAE}"/>
              </a:ext>
            </a:extLst>
          </p:cNvPr>
          <p:cNvSpPr txBox="1"/>
          <p:nvPr/>
        </p:nvSpPr>
        <p:spPr>
          <a:xfrm>
            <a:off x="333372" y="219075"/>
            <a:ext cx="10829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半成品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1/20(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28B9652-3969-56C2-2BE5-D5E0D368B1DD}"/>
              </a:ext>
            </a:extLst>
          </p:cNvPr>
          <p:cNvSpPr txBox="1"/>
          <p:nvPr/>
        </p:nvSpPr>
        <p:spPr>
          <a:xfrm>
            <a:off x="495299" y="922675"/>
            <a:ext cx="11353801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資料檢查重點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型號資料是否完整且正確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目前是 型號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楦寬，抓取規則是否需要調整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請將調整方式寫在相應的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欄中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部份廠區的型號資料後面會加後綴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-FI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-FIA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-FIO)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，是否需要移除合併，請回覆在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 startAt="3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短文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)&amp;G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，編碼規則是否需要調整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 startAt="3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欄組態類別是否正確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</a:p>
          <a:p>
            <a:pPr marL="800100" lvl="1" indent="-342900">
              <a:buAutoNum type="arabicPeriod" startAt="3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黃底資料請勿修改，如有問題請冾轉檔組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內容有誤，需要修正的，都請填在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欄反饋並上傳文件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內容檢查無誤者，請以原檔案上傳即可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br>
              <a:rPr lang="zh-TW" altLang="en-US" dirty="0"/>
            </a:br>
            <a:br>
              <a:rPr lang="zh-TW" altLang="en-US" dirty="0"/>
            </a:b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br>
              <a:rPr lang="zh-TW" altLang="en-US" dirty="0"/>
            </a:b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BF52F8D-EF5D-174C-EE63-7E39D91FDA3C}"/>
              </a:ext>
            </a:extLst>
          </p:cNvPr>
          <p:cNvGraphicFramePr>
            <a:graphicFrameLocks noGrp="1"/>
          </p:cNvGraphicFramePr>
          <p:nvPr/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862EB394-095F-A0A8-2231-97B78BDAE505}"/>
              </a:ext>
            </a:extLst>
          </p:cNvPr>
          <p:cNvSpPr txBox="1"/>
          <p:nvPr/>
        </p:nvSpPr>
        <p:spPr>
          <a:xfrm>
            <a:off x="0" y="6393297"/>
            <a:ext cx="1266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342900" indent="-342900">
              <a:buAutoNum type="arabicPeriod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dirty="0"/>
              <a:t>轉檔資料範圍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A111B343-6CAE-CB89-ACE5-4A104E0D3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5408694"/>
            <a:ext cx="7639050" cy="1449306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896DC989-5312-C5A6-7C95-A42CAD1D1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945176"/>
            <a:ext cx="7728300" cy="257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73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AA955-F3F6-3CB7-7F37-D4FDDC0C3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50EA60A-4B78-1C32-DBE2-5351AFD9D64F}"/>
              </a:ext>
            </a:extLst>
          </p:cNvPr>
          <p:cNvSpPr txBox="1"/>
          <p:nvPr/>
        </p:nvSpPr>
        <p:spPr>
          <a:xfrm>
            <a:off x="333372" y="219075"/>
            <a:ext cx="10829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BOM-BU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部位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1/27(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06206A0-5BC3-EBD1-C313-96E82B5209BF}"/>
              </a:ext>
            </a:extLst>
          </p:cNvPr>
          <p:cNvSpPr txBox="1"/>
          <p:nvPr/>
        </p:nvSpPr>
        <p:spPr>
          <a:xfrm>
            <a:off x="495299" y="922675"/>
            <a:ext cx="11353801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資料檢查重點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型號資料是否完整且正確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~G</a:t>
            </a: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英文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越文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名稱為必填欄位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欄為系統預編欄位，請在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欄填入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部份廠區的型號資料後面會加後綴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-FI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-FIA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-FIO)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，是否需要移除合併，請回覆在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 startAt="3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短文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)&amp;G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，編碼規則是否需要調整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 startAt="3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欄組態類別是否正確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</a:p>
          <a:p>
            <a:pPr marL="800100" lvl="1" indent="-342900">
              <a:buAutoNum type="arabicPeriod" startAt="3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黃底資料請勿修改，如有問題請冾轉檔組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內容有誤，需要修正的，都請填在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欄反饋並上傳文件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內容檢查無誤者，請以原檔案上傳即可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br>
              <a:rPr lang="zh-TW" altLang="en-US" dirty="0"/>
            </a:br>
            <a:br>
              <a:rPr lang="zh-TW" altLang="en-US" dirty="0"/>
            </a:b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br>
              <a:rPr lang="zh-TW" altLang="en-US" dirty="0"/>
            </a:b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62149EA-07A3-DC7E-BDCE-A48ACDFF646C}"/>
              </a:ext>
            </a:extLst>
          </p:cNvPr>
          <p:cNvGraphicFramePr>
            <a:graphicFrameLocks noGrp="1"/>
          </p:cNvGraphicFramePr>
          <p:nvPr/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4086A1AC-BA5F-72C3-932B-71CD7B18FA2B}"/>
              </a:ext>
            </a:extLst>
          </p:cNvPr>
          <p:cNvSpPr txBox="1"/>
          <p:nvPr/>
        </p:nvSpPr>
        <p:spPr>
          <a:xfrm>
            <a:off x="0" y="6393297"/>
            <a:ext cx="1266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342900" indent="-342900">
              <a:buAutoNum type="arabicPeriod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dirty="0"/>
              <a:t>轉檔資料範圍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B38CFAE8-4338-C2F8-7290-8FACAC79B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5408694"/>
            <a:ext cx="7639050" cy="1449306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830BC223-1D73-6473-A0A9-77546E24F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945176"/>
            <a:ext cx="7728300" cy="257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28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103E7-0267-6AD1-0A45-E6AE6CA0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6FD5F51-787A-75D3-0FEA-A131AC736CAE}"/>
              </a:ext>
            </a:extLst>
          </p:cNvPr>
          <p:cNvSpPr txBox="1"/>
          <p:nvPr/>
        </p:nvSpPr>
        <p:spPr>
          <a:xfrm>
            <a:off x="333372" y="219075"/>
            <a:ext cx="10829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資訊記錄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1/30(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28B9652-3969-56C2-2BE5-D5E0D368B1DD}"/>
              </a:ext>
            </a:extLst>
          </p:cNvPr>
          <p:cNvSpPr txBox="1"/>
          <p:nvPr/>
        </p:nvSpPr>
        <p:spPr>
          <a:xfrm>
            <a:off x="495299" y="922675"/>
            <a:ext cx="1135380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AH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欄：如不需要匯入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請在「是否匯入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」填入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”X”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(AH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欄之後欄位皆為參考資料，請勿修改資料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採購組織、採購群組、幣別和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稅碼請參考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資訊記錄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自填欄位對照檔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填寫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若沒輸入供應商子範圍，會抓取該廠供應商的預設付款條件，有輸入則會抓取該供應商的供應商子範圍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參考文件：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\drive\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集團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共用性資料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 3.007-1-05-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資訊記錄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自填欄位對照檔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--xx.xlsx</a:t>
            </a: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資訊記錄轉檔名稱及需繳交對象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br>
              <a:rPr lang="zh-TW" altLang="en-US" dirty="0"/>
            </a:b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BF52F8D-EF5D-174C-EE63-7E39D91FDA3C}"/>
              </a:ext>
            </a:extLst>
          </p:cNvPr>
          <p:cNvGraphicFramePr>
            <a:graphicFrameLocks noGrp="1"/>
          </p:cNvGraphicFramePr>
          <p:nvPr/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A55E7E7B-1A5C-7D54-022F-66956AABB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104907"/>
            <a:ext cx="11277600" cy="150495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3039B1DC-D924-B980-FC42-055962F97895}"/>
              </a:ext>
            </a:extLst>
          </p:cNvPr>
          <p:cNvSpPr txBox="1"/>
          <p:nvPr/>
        </p:nvSpPr>
        <p:spPr>
          <a:xfrm>
            <a:off x="238125" y="6238993"/>
            <a:ext cx="1137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Ps.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目前各位看到的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料號會作廢再重新取號一次，供應商的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號碼也還在整合，所以各位先填完這一版的資訊記錄後， 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轉檔組會再轉成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上傳格式就會自動顯示新的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料號和供應商的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編號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547E74-7A1F-3196-C9F6-89EB0CD07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92" y="3827841"/>
            <a:ext cx="3316035" cy="192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26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80354-DA35-C008-BF78-3C317946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1577F08-DD1C-8D0F-6002-469E16BDB6A8}"/>
              </a:ext>
            </a:extLst>
          </p:cNvPr>
          <p:cNvSpPr txBox="1"/>
          <p:nvPr/>
        </p:nvSpPr>
        <p:spPr>
          <a:xfrm>
            <a:off x="333372" y="219075"/>
            <a:ext cx="10829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資訊記錄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補充說明供應商子範圍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32DA89A-FE60-D54D-14F0-EF9B99A12286}"/>
              </a:ext>
            </a:extLst>
          </p:cNvPr>
          <p:cNvSpPr txBox="1"/>
          <p:nvPr/>
        </p:nvSpPr>
        <p:spPr>
          <a:xfrm>
            <a:off x="495299" y="922675"/>
            <a:ext cx="1135380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可以參考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SUNNY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的供應商大表中的資料填寫，過程中可以順便確認資訊記錄與供應商大表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份文件內容是否一致</a:t>
            </a:r>
            <a:b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以下圖來說，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號碼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101002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這個廠商，它的主要付款方式是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USD006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，如果你想要在資訊記錄中採用這個付款方式，就不需要填寫供應商子範圍，系統會自動帶預設； 但如果資訊記錄想要調整為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USD004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那才需要填寫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註：供應商子範圍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幣別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付款條件的右三碼</a:t>
            </a:r>
          </a:p>
          <a:p>
            <a:pPr marL="342900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87C660A-67C3-5BFF-3D3C-AC1040420303}"/>
              </a:ext>
            </a:extLst>
          </p:cNvPr>
          <p:cNvGraphicFramePr>
            <a:graphicFrameLocks noGrp="1"/>
          </p:cNvGraphicFramePr>
          <p:nvPr/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86BC706B-2CF1-E192-7D2A-CB72854CA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2" y="1838921"/>
            <a:ext cx="8652335" cy="513177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058EAEA-D460-41A3-BE59-3C8E2AC7F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138" y="1507450"/>
            <a:ext cx="5192612" cy="268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46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42507-E264-3133-EF04-DF5A4ABE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205D7B0-0C10-DDF8-DBC9-929A09DFAA6A}"/>
              </a:ext>
            </a:extLst>
          </p:cNvPr>
          <p:cNvSpPr txBox="1"/>
          <p:nvPr/>
        </p:nvSpPr>
        <p:spPr>
          <a:xfrm>
            <a:off x="333372" y="219075"/>
            <a:ext cx="10829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鞋廠價格主檔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1/23(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8169EA2-9B52-275A-E2F4-3E918B569B67}"/>
              </a:ext>
            </a:extLst>
          </p:cNvPr>
          <p:cNvSpPr txBox="1"/>
          <p:nvPr/>
        </p:nvSpPr>
        <p:spPr>
          <a:xfrm>
            <a:off x="495298" y="922675"/>
            <a:ext cx="1182052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價格主檔資料具機敏性，因此檔案會以郵件分別寄出不做公開下載，但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USER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填寫完成後還是上傳到自檢系統</a:t>
            </a:r>
            <a:endParaRPr lang="en-US" altLang="zh-TW" sz="1400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單價只能到小數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位，如果必須保留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位以上的小數，可以調整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欄的「按」比例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參考下圖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例如：客戶報價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FOB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31.1233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美金，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系統只能存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31.12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美金</a:t>
            </a:r>
            <a:b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但是按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雙報價，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可以用每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3112.33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美金，之後接單用這個比例計算訂單金額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 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FOB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單價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欄相加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參考文件：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\drive\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集團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共用性資料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 3.023-01-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價格主檔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客戶價格自填欄位對照檔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XXX.xlsx</a:t>
            </a: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底廠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射出廠的價格主檔為手工整理，由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內顧另外提供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80975" indent="-180975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7. 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欄的價格表與對應的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鍵值組合欄位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應一致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(A004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就只能填銷售組織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配銷配路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物料這三欄，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Demand season,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訂購原因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客戶必須為空白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A905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就只能填銷售組織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配銷配路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+demand season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這四欄，訂購原因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客戶必須為空白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同樣價格表下的生效日期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有效期限的區間不能重覆，因此請手動修改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欄的有效期限； 如果有歷史報價單不需要上傳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的，可以自行刪除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br>
              <a:rPr lang="zh-TW" altLang="en-US" dirty="0"/>
            </a:b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2E5DD35-0851-8F43-DAEA-1976689DE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660800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CD48FC67-2013-29A0-CAEE-53A95C9313E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50" y="5698496"/>
            <a:ext cx="3188966" cy="1037218"/>
          </a:xfrm>
          <a:prstGeom prst="rect">
            <a:avLst/>
          </a:prstGeom>
          <a:noFill/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08574C7-5F39-C428-066A-6DF19B9ED9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64"/>
          <a:stretch>
            <a:fillRect/>
          </a:stretch>
        </p:blipFill>
        <p:spPr>
          <a:xfrm>
            <a:off x="933449" y="2474439"/>
            <a:ext cx="8005159" cy="122328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EA67E66-19B3-D217-75AE-AF8CDA3AF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7767" y="4538993"/>
            <a:ext cx="8005158" cy="231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86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EA2EB-11B6-A139-A909-054BA14D1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0A59D5A-8299-7460-44D6-F7A4668E62FD}"/>
              </a:ext>
            </a:extLst>
          </p:cNvPr>
          <p:cNvSpPr txBox="1"/>
          <p:nvPr/>
        </p:nvSpPr>
        <p:spPr>
          <a:xfrm>
            <a:off x="333372" y="219075"/>
            <a:ext cx="10829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包裝主檔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1/21(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FFDFA5A-8BB9-5F2B-4DF8-62C57312DF12}"/>
              </a:ext>
            </a:extLst>
          </p:cNvPr>
          <p:cNvSpPr txBox="1"/>
          <p:nvPr/>
        </p:nvSpPr>
        <p:spPr>
          <a:xfrm>
            <a:off x="495299" y="922675"/>
            <a:ext cx="9791702" cy="2207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CROCS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PEOPLE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需自行填寫SAP物料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及包裝材料號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外箱序號為必填且最多只能2碼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CROCS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品牌，如果不需要轉檔亦可提出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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已確認自行使用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上傳格式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其他品牌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不需填寫任何資料，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確認包裝資訊資料正確後，以原檔案上傳</a:t>
            </a:r>
            <a:endParaRPr lang="en-US" altLang="zh-TW" sz="1400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如果內容有錯，可在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群或是郵件中提出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031DCC8-4FE2-D0D1-404C-6FBD7D770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2127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pic>
        <p:nvPicPr>
          <p:cNvPr id="2" name="Picture 6">
            <a:extLst>
              <a:ext uri="{FF2B5EF4-FFF2-40B4-BE49-F238E27FC236}">
                <a16:creationId xmlns:a16="http://schemas.microsoft.com/office/drawing/2014/main" id="{C66EEA03-AC22-C01C-2BB5-581A8B019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56" y="3530896"/>
            <a:ext cx="5490244" cy="1221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D175164-5B91-434E-CAED-80D37837CE2C}"/>
              </a:ext>
            </a:extLst>
          </p:cNvPr>
          <p:cNvSpPr txBox="1"/>
          <p:nvPr/>
        </p:nvSpPr>
        <p:spPr>
          <a:xfrm>
            <a:off x="440129" y="3176468"/>
            <a:ext cx="78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CROCS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16">
            <a:extLst>
              <a:ext uri="{FF2B5EF4-FFF2-40B4-BE49-F238E27FC236}">
                <a16:creationId xmlns:a16="http://schemas.microsoft.com/office/drawing/2014/main" id="{E32172A5-75BB-9F8B-75BD-FD3E56A694C3}"/>
              </a:ext>
            </a:extLst>
          </p:cNvPr>
          <p:cNvSpPr txBox="1"/>
          <p:nvPr/>
        </p:nvSpPr>
        <p:spPr>
          <a:xfrm>
            <a:off x="440129" y="495031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其他品牌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E6A94F2A-2F56-F6CA-DC4B-CF74C5495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05" y="5227315"/>
            <a:ext cx="11367805" cy="1221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3868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323C9-90BD-DD8B-09EA-DF2988F7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E3A7C56-906C-6149-3387-206F991C5AD3}"/>
              </a:ext>
            </a:extLst>
          </p:cNvPr>
          <p:cNvSpPr txBox="1"/>
          <p:nvPr/>
        </p:nvSpPr>
        <p:spPr>
          <a:xfrm>
            <a:off x="303875" y="278488"/>
            <a:ext cx="10829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毛淨重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時間未定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B110305-79E3-4D08-45C4-7B9880E279A9}"/>
              </a:ext>
            </a:extLst>
          </p:cNvPr>
          <p:cNvSpPr txBox="1"/>
          <p:nvPr/>
        </p:nvSpPr>
        <p:spPr>
          <a:xfrm>
            <a:off x="495299" y="922675"/>
            <a:ext cx="11458576" cy="1668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以品牌為單位上傳，確認毛淨重資料正確後，內容亦可自行更新，以原檔案上傳</a:t>
            </a:r>
            <a:endParaRPr lang="en-US" altLang="zh-TW" sz="1400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轉檔資料來源：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MTC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品牌依型體重量維護作業，展開給各型號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品牌：讀取型號箱重資料， 取型號箱重中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每箱雙數最多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的那筆資料；將箱毛重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每箱雙數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雙毛重，箱淨重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每箱雙數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雙淨重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59EBE41-A884-0DEE-BD98-38E81CB82E09}"/>
              </a:ext>
            </a:extLst>
          </p:cNvPr>
          <p:cNvGraphicFramePr>
            <a:graphicFrameLocks noGrp="1"/>
          </p:cNvGraphicFramePr>
          <p:nvPr/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E91106A9-D793-348A-B06A-DA9CB4026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828" y="2384680"/>
            <a:ext cx="6090834" cy="315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16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BB8FF-6D5A-3CFA-8E2E-9265E67D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>
            <a:extLst>
              <a:ext uri="{FF2B5EF4-FFF2-40B4-BE49-F238E27FC236}">
                <a16:creationId xmlns:a16="http://schemas.microsoft.com/office/drawing/2014/main" id="{2CC26A21-1739-E975-D317-E4684A90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895" y="3509398"/>
            <a:ext cx="5586413" cy="279615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E6A3A5C7-F00F-2B11-FA6A-7768548F8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92" y="3509398"/>
            <a:ext cx="5958530" cy="279614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C40B54D-DE09-AE29-2898-E470CACC05BD}"/>
              </a:ext>
            </a:extLst>
          </p:cNvPr>
          <p:cNvSpPr txBox="1"/>
          <p:nvPr/>
        </p:nvSpPr>
        <p:spPr>
          <a:xfrm>
            <a:off x="333373" y="219075"/>
            <a:ext cx="985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物料主檔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成品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UPC-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預計完成上傳日期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2/6(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EB52970-61C0-DB26-EC61-DDB648BDAFC1}"/>
              </a:ext>
            </a:extLst>
          </p:cNvPr>
          <p:cNvSpPr txBox="1"/>
          <p:nvPr/>
        </p:nvSpPr>
        <p:spPr>
          <a:xfrm>
            <a:off x="495299" y="922675"/>
            <a:ext cx="11458576" cy="199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以品牌為單位上傳，確認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欄國家代碼後，上傳自檢系統</a:t>
            </a:r>
            <a:endParaRPr lang="en-US" altLang="zh-TW" sz="1400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轉檔資料來源：內盒條碼導入維護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如廠區有做成型掃描但未列在此品牌清單中，請向轉檔組提出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用途：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成型線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報工，做內盒掃描使用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主要檢查內容：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當同一筆</a:t>
            </a:r>
            <a:r>
              <a:rPr lang="en-US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</a:t>
            </a:r>
            <a:r>
              <a:rPr lang="zh-TW" altLang="en-US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料號具有多筆條碼號時，需指定它的國家代碼且不可重覆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；填寫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ZZ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代表未指定國家別時的預設值； 這些國家代碼不影響系統操作，亦不影響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參考文件：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群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\DRIVE\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集團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共用性資料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國家代碼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.xlsx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6ED209D-5E56-B6B5-93D3-1D8502FFA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067002"/>
              </p:ext>
            </p:extLst>
          </p:nvPr>
        </p:nvGraphicFramePr>
        <p:xfrm>
          <a:off x="10544175" y="40303"/>
          <a:ext cx="1552574" cy="822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0287">
                  <a:extLst>
                    <a:ext uri="{9D8B030D-6E8A-4147-A177-3AD203B41FA5}">
                      <a16:colId xmlns:a16="http://schemas.microsoft.com/office/drawing/2014/main" val="3369968972"/>
                    </a:ext>
                  </a:extLst>
                </a:gridCol>
                <a:gridCol w="555658">
                  <a:extLst>
                    <a:ext uri="{9D8B030D-6E8A-4147-A177-3AD203B41FA5}">
                      <a16:colId xmlns:a16="http://schemas.microsoft.com/office/drawing/2014/main" val="3019877042"/>
                    </a:ext>
                  </a:extLst>
                </a:gridCol>
                <a:gridCol w="506629">
                  <a:extLst>
                    <a:ext uri="{9D8B030D-6E8A-4147-A177-3AD203B41FA5}">
                      <a16:colId xmlns:a16="http://schemas.microsoft.com/office/drawing/2014/main" val="563030771"/>
                    </a:ext>
                  </a:extLst>
                </a:gridCol>
              </a:tblGrid>
              <a:tr h="235749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需繳交對象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8001"/>
                  </a:ext>
                </a:extLst>
              </a:tr>
              <a:tr h="2357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鞋廠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射出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63116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611507"/>
                  </a:ext>
                </a:extLst>
              </a:tr>
            </a:tbl>
          </a:graphicData>
        </a:graphic>
      </p:graphicFrame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FA01B656-BAC3-53FF-E1B6-DE05E349A33F}"/>
              </a:ext>
            </a:extLst>
          </p:cNvPr>
          <p:cNvSpPr/>
          <p:nvPr/>
        </p:nvSpPr>
        <p:spPr>
          <a:xfrm>
            <a:off x="2257425" y="5003981"/>
            <a:ext cx="4953000" cy="4667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7A98238-3F00-C2B4-3448-A3BBA12B3CE8}"/>
              </a:ext>
            </a:extLst>
          </p:cNvPr>
          <p:cNvSpPr txBox="1"/>
          <p:nvPr/>
        </p:nvSpPr>
        <p:spPr>
          <a:xfrm>
            <a:off x="1762125" y="6364434"/>
            <a:ext cx="153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修改前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2A3819A-0C82-007F-CC84-6201B1CB3C56}"/>
              </a:ext>
            </a:extLst>
          </p:cNvPr>
          <p:cNvSpPr txBox="1"/>
          <p:nvPr/>
        </p:nvSpPr>
        <p:spPr>
          <a:xfrm>
            <a:off x="8039100" y="6454259"/>
            <a:ext cx="153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修改後</a:t>
            </a:r>
          </a:p>
        </p:txBody>
      </p:sp>
    </p:spTree>
    <p:extLst>
      <p:ext uri="{BB962C8B-B14F-4D97-AF65-F5344CB8AC3E}">
        <p14:creationId xmlns:p14="http://schemas.microsoft.com/office/powerpoint/2010/main" val="3358220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idx="4294967295"/>
          </p:nvPr>
        </p:nvSpPr>
        <p:spPr>
          <a:xfrm>
            <a:off x="10426700" y="6492875"/>
            <a:ext cx="1765300" cy="13652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sp>
        <p:nvSpPr>
          <p:cNvPr id="4" name="副標題 3"/>
          <p:cNvSpPr>
            <a:spLocks noGrp="1"/>
          </p:cNvSpPr>
          <p:nvPr>
            <p:ph type="subTitle" idx="4294967295"/>
          </p:nvPr>
        </p:nvSpPr>
        <p:spPr>
          <a:xfrm>
            <a:off x="238125" y="980569"/>
            <a:ext cx="11306175" cy="808038"/>
          </a:xfrm>
          <a:prstGeom prst="rect">
            <a:avLst/>
          </a:prstGeom>
        </p:spPr>
        <p:txBody>
          <a:bodyPr/>
          <a:lstStyle/>
          <a:p>
            <a:pPr marL="176213" indent="0"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依資料相依性分成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 Round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執行，完成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Round 1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資料上傳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的品牌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廠區，才可進入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Round 2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，以此類推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6213" indent="0"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；廠區下載資料後，表定三天內完成資料確認及第一次檔案上傳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1B11B7F-C1E4-E10E-E863-68EF021A6091}"/>
              </a:ext>
            </a:extLst>
          </p:cNvPr>
          <p:cNvSpPr txBox="1"/>
          <p:nvPr/>
        </p:nvSpPr>
        <p:spPr>
          <a:xfrm>
            <a:off x="333374" y="219075"/>
            <a:ext cx="753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DC1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執行方式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依資料相依性分階段執行</a:t>
            </a:r>
          </a:p>
        </p:txBody>
      </p:sp>
      <p:graphicFrame>
        <p:nvGraphicFramePr>
          <p:cNvPr id="7" name="資料庫圖表 6">
            <a:extLst>
              <a:ext uri="{FF2B5EF4-FFF2-40B4-BE49-F238E27FC236}">
                <a16:creationId xmlns:a16="http://schemas.microsoft.com/office/drawing/2014/main" id="{77A1A2F3-807D-86C5-B735-243917A718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8575503"/>
              </p:ext>
            </p:extLst>
          </p:nvPr>
        </p:nvGraphicFramePr>
        <p:xfrm>
          <a:off x="1823188" y="1763108"/>
          <a:ext cx="7104175" cy="4736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7362690A-E429-BE11-B594-639B31E49239}"/>
              </a:ext>
            </a:extLst>
          </p:cNvPr>
          <p:cNvSpPr txBox="1"/>
          <p:nvPr/>
        </p:nvSpPr>
        <p:spPr>
          <a:xfrm>
            <a:off x="0" y="6581001"/>
            <a:ext cx="3838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註：細節參考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轉檔清單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_DC1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434208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39101</TotalTime>
  <Words>6136</Words>
  <Application>Microsoft Office PowerPoint</Application>
  <PresentationFormat>寬螢幕</PresentationFormat>
  <Paragraphs>653</Paragraphs>
  <Slides>33</Slides>
  <Notes>2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41" baseType="lpstr">
      <vt:lpstr>微軟正黑體</vt:lpstr>
      <vt:lpstr>微軟正黑體</vt:lpstr>
      <vt:lpstr>新細明體</vt:lpstr>
      <vt:lpstr>Arial</vt:lpstr>
      <vt:lpstr>Arial Black</vt:lpstr>
      <vt:lpstr>Calibri</vt:lpstr>
      <vt:lpstr>Office 佈景主題</vt:lpstr>
      <vt:lpstr>Microsoft Excel 工作表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joy.huang</dc:creator>
  <cp:lastModifiedBy>kobe.wang</cp:lastModifiedBy>
  <cp:revision>429</cp:revision>
  <dcterms:created xsi:type="dcterms:W3CDTF">2023-05-31T01:27:04Z</dcterms:created>
  <dcterms:modified xsi:type="dcterms:W3CDTF">2026-01-22T05:56:08Z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_IPGFID">
    <vt:lpwstr>[DocID]=A5712D8B-CC5E-4F81-9324-DBFFDA5D9C98</vt:lpwstr>
  </op:property>
  <op:property fmtid="{D5CDD505-2E9C-101B-9397-08002B2CF9AE}" pid="3" name="_IPGFLOW_P-DAED_E-1_FP-10_SP-1_CV-E53256FB_CN-27E4B35A">
    <vt:lpwstr>u/zjHT7v6PHfxs9C2iqMNZG530xcJxvGjMRtPlWvbH2+Tq/pvh+s2w71NiN1uxcZxIn7kdV9WLN5I2c621VDTIUpsqaaC9rUx/bV3nKNqZ608yaYd/Mvtv6DBV6gd9zE3sgVBvljufFHy9hSbNypKiFrgicfkxz/Hz4b8NsjEkF183T1chsNBqkfxK2hDqoBk0pF1DpGgWJVJZPC5mj0CkWFNjzwZJumVWcs0ePXjn76xsgQc7B+7mOqePU3V6S</vt:lpwstr>
  </op:property>
  <op:property fmtid="{D5CDD505-2E9C-101B-9397-08002B2CF9AE}" pid="4" name="_IPGFLOW_P-DAED_E-1_FP-10_SP-2_CV-ACFA48EB_CN-ED4E2BBE">
    <vt:lpwstr>jNCB2qxBrljAuHCdOmOE0Qkz5hXYGHFkWVVIIJrON0vIB3dTvA1okHp1J99g6b4fLMipVCqlgr5aiOEHwuvVPXt1so+/Kda39tRzBtxWlLdh7F1/Xi0L6PmziiacVYQCZ</vt:lpwstr>
  </op:property>
  <op:property fmtid="{D5CDD505-2E9C-101B-9397-08002B2CF9AE}" pid="5" name="_IPGFLOW_P-DAED_E-0_FP-10_CV-1748F583_CN-E6594584">
    <vt:lpwstr>DPSPMK|3|384|2|0</vt:lpwstr>
  </op:property>
  <op:property fmtid="{D5CDD505-2E9C-101B-9397-08002B2CF9AE}" pid="6" name="_IPGFLOW_P-DAED_E-1_FP-11_SP-1_CV-414D766F_CN-B5CFE015">
    <vt:lpwstr>u/zjHT7v6PHfxs9C2iqMNfbPueD++pfCNw+insDa1BKFrUIo6HgpAaF/flh2Cu81I7j67TesML/SpPw3E16RhxUNzZBLcayxu1QLezAVMqAFcNqgO/QS+oh6a77MVekckHHSv1NF0GcxwUE1sUZ580ueZN2ysI5n7RJKcdxDmRCf2+9U7Fi6f/i9nYx6eXJTaJ7VPma1VpacChG7MKPNKBguWYrZyW1BWpMQ2AS3MmjO9OQnCEGXYSKPgePJilK</vt:lpwstr>
  </op:property>
  <op:property fmtid="{D5CDD505-2E9C-101B-9397-08002B2CF9AE}" pid="7" name="_IPGFLOW_P-DAED_E-1_FP-11_SP-2_CV-2517C466_CN-6346387A">
    <vt:lpwstr>jqzQBXZA+J1PmRSFyxpx6y88ZnLaeGbKkCf3PuMZf91+jNwuVBLqC8Lxxa31Ngn2WZlld6xU89MnkzMO8xJFdbGC8B+qEeuuDyYtNFXUYW5Bp1YeA/TRlS8qLBoRyj9SK</vt:lpwstr>
  </op:property>
  <op:property fmtid="{D5CDD505-2E9C-101B-9397-08002B2CF9AE}" pid="8" name="_IPGFLOW_P-DAED_E-0_FP-11_CV-1748F583_CN-3BCF9C01">
    <vt:lpwstr>DPSPMK|3|384|2|0</vt:lpwstr>
  </op:property>
  <op:property fmtid="{D5CDD505-2E9C-101B-9397-08002B2CF9AE}" pid="9" name="_IPGFLOW_P-DAED_E-1_FP-12_SP-1_CV-60F1A433_CN-DC0BA813">
    <vt:lpwstr>u/zjHT7v6PHfxs9C2iqMNfV3n5kTF+k3xtFMuDuUXnuaJ1NElQRX+hjj7vnS6DUFlELlOSckwbqwC3F6BtKCJgYODFWYnl/cNu1bx9PV2xbfi1GNBRFtqMcgUaY7Tei+cSZQIZiojr90t6Ge/MWDRorryocIJ922zXuNzhAh6o3Qiow8k+eDZEgo16+esgXmqicYLJitgPRVFousD4JhA12pbpG8jhLpfnZjKZhU0nxAkh118sIB3Ka5WdslWU5</vt:lpwstr>
  </op:property>
  <op:property fmtid="{D5CDD505-2E9C-101B-9397-08002B2CF9AE}" pid="10" name="_IPGFLOW_P-DAED_E-1_FP-12_SP-2_CV-2D29FFFD_CN-BE4D7A2">
    <vt:lpwstr>nWIA/Qcum108bgsyQ99Ef66/yOgWJ6YF8xVlWzeLJ6xi/y6EPO79Ytp+DL6eA5/g52BxuvJJyhqgJKYde5kUuqMXCM1dyAfaP3SvhQ4eHwJVO7DX7N2RMf4hSpNOvHLtJ</vt:lpwstr>
  </op:property>
  <op:property fmtid="{D5CDD505-2E9C-101B-9397-08002B2CF9AE}" pid="11" name="_IPGFLOW_P-DAED_E-0_FP-12_CV-1748F583_CN-8605F0CF">
    <vt:lpwstr>DPSPMK|3|384|2|0</vt:lpwstr>
  </op:property>
  <op:property fmtid="{D5CDD505-2E9C-101B-9397-08002B2CF9AE}" pid="12" name="_IPGFLOW_P-DAED_E-1_FP-13_SP-1_CV-C1E21839_CN-325A322A">
    <vt:lpwstr>wuUEz1s0EoHcmzfSB+MmefAjFuvXk3HveIGFIodhNFHPOnQwPCQQrF/YsHqJ8A/zbLtC7iepIGNy0eBByoatq1bShErf+Gnx3YrB9IL50UU16ZTCcm87tt8aTVAcvVKJFRRVu31sPpfr51AEJaPEUASGwQrkJxuTCSyhME2uhXQvvBbROiB8vnqR9ZIj4I79Ssfq7JkJCXNg90gZ3WyGhJE+6tuo0SyW8hYCgunVdr+7+obc1PlPhFdX/92rtHe</vt:lpwstr>
  </op:property>
  <op:property fmtid="{D5CDD505-2E9C-101B-9397-08002B2CF9AE}" pid="13" name="_IPGFLOW_P-DAED_E-1_FP-13_SP-2_CV-F8A98DD2_CN-69E68E53">
    <vt:lpwstr>+HBLrEoXZEgOuxOcWWtHhXq0qs7V2HPu4EbnkgbMawMm3K0Z1FvpUVLBsazaHJxfi3byj6V7KOta8K+cf4JcHlF6lkOXBZviDitfEytvM2IbanLszHA5V4UbfEjd38jW0</vt:lpwstr>
  </op:property>
  <op:property fmtid="{D5CDD505-2E9C-101B-9397-08002B2CF9AE}" pid="14" name="_IPGFLOW_P-DAED_E-0_FP-13_CV-1748F583_CN-5B93294A">
    <vt:lpwstr>DPSPMK|3|384|2|0</vt:lpwstr>
  </op:property>
  <op:property fmtid="{D5CDD505-2E9C-101B-9397-08002B2CF9AE}" pid="15" name="_IPGFLOW_P-DAED_E-1_FP-14_SP-1_CV-2564C618_CN-CBAE1095">
    <vt:lpwstr>wuUEz1s0EoHcmzfSB+MmeUAsG1nc57xRQl+C8mf7azsvkVllThftY7iI0AAG8YSneYnKn4cJHaY5TuOSxsAUNvKIoQJANXVSNZ4/yyxsJ3mK6bhv/QKvtWrc2N9TvsvQyrTeBfVL+LdR+Xq0OtvX7+M1YoSXGlUHzL1KjjKDnz/MzGvSBNiUm5rUxoAXWOvXrzWL0gzO/j0DlCuak8Xh5MSGEL7OBNKWfjv0a/mUM6FtCpZW6GBCC/vzm8QHf4z</vt:lpwstr>
  </op:property>
  <op:property fmtid="{D5CDD505-2E9C-101B-9397-08002B2CF9AE}" pid="16" name="_IPGFLOW_P-DAED_E-1_FP-14_SP-2_CV-3C787754_CN-B39F73A3">
    <vt:lpwstr>yDX4QUDDJ4lXYGyltwdG20YKTiKegQXtuBjG3/iXRd4GtbaW3yNJ9sdYwAI51861iOwPcDhGq/QnXUAwnTNnvTHUyyk43SNbMx1eMtkOKljYt4/XW2l/hHEWOa4PgeHGb</vt:lpwstr>
  </op:property>
  <op:property fmtid="{D5CDD505-2E9C-101B-9397-08002B2CF9AE}" pid="17" name="_IPGFLOW_P-DAED_E-0_FP-14_CV-1748F583_CN-26E02F12">
    <vt:lpwstr>DPSPMK|3|384|2|0</vt:lpwstr>
  </op:property>
  <op:property fmtid="{D5CDD505-2E9C-101B-9397-08002B2CF9AE}" pid="18" name="_IPGFLOW_P-DAED_E-1_FP-15_SP-1_CV-8FA3DE80_CN-D8C24CA8">
    <vt:lpwstr>wuUEz1s0EoHcmzfSB+MmeXzZegnEOkuNkdjUtffZWQRh5X+IAgxd8AQxavTr347uG30VvlXuRJIEtHtyQqP9zd/WFDFsTC2hRMRtMsT42vlpqQCbBYnUUo3ZT3jY9VstfbkHvAH8nLA0PZFN7spXI2TU+tsaE20H9DLlxCJDNOZfzAGim5CvDdmBCYnH4qlVCFWVzCTVrDoHreY2PhFacp94KiWhPIJIo8ziqSs6sOZ4DoYvMrXpnxp+ULQkx1h</vt:lpwstr>
  </op:property>
  <op:property fmtid="{D5CDD505-2E9C-101B-9397-08002B2CF9AE}" pid="19" name="_IPGFLOW_P-DAED_E-1_FP-15_SP-2_CV-EBFFE45C_CN-1B08E4FA">
    <vt:lpwstr>qb9AjbmV1RfeQVLWTAPcI9FE1AaHRQ6lXFuERuxb3BaeEiPi8scjHI+6j1AdAfZRg0QmFrxZ/67CZIrmWeX5xvhIjwrnCb4JnnNARXWmZxTYNInb9ra2fuw76u6dF850W</vt:lpwstr>
  </op:property>
  <op:property fmtid="{D5CDD505-2E9C-101B-9397-08002B2CF9AE}" pid="20" name="_IPGFLOW_P-DAED_E-0_FP-15_CV-1748F583_CN-FB76F697">
    <vt:lpwstr>DPSPMK|3|384|2|0</vt:lpwstr>
  </op:property>
  <op:property fmtid="{D5CDD505-2E9C-101B-9397-08002B2CF9AE}" pid="21" name="_IPGFLOW_P-DAED_E-1_FP-16_SP-1_CV-7D87149_CN-40AE4FAB">
    <vt:lpwstr>wuUEz1s0EoHcmzfSB+MmeT69ZVO2mMaLTJWcVEqkqfs1hsi+mIe8TJ4uv42RVegYQIBGnkxC856EHxlNbi4/aONZbr7AYhTsZeV3rJQ3e4Dqj8m7qYmNt2stGw94Wv/iuQJAdJ/mWyUXyN3k+6lqWpDsfwjEixc780IkGWvcvYgxuz0tzzuI/WKmyEioSyZf+edemhYNhPDPVAfyM8Eh8zLLkOrxUuSDfgq5FCLSNo9+hHcVxuc+q4T3qEXPt4Q</vt:lpwstr>
  </op:property>
  <op:property fmtid="{D5CDD505-2E9C-101B-9397-08002B2CF9AE}" pid="22" name="_IPGFLOW_P-DAED_E-1_FP-16_SP-2_CV-97E53393_CN-3B6C7D8F">
    <vt:lpwstr>N/90mreHadTe2oqP+cXQIRrd/griHfkkG0NHSuRi5sINLM/v7BAlMvXXexhedZ/1V1CSVBgexHWwMGePbsYn+IpyOZ4Y20NRJFwVGRSF3BsyYer6wpM9QH16szsRfanB4</vt:lpwstr>
  </op:property>
  <op:property fmtid="{D5CDD505-2E9C-101B-9397-08002B2CF9AE}" pid="23" name="_IPGFLOW_P-DAED_E-0_FP-16_CV-1748F583_CN-46BC9A59">
    <vt:lpwstr>DPSPMK|3|384|2|0</vt:lpwstr>
  </op:property>
  <op:property fmtid="{D5CDD505-2E9C-101B-9397-08002B2CF9AE}" pid="24" name="_IPGFLOW_P-DAED_E-1_FP-17_SP-1_CV-8B6EC8C0_CN-44D948A9">
    <vt:lpwstr>wuUEz1s0EoHcmzfSB+MmeWE5m9zaUT2ZElDt5xvfYqxpRYdwX45/uEAzkl5QQHXBSRybHNVZGm0ehJuwys5pxd/rMK/KJtIyh2l0AJ22akOFr1lvBWrY9uhCuiNAye5Au0KIouAOHZoWNzf5qBymmmBa3JyC/fC7GD76wBGHLISi9ycp3gbhcwyfWyw49JSQfFY/o/gfOsJyQGPAZ5KV87ncQsB4yHP2ild11Z+8uQ8+u2PSFJRMZloCQ0yW6AF</vt:lpwstr>
  </op:property>
  <op:property fmtid="{D5CDD505-2E9C-101B-9397-08002B2CF9AE}" pid="25" name="_IPGFLOW_P-DAED_E-1_FP-17_SP-2_CV-9D245B7F_CN-EC4DE097">
    <vt:lpwstr>DtgNNX+yiR7MdQWIWaB8sT1LQlJrKAe4AvWFQdqxwH2Lsm/QesfHqPYMXGxiWh/ePGWDbsFVWVD0u3WPT86M+zzuuxfxq2a2bZsR79RrjzaLevbM1QwCMSSaHSfHvAb60</vt:lpwstr>
  </op:property>
  <op:property fmtid="{D5CDD505-2E9C-101B-9397-08002B2CF9AE}" pid="26" name="_IPGFLOW_P-DAED_E-0_FP-17_CV-1748F583_CN-9B2A43DC">
    <vt:lpwstr>DPSPMK|3|384|2|0</vt:lpwstr>
  </op:property>
  <op:property fmtid="{D5CDD505-2E9C-101B-9397-08002B2CF9AE}" pid="27" name="_IPGFLOW_P-DAED_E-1_FP-18_SP-1_CV-77EB5F48_CN-94DE7F87">
    <vt:lpwstr>habBe2Z8gkg1KAeYMxpxlQsRfRoJCb5SfG61SZ6zx6uXM2j0TEtgF19Jc2yZL+aXjC24AI4UulcVZrbkimZfStMSghuySlUwMHPQA6QXyp66kSLfu5x982zUnDbdZK/g/Ou2c4+28zy8oa115F0iOws9GLd1y2KqPCuoNXaKLqVzKgh+R9AINOPYJDSLfX0xyIm5wlllcsOfQ2A8iQ+tz2tnHe2+T+cfz3jCn6hhlBLRiET3srp9olNarTDaGfv</vt:lpwstr>
  </op:property>
  <op:property fmtid="{D5CDD505-2E9C-101B-9397-08002B2CF9AE}" pid="28" name="_IPGFLOW_P-DAED_E-1_FP-18_SP-2_CV-76D85337_CN-7A9912DB">
    <vt:lpwstr>hWzx+iMsrWtlAdyIS23ip5tCWHUmQEkWYrIfhtskJ6Ag8OWqZx++lY7Yp/B0IxbIlAdKgmOCTHDf0cO6871BV4frAu1y8fT0LhLBGGqVvA0EP8XvQON5TXu6VVMgv/bp0</vt:lpwstr>
  </op:property>
  <op:property fmtid="{D5CDD505-2E9C-101B-9397-08002B2CF9AE}" pid="29" name="_IPGFLOW_P-DAED_E-0_FP-18_CV-1748F583_CN-BC5A96E9">
    <vt:lpwstr>DPSPMK|3|384|2|0</vt:lpwstr>
  </op:property>
  <op:property fmtid="{D5CDD505-2E9C-101B-9397-08002B2CF9AE}" pid="30" name="_IPGFLOW_P-DAED_E-1_FP-19_SP-1_CV-651F6E97_CN-706843AD">
    <vt:lpwstr>habBe2Z8gkg1KAeYMxpxlRHU+WtfWjkBiRqKFmayZPrxSo9Jz/V7fp/AcW7xobqeeUn9tmMzntIwHg5o571j6fHkLpowjHFPTSOkv84r2oE43RMI5VCmi+146gRrC3W4v6KvTOxGeTh8os5ypuTtaIicAwV2QnwV5/a27yM+jhCfZcEAHpAdz07uxDGLDDayQQ8d0ePu2/NwFlKDL9biK7kFcWrDsu8NA9DQNyNjcfJC2TLGxvorPvA0pIjsx/l</vt:lpwstr>
  </op:property>
  <op:property fmtid="{D5CDD505-2E9C-101B-9397-08002B2CF9AE}" pid="31" name="_IPGFLOW_P-DAED_E-1_FP-19_SP-2_CV-FB2B66EE_CN-501F74DB">
    <vt:lpwstr>m3rRA1kfkxnIafEGomULaRXr3fRLOJWTbWHbxzE457q1wIY6bvtVHsKJQuj8bh9gpd2vIDLI8rgCOHrCC3nB+klv1vTEEnXEp5uMOqY/6P7F6PSJtK+XOEpbELk26Selw</vt:lpwstr>
  </op:property>
  <op:property fmtid="{D5CDD505-2E9C-101B-9397-08002B2CF9AE}" pid="32" name="_IPGFLOW_P-DAED_E-0_FP-19_CV-1748F583_CN-61CC4F6C">
    <vt:lpwstr>DPSPMK|3|384|2|0</vt:lpwstr>
  </op:property>
  <op:property fmtid="{D5CDD505-2E9C-101B-9397-08002B2CF9AE}" pid="33" name="_IPGFLOW_P-DAED_E-1_FP-1A_SP-1_CV-4AC12A09_CN-475AB37C">
    <vt:lpwstr>habBe2Z8gkg1KAeYMxpxlaAxR2OcEpGnAmmslgyRvQ9vZQCY/UwW/NE9ByjmA/QDZ4t7hL48hVvVyGVv9oeSPU4CZyoK6kDotiCTREEJqX/klaJidExaAyZaIZL4ZFGLVoTGaU6EeF+xg/uZXq9fqenMeN4KdnhJtM+czPlIwa/8KP9q8inCKDA5aHUFK93rWiWMp2TGTkXGP7T7luAyW+S/3u0xKmdpZaMu8/OfgRXrqXTquHt8vTQq7ZiJf1+</vt:lpwstr>
  </op:property>
  <op:property fmtid="{D5CDD505-2E9C-101B-9397-08002B2CF9AE}" pid="34" name="_IPGFLOW_P-DAED_E-1_FP-1A_SP-2_CV-BF6CB6D0_CN-85FB8CE9">
    <vt:lpwstr>bgfrxFyUJAb2m+1GXFnqYShDW6XgKtFS94DO+yhA6sxdGdLfh9DtNEYJUl3G/ydH/UNQJF49ymtV/1qo6mAMv1/4jomYIc4X4GfdfnFuQDFBJc59ypkHKTrnuvnT/TFqA</vt:lpwstr>
  </op:property>
  <op:property fmtid="{D5CDD505-2E9C-101B-9397-08002B2CF9AE}" pid="35" name="_IPGFLOW_P-DAED_E-0_FP-1A_CV-1748F583_CN-813BE085">
    <vt:lpwstr>DPSPMK|3|384|2|0</vt:lpwstr>
  </op:property>
  <op:property fmtid="{D5CDD505-2E9C-101B-9397-08002B2CF9AE}" pid="36" name="_IPGFLOW_P-DAED_E-1_FP-1B_SP-1_CV-9B4CE039_CN-1AF22605">
    <vt:lpwstr>habBe2Z8gkg1KAeYMxpxlQ+pa0X32a1QZhCaZ4KG6+A+0rgU5Dr9CklTOXKkuQR2xI52UAo/e42LzUBLcAyAL+zZbLlqtN/pkGN5DqoH6Jw8afFnSuNQT1GDCnrhYzkCUD5T15Lw6aLdUKd9UfoEF9DmFAIRi4stl1NkohAhMjZtyyJ9Ox/Qh7czswxQjpDkmhw993eHWUd/5n+lYg+m/fz1HEnxy4hwGGlLLPEFm6LehNJHNwolRxYAYLBRjcD</vt:lpwstr>
  </op:property>
  <op:property fmtid="{D5CDD505-2E9C-101B-9397-08002B2CF9AE}" pid="37" name="_IPGFLOW_P-DAED_E-1_FP-1B_SP-2_CV-7E4C267_CN-1DB58C54">
    <vt:lpwstr>37ce5OpafzQWmHW2+5pi05MGu6duMwKiyUMo3+MDs1JKpKEYF8Ijkp4paowwixh+A4LVhc1VwRu2aOG/D+Na0DRrXiGQnqypglPcwcQABaavEhUODb+bbthUYuMXd0kgI</vt:lpwstr>
  </op:property>
  <op:property fmtid="{D5CDD505-2E9C-101B-9397-08002B2CF9AE}" pid="38" name="_IPGFLOW_P-DAED_E-0_FP-1B_CV-1748F583_CN-3CF18C4B">
    <vt:lpwstr>DPSPMK|3|384|2|0</vt:lpwstr>
  </op:property>
  <op:property fmtid="{D5CDD505-2E9C-101B-9397-08002B2CF9AE}" pid="39" name="_IPGFLOW_P-DAED_E-1_FP-1C_SP-1_CV-E8F64A12_CN-12CB26BF">
    <vt:lpwstr>habBe2Z8gkg1KAeYMxpxleau2m1xpA9uuHvT5oKZu3f0B0xUf7ioMjcFAo8EmHrKvMGDCuhNP7pBz61ZwxmK4Qhal9pURPtQzfa6jv5LRvqdhQ/Lq6Qxr+suHy6CUU00MoIUYOapm0pVlBsLpyysPkzrfg30Q02TKIB3PgxtWFRWELweHiD7/U6N7I16HypcmWmCECU4XgVaQDYFdOU7xjZivW2V3WA/Smb7rkSPitdAI85bjTOCeWvbh4zk4p2</vt:lpwstr>
  </op:property>
  <op:property fmtid="{D5CDD505-2E9C-101B-9397-08002B2CF9AE}" pid="40" name="_IPGFLOW_P-DAED_E-1_FP-1C_SP-2_CV-6A7DD345_CN-681B5975">
    <vt:lpwstr>myPCm0gP9nPhuQCkBJfUnc37WUgmSXc8+PB0VmblBC0EK5fnjtWiRn716M8716B88tzXhyZTQsje9IVmC1gZgdFwSQ57TrP146dqfWpq9v2BTPd8hCqEwuhXq0sNLVljh</vt:lpwstr>
  </op:property>
  <op:property fmtid="{D5CDD505-2E9C-101B-9397-08002B2CF9AE}" pid="41" name="_IPGFLOW_P-DAED_E-0_FP-1C_CV-1748F583_CN-E16755CE">
    <vt:lpwstr>DPSPMK|3|384|2|0</vt:lpwstr>
  </op:property>
  <op:property fmtid="{D5CDD505-2E9C-101B-9397-08002B2CF9AE}" pid="42" name="_IPGFLOW_P-DAED_E-1_FP-1D_SP-1_CV-F6065063_CN-25E77DEA">
    <vt:lpwstr>qXRWI8gFPMy3x0kmrs1j7KzlOPfNo5/SlQrdNXKsKhQWuejDZ1v9ItH8LgbJ4gCuPrWLcPYOOpGA70ZENOH921QDMwCiXpMLYK87npjIEjOKkW9z86iavUO1XdwSNHV2il6HrPYWyuhLrjC5d6FS15a+hBDWhWqAhq4/7pHh2HopkANZSh0kFN1iCJGMdVPkmI76sSfUCRuxu1JHYo38rc8ky0zOOv0XsvfrAvFCPU831aIBRovkUht7y0PkIRf</vt:lpwstr>
  </op:property>
  <op:property fmtid="{D5CDD505-2E9C-101B-9397-08002B2CF9AE}" pid="43" name="_IPGFLOW_P-DAED_E-1_FP-1D_SP-2_CV-623356CC_CN-8886D944">
    <vt:lpwstr>Y5jfCN9yOXHI4anZiCrNNSCQJ3gZ8VXsEjIRsFVQ0PSssI6xxTPQxlE+57SM+vp/AF0mftuclQBMxBJXhjgXjDx1+YizJY/bRm4wOTIo+JQMG02YsovzZ/arfTTEzazw/</vt:lpwstr>
  </op:property>
  <op:property fmtid="{D5CDD505-2E9C-101B-9397-08002B2CF9AE}" pid="44" name="_IPGFLOW_P-DAED_E-0_FP-1D_CV-1748F583_CN-9C145396">
    <vt:lpwstr>DPSPMK|3|384|2|0</vt:lpwstr>
  </op:property>
  <op:property fmtid="{D5CDD505-2E9C-101B-9397-08002B2CF9AE}" pid="45" name="_IPGFLOW_P-DAED_E-1_FP-1E_SP-1_CV-E2C4B20F_CN-C45AAA8A">
    <vt:lpwstr>qXRWI8gFPMy3x0kmrs1j7Kx3dNcKeQ6u/H20FlyzY8Cak81B8BzLRCFQ01z1vmXEJI9JkYNXvlhVIU4CQpCwqDMlx5Bao629ttBQYCCy7M1Ou2neP37TThAPvmKT7+B38Fwu4iz12nNF28UPHw1pPUs/i95TjmnlEcBGIRqKTH75K/iIbnLfiUGvuP/w8zVC/Y+PUBV3rUqoQ+R5L4L0Md3oqNytr8JYWuY7ajUqhVJRF9cqa+C8eCvOaPCWXWd</vt:lpwstr>
  </op:property>
  <op:property fmtid="{D5CDD505-2E9C-101B-9397-08002B2CF9AE}" pid="46" name="_IPGFLOW_P-DAED_E-1_FP-1E_SP-2_CV-E8339CAB_CN-BCA6E18F">
    <vt:lpwstr>8TgZQ5cE0RVYaTays8KG1KDpy9fzG/Pifg5hpGl9Tf1nwDOGMGDwNYLtj26XUokX53EyJk9kpvxezD1kjQRhX32bL/1TjShUkwxgkqX05QyHb26LexYtjTaJ5Eh9VMCEt</vt:lpwstr>
  </op:property>
  <op:property fmtid="{D5CDD505-2E9C-101B-9397-08002B2CF9AE}" pid="47" name="_IPGFLOW_P-DAED_E-0_FP-1E_CV-1748F583_CN-41828A13">
    <vt:lpwstr>DPSPMK|3|384|2|0</vt:lpwstr>
  </op:property>
  <op:property fmtid="{D5CDD505-2E9C-101B-9397-08002B2CF9AE}" pid="48" name="_IPGFLOW_P-DAED_E-1_FP-1F_SP-1_CV-D82E4C70_CN-AF8A80CA">
    <vt:lpwstr>qXRWI8gFPMy3x0kmrs1j7O0AGdx5VTMZg4PQRGt7QahNCo8S6gRHi+5rtR2gdwLaaeZZMhCLjvV/Bql0Llg9SXhd1bFWZcF3xdaNb9vwoYQsG+2EiJXFDJN+x+ae9i9v4Mdidp8J+9CKmI5onm6P9Ey2zpNhQwnGPFIWxf+ZAA9qJ4/VJREOpGRdciD/xSCjgjYr1LRf+iaPo0EDhxvdsJs/r9jioqM2Efcz7zmafZcUn8oHdJMrcacsJ/dnpWj</vt:lpwstr>
  </op:property>
  <op:property fmtid="{D5CDD505-2E9C-101B-9397-08002B2CF9AE}" pid="49" name="_IPGFLOW_P-DAED_E-1_FP-1F_SP-2_CV-F22053FD_CN-4826292F">
    <vt:lpwstr>xgctIBFp+y6TvoN3j75MG9YTqObASx4lrW5822rDLtkkEiNVpZLjWm2MeDBAAkLu0Ns9l6zZyT8HWZ7pnXxU5eedqVzUL3ubC4zAa+VBoZeUf8Xl0YzJZcEISHbaUCqUz</vt:lpwstr>
  </op:property>
  <op:property fmtid="{D5CDD505-2E9C-101B-9397-08002B2CF9AE}" pid="50" name="_IPGFLOW_P-DAED_E-0_FP-1F_CV-1748F583_CN-FC48E6DD">
    <vt:lpwstr>DPSPMK|3|384|2|0</vt:lpwstr>
  </op:property>
  <op:property fmtid="{D5CDD505-2E9C-101B-9397-08002B2CF9AE}" pid="51" name="_IPGFLOW_P-DAED_E-1_FP-20_SP-1_CV-4B70ED98_CN-8EBBA97">
    <vt:lpwstr>qXRWI8gFPMy3x0kmrs1j7G/cfPKAkgGi5Aq0t/3B1XNRFOHvQAYJhopPmRF/pNzrN85kZc2q8BTHxC65vc5p4nooFf2BO9yHS69/sPShMVuMXRiPQYxxvLUFGP85OTfBPclKNI5lpOiQGdc8s+EpIN67ebR4u5G1VuWQnDdE3Akv6A2J9UShcu91KxStUGURzbEdMkZ/vTuBU0h/w7DpudDmwJsmuMDWuKIDwcxWsfltRgqmwoxQ3efu3T72NZH</vt:lpwstr>
  </op:property>
  <op:property fmtid="{D5CDD505-2E9C-101B-9397-08002B2CF9AE}" pid="52" name="_IPGFLOW_P-DAED_E-1_FP-20_SP-2_CV-7C9B0B2_CN-E973D358">
    <vt:lpwstr>Cjg1iLKWDvLb3DjCeTKjbJ6Y9caAMIT8jQSrrolelXBHWz781HvFmfE56DEtpxUALHtlgxySbeJ4J3OblNhuTdYpVuvcYg7hCQzbiLByB/CYJqRQJkMOmk0TUZrMXBB9A</vt:lpwstr>
  </op:property>
  <op:property fmtid="{D5CDD505-2E9C-101B-9397-08002B2CF9AE}" pid="53" name="_IPGFLOW_P-DAED_E-0_FP-20_CV-1748F583_CN-9A38605F">
    <vt:lpwstr>DPSPMK|3|384|2|0</vt:lpwstr>
  </op:property>
  <op:property fmtid="{D5CDD505-2E9C-101B-9397-08002B2CF9AE}" pid="54" name="_IPGFLOW_P-DAED_E-1_FP-21_SP-1_CV-20915331_CN-E4F90254">
    <vt:lpwstr>dp5amubRblwO5LJmZoqeEF5LwXLYLYouOvN46C+4GdNw2V8oXRydxMa92Y+Xl9R5T4QJQyg5+nI6FAXM9W8PeaCLu3HxLsuHsX+jw2K8gxvEJiZQZNP04Kx2ZI+5q3JieA1amRZnXpx0nGy1mzCFLPdAQq/SDFCTHsY8zqBxppQC8N6zPzqBzWtqGEzIO+HwmLLy9KXnpDg0SIGhvVdUExJNU3jbuEeMGzhsGAsUuc8Y6Jfd/1RzjNRg/NqqCQj</vt:lpwstr>
  </op:property>
  <op:property fmtid="{D5CDD505-2E9C-101B-9397-08002B2CF9AE}" pid="55" name="_IPGFLOW_P-DAED_E-1_FP-21_SP-2_CV-ED45B135_CN-5C9E3F67">
    <vt:lpwstr>llVdTpmdHSztVQvANJFicCc+1Fmbs88pEr6tpFUXtFsV+4i+k1dPC8g0QOSJ10fJCgJ71mzlKjAIQK8vMPYp6+5yR3Ycc9UE3KgzAsnxE2hevGtAGqhNLDVWqPxwpSnCu</vt:lpwstr>
  </op:property>
  <op:property fmtid="{D5CDD505-2E9C-101B-9397-08002B2CF9AE}" pid="56" name="_IPGFLOW_P-DAED_E-0_FP-21_CV-1748F583_CN-47AEB9DA">
    <vt:lpwstr>DPSPMK|3|384|2|0</vt:lpwstr>
  </op:property>
  <op:property fmtid="{D5CDD505-2E9C-101B-9397-08002B2CF9AE}" pid="57" name="_IPGFLOW_P-DAED_E-1_FP-22_SP-1_CV-3AD149CA_CN-F567F051">
    <vt:lpwstr>dp5amubRblwO5LJmZoqeEOpGVD0vVy5WMmzOR3Tj1x4efRq4L/pv3EOh49ZlTgiNyl4pstqDvrtKgm/5fScCC3Kgx4/bgK9CyNIgyugBqvYptw8D5WH4WwF5M8ZB1o180YRSuhRAN+9VY6sAyWY6xaKG0/IbygXJ+EJYjOg6AHqii/0KfmIn9/bEXodUB9QGMX98jmarAUoh2DSRFtTAxHn2iU9TgHjC9DijxnaxYKu1NrNLVtMwXwAtFory9wa</vt:lpwstr>
  </op:property>
  <op:property fmtid="{D5CDD505-2E9C-101B-9397-08002B2CF9AE}" pid="58" name="_IPGFLOW_P-DAED_E-1_FP-22_SP-2_CV-5864B0A4_CN-2AE400A4">
    <vt:lpwstr>Plf6k49p9YFtq9ngtPzWp8Gp7UuWMdJgmyRErc06qe/if4TbMYg21rKgyNmn2rNu81gmm5DPxJxf3xuh1JVjzYNLYyqjGk1OYbn5o6rzZ/2V/buY0yri6bao482V1rd4Z</vt:lpwstr>
  </op:property>
  <op:property fmtid="{D5CDD505-2E9C-101B-9397-08002B2CF9AE}" pid="59" name="_IPGFLOW_P-DAED_E-0_FP-22_CV-1748F583_CN-FA64D514">
    <vt:lpwstr>DPSPMK|3|384|2|0</vt:lpwstr>
  </op:property>
  <op:property fmtid="{D5CDD505-2E9C-101B-9397-08002B2CF9AE}" pid="60" name="_IPGFLOW_P-DAED_E-1_FP-23_SP-1_CV-203B53F4_CN-DCE6A992">
    <vt:lpwstr>dp5amubRblwO5LJmZoqeEOiyOuujVkstGpXVJS6cB/FC+9DGVqhzYhmeSNi4Rl4zHxWs5R0aHUDRnxDjDDL36XZTvctWmrXHFbO+etJ6dCy6cH05nvFgpJVoxXM1gAHfu4xWtWxKfaEGCQxhaLE80BHA4W9zamvu0dgBTYMzc7bRk1So8/AhCR/RoIGmWyjc+mFhxTsQ1UmgEMD75KJu67BihpR63UX+KcJTPXYTg9HCTmhUuFhbs6wz5NfcWmT</vt:lpwstr>
  </op:property>
  <op:property fmtid="{D5CDD505-2E9C-101B-9397-08002B2CF9AE}" pid="61" name="_IPGFLOW_P-DAED_E-1_FP-23_SP-2_CV-171E055E_CN-C5AF6635">
    <vt:lpwstr>+Pa4iAwVVjt900dcR0PBjh1/CZKcHRxgvoAZ32XuI4aFDk5/zEneGDIBJ8aiLSy1GtrKNJL/dAFKUOXw5qlT/Kn8WOwVCqNSbiHB7Qtli+irHQ1CbskpijoMdQ0MSwl93</vt:lpwstr>
  </op:property>
  <op:property fmtid="{D5CDD505-2E9C-101B-9397-08002B2CF9AE}" pid="62" name="_IPGFLOW_P-DAED_E-0_FP-23_CV-1748F583_CN-27F20C91">
    <vt:lpwstr>DPSPMK|3|384|2|0</vt:lpwstr>
  </op:property>
  <op:property fmtid="{D5CDD505-2E9C-101B-9397-08002B2CF9AE}" pid="63" name="_IPGFLOW_P-DAED_E-1_FP-24_SP-1_CV-4C53415A_CN-AB895628">
    <vt:lpwstr>dp5amubRblwO5LJmZoqeEH8bGrD1Qv3Zi4i4sQleQ5bCDpsK67acN6TEwvNuhKYkhIvZzUSVod9YEONZ5cIzlLzH9Dfpi1/N465UowYVgsm5I7po24ryrwxkPuQmw5f3b9OcO7LkxM22rbQnH1CRU1uqo6QZBASvSO2a3Qel+H6rELcni1l5e13i1RKbcIU9Ij1iFkNsj817z4xyO3/RsHx4s565FXgtidxr5BDLkXF57MYlf4jCGiJzr1VqxGw</vt:lpwstr>
  </op:property>
  <op:property fmtid="{D5CDD505-2E9C-101B-9397-08002B2CF9AE}" pid="64" name="_IPGFLOW_P-DAED_E-1_FP-24_SP-2_CV-8B7612EF_CN-E670A858">
    <vt:lpwstr>JPH3Hq8bjqpDJ2mmVHcnNfOVV32+gL8Z64iznCZov9cIyW/W4gWqFFYUMghSGrXPQCmRq4zRpYNpWliaVxpT2kwuACae3T1Uyqrz4EkiDdUHna33PXNlPsoU6qii24WOS</vt:lpwstr>
  </op:property>
  <op:property fmtid="{D5CDD505-2E9C-101B-9397-08002B2CF9AE}" pid="65" name="_IPGFLOW_P-DAED_E-0_FP-24_CV-1748F583_CN-5A810AC9">
    <vt:lpwstr>DPSPMK|3|384|2|0</vt:lpwstr>
  </op:property>
  <op:property fmtid="{D5CDD505-2E9C-101B-9397-08002B2CF9AE}" pid="66" name="_IPGFLOW_P-DAED_E-1_FP-25_SP-1_CV-B83E22AF_CN-925AC2A9">
    <vt:lpwstr>dp5amubRblwO5LJmZoqeED1E24akZksEnUAWuAWueqCk0yCF4gmfvCvFSVdcLL+kDgr8Ocq/VplCZuYx7DByYa4Ez/C3sP5ETac5odJo6Q3Lj430rA0JLgcxxxh0toEo6A+jHkH+8HDacyIoxjDsYk19xyZIevlg6qpRO9fGqc6JV0yBPFFKPTzZYD3NOmxE4h1MX+2sFp/HHMdeTwFge8FapjH/FXfX6paRqZ24wdCz9dYaNwIiZ+9Sugc7JvK</vt:lpwstr>
  </op:property>
  <op:property fmtid="{D5CDD505-2E9C-101B-9397-08002B2CF9AE}" pid="67" name="_IPGFLOW_P-DAED_E-1_FP-25_SP-2_CV-7EE9540_CN-DA388B2D">
    <vt:lpwstr>ruFzs2HRAZfrkKg9AJrTpw6MpUc+BHNWcSzQk6JAK9wdDDUdyF1X5nso+Ej1hsd9kY72rU4ocSb8DnszM0P7ZfgA5nFQdBiPcVgVAAByVPcuIqS3grxbU+YLOyeR+mK6p</vt:lpwstr>
  </op:property>
  <op:property fmtid="{D5CDD505-2E9C-101B-9397-08002B2CF9AE}" pid="68" name="_IPGFLOW_P-DAED_E-0_FP-25_CV-1748F583_CN-8717D34C">
    <vt:lpwstr>DPSPMK|3|384|2|0</vt:lpwstr>
  </op:property>
  <op:property fmtid="{D5CDD505-2E9C-101B-9397-08002B2CF9AE}" pid="69" name="_IPGFLOW_P-DAED_E-1_FP-26_SP-1_CV-4E59803C_CN-747D0315">
    <vt:lpwstr>dp5amubRblwO5LJmZoqeEOBUmt0GBnOTuF/qzbEnjvJDYBcbyV/yM7jLG1WDXbBarUgnWCti+eK5dsT6fHmiAdabdBiLJsRJA4IckgRO8U+ST24DvSvSa3q0bJLKVGdtRDeW2o4ZakKxpjiwjTc3j/QLyAqSD8jaRMeRa8VsSDm/FkXxglO1xR3gmzakIp7S/GY2YzNphTbEKbtEknu+Jz/yYWbgsianwGkPGrJszQ1EH/ZOfU+qUAJyIKOdKtY</vt:lpwstr>
  </op:property>
  <op:property fmtid="{D5CDD505-2E9C-101B-9397-08002B2CF9AE}" pid="70" name="_IPGFLOW_P-DAED_E-1_FP-26_SP-2_CV-CE3DA9DD_CN-5FC59E3A">
    <vt:lpwstr>4sEP/OY4aEQfSliuCazYGZm34klP5ug5q8U+/Nacq/nHEAEb4ytAxl6S+GbHjvqRjVXlOFI0kLuFRyYAhKhXUndrfB1s3XLraUSe6d3POkBBqKEh8iOrXfoyWUbg7wLL+</vt:lpwstr>
  </op:property>
  <op:property fmtid="{D5CDD505-2E9C-101B-9397-08002B2CF9AE}" pid="71" name="_IPGFLOW_P-DAED_E-0_FP-26_CV-1748F583_CN-3ADDBF82">
    <vt:lpwstr>DPSPMK|3|384|2|0</vt:lpwstr>
  </op:property>
  <op:property fmtid="{D5CDD505-2E9C-101B-9397-08002B2CF9AE}" pid="72" name="_IPGFLOW_P-DAED_E-1_FP-27_SP-1_CV-4A2B6483_CN-A8400799">
    <vt:lpwstr>dp5amubRblwO5LJmZoqeEGm4JKiYez7O67oy/OFjtyBhCbuGLvqi5gmMjf8OkOlUPflQUln6qD1R2TlbKMeSdHe49VKKNdOBxzm0AIlPJLvV22VhyYD4Uc3+QjuN/0rzHsl8q4bZ0phCiVe71wwcYUslGvmJLUCjGnk+gaCSli8jRPhMf+oeiZzsn3d8FMCZVbhhXSo8dhk14VnrIXzhHKIecOYrWJcJuehduT2btDNRvjIVvEboMrtfYcol0tu</vt:lpwstr>
  </op:property>
  <op:property fmtid="{D5CDD505-2E9C-101B-9397-08002B2CF9AE}" pid="73" name="_IPGFLOW_P-DAED_E-1_FP-27_SP-2_CV-D6633B5E_CN-A45CD19F">
    <vt:lpwstr>cD96Io5wjWoKaqn7GX+yQJbveqpB1gVJq4FSrLfKtLLikl/nI7euM7O69BzL5FJgO8oVNMPq3O0mmVJBi5CxY0NxhWqjVXAtpRdUkYWxVtsAW/hC2GL9NtxjGtT2U/DpX</vt:lpwstr>
  </op:property>
  <op:property fmtid="{D5CDD505-2E9C-101B-9397-08002B2CF9AE}" pid="74" name="_IPGFLOW_P-DAED_E-0_FP-27_CV-1748F583_CN-E74B6607">
    <vt:lpwstr>DPSPMK|3|384|2|0</vt:lpwstr>
  </op:property>
  <op:property fmtid="{D5CDD505-2E9C-101B-9397-08002B2CF9AE}" pid="75" name="_IPGFLOW_P-DAED_E-1_FP-28_SP-1_CV-162A8985_CN-79D478B5">
    <vt:lpwstr>dp5amubRblwO5LJmZoqeEIj3XS18GrPp47/QAiRujMYKuAX4FTtEQhxWsC9v/sEM7DxMSqBQrrxmh3aMgDI2xRJHhnNMuA+saQswEZ90dtVv1tNobZHN1UekZC0A4I2qNVRObW+5iCMIMAW8oA2uhM6mv+jY+Rifu2X+xRilACn80UF+fdwCyois2DqBRwK6RHfKQ/h59PBQ/XgyRP79FF/C/zWNzHfYcdx0UEjYwAsdfAaKAWv0d8kgpQpjgx7</vt:lpwstr>
  </op:property>
  <op:property fmtid="{D5CDD505-2E9C-101B-9397-08002B2CF9AE}" pid="76" name="_IPGFLOW_P-DAED_E-1_FP-28_SP-2_CV-3DE4E0ED_CN-F1CE851D">
    <vt:lpwstr>REQbE4Uj5H5IGwfyXA0rVNlAvs9v7bgcZ8ElC+RCdsL6jg44TVQ8nYt3LpfF2R06/sV0nN4U+aXeOoM5yboFeacEFa9gnsQCAqsfmfC8L9Nxr0Lje5ADqkOWOz458MJ9C</vt:lpwstr>
  </op:property>
  <op:property fmtid="{D5CDD505-2E9C-101B-9397-08002B2CF9AE}" pid="77" name="_IPGFLOW_P-DAED_E-0_FP-28_CV-1748F583_CN-C03BB332">
    <vt:lpwstr>DPSPMK|3|384|2|0</vt:lpwstr>
  </op:property>
  <op:property fmtid="{D5CDD505-2E9C-101B-9397-08002B2CF9AE}" pid="78" name="_IPGFLOW_P-DAED_E-1_FP-29_SP-1_CV-5B8180C_CN-D36A6A5D">
    <vt:lpwstr>dp5amubRblwO5LJmZoqeEOMT1fSp1pmCkVF6ctyIW7g41lZYG++CoCADjtqKIUfM7OCKqum+fcTvm2Os/gqSBVLrKWcXNtIEOXIcTqWpXkHsLVb58JaBr07czrToO5YRxtoyRYRpUa+OYpXTkmGqmmerf/lLv7D1l+/Mzknk52q7AalvGDKArFQVREp13tWH9RweUtKp5F2CjV/PiRNTVuQVQqsYxWjELnto5PbT1QkXwG4Q5/2derhZA/Cnmwu</vt:lpwstr>
  </op:property>
  <op:property fmtid="{D5CDD505-2E9C-101B-9397-08002B2CF9AE}" pid="79" name="_IPGFLOW_P-DAED_E-1_FP-29_SP-2_CV-946E1E47_CN-637FBC4E">
    <vt:lpwstr>lx6515QaHFUHbiMayDtrTtiDhveUvEs0JvGiMA3KlnkdQVCyhHRwc8WNuJoaDenW3XYKRc5ArmMNz0+wHv+7s4kmVqVaRTi4fG24vDKsRcEQA4B27/wCi33epR77LP4PX</vt:lpwstr>
  </op:property>
  <op:property fmtid="{D5CDD505-2E9C-101B-9397-08002B2CF9AE}" pid="80" name="_IPGFLOW_P-DAED_E-0_FP-29_CV-1748F583_CN-1DAD6AB7">
    <vt:lpwstr>DPSPMK|3|384|2|0</vt:lpwstr>
  </op:property>
  <op:property fmtid="{D5CDD505-2E9C-101B-9397-08002B2CF9AE}" pid="81" name="_IPGFLOW_P-DAED_E-1_FP-2A_SP-1_CV-C49F9508_CN-EE7C37B3">
    <vt:lpwstr>dp5amubRblwO5LJmZoqeEG+0aH3vgzRizcjfBaNkPONQxu2M89kgbQr0J6scCURpnjv5NguXdwpNyTQZOy6WVpRo0fee2646Ube7cghbQMGEIT5Rna6A+BJgeFLG3KNEM7H3gZQjGUZnFSMNtEEQY3w+n1sR1Adv5VOgBa5dkryb/qs0WI3cad7ZgVM47bA5RdFDMuo1R1ivS1rMUFzRMWZM1UyGLdFHwlwlYDWNK1m4s5Bfeany0gEGFh/Eqpi</vt:lpwstr>
  </op:property>
  <op:property fmtid="{D5CDD505-2E9C-101B-9397-08002B2CF9AE}" pid="82" name="_IPGFLOW_P-DAED_E-1_FP-2A_SP-2_CV-DBB8AEB1_CN-6F63572A">
    <vt:lpwstr>GXOnXmGbtcJAd3lQc9HOYfOOIgUkXt25E7ilB12LYlobijq6KntHvtySJDfY53KFptTf59zSbDrINffUqJDdqKq3eruFI6cAgtWM0u0jiMMjH/GZGyo9pSfV/P/i5wA1a</vt:lpwstr>
  </op:property>
  <op:property fmtid="{D5CDD505-2E9C-101B-9397-08002B2CF9AE}" pid="83" name="_IPGFLOW_P-DAED_E-0_FP-2A_CV-1748F583_CN-FD5AC55E">
    <vt:lpwstr>DPSPMK|3|384|2|0</vt:lpwstr>
  </op:property>
  <op:property fmtid="{D5CDD505-2E9C-101B-9397-08002B2CF9AE}" pid="84" name="_IPGFLOW_P-DAED_E-1_FP-2B_SP-1_CV-8F549C61_CN-51DDE01">
    <vt:lpwstr>dp5amubRblwO5LJmZoqeEAPePhy5O7jCExjOefXtgJsqVUF1s1wxUbBhI7JkJGyKQGpLzXsN65evJpxxSf/NMzYjFUQlgECtqJZa2e0He/G45cZ4JNeCdbB8o4bO0z2WWmkK6El859io//SjyqIRpS6ct82zL0SIkRo1heCUVI1Bkc4pHDr0v+LCsItX6KT8HXIX2VThthRZiqgydbni25MnUirUeEp6mjxLxGH/SIxtTfdhZ+ugkN/9/xP8mxs</vt:lpwstr>
  </op:property>
  <op:property fmtid="{D5CDD505-2E9C-101B-9397-08002B2CF9AE}" pid="85" name="_IPGFLOW_P-DAED_E-1_FP-2B_SP-2_CV-A3AED0B7_CN-8C4BF6DF">
    <vt:lpwstr>bWeo8hKFsF+q0lXn8OiqPu+/Z4Cb+MFBFg5WqFKzrcCsPGTwi+Vqmum7Wra/LIZ7RJyO7uwls0yTGfRzZwDwE7zabEO9JsS8AihY41VvEOzjLmBAIZzr09l1XP8aq/r4j</vt:lpwstr>
  </op:property>
  <op:property fmtid="{D5CDD505-2E9C-101B-9397-08002B2CF9AE}" pid="86" name="_IPGFLOW_P-DAED_E-0_FP-2B_CV-1748F583_CN-4090A990">
    <vt:lpwstr>DPSPMK|3|384|2|0</vt:lpwstr>
  </op:property>
  <op:property fmtid="{D5CDD505-2E9C-101B-9397-08002B2CF9AE}" pid="87" name="_IPGFLOW_P-DAED_E-1_FP-2C_SP-1_CV-BF1E9BA4_CN-992A1F58">
    <vt:lpwstr>29PY73CAkN5oEcHfMyPe9k0/OMHIrrYn2df+HpCD0dj+qAgK8WOsOX7a0ApLtowfBcPwPPz6Nikm2lYItzH62sCuGZek+UBUmLlAO7Ua8ZY5EkOQoptSMAyd0hl9sKgHZWu+oDLyTVe6sxWYmJaTTa012cvvyyMlqkxgtJ12GE2XyZvZldoO+9yl8EFooPp4fDWMBGfkp4eSbH4/3t6GSJfTDrm9EArXwjD+IOpTNmUhOib1OV748fKhpS72+AW</vt:lpwstr>
  </op:property>
  <op:property fmtid="{D5CDD505-2E9C-101B-9397-08002B2CF9AE}" pid="88" name="_IPGFLOW_P-DAED_E-1_FP-2C_SP-2_CV-D9133368_CN-DD7B8EA5">
    <vt:lpwstr>pxOXm02XYguVj65V18tyJ0PH6+u9/14SdO1JAHQ3My6CvIpbzJjPL0yFaAqh3HIKUo4bwS8nI6bPAnKNsVv7/6zHN//EUU2HXcte5K0z6LsIIBEP5tdqQmDhFK5lUudUK</vt:lpwstr>
  </op:property>
  <op:property fmtid="{D5CDD505-2E9C-101B-9397-08002B2CF9AE}" pid="89" name="_IPGFLOW_P-DAED_E-0_FP-2C_CV-1748F583_CN-9D067015">
    <vt:lpwstr>DPSPMK|3|384|2|0</vt:lpwstr>
  </op:property>
  <op:property fmtid="{D5CDD505-2E9C-101B-9397-08002B2CF9AE}" pid="90" name="_IPGFLOW_P-DAED_E-1_FP-2D_SP-1_CV-3F3B2CA4_CN-31D5141F">
    <vt:lpwstr>29PY73CAkN5oEcHfMyPe9tnF86t8bjxgXKyWLp6snBkBmqBbtQpHPC5LXFFpVjWHPu3q1pTa6ILq4i9KjzGDzrzQVH1hEzI4z19LfK0yyQYwBrLxV3Wl39ku58sT2t/xyBax2Qu7oJqGBGWk2B5ElU6tbNLhWePJdya4DLg2nnkX1BClMRQS3voRteXUHwRq9EvsH/Sjc+sjsdSY6f6yp46Iv8b67Rz7uVqUuavc1P85e4HAUA++HYutqMauarP</vt:lpwstr>
  </op:property>
  <op:property fmtid="{D5CDD505-2E9C-101B-9397-08002B2CF9AE}" pid="91" name="_IPGFLOW_P-DAED_E-1_FP-2D_SP-2_CV-6BEA8A66_CN-48227CBD">
    <vt:lpwstr>bhwrHsgCx+67XR6ljIYnMgNaYK4NzY9zBtuyeQf3G6yvh2NawQWMKhRU3cn3LwPgYUok5zVuj0WYOPQMliT85AwpXbMKy2/Aw5OL+F+f4P0eUgCiL3zar4gzgJJRhYekK</vt:lpwstr>
  </op:property>
  <op:property fmtid="{D5CDD505-2E9C-101B-9397-08002B2CF9AE}" pid="92" name="_IPGFLOW_P-DAED_E-0_FP-2D_CV-1748F583_CN-E075764D">
    <vt:lpwstr>DPSPMK|3|384|2|0</vt:lpwstr>
  </op:property>
  <op:property fmtid="{D5CDD505-2E9C-101B-9397-08002B2CF9AE}" pid="93" name="_IPGFLOW_P-DAED_E-1_FP-2E_SP-1_CV-F56332C9_CN-D2C0D44D">
    <vt:lpwstr>29PY73CAkN5oEcHfMyPe9sWJN5UpuGnvUH0OvImVcBFTVcf4k5qCL03uWrA8MsxlGTNzF7en+U4nFE0DR9oQ9VBZHIgpmhqprH6N2oMiSBhfKZqGidAdVSPf7haystV/jwgQoMd09IvuxB5kjlk4Zzb8o6EkKJ5AToYdO+27GNjL0SgQZHi69tI5yDYEJRVFH6F96nrdrNOMLPOuelBSv6Z6vfTsV9slnKoqdd6Ax42XJEHe4vl1HmiF417wY8S</vt:lpwstr>
  </op:property>
  <op:property fmtid="{D5CDD505-2E9C-101B-9397-08002B2CF9AE}" pid="94" name="_IPGFLOW_P-DAED_E-1_FP-2E_SP-2_CV-41A48C6D_CN-2FF9EE40">
    <vt:lpwstr>V3LTQxvg4HPKcppW5LOoDvEWZ34JkvrLue9/Od2ad0t3ZRjvONn6FSeCRAdFh8T1ZZ7My6UlUnoQNdhSgpxh37I+6K8nyyYuG3tMRB5zg/uoB7+/hroFwGwZnyOK8NelD</vt:lpwstr>
  </op:property>
  <op:property fmtid="{D5CDD505-2E9C-101B-9397-08002B2CF9AE}" pid="95" name="_IPGFLOW_P-DAED_E-0_FP-2E_CV-1748F583_CN-3DE3AFC8">
    <vt:lpwstr>DPSPMK|3|384|2|0</vt:lpwstr>
  </op:property>
  <op:property fmtid="{D5CDD505-2E9C-101B-9397-08002B2CF9AE}" pid="96" name="_IPGFLOW_P-DAED_E-1_FP-2F_SP-1_CV-9B5B2698_CN-3BBDB134">
    <vt:lpwstr>29PY73CAkN5oEcHfMyPe9oOMTri+XBCGZrjJd9tzbe5swcneY+n4hejaI/Xu8z0wEcqfG+Fl+NT0NB5rWWLeUZl/rR3wYrHICo5YXvrOq4oDVEA3fxeWkGe5nmdMDaOoPs30KbqAJWWwct9tcCO5PxUNu01+jpxhqTBc+7DPZ0e4o2tO4uoEJ8aMo/oborY62mwW8Gt/sO9zm7XDDPpNZKJFP6hSkjhyNaVdi0chr0nUMIyJLlVK0tjMtKg8YmD</vt:lpwstr>
  </op:property>
  <op:property fmtid="{D5CDD505-2E9C-101B-9397-08002B2CF9AE}" pid="97" name="_IPGFLOW_P-DAED_E-1_FP-2F_SP-2_CV-FD811200_CN-589ED674">
    <vt:lpwstr>4yBN8mPttWuSfdCmqKRouZhkbbPfcE4jIWuIKeyXj/lUjT3t/nl36NH/sMJOiKx/YK+tHbZrscKBtTgbLxC1Bv9QSB1OlEcrlotYYfQ0zJ9f8e5oqTIriE98PjY+qGIHf</vt:lpwstr>
  </op:property>
  <op:property fmtid="{D5CDD505-2E9C-101B-9397-08002B2CF9AE}" pid="98" name="_IPGFLOW_P-DAED_E-0_FP-2F_CV-1748F583_CN-8029C306">
    <vt:lpwstr>DPSPMK|3|384|2|0</vt:lpwstr>
  </op:property>
  <op:property fmtid="{D5CDD505-2E9C-101B-9397-08002B2CF9AE}" pid="99" name="_IPGFLOW_P-DAED_E-1_FP-30_SP-1_CV-AABF0BC2_CN-4A4562C5">
    <vt:lpwstr>Zu5cPn1cDmIceS47/6T58YWkcd7pO9vBmsNE7Zcg9edCckv1e4EbT7mLeYzQ2SeTJ8pf2Hqg/0ATg1AFcuAsfPbKOe7XjChUii8C1Sm//W/ECNwZFCcSxofZ0KbqeqZQu2U4rrX75mwOnlFgJ8LugHjszJnip3tTM7nvQj1TONQ8KkGfpssX00X1PUPd6/h0pd8McuWiC6vM2wfg2sybXmGPSyYHQ9CV8GS6CDyOyoikM1SkNApIpakYVGVWjOt</vt:lpwstr>
  </op:property>
  <op:property fmtid="{D5CDD505-2E9C-101B-9397-08002B2CF9AE}" pid="100" name="_IPGFLOW_P-DAED_E-1_FP-30_SP-2_CV-7BBCBA7A_CN-259749CB">
    <vt:lpwstr>N8eXrcAkJQt3Kps0E8PSDjuWchIBnS+tDreCcj4kuYVHpu+rto/XeG+WpA1vKOM0aZDG4Lz931HZ036fiHLZyD3d2bM1UDpuRD0YMIJcuPgy8UsAxLe0jLdXhGWlEBcAI</vt:lpwstr>
  </op:property>
  <op:property fmtid="{D5CDD505-2E9C-101B-9397-08002B2CF9AE}" pid="101" name="_IPGFLOW_P-DAED_E-0_FP-30_CV-1748F583_CN-7378129">
    <vt:lpwstr>DPSPMK|3|384|2|0</vt:lpwstr>
  </op:property>
  <op:property fmtid="{D5CDD505-2E9C-101B-9397-08002B2CF9AE}" pid="102" name="_IPGFLOW_P-DAED_E-1_FP-31_SP-1_CV-12786478_CN-175B530C">
    <vt:lpwstr>Zu5cPn1cDmIceS47/6T58T+fQ7mgJ2mPqwL1E7rqdP+G3iurWw5VtXTmWp4rdh7ywnPQqc8/squGapGJUspZJ5Id9DmLGFOzP8rLIuN9wGBBdHb8jS9NPiaeE1m6fnCjvBUIpGNeSf5GZf9kUfWq1vaSBFpY1MxdcrxVkjHUFKAuu5GZK9jDTjw+9uB6iGIFHk7NiMtQNRoVf3wK+Mmsmz4kVMDMXyTRHeFAphjsGBBxwEy7dnXSanufSoCqXx4</vt:lpwstr>
  </op:property>
  <op:property fmtid="{D5CDD505-2E9C-101B-9397-08002B2CF9AE}" pid="103" name="_IPGFLOW_P-DAED_E-1_FP-31_SP-2_CV-1916BBA3_CN-9B691295">
    <vt:lpwstr>JpmXjDBwx/wa9QijPoICj7ouysICfKBsYqyGNg/waWgfgMNyvhg6PQbwnAywwEwG6uAsgA5Yy6xgB4XceNHSQoVnBVL90M2jyH3GA//kqfEt8dFnnNQKtYVPSVuk/t0R0</vt:lpwstr>
  </op:property>
  <op:property fmtid="{D5CDD505-2E9C-101B-9397-08002B2CF9AE}" pid="104" name="_IPGFLOW_P-DAED_E-0_FP-31_CV-1748F583_CN-DAA158AC">
    <vt:lpwstr>DPSPMK|3|384|2|0</vt:lpwstr>
  </op:property>
  <op:property fmtid="{D5CDD505-2E9C-101B-9397-08002B2CF9AE}" pid="105" name="_IPGFLOW_P-DAED_E-1_FP-32_SP-1_CV-3D71076_CN-DF56CB9C">
    <vt:lpwstr>Zu5cPn1cDmIceS47/6T58TreOSGby931io3PHoNfLSZ/5CvG8efBFYlyUGlMrWzWEqIk6vtL91vuw7vJ17PPGkYZ96QcZE8HxWqrB+3BXyQlg5I7mGQGk85hKcZjqNoqT1BJgB9+EL3WEd3LG7yWwzXyswKbvJfRzzewAPOvZawBu0L8JqJAQ8utJLlW7cGAQJjV3i1QSnl41pq9G8WCVGE7PY1vBbBVXefFhBLIpNs+Pw6rfr2sCBuhb6ORkFA</vt:lpwstr>
  </op:property>
  <op:property fmtid="{D5CDD505-2E9C-101B-9397-08002B2CF9AE}" pid="106" name="_IPGFLOW_P-DAED_E-1_FP-32_SP-2_CV-F6BA751B_CN-E2147200">
    <vt:lpwstr>kdyWnqtq6Pze8Z1UhdMkg9SQGXJPXRYAwJ5Zf0n9etohZVe000efVVsT1HK4oxDEqhkhdliF6A6eLhz+ICOhufnzIV42YUdWylDOkeJdwav80uDZvNGAuQb/TLd2BPdoR</vt:lpwstr>
  </op:property>
  <op:property fmtid="{D5CDD505-2E9C-101B-9397-08002B2CF9AE}" pid="107" name="_IPGFLOW_P-DAED_E-0_FP-32_CV-1748F583_CN-676B3462">
    <vt:lpwstr>DPSPMK|3|384|2|0</vt:lpwstr>
  </op:property>
  <op:property fmtid="{D5CDD505-2E9C-101B-9397-08002B2CF9AE}" pid="108" name="_IPGFLOW_P-DAED_E-1_FP-1_SP-1_CV-18A2CD3B_CN-B8A479D4">
    <vt:lpwstr>Zu5cPn1cDmIceS47/6T58YgMuQjINLAaCYx8tSIc5P2jmWwXt8CnOAQ/vmbHb44tTS83WJcxA1x4RkZ/TQRa5efk3dMvD8WM2F3LQbxKmzOR0zKsnpx4HEjSM4ihOoHgkn10o14JBo9tYiYXcdIVFH2/LBSXsf0dTLBMZ6sfHjiS5YpfCFyBbJVvANvFJkjb180rP+es3YgLGDFEgEa0RJoh38wsV6t/6Sq1Wb+3tA5NfIOiOLURcRTop6KiVsW</vt:lpwstr>
  </op:property>
  <op:property fmtid="{D5CDD505-2E9C-101B-9397-08002B2CF9AE}" pid="109" name="_IPGFLOW_P-DAED_E-1_FP-1_SP-2_CV-C110A079_CN-552BFD32">
    <vt:lpwstr>ojasI26gyhvTNG0PDGwOCpPfD/rV2UeYQIpg3eBfK4IiW3fWmF9c1nbb0/oMClumpC9WSPhC3Es8/F5cgCFpKlkS+C6pyxeN12kqFG/vZNqcU32478ucsnR2VfUVYjPd5</vt:lpwstr>
  </op:property>
  <op:property fmtid="{D5CDD505-2E9C-101B-9397-08002B2CF9AE}" pid="110" name="_IPGFLOW_P-DAED_E-0_FP-1_CV-1748F583_CN-8CA36F19">
    <vt:lpwstr>DPSPMK|3|384|2|0</vt:lpwstr>
  </op:property>
  <op:property fmtid="{D5CDD505-2E9C-101B-9397-08002B2CF9AE}" pid="111" name="_IPGFLOW_P-DAED_E-1_FP-2_SP-1_CV-46A63CD7_CN-911CABD4">
    <vt:lpwstr>Zu5cPn1cDmIceS47/6T58Yf/iKkz+TDWet7DIymAh2pmCKhIzUoEspklvzl8tSnKYIbIbi9PW0NDdFBlvl7w2Avhz88p8wfNwADs2ZBiAHR9gNhE1D+rh6iyIsbPw2FhnvV337PUpN3iaTtLEHPDPftOCQB9Z5JmFHf61Su1/KfSmmxsGFKjOLlwFjD6ZrzJZNZCLqa+KgW6ir0LoqGAzcywE6Gzvv+cZbs2zywnqq5u/9O1oBksic1S3nFaYji</vt:lpwstr>
  </op:property>
  <op:property fmtid="{D5CDD505-2E9C-101B-9397-08002B2CF9AE}" pid="112" name="_IPGFLOW_P-DAED_E-1_FP-2_SP-2_CV-F34F7C56_CN-FCE7ED9B">
    <vt:lpwstr>Of3vP6J0LpDewBZnljDuub55WdlMKfC7Q3XGFTPqADOGdVFu2vgM7I3t040YcGg67lPUhdm2rbVR2/fMrKDluvhuE9oeztHJxdR9md4onVHx2wgsaghlpf/u44pNEppVm</vt:lpwstr>
  </op:property>
  <op:property fmtid="{D5CDD505-2E9C-101B-9397-08002B2CF9AE}" pid="113" name="_IPGFLOW_P-DAED_E-0_FP-2_CV-1748F583_CN-316903D7">
    <vt:lpwstr>DPSPMK|3|384|2|0</vt:lpwstr>
  </op:property>
  <op:property fmtid="{D5CDD505-2E9C-101B-9397-08002B2CF9AE}" pid="114" name="_IPGFLOW_P-DAED_E-1_FP-3_SP-1_CV-3CD79570_CN-2C118B3">
    <vt:lpwstr>Zu5cPn1cDmIceS47/6T58V8wIBcio8cUJtQaa1PK2352wMXwZ23OtnvkZe/v8wrnSsubK+yCxV9BruQISP23YLen6nViyxxQUPWfaEPXuSBL8HKMZ8YVUQo5UfCTnUth460ChD5+XBbZKO4yq8QFl1/xYWxKDbeQHNPbYqp4Jl30FmcXsQna2ofqfsAilJafywgcG5Zmea13PKQyNAv/EQzeF774v9TZOxjdJ5MbPjlNUI6yU7ylMUvdYEOQ3kK</vt:lpwstr>
  </op:property>
  <op:property fmtid="{D5CDD505-2E9C-101B-9397-08002B2CF9AE}" pid="115" name="_IPGFLOW_P-DAED_E-1_FP-3_SP-2_CV-5E59F72C_CN-E15998A2">
    <vt:lpwstr>vC41c1tcI74QoGFyIdqnEaCxNuecofwODl2LXDVYyX3CN8NVdoLInyZ9/sqsmOFA55FZHbDyGt/NVmp9O9RGw+1fPGADycGUTDfMzaaS9jdGvNIpdB4JNm0OHEhj654Tl</vt:lpwstr>
  </op:property>
  <op:property fmtid="{D5CDD505-2E9C-101B-9397-08002B2CF9AE}" pid="116" name="_IPGFLOW_P-DAED_E-0_FP-3_CV-1748F583_CN-ECFFDA52">
    <vt:lpwstr>DPSPMK|3|384|2|0</vt:lpwstr>
  </op:property>
  <op:property fmtid="{D5CDD505-2E9C-101B-9397-08002B2CF9AE}" pid="117" name="_IPGFLOW_P-DAED_E-1_FP-4_SP-1_CV-B0344579_CN-84A46EBF">
    <vt:lpwstr>Zu5cPn1cDmIceS47/6T58XPNuPW/1gSSCX+xqdOAmrk8gDtxlprAHzzz6cLi2+BZgm3BOp4hTiBRfXLWUdySF0f/1gxg88CjE98rasmEnsD4zEbcIUJEl1Fxjvd1pSuCVgBxyRJUWWTxrmuKYjvCEmfACRj0VOJTsmcWj0xMbWHofh3nIxBYnsxRgfAini+JoqsOW08jKNTwLZ0Z+uiuBH7oacDVVa9kE+KbrgwUB7CP4Fqv0yEbXklB8U7Oa1N</vt:lpwstr>
  </op:property>
  <op:property fmtid="{D5CDD505-2E9C-101B-9397-08002B2CF9AE}" pid="118" name="_IPGFLOW_P-DAED_E-1_FP-4_SP-2_CV-7818C909_CN-D6BA686E">
    <vt:lpwstr>Li61uFgymDpxsPBjfET1Oq+VxuEpkjuI7ocwjnVaZoFY70/yOm2PClMqGyG4TOtBmVaKOPkxmB6LsqRl4yZm0O/QOZL/MBk3cluOYc+OxdBhahv4fgfozo9DZUzDQ5zbh</vt:lpwstr>
  </op:property>
  <op:property fmtid="{D5CDD505-2E9C-101B-9397-08002B2CF9AE}" pid="119" name="_IPGFLOW_P-DAED_E-0_FP-4_CV-1748F583_CN-918CDC0A">
    <vt:lpwstr>DPSPMK|3|384|2|0</vt:lpwstr>
  </op:property>
  <op:property fmtid="{D5CDD505-2E9C-101B-9397-08002B2CF9AE}" pid="120" name="_IPGFLOW_P-DAED_E-1_FP-5_SP-1_CV-A238E18F_CN-24BE3CD2">
    <vt:lpwstr>8ffYSFXF5Pc2G1J0GZCja6ITD8sOgbe5uncXEF3PeyqsXGDDFRpA+x7tX2RVD+CnTqTz/ijaVBVBRBX64xstWGsHvsM2Cr6+zjF1a0JlHqDxLzPSWjipLMD5FGqYzVKrZTziFp6/EbQ2mKG025Z97d2yyqfRqhDtE7LUjOW+oWZi6upp3E+czrofGp+Gygsz/OqbaZEN/M11c5LMbNKqXfC5VK5OdNissG55CivUyXZWPGb5mK9YdLTBT6dFJXI</vt:lpwstr>
  </op:property>
  <op:property fmtid="{D5CDD505-2E9C-101B-9397-08002B2CF9AE}" pid="121" name="_IPGFLOW_P-DAED_E-1_FP-5_SP-2_CV-EB4E91F0_CN-C422055E">
    <vt:lpwstr>aIQ3yeIz+Bmtkj+K/kdZFs1TctkpMFG7lMdJxy7POS53PW5pUZg3jSP90lTD6iO7M6PUN7rRmvuxrQO8pnjA9mr1LompNNj7tevZQ9KUpkDPWqsOhO7McfcX576RC26RQ</vt:lpwstr>
  </op:property>
  <op:property fmtid="{D5CDD505-2E9C-101B-9397-08002B2CF9AE}" pid="122" name="_IPGFLOW_P-DAED_E-0_FP-5_CV-1748F583_CN-4C1A058F">
    <vt:lpwstr>DPSPMK|3|384|2|0</vt:lpwstr>
  </op:property>
  <op:property fmtid="{D5CDD505-2E9C-101B-9397-08002B2CF9AE}" pid="123" name="_IPGFLOW_P-DAED_E-1_FP-6_SP-1_CV-25360B7_CN-B0A24F35">
    <vt:lpwstr>8ffYSFXF5Pc2G1J0GZCja8PgnRiiKDExa1j38LP+NFQi+KaUxtZ/FqSPVa59MDsE74q2XH4XnHVSXYjoXQE9tXhIE47pGZ50AHxKsiQ37Nl4y/b7uVc929J72bUYL20GaN763JCmmE2oMyu2jsqv0wzCPYNH9GQxN+8V6elxHBs9aBLrTPDpjGuJpEn6e/G7jf7lq5y74CLvAbAdhE1SEWkH7e44wc5BhCH1qZCTF6Ilbk6m9juuofFUndl6SPf</vt:lpwstr>
  </op:property>
  <op:property fmtid="{D5CDD505-2E9C-101B-9397-08002B2CF9AE}" pid="124" name="_IPGFLOW_P-DAED_E-1_FP-6_SP-2_CV-F7651502_CN-FFB75EF8">
    <vt:lpwstr>IC59Uu/nBRQdiZdR7rOpDwXXiQGybVu/EPbg0e+mZalM+ti47a5e3bu/vx/F/sIADhcVJB4WHFcCgjcolLNifUSvcHQDaiK6d/bf+1z8eYIzVVD7bWV4VTw7cULi1D01g</vt:lpwstr>
  </op:property>
  <op:property fmtid="{D5CDD505-2E9C-101B-9397-08002B2CF9AE}" pid="125" name="_IPGFLOW_P-DAED_E-0_FP-6_CV-1748F583_CN-F1D06941">
    <vt:lpwstr>DPSPMK|3|384|2|0</vt:lpwstr>
  </op:property>
  <op:property fmtid="{D5CDD505-2E9C-101B-9397-08002B2CF9AE}" pid="126" name="_IPGFLOW_P-DAED_E-1_FP-7_SP-1_CV-C335E244_CN-2D507E6C">
    <vt:lpwstr>8ffYSFXF5Pc2G1J0GZCja25njNO0tp+txKgnwv5csFdFeFH38//q/bsFgR7l9JmmWoTNopqVEIlN3HFKklzlcZ7UPJhddWntWwwVvUQtntnGiyww00BvFmw4ZefOo5YYOQb0gf9jeVAshOZeUEgXWtyCBAnuHVqMWR32qlhNSVxedQ++thImQOB5V1YRB0xQ4aRLj4ftL/Smvg8IEn6I7rFSVq8VgCrSj4sqt7PUQaJ/2xbqzijjndObFrm3I7s</vt:lpwstr>
  </op:property>
  <op:property fmtid="{D5CDD505-2E9C-101B-9397-08002B2CF9AE}" pid="127" name="_IPGFLOW_P-DAED_E-1_FP-7_SP-2_CV-2339A26_CN-C3ABEECA">
    <vt:lpwstr>GLWr4XX5kPkOiET2a5sQEqlpaVY/QmptWV2kIJ2zjbSLFBl05Sl67UKXdVvQNmUH8xSZ1SYWK9dAsDEV8mbzE9OjKmwJCmucXW79tOPUWpzYfch0+zy9n9j6gkpVOM0l4</vt:lpwstr>
  </op:property>
  <op:property fmtid="{D5CDD505-2E9C-101B-9397-08002B2CF9AE}" pid="128" name="_IPGFLOW_P-DAED_E-0_FP-7_CV-1748F583_CN-2C46B0C4">
    <vt:lpwstr>DPSPMK|3|384|2|0</vt:lpwstr>
  </op:property>
  <op:property fmtid="{D5CDD505-2E9C-101B-9397-08002B2CF9AE}" pid="129" name="_IPGFLOW_P-DAED_E-1_FP-8_SP-1_CV-8D757B10_CN-7796CB6A">
    <vt:lpwstr>Jusm+g0A+9OUwh3PEu9DgkbnF2aDVL7Xs9dt8pS9avV/acNitj7ClZTF2pueRPbrjK9KMkOVSTJBc6X9gYOlMAvsb2bvRdDH5+pwa0k2wgmopRC7iEoFvzjoLeuM4H52TyGgft98RKlEbbO0sBJ2IyY0HW9g3JEIsmxR+hrFrPyM5RSWXBBV5fVqEn+p3EazMQR2KnNf6rsWRkDp4n+n1bfEFlNhRh1Sh8Hxi1CQZQaX3Hryv5Kw6Stcn8DhoDi</vt:lpwstr>
  </op:property>
  <op:property fmtid="{D5CDD505-2E9C-101B-9397-08002B2CF9AE}" pid="130" name="_IPGFLOW_P-DAED_E-1_FP-8_SP-2_CV-829E8686_CN-B5060DAC">
    <vt:lpwstr>YoPkLLVvMMUL1Gmpl0uKoMq8/7EU5fmDHKlXu5MyqofWU+pihb6vFiltJ00h9+g2HngtJGDjdAzHE9uCVAKotpiOZNK3K1G/uvrW/60OOEDeBgsW5qVIoFsjD47i9t83Y</vt:lpwstr>
  </op:property>
  <op:property fmtid="{D5CDD505-2E9C-101B-9397-08002B2CF9AE}" pid="131" name="_IPGFLOW_P-DAED_E-0_FP-8_CV-1748F583_CN-B3665F1">
    <vt:lpwstr>DPSPMK|3|384|2|0</vt:lpwstr>
  </op:property>
  <op:property fmtid="{D5CDD505-2E9C-101B-9397-08002B2CF9AE}" pid="132" name="_IPGFLOW_P-DAED_E-1_FP-9_SP-1_CV-995DC024_CN-CFC3B8A5">
    <vt:lpwstr>kh90PGW5XMa5PqbMUSbef83PywkG7zjTdKHxMhgwhzA4eZIy8KtybQfFvPTTzFS90mJNrX7fpnsi57C0dXsgC1hMlD2W7gt0PzGVab/b+XYRUelphVoCqLFrOoUypclRsLftbMPu5mM1xXuc04YeMEgyrUmFKKLNHaNa0xRegqkWNT2NjapCzzURlKaAWCn3ShTx6Hjk+AphRZ/1ktFAYJt/tvWegycSXqwapUy2FNG6xRUi4Tq4xf6p5VuOfpO</vt:lpwstr>
  </op:property>
  <op:property fmtid="{D5CDD505-2E9C-101B-9397-08002B2CF9AE}" pid="133" name="_IPGFLOW_P-DAED_E-1_FP-9_SP-2_CV-92AA70E7_CN-3577C976">
    <vt:lpwstr>Hoq18l/+8fjNahIm1lTvADerzHYfPotpIVZVqa2eua4W86H+4ftyDo/eXmFRxbW9/vZi7tZTl566w2i8oklEllcu3I7MCqmox9DP1DHytVFacUyqAKeZRy9t4Kr6d6WOu</vt:lpwstr>
  </op:property>
  <op:property fmtid="{D5CDD505-2E9C-101B-9397-08002B2CF9AE}" pid="134" name="_IPGFLOW_P-DAED_E-0_FP-9_CV-1748F583_CN-D6A0BC74">
    <vt:lpwstr>DPSPMK|3|384|2|0</vt:lpwstr>
  </op:property>
  <op:property fmtid="{D5CDD505-2E9C-101B-9397-08002B2CF9AE}" pid="135" name="_IPGFLOW_P-DAED_E-1_FP-A_SP-1_CV-6BFB7535_CN-A8C96AA4">
    <vt:lpwstr>kh90PGW5XMa5PqbMUSbef/JXN3/Wxp6SPPIzeUMH3sGS1zODsQYj9SgmY929en4Xa9tAwq4anHjBL6Jf91e6VhzPJqpU6SlpHcFlWPxvB3zOB9N54ucxN3sUOKlWBch3s5wbbTyeg1M/FUzaYhwr0xJdz3YTqO0/ebbzaVxMpJGVzQ10sBlab3HqZo8JkB73pu7J/83cnw89gJCwzJuoYjEB+kiu2AvmVNowINureictBlmhnNqBNO+YRtmYRYY</vt:lpwstr>
  </op:property>
  <op:property fmtid="{D5CDD505-2E9C-101B-9397-08002B2CF9AE}" pid="136" name="_IPGFLOW_P-DAED_E-1_FP-A_SP-2_CV-A469D458_CN-E9AD1993">
    <vt:lpwstr>kfpaIOSCqX2hC9uQrvnqeQubpiI08DSUgw2zzynD/xiFdDRl528yFkN8SdZgVkpia87ZqPqOL6MHyH01Gk51k1D3vNGsnDjpOsyE1EliralJCU54mI8gqILzNsL5SRsmS</vt:lpwstr>
  </op:property>
  <op:property fmtid="{D5CDD505-2E9C-101B-9397-08002B2CF9AE}" pid="137" name="_IPGFLOW_P-DAED_E-0_FP-A_CV-1748F583_CN-3657139D">
    <vt:lpwstr>DPSPMK|3|384|2|0</vt:lpwstr>
  </op:property>
  <op:property fmtid="{D5CDD505-2E9C-101B-9397-08002B2CF9AE}" pid="138" name="_IPGFLOW_P-DAED_E-1_FP-B_SP-1_CV-7878CC4D_CN-6983EA73">
    <vt:lpwstr>lLjiUrEUlvzHzKP0/6RSkzvxIMW8ouFsNX5O3TaA/7fGGkwXwPwvsLtKuMz0XuFBM77jlsWWKNYUnQO/EOfQAzP8E16tF2OVTNZ8tDsyLmOLOv5bd/w+Ukkl5ZL8Q5M1wT42BW/mk0ZEUcJa6kpNRLoQv6xbkihjCKJ9ElkqOpsbQVY9LxwesWjlWwPf3U4PW74NvdMrffgDbfxuba/YWmPThPp0ze/lw18c531uOzGr2w2Q0G8MC9+HCu8Q7YH</vt:lpwstr>
  </op:property>
  <op:property fmtid="{D5CDD505-2E9C-101B-9397-08002B2CF9AE}" pid="139" name="_IPGFLOW_P-DAED_E-1_FP-B_SP-2_CV-51422BC1_CN-5D806950">
    <vt:lpwstr>wOzZzKtprGYgN20MslqTgszwOCUx4FRdAadMCOCMXz7tMx7hKw14sHqPkL1ikT3j+2t4PFZWgBOjzgQhZxn8GCHuGh6NPJbY4zzUx1/u9BrEbLyiRlzZ5J2IB4yNJZCQ7EAN3MsNXbFoCneHNYeNg/hLA8rs4deFMQKMgOgHERd9yRwrxZjCZ+GJGi3ZB3aJap0n1dAzB3zugd8ihGE2LyYPO4aZthrve+CwMrIf2Tmi92bouD3TO9FnonQl/fD</vt:lpwstr>
  </op:property>
  <op:property fmtid="{D5CDD505-2E9C-101B-9397-08002B2CF9AE}" pid="140" name="_IPGFLOW_P-DAED_E-1_FP-B_SP-3_CV-9D3AF_CN-400D08C9">
    <vt:lpwstr>cI</vt:lpwstr>
  </op:property>
  <op:property fmtid="{D5CDD505-2E9C-101B-9397-08002B2CF9AE}" pid="141" name="_IPGFLOW_P-DAED_E-0_FP-B_CV-DD150EE6_CN-EAAE1B37">
    <vt:lpwstr>DPSPMK|3|512|3|0</vt:lpwstr>
  </op:property>
  <op:property fmtid="{D5CDD505-2E9C-101B-9397-08002B2CF9AE}" pid="142" name="_IPGFLOW_P-DAED_E-1_FP-C_SP-1_CV-667BE60_CN-C4B32996">
    <vt:lpwstr>gh04cpdFSez2ipKwrxC8mquZLGZx3P+f0i1IumaDDw3qxCMC9MSouOdPTgOiSDziMMV8C+9lBCO30gizLWc3DwUsLjHC4B/q/WjvUTNsj66vHAeM/59O8yyExj1nUXC0skfv5+pA4/iEhqs/4Y8rsmdQpgXaWFFnwNuFf8aqhujtB11SAqSX51z1tsVm42ai7bfXjuyH+nkCNBiM8wRj3xAzDex230TNYxvnjPCM3uGeN/IlbyHKpP+Rw4HYPJo</vt:lpwstr>
  </op:property>
  <op:property fmtid="{D5CDD505-2E9C-101B-9397-08002B2CF9AE}" pid="143" name="_IPGFLOW_P-DAED_E-1_FP-C_SP-2_CV-AA2BDCA1_CN-248B64D7">
    <vt:lpwstr>Xwc7FgYkm59aRfnE0iFZZRTZPaUxRtn7DncJ5tdwzV7Hcz9P9cI2n7Mz4jihTnZl9k6zy3QJSocuN8YAwOVwad/d0tTRiWpjvZhypZEFyQGzF2hlUL12RXqVuzdR8+DK5u+CbWThE6Z+hxgVqxIppoQ==</vt:lpwstr>
  </op:property>
  <op:property fmtid="{D5CDD505-2E9C-101B-9397-08002B2CF9AE}" pid="144" name="_IPGFLOW_P-DAED_E-0_FP-C_CV-FB4CA461_CN-2C540E21">
    <vt:lpwstr>DPSPMK|3|408|2|0</vt:lpwstr>
  </op:property>
  <op:property fmtid="{D5CDD505-2E9C-101B-9397-08002B2CF9AE}" pid="145" name="_IPGFLOW_P-DAED_E-1_FP-D_SP-1_CV-1943C772_CN-3710503C">
    <vt:lpwstr>Pj2LoxAahsQth/YyVkXc3W2xxwVnRxJ+NdfXV7h1OH1f2IMNjYJPMC+4MinYPGEesoARKxnNNh38JtyKasQP22aEcidNo0Yo0br9FYZTkS4Iz2UW0Z65+Xp/mGbqXtW5ZjDgY3BHSY09N/ZuA67D3x5B1SEw3QhJgEqSMppODPxSIlKfschDcDH3UsA5dPrXN73pyh7ZpBfZvEyNKkdfss5SxLZpjt9S2wINGEXgPCfyRzITdXLIFfpnnOmK+1A</vt:lpwstr>
  </op:property>
  <op:property fmtid="{D5CDD505-2E9C-101B-9397-08002B2CF9AE}" pid="146" name="_IPGFLOW_P-DAED_E-1_FP-D_SP-2_CV-C1F7597E_CN-6E81D8A7">
    <vt:lpwstr>MkO0FkczmnQWWvvy5j4JJE/W4vS1lnYtQ3J77YpaRGuzBdgiwUsL9Bqyp2/GVZznPjyXEBeaqiDp2qMvEnpgZn56rhg4ox7z0A7vRy3YRVqnVXK/N0qLjYzWDnv0rqunSQInZ103GxrszX0bQuN723g==</vt:lpwstr>
  </op:property>
  <op:property fmtid="{D5CDD505-2E9C-101B-9397-08002B2CF9AE}" pid="147" name="_IPGFLOW_P-DAED_E-0_FP-D_CV-FB4CA461_CN-51270879">
    <vt:lpwstr>DPSPMK|3|408|2|0</vt:lpwstr>
  </op:property>
  <op:property fmtid="{D5CDD505-2E9C-101B-9397-08002B2CF9AE}" pid="148" name="_IPGFLOW_P-DAED_E-1_FP-E_SP-1_CV-E9F4D970_CN-7DD57DF2">
    <vt:lpwstr>Pj2LoxAahsQth/YyVkXc3Sh4T9WBP2vmD7VtBcrVQm+6JF7q/1uSGKa8vojKqRE1WrOl0s/AOZm6Kyy2tJsTbo9yQUPE22gedNhMW4fU7qZznbN8qkZNug7AUJJfXW6UC4Aw9H+F5O4deOedXktWr803ftgKPlDjL/JzlC6zHpdjkDnPru1mmy6rllTcmDCk7Bak3xqJx6KO9/wYHH84E0hQH4X0fRBCRQXV8BhnhqWRU/7WxQFCSZ/Y3/+5BYL</vt:lpwstr>
  </op:property>
  <op:property fmtid="{D5CDD505-2E9C-101B-9397-08002B2CF9AE}" pid="149" name="_IPGFLOW_P-DAED_E-1_FP-E_SP-2_CV-12E59C92_CN-E14858D7">
    <vt:lpwstr>ygimsvzO6AQs2KEDBk2af8NZ934rwt0XSWyQUKuOikShphbiydSeQP4RSzhmJO1gakA4+EkU9nsJ8S5BGlJdu0m6wo1XcqvsXQ+C1JlLYrch6l5KRUtJ2rzCHM08+hxxQB84remBbQINCB9fZQDIVzw==</vt:lpwstr>
  </op:property>
  <op:property fmtid="{D5CDD505-2E9C-101B-9397-08002B2CF9AE}" pid="150" name="_IPGFLOW_P-DAED_E-0_FP-E_CV-FB4CA461_CN-8CB1D1FC">
    <vt:lpwstr>DPSPMK|3|408|2|0</vt:lpwstr>
  </op:property>
  <op:property fmtid="{D5CDD505-2E9C-101B-9397-08002B2CF9AE}" pid="151" name="_IPGFLOW_P-DAED_E-0_CV-7E689538_CN-D4DFAB73">
    <vt:lpwstr>DPFPMK|3|50|15|0</vt:lpwstr>
  </op:property>
  <op:property fmtid="{D5CDD505-2E9C-101B-9397-08002B2CF9AE}" pid="152" name="_IPGFLOW_P-DAED_E-1_FP-F_SP-1_CV-555B40A2_CN-F402153B">
    <vt:lpwstr>HbFILma79nmNQt40GZfohTjaYOIn8SLhoO7WbuS3KaR6xpqSDwA5aafquumzYOJP0uq5ZG3qGuj4NixAs8We+iMAshftpR4W2pJl1YfMrnMqnmie5+d+DwnENQFn1ABd09SMMVjTUn+Bw+cq64gvNvRzDPFYGFiOZJC8hMcMlqW/Mc+eMkk2JsjuQa+O31ZPJyrUHUEDIH2KvOVOirnQ3dFtDpKs1natKpFDcfs8o223Ofmjaqecwkb7oSwW0yN</vt:lpwstr>
  </op:property>
  <op:property fmtid="{D5CDD505-2E9C-101B-9397-08002B2CF9AE}" pid="153" name="_IPGFLOW_P-DAED_E-1_FP-F_SP-2_CV-89C62AC7_CN-F6406535">
    <vt:lpwstr>A2U8vOQ1IUzJVQYUDhtLoyUoMQexo857QWqn3eplKajeyM60T/HZV1yhg1l9UDd5WLt8oKsXBr0WHPzr6S4l+AEH22xCFdobj6q3/XiUR94qC41kOoxISSL5VVCue3j3jOmUqX5wB7qzvITWqMOLzf95Y8GSNbfnc6gTf3HuL6PejTEOvsjww8M44c2SIvpqYUtPg7aPLwdPv2ItjVwCq+RHGoxeXCQmashMJDOYl1kM=</vt:lpwstr>
  </op:property>
  <op:property fmtid="{D5CDD505-2E9C-101B-9397-08002B2CF9AE}" pid="154" name="_IPGFLOW_P-DAED_E-0_FP-F_CV-96F3ED08_CN-17016616">
    <vt:lpwstr>DPSPMK|3|492|2|0</vt:lpwstr>
  </op:property>
</op:Properties>
</file>